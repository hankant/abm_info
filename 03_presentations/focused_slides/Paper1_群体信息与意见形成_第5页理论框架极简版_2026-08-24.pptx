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17aa2898bf64ee8" /><Relationship Type="http://schemas.openxmlformats.org/officeDocument/2006/relationships/extended-properties" Target="/docProps/app.xml" Id="Rc385560208c94a2a" /><Relationship Type="http://schemas.openxmlformats.org/officeDocument/2006/relationships/officeDocument" Target="/ppt/presentation.xml" Id="Rae71c3655b81472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86ced831e494d01"/>
  </p:sldMasterIdLst>
  <p:notesMasterIdLst>
    <p:notesMasterId xmlns:r="http://schemas.openxmlformats.org/officeDocument/2006/relationships" r:id="R84d068c8964d47d3"/>
  </p:notesMasterIdLst>
  <p:sldIdLst>
    <p:sldId xmlns:r="http://schemas.openxmlformats.org/officeDocument/2006/relationships" id="256" r:id="R080e1dcca9e140a3"/>
    <p:sldId xmlns:r="http://schemas.openxmlformats.org/officeDocument/2006/relationships" id="257" r:id="R21bfdbb166004afc"/>
    <p:sldId xmlns:r="http://schemas.openxmlformats.org/officeDocument/2006/relationships" id="258" r:id="R17b8a177eaef4b34"/>
    <p:sldId xmlns:r="http://schemas.openxmlformats.org/officeDocument/2006/relationships" id="259" r:id="R62f55401ba374315"/>
    <p:sldId xmlns:r="http://schemas.openxmlformats.org/officeDocument/2006/relationships" id="260" r:id="R158c837937354ded"/>
    <p:sldId xmlns:r="http://schemas.openxmlformats.org/officeDocument/2006/relationships" id="261" r:id="Rcb2c56c6362d47b1"/>
    <p:sldId xmlns:r="http://schemas.openxmlformats.org/officeDocument/2006/relationships" id="262" r:id="Rc8fb1b69f17c4b50"/>
    <p:sldId xmlns:r="http://schemas.openxmlformats.org/officeDocument/2006/relationships" id="263" r:id="R922433dc8a0147f1"/>
    <p:sldId xmlns:r="http://schemas.openxmlformats.org/officeDocument/2006/relationships" id="264" r:id="R6073d712dee448dc"/>
    <p:sldId xmlns:r="http://schemas.openxmlformats.org/officeDocument/2006/relationships" id="265" r:id="Rb637bc28f10846c2"/>
    <p:sldId xmlns:r="http://schemas.openxmlformats.org/officeDocument/2006/relationships" id="266" r:id="Rd2229c5ed5614271"/>
    <p:sldId xmlns:r="http://schemas.openxmlformats.org/officeDocument/2006/relationships" id="267" r:id="R0f9080f730c645f2"/>
    <p:sldId xmlns:r="http://schemas.openxmlformats.org/officeDocument/2006/relationships" id="268" r:id="R0a03f04eb581425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5114e19a3874e26" /><Relationship Type="http://schemas.openxmlformats.org/officeDocument/2006/relationships/slideMaster" Target="/ppt/slideMasters/slideMaster1.xml" Id="Rf86ced831e494d01" /><Relationship Type="http://schemas.openxmlformats.org/officeDocument/2006/relationships/notesMaster" Target="/ppt/notesMasters/notesMaster1.xml" Id="R84d068c8964d47d3" /><Relationship Type="http://schemas.openxmlformats.org/officeDocument/2006/relationships/presProps" Target="/ppt/presProps.xml" Id="Ra1cd907768f5431c" /><Relationship Type="http://schemas.openxmlformats.org/officeDocument/2006/relationships/viewProps" Target="/ppt/viewProps.xml" Id="R5748b01cc45c463d" /><Relationship Type="http://schemas.openxmlformats.org/officeDocument/2006/relationships/tableStyles" Target="/ppt/tableStyles.xml" Id="R043c0c7091bc4ace" /><Relationship Type="http://schemas.openxmlformats.org/officeDocument/2006/relationships/slide" Target="/ppt/slides/slide1.xml" Id="R080e1dcca9e140a3" /><Relationship Type="http://schemas.openxmlformats.org/officeDocument/2006/relationships/slide" Target="/ppt/slides/slide2.xml" Id="R21bfdbb166004afc" /><Relationship Type="http://schemas.openxmlformats.org/officeDocument/2006/relationships/slide" Target="/ppt/slides/slide3.xml" Id="R17b8a177eaef4b34" /><Relationship Type="http://schemas.openxmlformats.org/officeDocument/2006/relationships/slide" Target="/ppt/slides/slide4.xml" Id="R62f55401ba374315" /><Relationship Type="http://schemas.openxmlformats.org/officeDocument/2006/relationships/slide" Target="/ppt/slides/slide5.xml" Id="R158c837937354ded" /><Relationship Type="http://schemas.openxmlformats.org/officeDocument/2006/relationships/slide" Target="/ppt/slides/slide6.xml" Id="Rcb2c56c6362d47b1" /><Relationship Type="http://schemas.openxmlformats.org/officeDocument/2006/relationships/slide" Target="/ppt/slides/slide7.xml" Id="Rc8fb1b69f17c4b50" /><Relationship Type="http://schemas.openxmlformats.org/officeDocument/2006/relationships/slide" Target="/ppt/slides/slide8.xml" Id="R922433dc8a0147f1" /><Relationship Type="http://schemas.openxmlformats.org/officeDocument/2006/relationships/slide" Target="/ppt/slides/slide9.xml" Id="R6073d712dee448dc" /><Relationship Type="http://schemas.openxmlformats.org/officeDocument/2006/relationships/slide" Target="/ppt/slides/slide10.xml" Id="Rb637bc28f10846c2" /><Relationship Type="http://schemas.openxmlformats.org/officeDocument/2006/relationships/slide" Target="/ppt/slides/slide11.xml" Id="Rd2229c5ed5614271" /><Relationship Type="http://schemas.openxmlformats.org/officeDocument/2006/relationships/slide" Target="/ppt/slides/slide12.xml" Id="R0f9080f730c645f2" /><Relationship Type="http://schemas.openxmlformats.org/officeDocument/2006/relationships/slide" Target="/ppt/slides/slide13.xml" Id="R0a03f04eb581425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fa35bfd6a33403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54204eb47ba490c" /><Relationship Type="http://schemas.openxmlformats.org/officeDocument/2006/relationships/notesMaster" Target="/ppt/notesMasters/notesMaster1.xml" Id="R0a8aa63591e4436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714cf5694a74400" /><Relationship Type="http://schemas.openxmlformats.org/officeDocument/2006/relationships/notesMaster" Target="/ppt/notesMasters/notesMaster1.xml" Id="R3e2184cc07ac45f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29de9f161784328" /><Relationship Type="http://schemas.openxmlformats.org/officeDocument/2006/relationships/notesMaster" Target="/ppt/notesMasters/notesMaster1.xml" Id="Rb392dbf44420437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c2278a4e6c04fc9" /><Relationship Type="http://schemas.openxmlformats.org/officeDocument/2006/relationships/notesMaster" Target="/ppt/notesMasters/notesMaster1.xml" Id="Rf128b62302d04f7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06a85fbb49d404c" /><Relationship Type="http://schemas.openxmlformats.org/officeDocument/2006/relationships/notesMaster" Target="/ppt/notesMasters/notesMaster1.xml" Id="R0202818362314c3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ca80629024d49f6" /><Relationship Type="http://schemas.openxmlformats.org/officeDocument/2006/relationships/notesMaster" Target="/ppt/notesMasters/notesMaster1.xml" Id="R65756c0228cc4d2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2627ff5b7cd491d" /><Relationship Type="http://schemas.openxmlformats.org/officeDocument/2006/relationships/notesMaster" Target="/ppt/notesMasters/notesMaster1.xml" Id="Ra1e7ade8dfc247f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1d5459627204881" /><Relationship Type="http://schemas.openxmlformats.org/officeDocument/2006/relationships/notesMaster" Target="/ppt/notesMasters/notesMaster1.xml" Id="Re71c11fe225340b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738f998afcb4775" /><Relationship Type="http://schemas.openxmlformats.org/officeDocument/2006/relationships/notesMaster" Target="/ppt/notesMasters/notesMaster1.xml" Id="R77490f857ea7408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f890dfef9d844b0" /><Relationship Type="http://schemas.openxmlformats.org/officeDocument/2006/relationships/notesMaster" Target="/ppt/notesMasters/notesMaster1.xml" Id="R8730babf29a54cf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701560b5b674da1" /><Relationship Type="http://schemas.openxmlformats.org/officeDocument/2006/relationships/notesMaster" Target="/ppt/notesMasters/notesMaster1.xml" Id="R479f48e9b47943a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a3cf8a619274658" /><Relationship Type="http://schemas.openxmlformats.org/officeDocument/2006/relationships/notesMaster" Target="/ppt/notesMasters/notesMaster1.xml" Id="R6713c7ad364c43e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a3c9dd4fe2d4476" /><Relationship Type="http://schemas.openxmlformats.org/officeDocument/2006/relationships/notesMaster" Target="/ppt/notesMasters/notesMaster1.xml" Id="R296a6d8337ac4cc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这一页说明研究的理论与方法连接：生成式社会科学提供微观到宏观的解释逻辑；社会影响与意见动力学提供个体更新规则；ABM将异质代理、网络和多轮反馈写成可执行系统。</a:t>
            </a:r>
          </a:p>
          <a:p xmlns:a="http://schemas.openxmlformats.org/drawingml/2006/main">
            <a:r>
              <a:t>LLM位于信息环境一侧，负责生成代理接触的信息；代理的新立场由显式规则更新，并由人类数据校准参数。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Epstein, J. M. (1999). Agent-based computational models and generative social science.</a:t>
            </a:r>
          </a:p>
          <a:p xmlns:a="http://schemas.openxmlformats.org/drawingml/2006/main">
            <a:r>
              <a:t>Geschke, D., Lorenz, J., &amp; Holtz, P. (2019). The triple-filter bubble.</a:t>
            </a:r>
          </a:p>
          <a:p xmlns:a="http://schemas.openxmlformats.org/drawingml/2006/main">
            <a:r>
              <a:t>Friedkin, N. E., &amp; Johnsen, E. C. (1990). Social influence and opinions.</a:t>
            </a:r>
          </a:p>
          <a:p xmlns:a="http://schemas.openxmlformats.org/drawingml/2006/main">
            <a:r>
              <a:t>Hegselmann, R., &amp; Krause, U. (2002). Opinion dynamics and bounded confidence models.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0ce900fa4847f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bc5096cd58472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b78b4602cc422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c1c14ecd7640a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05ff87f6df4e5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83e74926eb41f3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f5aa05124e44c7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487a0e06c54b10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99509ba1a64d30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9b4cc67cfd4f07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a1d73b853b41e0" /></Relationships>
</file>

<file path=ppt/slideLayouts/slideLayout1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609DE7B4-37FB-4953-8175-2E40830E4FD9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198800" y="914400"/>
            <a:ext cx="9799200" cy="2570400"/>
          </a:xfrm>
        </p:spPr>
        <p:txBody>
          <a:bodyPr xmlns:a="http://schemas.openxmlformats.org/drawingml/2006/main" lIns="90000" tIns="46800" rIns="90000" bIns="46800" anchor="b">
            <a:normAutofit/>
          </a:bodyPr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5D84D1C9-545A-425D-A6C4-7A9E88DFAE6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98800" y="3560400"/>
            <a:ext cx="9799200" cy="1472400"/>
          </a:xfrm>
        </p:spPr>
        <p:txBody>
          <a:bodyPr xmlns:a="http://schemas.openxmlformats.org/drawingml/2006/main" lIns="90000" tIns="46800" rIns="90000" bIns="46800">
            <a:normAutofit/>
          </a:bodyPr>
          <a:lstStyle xmlns:a="http://schemas.openxmlformats.org/drawingml/2006/main"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  <a:endParaRPr/>
          </a:p>
        </p:txBody>
      </p:sp>
      <p:sp>
        <p:nvSpPr>
          <p:cNvPr id="16" name="日期占位符 15">
            <a:extLst xmlns:a="http://schemas.openxmlformats.org/drawingml/2006/main">
              <a:ext uri="{FF2B5EF4-FFF2-40B4-BE49-F238E27FC236}">
                <a16:creationId xmlns:a16="http://schemas.microsoft.com/office/drawing/2014/main" id="{B72AFDDE-105A-4DA2-91F7-A1897926888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页脚占位符 16">
            <a:extLst xmlns:a="http://schemas.openxmlformats.org/drawingml/2006/main">
              <a:ext uri="{FF2B5EF4-FFF2-40B4-BE49-F238E27FC236}">
                <a16:creationId xmlns:a16="http://schemas.microsoft.com/office/drawing/2014/main" id="{915E80BD-5ABC-4E73-A00C-823AD8FA3AE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灯片编号占位符 17">
            <a:extLst xmlns:a="http://schemas.openxmlformats.org/drawingml/2006/main">
              <a:ext uri="{FF2B5EF4-FFF2-40B4-BE49-F238E27FC236}">
                <a16:creationId xmlns:a16="http://schemas.microsoft.com/office/drawing/2014/main" id="{1D19ABC6-C44A-4023-A8B8-D7063FA9C9A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BA95488-1FE0-49E8-8144-F1CB3225A20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8400" y="608400"/>
            <a:ext cx="10969200" cy="705600"/>
          </a:xfrm>
        </p:spPr>
        <p:txBody>
          <a:bodyPr xmlns:a="http://schemas.openxmlformats.org/drawingml/2006/main" vert="horz" lIns="90000" tIns="46800" rIns="90000" bIns="46800" anchor="ctr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5AB9C757-87A3-439C-AA20-6E04EA63BDB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08400" y="1490400"/>
            <a:ext cx="10969200" cy="4759200"/>
          </a:xfr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1083200-6FE4-4217-880B-DACABD4DE5F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09B44959-2BD4-41F3-B1D7-15B44F8A170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059C72B7-41EA-4103-88F5-5964C10FB26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1F6D182-4BD9-4FE3-9C88-B340572F2F98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990800" y="3848400"/>
            <a:ext cx="7768800" cy="766800"/>
          </a:xfrm>
        </p:spPr>
        <p:txBody>
          <a:bodyPr xmlns:a="http://schemas.openxmlformats.org/drawingml/2006/main" lIns="90000" tIns="46800" rIns="90000" bIns="46800" anchor="b">
            <a:normAutofit/>
          </a:bodyPr>
          <a:lstStyle xmlns:a="http://schemas.openxmlformats.org/drawingml/2006/main">
            <a:lvl1pPr>
              <a:buNone/>
              <a:defRPr sz="4400"/>
            </a:lvl1pPr>
          </a:lstStyle>
          <a:p xmlns:a="http://schemas.openxmlformats.org/drawingml/2006/main">
            <a:r>
              <a:t>单击此处编辑标题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D7208627-65CB-49AA-82C6-FE4EAEEA30F8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1990800" y="4615200"/>
            <a:ext cx="7768800" cy="867600"/>
          </a:xfrm>
        </p:spPr>
        <p:txBody>
          <a:bodyPr xmlns:a="http://schemas.openxmlformats.org/drawingml/2006/main" lIns="90000" tIns="46800" rIns="90000" bIns="46800">
            <a:normAutofit/>
          </a:bodyPr>
          <a:lstStyle xmlns:a="http://schemas.openxmlformats.org/drawingml/2006/main"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单击此处编辑文本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83A7233E-749A-48D2-81BA-B2E2D314F10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D6B678FA-CD06-4901-BF00-321ACF82A5D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8D57612-F19D-4B45-AF6A-98DAD714B70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62B03D9E-23AC-4C0D-BFD4-440483F778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8400" y="608400"/>
            <a:ext cx="10969200" cy="705600"/>
          </a:xfrm>
        </p:spPr>
        <p:txBody>
          <a:bodyPr xmlns:a="http://schemas.openxmlformats.org/drawingml/2006/main" vert="horz" lIns="90000" tIns="46800" rIns="90000" bIns="46800" anchor="ctr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189C45C7-DFF7-42A5-8331-2152E216A20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08400" y="1501200"/>
            <a:ext cx="5176800" cy="4748400"/>
          </a:xfr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BCE4CAC4-D1CF-4F23-9318-C75DA5C82C21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411600" y="1501200"/>
            <a:ext cx="5176800" cy="4748400"/>
          </a:xfrm>
        </p:spPr>
        <p:txBody>
          <a:bodyPr xmlns:a="http://schemas.openxmlformats.org/drawingml/2006/main" lIns="90000" tIns="46800" rIns="90000" bIns="4680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D3AF264A-8096-4CA0-B567-256AAB597E8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584787CE-40CD-492B-9EF0-A5D32C93DF0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77E0623-DDCA-4219-95FD-A18303FC44C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29A96D3-37E2-4ECB-B662-66122FE024D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8400" y="608400"/>
            <a:ext cx="10969200" cy="705600"/>
          </a:xfrm>
        </p:spPr>
        <p:txBody>
          <a:bodyPr xmlns:a="http://schemas.openxmlformats.org/drawingml/2006/main" vert="horz" lIns="90000" tIns="46800" rIns="90000" bIns="46800" anchor="ctr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FC57816A-BADF-47FB-905D-3B17C0270834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608400" y="1429200"/>
            <a:ext cx="5342400" cy="381600"/>
          </a:xfrm>
        </p:spPr>
        <p:txBody>
          <a:bodyPr xmlns:a="http://schemas.openxmlformats.org/drawingml/2006/main" lIns="101600" tIns="38100" rIns="76200" bIns="38100" anchor="t">
            <a:normAutofit/>
          </a:bodyPr>
          <a:lstStyle xmlns:a="http://schemas.openxmlformats.org/drawingml/2006/main"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单击此处编辑文本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39FDC387-1CE0-431F-B931-CED33CECAEB0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08400" y="1854000"/>
            <a:ext cx="5342400" cy="4395600"/>
          </a:xfrm>
        </p:spPr>
        <p:txBody>
          <a:bodyPr xmlns:a="http://schemas.openxmlformats.org/drawingml/2006/main" vert="horz" lIns="101600" tIns="0" rIns="8255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1DB4E6F5-0CAD-4E2B-95B7-18AE353AA81E}"/>
              </a:ext>
            </a:extLst>
          </p:cNvPr>
          <p:cNvSpPr>
            <a:spLocks xmlns:a="http://schemas.openxmlformats.org/drawingml/2006/main" noGrp="1"/>
          </p:cNvSpPr>
          <p:nvPr>
            <p:ph type="body" idx="3" hasCustomPrompt="1"/>
          </p:nvPr>
        </p:nvSpPr>
        <p:spPr>
          <a:xfrm xmlns:a="http://schemas.openxmlformats.org/drawingml/2006/main">
            <a:off x="6235750" y="1421729"/>
            <a:ext cx="5342400" cy="381600"/>
          </a:xfrm>
        </p:spPr>
        <p:txBody>
          <a:bodyPr xmlns:a="http://schemas.openxmlformats.org/drawingml/2006/main" vert="horz" lIns="101600" tIns="38100" rIns="76200" bIns="38100" anchor="t">
            <a:normAutofit/>
          </a:bodyPr>
          <a:lstStyle xmlns:a="http://schemas.openxmlformats.org/drawingml/2006/main"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单击此处编辑文本</a:t>
            </a:r>
            <a:endParaRPr/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1171ED7F-393C-42A2-BA52-8BD7C0853202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235750" y="1854000"/>
            <a:ext cx="5342400" cy="4395600"/>
          </a:xfrm>
        </p:spPr>
        <p:txBody>
          <a:bodyPr xmlns:a="http://schemas.openxmlformats.org/drawingml/2006/main" vert="horz" lIns="101600" tIns="0" rIns="8255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C720BDC3-A46A-47F3-A264-B0D7C3167CD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7400527D-68F2-454A-9E7B-AC2CCD8C30F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F3A02CA1-8ACD-4B13-9F52-9962220B388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B7BE936-9F9C-4B19-A4F1-A2616B03F4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8400" y="608400"/>
            <a:ext cx="10969200" cy="705600"/>
          </a:xfrm>
        </p:spPr>
        <p:txBody>
          <a:bodyPr xmlns:a="http://schemas.openxmlformats.org/drawingml/2006/main" vert="horz" lIns="90000" tIns="46800" rIns="90000" bIns="46800" anchor="ctr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  <a:endParaRPr/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01776326-62F1-4D7B-9701-8423A2503E2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3AEDB834-B7C0-4395-AA57-BA8728FDC80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CF3D5802-33D9-4618-AA14-5A5A58DBE31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1C87C548-6ED8-46A2-87F5-9CBC195E228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4DFBEFC7-1ED9-4899-9C56-B71AEFEF81C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E9C19B98-6CC0-4B9C-A189-C41E413C03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4D606906-7591-40C6-8659-133E1395406E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608400" y="1555200"/>
            <a:ext cx="5233077" cy="4608000"/>
          </a:xfr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>
            <a:lvl1pPr>
              <a:buNone/>
              <a:defRPr sz="1600"/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6167F88D-722D-46FB-9992-14ED82DDA5B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350400" y="1555200"/>
            <a:ext cx="5227200" cy="4608000"/>
          </a:xfr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>
            <a:lvl1pPr>
              <a:buNone/>
              <a:defRPr sz="1600"/>
            </a:lvl1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8E0BB300-31CF-45BF-BC65-68F12091CAA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1BB7162-0891-4EF2-91EF-E2E6975EA65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5F882B4A-FAFC-4758-BFAC-C41B4648E0F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AE80BBB8-54B4-4B82-A7F3-29351E556E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EC78A8E2-FA47-46CE-9894-627864C7E14D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0234800" y="914400"/>
            <a:ext cx="1044000" cy="5029200"/>
          </a:xfrm>
        </p:spPr>
        <p:txBody>
          <a:bodyPr xmlns:a="http://schemas.openxmlformats.org/drawingml/2006/main" vert="eaVert" lIns="90000" tIns="46800" rIns="90000" bIns="46800" anchor="ctr">
            <a:normAutofit/>
          </a:bodyPr>
          <a:lstStyle xmlns:a="http://schemas.openxmlformats.org/drawingml/2006/main">
            <a:lvl1pPr>
              <a:buNone/>
              <a:defRPr sz="2800"/>
            </a:lvl1pPr>
          </a:lstStyle>
          <a:p xmlns:a="http://schemas.openxmlformats.org/drawingml/2006/main">
            <a:pPr lvl="0">
              <a:buNone/>
            </a:pPr>
            <a:r>
              <a:t>单击此处编辑标题</a:t>
            </a:r>
            <a:endParaRPr/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ABD8AF26-E017-48A1-AB11-274B2CA08C1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14400" y="914400"/>
            <a:ext cx="9169200" cy="5029200"/>
          </a:xfrm>
        </p:spPr>
        <p:txBody>
          <a:bodyPr xmlns:a="http://schemas.openxmlformats.org/drawingml/2006/main" vert="eaVert" lIns="46800" tIns="46800" rIns="46800" bIns="46800"/>
          <a:lstStyle xmlns:a="http://schemas.openxmlformats.org/drawingml/2006/main">
            <a:lvl1pPr marL="228600" indent="-228600">
              <a:spcAft>
                <a:spcPts val="1000"/>
              </a:spcAft>
              <a:buNone/>
              <a:defRPr spc="300"/>
            </a:lvl1pPr>
            <a:lvl2pPr marL="685800" indent="-228600">
              <a:buNone/>
              <a:defRPr spc="300"/>
            </a:lvl2pPr>
            <a:lvl3pPr marL="1143000" indent="-228600">
              <a:buNone/>
              <a:defRPr spc="300"/>
            </a:lvl3pPr>
            <a:lvl4pPr marL="1600200" indent="-228600">
              <a:buNone/>
              <a:defRPr spc="300"/>
            </a:lvl4pPr>
            <a:lvl5pPr marL="2057400" indent="-228600">
              <a:buNone/>
              <a:defRPr spc="300"/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B24B91EC-3187-47C9-A180-2ABD294D27F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AB22914-D7DC-4AE8-8DBD-6E06A582D33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0E1B4968-3C5F-43F6-A12D-EE0668C72C1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CE24109D-F03F-42DD-B089-78BBACB1CE4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FD915892-0590-4DCD-B30A-83CED9476BD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75EB63ED-1E82-4FBC-AEB1-7B776069D0E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内容占位符 6">
            <a:extLst xmlns:a="http://schemas.openxmlformats.org/drawingml/2006/main">
              <a:ext uri="{FF2B5EF4-FFF2-40B4-BE49-F238E27FC236}">
                <a16:creationId xmlns:a16="http://schemas.microsoft.com/office/drawing/2014/main" id="{6EE4600F-DA9E-4144-9136-E7A483E6D0BA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08400" y="774000"/>
            <a:ext cx="10972800" cy="5482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4C9B0532-0214-4D43-A125-DB1A87F269C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6E088EA2-5404-4617-ABAA-57AB548AD55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93450E96-5025-4166-BECF-3AA43148533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2F8DF89-70C9-4443-AA73-75CA057F7552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198800" y="2484000"/>
            <a:ext cx="9799200" cy="1018800"/>
          </a:xfrm>
        </p:spPr>
        <p:txBody>
          <a:bodyPr xmlns:a="http://schemas.openxmlformats.org/drawingml/2006/main" vert="horz" lIns="90000" tIns="46800" rIns="90000" bIns="46800" anchor="t">
            <a:normAutofit/>
          </a:bodyPr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pPr lvl="0">
              <a:buNone/>
            </a:pPr>
            <a:r>
              <a:t>单击此处编辑标题</a:t>
            </a:r>
            <a:endParaRPr/>
          </a:p>
        </p:txBody>
      </p:sp>
      <p:sp>
        <p:nvSpPr>
          <p:cNvPr id="7" name="文本占位符 6">
            <a:extLst xmlns:a="http://schemas.openxmlformats.org/drawingml/2006/main">
              <a:ext uri="{FF2B5EF4-FFF2-40B4-BE49-F238E27FC236}">
                <a16:creationId xmlns:a16="http://schemas.microsoft.com/office/drawing/2014/main" id="{43E53B21-E84D-4D36-A256-BA0E53F892CE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98800" y="3560400"/>
            <a:ext cx="9799200" cy="471600"/>
          </a:xfrm>
        </p:spPr>
        <p:txBody>
          <a:bodyPr xmlns:a="http://schemas.openxmlformats.org/drawingml/2006/main" lIns="90000" tIns="46800" rIns="90000" bIns="46800">
            <a:normAutofit/>
          </a:bodyPr>
          <a:lstStyle xmlns:a="http://schemas.openxmlformats.org/drawingml/2006/main">
            <a:lvl1pPr algn="ctr">
              <a:lnSpc>
                <a:spcPct val="110000"/>
              </a:lnSpc>
              <a:buNone/>
              <a:defRPr sz="2400" spc="200"/>
            </a:lvl1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d1b3d1274fd4a52" /><Relationship Type="http://schemas.openxmlformats.org/officeDocument/2006/relationships/slideLayout" Target="/ppt/slideLayouts/slideLayout1.xml" Id="Rb026dd273d60430f" /><Relationship Type="http://schemas.openxmlformats.org/officeDocument/2006/relationships/slideLayout" Target="/ppt/slideLayouts/slideLayout2.xml" Id="Ra2bdf1a329db476b" /><Relationship Type="http://schemas.openxmlformats.org/officeDocument/2006/relationships/slideLayout" Target="/ppt/slideLayouts/slideLayout3.xml" Id="R6a46d3fe1d8c4d13" /><Relationship Type="http://schemas.openxmlformats.org/officeDocument/2006/relationships/slideLayout" Target="/ppt/slideLayouts/slideLayout4.xml" Id="Rc3013d8a5e644b67" /><Relationship Type="http://schemas.openxmlformats.org/officeDocument/2006/relationships/slideLayout" Target="/ppt/slideLayouts/slideLayout5.xml" Id="R0ceb9b5f2f024d53" /><Relationship Type="http://schemas.openxmlformats.org/officeDocument/2006/relationships/slideLayout" Target="/ppt/slideLayouts/slideLayout6.xml" Id="R26eccd2635644849" /><Relationship Type="http://schemas.openxmlformats.org/officeDocument/2006/relationships/slideLayout" Target="/ppt/slideLayouts/slideLayout7.xml" Id="Rdc02f15cca084d8a" /><Relationship Type="http://schemas.openxmlformats.org/officeDocument/2006/relationships/slideLayout" Target="/ppt/slideLayouts/slideLayout8.xml" Id="R1c44c6dc13834f4c" /><Relationship Type="http://schemas.openxmlformats.org/officeDocument/2006/relationships/slideLayout" Target="/ppt/slideLayouts/slideLayout9.xml" Id="Rf45f175c0a884a8e" /><Relationship Type="http://schemas.openxmlformats.org/officeDocument/2006/relationships/slideLayout" Target="/ppt/slideLayouts/slideLayout10.xml" Id="R51fec31cf9434165" /><Relationship Type="http://schemas.openxmlformats.org/officeDocument/2006/relationships/slideLayout" Target="/ppt/slideLayouts/slideLayout11.xml" Id="R7b8efee9ff8f4f0f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C3DA39AE-9D33-4F26-8E84-D3FC8FD447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8400" y="608400"/>
            <a:ext cx="10969200" cy="705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0170" tIns="46990" rIns="90170" bIns="4699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63162C6-715B-4ED8-9992-DAA1C552CEB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8400" y="1490400"/>
            <a:ext cx="10969200" cy="4759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EE52224-A84E-43E5-9C80-FFED7979B84B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12000" y="6314400"/>
            <a:ext cx="270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1D18F52-EEB3-4BB2-A1FB-59D0309C4DD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116000" y="6314400"/>
            <a:ext cx="396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50E5D3B9-8747-43FE-8EBD-409B6887F94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877600" y="6314400"/>
            <a:ext cx="270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026dd273d60430f"/>
    <p:sldLayoutId xmlns:r="http://schemas.openxmlformats.org/officeDocument/2006/relationships" id="2147483650" r:id="Ra2bdf1a329db476b"/>
    <p:sldLayoutId xmlns:r="http://schemas.openxmlformats.org/officeDocument/2006/relationships" id="2147483651" r:id="R6a46d3fe1d8c4d13"/>
    <p:sldLayoutId xmlns:r="http://schemas.openxmlformats.org/officeDocument/2006/relationships" id="2147483652" r:id="Rc3013d8a5e644b67"/>
    <p:sldLayoutId xmlns:r="http://schemas.openxmlformats.org/officeDocument/2006/relationships" id="2147483653" r:id="R0ceb9b5f2f024d53"/>
    <p:sldLayoutId xmlns:r="http://schemas.openxmlformats.org/officeDocument/2006/relationships" id="2147483654" r:id="R26eccd2635644849"/>
    <p:sldLayoutId xmlns:r="http://schemas.openxmlformats.org/officeDocument/2006/relationships" id="2147483655" r:id="Rdc02f15cca084d8a"/>
    <p:sldLayoutId xmlns:r="http://schemas.openxmlformats.org/officeDocument/2006/relationships" id="2147483656" r:id="R1c44c6dc13834f4c"/>
    <p:sldLayoutId xmlns:r="http://schemas.openxmlformats.org/officeDocument/2006/relationships" id="2147483657" r:id="Rf45f175c0a884a8e"/>
    <p:sldLayoutId xmlns:r="http://schemas.openxmlformats.org/officeDocument/2006/relationships" id="2147483658" r:id="R51fec31cf9434165"/>
    <p:sldLayoutId xmlns:r="http://schemas.openxmlformats.org/officeDocument/2006/relationships" id="2147483659" r:id="R7b8efee9ff8f4f0f"/>
  </p:sldLayoutIdLst>
  <p:txStyles>
    <p:titleStyle>
      <a:lvl1pPr xmlns:a="http://schemas.openxmlformats.org/drawingml/2006/main" algn="l" defTabSz="914400">
        <a:lnSpc>
          <a:spcPct val="100000"/>
        </a:lnSpc>
        <a:spcBef>
          <a:spcPct val="0"/>
        </a:spcBef>
        <a:buNone/>
        <a:defRPr sz="3600" b="0" u="none" kern="1200" cap="none" spc="300" baseline="0">
          <a:solidFill>
            <a:schemeClr val="tx1">
              <a:lumMod val="85000"/>
              <a:lumOff val="15000"/>
            </a:schemeClr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130000"/>
        </a:lnSpc>
        <a:spcBef>
          <a:spcPts val="0"/>
        </a:spcBef>
        <a:spcAft>
          <a:spcPts val="1000"/>
        </a:spcAft>
        <a:buFont typeface="Arial"/>
        <a:buChar char="●"/>
        <a:defRPr sz="1800" u="non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120000"/>
        </a:lnSpc>
        <a:spcBef>
          <a:spcPts val="0"/>
        </a:spcBef>
        <a:spcAft>
          <a:spcPts val="600"/>
        </a:spcAft>
        <a:buFont typeface="Arial"/>
        <a:buChar char="●"/>
        <a:tabLst>
          <a:tab pos="1609725" algn="l"/>
          <a:tab pos="1609725" algn="l"/>
          <a:tab pos="1609725" algn="l"/>
          <a:tab pos="1609725" algn="l"/>
        </a:tabLst>
        <a:defRPr sz="1600" u="non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120000"/>
        </a:lnSpc>
        <a:spcBef>
          <a:spcPts val="0"/>
        </a:spcBef>
        <a:spcAft>
          <a:spcPts val="600"/>
        </a:spcAft>
        <a:buFont typeface="Arial"/>
        <a:buChar char="●"/>
        <a:defRPr sz="1600" u="non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120000"/>
        </a:lnSpc>
        <a:spcBef>
          <a:spcPts val="0"/>
        </a:spcBef>
        <a:spcAft>
          <a:spcPts val="300"/>
        </a:spcAft>
        <a:buFont typeface="Wingdings"/>
        <a:buChar char=""/>
        <a:defRPr sz="1400" u="non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120000"/>
        </a:lnSpc>
        <a:spcBef>
          <a:spcPts val="0"/>
        </a:spcBef>
        <a:spcAft>
          <a:spcPts val="300"/>
        </a:spcAft>
        <a:buFont typeface="Arial"/>
        <a:buChar char="•"/>
        <a:defRPr sz="1400" u="non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aaa67387954cb9" /><Relationship Type="http://schemas.openxmlformats.org/officeDocument/2006/relationships/notesSlide" Target="/ppt/notesSlides/notesSlide1.xml" Id="Rbd87b786cd2f48d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d06cd2b52b144bc" /><Relationship Type="http://schemas.openxmlformats.org/officeDocument/2006/relationships/notesSlide" Target="/ppt/notesSlides/notesSlide2.xml" Id="Rcb5511e2176e435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48c5bed0f3c48ee" /><Relationship Type="http://schemas.openxmlformats.org/officeDocument/2006/relationships/notesSlide" Target="/ppt/notesSlides/notesSlide3.xml" Id="R3a2560ee5236459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611ed39202b42a9" /><Relationship Type="http://schemas.openxmlformats.org/officeDocument/2006/relationships/notesSlide" Target="/ppt/notesSlides/notesSlide4.xml" Id="Re122b6b29da8491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fb7d284a1e5476f" /><Relationship Type="http://schemas.openxmlformats.org/officeDocument/2006/relationships/notesSlide" Target="/ppt/notesSlides/notesSlide5.xml" Id="Rdf1a82a86e5d451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1ce987d958b4ed5" /><Relationship Type="http://schemas.openxmlformats.org/officeDocument/2006/relationships/notesSlide" Target="/ppt/notesSlides/notesSlide6.xml" Id="Ra6320eaf036942e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9d3ae3c5f364b17" /><Relationship Type="http://schemas.openxmlformats.org/officeDocument/2006/relationships/notesSlide" Target="/ppt/notesSlides/notesSlide7.xml" Id="Re4c368fdbc0d494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288e1944b054654" /><Relationship Type="http://schemas.openxmlformats.org/officeDocument/2006/relationships/notesSlide" Target="/ppt/notesSlides/notesSlide8.xml" Id="R7453fdf40f4348d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e6b0c4b55b04f9f" /><Relationship Type="http://schemas.openxmlformats.org/officeDocument/2006/relationships/notesSlide" Target="/ppt/notesSlides/notesSlide9.xml" Id="R231e9a6a46544be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cb8f71e82e14b4c" /><Relationship Type="http://schemas.openxmlformats.org/officeDocument/2006/relationships/notesSlide" Target="/ppt/notesSlides/notesSlide10.xml" Id="R33fe18c327b445c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aaefeb50d9f4cf7" /><Relationship Type="http://schemas.openxmlformats.org/officeDocument/2006/relationships/notesSlide" Target="/ppt/notesSlides/notesSlide11.xml" Id="Rd5fc65ddf84e400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c73e036b02c4f2a" /><Relationship Type="http://schemas.openxmlformats.org/officeDocument/2006/relationships/notesSlide" Target="/ppt/notesSlides/notesSlide12.xml" Id="R77e18bed099944a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f560f80e2bc45d7" /><Relationship Type="http://schemas.openxmlformats.org/officeDocument/2006/relationships/notesSlide" Target="/ppt/notesSlides/notesSlide13.xml" Id="Rff9d742bcd4e487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BE95746-2F4C-4077-82FA-9E14E9A0029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t>第一章节</a:t>
            </a:r>
            <a:r>
              <a:t> AI</a:t>
            </a:r>
            <a:r>
              <a:t>如何改变人类</a:t>
            </a:r>
            <a:r>
              <a:t>群体的信息获取与信念</a:t>
            </a:r>
            <a:r>
              <a:t>形成？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2510698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CC12C75-D5F4-4F4B-A593-A23BA2372A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研究背景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F681BA2F-247B-4C1B-86CD-48E7E5E4318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搜索引擎通常向用户展示多个来源、链接和证据线索，</a:t>
            </a:r>
            <a:endParaRPr/>
          </a:p>
          <a:p xmlns:a="http://schemas.openxmlformats.org/drawingml/2006/main">
            <a:r>
              <a:t>生成式</a:t>
            </a:r>
            <a:r>
              <a:t>AI</a:t>
            </a:r>
            <a:r>
              <a:t>则越来越多地以“直接答案—综合解释—继续追问”的形式组织信息。</a:t>
            </a:r>
            <a:endParaRPr/>
          </a:p>
          <a:p xmlns:a="http://schemas.openxmlformats.org/drawingml/2006/main">
            <a:r>
              <a:t>research problem</a:t>
            </a:r>
            <a:r>
              <a:t>的</a:t>
            </a:r>
            <a:r>
              <a:t>诞生：群体层面上，如果大量成员依赖相同模型、相似训练数据、相同检索系统和相近的回答生成逻辑，他们看似独立作出的判断，实际上可能包含相同的信息遗漏、叙事框架和错误。这会使群体中的判断数量继续增加，但独立信息样本的数量不再同比增加。</a:t>
            </a:r>
            <a:endParaRPr/>
          </a:p>
          <a:p xmlns:a="http://schemas.openxmlformats.org/drawingml/2006/main">
            <a:r>
              <a:t>现实举例：比如微博智搜，微信智搜等融合了搜索引擎的</a:t>
            </a:r>
            <a:r>
              <a:t>AI</a:t>
            </a:r>
            <a:r>
              <a:t>搜索</a:t>
            </a:r>
            <a:r>
              <a:t>助手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1976743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08256EF-B4BD-4A5A-8397-2C2B7D974E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研究背景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CA939269-139D-4688-AA5C-2EEA2F2E3F9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直接研究“</a:t>
            </a:r>
            <a:r>
              <a:t>AI</a:t>
            </a:r>
            <a:r>
              <a:t>辅助的群体智慧”。理论上，同一</a:t>
            </a:r>
            <a:r>
              <a:t>AI</a:t>
            </a:r>
            <a:r>
              <a:t>建议是共享信息，会在平均群体判断时被重复计算、过度代表；三项实验共3,188人，并提出用参与者接触</a:t>
            </a:r>
            <a:r>
              <a:t>AI</a:t>
            </a:r>
            <a:r>
              <a:t>前的初始判断校正共享</a:t>
            </a:r>
            <a:r>
              <a:t>AI</a:t>
            </a:r>
            <a:r>
              <a:t>信号。</a:t>
            </a:r>
            <a:r>
              <a:t>Pal, Palley &amp; Satop</a:t>
            </a:r>
            <a:r>
              <a:t>ää (2026), </a:t>
            </a:r>
            <a:r>
              <a:t>Enhancing Crowd Accuracy in AI-Assisted Judgmental Forecasting</a:t>
            </a:r>
            <a:endParaRPr/>
          </a:p>
          <a:p xmlns:a="http://schemas.openxmlformats.org/drawingml/2006/main">
            <a:r>
              <a:t>991名参与者回答6个预测问题，可以咨询分配到的</a:t>
            </a:r>
            <a:r>
              <a:t>LLM。LLM</a:t>
            </a:r>
            <a:r>
              <a:t>使个体预测准确率提高24%–28%，作者也检验了是否因降低判断多样性而损害群体智慧。</a:t>
            </a:r>
            <a:r>
              <a:t>Schoenegger et al. (2024), AI-Augmented Predictions: LLM Assistants Improve Human Forecasting Accuracy</a:t>
            </a:r>
            <a:endParaRPr/>
          </a:p>
          <a:p xmlns:a="http://schemas.openxmlformats.org/drawingml/2006/main">
            <a:r>
              <a:t>AI </a:t>
            </a:r>
            <a:r>
              <a:t>对单个成员的平均影响可以很小，但如果共同模型使不同成员接触到相似证据、框架和论点，就会提高成员判断误差的相关性，削弱群体依靠独立判断获得的集体智能。这与 </a:t>
            </a:r>
            <a:r>
              <a:t>Artificial Hivemind </a:t>
            </a:r>
            <a:r>
              <a:t>的证据边界一致：该文发现同一模型重复输出和不同模型之间都存在明显同质性，但研究对象是模型回答，没有测量人类政治态度或组织决策。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82113689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831C0FB-F6D9-4C1B-873E-BD0EE50CAD8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研究</a:t>
            </a:r>
            <a:r>
              <a:t>缺口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3520B335-6E90-49B7-962E-2709FA35579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>
            <a:normAutofit fontScale="60000"/>
          </a:bodyPr>
          <a:lstStyle xmlns:a="http://schemas.openxmlformats.org/drawingml/2006/main"/>
          <a:p xmlns:a="http://schemas.openxmlformats.org/drawingml/2006/main">
            <a:r>
              <a:t>缺口一：已有研究主要停留在模型输出层</a:t>
            </a:r>
            <a:endParaRPr/>
          </a:p>
          <a:p xmlns:a="http://schemas.openxmlformats.org/drawingml/2006/main">
            <a:r>
              <a:t>Artificial Hivemind</a:t>
            </a:r>
            <a:r>
              <a:t>和相关误差研究说明</a:t>
            </a:r>
            <a:r>
              <a:t>LLM</a:t>
            </a:r>
            <a:r>
              <a:t>回答可能相似，但没有证明这种相似性会如何转化为人类信息选择、信念更新和群体判断结果。</a:t>
            </a:r>
            <a:endParaRPr/>
          </a:p>
          <a:p xmlns:a="http://schemas.openxmlformats.org/drawingml/2006/main">
            <a:r>
              <a:t>缺口二：个体准确率和群体准确率通常被混为一谈</a:t>
            </a:r>
            <a:endParaRPr/>
          </a:p>
          <a:p xmlns:a="http://schemas.openxmlformats.org/drawingml/2006/main">
            <a:r>
              <a:t>现有研究经常检验</a:t>
            </a:r>
            <a:r>
              <a:t>AI</a:t>
            </a:r>
            <a:r>
              <a:t>是否改善个人判断，却较少研究：在平均个人判断质量不变甚至提高的情况下，判断相关性上升是否会降低群体聚合收益。</a:t>
            </a:r>
            <a:endParaRPr/>
          </a:p>
          <a:p xmlns:a="http://schemas.openxmlformats.org/drawingml/2006/main">
            <a:r>
              <a:t>缺口三：传统意见动力学缺少“互动式生成源”</a:t>
            </a:r>
            <a:endParaRPr/>
          </a:p>
          <a:p xmlns:a="http://schemas.openxmlformats.org/drawingml/2006/main">
            <a:r>
              <a:t>传统模型主要研究人与人之间的平均、模仿和选择性接触。</a:t>
            </a:r>
            <a:r>
              <a:t>LLM</a:t>
            </a:r>
            <a:r>
              <a:t>则是一个同时具有共同模型先验和用户条件化能力的信息源。它既可能向所有用户重复相似内容，也可能根据用户立场生成不同内容。这种“共同基础—个性化输出”的双重结构尚未得到充分建模。</a:t>
            </a:r>
            <a:endParaRPr/>
          </a:p>
          <a:p xmlns:a="http://schemas.openxmlformats.org/drawingml/2006/main">
            <a:r>
              <a:t>缺口四：现有</a:t>
            </a:r>
            <a:r>
              <a:t>LLM</a:t>
            </a:r>
            <a:r>
              <a:t>社会仿真存在循环效度问题</a:t>
            </a:r>
            <a:endParaRPr/>
          </a:p>
          <a:p xmlns:a="http://schemas.openxmlformats.org/drawingml/2006/main">
            <a:r>
              <a:t>已有研究已经证明可以根据调查或访谈构造</a:t>
            </a:r>
            <a:r>
              <a:t>LLM</a:t>
            </a:r>
            <a:r>
              <a:t>代理。例如，</a:t>
            </a:r>
            <a:r>
              <a:t>Argyle</a:t>
            </a:r>
            <a:r>
              <a:t>等人使用真实调查背景构造“硅样本”，</a:t>
            </a:r>
            <a:r>
              <a:t>Park</a:t>
            </a:r>
            <a:r>
              <a:t>等人使用1,052人的访谈和调查建立生成式代理。但如果同一个</a:t>
            </a:r>
            <a:r>
              <a:t>LLM</a:t>
            </a:r>
            <a:r>
              <a:t>同时扮演人类代理和共同信息源，模型自身的偏好会同时进入行为生成和信息生成，机械地产生同质化。</a:t>
            </a:r>
            <a:endParaRPr/>
          </a:p>
          <a:p xmlns:a="http://schemas.openxmlformats.org/drawingml/2006/main">
            <a:r>
              <a:t>缺口五：缺少可验证的微观—宏观桥梁</a:t>
            </a:r>
            <a:endParaRPr/>
          </a:p>
          <a:p xmlns:a="http://schemas.openxmlformats.org/drawingml/2006/main">
            <a:r>
              <a:t>真实人群实验通常规模有限，难以观察数千或数万使用者长期使用共同</a:t>
            </a:r>
            <a:r>
              <a:t>LLM</a:t>
            </a:r>
            <a:r>
              <a:t>的系统结果。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8772630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14F6952F-F477-40BC-A91A-F07E862046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552450"/>
            <a:ext cx="10972800" cy="7239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0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>理论框架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CA9E9A68-9303-4142-9369-631217FA9EC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00100" y="1752600"/>
            <a:ext cx="10591800" cy="3638550"/>
          </a:xfrm>
        </p:spPr>
        <p:txBody>
          <a:bodyPr xmlns:a="http://schemas.openxmlformats.org/drawingml/2006/main">
            <a:normAutofit fontScale="100000" lnSpcReduction="2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B3B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3B3B3B"/>
                </a:solidFill>
                <a:latin typeface="Microsoft YaHei"/>
                <a:ea typeface="Microsoft YaHei"/>
                <a:cs typeface="Microsoft YaHei"/>
              </a:rPr>
              <a:t>生成式社会科学 / ABM</a:t>
            </a:r>
            <a:endParaRPr/>
          </a:p>
          <a:p xmlns:a="http://schemas.openxmlformats.org/drawingml/2006/main">
            <a:pPr algn="l">
              <a:defRPr sz="1875" b="0">
                <a:solidFill>
                  <a:srgbClr val="3B3B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3B3B3B"/>
                </a:solidFill>
                <a:latin typeface="Microsoft YaHei"/>
                <a:ea typeface="Microsoft YaHei"/>
                <a:cs typeface="Microsoft YaHei"/>
              </a:rPr>
              <a:t>异质代理  ·  社会网络  ·  多轮互动   →   群体意见涌现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pPr algn="l">
              <a:defRPr sz="1875" b="0">
                <a:solidFill>
                  <a:srgbClr val="3B3B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3B3B3B"/>
                </a:solidFill>
                <a:latin typeface="Microsoft YaHei"/>
                <a:ea typeface="Microsoft YaHei"/>
                <a:cs typeface="Microsoft YaHei"/>
              </a:rPr>
              <a:t>LLM信息环境   →   社会影响与意见动力学   →   群体意见分布</a:t>
            </a:r>
            <a:endParaRPr/>
          </a:p>
          <a:p xmlns:a="http://schemas.openxmlformats.org/drawingml/2006/main">
            <a:pPr algn="l">
              <a:defRPr sz="1875" b="0">
                <a:solidFill>
                  <a:srgbClr val="3B3B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3B3B3B"/>
                </a:solidFill>
                <a:latin typeface="Microsoft YaHei"/>
                <a:ea typeface="Microsoft YaHei"/>
                <a:cs typeface="Microsoft YaHei"/>
              </a:rPr>
              <a:t>个体 · 社会 · 技术过滤        初始立场 · 接受权重 · 有界接受        收敛 · 聚类 · 分化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pPr algn="l">
              <a:defRPr sz="1875" b="0">
                <a:solidFill>
                  <a:srgbClr val="3B3B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3B3B3B"/>
                </a:solidFill>
                <a:latin typeface="Microsoft YaHei"/>
                <a:ea typeface="Microsoft YaHei"/>
                <a:cs typeface="Microsoft YaHei"/>
              </a:rPr>
              <a:t>LLM生成信息   ·   显式规则更新意见   ·   人类数据校准参数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45310923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B73EEE9-4DE4-4865-AB7D-8AF0430AEB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研究</a:t>
            </a:r>
            <a:r>
              <a:t>问题：大语言模型会削弱群体智慧吗？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85E3A36B-9A28-4D26-B617-1DFD889E830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08330" y="1490345"/>
            <a:ext cx="10968990" cy="2375535"/>
          </a:xfrm>
        </p:spPr>
        <p:txBody>
          <a:bodyPr xmlns:a="http://schemas.openxmlformats.org/drawingml/2006/main">
            <a:normAutofit fontScale="60000"/>
          </a:bodyPr>
          <a:lstStyle xmlns:a="http://schemas.openxmlformats.org/drawingml/2006/main"/>
          <a:p xmlns:a="http://schemas.openxmlformats.org/drawingml/2006/main">
            <a:r>
              <a:t>当具有异质初始立场的个体独立地就同一公共政策问题与</a:t>
            </a:r>
            <a:r>
              <a:t>LLM</a:t>
            </a:r>
            <a:r>
              <a:t>反复交互时，</a:t>
            </a:r>
            <a:r>
              <a:t>LLM</a:t>
            </a:r>
            <a:r>
              <a:t>的输出同质性如何改变群体判断的相关结构？</a:t>
            </a:r>
            <a:endParaRPr/>
          </a:p>
          <a:p xmlns:a="http://schemas.openxmlformats.org/drawingml/2006/main">
            <a:pPr marL="0" indent="0">
              <a:buNone/>
            </a:pPr>
            <a:r>
              <a:t>“群体判断的相关结构”包含三个可能结果：</a:t>
            </a:r>
            <a:endParaRPr/>
          </a:p>
          <a:p xmlns:a="http://schemas.openxmlformats.org/drawingml/2006/main">
            <a:pPr marL="0" indent="0">
              <a:buNone/>
            </a:pPr>
            <a:r>
              <a:t>信息样本趋同；</a:t>
            </a:r>
            <a:endParaRPr/>
          </a:p>
          <a:p xmlns:a="http://schemas.openxmlformats.org/drawingml/2006/main">
            <a:pPr marL="0" indent="0">
              <a:buNone/>
            </a:pPr>
            <a:r>
              <a:t>判断误差相关性上升；</a:t>
            </a:r>
            <a:endParaRPr/>
          </a:p>
          <a:p xmlns:a="http://schemas.openxmlformats.org/drawingml/2006/main">
            <a:pPr marL="0" indent="0">
              <a:buNone/>
            </a:pPr>
            <a:r>
              <a:t>意见收敛、维持分裂或进一步极化。</a:t>
            </a:r>
            <a:endParaRPr/>
          </a:p>
          <a:p xmlns:a="http://schemas.openxmlformats.org/drawingml/2006/main">
            <a:pPr marL="0" indent="0">
              <a:buNone/>
            </a:pPr>
            <a:r>
              <a:t>在个体获得的信息质量和平均判断准确率大致相当时，共享</a:t>
            </a:r>
            <a:r>
              <a:t>LLM</a:t>
            </a:r>
            <a:r>
              <a:t>是否会提高成员间的判断误差相关性，从而降低群体的有效独立信息量和集体判断质量？</a:t>
            </a:r>
            <a:endParaRPr/>
          </a:p>
          <a:p xmlns:a="http://schemas.openxmlformats.org/drawingml/2006/main">
            <a:pPr marL="0" indent="0">
              <a:buNone/>
            </a:pPr>
            <a:endParaRPr/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17F74E79-313A-4AD7-84AC-D7BFE17AD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955" y="3571875"/>
            <a:ext cx="8891270" cy="4692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r>
                    <a:rPr xmlns:a="http://schemas.openxmlformats.org/drawingml/2006/main" lang="en-US" i="1">
                      <a:latin typeface="Cambria Math"/>
                      <a:ea typeface="Cambria Math"/>
                      <a:cs typeface="Cambria Math"/>
                    </a:rPr>
                    <m:t>模型输出同质性→用户信息暴露相关性→用户信念更新→群体判断结构</m:t>
                  </m:r>
                </m:oMath>
              </m:oMathPara>
            </a14:m>
            <a:endParaRPr>
              <a:latin typeface="Cambria Math"/>
              <a:ea typeface="Cambria Math"/>
              <a:cs typeface="Cambria Math"/>
            </a:endParaRPr>
          </a:p>
        </p:txBody>
      </p:sp>
    </p:spTree>
    <p:extLst>
      <p:ext uri="{BB962C8B-B14F-4D97-AF65-F5344CB8AC3E}">
        <p14:creationId xmlns:p14="http://schemas.microsoft.com/office/powerpoint/2010/main" val="124469811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95452BC-0A54-4BEB-8C69-BD5CE0DBF0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研究</a:t>
            </a:r>
            <a:r>
              <a:t>假设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BC0C765E-D845-435B-8C66-444209DEE83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**H1：**</a:t>
            </a:r>
            <a:r>
              <a:t>共享大语言模型会提高成员所获信息的相似性。</a:t>
            </a:r>
            <a:endParaRPr/>
          </a:p>
          <a:p xmlns:a="http://schemas.openxmlformats.org/drawingml/2006/main">
            <a:r>
              <a:t>**H2：**</a:t>
            </a:r>
            <a:r>
              <a:t>共享大语言模型会提高成员判断错误的相关性。</a:t>
            </a:r>
            <a:endParaRPr/>
          </a:p>
          <a:p xmlns:a="http://schemas.openxmlformats.org/drawingml/2006/main">
            <a:r>
              <a:t>**H3：**</a:t>
            </a:r>
            <a:r>
              <a:t>共享大语言模型会降低判断聚合带来的准确率增益。</a:t>
            </a:r>
            <a:endParaRPr/>
          </a:p>
          <a:p xmlns:a="http://schemas.openxmlformats.org/drawingml/2006/main">
            <a:r>
              <a:t>**H4：**</a:t>
            </a:r>
            <a:r>
              <a:t>模型多样化会缓解共享大语言模型造成的群体智慧损失。</a:t>
            </a:r>
            <a:endParaRPr/>
          </a:p>
          <a:p xmlns:a="http://schemas.openxmlformats.org/drawingml/2006/main">
            <a:r>
              <a:t>H4</a:t>
            </a:r>
            <a:r>
              <a:t>同时承担机制检验：如果模型多样化先降低错误相关性，随后恢复聚合增益，核心机制获得支持。如果它只增加语言表达差异，没有改变错误相关性和聚合结果，核心机制就没有得到验证。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7904074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9B85DAF-DEE7-487A-9BB1-C6AE72438C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建模</a:t>
            </a:r>
            <a:r>
              <a:t>依据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2C3E3501-818F-42C4-A289-71D6A16AE04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意见动力学：共同模型何时导致收敛，何时导致分化</a:t>
            </a:r>
            <a:endParaRPr/>
          </a:p>
          <a:p xmlns:a="http://schemas.openxmlformats.org/drawingml/2006/main">
            <a:r>
              <a:t>传统意见动力学研究个体如何根据他人意见更新自身判断。</a:t>
            </a:r>
            <a:r>
              <a:t>DeGroot</a:t>
            </a:r>
            <a:r>
              <a:t>模型描述加权平均产生的意见收敛；</a:t>
            </a:r>
            <a:r>
              <a:t>Friedkin–Johnsen</a:t>
            </a:r>
            <a:r>
              <a:t>模型允许个体保留对初始立场的依附；</a:t>
            </a:r>
            <a:r>
              <a:t>Hegselmann–Krause</a:t>
            </a:r>
            <a:r>
              <a:t>有界信任模型则认为人们只接受与当前观点距离不太大的信息，因此可能形成多个意见簇。</a:t>
            </a:r>
            <a:endParaRPr/>
          </a:p>
          <a:p xmlns:a="http://schemas.openxmlformats.org/drawingml/2006/main">
            <a:r>
              <a:t>本研究不把意见动力学的主要作用设定为模拟人际传播，而是用它描述：</a:t>
            </a:r>
            <a:endParaRPr/>
          </a:p>
          <a:p xmlns:a="http://schemas.openxmlformats.org/drawingml/2006/main">
            <a:r>
              <a:t>不同初始立场的成员如何对共同但可能个性化的</a:t>
            </a:r>
            <a:r>
              <a:t>LLM</a:t>
            </a:r>
            <a:r>
              <a:t>信息进行连续更新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5351962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68CF17EE-4A79-4A8C-956C-66939ECBB3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研究方法：</a:t>
            </a:r>
            <a:r>
              <a:t>ABM</a:t>
            </a:r>
            <a:r>
              <a:t>动力学混合</a:t>
            </a:r>
            <a:r>
              <a:t>建模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381B3355-4DE0-4D4C-B161-10C6E3F3880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ABM</a:t>
            </a:r>
            <a:r>
              <a:t>连接三个层次：</a:t>
            </a:r>
            <a:endParaRPr/>
          </a:p>
          <a:p xmlns:a="http://schemas.openxmlformats.org/drawingml/2006/main">
            <a:r>
              <a:t>模型回答</a:t>
            </a:r>
            <a:endParaRPr/>
          </a:p>
          <a:p xmlns:a="http://schemas.openxmlformats.org/drawingml/2006/main">
            <a:r>
              <a:t>个体更新</a:t>
            </a:r>
            <a:endParaRPr/>
          </a:p>
          <a:p xmlns:a="http://schemas.openxmlformats.org/drawingml/2006/main">
            <a:r>
              <a:t>群体分布</a:t>
            </a:r>
            <a:endParaRPr/>
          </a:p>
          <a:p xmlns:a="http://schemas.openxmlformats.org/drawingml/2006/main">
            <a:r>
              <a:t>它可以处理异质代理、重复追问、非线性更新、个性化输出和大规模群体结果。理论贡献来自上述机制关系；</a:t>
            </a:r>
            <a:r>
              <a:t>ABM</a:t>
            </a:r>
            <a:r>
              <a:t>提供机制推演和反事实比较。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51829252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D6A7AAE-BB6C-4B25-932D-3C0587C559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意见动力学用于建模人类群体</a:t>
            </a:r>
            <a:r>
              <a:t>行为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F044166B-F724-4659-91F1-919B9B2CDF5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08330" y="1490345"/>
            <a:ext cx="10821035" cy="4759325"/>
          </a:xfrm>
        </p:spPr>
        <p:txBody>
          <a:bodyPr xmlns:a="http://schemas.openxmlformats.org/drawingml/2006/main">
            <a:normAutofit fontScale="90000"/>
          </a:bodyPr>
          <a:lstStyle xmlns:a="http://schemas.openxmlformats.org/drawingml/2006/main"/>
          <a:p xmlns:a="http://schemas.openxmlformats.org/drawingml/2006/main">
            <a:r>
              <a:t>意见动力学解释用户收到</a:t>
            </a:r>
            <a:r>
              <a:t>LLM</a:t>
            </a:r>
            <a:r>
              <a:t>回答之后如何更新立场。</a:t>
            </a:r>
            <a:endParaRPr/>
          </a:p>
          <a:p xmlns:a="http://schemas.openxmlformats.org/drawingml/2006/main">
            <a:r>
              <a:t>代理 \(</a:t>
            </a:r>
            <a:r>
              <a:t>i\) </a:t>
            </a:r>
            <a:r>
              <a:t>在第 \(</a:t>
            </a:r>
            <a:r>
              <a:t>t\) </a:t>
            </a:r>
            <a:r>
              <a:t>轮的观点记为 \(</a:t>
            </a:r>
            <a:r>
              <a:t>x_{i,t}\)，LLM</a:t>
            </a:r>
            <a:r>
              <a:t>回答隐含的政策立场记为 \(</a:t>
            </a:r>
            <a:r>
              <a:t>s_{i,t}\)。</a:t>
            </a:r>
            <a:r>
              <a:t>基本更新规则为：</a:t>
            </a:r>
            <a:endParaRPr/>
          </a:p>
          <a:p xmlns:a="http://schemas.openxmlformats.org/drawingml/2006/main">
            <a:r>
              <a:t>x_{i,t+1}=(1-\lambda_i)x_{i,t}+\lambda_i s_{i,t}</a:t>
            </a:r>
            <a:endParaRPr/>
          </a:p>
          <a:p xmlns:a="http://schemas.openxmlformats.org/drawingml/2006/main">
            <a:r>
              <a:t>其中，\(\</a:t>
            </a:r>
            <a:r>
              <a:t>lambda_i\) </a:t>
            </a:r>
            <a:r>
              <a:t>表示代理对</a:t>
            </a:r>
            <a:r>
              <a:t>LLM</a:t>
            </a:r>
            <a:r>
              <a:t>的依赖程度。</a:t>
            </a:r>
            <a:endParaRPr/>
          </a:p>
          <a:p xmlns:a="http://schemas.openxmlformats.org/drawingml/2006/main">
            <a:r>
              <a:t>引入有界信任后，代理只接受与当前观点距离不超过阈值的信息：</a:t>
            </a:r>
            <a:endParaRPr/>
          </a:p>
          <a:p xmlns:a="http://schemas.openxmlformats.org/drawingml/2006/main">
            <a:r>
              <a:t>s_{i,t}-x_{i,t}| \leq \tau_i</a:t>
            </a:r>
            <a:endParaRPr/>
          </a:p>
          <a:p xmlns:a="http://schemas.openxmlformats.org/drawingml/2006/main">
            <a:r>
              <a:t>\]这一结构可以产生两类结果：</a:t>
            </a:r>
            <a:endParaRPr/>
          </a:p>
          <a:p xmlns:a="http://schemas.openxmlformats.org/drawingml/2006/main">
            <a:r>
              <a:t>共享模型向不同用户提供相似答案时，群体观点收敛；</a:t>
            </a:r>
            <a:endParaRPr/>
          </a:p>
          <a:p xmlns:a="http://schemas.openxmlformats.org/drawingml/2006/main">
            <a:r>
              <a:t>模型根据用户初始立场选择证据时，不同阵营获得方向不同的答案，群体出现分化或极化。</a:t>
            </a:r>
            <a:endParaRPr/>
          </a:p>
          <a:p xmlns:a="http://schemas.openxmlformats.org/drawingml/2006/main">
            <a:r>
              <a:t>所以，迎合性和个性化是共同模型同质化效应的边界条件。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890162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7364AE2-5043-4A0A-8177-FC249F64FA3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  <a:r>
              <a:t>模型</a:t>
            </a:r>
            <a:r>
              <a:t>总体</a:t>
            </a:r>
            <a:endParaRPr/>
          </a:p>
        </p:txBody>
      </p:sp>
      <p:graphicFrame>
        <p:nvGraphicFramePr>
          <p:cNvPr id="9" name="表格 3"/>
          <p:cNvGraphicFramePr/>
          <p:nvPr/>
        </p:nvGraphicFramePr>
        <p:xfrm>
          <a:off xmlns:a="http://schemas.openxmlformats.org/drawingml/2006/main" x="680085" y="1708150"/>
          <a:ext xmlns:a="http://schemas.openxmlformats.org/drawingml/2006/main" cx="10485120" cy="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21280"/>
                <a:gridCol w="2621280"/>
                <a:gridCol w="2621280"/>
                <a:gridCol w="2621280"/>
              </a:tblGrid>
              <a:tr h="0">
                <a:tc>
                  <a:txBody>
                    <a:bodyPr/>
                    <a:lstStyle/>
                    <a:p>
                      <a:r>
                        <a:rPr sz="1100"/>
                        <a:t>层级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输入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输出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功能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100"/>
                        <a:t>LLM </a:t>
                      </a:r>
                      <a:r>
                        <a:rPr sz="1100"/>
                        <a:t>信息层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用户问题、模型配置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自然语言回答 </a:t>
                      </a:r>
                      <a:r>
                        <a:rPr sz="1100"/>
                        <a:t>\(R_{ikt}\)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生成每个成员获得的信息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100"/>
                        <a:t>文本测量层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回答 </a:t>
                      </a:r>
                      <a:r>
                        <a:rPr sz="1100"/>
                        <a:t>\(R_{ikt}\)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立场信号 </a:t>
                      </a:r>
                      <a:r>
                        <a:rPr sz="1100"/>
                        <a:t>\(s_{ikt}\)</a:t>
                      </a:r>
                      <a:r>
                        <a:rPr sz="1100"/>
                        <a:t>、信息向量 </a:t>
                      </a:r>
                      <a:r>
                        <a:rPr sz="1100"/>
                        <a:t>\(z_{ikt}\)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把文本转换为可计算变量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100"/>
                        <a:t>意见更新层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原立场 </a:t>
                      </a:r>
                      <a:r>
                        <a:rPr sz="1100"/>
                        <a:t>\(x_{ikt}\)</a:t>
                      </a:r>
                      <a:r>
                        <a:rPr sz="1100"/>
                        <a:t>、立场信号 </a:t>
                      </a:r>
                      <a:r>
                        <a:rPr sz="1100"/>
                        <a:t>\(s_{ikt}\)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新立场 </a:t>
                      </a:r>
                      <a:r>
                        <a:rPr sz="1100"/>
                        <a:t>\(x_{ik,t+1}\)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模拟成员如何采纳回答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616E2062-A8BB-4A4C-B6F1-89D4FE266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" y="2773045"/>
            <a:ext cx="4064000" cy="2584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其中：</a:t>
            </a:r>
            <a:endParaRPr/>
          </a:p>
          <a:p xmlns:a="http://schemas.openxmlformats.org/drawingml/2006/main">
            <a:r>
              <a:t>\(i\)：</a:t>
            </a:r>
            <a:r>
              <a:t>成员；</a:t>
            </a:r>
            <a:endParaRPr/>
          </a:p>
          <a:p xmlns:a="http://schemas.openxmlformats.org/drawingml/2006/main">
            <a:r>
              <a:t>\(k\)：</a:t>
            </a:r>
            <a:r>
              <a:t>政策议题；</a:t>
            </a:r>
            <a:endParaRPr/>
          </a:p>
          <a:p xmlns:a="http://schemas.openxmlformats.org/drawingml/2006/main">
            <a:r>
              <a:t>\(t\)：</a:t>
            </a:r>
            <a:r>
              <a:t>交互轮次；</a:t>
            </a:r>
            <a:endParaRPr/>
          </a:p>
          <a:p xmlns:a="http://schemas.openxmlformats.org/drawingml/2006/main">
            <a:r>
              <a:t>\(x_{ikt}\in[-1,1]\)：</a:t>
            </a:r>
            <a:r>
              <a:t>成员当前立场；</a:t>
            </a:r>
            <a:endParaRPr/>
          </a:p>
          <a:p xmlns:a="http://schemas.openxmlformats.org/drawingml/2006/main">
            <a:r>
              <a:t>\(s_{ikt}\in[-1,1]\)：LLM </a:t>
            </a:r>
            <a:r>
              <a:t>回答隐含的政策立场；</a:t>
            </a:r>
            <a:endParaRPr/>
          </a:p>
          <a:p xmlns:a="http://schemas.openxmlformats.org/drawingml/2006/main">
            <a:r>
              <a:t>\(z_{ikt}\)：</a:t>
            </a:r>
            <a:r>
              <a:t>回答包含的论据、事实和政策框架。</a:t>
            </a:r>
            <a:endParaRPr/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2086600A-42B0-465D-800A-43BA891E5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1195" y="3050540"/>
            <a:ext cx="4064000" cy="20300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Chuang </a:t>
            </a:r>
            <a:r>
              <a:t>等人的做法与此接近：</a:t>
            </a:r>
            <a:r>
              <a:t>LLM </a:t>
            </a:r>
            <a:r>
              <a:t>代理先生成自然语言意见，再由独立的 </a:t>
            </a:r>
            <a:r>
              <a:t>FLAN-T5-XXL </a:t>
            </a:r>
            <a:r>
              <a:t>分类器将文本编码为 \(-2,-1,0,1,2\)。他们抽取100条回答进行人工验证，三位标注者的 </a:t>
            </a:r>
            <a:r>
              <a:t>Krippendorff’s alpha </a:t>
            </a:r>
            <a:r>
              <a:t>为0.81，自动分类与人工多数票一致率为84%。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34368232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C086F28-213E-4A24-91CF-9AC35E3F8E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模型可以回答的</a:t>
            </a:r>
            <a:r>
              <a:t>问题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8267994D-320B-4ACF-961F-A6BF4B05E8D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第一，大语言模型如何改变群体中的信息暴露与信息传播？</a:t>
            </a:r>
            <a:endParaRPr/>
          </a:p>
          <a:p xmlns:a="http://schemas.openxmlformats.org/drawingml/2006/main">
            <a:r>
              <a:t>第二，信息暴露与传播的变化如何影响个体意见更新和群体意见演化？</a:t>
            </a:r>
            <a:endParaRPr/>
          </a:p>
          <a:p xmlns:a="http://schemas.openxmlformats.org/drawingml/2006/main">
            <a:r>
              <a:t>第三：如果上述群体意见演化现象存在，在</a:t>
            </a:r>
            <a:r>
              <a:t>LLM</a:t>
            </a:r>
            <a:r>
              <a:t>侧进行技术调整能否抑制这些现象？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5616433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840A5DE-55E3-4506-A3E9-C1D6D9DA6E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理论</a:t>
            </a:r>
            <a:r>
              <a:t>贡献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D0C010C3-BB25-4AFF-9CE7-127E8B1C6A1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LLM</a:t>
            </a:r>
            <a:r>
              <a:t>的非替代性只能来自以下至少一项：</a:t>
            </a:r>
            <a:endParaRPr/>
          </a:p>
          <a:p xmlns:a="http://schemas.openxmlformats.org/drawingml/2006/main">
            <a:r>
              <a:t>LLM</a:t>
            </a:r>
            <a:r>
              <a:t>能在大规模用户之间持续产生相似信息；</a:t>
            </a:r>
            <a:endParaRPr/>
          </a:p>
          <a:p xmlns:a="http://schemas.openxmlformats.org/drawingml/2006/main">
            <a:r>
              <a:t>LLM</a:t>
            </a:r>
            <a:r>
              <a:t>通过权威感改变人类的更新权重；</a:t>
            </a:r>
            <a:endParaRPr/>
          </a:p>
          <a:p xmlns:a="http://schemas.openxmlformats.org/drawingml/2006/main">
            <a:r>
              <a:t>LLM</a:t>
            </a:r>
            <a:r>
              <a:t>回答提高信息充分性感知，从而内生减少外部搜索；</a:t>
            </a:r>
            <a:endParaRPr/>
          </a:p>
          <a:p xmlns:a="http://schemas.openxmlformats.org/drawingml/2006/main">
            <a:r>
              <a:t>多轮对话让共同偏差持续累积；</a:t>
            </a:r>
            <a:endParaRPr/>
          </a:p>
          <a:p xmlns:a="http://schemas.openxmlformats.org/drawingml/2006/main">
            <a:r>
              <a:t>个性化与共同模型先验之间产生传统静态简报没有的动态交互。</a:t>
            </a:r>
            <a:endParaRPr/>
          </a:p>
          <a:p xmlns:a="http://schemas.openxmlformats.org/drawingml/2006/main">
            <a:r>
              <a:t>如果这些机制都不进入模型，论文只能声称“共享信息损害群体智慧”，不能声称发现了</a:t>
            </a:r>
            <a:r>
              <a:t>LLM</a:t>
            </a:r>
            <a:r>
              <a:t>特有理论。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07211962"/>
      </p:ext>
    </p:extLst>
  </p:cSld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2026-08-24T18:41:18.9080000Z</dcterms:created>
  <dcterms:modified xsi:type="dcterms:W3CDTF">2026-08-24T18:41:18.9080000Z</dcterms:modified>
</coreProperties>
</file>