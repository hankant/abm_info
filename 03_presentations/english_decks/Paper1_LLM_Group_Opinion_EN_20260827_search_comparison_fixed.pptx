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I will introduce my first research project.</a:t>
            </a:r>
            <a:endParaRPr lang="en-US" altLang="zh-CN"/>
          </a:p>
          <a:p>
            <a:r>
              <a:rPr lang="en-US" altLang="zh-CN"/>
              <a:t>The broad topic is how AI changes information acquisition and opinion formation in human groups.</a:t>
            </a:r>
            <a:endParaRPr lang="en-US" altLang="zh-CN"/>
          </a:p>
          <a:p>
            <a:r>
              <a:rPr lang="en-US" altLang="zh-CN"/>
              <a:t>My main question is: How do large language models change group opinion distributions?</a:t>
            </a:r>
            <a:endParaRPr lang="en-US" altLang="zh-CN"/>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Generative AI is changing how people search for information.</a:t>
            </a:r>
            <a:endParaRPr lang="en-US" altLang="zh-CN"/>
          </a:p>
          <a:p>
            <a:r>
              <a:rPr lang="en-US" altLang="zh-CN"/>
              <a:t>Platforms such as Weibo and WeChat now include AI search assistants. These tools provide direct answers and can replace part of the ordinary search process. </a:t>
            </a:r>
            <a:endParaRPr lang="zh-CN" altLang="en-US"/>
          </a:p>
          <a:p>
            <a:r>
              <a:rPr lang="en-US" altLang="zh-CN"/>
              <a:t>This raises a group-level question. What happens when many people begin to receive information through LLMs?</a:t>
            </a:r>
            <a:endParaRPr lang="en-US" altLang="zh-CN"/>
          </a:p>
          <a:p>
            <a:r>
              <a:rPr lang="en-US" altLang="zh-CN"/>
              <a:t>One possibility is that their opinions become more similar. Another possibility is that AI strengthens their existing views and pushes different groups further apart.</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literature supports two competing paths. The first begins with a shared information source. Model-output homogeneity and algorithmic monoculture suggest that separate users may still receive correlated information. Repeated exposure and positive acceptance can then move opinions toward convergence. </a:t>
            </a:r>
            <a:r>
              <a:rPr lang="en-US" altLang="zh-CN"/>
              <a:t>The second path is differentiation.If an AI knows the user’s starting position, it may provide more information that supports that position. Different groups may then move further apart. Existing simulations have already shown that both outcomes are possible. </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There are several gaps in the current research.</a:t>
            </a:r>
            <a:endParaRPr lang="en-US" altLang="zh-CN"/>
          </a:p>
          <a:p>
            <a:r>
              <a:rPr lang="en-US" altLang="zh-CN"/>
              <a:t>First, similar LLM answers do not always mean that people receive the same information.</a:t>
            </a:r>
            <a:endParaRPr lang="en-US" altLang="zh-CN"/>
          </a:p>
          <a:p>
            <a:r>
              <a:rPr lang="en-US" altLang="zh-CN"/>
              <a:t>Second, changes in information exposure do not always change opinions. These two stages need to be tested separately. Third, we still do not know whether changes to the LLM system can reduce group-level effects.Using LLMs to simulate human behaviour can also create problems. The model may add its own preferences or biases to the simulated agents. </a:t>
            </a:r>
            <a:endParaRPr lang="zh-CN" altLang="en-US"/>
          </a:p>
          <a:p>
            <a:r>
              <a:rPr lang="en-US" altLang="zh-CN"/>
              <a:t>Finally, large and long-term human experiments are difficult. This is why I use a human-calibrated ABM.</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first theoretical foundation is opinion dynamics.</a:t>
            </a:r>
            <a:endParaRPr lang="en-US" altLang="zh-CN"/>
          </a:p>
          <a:p>
            <a:r>
              <a:rPr lang="en-US" altLang="zh-CN"/>
              <a:t>Opinion dynamics is widely used in social science and computational research. It uses formal update rules to study how social interaction changes individual opinions and group opinion patterns. The second foundation is agent-based modelling.</a:t>
            </a:r>
            <a:endParaRPr lang="en-US" altLang="zh-CN"/>
          </a:p>
          <a:p>
            <a:r>
              <a:rPr lang="en-US" altLang="zh-CN"/>
              <a:t>Traditional ABM creates a population of agents. Each agent follows a set of behavioural rules. The agents interact through a network over many rounds. Researchers then observe how these local interactions create larger social patterns. My research combines these two approaches.</a:t>
            </a:r>
            <a:endParaRPr lang="en-US" altLang="zh-CN"/>
          </a:p>
          <a:p>
            <a:r>
              <a:rPr lang="en-US" altLang="zh-CN"/>
              <a:t>First, the LLM generates information. The </a:t>
            </a:r>
            <a:r>
              <a:rPr lang="en-US" altLang="zh-CN"/>
              <a:t>hybrid ABM simulates how this information spreads through the network. Opinion-dynamics rules update each agent’s state. Finally, I observe the group opinion distribution.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study has three subquestions.</a:t>
            </a:r>
            <a:endParaRPr lang="en-US" altLang="zh-CN"/>
          </a:p>
          <a:p>
            <a:r>
              <a:rPr lang="en-US" altLang="zh-CN"/>
              <a:t>Q1 asks how LLMs change information exposure and information diffusion within groups.</a:t>
            </a:r>
            <a:endParaRPr lang="en-US" altLang="zh-CN"/>
          </a:p>
          <a:p>
            <a:r>
              <a:rPr lang="en-US" altLang="zh-CN"/>
              <a:t>Q2 asks how these changes affect individual opinion updating and group opinion evolution.</a:t>
            </a:r>
            <a:endParaRPr lang="en-US" altLang="zh-CN"/>
          </a:p>
          <a:p>
            <a:r>
              <a:rPr lang="en-US" altLang="zh-CN"/>
              <a:t>Q3 asks whether technical changes at the LLM layer can reduce the observed group-level effects.</a:t>
            </a:r>
            <a:endParaRPr lang="en-US" altLang="zh-CN"/>
          </a:p>
          <a:p>
            <a:r>
              <a:rPr lang="en-US" altLang="zh-CN"/>
              <a:t>The final result may be convergence, clustering, polarization, or no clear change. I will compare these outcomes separately. </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LLM has two roles in this model.</a:t>
            </a:r>
            <a:endParaRPr lang="en-US" altLang="zh-CN"/>
          </a:p>
          <a:p>
            <a:r>
              <a:rPr lang="en-US" altLang="zh-CN"/>
              <a:t>First, the LLM is an information source. The model, prompt, and routing system can be changed as experimental conditions.</a:t>
            </a:r>
            <a:endParaRPr lang="en-US" altLang="zh-CN"/>
          </a:p>
          <a:p>
            <a:r>
              <a:rPr lang="en-US" altLang="zh-CN"/>
              <a:t>Second, some agent nodes are controlled by LLMs. Other nodes continue to use traditional ABM rules.</a:t>
            </a:r>
            <a:endParaRPr lang="en-US" altLang="zh-CN"/>
          </a:p>
          <a:p>
            <a:r>
              <a:rPr lang="en-US" altLang="zh-CN"/>
              <a:t>All agents interact in the same network and follow the same time steps.</a:t>
            </a:r>
            <a:endParaRPr lang="en-US" altLang="zh-CN"/>
          </a:p>
          <a:p>
            <a:r>
              <a:rPr lang="en-US" altLang="zh-CN"/>
              <a:t>We use real human data to build the LLM-agent nodes. </a:t>
            </a:r>
            <a:endParaRPr lang="zh-CN" altLang="en-US"/>
          </a:p>
          <a:p>
            <a:r>
              <a:rPr lang="en-US" altLang="zh-CN"/>
              <a:t>This creates a hybrid system. It combines behavioural rules with natural-language interaction.</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hybrid system is defined through three functions.</a:t>
            </a:r>
            <a:endParaRPr lang="en-US" altLang="zh-CN"/>
          </a:p>
          <a:p>
            <a:r>
              <a:rPr lang="en-US" altLang="zh-CN"/>
              <a:t>These functions come from the behavioural structure of the hybrid ABM. The update function is connected to opinion-dynamics theory. The message and selection functions describe communication and information exposure. </a:t>
            </a:r>
            <a:endParaRPr lang="zh-CN" altLang="en-US"/>
          </a:p>
          <a:p>
            <a:r>
              <a:rPr lang="en-US" altLang="zh-CN"/>
              <a:t>The message function determines what an agent says.</a:t>
            </a:r>
            <a:endParaRPr lang="en-US" altLang="zh-CN"/>
          </a:p>
          <a:p>
            <a:r>
              <a:rPr lang="en-US" altLang="zh-CN"/>
              <a:t>The selection function determines which messages an agent actually receives.</a:t>
            </a:r>
            <a:endParaRPr lang="en-US" altLang="zh-CN"/>
          </a:p>
          <a:p>
            <a:r>
              <a:rPr lang="en-US" altLang="zh-CN"/>
              <a:t>The update function determines how the agent’s opinion changes.</a:t>
            </a:r>
            <a:endParaRPr lang="en-US" altLang="zh-CN"/>
          </a:p>
          <a:p>
            <a:r>
              <a:rPr lang="en-US" altLang="zh-CN"/>
              <a:t>In the equations, \(m\) represents a message. \(J\) represents the actual exposure set. \(x\) represents the opinion state. The letters \(i\) and \(j\) identify different agents. The symbol \(t\) represents the current time step. These three functions show exactly where LLM behaviour enters the ABM.</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Each subquestion has a separate comparison.</a:t>
            </a:r>
            <a:endParaRPr lang="en-US" altLang="zh-CN"/>
          </a:p>
          <a:p>
            <a:r>
              <a:rPr lang="en-US" altLang="zh-CN"/>
              <a:t>For Q1, I compare two networks. The first contains human agents and traditional search engines. The second adds an LLM as an information source. </a:t>
            </a:r>
            <a:endParaRPr lang="zh-CN" altLang="en-US"/>
          </a:p>
          <a:p>
            <a:r>
              <a:rPr lang="en-US" altLang="zh-CN"/>
              <a:t>I then compare the information generated, received, and shared in the two networks.</a:t>
            </a:r>
            <a:endParaRPr lang="en-US" altLang="zh-CN"/>
          </a:p>
          <a:p>
            <a:r>
              <a:rPr lang="en-US" altLang="zh-CN"/>
              <a:t>For Q2, I hold the initial population and message library constant. I change information exposure and diffusion. I then observe opinion updates and the final distribution.</a:t>
            </a:r>
            <a:endParaRPr lang="en-US" altLang="zh-CN"/>
          </a:p>
          <a:p>
            <a:r>
              <a:rPr lang="en-US" altLang="zh-CN"/>
              <a:t>For Q3, I compare one shared LLM with random routing across different model families or providers.</a:t>
            </a:r>
            <a:endParaRPr lang="en-US" altLang="zh-CN"/>
          </a:p>
          <a:p>
            <a:r>
              <a:rPr lang="en-US" altLang="zh-CN"/>
              <a:t>The intervention succeeds only if it changes the information process and reduces the group-level effect found in Q2.</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model requires several forms of validation.</a:t>
            </a:r>
            <a:endParaRPr lang="en-US" altLang="zh-CN"/>
          </a:p>
          <a:p>
            <a:r>
              <a:rPr lang="en-US" altLang="zh-CN"/>
              <a:t>First, check whether the program follows the declared rules.</a:t>
            </a:r>
            <a:endParaRPr lang="en-US" altLang="zh-CN"/>
          </a:p>
          <a:p>
            <a:r>
              <a:rPr lang="en-US" altLang="zh-CN"/>
              <a:t>ODD is a standard protocol for describing ABMs and checking whether their structures and rules are clearly implemented. </a:t>
            </a:r>
            <a:endParaRPr lang="zh-CN" altLang="en-US"/>
          </a:p>
          <a:p>
            <a:r>
              <a:rPr lang="en-US" altLang="zh-CN"/>
              <a:t>Second, I compare the simulated behaviour with  human data.</a:t>
            </a:r>
            <a:endParaRPr lang="en-US" altLang="zh-CN"/>
          </a:p>
          <a:p>
            <a:r>
              <a:rPr lang="en-US" altLang="zh-CN"/>
              <a:t>Third, I compare the hybrid model with a traditional  ABM and a simple baseline model.</a:t>
            </a:r>
            <a:endParaRPr lang="en-US" altLang="zh-CN"/>
          </a:p>
          <a:p>
            <a:r>
              <a:rPr lang="en-US" altLang="zh-CN"/>
              <a:t>Finally, I test whether the model can reproduce group-level opinion patterns.</a:t>
            </a:r>
            <a:endParaRPr lang="en-US" altLang="zh-CN"/>
          </a:p>
          <a:p>
            <a:r>
              <a:rPr lang="en-US" altLang="zh-CN"/>
              <a:t>Human data used to build the model will be separated from the data used to validate it.</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The contribution can be summarized in four points.</a:t>
            </a:r>
            <a:endParaRPr lang="en-US" altLang="zh-CN"/>
          </a:p>
          <a:p>
            <a:r>
              <a:rPr lang="en-US" altLang="zh-CN"/>
              <a:t>First, the study moves human–LLM interaction research from individuals to groups.</a:t>
            </a:r>
            <a:endParaRPr lang="en-US" altLang="zh-CN"/>
          </a:p>
          <a:p>
            <a:r>
              <a:rPr lang="en-US" altLang="zh-CN"/>
              <a:t>Second, it connects LLM-generated information with group opinion change.</a:t>
            </a:r>
            <a:endParaRPr lang="en-US" altLang="zh-CN"/>
          </a:p>
          <a:p>
            <a:r>
              <a:rPr lang="en-US" altLang="zh-CN"/>
              <a:t>Third, it explains why LLMs may produce convergence in some conditions and differentiation in others.</a:t>
            </a:r>
            <a:endParaRPr lang="en-US" altLang="zh-CN"/>
          </a:p>
          <a:p>
            <a:r>
              <a:rPr lang="en-US" altLang="zh-CN"/>
              <a:t>Finally, it develops a hybrid ABM that records both opinion changes and the messages behind them. </a:t>
            </a:r>
            <a:endParaRPr lang="zh-CN" altLang="en-US"/>
          </a:p>
          <a:p>
            <a:r>
              <a:rPr lang="en-US" altLang="zh-CN"/>
              <a:t>These contributions will depend on the results of the three subquestions.</a:t>
            </a:r>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5BCAD085-E8A6-8845-BD4E-CB4CCA059FC4}" type="datetimeFigureOut">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5BCAD085-E8A6-8845-BD4E-CB4CCA059FC4}" type="datetimeFigureOut">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5BCAD085-E8A6-8845-BD4E-CB4CCA059FC4}" type="datetimeFigureOut">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rPr/>
            </a:fld>
            <a:endParaRPr/>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4572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4572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4572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4572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4572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4572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4572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4572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671512" y="1021556"/>
            <a:ext cx="768918" cy="228600"/>
          </a:xfrm>
          <a:prstGeom prst="rect">
            <a:avLst/>
          </a:prstGeom>
          <a:noFill/>
          <a:ln>
            <a:noFill/>
          </a:ln>
        </p:spPr>
        <p:txBody>
          <a:bodyPr wrap="none" lIns="0" tIns="0" rIns="0" bIns="0" anchor="t">
            <a:spAutoFit/>
          </a:bodyPr>
          <a:lstStyle/>
          <a:p>
            <a:pPr algn="l">
              <a:buNone/>
            </a:pPr>
            <a:r>
              <a:rPr sz="1125" b="1">
                <a:solidFill>
                  <a:srgbClr val="17324D"/>
                </a:solidFill>
                <a:latin typeface="Arial" panose="020B0604020202020204"/>
                <a:ea typeface="Arial" panose="020B0604020202020204"/>
                <a:cs typeface="Arial" panose="020B0604020202020204"/>
              </a:rPr>
              <a:t>CHAPTER 1</a:t>
            </a:r>
            <a:endParaRPr sz="1125" b="1">
              <a:solidFill>
                <a:srgbClr val="17324D"/>
              </a:solidFill>
              <a:latin typeface="Arial" panose="020B0604020202020204"/>
              <a:ea typeface="Arial" panose="020B0604020202020204"/>
              <a:cs typeface="Arial" panose="020B0604020202020204"/>
            </a:endParaRPr>
          </a:p>
        </p:txBody>
      </p:sp>
      <p:sp>
        <p:nvSpPr>
          <p:cNvPr id="4" name="Line 4"/>
          <p:cNvSpPr>
            <a:spLocks noGrp="1"/>
          </p:cNvSpPr>
          <p:nvPr/>
        </p:nvSpPr>
        <p:spPr>
          <a:xfrm>
            <a:off x="685800" y="1390650"/>
            <a:ext cx="1485900" cy="9525"/>
          </a:xfrm>
          <a:custGeom>
            <a:avLst/>
            <a:gdLst/>
            <a:ahLst/>
            <a:cxnLst/>
            <a:rect l="l" t="t" r="r" b="b"/>
            <a:pathLst>
              <a:path w="1485900" h="9525">
                <a:moveTo>
                  <a:pt x="0" y="0"/>
                </a:moveTo>
                <a:lnTo>
                  <a:pt x="1485900" y="0"/>
                </a:lnTo>
              </a:path>
            </a:pathLst>
          </a:custGeom>
          <a:noFill/>
          <a:ln w="28575">
            <a:solidFill>
              <a:srgbClr val="17324D"/>
            </a:solidFill>
          </a:ln>
        </p:spPr>
      </p:sp>
      <p:sp>
        <p:nvSpPr>
          <p:cNvPr id="6" name="TextBox 6"/>
          <p:cNvSpPr>
            <a:spLocks noGrp="1"/>
          </p:cNvSpPr>
          <p:nvPr/>
        </p:nvSpPr>
        <p:spPr>
          <a:xfrm>
            <a:off x="645795" y="2184082"/>
            <a:ext cx="8796099" cy="1192530"/>
          </a:xfrm>
          <a:prstGeom prst="rect">
            <a:avLst/>
          </a:prstGeom>
          <a:noFill/>
          <a:ln>
            <a:noFill/>
          </a:ln>
        </p:spPr>
        <p:txBody>
          <a:bodyPr wrap="square" lIns="0" tIns="0" rIns="0" bIns="0" anchor="t"/>
          <a:lstStyle/>
          <a:p>
            <a:pPr algn="l">
              <a:lnSpc>
                <a:spcPts val="4350"/>
              </a:lnSpc>
              <a:buNone/>
            </a:pPr>
            <a:r>
              <a:rPr sz="3150" b="1">
                <a:solidFill>
                  <a:srgbClr val="20262B"/>
                </a:solidFill>
                <a:latin typeface="Arial" panose="020B0604020202020204"/>
                <a:ea typeface="Arial" panose="020B0604020202020204"/>
                <a:cs typeface="Arial" panose="020B0604020202020204"/>
              </a:rPr>
              <a:t>How Does AI Change Information Acquisition </a:t>
            </a:r>
            <a:r>
              <a:rPr sz="3150" b="1">
                <a:solidFill>
                  <a:srgbClr val="20262B"/>
                </a:solidFill>
                <a:latin typeface="Arial" panose="020B0604020202020204"/>
                <a:ea typeface="Arial" panose="020B0604020202020204"/>
                <a:cs typeface="Arial" panose="020B0604020202020204"/>
              </a:rPr>
              <a:t>and Opinion Formation in Human Groups?</a:t>
            </a:r>
            <a:endParaRPr sz="3150" b="1">
              <a:solidFill>
                <a:srgbClr val="20262B"/>
              </a:solidFill>
              <a:latin typeface="Arial" panose="020B0604020202020204"/>
              <a:ea typeface="Arial" panose="020B0604020202020204"/>
              <a:cs typeface="Arial" panose="020B0604020202020204"/>
            </a:endParaRPr>
          </a:p>
        </p:txBody>
      </p:sp>
      <p:sp>
        <p:nvSpPr>
          <p:cNvPr id="8" name="Line 8"/>
          <p:cNvSpPr>
            <a:spLocks noGrp="1"/>
          </p:cNvSpPr>
          <p:nvPr/>
        </p:nvSpPr>
        <p:spPr>
          <a:xfrm>
            <a:off x="685800" y="4362450"/>
            <a:ext cx="10125075" cy="9525"/>
          </a:xfrm>
          <a:custGeom>
            <a:avLst/>
            <a:gdLst/>
            <a:ahLst/>
            <a:cxnLst/>
            <a:rect l="l" t="t" r="r" b="b"/>
            <a:pathLst>
              <a:path w="10125075" h="9525">
                <a:moveTo>
                  <a:pt x="0" y="0"/>
                </a:moveTo>
                <a:lnTo>
                  <a:pt x="10125075" y="0"/>
                </a:lnTo>
              </a:path>
            </a:pathLst>
          </a:custGeom>
          <a:noFill/>
          <a:ln w="9525">
            <a:solidFill>
              <a:srgbClr val="D8DEE3"/>
            </a:solidFill>
          </a:ln>
        </p:spPr>
      </p:sp>
      <p:sp>
        <p:nvSpPr>
          <p:cNvPr id="9" name="Rectangle 9"/>
          <p:cNvSpPr>
            <a:spLocks noGrp="1"/>
          </p:cNvSpPr>
          <p:nvPr/>
        </p:nvSpPr>
        <p:spPr>
          <a:xfrm>
            <a:off x="685800" y="4362450"/>
            <a:ext cx="1733550" cy="38100"/>
          </a:xfrm>
          <a:prstGeom prst="rect">
            <a:avLst/>
          </a:prstGeom>
          <a:solidFill>
            <a:srgbClr val="17324D"/>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3488588"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Research Background</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TextBox 7"/>
          <p:cNvSpPr>
            <a:spLocks noGrp="1"/>
          </p:cNvSpPr>
          <p:nvPr/>
        </p:nvSpPr>
        <p:spPr>
          <a:xfrm>
            <a:off x="672465" y="1353502"/>
            <a:ext cx="1665925"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INFORMATION INTERFACE</a:t>
            </a:r>
            <a:endParaRPr sz="1050" b="1">
              <a:solidFill>
                <a:srgbClr val="17324D"/>
              </a:solidFill>
              <a:latin typeface="Arial" panose="020B0604020202020204"/>
              <a:ea typeface="Arial" panose="020B0604020202020204"/>
              <a:cs typeface="Arial" panose="020B0604020202020204"/>
            </a:endParaRPr>
          </a:p>
        </p:txBody>
      </p:sp>
      <p:sp>
        <p:nvSpPr>
          <p:cNvPr id="8" name="TextBox 8"/>
          <p:cNvSpPr>
            <a:spLocks noGrp="1"/>
          </p:cNvSpPr>
          <p:nvPr/>
        </p:nvSpPr>
        <p:spPr>
          <a:xfrm>
            <a:off x="666750" y="1790700"/>
            <a:ext cx="1550289" cy="304800"/>
          </a:xfrm>
          <a:prstGeom prst="rect">
            <a:avLst/>
          </a:prstGeom>
          <a:noFill/>
          <a:ln>
            <a:noFill/>
          </a:ln>
        </p:spPr>
        <p:txBody>
          <a:bodyPr wrap="none" lIns="0" tIns="0" rIns="0" bIns="0" anchor="t">
            <a:spAutoFit/>
          </a:bodyPr>
          <a:lstStyle/>
          <a:p>
            <a:pPr algn="l">
              <a:buNone/>
            </a:pPr>
            <a:r>
              <a:rPr sz="1500" b="1">
                <a:solidFill>
                  <a:srgbClr val="20262B"/>
                </a:solidFill>
                <a:latin typeface="Arial" panose="020B0604020202020204"/>
                <a:ea typeface="Arial" panose="020B0604020202020204"/>
                <a:cs typeface="Arial" panose="020B0604020202020204"/>
              </a:rPr>
              <a:t>Search engines</a:t>
            </a:r>
            <a:endParaRPr sz="1500" b="1">
              <a:solidFill>
                <a:srgbClr val="20262B"/>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668655" y="2111692"/>
            <a:ext cx="4183380" cy="531495"/>
          </a:xfrm>
          <a:prstGeom prst="rect">
            <a:avLst/>
          </a:prstGeom>
          <a:noFill/>
          <a:ln>
            <a:noFill/>
          </a:ln>
        </p:spPr>
        <p:txBody>
          <a:bodyPr wrap="square" lIns="0" tIns="0" rIns="0" bIns="0" anchor="t"/>
          <a:lstStyle/>
          <a:p>
            <a:pPr algn="l">
              <a:lnSpc>
                <a:spcPts val="2025"/>
              </a:lnSpc>
              <a:buNone/>
            </a:pPr>
            <a:r>
              <a:rPr sz="1350">
                <a:solidFill>
                  <a:srgbClr val="20262B"/>
                </a:solidFill>
                <a:latin typeface="Arial" panose="020B0604020202020204"/>
                <a:ea typeface="Arial" panose="020B0604020202020204"/>
                <a:cs typeface="Arial" panose="020B0604020202020204"/>
              </a:rPr>
              <a:t>Typically expose users to multiple sources, links, </a:t>
            </a:r>
            <a:r>
              <a:rPr sz="1350">
                <a:solidFill>
                  <a:srgbClr val="20262B"/>
                </a:solidFill>
                <a:latin typeface="Arial" panose="020B0604020202020204"/>
                <a:ea typeface="Arial" panose="020B0604020202020204"/>
                <a:cs typeface="Arial" panose="020B0604020202020204"/>
              </a:rPr>
              <a:t>and evidentiary cues.</a:t>
            </a:r>
            <a:endParaRPr sz="1350">
              <a:solidFill>
                <a:srgbClr val="20262B"/>
              </a:solidFill>
              <a:latin typeface="Arial" panose="020B0604020202020204"/>
              <a:ea typeface="Arial" panose="020B0604020202020204"/>
              <a:cs typeface="Arial" panose="020B0604020202020204"/>
            </a:endParaRPr>
          </a:p>
        </p:txBody>
      </p:sp>
      <p:sp>
        <p:nvSpPr>
          <p:cNvPr id="10" name="Line 10"/>
          <p:cNvSpPr>
            <a:spLocks noGrp="1"/>
          </p:cNvSpPr>
          <p:nvPr/>
        </p:nvSpPr>
        <p:spPr>
          <a:xfrm>
            <a:off x="685800" y="2781300"/>
            <a:ext cx="4743450" cy="9525"/>
          </a:xfrm>
          <a:custGeom>
            <a:avLst/>
            <a:gdLst/>
            <a:ahLst/>
            <a:cxnLst/>
            <a:rect l="l" t="t" r="r" b="b"/>
            <a:pathLst>
              <a:path w="4743450" h="9525">
                <a:moveTo>
                  <a:pt x="0" y="0"/>
                </a:moveTo>
                <a:lnTo>
                  <a:pt x="4743450" y="0"/>
                </a:lnTo>
              </a:path>
            </a:pathLst>
          </a:custGeom>
          <a:noFill/>
          <a:ln w="9525">
            <a:solidFill>
              <a:srgbClr val="D8DEE3"/>
            </a:solidFill>
          </a:ln>
        </p:spPr>
      </p:sp>
      <p:sp>
        <p:nvSpPr>
          <p:cNvPr id="11" name="TextBox 11"/>
          <p:cNvSpPr>
            <a:spLocks noGrp="1"/>
          </p:cNvSpPr>
          <p:nvPr/>
        </p:nvSpPr>
        <p:spPr>
          <a:xfrm>
            <a:off x="666750" y="3048000"/>
            <a:ext cx="1382268" cy="304800"/>
          </a:xfrm>
          <a:prstGeom prst="rect">
            <a:avLst/>
          </a:prstGeom>
          <a:noFill/>
          <a:ln>
            <a:noFill/>
          </a:ln>
        </p:spPr>
        <p:txBody>
          <a:bodyPr wrap="none" lIns="0" tIns="0" rIns="0" bIns="0" anchor="t">
            <a:spAutoFit/>
          </a:bodyPr>
          <a:lstStyle/>
          <a:p>
            <a:pPr algn="l">
              <a:buNone/>
            </a:pPr>
            <a:r>
              <a:rPr sz="1500" b="1">
                <a:solidFill>
                  <a:srgbClr val="17324D"/>
                </a:solidFill>
                <a:latin typeface="Arial" panose="020B0604020202020204"/>
                <a:ea typeface="Arial" panose="020B0604020202020204"/>
                <a:cs typeface="Arial" panose="020B0604020202020204"/>
              </a:rPr>
              <a:t>Generative AI</a:t>
            </a:r>
            <a:endParaRPr sz="1500" b="1">
              <a:solidFill>
                <a:srgbClr val="17324D"/>
              </a:solidFill>
              <a:latin typeface="Arial" panose="020B0604020202020204"/>
              <a:ea typeface="Arial" panose="020B0604020202020204"/>
              <a:cs typeface="Arial" panose="020B0604020202020204"/>
            </a:endParaRPr>
          </a:p>
        </p:txBody>
      </p:sp>
      <p:sp>
        <p:nvSpPr>
          <p:cNvPr id="12" name="TextBox 12"/>
          <p:cNvSpPr>
            <a:spLocks noGrp="1"/>
          </p:cNvSpPr>
          <p:nvPr/>
        </p:nvSpPr>
        <p:spPr>
          <a:xfrm>
            <a:off x="668655" y="3368992"/>
            <a:ext cx="5057775" cy="531495"/>
          </a:xfrm>
          <a:prstGeom prst="rect">
            <a:avLst/>
          </a:prstGeom>
          <a:noFill/>
          <a:ln>
            <a:noFill/>
          </a:ln>
        </p:spPr>
        <p:txBody>
          <a:bodyPr wrap="square" lIns="0" tIns="0" rIns="0" bIns="0" anchor="t"/>
          <a:lstStyle/>
          <a:p>
            <a:pPr algn="l">
              <a:lnSpc>
                <a:spcPts val="2025"/>
              </a:lnSpc>
              <a:buNone/>
            </a:pPr>
            <a:r>
              <a:rPr sz="1350">
                <a:solidFill>
                  <a:srgbClr val="20262B"/>
                </a:solidFill>
                <a:latin typeface="Arial" panose="020B0604020202020204"/>
                <a:ea typeface="Arial" panose="020B0604020202020204"/>
                <a:cs typeface="Arial" panose="020B0604020202020204"/>
              </a:rPr>
              <a:t>Increasingly organizes information through direct answers, </a:t>
            </a:r>
            <a:r>
              <a:rPr sz="1350">
                <a:solidFill>
                  <a:srgbClr val="20262B"/>
                </a:solidFill>
                <a:latin typeface="Arial" panose="020B0604020202020204"/>
                <a:ea typeface="Arial" panose="020B0604020202020204"/>
                <a:cs typeface="Arial" panose="020B0604020202020204"/>
              </a:rPr>
              <a:t>integrated explanations, and follow-up dialogue.</a:t>
            </a:r>
            <a:endParaRPr sz="1350">
              <a:solidFill>
                <a:srgbClr val="20262B"/>
              </a:solidFill>
              <a:latin typeface="Arial" panose="020B0604020202020204"/>
              <a:ea typeface="Arial" panose="020B0604020202020204"/>
              <a:cs typeface="Arial" panose="020B0604020202020204"/>
            </a:endParaRPr>
          </a:p>
        </p:txBody>
      </p:sp>
      <p:sp>
        <p:nvSpPr>
          <p:cNvPr id="13" name="TextBox 13"/>
          <p:cNvSpPr>
            <a:spLocks noGrp="1"/>
          </p:cNvSpPr>
          <p:nvPr/>
        </p:nvSpPr>
        <p:spPr>
          <a:xfrm>
            <a:off x="672465" y="4077652"/>
            <a:ext cx="4304205" cy="213360"/>
          </a:xfrm>
          <a:prstGeom prst="rect">
            <a:avLst/>
          </a:prstGeom>
          <a:noFill/>
          <a:ln>
            <a:noFill/>
          </a:ln>
        </p:spPr>
        <p:txBody>
          <a:bodyPr wrap="none" lIns="0" tIns="0" rIns="0" bIns="0" anchor="t">
            <a:spAutoFit/>
          </a:bodyPr>
          <a:lstStyle/>
          <a:p>
            <a:pPr algn="l">
              <a:buNone/>
            </a:pPr>
            <a:r>
              <a:rPr sz="1050">
                <a:solidFill>
                  <a:srgbClr val="7A8792"/>
                </a:solidFill>
                <a:latin typeface="Arial" panose="020B0604020202020204"/>
                <a:ea typeface="Arial" panose="020B0604020202020204"/>
                <a:cs typeface="Arial" panose="020B0604020202020204"/>
              </a:rPr>
              <a:t>Examples: AI search assistants embedded in Weibo and WeChat.</a:t>
            </a:r>
            <a:endParaRPr sz="1050">
              <a:solidFill>
                <a:srgbClr val="7A8792"/>
              </a:solidFill>
              <a:latin typeface="Arial" panose="020B0604020202020204"/>
              <a:ea typeface="Arial" panose="020B0604020202020204"/>
              <a:cs typeface="Arial" panose="020B0604020202020204"/>
            </a:endParaRPr>
          </a:p>
        </p:txBody>
      </p:sp>
      <p:sp>
        <p:nvSpPr>
          <p:cNvPr id="15" name="Line 15"/>
          <p:cNvSpPr>
            <a:spLocks noGrp="1"/>
          </p:cNvSpPr>
          <p:nvPr/>
        </p:nvSpPr>
        <p:spPr>
          <a:xfrm>
            <a:off x="6057900" y="1466850"/>
            <a:ext cx="9525" cy="4495800"/>
          </a:xfrm>
          <a:custGeom>
            <a:avLst/>
            <a:gdLst/>
            <a:ahLst/>
            <a:cxnLst/>
            <a:rect l="l" t="t" r="r" b="b"/>
            <a:pathLst>
              <a:path w="9525" h="4495800">
                <a:moveTo>
                  <a:pt x="0" y="0"/>
                </a:moveTo>
                <a:lnTo>
                  <a:pt x="0" y="4495800"/>
                </a:lnTo>
              </a:path>
            </a:pathLst>
          </a:custGeom>
          <a:noFill/>
          <a:ln w="19050">
            <a:solidFill>
              <a:srgbClr val="17324D"/>
            </a:solidFill>
          </a:ln>
        </p:spPr>
      </p:sp>
      <p:sp>
        <p:nvSpPr>
          <p:cNvPr id="16" name="TextBox 16"/>
          <p:cNvSpPr>
            <a:spLocks noGrp="1"/>
          </p:cNvSpPr>
          <p:nvPr/>
        </p:nvSpPr>
        <p:spPr>
          <a:xfrm>
            <a:off x="6387465" y="1353502"/>
            <a:ext cx="1585065"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GROUP-LEVEL CONCERN</a:t>
            </a:r>
            <a:endParaRPr sz="1050" b="1">
              <a:solidFill>
                <a:srgbClr val="17324D"/>
              </a:solidFill>
              <a:latin typeface="Arial" panose="020B0604020202020204"/>
              <a:ea typeface="Arial" panose="020B0604020202020204"/>
              <a:cs typeface="Arial" panose="020B0604020202020204"/>
            </a:endParaRPr>
          </a:p>
        </p:txBody>
      </p:sp>
      <p:sp>
        <p:nvSpPr>
          <p:cNvPr id="17" name="TextBox 17"/>
          <p:cNvSpPr>
            <a:spLocks noGrp="1"/>
          </p:cNvSpPr>
          <p:nvPr/>
        </p:nvSpPr>
        <p:spPr>
          <a:xfrm>
            <a:off x="6380798" y="1782604"/>
            <a:ext cx="3841480" cy="596265"/>
          </a:xfrm>
          <a:prstGeom prst="rect">
            <a:avLst/>
          </a:prstGeom>
          <a:noFill/>
          <a:ln>
            <a:noFill/>
          </a:ln>
        </p:spPr>
        <p:txBody>
          <a:bodyPr wrap="square" lIns="0" tIns="0" rIns="0" bIns="0" anchor="t"/>
          <a:lstStyle/>
          <a:p>
            <a:pPr algn="l">
              <a:lnSpc>
                <a:spcPts val="2175"/>
              </a:lnSpc>
              <a:buNone/>
            </a:pPr>
            <a:r>
              <a:rPr sz="1575" b="1">
                <a:solidFill>
                  <a:srgbClr val="20262B"/>
                </a:solidFill>
                <a:latin typeface="Arial" panose="020B0604020202020204"/>
                <a:ea typeface="Arial" panose="020B0604020202020204"/>
                <a:cs typeface="Arial" panose="020B0604020202020204"/>
              </a:rPr>
              <a:t>Seemingly independent judgments may </a:t>
            </a:r>
            <a:r>
              <a:rPr sz="1575" b="1">
                <a:solidFill>
                  <a:srgbClr val="20262B"/>
                </a:solidFill>
                <a:latin typeface="Arial" panose="020B0604020202020204"/>
                <a:ea typeface="Arial" panose="020B0604020202020204"/>
                <a:cs typeface="Arial" panose="020B0604020202020204"/>
              </a:rPr>
              <a:t>contain common dependencies.</a:t>
            </a:r>
            <a:endParaRPr sz="1575" b="1">
              <a:solidFill>
                <a:srgbClr val="20262B"/>
              </a:solidFill>
              <a:latin typeface="Arial" panose="020B0604020202020204"/>
              <a:ea typeface="Arial" panose="020B0604020202020204"/>
              <a:cs typeface="Arial" panose="020B0604020202020204"/>
            </a:endParaRPr>
          </a:p>
        </p:txBody>
      </p:sp>
      <p:sp>
        <p:nvSpPr>
          <p:cNvPr id="18" name="TextBox 18"/>
          <p:cNvSpPr>
            <a:spLocks noGrp="1"/>
          </p:cNvSpPr>
          <p:nvPr/>
        </p:nvSpPr>
        <p:spPr>
          <a:xfrm>
            <a:off x="6383655" y="2635568"/>
            <a:ext cx="4766310" cy="1045845"/>
          </a:xfrm>
          <a:prstGeom prst="rect">
            <a:avLst/>
          </a:prstGeom>
          <a:noFill/>
          <a:ln>
            <a:noFill/>
          </a:ln>
        </p:spPr>
        <p:txBody>
          <a:bodyPr wrap="square" lIns="0" tIns="0" rIns="0" bIns="0" anchor="t"/>
          <a:lstStyle/>
          <a:p>
            <a:pPr algn="l">
              <a:lnSpc>
                <a:spcPts val="2025"/>
              </a:lnSpc>
              <a:buNone/>
            </a:pPr>
            <a:r>
              <a:rPr sz="1350">
                <a:solidFill>
                  <a:srgbClr val="20262B"/>
                </a:solidFill>
                <a:latin typeface="Arial" panose="020B0604020202020204"/>
                <a:ea typeface="Arial" panose="020B0604020202020204"/>
                <a:cs typeface="Arial" panose="020B0604020202020204"/>
              </a:rPr>
              <a:t>When many members rely on the same model, similar </a:t>
            </a:r>
            <a:r>
              <a:rPr sz="1350">
                <a:solidFill>
                  <a:srgbClr val="20262B"/>
                </a:solidFill>
                <a:latin typeface="Arial" panose="020B0604020202020204"/>
                <a:ea typeface="Arial" panose="020B0604020202020204"/>
                <a:cs typeface="Arial" panose="020B0604020202020204"/>
              </a:rPr>
              <a:t>training data, the same retrieval system, and similar </a:t>
            </a:r>
            <a:r>
              <a:rPr sz="1350">
                <a:solidFill>
                  <a:srgbClr val="20262B"/>
                </a:solidFill>
                <a:latin typeface="Arial" panose="020B0604020202020204"/>
                <a:ea typeface="Arial" panose="020B0604020202020204"/>
                <a:cs typeface="Arial" panose="020B0604020202020204"/>
              </a:rPr>
              <a:t>generation logic, they may share information omissions, </a:t>
            </a:r>
            <a:r>
              <a:rPr sz="1350">
                <a:solidFill>
                  <a:srgbClr val="20262B"/>
                </a:solidFill>
                <a:latin typeface="Arial" panose="020B0604020202020204"/>
                <a:ea typeface="Arial" panose="020B0604020202020204"/>
                <a:cs typeface="Arial" panose="020B0604020202020204"/>
              </a:rPr>
              <a:t>narrative frames, and errors.</a:t>
            </a:r>
            <a:endParaRPr sz="1350">
              <a:solidFill>
                <a:srgbClr val="20262B"/>
              </a:solidFill>
              <a:latin typeface="Arial" panose="020B0604020202020204"/>
              <a:ea typeface="Arial" panose="020B0604020202020204"/>
              <a:cs typeface="Arial" panose="020B0604020202020204"/>
            </a:endParaRPr>
          </a:p>
        </p:txBody>
      </p:sp>
      <p:sp>
        <p:nvSpPr>
          <p:cNvPr id="19" name="Line 19"/>
          <p:cNvSpPr>
            <a:spLocks noGrp="1"/>
          </p:cNvSpPr>
          <p:nvPr/>
        </p:nvSpPr>
        <p:spPr>
          <a:xfrm>
            <a:off x="6400800" y="4000500"/>
            <a:ext cx="4914900" cy="9525"/>
          </a:xfrm>
          <a:custGeom>
            <a:avLst/>
            <a:gdLst/>
            <a:ahLst/>
            <a:cxnLst/>
            <a:rect l="l" t="t" r="r" b="b"/>
            <a:pathLst>
              <a:path w="4914900" h="9525">
                <a:moveTo>
                  <a:pt x="0" y="0"/>
                </a:moveTo>
                <a:lnTo>
                  <a:pt x="4914900" y="0"/>
                </a:lnTo>
              </a:path>
            </a:pathLst>
          </a:custGeom>
          <a:noFill/>
          <a:ln w="9525">
            <a:solidFill>
              <a:srgbClr val="D8DEE3"/>
            </a:solidFill>
          </a:ln>
        </p:spPr>
      </p:sp>
      <p:sp>
        <p:nvSpPr>
          <p:cNvPr id="20" name="TextBox 20"/>
          <p:cNvSpPr>
            <a:spLocks noGrp="1"/>
          </p:cNvSpPr>
          <p:nvPr/>
        </p:nvSpPr>
        <p:spPr>
          <a:xfrm>
            <a:off x="6385560" y="4271010"/>
            <a:ext cx="1861909" cy="243840"/>
          </a:xfrm>
          <a:prstGeom prst="rect">
            <a:avLst/>
          </a:prstGeom>
          <a:noFill/>
          <a:ln>
            <a:noFill/>
          </a:ln>
        </p:spPr>
        <p:txBody>
          <a:bodyPr wrap="none" lIns="0" tIns="0" rIns="0" bIns="0" anchor="t">
            <a:spAutoFit/>
          </a:bodyPr>
          <a:lstStyle/>
          <a:p>
            <a:pPr algn="l">
              <a:buNone/>
            </a:pPr>
            <a:r>
              <a:rPr sz="1200" b="1">
                <a:solidFill>
                  <a:srgbClr val="17324D"/>
                </a:solidFill>
                <a:latin typeface="Arial" panose="020B0604020202020204"/>
                <a:ea typeface="Arial" panose="020B0604020202020204"/>
                <a:cs typeface="Arial" panose="020B0604020202020204"/>
              </a:rPr>
              <a:t>COMPETING POSSIBILITY</a:t>
            </a:r>
            <a:endParaRPr sz="1200" b="1">
              <a:solidFill>
                <a:srgbClr val="17324D"/>
              </a:solidFill>
              <a:latin typeface="Arial" panose="020B0604020202020204"/>
              <a:ea typeface="Arial" panose="020B0604020202020204"/>
              <a:cs typeface="Arial" panose="020B0604020202020204"/>
            </a:endParaRPr>
          </a:p>
        </p:txBody>
      </p:sp>
      <p:sp>
        <p:nvSpPr>
          <p:cNvPr id="21" name="TextBox 21"/>
          <p:cNvSpPr>
            <a:spLocks noGrp="1"/>
          </p:cNvSpPr>
          <p:nvPr/>
        </p:nvSpPr>
        <p:spPr>
          <a:xfrm>
            <a:off x="6383655" y="4664392"/>
            <a:ext cx="4560570" cy="531495"/>
          </a:xfrm>
          <a:prstGeom prst="rect">
            <a:avLst/>
          </a:prstGeom>
          <a:noFill/>
          <a:ln>
            <a:noFill/>
          </a:ln>
        </p:spPr>
        <p:txBody>
          <a:bodyPr wrap="square" lIns="0" tIns="0" rIns="0" bIns="0" anchor="t"/>
          <a:lstStyle/>
          <a:p>
            <a:pPr algn="l">
              <a:lnSpc>
                <a:spcPts val="2025"/>
              </a:lnSpc>
              <a:buNone/>
            </a:pPr>
            <a:r>
              <a:rPr sz="1350">
                <a:solidFill>
                  <a:srgbClr val="20262B"/>
                </a:solidFill>
                <a:latin typeface="Arial" panose="020B0604020202020204"/>
                <a:ea typeface="Arial" panose="020B0604020202020204"/>
                <a:cs typeface="Arial" panose="020B0604020202020204"/>
              </a:rPr>
              <a:t>LLMs may strengthen users' existing views and push different groups further apart.</a:t>
            </a:r>
            <a:endParaRPr sz="1350">
              <a:solidFill>
                <a:srgbClr val="20262B"/>
              </a:solidFill>
              <a:latin typeface="Arial" panose="020B0604020202020204"/>
              <a:ea typeface="Arial" panose="020B0604020202020204"/>
              <a:cs typeface="Arial" panose="020B0604020202020204"/>
            </a:endParaRPr>
          </a:p>
        </p:txBody>
      </p:sp>
      <p:sp>
        <p:nvSpPr>
          <p:cNvPr id="23" name="TextBox 23"/>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02</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9184500"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Why Might LLMs Produce Opposite Group-Level Effects?</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Line 7"/>
          <p:cNvSpPr>
            <a:spLocks noGrp="1"/>
          </p:cNvSpPr>
          <p:nvPr/>
        </p:nvSpPr>
        <p:spPr>
          <a:xfrm>
            <a:off x="6096000" y="1257300"/>
            <a:ext cx="9525" cy="4857750"/>
          </a:xfrm>
          <a:custGeom>
            <a:avLst/>
            <a:gdLst/>
            <a:ahLst/>
            <a:cxnLst/>
            <a:rect l="l" t="t" r="r" b="b"/>
            <a:pathLst>
              <a:path w="9525" h="4857750">
                <a:moveTo>
                  <a:pt x="0" y="0"/>
                </a:moveTo>
                <a:lnTo>
                  <a:pt x="0" y="4857750"/>
                </a:lnTo>
              </a:path>
            </a:pathLst>
          </a:custGeom>
          <a:noFill/>
          <a:ln w="9525">
            <a:solidFill>
              <a:srgbClr val="D8DEE3"/>
            </a:solidFill>
          </a:ln>
        </p:spPr>
      </p:sp>
      <p:sp>
        <p:nvSpPr>
          <p:cNvPr id="8" name="TextBox 8"/>
          <p:cNvSpPr>
            <a:spLocks noGrp="1"/>
          </p:cNvSpPr>
          <p:nvPr/>
        </p:nvSpPr>
        <p:spPr>
          <a:xfrm>
            <a:off x="672465" y="1353502"/>
            <a:ext cx="475076"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PATH 1</a:t>
            </a:r>
            <a:endParaRPr sz="1050" b="1">
              <a:solidFill>
                <a:srgbClr val="17324D"/>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662940" y="1682115"/>
            <a:ext cx="5124155" cy="365760"/>
          </a:xfrm>
          <a:prstGeom prst="rect">
            <a:avLst/>
          </a:prstGeom>
          <a:noFill/>
          <a:ln>
            <a:noFill/>
          </a:ln>
        </p:spPr>
        <p:txBody>
          <a:bodyPr wrap="none" lIns="0" tIns="0" rIns="0" bIns="0" anchor="t">
            <a:spAutoFit/>
          </a:bodyPr>
          <a:lstStyle/>
          <a:p>
            <a:pPr algn="l">
              <a:buNone/>
            </a:pPr>
            <a:r>
              <a:rPr sz="1800" b="1">
                <a:solidFill>
                  <a:srgbClr val="20262B"/>
                </a:solidFill>
                <a:latin typeface="Arial" panose="020B0604020202020204"/>
                <a:ea typeface="Arial" panose="020B0604020202020204"/>
                <a:cs typeface="Arial" panose="020B0604020202020204"/>
              </a:rPr>
              <a:t>Shared information source → convergence</a:t>
            </a:r>
            <a:endParaRPr sz="1800" b="1">
              <a:solidFill>
                <a:srgbClr val="20262B"/>
              </a:solidFill>
              <a:latin typeface="Arial" panose="020B0604020202020204"/>
              <a:ea typeface="Arial" panose="020B0604020202020204"/>
              <a:cs typeface="Arial" panose="020B0604020202020204"/>
            </a:endParaRPr>
          </a:p>
        </p:txBody>
      </p:sp>
      <p:sp>
        <p:nvSpPr>
          <p:cNvPr id="10" name="TextBox 10"/>
          <p:cNvSpPr>
            <a:spLocks noGrp="1"/>
          </p:cNvSpPr>
          <p:nvPr/>
        </p:nvSpPr>
        <p:spPr>
          <a:xfrm>
            <a:off x="669608" y="2243614"/>
            <a:ext cx="4412456" cy="744855"/>
          </a:xfrm>
          <a:prstGeom prst="rect">
            <a:avLst/>
          </a:prstGeom>
          <a:noFill/>
          <a:ln>
            <a:noFill/>
          </a:ln>
        </p:spPr>
        <p:txBody>
          <a:bodyPr wrap="square" lIns="0" tIns="0" rIns="0" bIns="0" anchor="t"/>
          <a:lstStyle/>
          <a:p>
            <a:pPr algn="l">
              <a:lnSpc>
                <a:spcPts val="1800"/>
              </a:lnSpc>
              <a:buNone/>
            </a:pPr>
            <a:r>
              <a:rPr sz="1275" b="1">
                <a:solidFill>
                  <a:srgbClr val="17324D"/>
                </a:solidFill>
                <a:latin typeface="Arial" panose="020B0604020202020204"/>
                <a:ea typeface="Arial" panose="020B0604020202020204"/>
                <a:cs typeface="Arial" panose="020B0604020202020204"/>
              </a:rPr>
              <a:t>Model-output homogeneity</a:t>
            </a:r>
            <a:endParaRPr sz="1275" b="1">
              <a:solidFill>
                <a:srgbClr val="17324D"/>
              </a:solidFill>
              <a:latin typeface="Arial" panose="020B0604020202020204"/>
              <a:ea typeface="Arial" panose="020B0604020202020204"/>
              <a:cs typeface="Arial" panose="020B0604020202020204"/>
            </a:endParaRPr>
          </a:p>
          <a:p>
            <a:pPr algn="l">
              <a:lnSpc>
                <a:spcPts val="1800"/>
              </a:lnSpc>
              <a:spcBef>
                <a:spcPts val="225"/>
              </a:spcBef>
              <a:buNone/>
            </a:pPr>
            <a:r>
              <a:rPr sz="1275" i="1">
                <a:solidFill>
                  <a:srgbClr val="20262B"/>
                </a:solidFill>
                <a:latin typeface="Arial" panose="020B0604020202020204"/>
                <a:ea typeface="Arial" panose="020B0604020202020204"/>
                <a:cs typeface="Arial" panose="020B0604020202020204"/>
              </a:rPr>
              <a:t>Artificial Hivemind</a:t>
            </a:r>
            <a:r>
              <a:rPr sz="1275">
                <a:solidFill>
                  <a:srgbClr val="20262B"/>
                </a:solidFill>
                <a:latin typeface="Arial" panose="020B0604020202020204"/>
                <a:ea typeface="Arial" panose="020B0604020202020204"/>
                <a:cs typeface="Arial" panose="020B0604020202020204"/>
              </a:rPr>
              <a:t> identifies intra-model repetition </a:t>
            </a:r>
            <a:r>
              <a:rPr sz="1275">
                <a:solidFill>
                  <a:srgbClr val="20262B"/>
                </a:solidFill>
                <a:latin typeface="Arial" panose="020B0604020202020204"/>
                <a:ea typeface="Arial" panose="020B0604020202020204"/>
                <a:cs typeface="Arial" panose="020B0604020202020204"/>
              </a:rPr>
              <a:t>and inter-model homogeneity in open-ended generation.</a:t>
            </a:r>
            <a:endParaRPr sz="1275">
              <a:solidFill>
                <a:srgbClr val="20262B"/>
              </a:solidFill>
              <a:latin typeface="Arial" panose="020B0604020202020204"/>
              <a:ea typeface="Arial" panose="020B0604020202020204"/>
              <a:cs typeface="Arial" panose="020B0604020202020204"/>
            </a:endParaRPr>
          </a:p>
        </p:txBody>
      </p:sp>
      <p:sp>
        <p:nvSpPr>
          <p:cNvPr id="11" name="TextBox 11"/>
          <p:cNvSpPr>
            <a:spLocks noGrp="1"/>
          </p:cNvSpPr>
          <p:nvPr/>
        </p:nvSpPr>
        <p:spPr>
          <a:xfrm>
            <a:off x="669608" y="3253264"/>
            <a:ext cx="4873943" cy="744855"/>
          </a:xfrm>
          <a:prstGeom prst="rect">
            <a:avLst/>
          </a:prstGeom>
          <a:noFill/>
          <a:ln>
            <a:noFill/>
          </a:ln>
        </p:spPr>
        <p:txBody>
          <a:bodyPr wrap="square" lIns="0" tIns="0" rIns="0" bIns="0" anchor="t"/>
          <a:lstStyle/>
          <a:p>
            <a:pPr algn="l">
              <a:lnSpc>
                <a:spcPts val="1800"/>
              </a:lnSpc>
              <a:buNone/>
            </a:pPr>
            <a:r>
              <a:rPr sz="1275" b="1">
                <a:solidFill>
                  <a:srgbClr val="17324D"/>
                </a:solidFill>
                <a:latin typeface="Arial" panose="020B0604020202020204"/>
                <a:ea typeface="Arial" panose="020B0604020202020204"/>
                <a:cs typeface="Arial" panose="020B0604020202020204"/>
              </a:rPr>
              <a:t>Algorithmic monoculture</a:t>
            </a:r>
            <a:endParaRPr sz="1275" b="1">
              <a:solidFill>
                <a:srgbClr val="17324D"/>
              </a:solidFill>
              <a:latin typeface="Arial" panose="020B0604020202020204"/>
              <a:ea typeface="Arial" panose="020B0604020202020204"/>
              <a:cs typeface="Arial" panose="020B0604020202020204"/>
            </a:endParaRPr>
          </a:p>
          <a:p>
            <a:pPr algn="l">
              <a:lnSpc>
                <a:spcPts val="1800"/>
              </a:lnSpc>
              <a:spcBef>
                <a:spcPts val="225"/>
              </a:spcBef>
              <a:buNone/>
            </a:pPr>
            <a:r>
              <a:rPr sz="1275">
                <a:solidFill>
                  <a:srgbClr val="20262B"/>
                </a:solidFill>
                <a:latin typeface="Arial" panose="020B0604020202020204"/>
                <a:ea typeface="Arial" panose="020B0604020202020204"/>
                <a:cs typeface="Arial" panose="020B0604020202020204"/>
              </a:rPr>
              <a:t>Shared algorithms can correlate judgments; strong individual </a:t>
            </a:r>
            <a:r>
              <a:rPr sz="1275">
                <a:solidFill>
                  <a:srgbClr val="20262B"/>
                </a:solidFill>
                <a:latin typeface="Arial" panose="020B0604020202020204"/>
                <a:ea typeface="Arial" panose="020B0604020202020204"/>
                <a:cs typeface="Arial" panose="020B0604020202020204"/>
              </a:rPr>
              <a:t>performance does not guarantee system-level outcomes.</a:t>
            </a:r>
            <a:endParaRPr sz="1275">
              <a:solidFill>
                <a:srgbClr val="20262B"/>
              </a:solidFill>
              <a:latin typeface="Arial" panose="020B0604020202020204"/>
              <a:ea typeface="Arial" panose="020B0604020202020204"/>
              <a:cs typeface="Arial" panose="020B0604020202020204"/>
            </a:endParaRPr>
          </a:p>
        </p:txBody>
      </p:sp>
      <p:sp>
        <p:nvSpPr>
          <p:cNvPr id="12" name="TextBox 12"/>
          <p:cNvSpPr>
            <a:spLocks noGrp="1"/>
          </p:cNvSpPr>
          <p:nvPr/>
        </p:nvSpPr>
        <p:spPr>
          <a:xfrm>
            <a:off x="669608" y="4262914"/>
            <a:ext cx="4995386" cy="744855"/>
          </a:xfrm>
          <a:prstGeom prst="rect">
            <a:avLst/>
          </a:prstGeom>
          <a:noFill/>
          <a:ln>
            <a:noFill/>
          </a:ln>
        </p:spPr>
        <p:txBody>
          <a:bodyPr wrap="square" lIns="0" tIns="0" rIns="0" bIns="0" anchor="t"/>
          <a:lstStyle/>
          <a:p>
            <a:pPr algn="l">
              <a:lnSpc>
                <a:spcPts val="1800"/>
              </a:lnSpc>
              <a:buNone/>
            </a:pPr>
            <a:r>
              <a:rPr sz="1275" b="1">
                <a:solidFill>
                  <a:srgbClr val="17324D"/>
                </a:solidFill>
                <a:latin typeface="Arial" panose="020B0604020202020204"/>
                <a:ea typeface="Arial" panose="020B0604020202020204"/>
                <a:cs typeface="Arial" panose="020B0604020202020204"/>
              </a:rPr>
              <a:t>Repeated exposure and acceptance</a:t>
            </a:r>
            <a:endParaRPr sz="1275" b="1">
              <a:solidFill>
                <a:srgbClr val="17324D"/>
              </a:solidFill>
              <a:latin typeface="Arial" panose="020B0604020202020204"/>
              <a:ea typeface="Arial" panose="020B0604020202020204"/>
              <a:cs typeface="Arial" panose="020B0604020202020204"/>
            </a:endParaRPr>
          </a:p>
          <a:p>
            <a:pPr algn="l">
              <a:lnSpc>
                <a:spcPts val="1800"/>
              </a:lnSpc>
              <a:spcBef>
                <a:spcPts val="225"/>
              </a:spcBef>
              <a:buNone/>
            </a:pPr>
            <a:r>
              <a:rPr sz="1275">
                <a:solidFill>
                  <a:srgbClr val="20262B"/>
                </a:solidFill>
                <a:latin typeface="Arial" panose="020B0604020202020204"/>
                <a:ea typeface="Arial" panose="020B0604020202020204"/>
                <a:cs typeface="Arial" panose="020B0604020202020204"/>
              </a:rPr>
              <a:t>When members repeatedly receive common information and give </a:t>
            </a:r>
            <a:r>
              <a:rPr sz="1275">
                <a:solidFill>
                  <a:srgbClr val="20262B"/>
                </a:solidFill>
                <a:latin typeface="Arial" panose="020B0604020202020204"/>
                <a:ea typeface="Arial" panose="020B0604020202020204"/>
                <a:cs typeface="Arial" panose="020B0604020202020204"/>
              </a:rPr>
              <a:t>it positive weight, initial opinion distances may narrow.</a:t>
            </a:r>
            <a:endParaRPr sz="1275">
              <a:solidFill>
                <a:srgbClr val="20262B"/>
              </a:solidFill>
              <a:latin typeface="Arial" panose="020B0604020202020204"/>
              <a:ea typeface="Arial" panose="020B0604020202020204"/>
              <a:cs typeface="Arial" panose="020B0604020202020204"/>
            </a:endParaRPr>
          </a:p>
        </p:txBody>
      </p:sp>
      <p:sp>
        <p:nvSpPr>
          <p:cNvPr id="14" name="TextBox 14"/>
          <p:cNvSpPr>
            <a:spLocks noGrp="1"/>
          </p:cNvSpPr>
          <p:nvPr/>
        </p:nvSpPr>
        <p:spPr>
          <a:xfrm>
            <a:off x="6425565" y="1353502"/>
            <a:ext cx="475076"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PATH 2</a:t>
            </a:r>
            <a:endParaRPr sz="1050" b="1">
              <a:solidFill>
                <a:srgbClr val="17324D"/>
              </a:solidFill>
              <a:latin typeface="Arial" panose="020B0604020202020204"/>
              <a:ea typeface="Arial" panose="020B0604020202020204"/>
              <a:cs typeface="Arial" panose="020B0604020202020204"/>
            </a:endParaRPr>
          </a:p>
        </p:txBody>
      </p:sp>
      <p:sp>
        <p:nvSpPr>
          <p:cNvPr id="15" name="TextBox 15"/>
          <p:cNvSpPr>
            <a:spLocks noGrp="1"/>
          </p:cNvSpPr>
          <p:nvPr/>
        </p:nvSpPr>
        <p:spPr>
          <a:xfrm>
            <a:off x="6416040" y="1682115"/>
            <a:ext cx="5993663" cy="365760"/>
          </a:xfrm>
          <a:prstGeom prst="rect">
            <a:avLst/>
          </a:prstGeom>
          <a:noFill/>
          <a:ln>
            <a:noFill/>
          </a:ln>
        </p:spPr>
        <p:txBody>
          <a:bodyPr wrap="none" lIns="0" tIns="0" rIns="0" bIns="0" anchor="t">
            <a:spAutoFit/>
          </a:bodyPr>
          <a:lstStyle/>
          <a:p>
            <a:pPr algn="l">
              <a:buNone/>
            </a:pPr>
            <a:r>
              <a:rPr sz="1800" b="1">
                <a:solidFill>
                  <a:srgbClr val="20262B"/>
                </a:solidFill>
                <a:latin typeface="Arial" panose="020B0604020202020204"/>
                <a:ea typeface="Arial" panose="020B0604020202020204"/>
                <a:cs typeface="Arial" panose="020B0604020202020204"/>
              </a:rPr>
              <a:t>Stance-conditioned generation → differentiation</a:t>
            </a:r>
            <a:endParaRPr sz="1800" b="1">
              <a:solidFill>
                <a:srgbClr val="20262B"/>
              </a:solidFill>
              <a:latin typeface="Arial" panose="020B0604020202020204"/>
              <a:ea typeface="Arial" panose="020B0604020202020204"/>
              <a:cs typeface="Arial" panose="020B0604020202020204"/>
            </a:endParaRPr>
          </a:p>
        </p:txBody>
      </p:sp>
      <p:sp>
        <p:nvSpPr>
          <p:cNvPr id="16" name="TextBox 16"/>
          <p:cNvSpPr>
            <a:spLocks noGrp="1"/>
          </p:cNvSpPr>
          <p:nvPr/>
        </p:nvSpPr>
        <p:spPr>
          <a:xfrm>
            <a:off x="6423660" y="2251710"/>
            <a:ext cx="4701540" cy="701040"/>
          </a:xfrm>
          <a:prstGeom prst="rect">
            <a:avLst/>
          </a:prstGeom>
          <a:noFill/>
          <a:ln>
            <a:noFill/>
          </a:ln>
        </p:spPr>
        <p:txBody>
          <a:bodyPr wrap="square" lIns="0" tIns="0" rIns="0" bIns="0" anchor="t"/>
          <a:lstStyle/>
          <a:p>
            <a:pPr algn="l">
              <a:lnSpc>
                <a:spcPts val="1725"/>
              </a:lnSpc>
              <a:buNone/>
            </a:pPr>
            <a:r>
              <a:rPr sz="1200" b="1">
                <a:solidFill>
                  <a:srgbClr val="17324D"/>
                </a:solidFill>
                <a:latin typeface="Arial" panose="020B0604020202020204"/>
                <a:ea typeface="Arial" panose="020B0604020202020204"/>
                <a:cs typeface="Arial" panose="020B0604020202020204"/>
              </a:rPr>
              <a:t>Motivated skepticism and biased assimilation</a:t>
            </a:r>
            <a:endParaRPr sz="1200" b="1">
              <a:solidFill>
                <a:srgbClr val="17324D"/>
              </a:solidFill>
              <a:latin typeface="Arial" panose="020B0604020202020204"/>
              <a:ea typeface="Arial" panose="020B0604020202020204"/>
              <a:cs typeface="Arial" panose="020B0604020202020204"/>
            </a:endParaRPr>
          </a:p>
          <a:p>
            <a:pPr algn="l">
              <a:lnSpc>
                <a:spcPts val="1725"/>
              </a:lnSpc>
              <a:spcBef>
                <a:spcPts val="150"/>
              </a:spcBef>
              <a:buNone/>
            </a:pPr>
            <a:r>
              <a:rPr sz="1200">
                <a:solidFill>
                  <a:srgbClr val="20262B"/>
                </a:solidFill>
                <a:latin typeface="Arial" panose="020B0604020202020204"/>
                <a:ea typeface="Arial" panose="020B0604020202020204"/>
                <a:cs typeface="Arial" panose="020B0604020202020204"/>
              </a:rPr>
              <a:t>People more readily accept attitude-consistent arguments and </a:t>
            </a:r>
            <a:r>
              <a:rPr sz="1200">
                <a:solidFill>
                  <a:srgbClr val="20262B"/>
                </a:solidFill>
                <a:latin typeface="Arial" panose="020B0604020202020204"/>
                <a:ea typeface="Arial" panose="020B0604020202020204"/>
                <a:cs typeface="Arial" panose="020B0604020202020204"/>
              </a:rPr>
              <a:t>counterargue inconsistent ones. </a:t>
            </a:r>
            <a:r>
              <a:rPr sz="1200">
                <a:solidFill>
                  <a:srgbClr val="7A8792"/>
                </a:solidFill>
                <a:latin typeface="Arial" panose="020B0604020202020204"/>
                <a:ea typeface="Arial" panose="020B0604020202020204"/>
                <a:cs typeface="Arial" panose="020B0604020202020204"/>
              </a:rPr>
              <a:t>Taber &amp; Lodge, 2006</a:t>
            </a:r>
            <a:endParaRPr sz="1200">
              <a:solidFill>
                <a:srgbClr val="7A8792"/>
              </a:solidFill>
              <a:latin typeface="Arial" panose="020B0604020202020204"/>
              <a:ea typeface="Arial" panose="020B0604020202020204"/>
              <a:cs typeface="Arial" panose="020B0604020202020204"/>
            </a:endParaRPr>
          </a:p>
        </p:txBody>
      </p:sp>
      <p:sp>
        <p:nvSpPr>
          <p:cNvPr id="17" name="TextBox 17"/>
          <p:cNvSpPr>
            <a:spLocks noGrp="1"/>
          </p:cNvSpPr>
          <p:nvPr/>
        </p:nvSpPr>
        <p:spPr>
          <a:xfrm>
            <a:off x="6423660" y="3204210"/>
            <a:ext cx="5059680" cy="701040"/>
          </a:xfrm>
          <a:prstGeom prst="rect">
            <a:avLst/>
          </a:prstGeom>
          <a:noFill/>
          <a:ln>
            <a:noFill/>
          </a:ln>
        </p:spPr>
        <p:txBody>
          <a:bodyPr wrap="square" lIns="0" tIns="0" rIns="0" bIns="0" anchor="t"/>
          <a:lstStyle/>
          <a:p>
            <a:pPr algn="l">
              <a:lnSpc>
                <a:spcPts val="1725"/>
              </a:lnSpc>
              <a:buNone/>
            </a:pPr>
            <a:r>
              <a:rPr sz="1200" b="1">
                <a:solidFill>
                  <a:srgbClr val="17324D"/>
                </a:solidFill>
                <a:latin typeface="Arial" panose="020B0604020202020204"/>
                <a:ea typeface="Arial" panose="020B0604020202020204"/>
                <a:cs typeface="Arial" panose="020B0604020202020204"/>
              </a:rPr>
              <a:t>User-conditioned generation</a:t>
            </a:r>
            <a:endParaRPr sz="1200" b="1">
              <a:solidFill>
                <a:srgbClr val="17324D"/>
              </a:solidFill>
              <a:latin typeface="Arial" panose="020B0604020202020204"/>
              <a:ea typeface="Arial" panose="020B0604020202020204"/>
              <a:cs typeface="Arial" panose="020B0604020202020204"/>
            </a:endParaRPr>
          </a:p>
          <a:p>
            <a:pPr algn="l">
              <a:lnSpc>
                <a:spcPts val="1725"/>
              </a:lnSpc>
              <a:spcBef>
                <a:spcPts val="150"/>
              </a:spcBef>
              <a:buNone/>
            </a:pPr>
            <a:r>
              <a:rPr sz="1200">
                <a:solidFill>
                  <a:srgbClr val="20262B"/>
                </a:solidFill>
                <a:latin typeface="Arial" panose="020B0604020202020204"/>
                <a:ea typeface="Arial" panose="020B0604020202020204"/>
                <a:cs typeface="Arial" panose="020B0604020202020204"/>
              </a:rPr>
              <a:t>When an initial position enters the prompt or conversation history, </a:t>
            </a:r>
            <a:r>
              <a:rPr sz="1200">
                <a:solidFill>
                  <a:srgbClr val="20262B"/>
                </a:solidFill>
                <a:latin typeface="Arial" panose="020B0604020202020204"/>
                <a:ea typeface="Arial" panose="020B0604020202020204"/>
                <a:cs typeface="Arial" panose="020B0604020202020204"/>
              </a:rPr>
              <a:t>the LLM may generate more position-consistent information.</a:t>
            </a:r>
            <a:endParaRPr sz="1200">
              <a:solidFill>
                <a:srgbClr val="20262B"/>
              </a:solidFill>
              <a:latin typeface="Arial" panose="020B0604020202020204"/>
              <a:ea typeface="Arial" panose="020B0604020202020204"/>
              <a:cs typeface="Arial" panose="020B0604020202020204"/>
            </a:endParaRPr>
          </a:p>
        </p:txBody>
      </p:sp>
      <p:sp>
        <p:nvSpPr>
          <p:cNvPr id="18" name="TextBox 18"/>
          <p:cNvSpPr>
            <a:spLocks noGrp="1"/>
          </p:cNvSpPr>
          <p:nvPr/>
        </p:nvSpPr>
        <p:spPr>
          <a:xfrm>
            <a:off x="6423660" y="4156710"/>
            <a:ext cx="5105400" cy="701040"/>
          </a:xfrm>
          <a:prstGeom prst="rect">
            <a:avLst/>
          </a:prstGeom>
          <a:noFill/>
          <a:ln>
            <a:noFill/>
          </a:ln>
        </p:spPr>
        <p:txBody>
          <a:bodyPr wrap="square" lIns="0" tIns="0" rIns="0" bIns="0" anchor="t"/>
          <a:lstStyle/>
          <a:p>
            <a:pPr algn="l">
              <a:lnSpc>
                <a:spcPts val="1725"/>
              </a:lnSpc>
              <a:buNone/>
            </a:pPr>
            <a:r>
              <a:rPr sz="1200" b="1">
                <a:solidFill>
                  <a:srgbClr val="17324D"/>
                </a:solidFill>
                <a:latin typeface="Arial" panose="020B0604020202020204"/>
                <a:ea typeface="Arial" panose="020B0604020202020204"/>
                <a:cs typeface="Arial" panose="020B0604020202020204"/>
              </a:rPr>
              <a:t>Agent-based evidence</a:t>
            </a:r>
            <a:endParaRPr sz="1200" b="1">
              <a:solidFill>
                <a:srgbClr val="17324D"/>
              </a:solidFill>
              <a:latin typeface="Arial" panose="020B0604020202020204"/>
              <a:ea typeface="Arial" panose="020B0604020202020204"/>
              <a:cs typeface="Arial" panose="020B0604020202020204"/>
            </a:endParaRPr>
          </a:p>
          <a:p>
            <a:pPr algn="l">
              <a:lnSpc>
                <a:spcPts val="1725"/>
              </a:lnSpc>
              <a:spcBef>
                <a:spcPts val="150"/>
              </a:spcBef>
              <a:buNone/>
            </a:pPr>
            <a:r>
              <a:rPr sz="1200">
                <a:solidFill>
                  <a:srgbClr val="20262B"/>
                </a:solidFill>
                <a:latin typeface="Arial" panose="020B0604020202020204"/>
                <a:ea typeface="Arial" panose="020B0604020202020204"/>
                <a:cs typeface="Arial" panose="020B0604020202020204"/>
              </a:rPr>
              <a:t>General prompts can produce consensus; confirmation-bias prompts </a:t>
            </a:r>
            <a:r>
              <a:rPr sz="1200">
                <a:solidFill>
                  <a:srgbClr val="20262B"/>
                </a:solidFill>
                <a:latin typeface="Arial" panose="020B0604020202020204"/>
                <a:ea typeface="Arial" panose="020B0604020202020204"/>
                <a:cs typeface="Arial" panose="020B0604020202020204"/>
              </a:rPr>
              <a:t>can produce fragmentation. </a:t>
            </a:r>
            <a:r>
              <a:rPr sz="1200">
                <a:solidFill>
                  <a:srgbClr val="7A8792"/>
                </a:solidFill>
                <a:latin typeface="Arial" panose="020B0604020202020204"/>
                <a:ea typeface="Arial" panose="020B0604020202020204"/>
                <a:cs typeface="Arial" panose="020B0604020202020204"/>
              </a:rPr>
              <a:t>Chuang et al., 2024</a:t>
            </a:r>
            <a:endParaRPr sz="1200">
              <a:solidFill>
                <a:srgbClr val="7A8792"/>
              </a:solidFill>
              <a:latin typeface="Arial" panose="020B0604020202020204"/>
              <a:ea typeface="Arial" panose="020B0604020202020204"/>
              <a:cs typeface="Arial" panose="020B0604020202020204"/>
            </a:endParaRPr>
          </a:p>
        </p:txBody>
      </p:sp>
      <p:sp>
        <p:nvSpPr>
          <p:cNvPr id="19" name="TextBox 19"/>
          <p:cNvSpPr>
            <a:spLocks noGrp="1"/>
          </p:cNvSpPr>
          <p:nvPr/>
        </p:nvSpPr>
        <p:spPr>
          <a:xfrm>
            <a:off x="6423660" y="5109210"/>
            <a:ext cx="3231280" cy="243840"/>
          </a:xfrm>
          <a:prstGeom prst="rect">
            <a:avLst/>
          </a:prstGeom>
          <a:noFill/>
          <a:ln>
            <a:noFill/>
          </a:ln>
        </p:spPr>
        <p:txBody>
          <a:bodyPr wrap="none" lIns="0" tIns="0" rIns="0" bIns="0" anchor="t">
            <a:spAutoFit/>
          </a:bodyPr>
          <a:lstStyle/>
          <a:p>
            <a:pPr algn="l">
              <a:buNone/>
            </a:pPr>
            <a:r>
              <a:rPr sz="1200" b="1">
                <a:solidFill>
                  <a:srgbClr val="17324D"/>
                </a:solidFill>
                <a:latin typeface="Arial" panose="020B0604020202020204"/>
                <a:ea typeface="Arial" panose="020B0604020202020204"/>
                <a:cs typeface="Arial" panose="020B0604020202020204"/>
              </a:rPr>
              <a:t>Personalization and network structure</a:t>
            </a:r>
            <a:endParaRPr sz="1200" b="1">
              <a:solidFill>
                <a:srgbClr val="17324D"/>
              </a:solidFill>
              <a:latin typeface="Arial" panose="020B0604020202020204"/>
              <a:ea typeface="Arial" panose="020B0604020202020204"/>
              <a:cs typeface="Arial" panose="020B0604020202020204"/>
            </a:endParaRPr>
          </a:p>
        </p:txBody>
      </p:sp>
      <p:sp>
        <p:nvSpPr>
          <p:cNvPr id="20" name="TextBox 20"/>
          <p:cNvSpPr>
            <a:spLocks noGrp="1"/>
          </p:cNvSpPr>
          <p:nvPr/>
        </p:nvSpPr>
        <p:spPr>
          <a:xfrm>
            <a:off x="6423660" y="5442585"/>
            <a:ext cx="4118991" cy="243840"/>
          </a:xfrm>
          <a:prstGeom prst="rect">
            <a:avLst/>
          </a:prstGeom>
          <a:noFill/>
          <a:ln>
            <a:noFill/>
          </a:ln>
        </p:spPr>
        <p:txBody>
          <a:bodyPr wrap="none" lIns="0" tIns="0" rIns="0" bIns="0" anchor="t">
            <a:spAutoFit/>
          </a:bodyPr>
          <a:lstStyle/>
          <a:p>
            <a:pPr algn="l">
              <a:buNone/>
            </a:pPr>
            <a:r>
              <a:rPr sz="1200">
                <a:solidFill>
                  <a:srgbClr val="20262B"/>
                </a:solidFill>
                <a:latin typeface="Arial" panose="020B0604020202020204"/>
                <a:ea typeface="Arial" panose="020B0604020202020204"/>
                <a:cs typeface="Arial" panose="020B0604020202020204"/>
              </a:rPr>
              <a:t>Their interaction may produce opinion clustering and</a:t>
            </a:r>
            <a:endParaRPr sz="1200">
              <a:solidFill>
                <a:srgbClr val="20262B"/>
              </a:solidFill>
              <a:latin typeface="Arial" panose="020B0604020202020204"/>
              <a:ea typeface="Arial" panose="020B0604020202020204"/>
              <a:cs typeface="Arial" panose="020B0604020202020204"/>
            </a:endParaRPr>
          </a:p>
        </p:txBody>
      </p:sp>
      <p:sp>
        <p:nvSpPr>
          <p:cNvPr id="21" name="TextBox 21"/>
          <p:cNvSpPr>
            <a:spLocks noGrp="1"/>
          </p:cNvSpPr>
          <p:nvPr/>
        </p:nvSpPr>
        <p:spPr>
          <a:xfrm>
            <a:off x="6423660" y="5661660"/>
            <a:ext cx="1054608" cy="243840"/>
          </a:xfrm>
          <a:prstGeom prst="rect">
            <a:avLst/>
          </a:prstGeom>
          <a:noFill/>
          <a:ln>
            <a:noFill/>
          </a:ln>
        </p:spPr>
        <p:txBody>
          <a:bodyPr wrap="none" lIns="0" tIns="0" rIns="0" bIns="0" anchor="t">
            <a:spAutoFit/>
          </a:bodyPr>
          <a:lstStyle/>
          <a:p>
            <a:pPr algn="l">
              <a:buNone/>
            </a:pPr>
            <a:r>
              <a:rPr sz="1200">
                <a:solidFill>
                  <a:srgbClr val="20262B"/>
                </a:solidFill>
                <a:latin typeface="Arial" panose="020B0604020202020204"/>
                <a:ea typeface="Arial" panose="020B0604020202020204"/>
                <a:cs typeface="Arial" panose="020B0604020202020204"/>
              </a:rPr>
              <a:t>polarization.</a:t>
            </a:r>
            <a:endParaRPr sz="1200">
              <a:solidFill>
                <a:srgbClr val="20262B"/>
              </a:solidFill>
              <a:latin typeface="Arial" panose="020B0604020202020204"/>
              <a:ea typeface="Arial" panose="020B0604020202020204"/>
              <a:cs typeface="Arial" panose="020B0604020202020204"/>
            </a:endParaRPr>
          </a:p>
        </p:txBody>
      </p:sp>
      <p:sp>
        <p:nvSpPr>
          <p:cNvPr id="23" name="TextBox 23"/>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03</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2379650"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Research Gaps</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TextBox 7"/>
          <p:cNvSpPr>
            <a:spLocks noGrp="1"/>
          </p:cNvSpPr>
          <p:nvPr/>
        </p:nvSpPr>
        <p:spPr>
          <a:xfrm>
            <a:off x="660082" y="1286351"/>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01</a:t>
            </a:r>
            <a:endParaRPr sz="2025" b="1">
              <a:solidFill>
                <a:srgbClr val="17324D"/>
              </a:solidFill>
              <a:latin typeface="Arial" panose="020B0604020202020204"/>
              <a:ea typeface="Arial" panose="020B0604020202020204"/>
              <a:cs typeface="Arial" panose="020B0604020202020204"/>
            </a:endParaRPr>
          </a:p>
        </p:txBody>
      </p:sp>
      <p:sp>
        <p:nvSpPr>
          <p:cNvPr id="8" name="TextBox 8"/>
          <p:cNvSpPr>
            <a:spLocks noGrp="1"/>
          </p:cNvSpPr>
          <p:nvPr/>
        </p:nvSpPr>
        <p:spPr>
          <a:xfrm>
            <a:off x="1258252" y="1313021"/>
            <a:ext cx="2111254"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Output–exposure gap</a:t>
            </a:r>
            <a:endParaRPr sz="1425" b="1">
              <a:solidFill>
                <a:srgbClr val="20262B"/>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1262062" y="1612106"/>
            <a:ext cx="5922169" cy="428625"/>
          </a:xfrm>
          <a:prstGeom prst="rect">
            <a:avLst/>
          </a:prstGeom>
          <a:noFill/>
          <a:ln>
            <a:noFill/>
          </a:ln>
        </p:spPr>
        <p:txBody>
          <a:bodyPr wrap="square" lIns="0" tIns="0" rIns="0" bIns="0" anchor="t"/>
          <a:lstStyle/>
          <a:p>
            <a:pPr algn="l">
              <a:lnSpc>
                <a:spcPts val="1575"/>
              </a:lnSpc>
              <a:buNone/>
            </a:pPr>
            <a:r>
              <a:rPr sz="1125">
                <a:solidFill>
                  <a:srgbClr val="20262B"/>
                </a:solidFill>
                <a:latin typeface="Arial" panose="020B0604020202020204"/>
                <a:ea typeface="Arial" panose="020B0604020202020204"/>
                <a:cs typeface="Arial" panose="020B0604020202020204"/>
              </a:rPr>
              <a:t>It remains unclear whether similar LLM answers create similar information exposure </a:t>
            </a:r>
            <a:r>
              <a:rPr sz="1125">
                <a:solidFill>
                  <a:srgbClr val="20262B"/>
                </a:solidFill>
                <a:latin typeface="Arial" panose="020B0604020202020204"/>
                <a:ea typeface="Arial" panose="020B0604020202020204"/>
                <a:cs typeface="Arial" panose="020B0604020202020204"/>
              </a:rPr>
              <a:t>and diffusion among members.</a:t>
            </a:r>
            <a:endParaRPr sz="1125">
              <a:solidFill>
                <a:srgbClr val="20262B"/>
              </a:solidFill>
              <a:latin typeface="Arial" panose="020B0604020202020204"/>
              <a:ea typeface="Arial" panose="020B0604020202020204"/>
              <a:cs typeface="Arial" panose="020B0604020202020204"/>
            </a:endParaRPr>
          </a:p>
        </p:txBody>
      </p:sp>
      <p:sp>
        <p:nvSpPr>
          <p:cNvPr id="10" name="Line 10"/>
          <p:cNvSpPr>
            <a:spLocks noGrp="1"/>
          </p:cNvSpPr>
          <p:nvPr/>
        </p:nvSpPr>
        <p:spPr>
          <a:xfrm>
            <a:off x="1276350" y="2085975"/>
            <a:ext cx="10229850" cy="9525"/>
          </a:xfrm>
          <a:custGeom>
            <a:avLst/>
            <a:gdLst/>
            <a:ahLst/>
            <a:cxnLst/>
            <a:rect l="l" t="t" r="r" b="b"/>
            <a:pathLst>
              <a:path w="10229850" h="9525">
                <a:moveTo>
                  <a:pt x="0" y="0"/>
                </a:moveTo>
                <a:lnTo>
                  <a:pt x="10229850" y="0"/>
                </a:lnTo>
              </a:path>
            </a:pathLst>
          </a:custGeom>
          <a:noFill/>
          <a:ln w="9525">
            <a:solidFill>
              <a:srgbClr val="D8DEE3"/>
            </a:solidFill>
          </a:ln>
        </p:spPr>
      </p:sp>
      <p:sp>
        <p:nvSpPr>
          <p:cNvPr id="12" name="TextBox 12"/>
          <p:cNvSpPr>
            <a:spLocks noGrp="1"/>
          </p:cNvSpPr>
          <p:nvPr/>
        </p:nvSpPr>
        <p:spPr>
          <a:xfrm>
            <a:off x="660082" y="2219801"/>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02</a:t>
            </a:r>
            <a:endParaRPr sz="2025" b="1">
              <a:solidFill>
                <a:srgbClr val="17324D"/>
              </a:solidFill>
              <a:latin typeface="Arial" panose="020B0604020202020204"/>
              <a:ea typeface="Arial" panose="020B0604020202020204"/>
              <a:cs typeface="Arial" panose="020B0604020202020204"/>
            </a:endParaRPr>
          </a:p>
        </p:txBody>
      </p:sp>
      <p:sp>
        <p:nvSpPr>
          <p:cNvPr id="13" name="TextBox 13"/>
          <p:cNvSpPr>
            <a:spLocks noGrp="1"/>
          </p:cNvSpPr>
          <p:nvPr/>
        </p:nvSpPr>
        <p:spPr>
          <a:xfrm>
            <a:off x="1258252" y="2246471"/>
            <a:ext cx="2350684"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Information–opinion gap</a:t>
            </a:r>
            <a:endParaRPr sz="1425" b="1">
              <a:solidFill>
                <a:srgbClr val="20262B"/>
              </a:solidFill>
              <a:latin typeface="Arial" panose="020B0604020202020204"/>
              <a:ea typeface="Arial" panose="020B0604020202020204"/>
              <a:cs typeface="Arial" panose="020B0604020202020204"/>
            </a:endParaRPr>
          </a:p>
        </p:txBody>
      </p:sp>
      <p:sp>
        <p:nvSpPr>
          <p:cNvPr id="14" name="TextBox 14"/>
          <p:cNvSpPr>
            <a:spLocks noGrp="1"/>
          </p:cNvSpPr>
          <p:nvPr/>
        </p:nvSpPr>
        <p:spPr>
          <a:xfrm>
            <a:off x="1262062" y="2545556"/>
            <a:ext cx="5829300" cy="428625"/>
          </a:xfrm>
          <a:prstGeom prst="rect">
            <a:avLst/>
          </a:prstGeom>
          <a:noFill/>
          <a:ln>
            <a:noFill/>
          </a:ln>
        </p:spPr>
        <p:txBody>
          <a:bodyPr wrap="square" lIns="0" tIns="0" rIns="0" bIns="0" anchor="t"/>
          <a:lstStyle/>
          <a:p>
            <a:pPr algn="l">
              <a:lnSpc>
                <a:spcPts val="1575"/>
              </a:lnSpc>
              <a:buNone/>
            </a:pPr>
            <a:r>
              <a:rPr sz="1125">
                <a:solidFill>
                  <a:srgbClr val="20262B"/>
                </a:solidFill>
                <a:latin typeface="Arial" panose="020B0604020202020204"/>
                <a:ea typeface="Arial" panose="020B0604020202020204"/>
                <a:cs typeface="Arial" panose="020B0604020202020204"/>
              </a:rPr>
              <a:t>The path from exposure and diffusion to individual updating and group distributions </a:t>
            </a:r>
            <a:r>
              <a:rPr sz="1125">
                <a:solidFill>
                  <a:srgbClr val="20262B"/>
                </a:solidFill>
                <a:latin typeface="Arial" panose="020B0604020202020204"/>
                <a:ea typeface="Arial" panose="020B0604020202020204"/>
                <a:cs typeface="Arial" panose="020B0604020202020204"/>
              </a:rPr>
              <a:t>has not been identified layer by layer.</a:t>
            </a:r>
            <a:endParaRPr sz="1125">
              <a:solidFill>
                <a:srgbClr val="20262B"/>
              </a:solidFill>
              <a:latin typeface="Arial" panose="020B0604020202020204"/>
              <a:ea typeface="Arial" panose="020B0604020202020204"/>
              <a:cs typeface="Arial" panose="020B0604020202020204"/>
            </a:endParaRPr>
          </a:p>
        </p:txBody>
      </p:sp>
      <p:sp>
        <p:nvSpPr>
          <p:cNvPr id="15" name="Line 15"/>
          <p:cNvSpPr>
            <a:spLocks noGrp="1"/>
          </p:cNvSpPr>
          <p:nvPr/>
        </p:nvSpPr>
        <p:spPr>
          <a:xfrm>
            <a:off x="1276350" y="3019425"/>
            <a:ext cx="10229850" cy="9525"/>
          </a:xfrm>
          <a:custGeom>
            <a:avLst/>
            <a:gdLst/>
            <a:ahLst/>
            <a:cxnLst/>
            <a:rect l="l" t="t" r="r" b="b"/>
            <a:pathLst>
              <a:path w="10229850" h="9525">
                <a:moveTo>
                  <a:pt x="0" y="0"/>
                </a:moveTo>
                <a:lnTo>
                  <a:pt x="10229850" y="0"/>
                </a:lnTo>
              </a:path>
            </a:pathLst>
          </a:custGeom>
          <a:noFill/>
          <a:ln w="9525">
            <a:solidFill>
              <a:srgbClr val="D8DEE3"/>
            </a:solidFill>
          </a:ln>
        </p:spPr>
      </p:sp>
      <p:sp>
        <p:nvSpPr>
          <p:cNvPr id="17" name="TextBox 17"/>
          <p:cNvSpPr>
            <a:spLocks noGrp="1"/>
          </p:cNvSpPr>
          <p:nvPr/>
        </p:nvSpPr>
        <p:spPr>
          <a:xfrm>
            <a:off x="660082" y="3153251"/>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03</a:t>
            </a:r>
            <a:endParaRPr sz="2025" b="1">
              <a:solidFill>
                <a:srgbClr val="17324D"/>
              </a:solidFill>
              <a:latin typeface="Arial" panose="020B0604020202020204"/>
              <a:ea typeface="Arial" panose="020B0604020202020204"/>
              <a:cs typeface="Arial" panose="020B0604020202020204"/>
            </a:endParaRPr>
          </a:p>
        </p:txBody>
      </p:sp>
      <p:sp>
        <p:nvSpPr>
          <p:cNvPr id="18" name="TextBox 18"/>
          <p:cNvSpPr>
            <a:spLocks noGrp="1"/>
          </p:cNvSpPr>
          <p:nvPr/>
        </p:nvSpPr>
        <p:spPr>
          <a:xfrm>
            <a:off x="1258252" y="3179921"/>
            <a:ext cx="1642371"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Intervention gap</a:t>
            </a:r>
            <a:endParaRPr sz="1425" b="1">
              <a:solidFill>
                <a:srgbClr val="20262B"/>
              </a:solidFill>
              <a:latin typeface="Arial" panose="020B0604020202020204"/>
              <a:ea typeface="Arial" panose="020B0604020202020204"/>
              <a:cs typeface="Arial" panose="020B0604020202020204"/>
            </a:endParaRPr>
          </a:p>
        </p:txBody>
      </p:sp>
      <p:sp>
        <p:nvSpPr>
          <p:cNvPr id="19" name="TextBox 19"/>
          <p:cNvSpPr>
            <a:spLocks noGrp="1"/>
          </p:cNvSpPr>
          <p:nvPr/>
        </p:nvSpPr>
        <p:spPr>
          <a:xfrm>
            <a:off x="1262062" y="3479006"/>
            <a:ext cx="6693694" cy="428625"/>
          </a:xfrm>
          <a:prstGeom prst="rect">
            <a:avLst/>
          </a:prstGeom>
          <a:noFill/>
          <a:ln>
            <a:noFill/>
          </a:ln>
        </p:spPr>
        <p:txBody>
          <a:bodyPr wrap="square" lIns="0" tIns="0" rIns="0" bIns="0" anchor="t"/>
          <a:lstStyle/>
          <a:p>
            <a:pPr algn="l">
              <a:lnSpc>
                <a:spcPts val="1575"/>
              </a:lnSpc>
              <a:buNone/>
            </a:pPr>
            <a:r>
              <a:rPr sz="1125">
                <a:solidFill>
                  <a:srgbClr val="20262B"/>
                </a:solidFill>
                <a:latin typeface="Arial" panose="020B0604020202020204"/>
                <a:ea typeface="Arial" panose="020B0604020202020204"/>
                <a:cs typeface="Arial" panose="020B0604020202020204"/>
              </a:rPr>
              <a:t>It remains untested whether changing the structure of LLM use alters the information process </a:t>
            </a:r>
            <a:r>
              <a:rPr sz="1125">
                <a:solidFill>
                  <a:srgbClr val="20262B"/>
                </a:solidFill>
                <a:latin typeface="Arial" panose="020B0604020202020204"/>
                <a:ea typeface="Arial" panose="020B0604020202020204"/>
                <a:cs typeface="Arial" panose="020B0604020202020204"/>
              </a:rPr>
              <a:t>and attenuates an observed pattern.</a:t>
            </a:r>
            <a:endParaRPr sz="1125">
              <a:solidFill>
                <a:srgbClr val="20262B"/>
              </a:solidFill>
              <a:latin typeface="Arial" panose="020B0604020202020204"/>
              <a:ea typeface="Arial" panose="020B0604020202020204"/>
              <a:cs typeface="Arial" panose="020B0604020202020204"/>
            </a:endParaRPr>
          </a:p>
        </p:txBody>
      </p:sp>
      <p:sp>
        <p:nvSpPr>
          <p:cNvPr id="20" name="Line 20"/>
          <p:cNvSpPr>
            <a:spLocks noGrp="1"/>
          </p:cNvSpPr>
          <p:nvPr/>
        </p:nvSpPr>
        <p:spPr>
          <a:xfrm>
            <a:off x="1276350" y="3952875"/>
            <a:ext cx="10229850" cy="9525"/>
          </a:xfrm>
          <a:custGeom>
            <a:avLst/>
            <a:gdLst/>
            <a:ahLst/>
            <a:cxnLst/>
            <a:rect l="l" t="t" r="r" b="b"/>
            <a:pathLst>
              <a:path w="10229850" h="9525">
                <a:moveTo>
                  <a:pt x="0" y="0"/>
                </a:moveTo>
                <a:lnTo>
                  <a:pt x="10229850" y="0"/>
                </a:lnTo>
              </a:path>
            </a:pathLst>
          </a:custGeom>
          <a:noFill/>
          <a:ln w="9525">
            <a:solidFill>
              <a:srgbClr val="D8DEE3"/>
            </a:solidFill>
          </a:ln>
        </p:spPr>
      </p:sp>
      <p:sp>
        <p:nvSpPr>
          <p:cNvPr id="22" name="TextBox 22"/>
          <p:cNvSpPr>
            <a:spLocks noGrp="1"/>
          </p:cNvSpPr>
          <p:nvPr/>
        </p:nvSpPr>
        <p:spPr>
          <a:xfrm>
            <a:off x="660082" y="4086701"/>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04</a:t>
            </a:r>
            <a:endParaRPr sz="2025" b="1">
              <a:solidFill>
                <a:srgbClr val="17324D"/>
              </a:solidFill>
              <a:latin typeface="Arial" panose="020B0604020202020204"/>
              <a:ea typeface="Arial" panose="020B0604020202020204"/>
              <a:cs typeface="Arial" panose="020B0604020202020204"/>
            </a:endParaRPr>
          </a:p>
        </p:txBody>
      </p:sp>
      <p:sp>
        <p:nvSpPr>
          <p:cNvPr id="23" name="TextBox 23"/>
          <p:cNvSpPr>
            <a:spLocks noGrp="1"/>
          </p:cNvSpPr>
          <p:nvPr/>
        </p:nvSpPr>
        <p:spPr>
          <a:xfrm>
            <a:off x="1258252" y="4113371"/>
            <a:ext cx="3926931"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Circular validity in LLM social simulation</a:t>
            </a:r>
            <a:endParaRPr sz="1425" b="1">
              <a:solidFill>
                <a:srgbClr val="20262B"/>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1261110" y="4423410"/>
            <a:ext cx="1014222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Survey- and interview-based LLM agents are feasible (Argyle et al.; Park et al. use data from 1,052 people). </a:t>
            </a:r>
            <a:r>
              <a:rPr sz="1200">
                <a:solidFill>
                  <a:srgbClr val="20262B"/>
                </a:solidFill>
                <a:latin typeface="Arial" panose="020B0604020202020204"/>
                <a:ea typeface="Arial" panose="020B0604020202020204"/>
                <a:cs typeface="Arial" panose="020B0604020202020204"/>
              </a:rPr>
              <a:t>If the same LLM acts as both human proxy and shared information source, its preferences enter both behavior and content generation.</a:t>
            </a:r>
            <a:endParaRPr sz="1200">
              <a:solidFill>
                <a:srgbClr val="20262B"/>
              </a:solidFill>
              <a:latin typeface="Arial" panose="020B0604020202020204"/>
              <a:ea typeface="Arial" panose="020B0604020202020204"/>
              <a:cs typeface="Arial" panose="020B0604020202020204"/>
            </a:endParaRPr>
          </a:p>
        </p:txBody>
      </p:sp>
      <p:sp>
        <p:nvSpPr>
          <p:cNvPr id="25" name="Line 25"/>
          <p:cNvSpPr>
            <a:spLocks noGrp="1"/>
          </p:cNvSpPr>
          <p:nvPr/>
        </p:nvSpPr>
        <p:spPr>
          <a:xfrm>
            <a:off x="1276350" y="5124450"/>
            <a:ext cx="10229850" cy="9525"/>
          </a:xfrm>
          <a:custGeom>
            <a:avLst/>
            <a:gdLst/>
            <a:ahLst/>
            <a:cxnLst/>
            <a:rect l="l" t="t" r="r" b="b"/>
            <a:pathLst>
              <a:path w="10229850" h="9525">
                <a:moveTo>
                  <a:pt x="0" y="0"/>
                </a:moveTo>
                <a:lnTo>
                  <a:pt x="10229850" y="0"/>
                </a:lnTo>
              </a:path>
            </a:pathLst>
          </a:custGeom>
          <a:noFill/>
          <a:ln w="9525">
            <a:solidFill>
              <a:srgbClr val="D8DEE3"/>
            </a:solidFill>
          </a:ln>
        </p:spPr>
      </p:sp>
      <p:sp>
        <p:nvSpPr>
          <p:cNvPr id="27" name="TextBox 27"/>
          <p:cNvSpPr>
            <a:spLocks noGrp="1"/>
          </p:cNvSpPr>
          <p:nvPr/>
        </p:nvSpPr>
        <p:spPr>
          <a:xfrm>
            <a:off x="660082" y="5363051"/>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05</a:t>
            </a:r>
            <a:endParaRPr sz="2025" b="1">
              <a:solidFill>
                <a:srgbClr val="17324D"/>
              </a:solidFill>
              <a:latin typeface="Arial" panose="020B0604020202020204"/>
              <a:ea typeface="Arial" panose="020B0604020202020204"/>
              <a:cs typeface="Arial" panose="020B0604020202020204"/>
            </a:endParaRPr>
          </a:p>
        </p:txBody>
      </p:sp>
      <p:sp>
        <p:nvSpPr>
          <p:cNvPr id="28" name="TextBox 28"/>
          <p:cNvSpPr>
            <a:spLocks noGrp="1"/>
          </p:cNvSpPr>
          <p:nvPr/>
        </p:nvSpPr>
        <p:spPr>
          <a:xfrm>
            <a:off x="1258252" y="5389721"/>
            <a:ext cx="3657573"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Missing validated micro–macro bridge</a:t>
            </a:r>
            <a:endParaRPr sz="1425" b="1">
              <a:solidFill>
                <a:srgbClr val="20262B"/>
              </a:solidFill>
              <a:latin typeface="Arial" panose="020B0604020202020204"/>
              <a:ea typeface="Arial" panose="020B0604020202020204"/>
              <a:cs typeface="Arial" panose="020B0604020202020204"/>
            </a:endParaRPr>
          </a:p>
        </p:txBody>
      </p:sp>
      <p:sp>
        <p:nvSpPr>
          <p:cNvPr id="29" name="TextBox 29"/>
          <p:cNvSpPr>
            <a:spLocks noGrp="1"/>
          </p:cNvSpPr>
          <p:nvPr/>
        </p:nvSpPr>
        <p:spPr>
          <a:xfrm>
            <a:off x="1261110" y="5699760"/>
            <a:ext cx="821436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Real-population experiments are usually too small and too short to observe the long-run system consequences </a:t>
            </a:r>
            <a:r>
              <a:rPr sz="1200">
                <a:solidFill>
                  <a:srgbClr val="20262B"/>
                </a:solidFill>
                <a:latin typeface="Arial" panose="020B0604020202020204"/>
                <a:ea typeface="Arial" panose="020B0604020202020204"/>
                <a:cs typeface="Arial" panose="020B0604020202020204"/>
              </a:rPr>
              <a:t>of thousands of users relying on a shared LLM.</a:t>
            </a:r>
            <a:endParaRPr sz="1200">
              <a:solidFill>
                <a:srgbClr val="20262B"/>
              </a:solidFill>
              <a:latin typeface="Arial" panose="020B0604020202020204"/>
              <a:ea typeface="Arial" panose="020B0604020202020204"/>
              <a:cs typeface="Arial" panose="020B0604020202020204"/>
            </a:endParaRPr>
          </a:p>
        </p:txBody>
      </p:sp>
      <p:sp>
        <p:nvSpPr>
          <p:cNvPr id="31" name="TextBox 31"/>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04</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12326493"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Theoretical Framework: How Group Opinions Emerge from Local Interaction</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TextBox 7"/>
          <p:cNvSpPr>
            <a:spLocks noGrp="1"/>
          </p:cNvSpPr>
          <p:nvPr/>
        </p:nvSpPr>
        <p:spPr>
          <a:xfrm>
            <a:off x="672465" y="1353502"/>
            <a:ext cx="541234"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THEORY</a:t>
            </a:r>
            <a:endParaRPr sz="1050" b="1">
              <a:solidFill>
                <a:srgbClr val="17324D"/>
              </a:solidFill>
              <a:latin typeface="Arial" panose="020B0604020202020204"/>
              <a:ea typeface="Arial" panose="020B0604020202020204"/>
              <a:cs typeface="Arial" panose="020B0604020202020204"/>
            </a:endParaRPr>
          </a:p>
        </p:txBody>
      </p:sp>
      <p:sp>
        <p:nvSpPr>
          <p:cNvPr id="8" name="TextBox 8"/>
          <p:cNvSpPr>
            <a:spLocks noGrp="1"/>
          </p:cNvSpPr>
          <p:nvPr/>
        </p:nvSpPr>
        <p:spPr>
          <a:xfrm>
            <a:off x="663892" y="1699736"/>
            <a:ext cx="2024363" cy="350520"/>
          </a:xfrm>
          <a:prstGeom prst="rect">
            <a:avLst/>
          </a:prstGeom>
          <a:noFill/>
          <a:ln>
            <a:noFill/>
          </a:ln>
        </p:spPr>
        <p:txBody>
          <a:bodyPr wrap="none" lIns="0" tIns="0" rIns="0" bIns="0" anchor="t">
            <a:spAutoFit/>
          </a:bodyPr>
          <a:lstStyle/>
          <a:p>
            <a:pPr algn="l">
              <a:buNone/>
            </a:pPr>
            <a:r>
              <a:rPr sz="1725" b="1">
                <a:solidFill>
                  <a:srgbClr val="20262B"/>
                </a:solidFill>
                <a:latin typeface="Arial" panose="020B0604020202020204"/>
                <a:ea typeface="Arial" panose="020B0604020202020204"/>
                <a:cs typeface="Arial" panose="020B0604020202020204"/>
              </a:rPr>
              <a:t>Opinion dynamics</a:t>
            </a:r>
            <a:endParaRPr sz="1725" b="1">
              <a:solidFill>
                <a:srgbClr val="20262B"/>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669608" y="2062639"/>
            <a:ext cx="4210050" cy="497205"/>
          </a:xfrm>
          <a:prstGeom prst="rect">
            <a:avLst/>
          </a:prstGeom>
          <a:noFill/>
          <a:ln>
            <a:noFill/>
          </a:ln>
        </p:spPr>
        <p:txBody>
          <a:bodyPr wrap="square" lIns="0" tIns="0" rIns="0" bIns="0" anchor="t"/>
          <a:lstStyle/>
          <a:p>
            <a:pPr algn="l">
              <a:lnSpc>
                <a:spcPts val="1875"/>
              </a:lnSpc>
              <a:buNone/>
            </a:pPr>
            <a:r>
              <a:rPr sz="1275">
                <a:solidFill>
                  <a:srgbClr val="20262B"/>
                </a:solidFill>
                <a:latin typeface="Arial" panose="020B0604020202020204"/>
                <a:ea typeface="Arial" panose="020B0604020202020204"/>
                <a:cs typeface="Arial" panose="020B0604020202020204"/>
              </a:rPr>
              <a:t>Specifies how agents update positions in response to </a:t>
            </a:r>
            <a:r>
              <a:rPr sz="1275">
                <a:solidFill>
                  <a:srgbClr val="20262B"/>
                </a:solidFill>
                <a:latin typeface="Arial" panose="020B0604020202020204"/>
                <a:ea typeface="Arial" panose="020B0604020202020204"/>
                <a:cs typeface="Arial" panose="020B0604020202020204"/>
              </a:rPr>
              <a:t>external information and social influence.</a:t>
            </a:r>
            <a:endParaRPr sz="1275">
              <a:solidFill>
                <a:srgbClr val="20262B"/>
              </a:solidFill>
              <a:latin typeface="Arial" panose="020B0604020202020204"/>
              <a:ea typeface="Arial" panose="020B0604020202020204"/>
              <a:cs typeface="Arial" panose="020B0604020202020204"/>
            </a:endParaRPr>
          </a:p>
        </p:txBody>
      </p:sp>
      <p:sp>
        <p:nvSpPr>
          <p:cNvPr id="11" name="Line 11"/>
          <p:cNvSpPr>
            <a:spLocks noGrp="1"/>
          </p:cNvSpPr>
          <p:nvPr/>
        </p:nvSpPr>
        <p:spPr>
          <a:xfrm>
            <a:off x="6057900" y="1390650"/>
            <a:ext cx="9525" cy="1209675"/>
          </a:xfrm>
          <a:custGeom>
            <a:avLst/>
            <a:gdLst/>
            <a:ahLst/>
            <a:cxnLst/>
            <a:rect l="l" t="t" r="r" b="b"/>
            <a:pathLst>
              <a:path w="9525" h="1209675">
                <a:moveTo>
                  <a:pt x="0" y="0"/>
                </a:moveTo>
                <a:lnTo>
                  <a:pt x="0" y="1209675"/>
                </a:lnTo>
              </a:path>
            </a:pathLst>
          </a:custGeom>
          <a:noFill/>
          <a:ln w="9525">
            <a:solidFill>
              <a:srgbClr val="D8DEE3"/>
            </a:solidFill>
          </a:ln>
        </p:spPr>
      </p:sp>
      <p:sp>
        <p:nvSpPr>
          <p:cNvPr id="12" name="TextBox 12"/>
          <p:cNvSpPr>
            <a:spLocks noGrp="1"/>
          </p:cNvSpPr>
          <p:nvPr/>
        </p:nvSpPr>
        <p:spPr>
          <a:xfrm>
            <a:off x="6463665" y="1353502"/>
            <a:ext cx="570638"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METHOD</a:t>
            </a:r>
            <a:endParaRPr sz="1050" b="1">
              <a:solidFill>
                <a:srgbClr val="17324D"/>
              </a:solidFill>
              <a:latin typeface="Arial" panose="020B0604020202020204"/>
              <a:ea typeface="Arial" panose="020B0604020202020204"/>
              <a:cs typeface="Arial" panose="020B0604020202020204"/>
            </a:endParaRPr>
          </a:p>
        </p:txBody>
      </p:sp>
      <p:sp>
        <p:nvSpPr>
          <p:cNvPr id="13" name="TextBox 13"/>
          <p:cNvSpPr>
            <a:spLocks noGrp="1"/>
          </p:cNvSpPr>
          <p:nvPr/>
        </p:nvSpPr>
        <p:spPr>
          <a:xfrm>
            <a:off x="6455092" y="1699736"/>
            <a:ext cx="2567805" cy="350520"/>
          </a:xfrm>
          <a:prstGeom prst="rect">
            <a:avLst/>
          </a:prstGeom>
          <a:noFill/>
          <a:ln>
            <a:noFill/>
          </a:ln>
        </p:spPr>
        <p:txBody>
          <a:bodyPr wrap="none" lIns="0" tIns="0" rIns="0" bIns="0" anchor="t">
            <a:spAutoFit/>
          </a:bodyPr>
          <a:lstStyle/>
          <a:p>
            <a:pPr algn="l">
              <a:buNone/>
            </a:pPr>
            <a:r>
              <a:rPr sz="1725" b="1">
                <a:solidFill>
                  <a:srgbClr val="20262B"/>
                </a:solidFill>
                <a:latin typeface="Arial" panose="020B0604020202020204"/>
                <a:ea typeface="Arial" panose="020B0604020202020204"/>
                <a:cs typeface="Arial" panose="020B0604020202020204"/>
              </a:rPr>
              <a:t>Agent-based modeling</a:t>
            </a:r>
            <a:endParaRPr sz="1725" b="1">
              <a:solidFill>
                <a:srgbClr val="20262B"/>
              </a:solidFill>
              <a:latin typeface="Arial" panose="020B0604020202020204"/>
              <a:ea typeface="Arial" panose="020B0604020202020204"/>
              <a:cs typeface="Arial" panose="020B0604020202020204"/>
            </a:endParaRPr>
          </a:p>
        </p:txBody>
      </p:sp>
      <p:sp>
        <p:nvSpPr>
          <p:cNvPr id="14" name="TextBox 14"/>
          <p:cNvSpPr>
            <a:spLocks noGrp="1"/>
          </p:cNvSpPr>
          <p:nvPr/>
        </p:nvSpPr>
        <p:spPr>
          <a:xfrm>
            <a:off x="6460808" y="2062639"/>
            <a:ext cx="5359718" cy="497205"/>
          </a:xfrm>
          <a:prstGeom prst="rect">
            <a:avLst/>
          </a:prstGeom>
          <a:noFill/>
          <a:ln>
            <a:noFill/>
          </a:ln>
        </p:spPr>
        <p:txBody>
          <a:bodyPr wrap="square" lIns="0" tIns="0" rIns="0" bIns="0" anchor="t"/>
          <a:lstStyle/>
          <a:p>
            <a:pPr algn="l">
              <a:lnSpc>
                <a:spcPts val="1875"/>
              </a:lnSpc>
              <a:buNone/>
            </a:pPr>
            <a:r>
              <a:rPr sz="1275">
                <a:solidFill>
                  <a:srgbClr val="20262B"/>
                </a:solidFill>
                <a:latin typeface="Arial" panose="020B0604020202020204"/>
                <a:ea typeface="Arial" panose="020B0604020202020204"/>
                <a:cs typeface="Arial" panose="020B0604020202020204"/>
              </a:rPr>
              <a:t>Simulates local interaction across populations, networks, and time </a:t>
            </a:r>
            <a:r>
              <a:rPr sz="1275">
                <a:solidFill>
                  <a:srgbClr val="20262B"/>
                </a:solidFill>
                <a:latin typeface="Arial" panose="020B0604020202020204"/>
                <a:ea typeface="Arial" panose="020B0604020202020204"/>
                <a:cs typeface="Arial" panose="020B0604020202020204"/>
              </a:rPr>
              <a:t>steps to examine emergent group-level patterns.</a:t>
            </a:r>
            <a:endParaRPr sz="1275">
              <a:solidFill>
                <a:srgbClr val="20262B"/>
              </a:solidFill>
              <a:latin typeface="Arial" panose="020B0604020202020204"/>
              <a:ea typeface="Arial" panose="020B0604020202020204"/>
              <a:cs typeface="Arial" panose="020B0604020202020204"/>
            </a:endParaRPr>
          </a:p>
        </p:txBody>
      </p:sp>
      <p:sp>
        <p:nvSpPr>
          <p:cNvPr id="16" name="TextBox 16"/>
          <p:cNvSpPr>
            <a:spLocks noGrp="1"/>
          </p:cNvSpPr>
          <p:nvPr/>
        </p:nvSpPr>
        <p:spPr>
          <a:xfrm>
            <a:off x="672465" y="3029902"/>
            <a:ext cx="1636521"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MICRO–MACRO PROCESS</a:t>
            </a:r>
            <a:endParaRPr sz="1050" b="1">
              <a:solidFill>
                <a:srgbClr val="17324D"/>
              </a:solidFill>
              <a:latin typeface="Arial" panose="020B0604020202020204"/>
              <a:ea typeface="Arial" panose="020B0604020202020204"/>
              <a:cs typeface="Arial" panose="020B0604020202020204"/>
            </a:endParaRPr>
          </a:p>
        </p:txBody>
      </p:sp>
      <p:sp>
        <p:nvSpPr>
          <p:cNvPr id="18" name="Rectangle 18"/>
          <p:cNvSpPr>
            <a:spLocks noGrp="1"/>
          </p:cNvSpPr>
          <p:nvPr/>
        </p:nvSpPr>
        <p:spPr>
          <a:xfrm>
            <a:off x="685800" y="3524250"/>
            <a:ext cx="2305050" cy="876300"/>
          </a:xfrm>
          <a:prstGeom prst="roundRect">
            <a:avLst>
              <a:gd name="adj" fmla="val 2174"/>
            </a:avLst>
          </a:prstGeom>
          <a:solidFill>
            <a:srgbClr val="FFFFFF"/>
          </a:solidFill>
          <a:ln w="14288">
            <a:solidFill>
              <a:srgbClr val="D8DEE3"/>
            </a:solidFill>
          </a:ln>
        </p:spPr>
      </p:sp>
      <p:sp>
        <p:nvSpPr>
          <p:cNvPr id="19" name="TextBox 19"/>
          <p:cNvSpPr>
            <a:spLocks noGrp="1"/>
          </p:cNvSpPr>
          <p:nvPr/>
        </p:nvSpPr>
        <p:spPr>
          <a:xfrm>
            <a:off x="1086973" y="3722846"/>
            <a:ext cx="1502703" cy="289560"/>
          </a:xfrm>
          <a:prstGeom prst="rect">
            <a:avLst/>
          </a:prstGeom>
          <a:noFill/>
          <a:ln>
            <a:noFill/>
          </a:ln>
        </p:spPr>
        <p:txBody>
          <a:bodyPr wrap="none" lIns="0" tIns="0" rIns="0" bIns="0" anchor="t">
            <a:spAutoFit/>
          </a:bodyPr>
          <a:lstStyle/>
          <a:p>
            <a:pPr algn="ctr">
              <a:buNone/>
            </a:pPr>
            <a:r>
              <a:rPr sz="1425" b="1">
                <a:solidFill>
                  <a:srgbClr val="20262B"/>
                </a:solidFill>
                <a:latin typeface="Arial" panose="020B0604020202020204"/>
                <a:ea typeface="Arial" panose="020B0604020202020204"/>
                <a:cs typeface="Arial" panose="020B0604020202020204"/>
              </a:rPr>
              <a:t>LLM-generated</a:t>
            </a:r>
            <a:endParaRPr sz="1425" b="1">
              <a:solidFill>
                <a:srgbClr val="20262B"/>
              </a:solidFill>
              <a:latin typeface="Arial" panose="020B0604020202020204"/>
              <a:ea typeface="Arial" panose="020B0604020202020204"/>
              <a:cs typeface="Arial" panose="020B0604020202020204"/>
            </a:endParaRPr>
          </a:p>
        </p:txBody>
      </p:sp>
      <p:sp>
        <p:nvSpPr>
          <p:cNvPr id="20" name="TextBox 20"/>
          <p:cNvSpPr>
            <a:spLocks noGrp="1"/>
          </p:cNvSpPr>
          <p:nvPr/>
        </p:nvSpPr>
        <p:spPr>
          <a:xfrm>
            <a:off x="1361320" y="3980021"/>
            <a:ext cx="954010" cy="289560"/>
          </a:xfrm>
          <a:prstGeom prst="rect">
            <a:avLst/>
          </a:prstGeom>
          <a:noFill/>
          <a:ln>
            <a:noFill/>
          </a:ln>
        </p:spPr>
        <p:txBody>
          <a:bodyPr wrap="none" lIns="0" tIns="0" rIns="0" bIns="0" anchor="t">
            <a:spAutoFit/>
          </a:bodyPr>
          <a:lstStyle/>
          <a:p>
            <a:pPr algn="ctr">
              <a:buNone/>
            </a:pPr>
            <a:r>
              <a:rPr sz="1425" b="1">
                <a:solidFill>
                  <a:srgbClr val="20262B"/>
                </a:solidFill>
                <a:latin typeface="Arial" panose="020B0604020202020204"/>
                <a:ea typeface="Arial" panose="020B0604020202020204"/>
                <a:cs typeface="Arial" panose="020B0604020202020204"/>
              </a:rPr>
              <a:t>messages</a:t>
            </a:r>
            <a:endParaRPr sz="1425" b="1">
              <a:solidFill>
                <a:srgbClr val="20262B"/>
              </a:solidFill>
              <a:latin typeface="Arial" panose="020B0604020202020204"/>
              <a:ea typeface="Arial" panose="020B0604020202020204"/>
              <a:cs typeface="Arial" panose="020B0604020202020204"/>
            </a:endParaRPr>
          </a:p>
        </p:txBody>
      </p:sp>
      <p:sp>
        <p:nvSpPr>
          <p:cNvPr id="21" name="Line 21"/>
          <p:cNvSpPr>
            <a:spLocks noGrp="1"/>
          </p:cNvSpPr>
          <p:nvPr/>
        </p:nvSpPr>
        <p:spPr>
          <a:xfrm>
            <a:off x="2990850" y="3962400"/>
            <a:ext cx="381000" cy="9525"/>
          </a:xfrm>
          <a:custGeom>
            <a:avLst/>
            <a:gdLst/>
            <a:ahLst/>
            <a:cxnLst/>
            <a:rect l="l" t="t" r="r" b="b"/>
            <a:pathLst>
              <a:path w="381000" h="9525">
                <a:moveTo>
                  <a:pt x="0" y="0"/>
                </a:moveTo>
                <a:lnTo>
                  <a:pt x="381000" y="0"/>
                </a:lnTo>
              </a:path>
            </a:pathLst>
          </a:custGeom>
          <a:noFill/>
          <a:ln w="19050">
            <a:solidFill>
              <a:srgbClr val="17324D"/>
            </a:solidFill>
          </a:ln>
        </p:spPr>
      </p:sp>
      <p:sp>
        <p:nvSpPr>
          <p:cNvPr id="22" name="Polygon 22"/>
          <p:cNvSpPr>
            <a:spLocks noGrp="1"/>
          </p:cNvSpPr>
          <p:nvPr/>
        </p:nvSpPr>
        <p:spPr>
          <a:xfrm>
            <a:off x="3371850" y="39052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24" name="Rectangle 24"/>
          <p:cNvSpPr>
            <a:spLocks noGrp="1"/>
          </p:cNvSpPr>
          <p:nvPr/>
        </p:nvSpPr>
        <p:spPr>
          <a:xfrm>
            <a:off x="3486150" y="3524250"/>
            <a:ext cx="2305050" cy="876300"/>
          </a:xfrm>
          <a:prstGeom prst="roundRect">
            <a:avLst>
              <a:gd name="adj" fmla="val 2174"/>
            </a:avLst>
          </a:prstGeom>
          <a:solidFill>
            <a:srgbClr val="FFFFFF"/>
          </a:solidFill>
          <a:ln w="14288">
            <a:solidFill>
              <a:srgbClr val="D8DEE3"/>
            </a:solidFill>
          </a:ln>
        </p:spPr>
      </p:sp>
      <p:sp>
        <p:nvSpPr>
          <p:cNvPr id="25" name="TextBox 25"/>
          <p:cNvSpPr>
            <a:spLocks noGrp="1"/>
          </p:cNvSpPr>
          <p:nvPr/>
        </p:nvSpPr>
        <p:spPr>
          <a:xfrm>
            <a:off x="3578060" y="3722846"/>
            <a:ext cx="2121231" cy="289560"/>
          </a:xfrm>
          <a:prstGeom prst="rect">
            <a:avLst/>
          </a:prstGeom>
          <a:noFill/>
          <a:ln>
            <a:noFill/>
          </a:ln>
        </p:spPr>
        <p:txBody>
          <a:bodyPr wrap="none" lIns="0" tIns="0" rIns="0" bIns="0" anchor="t">
            <a:spAutoFit/>
          </a:bodyPr>
          <a:lstStyle/>
          <a:p>
            <a:pPr algn="ctr">
              <a:buNone/>
            </a:pPr>
            <a:r>
              <a:rPr sz="1425" b="1">
                <a:solidFill>
                  <a:srgbClr val="20262B"/>
                </a:solidFill>
                <a:latin typeface="Arial" panose="020B0604020202020204"/>
                <a:ea typeface="Arial" panose="020B0604020202020204"/>
                <a:cs typeface="Arial" panose="020B0604020202020204"/>
              </a:rPr>
              <a:t>Information exposure</a:t>
            </a:r>
            <a:endParaRPr sz="1425" b="1">
              <a:solidFill>
                <a:srgbClr val="20262B"/>
              </a:solidFill>
              <a:latin typeface="Arial" panose="020B0604020202020204"/>
              <a:ea typeface="Arial" panose="020B0604020202020204"/>
              <a:cs typeface="Arial" panose="020B0604020202020204"/>
            </a:endParaRPr>
          </a:p>
        </p:txBody>
      </p:sp>
      <p:sp>
        <p:nvSpPr>
          <p:cNvPr id="26" name="TextBox 26"/>
          <p:cNvSpPr>
            <a:spLocks noGrp="1"/>
          </p:cNvSpPr>
          <p:nvPr/>
        </p:nvSpPr>
        <p:spPr>
          <a:xfrm>
            <a:off x="3982098" y="3980021"/>
            <a:ext cx="1313155" cy="289560"/>
          </a:xfrm>
          <a:prstGeom prst="rect">
            <a:avLst/>
          </a:prstGeom>
          <a:noFill/>
          <a:ln>
            <a:noFill/>
          </a:ln>
        </p:spPr>
        <p:txBody>
          <a:bodyPr wrap="none" lIns="0" tIns="0" rIns="0" bIns="0" anchor="t">
            <a:spAutoFit/>
          </a:bodyPr>
          <a:lstStyle/>
          <a:p>
            <a:pPr algn="ctr">
              <a:buNone/>
            </a:pPr>
            <a:r>
              <a:rPr sz="1425" b="1">
                <a:solidFill>
                  <a:srgbClr val="20262B"/>
                </a:solidFill>
                <a:latin typeface="Arial" panose="020B0604020202020204"/>
                <a:ea typeface="Arial" panose="020B0604020202020204"/>
                <a:cs typeface="Arial" panose="020B0604020202020204"/>
              </a:rPr>
              <a:t>and diffusion</a:t>
            </a:r>
            <a:endParaRPr sz="1425" b="1">
              <a:solidFill>
                <a:srgbClr val="20262B"/>
              </a:solidFill>
              <a:latin typeface="Arial" panose="020B0604020202020204"/>
              <a:ea typeface="Arial" panose="020B0604020202020204"/>
              <a:cs typeface="Arial" panose="020B0604020202020204"/>
            </a:endParaRPr>
          </a:p>
        </p:txBody>
      </p:sp>
      <p:sp>
        <p:nvSpPr>
          <p:cNvPr id="27" name="Line 27"/>
          <p:cNvSpPr>
            <a:spLocks noGrp="1"/>
          </p:cNvSpPr>
          <p:nvPr/>
        </p:nvSpPr>
        <p:spPr>
          <a:xfrm>
            <a:off x="5791200" y="3962400"/>
            <a:ext cx="381000" cy="9525"/>
          </a:xfrm>
          <a:custGeom>
            <a:avLst/>
            <a:gdLst/>
            <a:ahLst/>
            <a:cxnLst/>
            <a:rect l="l" t="t" r="r" b="b"/>
            <a:pathLst>
              <a:path w="381000" h="9525">
                <a:moveTo>
                  <a:pt x="0" y="0"/>
                </a:moveTo>
                <a:lnTo>
                  <a:pt x="381000" y="0"/>
                </a:lnTo>
              </a:path>
            </a:pathLst>
          </a:custGeom>
          <a:noFill/>
          <a:ln w="19050">
            <a:solidFill>
              <a:srgbClr val="17324D"/>
            </a:solidFill>
          </a:ln>
        </p:spPr>
      </p:sp>
      <p:sp>
        <p:nvSpPr>
          <p:cNvPr id="28" name="Polygon 28"/>
          <p:cNvSpPr>
            <a:spLocks noGrp="1"/>
          </p:cNvSpPr>
          <p:nvPr/>
        </p:nvSpPr>
        <p:spPr>
          <a:xfrm>
            <a:off x="6172200" y="39052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30" name="Rectangle 30"/>
          <p:cNvSpPr>
            <a:spLocks noGrp="1"/>
          </p:cNvSpPr>
          <p:nvPr/>
        </p:nvSpPr>
        <p:spPr>
          <a:xfrm>
            <a:off x="6286500" y="3524250"/>
            <a:ext cx="2305050" cy="876300"/>
          </a:xfrm>
          <a:prstGeom prst="roundRect">
            <a:avLst>
              <a:gd name="adj" fmla="val 2174"/>
            </a:avLst>
          </a:prstGeom>
          <a:solidFill>
            <a:srgbClr val="FFFFFF"/>
          </a:solidFill>
          <a:ln w="14288">
            <a:solidFill>
              <a:srgbClr val="D8DEE3"/>
            </a:solidFill>
          </a:ln>
        </p:spPr>
      </p:sp>
      <p:sp>
        <p:nvSpPr>
          <p:cNvPr id="31" name="TextBox 31"/>
          <p:cNvSpPr>
            <a:spLocks noGrp="1"/>
          </p:cNvSpPr>
          <p:nvPr/>
        </p:nvSpPr>
        <p:spPr>
          <a:xfrm>
            <a:off x="6607863" y="3722846"/>
            <a:ext cx="1662323" cy="289560"/>
          </a:xfrm>
          <a:prstGeom prst="rect">
            <a:avLst/>
          </a:prstGeom>
          <a:noFill/>
          <a:ln>
            <a:noFill/>
          </a:ln>
        </p:spPr>
        <p:txBody>
          <a:bodyPr wrap="none" lIns="0" tIns="0" rIns="0" bIns="0" anchor="t">
            <a:spAutoFit/>
          </a:bodyPr>
          <a:lstStyle/>
          <a:p>
            <a:pPr algn="ctr">
              <a:buNone/>
            </a:pPr>
            <a:r>
              <a:rPr sz="1425" b="1">
                <a:solidFill>
                  <a:srgbClr val="20262B"/>
                </a:solidFill>
                <a:latin typeface="Arial" panose="020B0604020202020204"/>
                <a:ea typeface="Arial" panose="020B0604020202020204"/>
                <a:cs typeface="Arial" panose="020B0604020202020204"/>
              </a:rPr>
              <a:t>Individual opinion</a:t>
            </a:r>
            <a:endParaRPr sz="1425" b="1">
              <a:solidFill>
                <a:srgbClr val="20262B"/>
              </a:solidFill>
              <a:latin typeface="Arial" panose="020B0604020202020204"/>
              <a:ea typeface="Arial" panose="020B0604020202020204"/>
              <a:cs typeface="Arial" panose="020B0604020202020204"/>
            </a:endParaRPr>
          </a:p>
        </p:txBody>
      </p:sp>
      <p:sp>
        <p:nvSpPr>
          <p:cNvPr id="32" name="TextBox 32"/>
          <p:cNvSpPr>
            <a:spLocks noGrp="1"/>
          </p:cNvSpPr>
          <p:nvPr/>
        </p:nvSpPr>
        <p:spPr>
          <a:xfrm>
            <a:off x="7006913" y="3980021"/>
            <a:ext cx="864223" cy="289560"/>
          </a:xfrm>
          <a:prstGeom prst="rect">
            <a:avLst/>
          </a:prstGeom>
          <a:noFill/>
          <a:ln>
            <a:noFill/>
          </a:ln>
        </p:spPr>
        <p:txBody>
          <a:bodyPr wrap="none" lIns="0" tIns="0" rIns="0" bIns="0" anchor="t">
            <a:spAutoFit/>
          </a:bodyPr>
          <a:lstStyle/>
          <a:p>
            <a:pPr algn="ctr">
              <a:buNone/>
            </a:pPr>
            <a:r>
              <a:rPr sz="1425" b="1">
                <a:solidFill>
                  <a:srgbClr val="20262B"/>
                </a:solidFill>
                <a:latin typeface="Arial" panose="020B0604020202020204"/>
                <a:ea typeface="Arial" panose="020B0604020202020204"/>
                <a:cs typeface="Arial" panose="020B0604020202020204"/>
              </a:rPr>
              <a:t>updating</a:t>
            </a:r>
            <a:endParaRPr sz="1425" b="1">
              <a:solidFill>
                <a:srgbClr val="20262B"/>
              </a:solidFill>
              <a:latin typeface="Arial" panose="020B0604020202020204"/>
              <a:ea typeface="Arial" panose="020B0604020202020204"/>
              <a:cs typeface="Arial" panose="020B0604020202020204"/>
            </a:endParaRPr>
          </a:p>
        </p:txBody>
      </p:sp>
      <p:sp>
        <p:nvSpPr>
          <p:cNvPr id="33" name="Line 33"/>
          <p:cNvSpPr>
            <a:spLocks noGrp="1"/>
          </p:cNvSpPr>
          <p:nvPr/>
        </p:nvSpPr>
        <p:spPr>
          <a:xfrm>
            <a:off x="8591550" y="3962400"/>
            <a:ext cx="381000" cy="9525"/>
          </a:xfrm>
          <a:custGeom>
            <a:avLst/>
            <a:gdLst/>
            <a:ahLst/>
            <a:cxnLst/>
            <a:rect l="l" t="t" r="r" b="b"/>
            <a:pathLst>
              <a:path w="381000" h="9525">
                <a:moveTo>
                  <a:pt x="0" y="0"/>
                </a:moveTo>
                <a:lnTo>
                  <a:pt x="381000" y="0"/>
                </a:lnTo>
              </a:path>
            </a:pathLst>
          </a:custGeom>
          <a:noFill/>
          <a:ln w="19050">
            <a:solidFill>
              <a:srgbClr val="17324D"/>
            </a:solidFill>
          </a:ln>
        </p:spPr>
      </p:sp>
      <p:sp>
        <p:nvSpPr>
          <p:cNvPr id="34" name="Polygon 34"/>
          <p:cNvSpPr>
            <a:spLocks noGrp="1"/>
          </p:cNvSpPr>
          <p:nvPr/>
        </p:nvSpPr>
        <p:spPr>
          <a:xfrm>
            <a:off x="8972550" y="39052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36" name="Rectangle 36"/>
          <p:cNvSpPr>
            <a:spLocks noGrp="1"/>
          </p:cNvSpPr>
          <p:nvPr/>
        </p:nvSpPr>
        <p:spPr>
          <a:xfrm>
            <a:off x="9086850" y="3524250"/>
            <a:ext cx="2419350" cy="876300"/>
          </a:xfrm>
          <a:prstGeom prst="roundRect">
            <a:avLst>
              <a:gd name="adj" fmla="val 2174"/>
            </a:avLst>
          </a:prstGeom>
          <a:solidFill>
            <a:srgbClr val="FFFFFF"/>
          </a:solidFill>
          <a:ln w="19050">
            <a:solidFill>
              <a:srgbClr val="17324D"/>
            </a:solidFill>
          </a:ln>
        </p:spPr>
      </p:sp>
      <p:sp>
        <p:nvSpPr>
          <p:cNvPr id="37" name="TextBox 37"/>
          <p:cNvSpPr>
            <a:spLocks noGrp="1"/>
          </p:cNvSpPr>
          <p:nvPr/>
        </p:nvSpPr>
        <p:spPr>
          <a:xfrm>
            <a:off x="9639948" y="3722846"/>
            <a:ext cx="1313155" cy="289560"/>
          </a:xfrm>
          <a:prstGeom prst="rect">
            <a:avLst/>
          </a:prstGeom>
          <a:noFill/>
          <a:ln>
            <a:noFill/>
          </a:ln>
        </p:spPr>
        <p:txBody>
          <a:bodyPr wrap="none" lIns="0" tIns="0" rIns="0" bIns="0" anchor="t">
            <a:spAutoFit/>
          </a:bodyPr>
          <a:lstStyle/>
          <a:p>
            <a:pPr algn="ctr">
              <a:buNone/>
            </a:pPr>
            <a:r>
              <a:rPr sz="1425" b="1">
                <a:solidFill>
                  <a:srgbClr val="17324D"/>
                </a:solidFill>
                <a:latin typeface="Arial" panose="020B0604020202020204"/>
                <a:ea typeface="Arial" panose="020B0604020202020204"/>
                <a:cs typeface="Arial" panose="020B0604020202020204"/>
              </a:rPr>
              <a:t>Group opinion</a:t>
            </a:r>
            <a:endParaRPr sz="1425" b="1">
              <a:solidFill>
                <a:srgbClr val="17324D"/>
              </a:solidFill>
              <a:latin typeface="Arial" panose="020B0604020202020204"/>
              <a:ea typeface="Arial" panose="020B0604020202020204"/>
              <a:cs typeface="Arial" panose="020B0604020202020204"/>
            </a:endParaRPr>
          </a:p>
        </p:txBody>
      </p:sp>
      <p:sp>
        <p:nvSpPr>
          <p:cNvPr id="38" name="TextBox 38"/>
          <p:cNvSpPr>
            <a:spLocks noGrp="1"/>
          </p:cNvSpPr>
          <p:nvPr/>
        </p:nvSpPr>
        <p:spPr>
          <a:xfrm>
            <a:off x="9694817" y="3980021"/>
            <a:ext cx="1203416" cy="289560"/>
          </a:xfrm>
          <a:prstGeom prst="rect">
            <a:avLst/>
          </a:prstGeom>
          <a:noFill/>
          <a:ln>
            <a:noFill/>
          </a:ln>
        </p:spPr>
        <p:txBody>
          <a:bodyPr wrap="none" lIns="0" tIns="0" rIns="0" bIns="0" anchor="t">
            <a:spAutoFit/>
          </a:bodyPr>
          <a:lstStyle/>
          <a:p>
            <a:pPr algn="ctr">
              <a:buNone/>
            </a:pPr>
            <a:r>
              <a:rPr sz="1425" b="1">
                <a:solidFill>
                  <a:srgbClr val="17324D"/>
                </a:solidFill>
                <a:latin typeface="Arial" panose="020B0604020202020204"/>
                <a:ea typeface="Arial" panose="020B0604020202020204"/>
                <a:cs typeface="Arial" panose="020B0604020202020204"/>
              </a:rPr>
              <a:t>distribution</a:t>
            </a:r>
            <a:endParaRPr sz="1425" b="1">
              <a:solidFill>
                <a:srgbClr val="17324D"/>
              </a:solidFill>
              <a:latin typeface="Arial" panose="020B0604020202020204"/>
              <a:ea typeface="Arial" panose="020B0604020202020204"/>
              <a:cs typeface="Arial" panose="020B0604020202020204"/>
            </a:endParaRPr>
          </a:p>
        </p:txBody>
      </p:sp>
      <p:sp>
        <p:nvSpPr>
          <p:cNvPr id="40" name="TextBox 40"/>
          <p:cNvSpPr>
            <a:spLocks noGrp="1"/>
          </p:cNvSpPr>
          <p:nvPr/>
        </p:nvSpPr>
        <p:spPr>
          <a:xfrm>
            <a:off x="7944898" y="4582478"/>
            <a:ext cx="4703254" cy="213360"/>
          </a:xfrm>
          <a:prstGeom prst="rect">
            <a:avLst/>
          </a:prstGeom>
          <a:noFill/>
          <a:ln>
            <a:noFill/>
          </a:ln>
        </p:spPr>
        <p:txBody>
          <a:bodyPr wrap="none" lIns="0" tIns="0" rIns="0" bIns="0" anchor="t">
            <a:spAutoFit/>
          </a:bodyPr>
          <a:lstStyle/>
          <a:p>
            <a:pPr algn="ctr">
              <a:buNone/>
            </a:pPr>
            <a:r>
              <a:rPr sz="1050">
                <a:solidFill>
                  <a:srgbClr val="7A8792"/>
                </a:solidFill>
                <a:latin typeface="Arial" panose="020B0604020202020204"/>
                <a:ea typeface="Arial" panose="020B0604020202020204"/>
                <a:cs typeface="Arial" panose="020B0604020202020204"/>
              </a:rPr>
              <a:t>convergence · clustering · polarization · persistent differentiation</a:t>
            </a:r>
            <a:endParaRPr sz="1050">
              <a:solidFill>
                <a:srgbClr val="7A8792"/>
              </a:solidFill>
              <a:latin typeface="Arial" panose="020B0604020202020204"/>
              <a:ea typeface="Arial" panose="020B0604020202020204"/>
              <a:cs typeface="Arial" panose="020B0604020202020204"/>
            </a:endParaRPr>
          </a:p>
        </p:txBody>
      </p:sp>
      <p:sp>
        <p:nvSpPr>
          <p:cNvPr id="42" name="Line 42"/>
          <p:cNvSpPr>
            <a:spLocks noGrp="1"/>
          </p:cNvSpPr>
          <p:nvPr/>
        </p:nvSpPr>
        <p:spPr>
          <a:xfrm>
            <a:off x="685800" y="5219700"/>
            <a:ext cx="10820400" cy="9525"/>
          </a:xfrm>
          <a:custGeom>
            <a:avLst/>
            <a:gdLst/>
            <a:ahLst/>
            <a:cxnLst/>
            <a:rect l="l" t="t" r="r" b="b"/>
            <a:pathLst>
              <a:path w="10820400" h="9525">
                <a:moveTo>
                  <a:pt x="0" y="0"/>
                </a:moveTo>
                <a:lnTo>
                  <a:pt x="10820400" y="0"/>
                </a:lnTo>
              </a:path>
            </a:pathLst>
          </a:custGeom>
          <a:noFill/>
          <a:ln w="9525">
            <a:solidFill>
              <a:srgbClr val="D8DEE3"/>
            </a:solidFill>
          </a:ln>
        </p:spPr>
      </p:sp>
      <p:sp>
        <p:nvSpPr>
          <p:cNvPr id="43" name="TextBox 43"/>
          <p:cNvSpPr>
            <a:spLocks noGrp="1"/>
          </p:cNvSpPr>
          <p:nvPr/>
        </p:nvSpPr>
        <p:spPr>
          <a:xfrm>
            <a:off x="669608" y="5463064"/>
            <a:ext cx="7768352" cy="259080"/>
          </a:xfrm>
          <a:prstGeom prst="rect">
            <a:avLst/>
          </a:prstGeom>
          <a:noFill/>
          <a:ln>
            <a:noFill/>
          </a:ln>
        </p:spPr>
        <p:txBody>
          <a:bodyPr wrap="none" lIns="0" tIns="0" rIns="0" bIns="0" anchor="t">
            <a:spAutoFit/>
          </a:bodyPr>
          <a:lstStyle/>
          <a:p>
            <a:pPr algn="l">
              <a:buNone/>
            </a:pPr>
            <a:r>
              <a:rPr sz="1275" b="1">
                <a:solidFill>
                  <a:srgbClr val="17324D"/>
                </a:solidFill>
                <a:latin typeface="Arial" panose="020B0604020202020204"/>
                <a:ea typeface="Arial" panose="020B0604020202020204"/>
                <a:cs typeface="Arial" panose="020B0604020202020204"/>
              </a:rPr>
              <a:t>Opinion dynamics</a:t>
            </a:r>
            <a:r>
              <a:rPr sz="1275">
                <a:solidFill>
                  <a:srgbClr val="20262B"/>
                </a:solidFill>
                <a:latin typeface="Arial" panose="020B0604020202020204"/>
                <a:ea typeface="Arial" panose="020B0604020202020204"/>
                <a:cs typeface="Arial" panose="020B0604020202020204"/>
              </a:rPr>
              <a:t> supplies update rules; </a:t>
            </a:r>
            <a:r>
              <a:rPr sz="1275" b="1">
                <a:solidFill>
                  <a:srgbClr val="17324D"/>
                </a:solidFill>
                <a:latin typeface="Arial" panose="020B0604020202020204"/>
                <a:ea typeface="Arial" panose="020B0604020202020204"/>
                <a:cs typeface="Arial" panose="020B0604020202020204"/>
              </a:rPr>
              <a:t>ABM</a:t>
            </a:r>
            <a:r>
              <a:rPr sz="1275">
                <a:solidFill>
                  <a:srgbClr val="20262B"/>
                </a:solidFill>
                <a:latin typeface="Arial" panose="020B0604020202020204"/>
                <a:ea typeface="Arial" panose="020B0604020202020204"/>
                <a:cs typeface="Arial" panose="020B0604020202020204"/>
              </a:rPr>
              <a:t> simulates multi-agent, multi-round interaction.</a:t>
            </a:r>
            <a:endParaRPr sz="1275">
              <a:solidFill>
                <a:srgbClr val="20262B"/>
              </a:solidFill>
              <a:latin typeface="Arial" panose="020B0604020202020204"/>
              <a:ea typeface="Arial" panose="020B0604020202020204"/>
              <a:cs typeface="Arial" panose="020B0604020202020204"/>
            </a:endParaRPr>
          </a:p>
        </p:txBody>
      </p:sp>
      <p:sp>
        <p:nvSpPr>
          <p:cNvPr id="44" name="TextBox 44"/>
          <p:cNvSpPr>
            <a:spLocks noGrp="1"/>
          </p:cNvSpPr>
          <p:nvPr/>
        </p:nvSpPr>
        <p:spPr>
          <a:xfrm>
            <a:off x="669608" y="5767864"/>
            <a:ext cx="8193405" cy="259080"/>
          </a:xfrm>
          <a:prstGeom prst="rect">
            <a:avLst/>
          </a:prstGeom>
          <a:noFill/>
          <a:ln>
            <a:noFill/>
          </a:ln>
        </p:spPr>
        <p:txBody>
          <a:bodyPr wrap="none" lIns="0" tIns="0" rIns="0" bIns="0" anchor="t">
            <a:spAutoFit/>
          </a:bodyPr>
          <a:lstStyle/>
          <a:p>
            <a:pPr algn="l">
              <a:buNone/>
            </a:pPr>
            <a:r>
              <a:rPr sz="1275">
                <a:solidFill>
                  <a:srgbClr val="20262B"/>
                </a:solidFill>
                <a:latin typeface="Arial" panose="020B0604020202020204"/>
                <a:ea typeface="Arial" panose="020B0604020202020204"/>
                <a:cs typeface="Arial" panose="020B0604020202020204"/>
              </a:rPr>
              <a:t>LLMs generate information; explicit rules update opinions; human data calibrate ABM parameters.</a:t>
            </a:r>
            <a:endParaRPr sz="1275">
              <a:solidFill>
                <a:srgbClr val="20262B"/>
              </a:solidFill>
              <a:latin typeface="Arial" panose="020B0604020202020204"/>
              <a:ea typeface="Arial" panose="020B0604020202020204"/>
              <a:cs typeface="Arial" panose="020B0604020202020204"/>
            </a:endParaRPr>
          </a:p>
        </p:txBody>
      </p:sp>
      <p:sp>
        <p:nvSpPr>
          <p:cNvPr id="46" name="TextBox 46"/>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05</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8025155"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How Do LLMs Change Group Opinion Distributions?</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TextBox 7"/>
          <p:cNvSpPr>
            <a:spLocks noGrp="1"/>
          </p:cNvSpPr>
          <p:nvPr/>
        </p:nvSpPr>
        <p:spPr>
          <a:xfrm>
            <a:off x="672465" y="1296352"/>
            <a:ext cx="1019044"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SUBQUESTIONS</a:t>
            </a:r>
            <a:endParaRPr sz="1050" b="1">
              <a:solidFill>
                <a:srgbClr val="17324D"/>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661988" y="1740694"/>
            <a:ext cx="490855" cy="288925"/>
          </a:xfrm>
          <a:prstGeom prst="rect">
            <a:avLst/>
          </a:prstGeom>
          <a:noFill/>
          <a:ln>
            <a:noFill/>
          </a:ln>
        </p:spPr>
        <p:txBody>
          <a:bodyPr wrap="none" lIns="0" tIns="0" rIns="0" bIns="0" anchor="t">
            <a:spAutoFit/>
          </a:bodyPr>
          <a:lstStyle/>
          <a:p>
            <a:pPr algn="l">
              <a:buNone/>
            </a:pPr>
            <a:r>
              <a:rPr lang="en-US" sz="1875" b="1">
                <a:solidFill>
                  <a:srgbClr val="17324D"/>
                </a:solidFill>
                <a:latin typeface="Arial" panose="020B0604020202020204"/>
                <a:ea typeface="Arial" panose="020B0604020202020204"/>
                <a:cs typeface="Arial" panose="020B0604020202020204"/>
              </a:rPr>
              <a:t>R</a:t>
            </a:r>
            <a:r>
              <a:rPr sz="1875" b="1">
                <a:solidFill>
                  <a:srgbClr val="17324D"/>
                </a:solidFill>
                <a:latin typeface="Arial" panose="020B0604020202020204"/>
                <a:ea typeface="Arial" panose="020B0604020202020204"/>
                <a:cs typeface="Arial" panose="020B0604020202020204"/>
              </a:rPr>
              <a:t>Q1</a:t>
            </a:r>
            <a:endParaRPr sz="1875" b="1">
              <a:solidFill>
                <a:srgbClr val="17324D"/>
              </a:solidFill>
              <a:latin typeface="Arial" panose="020B0604020202020204"/>
              <a:ea typeface="Arial" panose="020B0604020202020204"/>
              <a:cs typeface="Arial" panose="020B0604020202020204"/>
            </a:endParaRPr>
          </a:p>
        </p:txBody>
      </p:sp>
      <p:sp>
        <p:nvSpPr>
          <p:cNvPr id="10" name="TextBox 10"/>
          <p:cNvSpPr>
            <a:spLocks noGrp="1"/>
          </p:cNvSpPr>
          <p:nvPr/>
        </p:nvSpPr>
        <p:spPr>
          <a:xfrm>
            <a:off x="1335405" y="1740218"/>
            <a:ext cx="4903470" cy="521970"/>
          </a:xfrm>
          <a:prstGeom prst="rect">
            <a:avLst/>
          </a:prstGeom>
          <a:noFill/>
          <a:ln>
            <a:noFill/>
          </a:ln>
        </p:spPr>
        <p:txBody>
          <a:bodyPr wrap="square" lIns="0" tIns="0" rIns="0" bIns="0" anchor="t"/>
          <a:lstStyle/>
          <a:p>
            <a:pPr algn="l">
              <a:lnSpc>
                <a:spcPts val="1950"/>
              </a:lnSpc>
              <a:buNone/>
            </a:pPr>
            <a:r>
              <a:rPr sz="1350">
                <a:solidFill>
                  <a:srgbClr val="20262B"/>
                </a:solidFill>
                <a:latin typeface="Arial" panose="020B0604020202020204"/>
                <a:ea typeface="Arial" panose="020B0604020202020204"/>
                <a:cs typeface="Arial" panose="020B0604020202020204"/>
              </a:rPr>
              <a:t>How do large language models change information exposure </a:t>
            </a:r>
            <a:r>
              <a:rPr sz="1350">
                <a:solidFill>
                  <a:srgbClr val="20262B"/>
                </a:solidFill>
                <a:latin typeface="Arial" panose="020B0604020202020204"/>
                <a:ea typeface="Arial" panose="020B0604020202020204"/>
                <a:cs typeface="Arial" panose="020B0604020202020204"/>
              </a:rPr>
              <a:t>and information diffusion within groups?</a:t>
            </a:r>
            <a:endParaRPr sz="1350">
              <a:solidFill>
                <a:srgbClr val="20262B"/>
              </a:solidFill>
              <a:latin typeface="Arial" panose="020B0604020202020204"/>
              <a:ea typeface="Arial" panose="020B0604020202020204"/>
              <a:cs typeface="Arial" panose="020B0604020202020204"/>
            </a:endParaRPr>
          </a:p>
        </p:txBody>
      </p:sp>
      <p:sp>
        <p:nvSpPr>
          <p:cNvPr id="12" name="TextBox 12"/>
          <p:cNvSpPr>
            <a:spLocks noGrp="1"/>
          </p:cNvSpPr>
          <p:nvPr/>
        </p:nvSpPr>
        <p:spPr>
          <a:xfrm>
            <a:off x="661988" y="2940844"/>
            <a:ext cx="490855" cy="288925"/>
          </a:xfrm>
          <a:prstGeom prst="rect">
            <a:avLst/>
          </a:prstGeom>
          <a:noFill/>
          <a:ln>
            <a:noFill/>
          </a:ln>
        </p:spPr>
        <p:txBody>
          <a:bodyPr wrap="none" lIns="0" tIns="0" rIns="0" bIns="0" anchor="t">
            <a:spAutoFit/>
          </a:bodyPr>
          <a:lstStyle/>
          <a:p>
            <a:pPr algn="l">
              <a:buNone/>
            </a:pPr>
            <a:r>
              <a:rPr lang="en-US" sz="1875" b="1">
                <a:solidFill>
                  <a:srgbClr val="17324D"/>
                </a:solidFill>
                <a:latin typeface="Arial" panose="020B0604020202020204"/>
                <a:ea typeface="Arial" panose="020B0604020202020204"/>
                <a:cs typeface="Arial" panose="020B0604020202020204"/>
              </a:rPr>
              <a:t>R</a:t>
            </a:r>
            <a:r>
              <a:rPr sz="1875" b="1">
                <a:solidFill>
                  <a:srgbClr val="17324D"/>
                </a:solidFill>
                <a:latin typeface="Arial" panose="020B0604020202020204"/>
                <a:ea typeface="Arial" panose="020B0604020202020204"/>
                <a:cs typeface="Arial" panose="020B0604020202020204"/>
              </a:rPr>
              <a:t>Q2</a:t>
            </a:r>
            <a:endParaRPr sz="1875" b="1">
              <a:solidFill>
                <a:srgbClr val="17324D"/>
              </a:solidFill>
              <a:latin typeface="Arial" panose="020B0604020202020204"/>
              <a:ea typeface="Arial" panose="020B0604020202020204"/>
              <a:cs typeface="Arial" panose="020B0604020202020204"/>
            </a:endParaRPr>
          </a:p>
        </p:txBody>
      </p:sp>
      <p:sp>
        <p:nvSpPr>
          <p:cNvPr id="13" name="TextBox 13"/>
          <p:cNvSpPr>
            <a:spLocks noGrp="1"/>
          </p:cNvSpPr>
          <p:nvPr/>
        </p:nvSpPr>
        <p:spPr>
          <a:xfrm>
            <a:off x="1335405" y="2940368"/>
            <a:ext cx="5109210" cy="521970"/>
          </a:xfrm>
          <a:prstGeom prst="rect">
            <a:avLst/>
          </a:prstGeom>
          <a:noFill/>
          <a:ln>
            <a:noFill/>
          </a:ln>
        </p:spPr>
        <p:txBody>
          <a:bodyPr wrap="square" lIns="0" tIns="0" rIns="0" bIns="0" anchor="t"/>
          <a:lstStyle/>
          <a:p>
            <a:pPr algn="l">
              <a:lnSpc>
                <a:spcPts val="1950"/>
              </a:lnSpc>
              <a:buNone/>
            </a:pPr>
            <a:r>
              <a:rPr sz="1350">
                <a:solidFill>
                  <a:srgbClr val="20262B"/>
                </a:solidFill>
                <a:latin typeface="Arial" panose="020B0604020202020204"/>
                <a:ea typeface="Arial" panose="020B0604020202020204"/>
                <a:cs typeface="Arial" panose="020B0604020202020204"/>
              </a:rPr>
              <a:t>How do changes in information exposure and diffusion affect </a:t>
            </a:r>
            <a:r>
              <a:rPr sz="1350">
                <a:solidFill>
                  <a:srgbClr val="20262B"/>
                </a:solidFill>
                <a:latin typeface="Arial" panose="020B0604020202020204"/>
                <a:ea typeface="Arial" panose="020B0604020202020204"/>
                <a:cs typeface="Arial" panose="020B0604020202020204"/>
              </a:rPr>
              <a:t>individual opinion updating and group opinion evolution?</a:t>
            </a:r>
            <a:endParaRPr sz="1350">
              <a:solidFill>
                <a:srgbClr val="20262B"/>
              </a:solidFill>
              <a:latin typeface="Arial" panose="020B0604020202020204"/>
              <a:ea typeface="Arial" panose="020B0604020202020204"/>
              <a:cs typeface="Arial" panose="020B0604020202020204"/>
            </a:endParaRPr>
          </a:p>
        </p:txBody>
      </p:sp>
      <p:sp>
        <p:nvSpPr>
          <p:cNvPr id="15" name="TextBox 15"/>
          <p:cNvSpPr>
            <a:spLocks noGrp="1"/>
          </p:cNvSpPr>
          <p:nvPr/>
        </p:nvSpPr>
        <p:spPr>
          <a:xfrm>
            <a:off x="661988" y="4140994"/>
            <a:ext cx="490855" cy="288925"/>
          </a:xfrm>
          <a:prstGeom prst="rect">
            <a:avLst/>
          </a:prstGeom>
          <a:noFill/>
          <a:ln>
            <a:noFill/>
          </a:ln>
        </p:spPr>
        <p:txBody>
          <a:bodyPr wrap="none" lIns="0" tIns="0" rIns="0" bIns="0" anchor="t">
            <a:spAutoFit/>
          </a:bodyPr>
          <a:lstStyle/>
          <a:p>
            <a:pPr algn="l">
              <a:buNone/>
            </a:pPr>
            <a:r>
              <a:rPr lang="en-US" sz="1875" b="1">
                <a:solidFill>
                  <a:srgbClr val="17324D"/>
                </a:solidFill>
                <a:latin typeface="Arial" panose="020B0604020202020204"/>
                <a:ea typeface="Arial" panose="020B0604020202020204"/>
                <a:cs typeface="Arial" panose="020B0604020202020204"/>
              </a:rPr>
              <a:t>R</a:t>
            </a:r>
            <a:r>
              <a:rPr sz="1875" b="1">
                <a:solidFill>
                  <a:srgbClr val="17324D"/>
                </a:solidFill>
                <a:latin typeface="Arial" panose="020B0604020202020204"/>
                <a:ea typeface="Arial" panose="020B0604020202020204"/>
                <a:cs typeface="Arial" panose="020B0604020202020204"/>
              </a:rPr>
              <a:t>Q3</a:t>
            </a:r>
            <a:endParaRPr sz="1875" b="1">
              <a:solidFill>
                <a:srgbClr val="17324D"/>
              </a:solidFill>
              <a:latin typeface="Arial" panose="020B0604020202020204"/>
              <a:ea typeface="Arial" panose="020B0604020202020204"/>
              <a:cs typeface="Arial" panose="020B0604020202020204"/>
            </a:endParaRPr>
          </a:p>
        </p:txBody>
      </p:sp>
      <p:sp>
        <p:nvSpPr>
          <p:cNvPr id="16" name="TextBox 16"/>
          <p:cNvSpPr>
            <a:spLocks noGrp="1"/>
          </p:cNvSpPr>
          <p:nvPr/>
        </p:nvSpPr>
        <p:spPr>
          <a:xfrm>
            <a:off x="1335405" y="4140518"/>
            <a:ext cx="5203507" cy="521970"/>
          </a:xfrm>
          <a:prstGeom prst="rect">
            <a:avLst/>
          </a:prstGeom>
          <a:noFill/>
          <a:ln>
            <a:noFill/>
          </a:ln>
        </p:spPr>
        <p:txBody>
          <a:bodyPr wrap="square" lIns="0" tIns="0" rIns="0" bIns="0" anchor="t"/>
          <a:lstStyle/>
          <a:p>
            <a:pPr algn="l">
              <a:lnSpc>
                <a:spcPts val="1950"/>
              </a:lnSpc>
              <a:buNone/>
            </a:pPr>
            <a:r>
              <a:rPr sz="1350">
                <a:solidFill>
                  <a:srgbClr val="20262B"/>
                </a:solidFill>
                <a:latin typeface="Arial" panose="020B0604020202020204"/>
                <a:ea typeface="Arial" panose="020B0604020202020204"/>
                <a:cs typeface="Arial" panose="020B0604020202020204"/>
              </a:rPr>
              <a:t>If these patterns of group opinion evolution are observed, </a:t>
            </a:r>
            <a:r>
              <a:rPr sz="1350">
                <a:solidFill>
                  <a:srgbClr val="20262B"/>
                </a:solidFill>
                <a:latin typeface="Arial" panose="020B0604020202020204"/>
                <a:ea typeface="Arial" panose="020B0604020202020204"/>
                <a:cs typeface="Arial" panose="020B0604020202020204"/>
              </a:rPr>
              <a:t>can technical interventions at the LLM layer attenuate them?</a:t>
            </a:r>
            <a:endParaRPr sz="1350">
              <a:solidFill>
                <a:srgbClr val="20262B"/>
              </a:solidFill>
              <a:latin typeface="Arial" panose="020B0604020202020204"/>
              <a:ea typeface="Arial" panose="020B0604020202020204"/>
              <a:cs typeface="Arial" panose="020B0604020202020204"/>
            </a:endParaRPr>
          </a:p>
        </p:txBody>
      </p:sp>
      <p:sp>
        <p:nvSpPr>
          <p:cNvPr id="18" name="Line 18"/>
          <p:cNvSpPr>
            <a:spLocks noGrp="1"/>
          </p:cNvSpPr>
          <p:nvPr/>
        </p:nvSpPr>
        <p:spPr>
          <a:xfrm>
            <a:off x="6572250" y="1314450"/>
            <a:ext cx="9525" cy="4667250"/>
          </a:xfrm>
          <a:custGeom>
            <a:avLst/>
            <a:gdLst/>
            <a:ahLst/>
            <a:cxnLst/>
            <a:rect l="l" t="t" r="r" b="b"/>
            <a:pathLst>
              <a:path w="9525" h="4667250">
                <a:moveTo>
                  <a:pt x="0" y="0"/>
                </a:moveTo>
                <a:lnTo>
                  <a:pt x="0" y="4667250"/>
                </a:lnTo>
              </a:path>
            </a:pathLst>
          </a:custGeom>
          <a:noFill/>
          <a:ln w="9525">
            <a:solidFill>
              <a:srgbClr val="D8DEE3"/>
            </a:solidFill>
          </a:ln>
        </p:spPr>
      </p:sp>
      <p:sp>
        <p:nvSpPr>
          <p:cNvPr id="19" name="TextBox 19"/>
          <p:cNvSpPr>
            <a:spLocks noGrp="1"/>
          </p:cNvSpPr>
          <p:nvPr/>
        </p:nvSpPr>
        <p:spPr>
          <a:xfrm>
            <a:off x="6939915" y="1296352"/>
            <a:ext cx="1276326"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POSSIBLE RESULTS</a:t>
            </a:r>
            <a:endParaRPr sz="1050" b="1">
              <a:solidFill>
                <a:srgbClr val="17324D"/>
              </a:solidFill>
              <a:latin typeface="Arial" panose="020B0604020202020204"/>
              <a:ea typeface="Arial" panose="020B0604020202020204"/>
              <a:cs typeface="Arial" panose="020B0604020202020204"/>
            </a:endParaRPr>
          </a:p>
        </p:txBody>
      </p:sp>
      <p:sp>
        <p:nvSpPr>
          <p:cNvPr id="20" name="TextBox 20"/>
          <p:cNvSpPr>
            <a:spLocks noGrp="1"/>
          </p:cNvSpPr>
          <p:nvPr/>
        </p:nvSpPr>
        <p:spPr>
          <a:xfrm>
            <a:off x="6936105" y="1806892"/>
            <a:ext cx="1499223" cy="274320"/>
          </a:xfrm>
          <a:prstGeom prst="rect">
            <a:avLst/>
          </a:prstGeom>
          <a:noFill/>
          <a:ln>
            <a:noFill/>
          </a:ln>
        </p:spPr>
        <p:txBody>
          <a:bodyPr wrap="none" lIns="0" tIns="0" rIns="0" bIns="0" anchor="t">
            <a:spAutoFit/>
          </a:bodyPr>
          <a:lstStyle/>
          <a:p>
            <a:pPr algn="l">
              <a:buNone/>
            </a:pPr>
            <a:r>
              <a:rPr sz="1350" b="1">
                <a:solidFill>
                  <a:srgbClr val="20262B"/>
                </a:solidFill>
                <a:latin typeface="Arial" panose="020B0604020202020204"/>
                <a:ea typeface="Arial" panose="020B0604020202020204"/>
                <a:cs typeface="Arial" panose="020B0604020202020204"/>
              </a:rPr>
              <a:t>1 · Convergence</a:t>
            </a:r>
            <a:endParaRPr sz="1350" b="1">
              <a:solidFill>
                <a:srgbClr val="20262B"/>
              </a:solidFill>
              <a:latin typeface="Arial" panose="020B0604020202020204"/>
              <a:ea typeface="Arial" panose="020B0604020202020204"/>
              <a:cs typeface="Arial" panose="020B0604020202020204"/>
            </a:endParaRPr>
          </a:p>
        </p:txBody>
      </p:sp>
      <p:sp>
        <p:nvSpPr>
          <p:cNvPr id="21" name="TextBox 21"/>
          <p:cNvSpPr>
            <a:spLocks noGrp="1"/>
          </p:cNvSpPr>
          <p:nvPr/>
        </p:nvSpPr>
        <p:spPr>
          <a:xfrm>
            <a:off x="6938010" y="2118360"/>
            <a:ext cx="406146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A shared LLM information source moves group opinions </a:t>
            </a:r>
            <a:r>
              <a:rPr sz="1200">
                <a:solidFill>
                  <a:srgbClr val="20262B"/>
                </a:solidFill>
                <a:latin typeface="Arial" panose="020B0604020202020204"/>
                <a:ea typeface="Arial" panose="020B0604020202020204"/>
                <a:cs typeface="Arial" panose="020B0604020202020204"/>
              </a:rPr>
              <a:t>toward convergence.</a:t>
            </a:r>
            <a:endParaRPr sz="1200">
              <a:solidFill>
                <a:srgbClr val="20262B"/>
              </a:solidFill>
              <a:latin typeface="Arial" panose="020B0604020202020204"/>
              <a:ea typeface="Arial" panose="020B0604020202020204"/>
              <a:cs typeface="Arial" panose="020B0604020202020204"/>
            </a:endParaRPr>
          </a:p>
        </p:txBody>
      </p:sp>
      <p:sp>
        <p:nvSpPr>
          <p:cNvPr id="22" name="Line 22"/>
          <p:cNvSpPr>
            <a:spLocks noGrp="1"/>
          </p:cNvSpPr>
          <p:nvPr/>
        </p:nvSpPr>
        <p:spPr>
          <a:xfrm>
            <a:off x="6953250" y="2714625"/>
            <a:ext cx="4457700" cy="9525"/>
          </a:xfrm>
          <a:custGeom>
            <a:avLst/>
            <a:gdLst/>
            <a:ahLst/>
            <a:cxnLst/>
            <a:rect l="l" t="t" r="r" b="b"/>
            <a:pathLst>
              <a:path w="4457700" h="9525">
                <a:moveTo>
                  <a:pt x="0" y="0"/>
                </a:moveTo>
                <a:lnTo>
                  <a:pt x="4457700" y="0"/>
                </a:lnTo>
              </a:path>
            </a:pathLst>
          </a:custGeom>
          <a:noFill/>
          <a:ln w="9525">
            <a:solidFill>
              <a:srgbClr val="D8DEE3"/>
            </a:solidFill>
          </a:ln>
        </p:spPr>
      </p:sp>
      <p:sp>
        <p:nvSpPr>
          <p:cNvPr id="23" name="TextBox 23"/>
          <p:cNvSpPr>
            <a:spLocks noGrp="1"/>
          </p:cNvSpPr>
          <p:nvPr/>
        </p:nvSpPr>
        <p:spPr>
          <a:xfrm>
            <a:off x="6936105" y="2987992"/>
            <a:ext cx="1773307" cy="274320"/>
          </a:xfrm>
          <a:prstGeom prst="rect">
            <a:avLst/>
          </a:prstGeom>
          <a:noFill/>
          <a:ln>
            <a:noFill/>
          </a:ln>
        </p:spPr>
        <p:txBody>
          <a:bodyPr wrap="none" lIns="0" tIns="0" rIns="0" bIns="0" anchor="t">
            <a:spAutoFit/>
          </a:bodyPr>
          <a:lstStyle/>
          <a:p>
            <a:pPr algn="l">
              <a:buNone/>
            </a:pPr>
            <a:r>
              <a:rPr sz="1350" b="1">
                <a:solidFill>
                  <a:srgbClr val="20262B"/>
                </a:solidFill>
                <a:latin typeface="Arial" panose="020B0604020202020204"/>
                <a:ea typeface="Arial" panose="020B0604020202020204"/>
                <a:cs typeface="Arial" panose="020B0604020202020204"/>
              </a:rPr>
              <a:t>2 · Differentiation</a:t>
            </a:r>
            <a:endParaRPr sz="1350" b="1">
              <a:solidFill>
                <a:srgbClr val="20262B"/>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6938010" y="3299460"/>
            <a:ext cx="492252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Stance-conditioned generation, selective sharing, or bounded </a:t>
            </a:r>
            <a:r>
              <a:rPr sz="1200">
                <a:solidFill>
                  <a:srgbClr val="20262B"/>
                </a:solidFill>
                <a:latin typeface="Arial" panose="020B0604020202020204"/>
                <a:ea typeface="Arial" panose="020B0604020202020204"/>
                <a:cs typeface="Arial" panose="020B0604020202020204"/>
              </a:rPr>
              <a:t>acceptance produces clustering, polarization, or fragmentation.</a:t>
            </a:r>
            <a:endParaRPr sz="1200">
              <a:solidFill>
                <a:srgbClr val="20262B"/>
              </a:solidFill>
              <a:latin typeface="Arial" panose="020B0604020202020204"/>
              <a:ea typeface="Arial" panose="020B0604020202020204"/>
              <a:cs typeface="Arial" panose="020B0604020202020204"/>
            </a:endParaRPr>
          </a:p>
        </p:txBody>
      </p:sp>
      <p:sp>
        <p:nvSpPr>
          <p:cNvPr id="25" name="Line 25"/>
          <p:cNvSpPr>
            <a:spLocks noGrp="1"/>
          </p:cNvSpPr>
          <p:nvPr/>
        </p:nvSpPr>
        <p:spPr>
          <a:xfrm>
            <a:off x="6953250" y="3895725"/>
            <a:ext cx="4457700" cy="9525"/>
          </a:xfrm>
          <a:custGeom>
            <a:avLst/>
            <a:gdLst/>
            <a:ahLst/>
            <a:cxnLst/>
            <a:rect l="l" t="t" r="r" b="b"/>
            <a:pathLst>
              <a:path w="4457700" h="9525">
                <a:moveTo>
                  <a:pt x="0" y="0"/>
                </a:moveTo>
                <a:lnTo>
                  <a:pt x="4457700" y="0"/>
                </a:lnTo>
              </a:path>
            </a:pathLst>
          </a:custGeom>
          <a:noFill/>
          <a:ln w="9525">
            <a:solidFill>
              <a:srgbClr val="D8DEE3"/>
            </a:solidFill>
          </a:ln>
        </p:spPr>
      </p:sp>
      <p:sp>
        <p:nvSpPr>
          <p:cNvPr id="26" name="TextBox 26"/>
          <p:cNvSpPr>
            <a:spLocks noGrp="1"/>
          </p:cNvSpPr>
          <p:nvPr/>
        </p:nvSpPr>
        <p:spPr>
          <a:xfrm>
            <a:off x="6936105" y="4169092"/>
            <a:ext cx="3654092" cy="274320"/>
          </a:xfrm>
          <a:prstGeom prst="rect">
            <a:avLst/>
          </a:prstGeom>
          <a:noFill/>
          <a:ln>
            <a:noFill/>
          </a:ln>
        </p:spPr>
        <p:txBody>
          <a:bodyPr wrap="none" lIns="0" tIns="0" rIns="0" bIns="0" anchor="t">
            <a:spAutoFit/>
          </a:bodyPr>
          <a:lstStyle/>
          <a:p>
            <a:pPr algn="l">
              <a:buNone/>
            </a:pPr>
            <a:r>
              <a:rPr sz="1350" b="1">
                <a:solidFill>
                  <a:srgbClr val="20262B"/>
                </a:solidFill>
                <a:latin typeface="Arial" panose="020B0604020202020204"/>
                <a:ea typeface="Arial" panose="020B0604020202020204"/>
                <a:cs typeface="Arial" panose="020B0604020202020204"/>
              </a:rPr>
              <a:t>3 · No measurable distributional change</a:t>
            </a:r>
            <a:endParaRPr sz="1350" b="1">
              <a:solidFill>
                <a:srgbClr val="20262B"/>
              </a:solidFill>
              <a:latin typeface="Arial" panose="020B0604020202020204"/>
              <a:ea typeface="Arial" panose="020B0604020202020204"/>
              <a:cs typeface="Arial" panose="020B0604020202020204"/>
            </a:endParaRPr>
          </a:p>
        </p:txBody>
      </p:sp>
      <p:sp>
        <p:nvSpPr>
          <p:cNvPr id="27" name="TextBox 27"/>
          <p:cNvSpPr>
            <a:spLocks noGrp="1"/>
          </p:cNvSpPr>
          <p:nvPr/>
        </p:nvSpPr>
        <p:spPr>
          <a:xfrm>
            <a:off x="6938010" y="4480560"/>
            <a:ext cx="409194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Exposure and diffusion change, while the group opinion </a:t>
            </a:r>
            <a:r>
              <a:rPr sz="1200">
                <a:solidFill>
                  <a:srgbClr val="20262B"/>
                </a:solidFill>
                <a:latin typeface="Arial" panose="020B0604020202020204"/>
                <a:ea typeface="Arial" panose="020B0604020202020204"/>
                <a:cs typeface="Arial" panose="020B0604020202020204"/>
              </a:rPr>
              <a:t>distribution does not.</a:t>
            </a:r>
            <a:endParaRPr sz="1200">
              <a:solidFill>
                <a:srgbClr val="20262B"/>
              </a:solidFill>
              <a:latin typeface="Arial" panose="020B0604020202020204"/>
              <a:ea typeface="Arial" panose="020B0604020202020204"/>
              <a:cs typeface="Arial" panose="020B0604020202020204"/>
            </a:endParaRPr>
          </a:p>
        </p:txBody>
      </p:sp>
      <p:sp>
        <p:nvSpPr>
          <p:cNvPr id="29" name="Line 29"/>
          <p:cNvSpPr>
            <a:spLocks noGrp="1"/>
          </p:cNvSpPr>
          <p:nvPr/>
        </p:nvSpPr>
        <p:spPr>
          <a:xfrm>
            <a:off x="685800" y="5543550"/>
            <a:ext cx="10725150" cy="9525"/>
          </a:xfrm>
          <a:custGeom>
            <a:avLst/>
            <a:gdLst/>
            <a:ahLst/>
            <a:cxnLst/>
            <a:rect l="l" t="t" r="r" b="b"/>
            <a:pathLst>
              <a:path w="10725150" h="9525">
                <a:moveTo>
                  <a:pt x="0" y="0"/>
                </a:moveTo>
                <a:lnTo>
                  <a:pt x="10725150" y="0"/>
                </a:lnTo>
              </a:path>
            </a:pathLst>
          </a:custGeom>
          <a:noFill/>
          <a:ln w="9525">
            <a:solidFill>
              <a:srgbClr val="D8DEE3"/>
            </a:solidFill>
          </a:ln>
        </p:spPr>
      </p:sp>
      <p:sp>
        <p:nvSpPr>
          <p:cNvPr id="30" name="TextBox 30"/>
          <p:cNvSpPr>
            <a:spLocks noGrp="1"/>
          </p:cNvSpPr>
          <p:nvPr/>
        </p:nvSpPr>
        <p:spPr>
          <a:xfrm>
            <a:off x="672465" y="5715952"/>
            <a:ext cx="6254115" cy="413385"/>
          </a:xfrm>
          <a:prstGeom prst="rect">
            <a:avLst/>
          </a:prstGeom>
          <a:noFill/>
          <a:ln>
            <a:noFill/>
          </a:ln>
        </p:spPr>
        <p:txBody>
          <a:bodyPr wrap="square" lIns="0" tIns="0" rIns="0" bIns="0" anchor="t"/>
          <a:lstStyle/>
          <a:p>
            <a:pPr algn="l">
              <a:lnSpc>
                <a:spcPts val="1575"/>
              </a:lnSpc>
              <a:buNone/>
            </a:pPr>
            <a:r>
              <a:rPr sz="1050">
                <a:solidFill>
                  <a:srgbClr val="7A8792"/>
                </a:solidFill>
                <a:latin typeface="Arial" panose="020B0604020202020204"/>
                <a:ea typeface="Arial" panose="020B0604020202020204"/>
                <a:cs typeface="Arial" panose="020B0604020202020204"/>
              </a:rPr>
              <a:t>The outcomes are reported separately: convergence, clustering, polarization, fragmentation, </a:t>
            </a:r>
            <a:r>
              <a:rPr sz="1050">
                <a:solidFill>
                  <a:srgbClr val="7A8792"/>
                </a:solidFill>
                <a:latin typeface="Arial" panose="020B0604020202020204"/>
                <a:ea typeface="Arial" panose="020B0604020202020204"/>
                <a:cs typeface="Arial" panose="020B0604020202020204"/>
              </a:rPr>
              <a:t>and no distributional change are not interchangeable.</a:t>
            </a:r>
            <a:endParaRPr sz="1050">
              <a:solidFill>
                <a:srgbClr val="7A8792"/>
              </a:solidFill>
              <a:latin typeface="Arial" panose="020B0604020202020204"/>
              <a:ea typeface="Arial" panose="020B0604020202020204"/>
              <a:cs typeface="Arial" panose="020B0604020202020204"/>
            </a:endParaRPr>
          </a:p>
        </p:txBody>
      </p:sp>
      <p:sp>
        <p:nvSpPr>
          <p:cNvPr id="32" name="TextBox 32"/>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06</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8529218"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Research Method: Hybrid ABM with Opinion Dynamics</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TextBox 7"/>
          <p:cNvSpPr>
            <a:spLocks noGrp="1"/>
          </p:cNvSpPr>
          <p:nvPr/>
        </p:nvSpPr>
        <p:spPr>
          <a:xfrm>
            <a:off x="4869763" y="1248728"/>
            <a:ext cx="2452473" cy="213360"/>
          </a:xfrm>
          <a:prstGeom prst="rect">
            <a:avLst/>
          </a:prstGeom>
          <a:noFill/>
          <a:ln>
            <a:noFill/>
          </a:ln>
        </p:spPr>
        <p:txBody>
          <a:bodyPr wrap="none" lIns="0" tIns="0" rIns="0" bIns="0" anchor="t">
            <a:spAutoFit/>
          </a:bodyPr>
          <a:lstStyle/>
          <a:p>
            <a:pPr algn="ctr">
              <a:buNone/>
            </a:pPr>
            <a:r>
              <a:rPr sz="1050" b="1">
                <a:solidFill>
                  <a:srgbClr val="17324D"/>
                </a:solidFill>
                <a:latin typeface="Arial" panose="020B0604020202020204"/>
                <a:ea typeface="Arial" panose="020B0604020202020204"/>
                <a:cs typeface="Arial" panose="020B0604020202020204"/>
              </a:rPr>
              <a:t>LLM ROLE 1 · INFORMATION SOURCE</a:t>
            </a:r>
            <a:endParaRPr sz="1050" b="1">
              <a:solidFill>
                <a:srgbClr val="17324D"/>
              </a:solidFill>
              <a:latin typeface="Arial" panose="020B0604020202020204"/>
              <a:ea typeface="Arial" panose="020B0604020202020204"/>
              <a:cs typeface="Arial" panose="020B0604020202020204"/>
            </a:endParaRPr>
          </a:p>
        </p:txBody>
      </p:sp>
      <p:sp>
        <p:nvSpPr>
          <p:cNvPr id="8" name="TextBox 8"/>
          <p:cNvSpPr>
            <a:spLocks noGrp="1"/>
          </p:cNvSpPr>
          <p:nvPr/>
        </p:nvSpPr>
        <p:spPr>
          <a:xfrm>
            <a:off x="3197947" y="1538764"/>
            <a:ext cx="5796105" cy="259080"/>
          </a:xfrm>
          <a:prstGeom prst="rect">
            <a:avLst/>
          </a:prstGeom>
          <a:noFill/>
          <a:ln>
            <a:noFill/>
          </a:ln>
        </p:spPr>
        <p:txBody>
          <a:bodyPr wrap="none" lIns="0" tIns="0" rIns="0" bIns="0" anchor="t">
            <a:spAutoFit/>
          </a:bodyPr>
          <a:lstStyle/>
          <a:p>
            <a:pPr algn="ctr">
              <a:buNone/>
            </a:pPr>
            <a:r>
              <a:rPr sz="1275">
                <a:solidFill>
                  <a:srgbClr val="20262B"/>
                </a:solidFill>
                <a:latin typeface="Arial" panose="020B0604020202020204"/>
                <a:ea typeface="Arial" panose="020B0604020202020204"/>
                <a:cs typeface="Arial" panose="020B0604020202020204"/>
              </a:rPr>
              <a:t>Policy answers · model, prompt, and routing as treatment conditions</a:t>
            </a:r>
            <a:endParaRPr sz="1275">
              <a:solidFill>
                <a:srgbClr val="20262B"/>
              </a:solidFill>
              <a:latin typeface="Arial" panose="020B0604020202020204"/>
              <a:ea typeface="Arial" panose="020B0604020202020204"/>
              <a:cs typeface="Arial" panose="020B0604020202020204"/>
            </a:endParaRPr>
          </a:p>
        </p:txBody>
      </p:sp>
      <p:sp>
        <p:nvSpPr>
          <p:cNvPr id="9" name="Line 9"/>
          <p:cNvSpPr>
            <a:spLocks noGrp="1"/>
          </p:cNvSpPr>
          <p:nvPr/>
        </p:nvSpPr>
        <p:spPr>
          <a:xfrm>
            <a:off x="6096000" y="1828800"/>
            <a:ext cx="9525" cy="276225"/>
          </a:xfrm>
          <a:custGeom>
            <a:avLst/>
            <a:gdLst/>
            <a:ahLst/>
            <a:cxnLst/>
            <a:rect l="l" t="t" r="r" b="b"/>
            <a:pathLst>
              <a:path w="9525" h="276225">
                <a:moveTo>
                  <a:pt x="0" y="0"/>
                </a:moveTo>
                <a:lnTo>
                  <a:pt x="0" y="276225"/>
                </a:lnTo>
              </a:path>
            </a:pathLst>
          </a:custGeom>
          <a:noFill/>
          <a:ln w="19050">
            <a:solidFill>
              <a:srgbClr val="17324D"/>
            </a:solidFill>
          </a:ln>
        </p:spPr>
      </p:sp>
      <p:sp>
        <p:nvSpPr>
          <p:cNvPr id="10" name="Polygon 10"/>
          <p:cNvSpPr>
            <a:spLocks noGrp="1"/>
          </p:cNvSpPr>
          <p:nvPr/>
        </p:nvSpPr>
        <p:spPr>
          <a:xfrm>
            <a:off x="6038850" y="2085975"/>
            <a:ext cx="114300" cy="114300"/>
          </a:xfrm>
          <a:custGeom>
            <a:avLst/>
            <a:gdLst/>
            <a:ahLst/>
            <a:cxnLst/>
            <a:rect l="l" t="t" r="r" b="b"/>
            <a:pathLst>
              <a:path w="114300" h="114300">
                <a:moveTo>
                  <a:pt x="57150" y="114300"/>
                </a:moveTo>
                <a:lnTo>
                  <a:pt x="0" y="0"/>
                </a:lnTo>
                <a:lnTo>
                  <a:pt x="114300" y="0"/>
                </a:lnTo>
                <a:close/>
              </a:path>
            </a:pathLst>
          </a:custGeom>
          <a:solidFill>
            <a:srgbClr val="17324D"/>
          </a:solidFill>
          <a:ln>
            <a:noFill/>
          </a:ln>
        </p:spPr>
      </p:sp>
      <p:sp>
        <p:nvSpPr>
          <p:cNvPr id="12" name="TextBox 12"/>
          <p:cNvSpPr>
            <a:spLocks noGrp="1"/>
          </p:cNvSpPr>
          <p:nvPr/>
        </p:nvSpPr>
        <p:spPr>
          <a:xfrm>
            <a:off x="634365" y="2687002"/>
            <a:ext cx="827920"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HUMAN DATA</a:t>
            </a:r>
            <a:endParaRPr sz="1050" b="1">
              <a:solidFill>
                <a:srgbClr val="17324D"/>
              </a:solidFill>
              <a:latin typeface="Arial" panose="020B0604020202020204"/>
              <a:ea typeface="Arial" panose="020B0604020202020204"/>
              <a:cs typeface="Arial" panose="020B0604020202020204"/>
            </a:endParaRPr>
          </a:p>
        </p:txBody>
      </p:sp>
      <p:sp>
        <p:nvSpPr>
          <p:cNvPr id="13" name="TextBox 13"/>
          <p:cNvSpPr>
            <a:spLocks noGrp="1"/>
          </p:cNvSpPr>
          <p:nvPr/>
        </p:nvSpPr>
        <p:spPr>
          <a:xfrm>
            <a:off x="631508" y="3005614"/>
            <a:ext cx="2192505" cy="259080"/>
          </a:xfrm>
          <a:prstGeom prst="rect">
            <a:avLst/>
          </a:prstGeom>
          <a:noFill/>
          <a:ln>
            <a:noFill/>
          </a:ln>
        </p:spPr>
        <p:txBody>
          <a:bodyPr wrap="none" lIns="0" tIns="0" rIns="0" bIns="0" anchor="t">
            <a:spAutoFit/>
          </a:bodyPr>
          <a:lstStyle/>
          <a:p>
            <a:pPr algn="l">
              <a:buNone/>
            </a:pPr>
            <a:r>
              <a:rPr sz="1275" b="1">
                <a:solidFill>
                  <a:srgbClr val="20262B"/>
                </a:solidFill>
                <a:latin typeface="Arial" panose="020B0604020202020204"/>
                <a:ea typeface="Arial" panose="020B0604020202020204"/>
                <a:cs typeface="Arial" panose="020B0604020202020204"/>
              </a:rPr>
              <a:t>Surveys and experiments</a:t>
            </a:r>
            <a:endParaRPr sz="1275" b="1">
              <a:solidFill>
                <a:srgbClr val="20262B"/>
              </a:solidFill>
              <a:latin typeface="Arial" panose="020B0604020202020204"/>
              <a:ea typeface="Arial" panose="020B0604020202020204"/>
              <a:cs typeface="Arial" panose="020B0604020202020204"/>
            </a:endParaRPr>
          </a:p>
        </p:txBody>
      </p:sp>
      <p:sp>
        <p:nvSpPr>
          <p:cNvPr id="14" name="TextBox 14"/>
          <p:cNvSpPr>
            <a:spLocks noGrp="1"/>
          </p:cNvSpPr>
          <p:nvPr/>
        </p:nvSpPr>
        <p:spPr>
          <a:xfrm>
            <a:off x="632460" y="3318510"/>
            <a:ext cx="1783080" cy="7010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Population initialization </a:t>
            </a:r>
            <a:r>
              <a:rPr sz="1200">
                <a:solidFill>
                  <a:srgbClr val="20262B"/>
                </a:solidFill>
                <a:latin typeface="Arial" panose="020B0604020202020204"/>
                <a:ea typeface="Arial" panose="020B0604020202020204"/>
                <a:cs typeface="Arial" panose="020B0604020202020204"/>
              </a:rPr>
              <a:t>Parameter calibration </a:t>
            </a:r>
            <a:r>
              <a:rPr sz="1200">
                <a:solidFill>
                  <a:srgbClr val="20262B"/>
                </a:solidFill>
                <a:latin typeface="Arial" panose="020B0604020202020204"/>
                <a:ea typeface="Arial" panose="020B0604020202020204"/>
                <a:cs typeface="Arial" panose="020B0604020202020204"/>
              </a:rPr>
              <a:t>Held-out observations</a:t>
            </a:r>
            <a:endParaRPr sz="1200">
              <a:solidFill>
                <a:srgbClr val="20262B"/>
              </a:solidFill>
              <a:latin typeface="Arial" panose="020B0604020202020204"/>
              <a:ea typeface="Arial" panose="020B0604020202020204"/>
              <a:cs typeface="Arial" panose="020B0604020202020204"/>
            </a:endParaRPr>
          </a:p>
        </p:txBody>
      </p:sp>
      <p:sp>
        <p:nvSpPr>
          <p:cNvPr id="15" name="Line 15"/>
          <p:cNvSpPr>
            <a:spLocks noGrp="1"/>
          </p:cNvSpPr>
          <p:nvPr/>
        </p:nvSpPr>
        <p:spPr>
          <a:xfrm>
            <a:off x="2571750" y="3400425"/>
            <a:ext cx="485775" cy="9525"/>
          </a:xfrm>
          <a:custGeom>
            <a:avLst/>
            <a:gdLst/>
            <a:ahLst/>
            <a:cxnLst/>
            <a:rect l="l" t="t" r="r" b="b"/>
            <a:pathLst>
              <a:path w="485775" h="9525">
                <a:moveTo>
                  <a:pt x="0" y="0"/>
                </a:moveTo>
                <a:lnTo>
                  <a:pt x="485775" y="0"/>
                </a:lnTo>
              </a:path>
            </a:pathLst>
          </a:custGeom>
          <a:noFill/>
          <a:ln w="19050">
            <a:solidFill>
              <a:srgbClr val="17324D"/>
            </a:solidFill>
          </a:ln>
        </p:spPr>
      </p:sp>
      <p:sp>
        <p:nvSpPr>
          <p:cNvPr id="16" name="Polygon 16"/>
          <p:cNvSpPr>
            <a:spLocks noGrp="1"/>
          </p:cNvSpPr>
          <p:nvPr/>
        </p:nvSpPr>
        <p:spPr>
          <a:xfrm>
            <a:off x="3048000" y="3343275"/>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18" name="Rectangle 18"/>
          <p:cNvSpPr>
            <a:spLocks noGrp="1"/>
          </p:cNvSpPr>
          <p:nvPr/>
        </p:nvSpPr>
        <p:spPr>
          <a:xfrm>
            <a:off x="3162300" y="2200275"/>
            <a:ext cx="5867400" cy="2952750"/>
          </a:xfrm>
          <a:prstGeom prst="roundRect">
            <a:avLst>
              <a:gd name="adj" fmla="val 645"/>
            </a:avLst>
          </a:prstGeom>
          <a:solidFill>
            <a:srgbClr val="FFFFFF"/>
          </a:solidFill>
          <a:ln w="19050">
            <a:solidFill>
              <a:srgbClr val="17324D"/>
            </a:solidFill>
          </a:ln>
        </p:spPr>
      </p:sp>
      <p:sp>
        <p:nvSpPr>
          <p:cNvPr id="19" name="TextBox 19"/>
          <p:cNvSpPr>
            <a:spLocks noGrp="1"/>
          </p:cNvSpPr>
          <p:nvPr/>
        </p:nvSpPr>
        <p:spPr>
          <a:xfrm>
            <a:off x="3434715" y="2439352"/>
            <a:ext cx="1268975"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HYBRID ABM GROUP</a:t>
            </a:r>
            <a:endParaRPr sz="1050" b="1">
              <a:solidFill>
                <a:srgbClr val="17324D"/>
              </a:solidFill>
              <a:latin typeface="Arial" panose="020B0604020202020204"/>
              <a:ea typeface="Arial" panose="020B0604020202020204"/>
              <a:cs typeface="Arial" panose="020B0604020202020204"/>
            </a:endParaRPr>
          </a:p>
        </p:txBody>
      </p:sp>
      <p:sp>
        <p:nvSpPr>
          <p:cNvPr id="20" name="Line 20"/>
          <p:cNvSpPr>
            <a:spLocks noGrp="1"/>
          </p:cNvSpPr>
          <p:nvPr/>
        </p:nvSpPr>
        <p:spPr>
          <a:xfrm>
            <a:off x="6096000" y="2790825"/>
            <a:ext cx="9525" cy="1704975"/>
          </a:xfrm>
          <a:custGeom>
            <a:avLst/>
            <a:gdLst/>
            <a:ahLst/>
            <a:cxnLst/>
            <a:rect l="l" t="t" r="r" b="b"/>
            <a:pathLst>
              <a:path w="9525" h="1704975">
                <a:moveTo>
                  <a:pt x="0" y="0"/>
                </a:moveTo>
                <a:lnTo>
                  <a:pt x="0" y="1704975"/>
                </a:lnTo>
              </a:path>
            </a:pathLst>
          </a:custGeom>
          <a:noFill/>
          <a:ln w="9525">
            <a:solidFill>
              <a:srgbClr val="D8DEE3"/>
            </a:solidFill>
          </a:ln>
        </p:spPr>
      </p:sp>
      <p:sp>
        <p:nvSpPr>
          <p:cNvPr id="22" name="TextBox 22"/>
          <p:cNvSpPr>
            <a:spLocks noGrp="1"/>
          </p:cNvSpPr>
          <p:nvPr/>
        </p:nvSpPr>
        <p:spPr>
          <a:xfrm>
            <a:off x="4218865" y="2991802"/>
            <a:ext cx="820569" cy="213360"/>
          </a:xfrm>
          <a:prstGeom prst="rect">
            <a:avLst/>
          </a:prstGeom>
          <a:noFill/>
          <a:ln>
            <a:noFill/>
          </a:ln>
        </p:spPr>
        <p:txBody>
          <a:bodyPr wrap="none" lIns="0" tIns="0" rIns="0" bIns="0" anchor="t">
            <a:spAutoFit/>
          </a:bodyPr>
          <a:lstStyle/>
          <a:p>
            <a:pPr algn="ctr">
              <a:buNone/>
            </a:pPr>
            <a:r>
              <a:rPr sz="1050" b="1">
                <a:solidFill>
                  <a:srgbClr val="17324D"/>
                </a:solidFill>
                <a:latin typeface="Arial" panose="020B0604020202020204"/>
                <a:ea typeface="Arial" panose="020B0604020202020204"/>
                <a:cs typeface="Arial" panose="020B0604020202020204"/>
              </a:rPr>
              <a:t>LLM ROLE 2</a:t>
            </a:r>
            <a:endParaRPr sz="1050" b="1">
              <a:solidFill>
                <a:srgbClr val="17324D"/>
              </a:solidFill>
              <a:latin typeface="Arial" panose="020B0604020202020204"/>
              <a:ea typeface="Arial" panose="020B0604020202020204"/>
              <a:cs typeface="Arial" panose="020B0604020202020204"/>
            </a:endParaRPr>
          </a:p>
        </p:txBody>
      </p:sp>
      <p:sp>
        <p:nvSpPr>
          <p:cNvPr id="23" name="TextBox 23"/>
          <p:cNvSpPr>
            <a:spLocks noGrp="1"/>
          </p:cNvSpPr>
          <p:nvPr/>
        </p:nvSpPr>
        <p:spPr>
          <a:xfrm>
            <a:off x="3732550" y="3278029"/>
            <a:ext cx="1793199" cy="320040"/>
          </a:xfrm>
          <a:prstGeom prst="rect">
            <a:avLst/>
          </a:prstGeom>
          <a:noFill/>
          <a:ln>
            <a:noFill/>
          </a:ln>
        </p:spPr>
        <p:txBody>
          <a:bodyPr wrap="none" lIns="0" tIns="0" rIns="0" bIns="0" anchor="t">
            <a:spAutoFit/>
          </a:bodyPr>
          <a:lstStyle/>
          <a:p>
            <a:pPr algn="ctr">
              <a:buNone/>
            </a:pPr>
            <a:r>
              <a:rPr sz="1575" b="1">
                <a:solidFill>
                  <a:srgbClr val="20262B"/>
                </a:solidFill>
                <a:latin typeface="Arial" panose="020B0604020202020204"/>
                <a:ea typeface="Arial" panose="020B0604020202020204"/>
                <a:cs typeface="Arial" panose="020B0604020202020204"/>
              </a:rPr>
              <a:t>LLM agent nodes</a:t>
            </a:r>
            <a:endParaRPr sz="1575" b="1">
              <a:solidFill>
                <a:srgbClr val="20262B"/>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3557778" y="3680460"/>
            <a:ext cx="2142744" cy="243840"/>
          </a:xfrm>
          <a:prstGeom prst="rect">
            <a:avLst/>
          </a:prstGeom>
          <a:noFill/>
          <a:ln>
            <a:noFill/>
          </a:ln>
        </p:spPr>
        <p:txBody>
          <a:bodyPr wrap="none" lIns="0" tIns="0" rIns="0" bIns="0" anchor="t">
            <a:spAutoFit/>
          </a:bodyPr>
          <a:lstStyle/>
          <a:p>
            <a:pPr algn="ctr">
              <a:buNone/>
            </a:pPr>
            <a:r>
              <a:rPr sz="1200">
                <a:solidFill>
                  <a:srgbClr val="20262B"/>
                </a:solidFill>
                <a:latin typeface="Arial" panose="020B0604020202020204"/>
                <a:ea typeface="Arial" panose="020B0604020202020204"/>
                <a:cs typeface="Arial" panose="020B0604020202020204"/>
              </a:rPr>
              <a:t>Natural-language messages</a:t>
            </a:r>
            <a:endParaRPr sz="1200">
              <a:solidFill>
                <a:srgbClr val="20262B"/>
              </a:solidFill>
              <a:latin typeface="Arial" panose="020B0604020202020204"/>
              <a:ea typeface="Arial" panose="020B0604020202020204"/>
              <a:cs typeface="Arial" panose="020B0604020202020204"/>
            </a:endParaRPr>
          </a:p>
        </p:txBody>
      </p:sp>
      <p:sp>
        <p:nvSpPr>
          <p:cNvPr id="25" name="TextBox 25"/>
          <p:cNvSpPr>
            <a:spLocks noGrp="1"/>
          </p:cNvSpPr>
          <p:nvPr/>
        </p:nvSpPr>
        <p:spPr>
          <a:xfrm>
            <a:off x="3549777" y="3918585"/>
            <a:ext cx="2158746" cy="243840"/>
          </a:xfrm>
          <a:prstGeom prst="rect">
            <a:avLst/>
          </a:prstGeom>
          <a:noFill/>
          <a:ln>
            <a:noFill/>
          </a:ln>
        </p:spPr>
        <p:txBody>
          <a:bodyPr wrap="none" lIns="0" tIns="0" rIns="0" bIns="0" anchor="t">
            <a:spAutoFit/>
          </a:bodyPr>
          <a:lstStyle/>
          <a:p>
            <a:pPr algn="ctr">
              <a:buNone/>
            </a:pPr>
            <a:r>
              <a:rPr sz="1200">
                <a:solidFill>
                  <a:srgbClr val="20262B"/>
                </a:solidFill>
                <a:latin typeface="Arial" panose="020B0604020202020204"/>
                <a:ea typeface="Arial" panose="020B0604020202020204"/>
                <a:cs typeface="Arial" panose="020B0604020202020204"/>
              </a:rPr>
              <a:t>Structured opinion updates</a:t>
            </a:r>
            <a:endParaRPr sz="1200">
              <a:solidFill>
                <a:srgbClr val="20262B"/>
              </a:solidFill>
              <a:latin typeface="Arial" panose="020B0604020202020204"/>
              <a:ea typeface="Arial" panose="020B0604020202020204"/>
              <a:cs typeface="Arial" panose="020B0604020202020204"/>
            </a:endParaRPr>
          </a:p>
        </p:txBody>
      </p:sp>
      <p:sp>
        <p:nvSpPr>
          <p:cNvPr id="27" name="Line 27"/>
          <p:cNvSpPr>
            <a:spLocks noGrp="1"/>
          </p:cNvSpPr>
          <p:nvPr/>
        </p:nvSpPr>
        <p:spPr>
          <a:xfrm>
            <a:off x="5572125" y="3667125"/>
            <a:ext cx="1047750" cy="9525"/>
          </a:xfrm>
          <a:custGeom>
            <a:avLst/>
            <a:gdLst/>
            <a:ahLst/>
            <a:cxnLst/>
            <a:rect l="l" t="t" r="r" b="b"/>
            <a:pathLst>
              <a:path w="1047750" h="9525">
                <a:moveTo>
                  <a:pt x="0" y="0"/>
                </a:moveTo>
                <a:lnTo>
                  <a:pt x="1047750" y="0"/>
                </a:lnTo>
              </a:path>
            </a:pathLst>
          </a:custGeom>
          <a:noFill/>
          <a:ln w="19050">
            <a:solidFill>
              <a:srgbClr val="17324D"/>
            </a:solidFill>
          </a:ln>
        </p:spPr>
      </p:sp>
      <p:sp>
        <p:nvSpPr>
          <p:cNvPr id="28" name="Polygon 28"/>
          <p:cNvSpPr>
            <a:spLocks noGrp="1"/>
          </p:cNvSpPr>
          <p:nvPr/>
        </p:nvSpPr>
        <p:spPr>
          <a:xfrm>
            <a:off x="6505575" y="3609975"/>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29" name="Polygon 29"/>
          <p:cNvSpPr>
            <a:spLocks noGrp="1"/>
          </p:cNvSpPr>
          <p:nvPr/>
        </p:nvSpPr>
        <p:spPr>
          <a:xfrm>
            <a:off x="5572125" y="3609975"/>
            <a:ext cx="114300" cy="114300"/>
          </a:xfrm>
          <a:custGeom>
            <a:avLst/>
            <a:gdLst/>
            <a:ahLst/>
            <a:cxnLst/>
            <a:rect l="l" t="t" r="r" b="b"/>
            <a:pathLst>
              <a:path w="114300" h="114300">
                <a:moveTo>
                  <a:pt x="0" y="57150"/>
                </a:moveTo>
                <a:lnTo>
                  <a:pt x="114300" y="0"/>
                </a:lnTo>
                <a:lnTo>
                  <a:pt x="114300" y="114300"/>
                </a:lnTo>
                <a:close/>
              </a:path>
            </a:pathLst>
          </a:custGeom>
          <a:solidFill>
            <a:srgbClr val="17324D"/>
          </a:solidFill>
          <a:ln>
            <a:noFill/>
          </a:ln>
        </p:spPr>
      </p:sp>
      <p:sp>
        <p:nvSpPr>
          <p:cNvPr id="30" name="TextBox 30"/>
          <p:cNvSpPr>
            <a:spLocks noGrp="1"/>
          </p:cNvSpPr>
          <p:nvPr/>
        </p:nvSpPr>
        <p:spPr>
          <a:xfrm>
            <a:off x="5722822" y="3438049"/>
            <a:ext cx="746355" cy="198120"/>
          </a:xfrm>
          <a:prstGeom prst="rect">
            <a:avLst/>
          </a:prstGeom>
          <a:noFill/>
          <a:ln>
            <a:noFill/>
          </a:ln>
        </p:spPr>
        <p:txBody>
          <a:bodyPr wrap="none" lIns="0" tIns="0" rIns="0" bIns="0" anchor="t">
            <a:spAutoFit/>
          </a:bodyPr>
          <a:lstStyle/>
          <a:p>
            <a:pPr algn="ctr">
              <a:buNone/>
            </a:pPr>
            <a:r>
              <a:rPr sz="975">
                <a:solidFill>
                  <a:srgbClr val="7A8792"/>
                </a:solidFill>
                <a:latin typeface="Arial" panose="020B0604020202020204"/>
                <a:ea typeface="Arial" panose="020B0604020202020204"/>
                <a:cs typeface="Arial" panose="020B0604020202020204"/>
              </a:rPr>
              <a:t>interaction</a:t>
            </a:r>
            <a:endParaRPr sz="975">
              <a:solidFill>
                <a:srgbClr val="7A8792"/>
              </a:solidFill>
              <a:latin typeface="Arial" panose="020B0604020202020204"/>
              <a:ea typeface="Arial" panose="020B0604020202020204"/>
              <a:cs typeface="Arial" panose="020B0604020202020204"/>
            </a:endParaRPr>
          </a:p>
        </p:txBody>
      </p:sp>
      <p:sp>
        <p:nvSpPr>
          <p:cNvPr id="32" name="TextBox 32"/>
          <p:cNvSpPr>
            <a:spLocks noGrp="1"/>
          </p:cNvSpPr>
          <p:nvPr/>
        </p:nvSpPr>
        <p:spPr>
          <a:xfrm>
            <a:off x="7038626" y="2991802"/>
            <a:ext cx="1048448" cy="213360"/>
          </a:xfrm>
          <a:prstGeom prst="rect">
            <a:avLst/>
          </a:prstGeom>
          <a:noFill/>
          <a:ln>
            <a:noFill/>
          </a:ln>
        </p:spPr>
        <p:txBody>
          <a:bodyPr wrap="none" lIns="0" tIns="0" rIns="0" bIns="0" anchor="t">
            <a:spAutoFit/>
          </a:bodyPr>
          <a:lstStyle/>
          <a:p>
            <a:pPr algn="ctr">
              <a:buNone/>
            </a:pPr>
            <a:r>
              <a:rPr sz="1050" b="1">
                <a:solidFill>
                  <a:srgbClr val="17324D"/>
                </a:solidFill>
                <a:latin typeface="Arial" panose="020B0604020202020204"/>
                <a:ea typeface="Arial" panose="020B0604020202020204"/>
                <a:cs typeface="Arial" panose="020B0604020202020204"/>
              </a:rPr>
              <a:t>EXPLICIT RULES</a:t>
            </a:r>
            <a:endParaRPr sz="1050" b="1">
              <a:solidFill>
                <a:srgbClr val="17324D"/>
              </a:solidFill>
              <a:latin typeface="Arial" panose="020B0604020202020204"/>
              <a:ea typeface="Arial" panose="020B0604020202020204"/>
              <a:cs typeface="Arial" panose="020B0604020202020204"/>
            </a:endParaRPr>
          </a:p>
        </p:txBody>
      </p:sp>
      <p:sp>
        <p:nvSpPr>
          <p:cNvPr id="33" name="TextBox 33"/>
          <p:cNvSpPr>
            <a:spLocks noGrp="1"/>
          </p:cNvSpPr>
          <p:nvPr/>
        </p:nvSpPr>
        <p:spPr>
          <a:xfrm>
            <a:off x="6567013" y="3278029"/>
            <a:ext cx="1991674" cy="320040"/>
          </a:xfrm>
          <a:prstGeom prst="rect">
            <a:avLst/>
          </a:prstGeom>
          <a:noFill/>
          <a:ln>
            <a:noFill/>
          </a:ln>
        </p:spPr>
        <p:txBody>
          <a:bodyPr wrap="none" lIns="0" tIns="0" rIns="0" bIns="0" anchor="t">
            <a:spAutoFit/>
          </a:bodyPr>
          <a:lstStyle/>
          <a:p>
            <a:pPr algn="ctr">
              <a:buNone/>
            </a:pPr>
            <a:r>
              <a:rPr sz="1575" b="1">
                <a:solidFill>
                  <a:srgbClr val="20262B"/>
                </a:solidFill>
                <a:latin typeface="Arial" panose="020B0604020202020204"/>
                <a:ea typeface="Arial" panose="020B0604020202020204"/>
                <a:cs typeface="Arial" panose="020B0604020202020204"/>
              </a:rPr>
              <a:t>Rule-based agents</a:t>
            </a:r>
            <a:endParaRPr sz="1575" b="1">
              <a:solidFill>
                <a:srgbClr val="20262B"/>
              </a:solidFill>
              <a:latin typeface="Arial" panose="020B0604020202020204"/>
              <a:ea typeface="Arial" panose="020B0604020202020204"/>
              <a:cs typeface="Arial" panose="020B0604020202020204"/>
            </a:endParaRPr>
          </a:p>
        </p:txBody>
      </p:sp>
      <p:sp>
        <p:nvSpPr>
          <p:cNvPr id="34" name="TextBox 34"/>
          <p:cNvSpPr>
            <a:spLocks noGrp="1"/>
          </p:cNvSpPr>
          <p:nvPr/>
        </p:nvSpPr>
        <p:spPr>
          <a:xfrm>
            <a:off x="6471476" y="3680460"/>
            <a:ext cx="2182749" cy="243840"/>
          </a:xfrm>
          <a:prstGeom prst="rect">
            <a:avLst/>
          </a:prstGeom>
          <a:noFill/>
          <a:ln>
            <a:noFill/>
          </a:ln>
        </p:spPr>
        <p:txBody>
          <a:bodyPr wrap="none" lIns="0" tIns="0" rIns="0" bIns="0" anchor="t">
            <a:spAutoFit/>
          </a:bodyPr>
          <a:lstStyle/>
          <a:p>
            <a:pPr algn="ctr">
              <a:buNone/>
            </a:pPr>
            <a:r>
              <a:rPr sz="1200">
                <a:solidFill>
                  <a:srgbClr val="20262B"/>
                </a:solidFill>
                <a:latin typeface="Arial" panose="020B0604020202020204"/>
                <a:ea typeface="Arial" panose="020B0604020202020204"/>
                <a:cs typeface="Arial" panose="020B0604020202020204"/>
              </a:rPr>
              <a:t>Opinion-dynamics equations</a:t>
            </a:r>
            <a:endParaRPr sz="1200">
              <a:solidFill>
                <a:srgbClr val="20262B"/>
              </a:solidFill>
              <a:latin typeface="Arial" panose="020B0604020202020204"/>
              <a:ea typeface="Arial" panose="020B0604020202020204"/>
              <a:cs typeface="Arial" panose="020B0604020202020204"/>
            </a:endParaRPr>
          </a:p>
        </p:txBody>
      </p:sp>
      <p:sp>
        <p:nvSpPr>
          <p:cNvPr id="35" name="TextBox 35"/>
          <p:cNvSpPr>
            <a:spLocks noGrp="1"/>
          </p:cNvSpPr>
          <p:nvPr/>
        </p:nvSpPr>
        <p:spPr>
          <a:xfrm>
            <a:off x="6387465" y="3918585"/>
            <a:ext cx="2350770" cy="243840"/>
          </a:xfrm>
          <a:prstGeom prst="rect">
            <a:avLst/>
          </a:prstGeom>
          <a:noFill/>
          <a:ln>
            <a:noFill/>
          </a:ln>
        </p:spPr>
        <p:txBody>
          <a:bodyPr wrap="none" lIns="0" tIns="0" rIns="0" bIns="0" anchor="t">
            <a:spAutoFit/>
          </a:bodyPr>
          <a:lstStyle/>
          <a:p>
            <a:pPr algn="ctr">
              <a:buNone/>
            </a:pPr>
            <a:r>
              <a:rPr sz="1200">
                <a:solidFill>
                  <a:srgbClr val="20262B"/>
                </a:solidFill>
                <a:latin typeface="Arial" panose="020B0604020202020204"/>
                <a:ea typeface="Arial" panose="020B0604020202020204"/>
                <a:cs typeface="Arial" panose="020B0604020202020204"/>
              </a:rPr>
              <a:t>Human-calibrated parameters</a:t>
            </a:r>
            <a:endParaRPr sz="1200">
              <a:solidFill>
                <a:srgbClr val="20262B"/>
              </a:solidFill>
              <a:latin typeface="Arial" panose="020B0604020202020204"/>
              <a:ea typeface="Arial" panose="020B0604020202020204"/>
              <a:cs typeface="Arial" panose="020B0604020202020204"/>
            </a:endParaRPr>
          </a:p>
        </p:txBody>
      </p:sp>
      <p:sp>
        <p:nvSpPr>
          <p:cNvPr id="37" name="Line 37"/>
          <p:cNvSpPr>
            <a:spLocks noGrp="1"/>
          </p:cNvSpPr>
          <p:nvPr/>
        </p:nvSpPr>
        <p:spPr>
          <a:xfrm>
            <a:off x="3733800" y="4495800"/>
            <a:ext cx="4724400" cy="9525"/>
          </a:xfrm>
          <a:custGeom>
            <a:avLst/>
            <a:gdLst/>
            <a:ahLst/>
            <a:cxnLst/>
            <a:rect l="l" t="t" r="r" b="b"/>
            <a:pathLst>
              <a:path w="4724400" h="9525">
                <a:moveTo>
                  <a:pt x="0" y="0"/>
                </a:moveTo>
                <a:lnTo>
                  <a:pt x="4724400" y="0"/>
                </a:lnTo>
              </a:path>
            </a:pathLst>
          </a:custGeom>
          <a:noFill/>
          <a:ln w="9525">
            <a:solidFill>
              <a:srgbClr val="D8DEE3"/>
            </a:solidFill>
          </a:ln>
        </p:spPr>
      </p:sp>
      <p:sp>
        <p:nvSpPr>
          <p:cNvPr id="38" name="TextBox 38"/>
          <p:cNvSpPr>
            <a:spLocks noGrp="1"/>
          </p:cNvSpPr>
          <p:nvPr/>
        </p:nvSpPr>
        <p:spPr>
          <a:xfrm>
            <a:off x="3493237" y="4709160"/>
            <a:ext cx="5205527" cy="243840"/>
          </a:xfrm>
          <a:prstGeom prst="rect">
            <a:avLst/>
          </a:prstGeom>
          <a:noFill/>
          <a:ln>
            <a:noFill/>
          </a:ln>
        </p:spPr>
        <p:txBody>
          <a:bodyPr wrap="none" lIns="0" tIns="0" rIns="0" bIns="0" anchor="t">
            <a:spAutoFit/>
          </a:bodyPr>
          <a:lstStyle/>
          <a:p>
            <a:pPr algn="ctr">
              <a:buNone/>
            </a:pPr>
            <a:r>
              <a:rPr sz="1200" b="1">
                <a:solidFill>
                  <a:srgbClr val="17324D"/>
                </a:solidFill>
                <a:latin typeface="Arial" panose="020B0604020202020204"/>
                <a:ea typeface="Arial" panose="020B0604020202020204"/>
                <a:cs typeface="Arial" panose="020B0604020202020204"/>
              </a:rPr>
              <a:t>Update opinion · share information · advance to the next round</a:t>
            </a:r>
            <a:endParaRPr sz="1200" b="1">
              <a:solidFill>
                <a:srgbClr val="17324D"/>
              </a:solidFill>
              <a:latin typeface="Arial" panose="020B0604020202020204"/>
              <a:ea typeface="Arial" panose="020B0604020202020204"/>
              <a:cs typeface="Arial" panose="020B0604020202020204"/>
            </a:endParaRPr>
          </a:p>
        </p:txBody>
      </p:sp>
      <p:sp>
        <p:nvSpPr>
          <p:cNvPr id="40" name="Line 40"/>
          <p:cNvSpPr>
            <a:spLocks noGrp="1"/>
          </p:cNvSpPr>
          <p:nvPr/>
        </p:nvSpPr>
        <p:spPr>
          <a:xfrm>
            <a:off x="9029700" y="3400425"/>
            <a:ext cx="466725" cy="9525"/>
          </a:xfrm>
          <a:custGeom>
            <a:avLst/>
            <a:gdLst/>
            <a:ahLst/>
            <a:cxnLst/>
            <a:rect l="l" t="t" r="r" b="b"/>
            <a:pathLst>
              <a:path w="466725" h="9525">
                <a:moveTo>
                  <a:pt x="0" y="0"/>
                </a:moveTo>
                <a:lnTo>
                  <a:pt x="466725" y="0"/>
                </a:lnTo>
              </a:path>
            </a:pathLst>
          </a:custGeom>
          <a:noFill/>
          <a:ln w="19050">
            <a:solidFill>
              <a:srgbClr val="17324D"/>
            </a:solidFill>
          </a:ln>
        </p:spPr>
      </p:sp>
      <p:sp>
        <p:nvSpPr>
          <p:cNvPr id="41" name="Polygon 41"/>
          <p:cNvSpPr>
            <a:spLocks noGrp="1"/>
          </p:cNvSpPr>
          <p:nvPr/>
        </p:nvSpPr>
        <p:spPr>
          <a:xfrm>
            <a:off x="9486900" y="3343275"/>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42" name="TextBox 42"/>
          <p:cNvSpPr>
            <a:spLocks noGrp="1"/>
          </p:cNvSpPr>
          <p:nvPr/>
        </p:nvSpPr>
        <p:spPr>
          <a:xfrm>
            <a:off x="9835515" y="2687002"/>
            <a:ext cx="791166"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VALIDATION</a:t>
            </a:r>
            <a:endParaRPr sz="1050" b="1">
              <a:solidFill>
                <a:srgbClr val="17324D"/>
              </a:solidFill>
              <a:latin typeface="Arial" panose="020B0604020202020204"/>
              <a:ea typeface="Arial" panose="020B0604020202020204"/>
              <a:cs typeface="Arial" panose="020B0604020202020204"/>
            </a:endParaRPr>
          </a:p>
        </p:txBody>
      </p:sp>
      <p:sp>
        <p:nvSpPr>
          <p:cNvPr id="43" name="TextBox 43"/>
          <p:cNvSpPr>
            <a:spLocks noGrp="1"/>
          </p:cNvSpPr>
          <p:nvPr/>
        </p:nvSpPr>
        <p:spPr>
          <a:xfrm>
            <a:off x="9832658" y="3005614"/>
            <a:ext cx="1799756" cy="259080"/>
          </a:xfrm>
          <a:prstGeom prst="rect">
            <a:avLst/>
          </a:prstGeom>
          <a:noFill/>
          <a:ln>
            <a:noFill/>
          </a:ln>
        </p:spPr>
        <p:txBody>
          <a:bodyPr wrap="none" lIns="0" tIns="0" rIns="0" bIns="0" anchor="t">
            <a:spAutoFit/>
          </a:bodyPr>
          <a:lstStyle/>
          <a:p>
            <a:pPr algn="l">
              <a:buNone/>
            </a:pPr>
            <a:r>
              <a:rPr sz="1275" b="1">
                <a:solidFill>
                  <a:srgbClr val="20262B"/>
                </a:solidFill>
                <a:latin typeface="Arial" panose="020B0604020202020204"/>
                <a:ea typeface="Arial" panose="020B0604020202020204"/>
                <a:cs typeface="Arial" panose="020B0604020202020204"/>
              </a:rPr>
              <a:t>Compare predictions</a:t>
            </a:r>
            <a:endParaRPr sz="1275" b="1">
              <a:solidFill>
                <a:srgbClr val="20262B"/>
              </a:solidFill>
              <a:latin typeface="Arial" panose="020B0604020202020204"/>
              <a:ea typeface="Arial" panose="020B0604020202020204"/>
              <a:cs typeface="Arial" panose="020B0604020202020204"/>
            </a:endParaRPr>
          </a:p>
        </p:txBody>
      </p:sp>
      <p:sp>
        <p:nvSpPr>
          <p:cNvPr id="44" name="TextBox 44"/>
          <p:cNvSpPr>
            <a:spLocks noGrp="1"/>
          </p:cNvSpPr>
          <p:nvPr/>
        </p:nvSpPr>
        <p:spPr>
          <a:xfrm>
            <a:off x="9833610" y="3318510"/>
            <a:ext cx="1501140" cy="9296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Micro-level updates </a:t>
            </a:r>
            <a:r>
              <a:rPr sz="1200">
                <a:solidFill>
                  <a:srgbClr val="20262B"/>
                </a:solidFill>
                <a:latin typeface="Arial" panose="020B0604020202020204"/>
                <a:ea typeface="Arial" panose="020B0604020202020204"/>
                <a:cs typeface="Arial" panose="020B0604020202020204"/>
              </a:rPr>
              <a:t>Sharing behavior </a:t>
            </a:r>
            <a:r>
              <a:rPr sz="1200">
                <a:solidFill>
                  <a:srgbClr val="20262B"/>
                </a:solidFill>
                <a:latin typeface="Arial" panose="020B0604020202020204"/>
                <a:ea typeface="Arial" panose="020B0604020202020204"/>
                <a:cs typeface="Arial" panose="020B0604020202020204"/>
              </a:rPr>
              <a:t>Group distributions </a:t>
            </a:r>
            <a:r>
              <a:rPr sz="1200">
                <a:solidFill>
                  <a:srgbClr val="20262B"/>
                </a:solidFill>
                <a:latin typeface="Arial" panose="020B0604020202020204"/>
                <a:ea typeface="Arial" panose="020B0604020202020204"/>
                <a:cs typeface="Arial" panose="020B0604020202020204"/>
              </a:rPr>
              <a:t>Held-out issues</a:t>
            </a:r>
            <a:endParaRPr sz="1200">
              <a:solidFill>
                <a:srgbClr val="20262B"/>
              </a:solidFill>
              <a:latin typeface="Arial" panose="020B0604020202020204"/>
              <a:ea typeface="Arial" panose="020B0604020202020204"/>
              <a:cs typeface="Arial" panose="020B0604020202020204"/>
            </a:endParaRPr>
          </a:p>
        </p:txBody>
      </p:sp>
      <p:sp>
        <p:nvSpPr>
          <p:cNvPr id="46" name="TextBox 46"/>
          <p:cNvSpPr>
            <a:spLocks noGrp="1"/>
          </p:cNvSpPr>
          <p:nvPr/>
        </p:nvSpPr>
        <p:spPr>
          <a:xfrm>
            <a:off x="670560" y="5547360"/>
            <a:ext cx="9540240" cy="4724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The model retains the ABM population, network, time, and interaction environment. Some agents implement message and update </a:t>
            </a:r>
            <a:r>
              <a:rPr sz="1200">
                <a:solidFill>
                  <a:srgbClr val="20262B"/>
                </a:solidFill>
                <a:latin typeface="Arial" panose="020B0604020202020204"/>
                <a:ea typeface="Arial" panose="020B0604020202020204"/>
                <a:cs typeface="Arial" panose="020B0604020202020204"/>
              </a:rPr>
              <a:t>functions with an LLM; others use opinion-dynamics equations. Both types share the same input–output interfaces.</a:t>
            </a:r>
            <a:endParaRPr sz="1200">
              <a:solidFill>
                <a:srgbClr val="20262B"/>
              </a:solidFill>
              <a:latin typeface="Arial" panose="020B0604020202020204"/>
              <a:ea typeface="Arial" panose="020B0604020202020204"/>
              <a:cs typeface="Arial" panose="020B0604020202020204"/>
            </a:endParaRPr>
          </a:p>
        </p:txBody>
      </p:sp>
      <p:sp>
        <p:nvSpPr>
          <p:cNvPr id="48" name="TextBox 48"/>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07</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58165" y="305752"/>
            <a:ext cx="1261624"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RESEARCH METHOD</a:t>
            </a:r>
            <a:endParaRPr sz="1050" b="1">
              <a:solidFill>
                <a:srgbClr val="17324D"/>
              </a:solidFill>
              <a:latin typeface="Arial" panose="020B0604020202020204"/>
              <a:ea typeface="Arial" panose="020B0604020202020204"/>
              <a:cs typeface="Arial" panose="020B0604020202020204"/>
            </a:endParaRPr>
          </a:p>
        </p:txBody>
      </p:sp>
      <p:sp>
        <p:nvSpPr>
          <p:cNvPr id="4" name="TextBox 4"/>
          <p:cNvSpPr>
            <a:spLocks noGrp="1"/>
          </p:cNvSpPr>
          <p:nvPr/>
        </p:nvSpPr>
        <p:spPr>
          <a:xfrm>
            <a:off x="541020" y="521970"/>
            <a:ext cx="4446308"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Three Behavioral Functions</a:t>
            </a:r>
            <a:endParaRPr sz="2400" b="1">
              <a:solidFill>
                <a:srgbClr val="20262B"/>
              </a:solidFill>
              <a:latin typeface="Arial" panose="020B0604020202020204"/>
              <a:ea typeface="Arial" panose="020B0604020202020204"/>
              <a:cs typeface="Arial" panose="020B0604020202020204"/>
            </a:endParaRPr>
          </a:p>
        </p:txBody>
      </p:sp>
      <p:sp>
        <p:nvSpPr>
          <p:cNvPr id="5" name="Line 5"/>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6" name="Rectangle 6"/>
          <p:cNvSpPr>
            <a:spLocks noGrp="1"/>
          </p:cNvSpPr>
          <p:nvPr/>
        </p:nvSpPr>
        <p:spPr>
          <a:xfrm>
            <a:off x="571500" y="952500"/>
            <a:ext cx="1104900" cy="28575"/>
          </a:xfrm>
          <a:prstGeom prst="rect">
            <a:avLst/>
          </a:prstGeom>
          <a:solidFill>
            <a:srgbClr val="17324D"/>
          </a:solidFill>
          <a:ln>
            <a:noFill/>
          </a:ln>
        </p:spPr>
      </p:sp>
      <p:sp>
        <p:nvSpPr>
          <p:cNvPr id="8" name="TextBox 8"/>
          <p:cNvSpPr>
            <a:spLocks noGrp="1"/>
          </p:cNvSpPr>
          <p:nvPr/>
        </p:nvSpPr>
        <p:spPr>
          <a:xfrm>
            <a:off x="664845" y="1441132"/>
            <a:ext cx="2398405" cy="335280"/>
          </a:xfrm>
          <a:prstGeom prst="rect">
            <a:avLst/>
          </a:prstGeom>
          <a:noFill/>
          <a:ln>
            <a:noFill/>
          </a:ln>
        </p:spPr>
        <p:txBody>
          <a:bodyPr wrap="none" lIns="0" tIns="0" rIns="0" bIns="0" anchor="t">
            <a:spAutoFit/>
          </a:bodyPr>
          <a:lstStyle/>
          <a:p>
            <a:pPr algn="l">
              <a:buNone/>
            </a:pPr>
            <a:r>
              <a:rPr sz="1650" b="1">
                <a:solidFill>
                  <a:srgbClr val="17324D"/>
                </a:solidFill>
                <a:latin typeface="Arial" panose="020B0604020202020204"/>
                <a:ea typeface="Arial" panose="020B0604020202020204"/>
                <a:cs typeface="Arial" panose="020B0604020202020204"/>
              </a:rPr>
              <a:t>1 · Message function</a:t>
            </a:r>
            <a:endParaRPr sz="1650" b="1">
              <a:solidFill>
                <a:srgbClr val="17324D"/>
              </a:solidFill>
              <a:latin typeface="Arial" panose="020B0604020202020204"/>
              <a:ea typeface="Arial" panose="020B0604020202020204"/>
              <a:cs typeface="Arial" panose="020B0604020202020204"/>
            </a:endParaRPr>
          </a:p>
        </p:txBody>
      </p:sp>
      <p:pic>
        <p:nvPicPr>
          <p:cNvPr id="38" name="Image 9"/>
          <p:cNvPicPr>
            <a:picLocks noChangeAspect="1"/>
          </p:cNvPicPr>
          <p:nvPr/>
        </p:nvPicPr>
        <p:blipFill>
          <a:blip r:embed="rId1"/>
          <a:stretch>
            <a:fillRect/>
          </a:stretch>
        </p:blipFill>
        <p:spPr>
          <a:xfrm>
            <a:off x="2952750" y="1477895"/>
            <a:ext cx="3905250" cy="320810"/>
          </a:xfrm>
          <a:prstGeom prst="rect">
            <a:avLst/>
          </a:prstGeom>
        </p:spPr>
      </p:pic>
      <p:sp>
        <p:nvSpPr>
          <p:cNvPr id="10" name="TextBox 10"/>
          <p:cNvSpPr>
            <a:spLocks noGrp="1"/>
          </p:cNvSpPr>
          <p:nvPr/>
        </p:nvSpPr>
        <p:spPr>
          <a:xfrm>
            <a:off x="7318058" y="1395889"/>
            <a:ext cx="4031933" cy="497205"/>
          </a:xfrm>
          <a:prstGeom prst="rect">
            <a:avLst/>
          </a:prstGeom>
          <a:noFill/>
          <a:ln>
            <a:noFill/>
          </a:ln>
        </p:spPr>
        <p:txBody>
          <a:bodyPr wrap="square" lIns="0" tIns="0" rIns="0" bIns="0" anchor="t"/>
          <a:lstStyle/>
          <a:p>
            <a:pPr algn="l">
              <a:lnSpc>
                <a:spcPts val="1875"/>
              </a:lnSpc>
              <a:buNone/>
            </a:pPr>
            <a:r>
              <a:rPr sz="1275">
                <a:solidFill>
                  <a:srgbClr val="20262B"/>
                </a:solidFill>
                <a:latin typeface="Arial" panose="020B0604020202020204"/>
                <a:ea typeface="Arial" panose="020B0604020202020204"/>
                <a:cs typeface="Arial" panose="020B0604020202020204"/>
              </a:rPr>
              <a:t>Determines how an agent’s current state becomes </a:t>
            </a:r>
            <a:r>
              <a:rPr sz="1275">
                <a:solidFill>
                  <a:srgbClr val="20262B"/>
                </a:solidFill>
                <a:latin typeface="Arial" panose="020B0604020202020204"/>
                <a:ea typeface="Arial" panose="020B0604020202020204"/>
                <a:cs typeface="Arial" panose="020B0604020202020204"/>
              </a:rPr>
              <a:t>a transmissible natural-language message.</a:t>
            </a:r>
            <a:endParaRPr sz="1275">
              <a:solidFill>
                <a:srgbClr val="20262B"/>
              </a:solidFill>
              <a:latin typeface="Arial" panose="020B0604020202020204"/>
              <a:ea typeface="Arial" panose="020B0604020202020204"/>
              <a:cs typeface="Arial" panose="020B0604020202020204"/>
            </a:endParaRPr>
          </a:p>
        </p:txBody>
      </p:sp>
      <p:sp>
        <p:nvSpPr>
          <p:cNvPr id="11" name="Line 11"/>
          <p:cNvSpPr>
            <a:spLocks noGrp="1"/>
          </p:cNvSpPr>
          <p:nvPr/>
        </p:nvSpPr>
        <p:spPr>
          <a:xfrm>
            <a:off x="685800" y="2190750"/>
            <a:ext cx="10820400" cy="9525"/>
          </a:xfrm>
          <a:custGeom>
            <a:avLst/>
            <a:gdLst/>
            <a:ahLst/>
            <a:cxnLst/>
            <a:rect l="l" t="t" r="r" b="b"/>
            <a:pathLst>
              <a:path w="10820400" h="9525">
                <a:moveTo>
                  <a:pt x="0" y="0"/>
                </a:moveTo>
                <a:lnTo>
                  <a:pt x="10820400" y="0"/>
                </a:lnTo>
              </a:path>
            </a:pathLst>
          </a:custGeom>
          <a:noFill/>
          <a:ln w="9525">
            <a:solidFill>
              <a:srgbClr val="D8DEE3"/>
            </a:solidFill>
          </a:ln>
        </p:spPr>
      </p:sp>
      <p:sp>
        <p:nvSpPr>
          <p:cNvPr id="13" name="TextBox 13"/>
          <p:cNvSpPr>
            <a:spLocks noGrp="1"/>
          </p:cNvSpPr>
          <p:nvPr/>
        </p:nvSpPr>
        <p:spPr>
          <a:xfrm>
            <a:off x="664845" y="2698432"/>
            <a:ext cx="2490816" cy="335280"/>
          </a:xfrm>
          <a:prstGeom prst="rect">
            <a:avLst/>
          </a:prstGeom>
          <a:noFill/>
          <a:ln>
            <a:noFill/>
          </a:ln>
        </p:spPr>
        <p:txBody>
          <a:bodyPr wrap="none" lIns="0" tIns="0" rIns="0" bIns="0" anchor="t">
            <a:spAutoFit/>
          </a:bodyPr>
          <a:lstStyle/>
          <a:p>
            <a:pPr algn="l">
              <a:buNone/>
            </a:pPr>
            <a:r>
              <a:rPr sz="1650" b="1">
                <a:solidFill>
                  <a:srgbClr val="17324D"/>
                </a:solidFill>
                <a:latin typeface="Arial" panose="020B0604020202020204"/>
                <a:ea typeface="Arial" panose="020B0604020202020204"/>
                <a:cs typeface="Arial" panose="020B0604020202020204"/>
              </a:rPr>
              <a:t>2 · Selection function</a:t>
            </a:r>
            <a:endParaRPr sz="1650" b="1">
              <a:solidFill>
                <a:srgbClr val="17324D"/>
              </a:solidFill>
              <a:latin typeface="Arial" panose="020B0604020202020204"/>
              <a:ea typeface="Arial" panose="020B0604020202020204"/>
              <a:cs typeface="Arial" panose="020B0604020202020204"/>
            </a:endParaRPr>
          </a:p>
        </p:txBody>
      </p:sp>
      <p:pic>
        <p:nvPicPr>
          <p:cNvPr id="42" name="Image 14"/>
          <p:cNvPicPr>
            <a:picLocks noChangeAspect="1"/>
          </p:cNvPicPr>
          <p:nvPr/>
        </p:nvPicPr>
        <p:blipFill>
          <a:blip r:embed="rId2"/>
          <a:stretch>
            <a:fillRect/>
          </a:stretch>
        </p:blipFill>
        <p:spPr>
          <a:xfrm>
            <a:off x="2952750" y="2736141"/>
            <a:ext cx="3905250" cy="318919"/>
          </a:xfrm>
          <a:prstGeom prst="rect">
            <a:avLst/>
          </a:prstGeom>
        </p:spPr>
      </p:pic>
      <p:sp>
        <p:nvSpPr>
          <p:cNvPr id="15" name="TextBox 15"/>
          <p:cNvSpPr>
            <a:spLocks noGrp="1"/>
          </p:cNvSpPr>
          <p:nvPr/>
        </p:nvSpPr>
        <p:spPr>
          <a:xfrm>
            <a:off x="7318058" y="2653189"/>
            <a:ext cx="3675698" cy="497205"/>
          </a:xfrm>
          <a:prstGeom prst="rect">
            <a:avLst/>
          </a:prstGeom>
          <a:noFill/>
          <a:ln>
            <a:noFill/>
          </a:ln>
        </p:spPr>
        <p:txBody>
          <a:bodyPr wrap="square" lIns="0" tIns="0" rIns="0" bIns="0" anchor="t"/>
          <a:lstStyle/>
          <a:p>
            <a:pPr algn="l">
              <a:lnSpc>
                <a:spcPts val="1875"/>
              </a:lnSpc>
              <a:buNone/>
            </a:pPr>
            <a:r>
              <a:rPr sz="1275">
                <a:solidFill>
                  <a:srgbClr val="20262B"/>
                </a:solidFill>
                <a:latin typeface="Arial" panose="020B0604020202020204"/>
                <a:ea typeface="Arial" panose="020B0604020202020204"/>
                <a:cs typeface="Arial" panose="020B0604020202020204"/>
              </a:rPr>
              <a:t>Determines which sources and messages enter </a:t>
            </a:r>
            <a:r>
              <a:rPr sz="1275">
                <a:solidFill>
                  <a:srgbClr val="20262B"/>
                </a:solidFill>
                <a:latin typeface="Arial" panose="020B0604020202020204"/>
                <a:ea typeface="Arial" panose="020B0604020202020204"/>
                <a:cs typeface="Arial" panose="020B0604020202020204"/>
              </a:rPr>
              <a:t>the agent’s actual exposure set.</a:t>
            </a:r>
            <a:endParaRPr sz="1275">
              <a:solidFill>
                <a:srgbClr val="20262B"/>
              </a:solidFill>
              <a:latin typeface="Arial" panose="020B0604020202020204"/>
              <a:ea typeface="Arial" panose="020B0604020202020204"/>
              <a:cs typeface="Arial" panose="020B0604020202020204"/>
            </a:endParaRPr>
          </a:p>
        </p:txBody>
      </p:sp>
      <p:sp>
        <p:nvSpPr>
          <p:cNvPr id="16" name="Line 16"/>
          <p:cNvSpPr>
            <a:spLocks noGrp="1"/>
          </p:cNvSpPr>
          <p:nvPr/>
        </p:nvSpPr>
        <p:spPr>
          <a:xfrm>
            <a:off x="685800" y="3448050"/>
            <a:ext cx="10820400" cy="9525"/>
          </a:xfrm>
          <a:custGeom>
            <a:avLst/>
            <a:gdLst/>
            <a:ahLst/>
            <a:cxnLst/>
            <a:rect l="l" t="t" r="r" b="b"/>
            <a:pathLst>
              <a:path w="10820400" h="9525">
                <a:moveTo>
                  <a:pt x="0" y="0"/>
                </a:moveTo>
                <a:lnTo>
                  <a:pt x="10820400" y="0"/>
                </a:lnTo>
              </a:path>
            </a:pathLst>
          </a:custGeom>
          <a:noFill/>
          <a:ln w="9525">
            <a:solidFill>
              <a:srgbClr val="D8DEE3"/>
            </a:solidFill>
          </a:ln>
        </p:spPr>
      </p:sp>
      <p:sp>
        <p:nvSpPr>
          <p:cNvPr id="18" name="TextBox 18"/>
          <p:cNvSpPr>
            <a:spLocks noGrp="1"/>
          </p:cNvSpPr>
          <p:nvPr/>
        </p:nvSpPr>
        <p:spPr>
          <a:xfrm>
            <a:off x="664845" y="3955732"/>
            <a:ext cx="2225133" cy="335280"/>
          </a:xfrm>
          <a:prstGeom prst="rect">
            <a:avLst/>
          </a:prstGeom>
          <a:noFill/>
          <a:ln>
            <a:noFill/>
          </a:ln>
        </p:spPr>
        <p:txBody>
          <a:bodyPr wrap="none" lIns="0" tIns="0" rIns="0" bIns="0" anchor="t">
            <a:spAutoFit/>
          </a:bodyPr>
          <a:lstStyle/>
          <a:p>
            <a:pPr algn="l">
              <a:buNone/>
            </a:pPr>
            <a:r>
              <a:rPr sz="1650" b="1">
                <a:solidFill>
                  <a:srgbClr val="17324D"/>
                </a:solidFill>
                <a:latin typeface="Arial" panose="020B0604020202020204"/>
                <a:ea typeface="Arial" panose="020B0604020202020204"/>
                <a:cs typeface="Arial" panose="020B0604020202020204"/>
              </a:rPr>
              <a:t>3 · Update function</a:t>
            </a:r>
            <a:endParaRPr sz="1650" b="1">
              <a:solidFill>
                <a:srgbClr val="17324D"/>
              </a:solidFill>
              <a:latin typeface="Arial" panose="020B0604020202020204"/>
              <a:ea typeface="Arial" panose="020B0604020202020204"/>
              <a:cs typeface="Arial" panose="020B0604020202020204"/>
            </a:endParaRPr>
          </a:p>
        </p:txBody>
      </p:sp>
      <p:pic>
        <p:nvPicPr>
          <p:cNvPr id="46" name="Image 19"/>
          <p:cNvPicPr>
            <a:picLocks noChangeAspect="1"/>
          </p:cNvPicPr>
          <p:nvPr/>
        </p:nvPicPr>
        <p:blipFill>
          <a:blip r:embed="rId3"/>
          <a:stretch>
            <a:fillRect/>
          </a:stretch>
        </p:blipFill>
        <p:spPr>
          <a:xfrm>
            <a:off x="2800350" y="4029486"/>
            <a:ext cx="4210050" cy="246828"/>
          </a:xfrm>
          <a:prstGeom prst="rect">
            <a:avLst/>
          </a:prstGeom>
        </p:spPr>
      </p:pic>
      <p:sp>
        <p:nvSpPr>
          <p:cNvPr id="20" name="TextBox 20"/>
          <p:cNvSpPr>
            <a:spLocks noGrp="1"/>
          </p:cNvSpPr>
          <p:nvPr/>
        </p:nvSpPr>
        <p:spPr>
          <a:xfrm>
            <a:off x="7318058" y="3910489"/>
            <a:ext cx="3886200" cy="497205"/>
          </a:xfrm>
          <a:prstGeom prst="rect">
            <a:avLst/>
          </a:prstGeom>
          <a:noFill/>
          <a:ln>
            <a:noFill/>
          </a:ln>
        </p:spPr>
        <p:txBody>
          <a:bodyPr wrap="square" lIns="0" tIns="0" rIns="0" bIns="0" anchor="t"/>
          <a:lstStyle/>
          <a:p>
            <a:pPr algn="l">
              <a:lnSpc>
                <a:spcPts val="1875"/>
              </a:lnSpc>
              <a:buNone/>
            </a:pPr>
            <a:r>
              <a:rPr sz="1275">
                <a:solidFill>
                  <a:srgbClr val="20262B"/>
                </a:solidFill>
                <a:latin typeface="Arial" panose="020B0604020202020204"/>
                <a:ea typeface="Arial" panose="020B0604020202020204"/>
                <a:cs typeface="Arial" panose="020B0604020202020204"/>
              </a:rPr>
              <a:t>Determines the agent’s next opinion state after </a:t>
            </a:r>
            <a:r>
              <a:rPr sz="1275">
                <a:solidFill>
                  <a:srgbClr val="20262B"/>
                </a:solidFill>
                <a:latin typeface="Arial" panose="020B0604020202020204"/>
                <a:ea typeface="Arial" panose="020B0604020202020204"/>
                <a:cs typeface="Arial" panose="020B0604020202020204"/>
              </a:rPr>
              <a:t>receiving the selected messages.</a:t>
            </a:r>
            <a:endParaRPr sz="1275">
              <a:solidFill>
                <a:srgbClr val="20262B"/>
              </a:solidFill>
              <a:latin typeface="Arial" panose="020B0604020202020204"/>
              <a:ea typeface="Arial" panose="020B0604020202020204"/>
              <a:cs typeface="Arial" panose="020B0604020202020204"/>
            </a:endParaRPr>
          </a:p>
        </p:txBody>
      </p:sp>
      <p:sp>
        <p:nvSpPr>
          <p:cNvPr id="21" name="Line 21"/>
          <p:cNvSpPr>
            <a:spLocks noGrp="1"/>
          </p:cNvSpPr>
          <p:nvPr/>
        </p:nvSpPr>
        <p:spPr>
          <a:xfrm>
            <a:off x="685800" y="4705350"/>
            <a:ext cx="10820400" cy="9525"/>
          </a:xfrm>
          <a:custGeom>
            <a:avLst/>
            <a:gdLst/>
            <a:ahLst/>
            <a:cxnLst/>
            <a:rect l="l" t="t" r="r" b="b"/>
            <a:pathLst>
              <a:path w="10820400" h="9525">
                <a:moveTo>
                  <a:pt x="0" y="0"/>
                </a:moveTo>
                <a:lnTo>
                  <a:pt x="10820400" y="0"/>
                </a:lnTo>
              </a:path>
            </a:pathLst>
          </a:custGeom>
          <a:noFill/>
          <a:ln w="9525">
            <a:solidFill>
              <a:srgbClr val="D8DEE3"/>
            </a:solidFill>
          </a:ln>
        </p:spPr>
      </p:sp>
      <p:sp>
        <p:nvSpPr>
          <p:cNvPr id="23" name="TextBox 23"/>
          <p:cNvSpPr>
            <a:spLocks noGrp="1"/>
          </p:cNvSpPr>
          <p:nvPr/>
        </p:nvSpPr>
        <p:spPr>
          <a:xfrm>
            <a:off x="672465" y="5049202"/>
            <a:ext cx="1673276" cy="213360"/>
          </a:xfrm>
          <a:prstGeom prst="rect">
            <a:avLst/>
          </a:prstGeom>
          <a:noFill/>
          <a:ln>
            <a:noFill/>
          </a:ln>
        </p:spPr>
        <p:txBody>
          <a:bodyPr wrap="none" lIns="0" tIns="0" rIns="0" bIns="0" anchor="t">
            <a:spAutoFit/>
          </a:bodyPr>
          <a:lstStyle/>
          <a:p>
            <a:pPr algn="l">
              <a:buNone/>
            </a:pPr>
            <a:r>
              <a:rPr sz="1050" b="1">
                <a:solidFill>
                  <a:srgbClr val="17324D"/>
                </a:solidFill>
                <a:latin typeface="Arial" panose="020B0604020202020204"/>
                <a:ea typeface="Arial" panose="020B0604020202020204"/>
                <a:cs typeface="Arial" panose="020B0604020202020204"/>
              </a:rPr>
              <a:t>STATE AND ENVIRONMENT</a:t>
            </a:r>
            <a:endParaRPr sz="1050" b="1">
              <a:solidFill>
                <a:srgbClr val="17324D"/>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670560" y="5385435"/>
            <a:ext cx="8359140" cy="4724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The inputs encode the current opinion state, human-data-supported individual attributes, interaction history, </a:t>
            </a:r>
            <a:r>
              <a:rPr sz="1200">
                <a:solidFill>
                  <a:srgbClr val="20262B"/>
                </a:solidFill>
                <a:latin typeface="Arial" panose="020B0604020202020204"/>
                <a:ea typeface="Arial" panose="020B0604020202020204"/>
                <a:cs typeface="Arial" panose="020B0604020202020204"/>
              </a:rPr>
              <a:t>the external information environment, the network, and the sources that enter the current exposure set.</a:t>
            </a:r>
            <a:endParaRPr sz="1200">
              <a:solidFill>
                <a:srgbClr val="20262B"/>
              </a:solidFill>
              <a:latin typeface="Arial" panose="020B0604020202020204"/>
              <a:ea typeface="Arial" panose="020B0604020202020204"/>
              <a:cs typeface="Arial" panose="020B0604020202020204"/>
            </a:endParaRPr>
          </a:p>
        </p:txBody>
      </p:sp>
      <p:sp>
        <p:nvSpPr>
          <p:cNvPr id="26" name="TextBox 26"/>
          <p:cNvSpPr>
            <a:spLocks noGrp="1"/>
          </p:cNvSpPr>
          <p:nvPr/>
        </p:nvSpPr>
        <p:spPr>
          <a:xfrm>
            <a:off x="672465" y="5963602"/>
            <a:ext cx="3967162" cy="403860"/>
          </a:xfrm>
          <a:prstGeom prst="rect">
            <a:avLst/>
          </a:prstGeom>
          <a:noFill/>
          <a:ln>
            <a:noFill/>
          </a:ln>
        </p:spPr>
        <p:txBody>
          <a:bodyPr wrap="square" lIns="0" tIns="0" rIns="0" bIns="0" anchor="t"/>
          <a:lstStyle/>
          <a:p>
            <a:pPr algn="l">
              <a:lnSpc>
                <a:spcPts val="1500"/>
              </a:lnSpc>
              <a:buNone/>
            </a:pPr>
            <a:r>
              <a:rPr sz="1050">
                <a:solidFill>
                  <a:srgbClr val="7A8792"/>
                </a:solidFill>
                <a:latin typeface="Arial" panose="020B0604020202020204"/>
                <a:ea typeface="Arial" panose="020B0604020202020204"/>
                <a:cs typeface="Arial" panose="020B0604020202020204"/>
              </a:rPr>
              <a:t>LLM–ABM integration occurs at these behavioral interfaces; </a:t>
            </a:r>
            <a:r>
              <a:rPr sz="1050">
                <a:solidFill>
                  <a:srgbClr val="7A8792"/>
                </a:solidFill>
                <a:latin typeface="Arial" panose="020B0604020202020204"/>
                <a:ea typeface="Arial" panose="020B0604020202020204"/>
                <a:cs typeface="Arial" panose="020B0604020202020204"/>
              </a:rPr>
              <a:t>the update function is the primary link to opinion evolution.</a:t>
            </a:r>
            <a:endParaRPr sz="1050">
              <a:solidFill>
                <a:srgbClr val="7A8792"/>
              </a:solidFill>
              <a:latin typeface="Arial" panose="020B0604020202020204"/>
              <a:ea typeface="Arial" panose="020B0604020202020204"/>
              <a:cs typeface="Arial" panose="020B0604020202020204"/>
            </a:endParaRPr>
          </a:p>
        </p:txBody>
      </p:sp>
      <p:sp>
        <p:nvSpPr>
          <p:cNvPr id="28" name="TextBox 28"/>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08</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8271510" cy="368935"/>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Testing the Three </a:t>
            </a:r>
            <a:r>
              <a:rPr lang="en-US" sz="2400" b="1">
                <a:solidFill>
                  <a:srgbClr val="20262B"/>
                </a:solidFill>
                <a:latin typeface="Arial" panose="020B0604020202020204"/>
                <a:ea typeface="Arial" panose="020B0604020202020204"/>
                <a:cs typeface="Arial" panose="020B0604020202020204"/>
              </a:rPr>
              <a:t>R</a:t>
            </a:r>
            <a:r>
              <a:rPr sz="2400" b="1">
                <a:solidFill>
                  <a:srgbClr val="20262B"/>
                </a:solidFill>
                <a:latin typeface="Arial" panose="020B0604020202020204"/>
                <a:ea typeface="Arial" panose="020B0604020202020204"/>
                <a:cs typeface="Arial" panose="020B0604020202020204"/>
              </a:rPr>
              <a:t>Qs Through the Behavioral Functions</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Line 7"/>
          <p:cNvSpPr>
            <a:spLocks noGrp="1"/>
          </p:cNvSpPr>
          <p:nvPr/>
        </p:nvSpPr>
        <p:spPr>
          <a:xfrm>
            <a:off x="685800" y="1276350"/>
            <a:ext cx="9525" cy="1295400"/>
          </a:xfrm>
          <a:custGeom>
            <a:avLst/>
            <a:gdLst/>
            <a:ahLst/>
            <a:cxnLst/>
            <a:rect l="l" t="t" r="r" b="b"/>
            <a:pathLst>
              <a:path w="9525" h="1295400">
                <a:moveTo>
                  <a:pt x="0" y="0"/>
                </a:moveTo>
                <a:lnTo>
                  <a:pt x="0" y="1295400"/>
                </a:lnTo>
              </a:path>
            </a:pathLst>
          </a:custGeom>
          <a:noFill/>
          <a:ln w="28575">
            <a:solidFill>
              <a:srgbClr val="17324D"/>
            </a:solidFill>
          </a:ln>
        </p:spPr>
      </p:sp>
      <p:sp>
        <p:nvSpPr>
          <p:cNvPr id="8" name="TextBox 8"/>
          <p:cNvSpPr>
            <a:spLocks noGrp="1"/>
          </p:cNvSpPr>
          <p:nvPr/>
        </p:nvSpPr>
        <p:spPr>
          <a:xfrm>
            <a:off x="873442" y="1299686"/>
            <a:ext cx="490646" cy="350520"/>
          </a:xfrm>
          <a:prstGeom prst="rect">
            <a:avLst/>
          </a:prstGeom>
          <a:noFill/>
          <a:ln>
            <a:noFill/>
          </a:ln>
        </p:spPr>
        <p:txBody>
          <a:bodyPr wrap="none" lIns="0" tIns="0" rIns="0" bIns="0" anchor="t">
            <a:spAutoFit/>
          </a:bodyPr>
          <a:lstStyle/>
          <a:p>
            <a:pPr algn="l">
              <a:buNone/>
            </a:pPr>
            <a:r>
              <a:rPr sz="1725" b="1">
                <a:solidFill>
                  <a:srgbClr val="17324D"/>
                </a:solidFill>
                <a:latin typeface="Arial" panose="020B0604020202020204"/>
                <a:ea typeface="Arial" panose="020B0604020202020204"/>
                <a:cs typeface="Arial" panose="020B0604020202020204"/>
              </a:rPr>
              <a:t>SQ1</a:t>
            </a:r>
            <a:endParaRPr sz="1725" b="1">
              <a:solidFill>
                <a:srgbClr val="17324D"/>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1563052" y="1313021"/>
            <a:ext cx="5712679"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Does the LLM change the message and selection functions?</a:t>
            </a:r>
            <a:endParaRPr sz="1425" b="1">
              <a:solidFill>
                <a:srgbClr val="20262B"/>
              </a:solidFill>
              <a:latin typeface="Arial" panose="020B0604020202020204"/>
              <a:ea typeface="Arial" panose="020B0604020202020204"/>
              <a:cs typeface="Arial" panose="020B0604020202020204"/>
            </a:endParaRPr>
          </a:p>
        </p:txBody>
      </p:sp>
      <p:sp>
        <p:nvSpPr>
          <p:cNvPr id="10" name="TextBox 10"/>
          <p:cNvSpPr>
            <a:spLocks noGrp="1"/>
          </p:cNvSpPr>
          <p:nvPr/>
        </p:nvSpPr>
        <p:spPr>
          <a:xfrm>
            <a:off x="1566862" y="1688306"/>
            <a:ext cx="5343525" cy="666750"/>
          </a:xfrm>
          <a:prstGeom prst="rect">
            <a:avLst/>
          </a:prstGeom>
          <a:noFill/>
          <a:ln>
            <a:noFill/>
          </a:ln>
        </p:spPr>
        <p:txBody>
          <a:bodyPr wrap="square" lIns="0" tIns="0" rIns="0" bIns="0" anchor="t"/>
          <a:lstStyle/>
          <a:p>
            <a:pPr algn="l">
              <a:lnSpc>
                <a:spcPts val="1725"/>
              </a:lnSpc>
              <a:buNone/>
            </a:pPr>
            <a:r>
              <a:rPr sz="1125" b="1">
                <a:solidFill>
                  <a:srgbClr val="20262B"/>
                </a:solidFill>
                <a:latin typeface="Arial" panose="020B0604020202020204"/>
                <a:ea typeface="Arial" panose="020B0604020202020204"/>
                <a:cs typeface="Arial" panose="020B0604020202020204"/>
              </a:rPr>
              <a:t>Comparison:</a:t>
            </a:r>
            <a:r>
              <a:rPr sz="1125">
                <a:solidFill>
                  <a:srgbClr val="20262B"/>
                </a:solidFill>
                <a:latin typeface="Arial" panose="020B0604020202020204"/>
                <a:ea typeface="Arial" panose="020B0604020202020204"/>
                <a:cs typeface="Arial" panose="020B0604020202020204"/>
              </a:rPr>
              <a:t> </a:t>
            </a:r>
            <a:r>
              <a:rPr sz="1125">
                <a:solidFill>
                  <a:srgbClr val="20262B"/>
                </a:solidFill>
                <a:latin typeface="Arial" panose="020B0604020202020204"/>
                <a:ea typeface="Arial" panose="020B0604020202020204"/>
                <a:cs typeface="Arial" panose="020B0604020202020204"/>
              </a:rPr>
              <a:t>a group using traditional search engines versus a group using LLMs for information search</a:t>
            </a:r>
            <a:r>
              <a:rPr sz="1125">
                <a:solidFill>
                  <a:srgbClr val="20262B"/>
                </a:solidFill>
                <a:latin typeface="Arial" panose="020B0604020202020204"/>
                <a:ea typeface="Arial" panose="020B0604020202020204"/>
                <a:cs typeface="Arial" panose="020B0604020202020204"/>
              </a:rPr>
              <a:t>. </a:t>
            </a:r>
            <a:r>
              <a:rPr sz="1125" b="1">
                <a:solidFill>
                  <a:srgbClr val="20262B"/>
                </a:solidFill>
                <a:latin typeface="Arial" panose="020B0604020202020204"/>
                <a:ea typeface="Arial" panose="020B0604020202020204"/>
                <a:cs typeface="Arial" panose="020B0604020202020204"/>
              </a:rPr>
              <a:t>Observe:</a:t>
            </a:r>
            <a:r>
              <a:rPr sz="1125">
                <a:solidFill>
                  <a:srgbClr val="20262B"/>
                </a:solidFill>
                <a:latin typeface="Arial" panose="020B0604020202020204"/>
                <a:ea typeface="Arial" panose="020B0604020202020204"/>
                <a:cs typeface="Arial" panose="020B0604020202020204"/>
              </a:rPr>
              <a:t> stance, claims, sources, message overlap, and exposure overlap; </a:t>
            </a:r>
            <a:r>
              <a:rPr sz="1125">
                <a:solidFill>
                  <a:srgbClr val="20262B"/>
                </a:solidFill>
                <a:latin typeface="Arial" panose="020B0604020202020204"/>
                <a:ea typeface="Arial" panose="020B0604020202020204"/>
                <a:cs typeface="Arial" panose="020B0604020202020204"/>
              </a:rPr>
              <a:t>selection, sharing, and diffusion paths.</a:t>
            </a:r>
            <a:endParaRPr sz="1125">
              <a:solidFill>
                <a:srgbClr val="20262B"/>
              </a:solidFill>
              <a:latin typeface="Arial" panose="020B0604020202020204"/>
              <a:ea typeface="Arial" panose="020B0604020202020204"/>
              <a:cs typeface="Arial" panose="020B0604020202020204"/>
            </a:endParaRPr>
          </a:p>
        </p:txBody>
      </p:sp>
      <p:pic>
        <p:nvPicPr>
          <p:cNvPr id="43" name="Image 11"/>
          <p:cNvPicPr>
            <a:picLocks noChangeAspect="1"/>
          </p:cNvPicPr>
          <p:nvPr/>
        </p:nvPicPr>
        <p:blipFill>
          <a:blip r:embed="rId1"/>
          <a:stretch>
            <a:fillRect/>
          </a:stretch>
        </p:blipFill>
        <p:spPr>
          <a:xfrm>
            <a:off x="6972300" y="2049769"/>
            <a:ext cx="4095750" cy="301013"/>
          </a:xfrm>
          <a:prstGeom prst="rect">
            <a:avLst/>
          </a:prstGeom>
        </p:spPr>
      </p:pic>
      <p:sp>
        <p:nvSpPr>
          <p:cNvPr id="12" name="Line 12"/>
          <p:cNvSpPr>
            <a:spLocks noGrp="1"/>
          </p:cNvSpPr>
          <p:nvPr/>
        </p:nvSpPr>
        <p:spPr>
          <a:xfrm>
            <a:off x="895350" y="2724150"/>
            <a:ext cx="10610850" cy="9525"/>
          </a:xfrm>
          <a:custGeom>
            <a:avLst/>
            <a:gdLst/>
            <a:ahLst/>
            <a:cxnLst/>
            <a:rect l="l" t="t" r="r" b="b"/>
            <a:pathLst>
              <a:path w="10610850" h="9525">
                <a:moveTo>
                  <a:pt x="0" y="0"/>
                </a:moveTo>
                <a:lnTo>
                  <a:pt x="10610850" y="0"/>
                </a:lnTo>
              </a:path>
            </a:pathLst>
          </a:custGeom>
          <a:noFill/>
          <a:ln w="9525">
            <a:solidFill>
              <a:srgbClr val="D8DEE3"/>
            </a:solidFill>
          </a:ln>
        </p:spPr>
      </p:sp>
      <p:sp>
        <p:nvSpPr>
          <p:cNvPr id="14" name="Line 14"/>
          <p:cNvSpPr>
            <a:spLocks noGrp="1"/>
          </p:cNvSpPr>
          <p:nvPr/>
        </p:nvSpPr>
        <p:spPr>
          <a:xfrm>
            <a:off x="685800" y="2952750"/>
            <a:ext cx="9525" cy="1743075"/>
          </a:xfrm>
          <a:custGeom>
            <a:avLst/>
            <a:gdLst/>
            <a:ahLst/>
            <a:cxnLst/>
            <a:rect l="l" t="t" r="r" b="b"/>
            <a:pathLst>
              <a:path w="9525" h="1743075">
                <a:moveTo>
                  <a:pt x="0" y="0"/>
                </a:moveTo>
                <a:lnTo>
                  <a:pt x="0" y="1743075"/>
                </a:lnTo>
              </a:path>
            </a:pathLst>
          </a:custGeom>
          <a:noFill/>
          <a:ln w="28575">
            <a:solidFill>
              <a:srgbClr val="17324D"/>
            </a:solidFill>
          </a:ln>
        </p:spPr>
      </p:sp>
      <p:sp>
        <p:nvSpPr>
          <p:cNvPr id="15" name="TextBox 15"/>
          <p:cNvSpPr>
            <a:spLocks noGrp="1"/>
          </p:cNvSpPr>
          <p:nvPr/>
        </p:nvSpPr>
        <p:spPr>
          <a:xfrm>
            <a:off x="873442" y="2985611"/>
            <a:ext cx="490646" cy="350520"/>
          </a:xfrm>
          <a:prstGeom prst="rect">
            <a:avLst/>
          </a:prstGeom>
          <a:noFill/>
          <a:ln>
            <a:noFill/>
          </a:ln>
        </p:spPr>
        <p:txBody>
          <a:bodyPr wrap="none" lIns="0" tIns="0" rIns="0" bIns="0" anchor="t">
            <a:spAutoFit/>
          </a:bodyPr>
          <a:lstStyle/>
          <a:p>
            <a:pPr algn="l">
              <a:buNone/>
            </a:pPr>
            <a:r>
              <a:rPr sz="1725" b="1">
                <a:solidFill>
                  <a:srgbClr val="17324D"/>
                </a:solidFill>
                <a:latin typeface="Arial" panose="020B0604020202020204"/>
                <a:ea typeface="Arial" panose="020B0604020202020204"/>
                <a:cs typeface="Arial" panose="020B0604020202020204"/>
              </a:rPr>
              <a:t>SQ2</a:t>
            </a:r>
            <a:endParaRPr sz="1725" b="1">
              <a:solidFill>
                <a:srgbClr val="17324D"/>
              </a:solidFill>
              <a:latin typeface="Arial" panose="020B0604020202020204"/>
              <a:ea typeface="Arial" panose="020B0604020202020204"/>
              <a:cs typeface="Arial" panose="020B0604020202020204"/>
            </a:endParaRPr>
          </a:p>
        </p:txBody>
      </p:sp>
      <p:sp>
        <p:nvSpPr>
          <p:cNvPr id="16" name="TextBox 16"/>
          <p:cNvSpPr>
            <a:spLocks noGrp="1"/>
          </p:cNvSpPr>
          <p:nvPr/>
        </p:nvSpPr>
        <p:spPr>
          <a:xfrm>
            <a:off x="1563052" y="2998946"/>
            <a:ext cx="5672774"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How do exposure and diffusion enter the update function?</a:t>
            </a:r>
            <a:endParaRPr sz="1425" b="1">
              <a:solidFill>
                <a:srgbClr val="20262B"/>
              </a:solidFill>
              <a:latin typeface="Arial" panose="020B0604020202020204"/>
              <a:ea typeface="Arial" panose="020B0604020202020204"/>
              <a:cs typeface="Arial" panose="020B0604020202020204"/>
            </a:endParaRPr>
          </a:p>
        </p:txBody>
      </p:sp>
      <p:sp>
        <p:nvSpPr>
          <p:cNvPr id="17" name="TextBox 17"/>
          <p:cNvSpPr>
            <a:spLocks noGrp="1"/>
          </p:cNvSpPr>
          <p:nvPr/>
        </p:nvSpPr>
        <p:spPr>
          <a:xfrm>
            <a:off x="1566862" y="3393281"/>
            <a:ext cx="5064919" cy="1104900"/>
          </a:xfrm>
          <a:prstGeom prst="rect">
            <a:avLst/>
          </a:prstGeom>
          <a:noFill/>
          <a:ln>
            <a:noFill/>
          </a:ln>
        </p:spPr>
        <p:txBody>
          <a:bodyPr wrap="square" lIns="0" tIns="0" rIns="0" bIns="0" anchor="t"/>
          <a:lstStyle/>
          <a:p>
            <a:pPr algn="l">
              <a:lnSpc>
                <a:spcPts val="1725"/>
              </a:lnSpc>
              <a:buNone/>
            </a:pPr>
            <a:r>
              <a:rPr sz="1125" b="1">
                <a:solidFill>
                  <a:srgbClr val="20262B"/>
                </a:solidFill>
                <a:latin typeface="Arial" panose="020B0604020202020204"/>
                <a:ea typeface="Arial" panose="020B0604020202020204"/>
                <a:cs typeface="Arial" panose="020B0604020202020204"/>
              </a:rPr>
              <a:t>Hold fixed:</a:t>
            </a:r>
            <a:r>
              <a:rPr sz="1125">
                <a:solidFill>
                  <a:srgbClr val="20262B"/>
                </a:solidFill>
                <a:latin typeface="Arial" panose="020B0604020202020204"/>
                <a:ea typeface="Arial" panose="020B0604020202020204"/>
                <a:cs typeface="Arial" panose="020B0604020202020204"/>
              </a:rPr>
              <a:t> message library, initial groups, and networks. </a:t>
            </a:r>
            <a:r>
              <a:rPr sz="1125" b="1">
                <a:solidFill>
                  <a:srgbClr val="20262B"/>
                </a:solidFill>
                <a:latin typeface="Arial" panose="020B0604020202020204"/>
                <a:ea typeface="Arial" panose="020B0604020202020204"/>
                <a:cs typeface="Arial" panose="020B0604020202020204"/>
              </a:rPr>
              <a:t>Manipulate:</a:t>
            </a:r>
            <a:r>
              <a:rPr sz="1125">
                <a:solidFill>
                  <a:srgbClr val="20262B"/>
                </a:solidFill>
                <a:latin typeface="Arial" panose="020B0604020202020204"/>
                <a:ea typeface="Arial" panose="020B0604020202020204"/>
                <a:cs typeface="Arial" panose="020B0604020202020204"/>
              </a:rPr>
              <a:t> exposure commonality (low/high) and diffusion intensity </a:t>
            </a:r>
            <a:r>
              <a:rPr sz="1125">
                <a:solidFill>
                  <a:srgbClr val="20262B"/>
                </a:solidFill>
                <a:latin typeface="Arial" panose="020B0604020202020204"/>
                <a:ea typeface="Arial" panose="020B0604020202020204"/>
                <a:cs typeface="Arial" panose="020B0604020202020204"/>
              </a:rPr>
              <a:t>(off/human-calibrated). </a:t>
            </a:r>
            <a:r>
              <a:rPr sz="1125" b="1">
                <a:solidFill>
                  <a:srgbClr val="20262B"/>
                </a:solidFill>
                <a:latin typeface="Arial" panose="020B0604020202020204"/>
                <a:ea typeface="Arial" panose="020B0604020202020204"/>
                <a:cs typeface="Arial" panose="020B0604020202020204"/>
              </a:rPr>
              <a:t>Compare:</a:t>
            </a:r>
            <a:r>
              <a:rPr sz="1125">
                <a:solidFill>
                  <a:srgbClr val="20262B"/>
                </a:solidFill>
                <a:latin typeface="Arial" panose="020B0604020202020204"/>
                <a:ea typeface="Arial" panose="020B0604020202020204"/>
                <a:cs typeface="Arial" panose="020B0604020202020204"/>
              </a:rPr>
              <a:t> opinion change and group distributions across social-influence </a:t>
            </a:r>
            <a:r>
              <a:rPr sz="1125">
                <a:solidFill>
                  <a:srgbClr val="20262B"/>
                </a:solidFill>
                <a:latin typeface="Arial" panose="020B0604020202020204"/>
                <a:ea typeface="Arial" panose="020B0604020202020204"/>
                <a:cs typeface="Arial" panose="020B0604020202020204"/>
              </a:rPr>
              <a:t>weights and acceptable opinion distances.</a:t>
            </a:r>
            <a:endParaRPr sz="1125">
              <a:solidFill>
                <a:srgbClr val="20262B"/>
              </a:solidFill>
              <a:latin typeface="Arial" panose="020B0604020202020204"/>
              <a:ea typeface="Arial" panose="020B0604020202020204"/>
              <a:cs typeface="Arial" panose="020B0604020202020204"/>
            </a:endParaRPr>
          </a:p>
        </p:txBody>
      </p:sp>
      <p:pic>
        <p:nvPicPr>
          <p:cNvPr id="49" name="Image 18"/>
          <p:cNvPicPr>
            <a:picLocks noChangeAspect="1"/>
          </p:cNvPicPr>
          <p:nvPr/>
        </p:nvPicPr>
        <p:blipFill>
          <a:blip r:embed="rId2"/>
          <a:stretch>
            <a:fillRect/>
          </a:stretch>
        </p:blipFill>
        <p:spPr>
          <a:xfrm>
            <a:off x="6629400" y="3473787"/>
            <a:ext cx="4552950" cy="462877"/>
          </a:xfrm>
          <a:prstGeom prst="rect">
            <a:avLst/>
          </a:prstGeom>
        </p:spPr>
      </p:pic>
      <p:pic>
        <p:nvPicPr>
          <p:cNvPr id="50" name="Image 19"/>
          <p:cNvPicPr>
            <a:picLocks noChangeAspect="1"/>
          </p:cNvPicPr>
          <p:nvPr/>
        </p:nvPicPr>
        <p:blipFill>
          <a:blip r:embed="rId3"/>
          <a:stretch>
            <a:fillRect/>
          </a:stretch>
        </p:blipFill>
        <p:spPr>
          <a:xfrm>
            <a:off x="7181850" y="4184178"/>
            <a:ext cx="3448050" cy="261294"/>
          </a:xfrm>
          <a:prstGeom prst="rect">
            <a:avLst/>
          </a:prstGeom>
        </p:spPr>
      </p:pic>
      <p:sp>
        <p:nvSpPr>
          <p:cNvPr id="20" name="Line 20"/>
          <p:cNvSpPr>
            <a:spLocks noGrp="1"/>
          </p:cNvSpPr>
          <p:nvPr/>
        </p:nvSpPr>
        <p:spPr>
          <a:xfrm>
            <a:off x="895350" y="4848225"/>
            <a:ext cx="10610850" cy="9525"/>
          </a:xfrm>
          <a:custGeom>
            <a:avLst/>
            <a:gdLst/>
            <a:ahLst/>
            <a:cxnLst/>
            <a:rect l="l" t="t" r="r" b="b"/>
            <a:pathLst>
              <a:path w="10610850" h="9525">
                <a:moveTo>
                  <a:pt x="0" y="0"/>
                </a:moveTo>
                <a:lnTo>
                  <a:pt x="10610850" y="0"/>
                </a:lnTo>
              </a:path>
            </a:pathLst>
          </a:custGeom>
          <a:noFill/>
          <a:ln w="9525">
            <a:solidFill>
              <a:srgbClr val="D8DEE3"/>
            </a:solidFill>
          </a:ln>
        </p:spPr>
      </p:sp>
      <p:sp>
        <p:nvSpPr>
          <p:cNvPr id="22" name="Line 22"/>
          <p:cNvSpPr>
            <a:spLocks noGrp="1"/>
          </p:cNvSpPr>
          <p:nvPr/>
        </p:nvSpPr>
        <p:spPr>
          <a:xfrm>
            <a:off x="685800" y="5076825"/>
            <a:ext cx="9525" cy="1000125"/>
          </a:xfrm>
          <a:custGeom>
            <a:avLst/>
            <a:gdLst/>
            <a:ahLst/>
            <a:cxnLst/>
            <a:rect l="l" t="t" r="r" b="b"/>
            <a:pathLst>
              <a:path w="9525" h="1000125">
                <a:moveTo>
                  <a:pt x="0" y="0"/>
                </a:moveTo>
                <a:lnTo>
                  <a:pt x="0" y="1000125"/>
                </a:lnTo>
              </a:path>
            </a:pathLst>
          </a:custGeom>
          <a:noFill/>
          <a:ln w="28575">
            <a:solidFill>
              <a:srgbClr val="17324D"/>
            </a:solidFill>
          </a:ln>
        </p:spPr>
      </p:sp>
      <p:sp>
        <p:nvSpPr>
          <p:cNvPr id="23" name="TextBox 23"/>
          <p:cNvSpPr>
            <a:spLocks noGrp="1"/>
          </p:cNvSpPr>
          <p:nvPr/>
        </p:nvSpPr>
        <p:spPr>
          <a:xfrm>
            <a:off x="873442" y="5109686"/>
            <a:ext cx="490646" cy="350520"/>
          </a:xfrm>
          <a:prstGeom prst="rect">
            <a:avLst/>
          </a:prstGeom>
          <a:noFill/>
          <a:ln>
            <a:noFill/>
          </a:ln>
        </p:spPr>
        <p:txBody>
          <a:bodyPr wrap="none" lIns="0" tIns="0" rIns="0" bIns="0" anchor="t">
            <a:spAutoFit/>
          </a:bodyPr>
          <a:lstStyle/>
          <a:p>
            <a:pPr algn="l">
              <a:buNone/>
            </a:pPr>
            <a:r>
              <a:rPr sz="1725" b="1">
                <a:solidFill>
                  <a:srgbClr val="17324D"/>
                </a:solidFill>
                <a:latin typeface="Arial" panose="020B0604020202020204"/>
                <a:ea typeface="Arial" panose="020B0604020202020204"/>
                <a:cs typeface="Arial" panose="020B0604020202020204"/>
              </a:rPr>
              <a:t>SQ3</a:t>
            </a:r>
            <a:endParaRPr sz="1725" b="1">
              <a:solidFill>
                <a:srgbClr val="17324D"/>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1563052" y="5123021"/>
            <a:ext cx="6341183"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Can an LLM-layer intervention attenuate the identified pattern?</a:t>
            </a:r>
            <a:endParaRPr sz="1425" b="1">
              <a:solidFill>
                <a:srgbClr val="20262B"/>
              </a:solidFill>
              <a:latin typeface="Arial" panose="020B0604020202020204"/>
              <a:ea typeface="Arial" panose="020B0604020202020204"/>
              <a:cs typeface="Arial" panose="020B0604020202020204"/>
            </a:endParaRPr>
          </a:p>
        </p:txBody>
      </p:sp>
      <p:sp>
        <p:nvSpPr>
          <p:cNvPr id="25" name="TextBox 25"/>
          <p:cNvSpPr>
            <a:spLocks noGrp="1"/>
          </p:cNvSpPr>
          <p:nvPr/>
        </p:nvSpPr>
        <p:spPr>
          <a:xfrm>
            <a:off x="1566862" y="5498306"/>
            <a:ext cx="8452128" cy="228600"/>
          </a:xfrm>
          <a:prstGeom prst="rect">
            <a:avLst/>
          </a:prstGeom>
          <a:noFill/>
          <a:ln>
            <a:noFill/>
          </a:ln>
        </p:spPr>
        <p:txBody>
          <a:bodyPr wrap="none" lIns="0" tIns="0" rIns="0" bIns="0" anchor="t">
            <a:spAutoFit/>
          </a:bodyPr>
          <a:lstStyle/>
          <a:p>
            <a:pPr algn="l">
              <a:buNone/>
            </a:pPr>
            <a:r>
              <a:rPr sz="1125">
                <a:solidFill>
                  <a:srgbClr val="20262B"/>
                </a:solidFill>
                <a:latin typeface="Arial" panose="020B0604020202020204"/>
                <a:ea typeface="Arial" panose="020B0604020202020204"/>
                <a:cs typeface="Arial" panose="020B0604020202020204"/>
              </a:rPr>
              <a:t>Proceed only after SQ2 identifies a stable group-level pattern. Match average information quality, then compare:</a:t>
            </a:r>
            <a:endParaRPr sz="1125">
              <a:solidFill>
                <a:srgbClr val="20262B"/>
              </a:solidFill>
              <a:latin typeface="Arial" panose="020B0604020202020204"/>
              <a:ea typeface="Arial" panose="020B0604020202020204"/>
              <a:cs typeface="Arial" panose="020B0604020202020204"/>
            </a:endParaRPr>
          </a:p>
        </p:txBody>
      </p:sp>
      <p:sp>
        <p:nvSpPr>
          <p:cNvPr id="26" name="TextBox 26"/>
          <p:cNvSpPr>
            <a:spLocks noGrp="1"/>
          </p:cNvSpPr>
          <p:nvPr/>
        </p:nvSpPr>
        <p:spPr>
          <a:xfrm>
            <a:off x="2118360" y="5833110"/>
            <a:ext cx="1467060" cy="243840"/>
          </a:xfrm>
          <a:prstGeom prst="rect">
            <a:avLst/>
          </a:prstGeom>
          <a:noFill/>
          <a:ln>
            <a:noFill/>
          </a:ln>
        </p:spPr>
        <p:txBody>
          <a:bodyPr wrap="none" lIns="0" tIns="0" rIns="0" bIns="0" anchor="t">
            <a:spAutoFit/>
          </a:bodyPr>
          <a:lstStyle/>
          <a:p>
            <a:pPr algn="l">
              <a:buNone/>
            </a:pPr>
            <a:r>
              <a:rPr sz="1200" b="1">
                <a:solidFill>
                  <a:srgbClr val="17324D"/>
                </a:solidFill>
                <a:latin typeface="Arial" panose="020B0604020202020204"/>
                <a:ea typeface="Arial" panose="020B0604020202020204"/>
                <a:cs typeface="Arial" panose="020B0604020202020204"/>
              </a:rPr>
              <a:t>shared single LLM</a:t>
            </a:r>
            <a:endParaRPr sz="1200" b="1">
              <a:solidFill>
                <a:srgbClr val="17324D"/>
              </a:solidFill>
              <a:latin typeface="Arial" panose="020B0604020202020204"/>
              <a:ea typeface="Arial" panose="020B0604020202020204"/>
              <a:cs typeface="Arial" panose="020B0604020202020204"/>
            </a:endParaRPr>
          </a:p>
        </p:txBody>
      </p:sp>
      <p:sp>
        <p:nvSpPr>
          <p:cNvPr id="27" name="Line 27"/>
          <p:cNvSpPr>
            <a:spLocks noGrp="1"/>
          </p:cNvSpPr>
          <p:nvPr/>
        </p:nvSpPr>
        <p:spPr>
          <a:xfrm>
            <a:off x="3905250" y="5905500"/>
            <a:ext cx="1143000" cy="9525"/>
          </a:xfrm>
          <a:custGeom>
            <a:avLst/>
            <a:gdLst/>
            <a:ahLst/>
            <a:cxnLst/>
            <a:rect l="l" t="t" r="r" b="b"/>
            <a:pathLst>
              <a:path w="1143000" h="9525">
                <a:moveTo>
                  <a:pt x="0" y="0"/>
                </a:moveTo>
                <a:lnTo>
                  <a:pt x="1143000" y="0"/>
                </a:lnTo>
              </a:path>
            </a:pathLst>
          </a:custGeom>
          <a:noFill/>
          <a:ln w="19050">
            <a:solidFill>
              <a:srgbClr val="17324D"/>
            </a:solidFill>
          </a:ln>
        </p:spPr>
      </p:sp>
      <p:sp>
        <p:nvSpPr>
          <p:cNvPr id="28" name="Polygon 28"/>
          <p:cNvSpPr>
            <a:spLocks noGrp="1"/>
          </p:cNvSpPr>
          <p:nvPr/>
        </p:nvSpPr>
        <p:spPr>
          <a:xfrm>
            <a:off x="4933950" y="58483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29" name="TextBox 29"/>
          <p:cNvSpPr>
            <a:spLocks noGrp="1"/>
          </p:cNvSpPr>
          <p:nvPr/>
        </p:nvSpPr>
        <p:spPr>
          <a:xfrm>
            <a:off x="5299710" y="5833110"/>
            <a:ext cx="5180324" cy="243840"/>
          </a:xfrm>
          <a:prstGeom prst="rect">
            <a:avLst/>
          </a:prstGeom>
          <a:noFill/>
          <a:ln>
            <a:noFill/>
          </a:ln>
        </p:spPr>
        <p:txBody>
          <a:bodyPr wrap="none" lIns="0" tIns="0" rIns="0" bIns="0" anchor="t">
            <a:spAutoFit/>
          </a:bodyPr>
          <a:lstStyle/>
          <a:p>
            <a:pPr algn="l">
              <a:buNone/>
            </a:pPr>
            <a:r>
              <a:rPr sz="1200" b="1">
                <a:solidFill>
                  <a:srgbClr val="17324D"/>
                </a:solidFill>
                <a:latin typeface="Arial" panose="020B0604020202020204"/>
                <a:ea typeface="Arial" panose="020B0604020202020204"/>
                <a:cs typeface="Arial" panose="020B0604020202020204"/>
              </a:rPr>
              <a:t>independent random routing across model families or providers</a:t>
            </a:r>
            <a:endParaRPr sz="1200" b="1">
              <a:solidFill>
                <a:srgbClr val="17324D"/>
              </a:solidFill>
              <a:latin typeface="Arial" panose="020B0604020202020204"/>
              <a:ea typeface="Arial" panose="020B0604020202020204"/>
              <a:cs typeface="Arial" panose="020B0604020202020204"/>
            </a:endParaRPr>
          </a:p>
        </p:txBody>
      </p:sp>
      <p:sp>
        <p:nvSpPr>
          <p:cNvPr id="31" name="TextBox 31"/>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09</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2665286"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Model Validation</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TextBox 7"/>
          <p:cNvSpPr>
            <a:spLocks noGrp="1"/>
          </p:cNvSpPr>
          <p:nvPr/>
        </p:nvSpPr>
        <p:spPr>
          <a:xfrm>
            <a:off x="660082" y="1295876"/>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01</a:t>
            </a:r>
            <a:endParaRPr sz="2025" b="1">
              <a:solidFill>
                <a:srgbClr val="17324D"/>
              </a:solidFill>
              <a:latin typeface="Arial" panose="020B0604020202020204"/>
              <a:ea typeface="Arial" panose="020B0604020202020204"/>
              <a:cs typeface="Arial" panose="020B0604020202020204"/>
            </a:endParaRPr>
          </a:p>
        </p:txBody>
      </p:sp>
      <p:sp>
        <p:nvSpPr>
          <p:cNvPr id="8" name="TextBox 8"/>
          <p:cNvSpPr>
            <a:spLocks noGrp="1"/>
          </p:cNvSpPr>
          <p:nvPr/>
        </p:nvSpPr>
        <p:spPr>
          <a:xfrm>
            <a:off x="1277302" y="1322546"/>
            <a:ext cx="2071349"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Program verification</a:t>
            </a:r>
            <a:endParaRPr sz="1425" b="1">
              <a:solidFill>
                <a:srgbClr val="20262B"/>
              </a:solidFill>
              <a:latin typeface="Arial" panose="020B0604020202020204"/>
              <a:ea typeface="Arial" panose="020B0604020202020204"/>
              <a:cs typeface="Arial" panose="020B0604020202020204"/>
            </a:endParaRPr>
          </a:p>
        </p:txBody>
      </p:sp>
      <p:sp>
        <p:nvSpPr>
          <p:cNvPr id="9" name="TextBox 9"/>
          <p:cNvSpPr>
            <a:spLocks noGrp="1"/>
          </p:cNvSpPr>
          <p:nvPr/>
        </p:nvSpPr>
        <p:spPr>
          <a:xfrm>
            <a:off x="1280160" y="1632585"/>
            <a:ext cx="733044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Unit-test the message, selection, and update functions; test extreme cases and reproducibility; </a:t>
            </a:r>
            <a:r>
              <a:rPr sz="1200">
                <a:solidFill>
                  <a:srgbClr val="20262B"/>
                </a:solidFill>
                <a:latin typeface="Arial" panose="020B0604020202020204"/>
                <a:ea typeface="Arial" panose="020B0604020202020204"/>
                <a:cs typeface="Arial" panose="020B0604020202020204"/>
              </a:rPr>
              <a:t>report the complete model using the ODD protocol.</a:t>
            </a:r>
            <a:endParaRPr sz="1200">
              <a:solidFill>
                <a:srgbClr val="20262B"/>
              </a:solidFill>
              <a:latin typeface="Arial" panose="020B0604020202020204"/>
              <a:ea typeface="Arial" panose="020B0604020202020204"/>
              <a:cs typeface="Arial" panose="020B0604020202020204"/>
            </a:endParaRPr>
          </a:p>
        </p:txBody>
      </p:sp>
      <p:sp>
        <p:nvSpPr>
          <p:cNvPr id="10" name="Line 10"/>
          <p:cNvSpPr>
            <a:spLocks noGrp="1"/>
          </p:cNvSpPr>
          <p:nvPr/>
        </p:nvSpPr>
        <p:spPr>
          <a:xfrm>
            <a:off x="1295400" y="2238375"/>
            <a:ext cx="10210800" cy="9525"/>
          </a:xfrm>
          <a:custGeom>
            <a:avLst/>
            <a:gdLst/>
            <a:ahLst/>
            <a:cxnLst/>
            <a:rect l="l" t="t" r="r" b="b"/>
            <a:pathLst>
              <a:path w="10210800" h="9525">
                <a:moveTo>
                  <a:pt x="0" y="0"/>
                </a:moveTo>
                <a:lnTo>
                  <a:pt x="10210800" y="0"/>
                </a:lnTo>
              </a:path>
            </a:pathLst>
          </a:custGeom>
          <a:noFill/>
          <a:ln w="9525">
            <a:solidFill>
              <a:srgbClr val="D8DEE3"/>
            </a:solidFill>
          </a:ln>
        </p:spPr>
      </p:sp>
      <p:sp>
        <p:nvSpPr>
          <p:cNvPr id="12" name="TextBox 12"/>
          <p:cNvSpPr>
            <a:spLocks noGrp="1"/>
          </p:cNvSpPr>
          <p:nvPr/>
        </p:nvSpPr>
        <p:spPr>
          <a:xfrm>
            <a:off x="660082" y="2457926"/>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02</a:t>
            </a:r>
            <a:endParaRPr sz="2025" b="1">
              <a:solidFill>
                <a:srgbClr val="17324D"/>
              </a:solidFill>
              <a:latin typeface="Arial" panose="020B0604020202020204"/>
              <a:ea typeface="Arial" panose="020B0604020202020204"/>
              <a:cs typeface="Arial" panose="020B0604020202020204"/>
            </a:endParaRPr>
          </a:p>
        </p:txBody>
      </p:sp>
      <p:sp>
        <p:nvSpPr>
          <p:cNvPr id="13" name="TextBox 13"/>
          <p:cNvSpPr>
            <a:spLocks noGrp="1"/>
          </p:cNvSpPr>
          <p:nvPr/>
        </p:nvSpPr>
        <p:spPr>
          <a:xfrm>
            <a:off x="1277302" y="2484596"/>
            <a:ext cx="3368261"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Function-level empirical validation</a:t>
            </a:r>
            <a:endParaRPr sz="1425" b="1">
              <a:solidFill>
                <a:srgbClr val="20262B"/>
              </a:solidFill>
              <a:latin typeface="Arial" panose="020B0604020202020204"/>
              <a:ea typeface="Arial" panose="020B0604020202020204"/>
              <a:cs typeface="Arial" panose="020B0604020202020204"/>
            </a:endParaRPr>
          </a:p>
        </p:txBody>
      </p:sp>
      <p:sp>
        <p:nvSpPr>
          <p:cNvPr id="14" name="TextBox 14"/>
          <p:cNvSpPr>
            <a:spLocks noGrp="1"/>
          </p:cNvSpPr>
          <p:nvPr/>
        </p:nvSpPr>
        <p:spPr>
          <a:xfrm>
            <a:off x="1280160" y="2794635"/>
            <a:ext cx="665226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Compare model outputs with held-out human messages, information selection or sharing, </a:t>
            </a:r>
            <a:r>
              <a:rPr sz="1200">
                <a:solidFill>
                  <a:srgbClr val="20262B"/>
                </a:solidFill>
                <a:latin typeface="Arial" panose="020B0604020202020204"/>
                <a:ea typeface="Arial" panose="020B0604020202020204"/>
                <a:cs typeface="Arial" panose="020B0604020202020204"/>
              </a:rPr>
              <a:t>and pretest–posttest opinion transitions.</a:t>
            </a:r>
            <a:endParaRPr sz="1200">
              <a:solidFill>
                <a:srgbClr val="20262B"/>
              </a:solidFill>
              <a:latin typeface="Arial" panose="020B0604020202020204"/>
              <a:ea typeface="Arial" panose="020B0604020202020204"/>
              <a:cs typeface="Arial" panose="020B0604020202020204"/>
            </a:endParaRPr>
          </a:p>
        </p:txBody>
      </p:sp>
      <p:sp>
        <p:nvSpPr>
          <p:cNvPr id="15" name="Line 15"/>
          <p:cNvSpPr>
            <a:spLocks noGrp="1"/>
          </p:cNvSpPr>
          <p:nvPr/>
        </p:nvSpPr>
        <p:spPr>
          <a:xfrm>
            <a:off x="1295400" y="3400425"/>
            <a:ext cx="10210800" cy="9525"/>
          </a:xfrm>
          <a:custGeom>
            <a:avLst/>
            <a:gdLst/>
            <a:ahLst/>
            <a:cxnLst/>
            <a:rect l="l" t="t" r="r" b="b"/>
            <a:pathLst>
              <a:path w="10210800" h="9525">
                <a:moveTo>
                  <a:pt x="0" y="0"/>
                </a:moveTo>
                <a:lnTo>
                  <a:pt x="10210800" y="0"/>
                </a:lnTo>
              </a:path>
            </a:pathLst>
          </a:custGeom>
          <a:noFill/>
          <a:ln w="9525">
            <a:solidFill>
              <a:srgbClr val="D8DEE3"/>
            </a:solidFill>
          </a:ln>
        </p:spPr>
      </p:sp>
      <p:sp>
        <p:nvSpPr>
          <p:cNvPr id="17" name="TextBox 17"/>
          <p:cNvSpPr>
            <a:spLocks noGrp="1"/>
          </p:cNvSpPr>
          <p:nvPr/>
        </p:nvSpPr>
        <p:spPr>
          <a:xfrm>
            <a:off x="660082" y="3619976"/>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03</a:t>
            </a:r>
            <a:endParaRPr sz="2025" b="1">
              <a:solidFill>
                <a:srgbClr val="17324D"/>
              </a:solidFill>
              <a:latin typeface="Arial" panose="020B0604020202020204"/>
              <a:ea typeface="Arial" panose="020B0604020202020204"/>
              <a:cs typeface="Arial" panose="020B0604020202020204"/>
            </a:endParaRPr>
          </a:p>
        </p:txBody>
      </p:sp>
      <p:sp>
        <p:nvSpPr>
          <p:cNvPr id="18" name="TextBox 18"/>
          <p:cNvSpPr>
            <a:spLocks noGrp="1"/>
          </p:cNvSpPr>
          <p:nvPr/>
        </p:nvSpPr>
        <p:spPr>
          <a:xfrm>
            <a:off x="1277302" y="3646646"/>
            <a:ext cx="4345934"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Incremental test of the hybrid architecture</a:t>
            </a:r>
            <a:endParaRPr sz="1425" b="1">
              <a:solidFill>
                <a:srgbClr val="20262B"/>
              </a:solidFill>
              <a:latin typeface="Arial" panose="020B0604020202020204"/>
              <a:ea typeface="Arial" panose="020B0604020202020204"/>
              <a:cs typeface="Arial" panose="020B0604020202020204"/>
            </a:endParaRPr>
          </a:p>
        </p:txBody>
      </p:sp>
      <p:sp>
        <p:nvSpPr>
          <p:cNvPr id="19" name="TextBox 19"/>
          <p:cNvSpPr>
            <a:spLocks noGrp="1"/>
          </p:cNvSpPr>
          <p:nvPr/>
        </p:nvSpPr>
        <p:spPr>
          <a:xfrm>
            <a:off x="1280160" y="3956685"/>
            <a:ext cx="764286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Under identical initial conditions, compare rule-only ABM, hybrid ABM, and simple baselines on held-out </a:t>
            </a:r>
            <a:r>
              <a:rPr sz="1200">
                <a:solidFill>
                  <a:srgbClr val="20262B"/>
                </a:solidFill>
                <a:latin typeface="Arial" panose="020B0604020202020204"/>
                <a:ea typeface="Arial" panose="020B0604020202020204"/>
                <a:cs typeface="Arial" panose="020B0604020202020204"/>
              </a:rPr>
              <a:t>prediction of message expression, opinion change, sharing behavior, and group distributions.</a:t>
            </a:r>
            <a:endParaRPr sz="1200">
              <a:solidFill>
                <a:srgbClr val="20262B"/>
              </a:solidFill>
              <a:latin typeface="Arial" panose="020B0604020202020204"/>
              <a:ea typeface="Arial" panose="020B0604020202020204"/>
              <a:cs typeface="Arial" panose="020B0604020202020204"/>
            </a:endParaRPr>
          </a:p>
        </p:txBody>
      </p:sp>
      <p:sp>
        <p:nvSpPr>
          <p:cNvPr id="20" name="Line 20"/>
          <p:cNvSpPr>
            <a:spLocks noGrp="1"/>
          </p:cNvSpPr>
          <p:nvPr/>
        </p:nvSpPr>
        <p:spPr>
          <a:xfrm>
            <a:off x="1295400" y="4562475"/>
            <a:ext cx="10210800" cy="9525"/>
          </a:xfrm>
          <a:custGeom>
            <a:avLst/>
            <a:gdLst/>
            <a:ahLst/>
            <a:cxnLst/>
            <a:rect l="l" t="t" r="r" b="b"/>
            <a:pathLst>
              <a:path w="10210800" h="9525">
                <a:moveTo>
                  <a:pt x="0" y="0"/>
                </a:moveTo>
                <a:lnTo>
                  <a:pt x="10210800" y="0"/>
                </a:lnTo>
              </a:path>
            </a:pathLst>
          </a:custGeom>
          <a:noFill/>
          <a:ln w="9525">
            <a:solidFill>
              <a:srgbClr val="D8DEE3"/>
            </a:solidFill>
          </a:ln>
        </p:spPr>
      </p:sp>
      <p:sp>
        <p:nvSpPr>
          <p:cNvPr id="22" name="TextBox 22"/>
          <p:cNvSpPr>
            <a:spLocks noGrp="1"/>
          </p:cNvSpPr>
          <p:nvPr/>
        </p:nvSpPr>
        <p:spPr>
          <a:xfrm>
            <a:off x="660082" y="4782026"/>
            <a:ext cx="363324" cy="411480"/>
          </a:xfrm>
          <a:prstGeom prst="rect">
            <a:avLst/>
          </a:prstGeom>
          <a:noFill/>
          <a:ln>
            <a:noFill/>
          </a:ln>
        </p:spPr>
        <p:txBody>
          <a:bodyPr wrap="none" lIns="0" tIns="0" rIns="0" bIns="0" anchor="t">
            <a:spAutoFit/>
          </a:bodyPr>
          <a:lstStyle/>
          <a:p>
            <a:pPr algn="l">
              <a:buNone/>
            </a:pPr>
            <a:r>
              <a:rPr sz="2025" b="1">
                <a:solidFill>
                  <a:srgbClr val="17324D"/>
                </a:solidFill>
                <a:latin typeface="Arial" panose="020B0604020202020204"/>
                <a:ea typeface="Arial" panose="020B0604020202020204"/>
                <a:cs typeface="Arial" panose="020B0604020202020204"/>
              </a:rPr>
              <a:t>04</a:t>
            </a:r>
            <a:endParaRPr sz="2025" b="1">
              <a:solidFill>
                <a:srgbClr val="17324D"/>
              </a:solidFill>
              <a:latin typeface="Arial" panose="020B0604020202020204"/>
              <a:ea typeface="Arial" panose="020B0604020202020204"/>
              <a:cs typeface="Arial" panose="020B0604020202020204"/>
            </a:endParaRPr>
          </a:p>
        </p:txBody>
      </p:sp>
      <p:sp>
        <p:nvSpPr>
          <p:cNvPr id="23" name="TextBox 23"/>
          <p:cNvSpPr>
            <a:spLocks noGrp="1"/>
          </p:cNvSpPr>
          <p:nvPr/>
        </p:nvSpPr>
        <p:spPr>
          <a:xfrm>
            <a:off x="1277302" y="4808696"/>
            <a:ext cx="3368261"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Validation of group-level patterns</a:t>
            </a:r>
            <a:endParaRPr sz="1425" b="1">
              <a:solidFill>
                <a:srgbClr val="20262B"/>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1280160" y="5118735"/>
            <a:ext cx="7772400" cy="462915"/>
          </a:xfrm>
          <a:prstGeom prst="rect">
            <a:avLst/>
          </a:prstGeom>
          <a:noFill/>
          <a:ln>
            <a:noFill/>
          </a:ln>
        </p:spPr>
        <p:txBody>
          <a:bodyPr wrap="square" lIns="0" tIns="0" rIns="0" bIns="0" anchor="t"/>
          <a:lstStyle/>
          <a:p>
            <a:pPr algn="l">
              <a:lnSpc>
                <a:spcPts val="1725"/>
              </a:lnSpc>
              <a:buNone/>
            </a:pPr>
            <a:r>
              <a:rPr sz="1200">
                <a:solidFill>
                  <a:srgbClr val="20262B"/>
                </a:solidFill>
                <a:latin typeface="Arial" panose="020B0604020202020204"/>
                <a:ea typeface="Arial" panose="020B0604020202020204"/>
                <a:cs typeface="Arial" panose="020B0604020202020204"/>
              </a:rPr>
              <a:t>Use small, limited-round human group experiments to compare opinion trajectories, variance, clusters, </a:t>
            </a:r>
            <a:r>
              <a:rPr sz="1200">
                <a:solidFill>
                  <a:srgbClr val="20262B"/>
                </a:solidFill>
                <a:latin typeface="Arial" panose="020B0604020202020204"/>
                <a:ea typeface="Arial" panose="020B0604020202020204"/>
                <a:cs typeface="Arial" panose="020B0604020202020204"/>
              </a:rPr>
              <a:t>and diffusion patterns with simulated groups under matched initial conditions.</a:t>
            </a:r>
            <a:endParaRPr sz="1200">
              <a:solidFill>
                <a:srgbClr val="20262B"/>
              </a:solidFill>
              <a:latin typeface="Arial" panose="020B0604020202020204"/>
              <a:ea typeface="Arial" panose="020B0604020202020204"/>
              <a:cs typeface="Arial" panose="020B0604020202020204"/>
            </a:endParaRPr>
          </a:p>
        </p:txBody>
      </p:sp>
      <p:sp>
        <p:nvSpPr>
          <p:cNvPr id="26" name="Line 26"/>
          <p:cNvSpPr>
            <a:spLocks noGrp="1"/>
          </p:cNvSpPr>
          <p:nvPr/>
        </p:nvSpPr>
        <p:spPr>
          <a:xfrm>
            <a:off x="685800" y="5781675"/>
            <a:ext cx="10820400" cy="9525"/>
          </a:xfrm>
          <a:custGeom>
            <a:avLst/>
            <a:gdLst/>
            <a:ahLst/>
            <a:cxnLst/>
            <a:rect l="l" t="t" r="r" b="b"/>
            <a:pathLst>
              <a:path w="10820400" h="9525">
                <a:moveTo>
                  <a:pt x="0" y="0"/>
                </a:moveTo>
                <a:lnTo>
                  <a:pt x="10820400" y="0"/>
                </a:lnTo>
              </a:path>
            </a:pathLst>
          </a:custGeom>
          <a:noFill/>
          <a:ln w="19050">
            <a:solidFill>
              <a:srgbClr val="17324D"/>
            </a:solidFill>
          </a:ln>
        </p:spPr>
      </p:sp>
      <p:sp>
        <p:nvSpPr>
          <p:cNvPr id="27" name="TextBox 27"/>
          <p:cNvSpPr>
            <a:spLocks noGrp="1"/>
          </p:cNvSpPr>
          <p:nvPr/>
        </p:nvSpPr>
        <p:spPr>
          <a:xfrm>
            <a:off x="671512" y="5974556"/>
            <a:ext cx="1068205" cy="228600"/>
          </a:xfrm>
          <a:prstGeom prst="rect">
            <a:avLst/>
          </a:prstGeom>
          <a:noFill/>
          <a:ln>
            <a:noFill/>
          </a:ln>
        </p:spPr>
        <p:txBody>
          <a:bodyPr wrap="none" lIns="0" tIns="0" rIns="0" bIns="0" anchor="t">
            <a:spAutoFit/>
          </a:bodyPr>
          <a:lstStyle/>
          <a:p>
            <a:pPr algn="l">
              <a:buNone/>
            </a:pPr>
            <a:r>
              <a:rPr sz="1125" b="1">
                <a:solidFill>
                  <a:srgbClr val="17324D"/>
                </a:solidFill>
                <a:latin typeface="Arial" panose="020B0604020202020204"/>
                <a:ea typeface="Arial" panose="020B0604020202020204"/>
                <a:cs typeface="Arial" panose="020B0604020202020204"/>
              </a:rPr>
              <a:t>DECISION RULE</a:t>
            </a:r>
            <a:endParaRPr sz="1125" b="1">
              <a:solidFill>
                <a:srgbClr val="17324D"/>
              </a:solidFill>
              <a:latin typeface="Arial" panose="020B0604020202020204"/>
              <a:ea typeface="Arial" panose="020B0604020202020204"/>
              <a:cs typeface="Arial" panose="020B0604020202020204"/>
            </a:endParaRPr>
          </a:p>
        </p:txBody>
      </p:sp>
      <p:sp>
        <p:nvSpPr>
          <p:cNvPr id="28" name="TextBox 28"/>
          <p:cNvSpPr>
            <a:spLocks noGrp="1"/>
          </p:cNvSpPr>
          <p:nvPr/>
        </p:nvSpPr>
        <p:spPr>
          <a:xfrm>
            <a:off x="1967865" y="5887402"/>
            <a:ext cx="7207568" cy="403860"/>
          </a:xfrm>
          <a:prstGeom prst="rect">
            <a:avLst/>
          </a:prstGeom>
          <a:noFill/>
          <a:ln>
            <a:noFill/>
          </a:ln>
        </p:spPr>
        <p:txBody>
          <a:bodyPr wrap="square" lIns="0" tIns="0" rIns="0" bIns="0" anchor="t"/>
          <a:lstStyle/>
          <a:p>
            <a:pPr algn="l">
              <a:lnSpc>
                <a:spcPts val="1500"/>
              </a:lnSpc>
              <a:buNone/>
            </a:pPr>
            <a:r>
              <a:rPr sz="1050">
                <a:solidFill>
                  <a:srgbClr val="20262B"/>
                </a:solidFill>
                <a:latin typeface="Arial" panose="020B0604020202020204"/>
                <a:ea typeface="Arial" panose="020B0604020202020204"/>
                <a:cs typeface="Arial" panose="020B0604020202020204"/>
              </a:rPr>
              <a:t>Use function ablation and sensitivity analysis. If the hybrid model does not improve out-of-sample prediction, </a:t>
            </a:r>
            <a:r>
              <a:rPr sz="1050">
                <a:solidFill>
                  <a:srgbClr val="20262B"/>
                </a:solidFill>
                <a:latin typeface="Arial" panose="020B0604020202020204"/>
                <a:ea typeface="Arial" panose="020B0604020202020204"/>
                <a:cs typeface="Arial" panose="020B0604020202020204"/>
              </a:rPr>
              <a:t>claim no additional methodological value for LLM agents.</a:t>
            </a:r>
            <a:endParaRPr sz="1050">
              <a:solidFill>
                <a:srgbClr val="20262B"/>
              </a:solidFill>
              <a:latin typeface="Arial" panose="020B0604020202020204"/>
              <a:ea typeface="Arial" panose="020B0604020202020204"/>
              <a:cs typeface="Arial" panose="020B0604020202020204"/>
            </a:endParaRPr>
          </a:p>
        </p:txBody>
      </p:sp>
      <p:sp>
        <p:nvSpPr>
          <p:cNvPr id="30" name="TextBox 30"/>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10</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2"/>
          <p:cNvSpPr>
            <a:spLocks noGrp="1"/>
          </p:cNvSpPr>
          <p:nvPr/>
        </p:nvSpPr>
        <p:spPr>
          <a:xfrm>
            <a:off x="0" y="0"/>
            <a:ext cx="12192000" cy="6858000"/>
          </a:xfrm>
          <a:prstGeom prst="rect">
            <a:avLst/>
          </a:prstGeom>
          <a:solidFill>
            <a:srgbClr val="FFFFFF"/>
          </a:solidFill>
          <a:ln>
            <a:noFill/>
          </a:ln>
        </p:spPr>
      </p:sp>
      <p:sp>
        <p:nvSpPr>
          <p:cNvPr id="3" name="TextBox 3"/>
          <p:cNvSpPr>
            <a:spLocks noGrp="1"/>
          </p:cNvSpPr>
          <p:nvPr/>
        </p:nvSpPr>
        <p:spPr>
          <a:xfrm>
            <a:off x="541020" y="464820"/>
            <a:ext cx="3875037" cy="487680"/>
          </a:xfrm>
          <a:prstGeom prst="rect">
            <a:avLst/>
          </a:prstGeom>
          <a:noFill/>
          <a:ln>
            <a:noFill/>
          </a:ln>
        </p:spPr>
        <p:txBody>
          <a:bodyPr wrap="none" lIns="0" tIns="0" rIns="0" bIns="0" anchor="t">
            <a:spAutoFit/>
          </a:bodyPr>
          <a:lstStyle/>
          <a:p>
            <a:pPr algn="l">
              <a:buNone/>
            </a:pPr>
            <a:r>
              <a:rPr sz="2400" b="1">
                <a:solidFill>
                  <a:srgbClr val="20262B"/>
                </a:solidFill>
                <a:latin typeface="Arial" panose="020B0604020202020204"/>
                <a:ea typeface="Arial" panose="020B0604020202020204"/>
                <a:cs typeface="Arial" panose="020B0604020202020204"/>
              </a:rPr>
              <a:t>Expected Contributions</a:t>
            </a:r>
            <a:endParaRPr sz="2400" b="1">
              <a:solidFill>
                <a:srgbClr val="20262B"/>
              </a:solidFill>
              <a:latin typeface="Arial" panose="020B0604020202020204"/>
              <a:ea typeface="Arial" panose="020B0604020202020204"/>
              <a:cs typeface="Arial" panose="020B0604020202020204"/>
            </a:endParaRPr>
          </a:p>
        </p:txBody>
      </p:sp>
      <p:sp>
        <p:nvSpPr>
          <p:cNvPr id="4" name="Line 4"/>
          <p:cNvSpPr>
            <a:spLocks noGrp="1"/>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a:spLocks noGrp="1"/>
          </p:cNvSpPr>
          <p:nvPr/>
        </p:nvSpPr>
        <p:spPr>
          <a:xfrm>
            <a:off x="571500" y="952500"/>
            <a:ext cx="1104900" cy="28575"/>
          </a:xfrm>
          <a:prstGeom prst="rect">
            <a:avLst/>
          </a:prstGeom>
          <a:solidFill>
            <a:srgbClr val="17324D"/>
          </a:solidFill>
          <a:ln>
            <a:noFill/>
          </a:ln>
        </p:spPr>
      </p:sp>
      <p:sp>
        <p:nvSpPr>
          <p:cNvPr id="7" name="Line 7"/>
          <p:cNvSpPr>
            <a:spLocks noGrp="1"/>
          </p:cNvSpPr>
          <p:nvPr/>
        </p:nvSpPr>
        <p:spPr>
          <a:xfrm>
            <a:off x="6096000" y="1257300"/>
            <a:ext cx="9525" cy="4514850"/>
          </a:xfrm>
          <a:custGeom>
            <a:avLst/>
            <a:gdLst/>
            <a:ahLst/>
            <a:cxnLst/>
            <a:rect l="l" t="t" r="r" b="b"/>
            <a:pathLst>
              <a:path w="9525" h="4514850">
                <a:moveTo>
                  <a:pt x="0" y="0"/>
                </a:moveTo>
                <a:lnTo>
                  <a:pt x="0" y="4514850"/>
                </a:lnTo>
              </a:path>
            </a:pathLst>
          </a:custGeom>
          <a:noFill/>
          <a:ln w="9525">
            <a:solidFill>
              <a:srgbClr val="D8DEE3"/>
            </a:solidFill>
          </a:ln>
        </p:spPr>
      </p:sp>
      <p:sp>
        <p:nvSpPr>
          <p:cNvPr id="8" name="Line 8"/>
          <p:cNvSpPr>
            <a:spLocks noGrp="1"/>
          </p:cNvSpPr>
          <p:nvPr/>
        </p:nvSpPr>
        <p:spPr>
          <a:xfrm>
            <a:off x="685800" y="3486150"/>
            <a:ext cx="10820400" cy="9525"/>
          </a:xfrm>
          <a:custGeom>
            <a:avLst/>
            <a:gdLst/>
            <a:ahLst/>
            <a:cxnLst/>
            <a:rect l="l" t="t" r="r" b="b"/>
            <a:pathLst>
              <a:path w="10820400" h="9525">
                <a:moveTo>
                  <a:pt x="0" y="0"/>
                </a:moveTo>
                <a:lnTo>
                  <a:pt x="10820400" y="0"/>
                </a:lnTo>
              </a:path>
            </a:pathLst>
          </a:custGeom>
          <a:noFill/>
          <a:ln w="9525">
            <a:solidFill>
              <a:srgbClr val="D8DEE3"/>
            </a:solidFill>
          </a:ln>
        </p:spPr>
      </p:sp>
      <p:sp>
        <p:nvSpPr>
          <p:cNvPr id="10" name="TextBox 10"/>
          <p:cNvSpPr>
            <a:spLocks noGrp="1"/>
          </p:cNvSpPr>
          <p:nvPr/>
        </p:nvSpPr>
        <p:spPr>
          <a:xfrm>
            <a:off x="661035" y="1313498"/>
            <a:ext cx="349868" cy="396240"/>
          </a:xfrm>
          <a:prstGeom prst="rect">
            <a:avLst/>
          </a:prstGeom>
          <a:noFill/>
          <a:ln>
            <a:noFill/>
          </a:ln>
        </p:spPr>
        <p:txBody>
          <a:bodyPr wrap="none" lIns="0" tIns="0" rIns="0" bIns="0" anchor="t">
            <a:spAutoFit/>
          </a:bodyPr>
          <a:lstStyle/>
          <a:p>
            <a:pPr algn="l">
              <a:buNone/>
            </a:pPr>
            <a:r>
              <a:rPr sz="1950" b="1">
                <a:solidFill>
                  <a:srgbClr val="17324D"/>
                </a:solidFill>
                <a:latin typeface="Arial" panose="020B0604020202020204"/>
                <a:ea typeface="Arial" panose="020B0604020202020204"/>
                <a:cs typeface="Arial" panose="020B0604020202020204"/>
              </a:rPr>
              <a:t>01</a:t>
            </a:r>
            <a:endParaRPr sz="1950" b="1">
              <a:solidFill>
                <a:srgbClr val="17324D"/>
              </a:solidFill>
              <a:latin typeface="Arial" panose="020B0604020202020204"/>
              <a:ea typeface="Arial" panose="020B0604020202020204"/>
              <a:cs typeface="Arial" panose="020B0604020202020204"/>
            </a:endParaRPr>
          </a:p>
        </p:txBody>
      </p:sp>
      <p:sp>
        <p:nvSpPr>
          <p:cNvPr id="11" name="TextBox 11"/>
          <p:cNvSpPr>
            <a:spLocks noGrp="1"/>
          </p:cNvSpPr>
          <p:nvPr/>
        </p:nvSpPr>
        <p:spPr>
          <a:xfrm>
            <a:off x="1182052" y="1341596"/>
            <a:ext cx="4565411"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From individual interaction to group formation</a:t>
            </a:r>
            <a:endParaRPr sz="1425" b="1">
              <a:solidFill>
                <a:srgbClr val="20262B"/>
              </a:solidFill>
              <a:latin typeface="Arial" panose="020B0604020202020204"/>
              <a:ea typeface="Arial" panose="020B0604020202020204"/>
              <a:cs typeface="Arial" panose="020B0604020202020204"/>
            </a:endParaRPr>
          </a:p>
        </p:txBody>
      </p:sp>
      <p:sp>
        <p:nvSpPr>
          <p:cNvPr id="12" name="TextBox 12"/>
          <p:cNvSpPr>
            <a:spLocks noGrp="1"/>
          </p:cNvSpPr>
          <p:nvPr/>
        </p:nvSpPr>
        <p:spPr>
          <a:xfrm>
            <a:off x="670560" y="1813560"/>
            <a:ext cx="5402580" cy="7010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Extend human–LLM interaction research from individual responses </a:t>
            </a:r>
            <a:r>
              <a:rPr sz="1200">
                <a:solidFill>
                  <a:srgbClr val="20262B"/>
                </a:solidFill>
                <a:latin typeface="Arial" panose="020B0604020202020204"/>
                <a:ea typeface="Arial" panose="020B0604020202020204"/>
                <a:cs typeface="Arial" panose="020B0604020202020204"/>
              </a:rPr>
              <a:t>to a micro–macro process connecting generated information, exposure, </a:t>
            </a:r>
            <a:r>
              <a:rPr sz="1200">
                <a:solidFill>
                  <a:srgbClr val="20262B"/>
                </a:solidFill>
                <a:latin typeface="Arial" panose="020B0604020202020204"/>
                <a:ea typeface="Arial" panose="020B0604020202020204"/>
                <a:cs typeface="Arial" panose="020B0604020202020204"/>
              </a:rPr>
              <a:t>diffusion, opinion updating, and group opinion distributions.</a:t>
            </a:r>
            <a:endParaRPr sz="1200">
              <a:solidFill>
                <a:srgbClr val="20262B"/>
              </a:solidFill>
              <a:latin typeface="Arial" panose="020B0604020202020204"/>
              <a:ea typeface="Arial" panose="020B0604020202020204"/>
              <a:cs typeface="Arial" panose="020B0604020202020204"/>
            </a:endParaRPr>
          </a:p>
        </p:txBody>
      </p:sp>
      <p:sp>
        <p:nvSpPr>
          <p:cNvPr id="14" name="TextBox 14"/>
          <p:cNvSpPr>
            <a:spLocks noGrp="1"/>
          </p:cNvSpPr>
          <p:nvPr/>
        </p:nvSpPr>
        <p:spPr>
          <a:xfrm>
            <a:off x="6414135" y="1313498"/>
            <a:ext cx="349868" cy="396240"/>
          </a:xfrm>
          <a:prstGeom prst="rect">
            <a:avLst/>
          </a:prstGeom>
          <a:noFill/>
          <a:ln>
            <a:noFill/>
          </a:ln>
        </p:spPr>
        <p:txBody>
          <a:bodyPr wrap="none" lIns="0" tIns="0" rIns="0" bIns="0" anchor="t">
            <a:spAutoFit/>
          </a:bodyPr>
          <a:lstStyle/>
          <a:p>
            <a:pPr algn="l">
              <a:buNone/>
            </a:pPr>
            <a:r>
              <a:rPr sz="1950" b="1">
                <a:solidFill>
                  <a:srgbClr val="17324D"/>
                </a:solidFill>
                <a:latin typeface="Arial" panose="020B0604020202020204"/>
                <a:ea typeface="Arial" panose="020B0604020202020204"/>
                <a:cs typeface="Arial" panose="020B0604020202020204"/>
              </a:rPr>
              <a:t>02</a:t>
            </a:r>
            <a:endParaRPr sz="1950" b="1">
              <a:solidFill>
                <a:srgbClr val="17324D"/>
              </a:solidFill>
              <a:latin typeface="Arial" panose="020B0604020202020204"/>
              <a:ea typeface="Arial" panose="020B0604020202020204"/>
              <a:cs typeface="Arial" panose="020B0604020202020204"/>
            </a:endParaRPr>
          </a:p>
        </p:txBody>
      </p:sp>
      <p:sp>
        <p:nvSpPr>
          <p:cNvPr id="15" name="TextBox 15"/>
          <p:cNvSpPr>
            <a:spLocks noGrp="1"/>
          </p:cNvSpPr>
          <p:nvPr/>
        </p:nvSpPr>
        <p:spPr>
          <a:xfrm>
            <a:off x="6935152" y="1341596"/>
            <a:ext cx="4625269"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Natural-language processes in opinion dynamics</a:t>
            </a:r>
            <a:endParaRPr sz="1425" b="1">
              <a:solidFill>
                <a:srgbClr val="20262B"/>
              </a:solidFill>
              <a:latin typeface="Arial" panose="020B0604020202020204"/>
              <a:ea typeface="Arial" panose="020B0604020202020204"/>
              <a:cs typeface="Arial" panose="020B0604020202020204"/>
            </a:endParaRPr>
          </a:p>
        </p:txBody>
      </p:sp>
      <p:sp>
        <p:nvSpPr>
          <p:cNvPr id="16" name="TextBox 16"/>
          <p:cNvSpPr>
            <a:spLocks noGrp="1"/>
          </p:cNvSpPr>
          <p:nvPr/>
        </p:nvSpPr>
        <p:spPr>
          <a:xfrm>
            <a:off x="6423660" y="1813560"/>
            <a:ext cx="5143500" cy="4724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Separate message generation, information selection, and opinion </a:t>
            </a:r>
            <a:r>
              <a:rPr sz="1200">
                <a:solidFill>
                  <a:srgbClr val="20262B"/>
                </a:solidFill>
                <a:latin typeface="Arial" panose="020B0604020202020204"/>
                <a:ea typeface="Arial" panose="020B0604020202020204"/>
                <a:cs typeface="Arial" panose="020B0604020202020204"/>
              </a:rPr>
              <a:t>updating so that language content is not compressed into one state.</a:t>
            </a:r>
            <a:endParaRPr sz="1200">
              <a:solidFill>
                <a:srgbClr val="20262B"/>
              </a:solidFill>
              <a:latin typeface="Arial" panose="020B0604020202020204"/>
              <a:ea typeface="Arial" panose="020B0604020202020204"/>
              <a:cs typeface="Arial" panose="020B0604020202020204"/>
            </a:endParaRPr>
          </a:p>
        </p:txBody>
      </p:sp>
      <p:pic>
        <p:nvPicPr>
          <p:cNvPr id="44" name="Image 17"/>
          <p:cNvPicPr>
            <a:picLocks noChangeAspect="1"/>
          </p:cNvPicPr>
          <p:nvPr/>
        </p:nvPicPr>
        <p:blipFill>
          <a:blip r:embed="rId1"/>
          <a:stretch>
            <a:fillRect/>
          </a:stretch>
        </p:blipFill>
        <p:spPr>
          <a:xfrm>
            <a:off x="6896100" y="2704342"/>
            <a:ext cx="4000500" cy="306317"/>
          </a:xfrm>
          <a:prstGeom prst="rect">
            <a:avLst/>
          </a:prstGeom>
        </p:spPr>
      </p:pic>
      <p:sp>
        <p:nvSpPr>
          <p:cNvPr id="19" name="TextBox 19"/>
          <p:cNvSpPr>
            <a:spLocks noGrp="1"/>
          </p:cNvSpPr>
          <p:nvPr/>
        </p:nvSpPr>
        <p:spPr>
          <a:xfrm>
            <a:off x="661035" y="3732848"/>
            <a:ext cx="349868" cy="396240"/>
          </a:xfrm>
          <a:prstGeom prst="rect">
            <a:avLst/>
          </a:prstGeom>
          <a:noFill/>
          <a:ln>
            <a:noFill/>
          </a:ln>
        </p:spPr>
        <p:txBody>
          <a:bodyPr wrap="none" lIns="0" tIns="0" rIns="0" bIns="0" anchor="t">
            <a:spAutoFit/>
          </a:bodyPr>
          <a:lstStyle/>
          <a:p>
            <a:pPr algn="l">
              <a:buNone/>
            </a:pPr>
            <a:r>
              <a:rPr sz="1950" b="1">
                <a:solidFill>
                  <a:srgbClr val="17324D"/>
                </a:solidFill>
                <a:latin typeface="Arial" panose="020B0604020202020204"/>
                <a:ea typeface="Arial" panose="020B0604020202020204"/>
                <a:cs typeface="Arial" panose="020B0604020202020204"/>
              </a:rPr>
              <a:t>03</a:t>
            </a:r>
            <a:endParaRPr sz="1950" b="1">
              <a:solidFill>
                <a:srgbClr val="17324D"/>
              </a:solidFill>
              <a:latin typeface="Arial" panose="020B0604020202020204"/>
              <a:ea typeface="Arial" panose="020B0604020202020204"/>
              <a:cs typeface="Arial" panose="020B0604020202020204"/>
            </a:endParaRPr>
          </a:p>
        </p:txBody>
      </p:sp>
      <p:sp>
        <p:nvSpPr>
          <p:cNvPr id="20" name="TextBox 20"/>
          <p:cNvSpPr>
            <a:spLocks noGrp="1"/>
          </p:cNvSpPr>
          <p:nvPr/>
        </p:nvSpPr>
        <p:spPr>
          <a:xfrm>
            <a:off x="1182052" y="3760946"/>
            <a:ext cx="3817193"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Boundaries of LLM-output homogeneity</a:t>
            </a:r>
            <a:endParaRPr sz="1425" b="1">
              <a:solidFill>
                <a:srgbClr val="20262B"/>
              </a:solidFill>
              <a:latin typeface="Arial" panose="020B0604020202020204"/>
              <a:ea typeface="Arial" panose="020B0604020202020204"/>
              <a:cs typeface="Arial" panose="020B0604020202020204"/>
            </a:endParaRPr>
          </a:p>
        </p:txBody>
      </p:sp>
      <p:sp>
        <p:nvSpPr>
          <p:cNvPr id="21" name="TextBox 21"/>
          <p:cNvSpPr>
            <a:spLocks noGrp="1"/>
          </p:cNvSpPr>
          <p:nvPr/>
        </p:nvSpPr>
        <p:spPr>
          <a:xfrm>
            <a:off x="670560" y="4232910"/>
            <a:ext cx="4914900" cy="7010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Test when shared information promotes convergence and when </a:t>
            </a:r>
            <a:r>
              <a:rPr sz="1200">
                <a:solidFill>
                  <a:srgbClr val="20262B"/>
                </a:solidFill>
                <a:latin typeface="Arial" panose="020B0604020202020204"/>
                <a:ea typeface="Arial" panose="020B0604020202020204"/>
                <a:cs typeface="Arial" panose="020B0604020202020204"/>
              </a:rPr>
              <a:t>stance-conditioned generation plus bounded acceptance promotes </a:t>
            </a:r>
            <a:r>
              <a:rPr sz="1200">
                <a:solidFill>
                  <a:srgbClr val="20262B"/>
                </a:solidFill>
                <a:latin typeface="Arial" panose="020B0604020202020204"/>
                <a:ea typeface="Arial" panose="020B0604020202020204"/>
                <a:cs typeface="Arial" panose="020B0604020202020204"/>
              </a:rPr>
              <a:t>clustering, polarization, or persistent differentiation.</a:t>
            </a:r>
            <a:endParaRPr sz="1200">
              <a:solidFill>
                <a:srgbClr val="20262B"/>
              </a:solidFill>
              <a:latin typeface="Arial" panose="020B0604020202020204"/>
              <a:ea typeface="Arial" panose="020B0604020202020204"/>
              <a:cs typeface="Arial" panose="020B0604020202020204"/>
            </a:endParaRPr>
          </a:p>
        </p:txBody>
      </p:sp>
      <p:sp>
        <p:nvSpPr>
          <p:cNvPr id="23" name="TextBox 23"/>
          <p:cNvSpPr>
            <a:spLocks noGrp="1"/>
          </p:cNvSpPr>
          <p:nvPr/>
        </p:nvSpPr>
        <p:spPr>
          <a:xfrm>
            <a:off x="6414135" y="3732848"/>
            <a:ext cx="349868" cy="396240"/>
          </a:xfrm>
          <a:prstGeom prst="rect">
            <a:avLst/>
          </a:prstGeom>
          <a:noFill/>
          <a:ln>
            <a:noFill/>
          </a:ln>
        </p:spPr>
        <p:txBody>
          <a:bodyPr wrap="none" lIns="0" tIns="0" rIns="0" bIns="0" anchor="t">
            <a:spAutoFit/>
          </a:bodyPr>
          <a:lstStyle/>
          <a:p>
            <a:pPr algn="l">
              <a:buNone/>
            </a:pPr>
            <a:r>
              <a:rPr sz="1950" b="1">
                <a:solidFill>
                  <a:srgbClr val="17324D"/>
                </a:solidFill>
                <a:latin typeface="Arial" panose="020B0604020202020204"/>
                <a:ea typeface="Arial" panose="020B0604020202020204"/>
                <a:cs typeface="Arial" panose="020B0604020202020204"/>
              </a:rPr>
              <a:t>04</a:t>
            </a:r>
            <a:endParaRPr sz="1950" b="1">
              <a:solidFill>
                <a:srgbClr val="17324D"/>
              </a:solidFill>
              <a:latin typeface="Arial" panose="020B0604020202020204"/>
              <a:ea typeface="Arial" panose="020B0604020202020204"/>
              <a:cs typeface="Arial" panose="020B0604020202020204"/>
            </a:endParaRPr>
          </a:p>
        </p:txBody>
      </p:sp>
      <p:sp>
        <p:nvSpPr>
          <p:cNvPr id="24" name="TextBox 24"/>
          <p:cNvSpPr>
            <a:spLocks noGrp="1"/>
          </p:cNvSpPr>
          <p:nvPr/>
        </p:nvSpPr>
        <p:spPr>
          <a:xfrm>
            <a:off x="6935152" y="3760946"/>
            <a:ext cx="3617668" cy="289560"/>
          </a:xfrm>
          <a:prstGeom prst="rect">
            <a:avLst/>
          </a:prstGeom>
          <a:noFill/>
          <a:ln>
            <a:noFill/>
          </a:ln>
        </p:spPr>
        <p:txBody>
          <a:bodyPr wrap="none" lIns="0" tIns="0" rIns="0" bIns="0" anchor="t">
            <a:spAutoFit/>
          </a:bodyPr>
          <a:lstStyle/>
          <a:p>
            <a:pPr algn="l">
              <a:buNone/>
            </a:pPr>
            <a:r>
              <a:rPr sz="1425" b="1">
                <a:solidFill>
                  <a:srgbClr val="20262B"/>
                </a:solidFill>
                <a:latin typeface="Arial" panose="020B0604020202020204"/>
                <a:ea typeface="Arial" panose="020B0604020202020204"/>
                <a:cs typeface="Arial" panose="020B0604020202020204"/>
              </a:rPr>
              <a:t>Extend the explanatory scope of ABM</a:t>
            </a:r>
            <a:endParaRPr sz="1425" b="1">
              <a:solidFill>
                <a:srgbClr val="20262B"/>
              </a:solidFill>
              <a:latin typeface="Arial" panose="020B0604020202020204"/>
              <a:ea typeface="Arial" panose="020B0604020202020204"/>
              <a:cs typeface="Arial" panose="020B0604020202020204"/>
            </a:endParaRPr>
          </a:p>
        </p:txBody>
      </p:sp>
      <p:sp>
        <p:nvSpPr>
          <p:cNvPr id="25" name="TextBox 25"/>
          <p:cNvSpPr>
            <a:spLocks noGrp="1"/>
          </p:cNvSpPr>
          <p:nvPr/>
        </p:nvSpPr>
        <p:spPr>
          <a:xfrm>
            <a:off x="6423660" y="4232910"/>
            <a:ext cx="5189220" cy="701040"/>
          </a:xfrm>
          <a:prstGeom prst="rect">
            <a:avLst/>
          </a:prstGeom>
          <a:noFill/>
          <a:ln>
            <a:noFill/>
          </a:ln>
        </p:spPr>
        <p:txBody>
          <a:bodyPr wrap="square" lIns="0" tIns="0" rIns="0" bIns="0" anchor="t"/>
          <a:lstStyle/>
          <a:p>
            <a:pPr algn="l">
              <a:lnSpc>
                <a:spcPts val="1800"/>
              </a:lnSpc>
              <a:buNone/>
            </a:pPr>
            <a:r>
              <a:rPr sz="1200">
                <a:solidFill>
                  <a:srgbClr val="20262B"/>
                </a:solidFill>
                <a:latin typeface="Arial" panose="020B0604020202020204"/>
                <a:ea typeface="Arial" panose="020B0604020202020204"/>
                <a:cs typeface="Arial" panose="020B0604020202020204"/>
              </a:rPr>
              <a:t>Combine explicit dynamic rules with readable natural-language </a:t>
            </a:r>
            <a:r>
              <a:rPr sz="1200">
                <a:solidFill>
                  <a:srgbClr val="20262B"/>
                </a:solidFill>
                <a:latin typeface="Arial" panose="020B0604020202020204"/>
                <a:ea typeface="Arial" panose="020B0604020202020204"/>
                <a:cs typeface="Arial" panose="020B0604020202020204"/>
              </a:rPr>
              <a:t>process records. Trace group outcomes through messages, exposure </a:t>
            </a:r>
            <a:r>
              <a:rPr sz="1200">
                <a:solidFill>
                  <a:srgbClr val="20262B"/>
                </a:solidFill>
                <a:latin typeface="Arial" panose="020B0604020202020204"/>
                <a:ea typeface="Arial" panose="020B0604020202020204"/>
                <a:cs typeface="Arial" panose="020B0604020202020204"/>
              </a:rPr>
              <a:t>sets, diffusion paths, and round-by-round opinion changes.</a:t>
            </a:r>
            <a:endParaRPr sz="1200">
              <a:solidFill>
                <a:srgbClr val="20262B"/>
              </a:solidFill>
              <a:latin typeface="Arial" panose="020B0604020202020204"/>
              <a:ea typeface="Arial" panose="020B0604020202020204"/>
              <a:cs typeface="Arial" panose="020B0604020202020204"/>
            </a:endParaRPr>
          </a:p>
        </p:txBody>
      </p:sp>
      <p:sp>
        <p:nvSpPr>
          <p:cNvPr id="27" name="Line 27"/>
          <p:cNvSpPr>
            <a:spLocks noGrp="1"/>
          </p:cNvSpPr>
          <p:nvPr/>
        </p:nvSpPr>
        <p:spPr>
          <a:xfrm>
            <a:off x="685800" y="5867400"/>
            <a:ext cx="10820400" cy="9525"/>
          </a:xfrm>
          <a:custGeom>
            <a:avLst/>
            <a:gdLst/>
            <a:ahLst/>
            <a:cxnLst/>
            <a:rect l="l" t="t" r="r" b="b"/>
            <a:pathLst>
              <a:path w="10820400" h="9525">
                <a:moveTo>
                  <a:pt x="0" y="0"/>
                </a:moveTo>
                <a:lnTo>
                  <a:pt x="10820400" y="0"/>
                </a:lnTo>
              </a:path>
            </a:pathLst>
          </a:custGeom>
          <a:noFill/>
          <a:ln w="9525">
            <a:solidFill>
              <a:srgbClr val="17324D"/>
            </a:solidFill>
          </a:ln>
        </p:spPr>
      </p:sp>
      <p:sp>
        <p:nvSpPr>
          <p:cNvPr id="28" name="TextBox 28"/>
          <p:cNvSpPr>
            <a:spLocks noGrp="1"/>
          </p:cNvSpPr>
          <p:nvPr/>
        </p:nvSpPr>
        <p:spPr>
          <a:xfrm>
            <a:off x="672465" y="6020752"/>
            <a:ext cx="5047297" cy="403860"/>
          </a:xfrm>
          <a:prstGeom prst="rect">
            <a:avLst/>
          </a:prstGeom>
          <a:noFill/>
          <a:ln>
            <a:noFill/>
          </a:ln>
        </p:spPr>
        <p:txBody>
          <a:bodyPr wrap="square" lIns="0" tIns="0" rIns="0" bIns="0" anchor="t"/>
          <a:lstStyle/>
          <a:p>
            <a:pPr algn="l">
              <a:lnSpc>
                <a:spcPts val="1500"/>
              </a:lnSpc>
              <a:buNone/>
            </a:pPr>
            <a:r>
              <a:rPr sz="1050">
                <a:solidFill>
                  <a:srgbClr val="7A8792"/>
                </a:solidFill>
                <a:latin typeface="Arial" panose="020B0604020202020204"/>
                <a:ea typeface="Arial" panose="020B0604020202020204"/>
                <a:cs typeface="Arial" panose="020B0604020202020204"/>
              </a:rPr>
              <a:t>All contributions are prospective and will be retained, narrowed, or removed </a:t>
            </a:r>
            <a:r>
              <a:rPr sz="1050">
                <a:solidFill>
                  <a:srgbClr val="7A8792"/>
                </a:solidFill>
                <a:latin typeface="Arial" panose="020B0604020202020204"/>
                <a:ea typeface="Arial" panose="020B0604020202020204"/>
                <a:cs typeface="Arial" panose="020B0604020202020204"/>
              </a:rPr>
              <a:t>according to the evidence for SQ1–SQ3.</a:t>
            </a:r>
            <a:endParaRPr sz="1050">
              <a:solidFill>
                <a:srgbClr val="7A8792"/>
              </a:solidFill>
              <a:latin typeface="Arial" panose="020B0604020202020204"/>
              <a:ea typeface="Arial" panose="020B0604020202020204"/>
              <a:cs typeface="Arial" panose="020B0604020202020204"/>
            </a:endParaRPr>
          </a:p>
        </p:txBody>
      </p:sp>
      <p:sp>
        <p:nvSpPr>
          <p:cNvPr id="30" name="TextBox 30"/>
          <p:cNvSpPr>
            <a:spLocks noGrp="1"/>
          </p:cNvSpPr>
          <p:nvPr/>
        </p:nvSpPr>
        <p:spPr>
          <a:xfrm>
            <a:off x="11362754" y="6398895"/>
            <a:ext cx="154877" cy="182880"/>
          </a:xfrm>
          <a:prstGeom prst="rect">
            <a:avLst/>
          </a:prstGeom>
          <a:noFill/>
          <a:ln>
            <a:noFill/>
          </a:ln>
        </p:spPr>
        <p:txBody>
          <a:bodyPr wrap="none" lIns="0" tIns="0" rIns="0" bIns="0" anchor="t">
            <a:spAutoFit/>
          </a:bodyPr>
          <a:lstStyle/>
          <a:p>
            <a:pPr algn="r">
              <a:buNone/>
            </a:pPr>
            <a:r>
              <a:rPr sz="900">
                <a:solidFill>
                  <a:srgbClr val="7A8792"/>
                </a:solidFill>
                <a:latin typeface="Arial" panose="020B0604020202020204"/>
                <a:ea typeface="Arial" panose="020B0604020202020204"/>
                <a:cs typeface="Arial" panose="020B0604020202020204"/>
              </a:rPr>
              <a:t>11</a:t>
            </a:r>
            <a:endParaRPr sz="900">
              <a:solidFill>
                <a:srgbClr val="7A8792"/>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8851</Words>
  <Application>WPS 演示</Application>
  <PresentationFormat>Converted Presentation</PresentationFormat>
  <Paragraphs>330</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Arial</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汉克克克克克克克</cp:lastModifiedBy>
  <cp:revision>13</cp:revision>
  <dcterms:created xsi:type="dcterms:W3CDTF">2026-08-27T09:19:57Z</dcterms:created>
  <dcterms:modified xsi:type="dcterms:W3CDTF">2026-08-27T09:28:56Z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9B91B0EBD5E844AE95552F8F9A4F9DB1_12</vt:lpwstr>
  </property>
</Properties>
</file>