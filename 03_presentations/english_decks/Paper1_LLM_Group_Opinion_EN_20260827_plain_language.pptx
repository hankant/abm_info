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df294eeb3641d7" /><Relationship Type="http://schemas.openxmlformats.org/officeDocument/2006/relationships/extended-properties" Target="/docProps/app.xml" Id="R6add37e425b64b3b" /><Relationship Type="http://schemas.openxmlformats.org/officeDocument/2006/relationships/officeDocument" Target="/ppt/presentation.xml" Id="R7a8548ef68ca46e9" /></Relationships>
</file>

<file path=ppt/presentation.xml><?xml version="1.0" encoding="utf-8"?>
<p:presentation xmlns:p="http://schemas.openxmlformats.org/presentationml/2006/main">
  <p:sldMasterIdLst>
    <p:sldMasterId xmlns:r="http://schemas.openxmlformats.org/officeDocument/2006/relationships" id="2147483648" r:id="R5c1621a91e7442d5"/>
  </p:sldMasterIdLst>
  <p:notesMasterIdLst>
    <p:notesMasterId xmlns:r="http://schemas.openxmlformats.org/officeDocument/2006/relationships" r:id="R6ee86ab2701943ef"/>
  </p:notesMasterIdLst>
  <p:sldIdLst>
    <p:sldId xmlns:r="http://schemas.openxmlformats.org/officeDocument/2006/relationships" id="256" r:id="Rca2ae3c36f0a483a"/>
    <p:sldId xmlns:r="http://schemas.openxmlformats.org/officeDocument/2006/relationships" id="257" r:id="Re71da90978bf4aa0"/>
    <p:sldId xmlns:r="http://schemas.openxmlformats.org/officeDocument/2006/relationships" id="258" r:id="R0831f8582d4f498c"/>
    <p:sldId xmlns:r="http://schemas.openxmlformats.org/officeDocument/2006/relationships" id="259" r:id="R80e6864b7116487b"/>
    <p:sldId xmlns:r="http://schemas.openxmlformats.org/officeDocument/2006/relationships" id="260" r:id="R59ba18d8d8af4f0f"/>
    <p:sldId xmlns:r="http://schemas.openxmlformats.org/officeDocument/2006/relationships" id="261" r:id="Rfc1284a9bc634ea5"/>
    <p:sldId xmlns:r="http://schemas.openxmlformats.org/officeDocument/2006/relationships" id="262" r:id="R3d50b4b2444647b5"/>
    <p:sldId xmlns:r="http://schemas.openxmlformats.org/officeDocument/2006/relationships" id="263" r:id="Rafca5d7111424144"/>
    <p:sldId xmlns:r="http://schemas.openxmlformats.org/officeDocument/2006/relationships" id="264" r:id="R393eed6b5ef84b0c"/>
    <p:sldId xmlns:r="http://schemas.openxmlformats.org/officeDocument/2006/relationships" id="265" r:id="R298e5296b5144fef"/>
    <p:sldId xmlns:r="http://schemas.openxmlformats.org/officeDocument/2006/relationships" id="266" r:id="Rbda7ed8b5d0940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df1bb137550478d" /><Relationship Type="http://schemas.openxmlformats.org/officeDocument/2006/relationships/slideMaster" Target="/ppt/slideMasters/slideMaster1.xml" Id="R5c1621a91e7442d5" /><Relationship Type="http://schemas.openxmlformats.org/officeDocument/2006/relationships/notesMaster" Target="/ppt/notesMasters/notesMaster1.xml" Id="R6ee86ab2701943ef" /><Relationship Type="http://schemas.openxmlformats.org/officeDocument/2006/relationships/presProps" Target="/ppt/presProps.xml" Id="R32b320e744274cd6" /><Relationship Type="http://schemas.openxmlformats.org/officeDocument/2006/relationships/viewProps" Target="/ppt/viewProps.xml" Id="R5d8da41d2a5a4046" /><Relationship Type="http://schemas.openxmlformats.org/officeDocument/2006/relationships/tableStyles" Target="/ppt/tableStyles.xml" Id="Rcb094c3f53804313" /><Relationship Type="http://schemas.openxmlformats.org/officeDocument/2006/relationships/slide" Target="/ppt/slides/slide1.xml" Id="Rca2ae3c36f0a483a" /><Relationship Type="http://schemas.openxmlformats.org/officeDocument/2006/relationships/slide" Target="/ppt/slides/slide2.xml" Id="Re71da90978bf4aa0" /><Relationship Type="http://schemas.openxmlformats.org/officeDocument/2006/relationships/slide" Target="/ppt/slides/slide3.xml" Id="R0831f8582d4f498c" /><Relationship Type="http://schemas.openxmlformats.org/officeDocument/2006/relationships/slide" Target="/ppt/slides/slide4.xml" Id="R80e6864b7116487b" /><Relationship Type="http://schemas.openxmlformats.org/officeDocument/2006/relationships/slide" Target="/ppt/slides/slide5.xml" Id="R59ba18d8d8af4f0f" /><Relationship Type="http://schemas.openxmlformats.org/officeDocument/2006/relationships/slide" Target="/ppt/slides/slide6.xml" Id="Rfc1284a9bc634ea5" /><Relationship Type="http://schemas.openxmlformats.org/officeDocument/2006/relationships/slide" Target="/ppt/slides/slide7.xml" Id="R3d50b4b2444647b5" /><Relationship Type="http://schemas.openxmlformats.org/officeDocument/2006/relationships/slide" Target="/ppt/slides/slide8.xml" Id="Rafca5d7111424144" /><Relationship Type="http://schemas.openxmlformats.org/officeDocument/2006/relationships/slide" Target="/ppt/slides/slide9.xml" Id="R393eed6b5ef84b0c" /><Relationship Type="http://schemas.openxmlformats.org/officeDocument/2006/relationships/slide" Target="/ppt/slides/slide10.xml" Id="R298e5296b5144fef" /><Relationship Type="http://schemas.openxmlformats.org/officeDocument/2006/relationships/slide" Target="/ppt/slides/slide11.xml" Id="Rbda7ed8b5d0940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7181af256348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1c70453f07476d" /><Relationship Type="http://schemas.openxmlformats.org/officeDocument/2006/relationships/notesMaster" Target="/ppt/notesMasters/notesMaster1.xml" Id="R894271c6f95444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e68e8afaba4b3c" /><Relationship Type="http://schemas.openxmlformats.org/officeDocument/2006/relationships/notesMaster" Target="/ppt/notesMasters/notesMaster1.xml" Id="R762d3fb5dd7744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a962d6ec2c4aa1" /><Relationship Type="http://schemas.openxmlformats.org/officeDocument/2006/relationships/notesMaster" Target="/ppt/notesMasters/notesMaster1.xml" Id="R57286baf80fd44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0ddbeb82b64053" /><Relationship Type="http://schemas.openxmlformats.org/officeDocument/2006/relationships/notesMaster" Target="/ppt/notesMasters/notesMaster1.xml" Id="Rd5ceda8a4dd34a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4424755f9e418c" /><Relationship Type="http://schemas.openxmlformats.org/officeDocument/2006/relationships/notesMaster" Target="/ppt/notesMasters/notesMaster1.xml" Id="R8f78f11661fd4f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a45b425c124155" /><Relationship Type="http://schemas.openxmlformats.org/officeDocument/2006/relationships/notesMaster" Target="/ppt/notesMasters/notesMaster1.xml" Id="R01783228a8f748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a71739a6dc4167" /><Relationship Type="http://schemas.openxmlformats.org/officeDocument/2006/relationships/notesMaster" Target="/ppt/notesMasters/notesMaster1.xml" Id="R356cbc67f03d44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825106a8144557" /><Relationship Type="http://schemas.openxmlformats.org/officeDocument/2006/relationships/notesMaster" Target="/ppt/notesMasters/notesMaster1.xml" Id="Red765167964541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c37a1f85954c49" /><Relationship Type="http://schemas.openxmlformats.org/officeDocument/2006/relationships/notesMaster" Target="/ppt/notesMasters/notesMaster1.xml" Id="R5edfa55e010940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edaa0a20bb4fcd" /><Relationship Type="http://schemas.openxmlformats.org/officeDocument/2006/relationships/notesMaster" Target="/ppt/notesMasters/notesMaster1.xml" Id="R7ede6896379e4b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eda2d7b6ff4b21" /><Relationship Type="http://schemas.openxmlformats.org/officeDocument/2006/relationships/notesMaster" Target="/ppt/notesMasters/notesMaster1.xml" Id="Rb2f4cfce84954c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examines how large language models may change information acquisition and opinion formation at the group level. The focus is not limited to what one user learns from one interaction. The study follows a sequence from model-generated information to member exposure, diffusion through a network, individual opinion updating, and the resulting group opinion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Conventional search exposes users to multiple sources and evidentiary cues. Generative AI increasingly provides an integrated answer and then supports follow-up dialogue. At the group level, this interface may create common dependencies when many members rely on the same model, retrieval system, and generation logic. Their judgments can look independent while sharing omissions, frames, or errors. A competing possibility is that interaction conditioned on prior positions reinforces those positions and increases differentiation across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literature supports two competing paths. The first begins with a shared information source. Model-output homogeneity and algorithmic monoculture suggest that separate users may still receive correlated information. Repeated exposure and positive acceptance can then move opinions toward convergence. The second path begins with user-conditioned generation. Motivated skepticism, stance-consistent outputs, and selective acceptance can lead different camps to update in different directions. The study therefore does not assume convergence in advance; it models the conditions that distinguish convergence from differentiation.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three gaps define the causal chain. Similar outputs may not produce similar exposure, changed exposure may not change opinions, and an LLM-side intervention may not change either process. The fourth gap concerns circular validity in LLM social simulation: if one model generates both the shared information and the behavior of the human proxy, its preferences can enter both sides of the simulation. The fifth gap concerns scale. Human experiments are important for calibration and validation, yet they rarely reveal long-run patterns across very large populations.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separates the theoretical rule from the simulation method. Opinion dynamics specifies how an individual position changes in response to external information and social influence. Agent-based modeling implements those local rules across a population, network, and sequence of rounds. The research then inserts a natural-language information layer: LLM-generated messages enter exposure and diffusion, those inputs enter opinion updating, and repeated interaction produces a group opinion distribution. Human data constrain the parameters and test whether the state transitions correspond to real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subquestions form one process chain. SQ1 asks whether LLM use changes information exposure and diffusion. SQ2 asks whether those process changes enter individual updating and alter the group distribution. SQ3 is conditional: it is tested only after a stable group-level pattern is identified. The design allows convergence, differentiation, and a null distributional result. These outcomes remain separate because a change in information exposure alone does not establish a change in group opinions.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LLM has two roles in the architecture. First, it is the information source being studied; model, prompt, and routing are treatment conditions. Second, selected nodes inside the ABM are implemented as LLM agents. Other nodes remain rule-based opinion-dynamics agents. Both types share the same state scale, network, time steps, and behavioral interfaces. Human surveys and experiments initialize the population, calibrate parameters, and provide held-out observations. Validation compares both micro-level transitions and group-level distributions.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hybridization is implemented through three behavioral functions. The message function determines how an agent produces a transmissible natural-language message. The selection function determines which available messages enter the actual exposure set. The update function determines the next opinion state after exposure. Rule-based and LLM agents use the same interfaces, which allows direct comparison. The selection rule remains explicit in the main model, while the message and update functions are the primary locations where LLM-generated behavior can 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subquestion maps to a distinct causal comparison. SQ1 compares a human-information baseline with a shared-LLM condition and observes the outputs of the message and selection functions. SQ2 fixes the message library, initial population, and network, then manipulates exposure commonality and diffusion intensity before observing the update function and group distribution. SQ3 compares a shared single model with independent random routing across model families or providers. The intervention counts as effective only if it changes a defined information process and attenuates the same group-level outcome identified in SQ2.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proceeds in four layers. Program verification checks whether the code implements the declared functions and ODD specification. Function-level validation compares model outputs with held-out human messages, selection or sharing behavior, and opinion transitions. The incremental test compares rule-only, hybrid, and simple baseline models under identical initial conditions. Group-level validation compares simulated trajectories with small multi-round human group data when available. Function ablation and sensitivity analysis identify the source of an effect. If the hybrid model does not improve out-of-sample prediction, the study does not claim additional methodological value for LLM 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contribution has four parts. The study extends human–LLM interaction research from individual responses to group opinion formation. It brings natural-language message generation and diffusion into an opinion-dynamics framework. It identifies conditions under which shared-model homogeneity produces convergence and conditions under which stance-conditioned generation and bounded acceptance produce differentiation. It also extends the explanatory scope of ABM by preserving both explicit dynamic rules and readable language-process records. These claims remain prospective and will be retained only when supported by the evidence for the three subquestions.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9fe4d301e54a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5fff9cec8542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eeff21cdb748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54e69f17354f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d55be099894a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c5cd2129234a5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99901a053114b3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c51e775ac91438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c24f5eef6c941a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53c4b83e094fc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4ffec6f154d43f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24C7F1-7E8A-417F-85EA-EF327BA84811}"/>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D158D3C-BB03-411B-8DFF-A71220C920B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1889987-16BE-48A0-910D-8284275B9B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B85F6BD-3C8D-4C97-B916-7840DADB4D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1E200F3-AD4C-46E3-8D05-E0FE406950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C2C986-F500-4A20-9154-C814B146A88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7363C33-E826-47FD-B903-799DD8D888C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810EB26-69C9-4887-92D9-4D68945E979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86C7D3F-4F3D-49F1-8578-6C3F60DDE2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3716CA7-FF84-404C-9153-9C27490C22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7202B4-87AB-4417-9C22-888975B57AB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06A0C5E-7CCB-4422-9C65-A30141A1922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4ADF2D64-3952-4C87-9BBE-3E0D97D238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69A4F35-260A-4A23-B3C1-74BDD109B2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8F465C6-9ACB-445C-8CF6-D444706086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FE9D55C-BB8B-4344-BBB4-3E2A29E998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4D6C1A1-886A-40A5-8F8B-D50F7662FDE6}"/>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33E7D51D-BE77-4696-BB5A-B30A77C3ECF5}"/>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0945DB04-0DA0-4076-84EF-F19960C342E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64BD0622-3E75-42D7-88CC-8D7602F8DC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7B75164-3FCA-452F-AF64-9E1F7A5DBF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523659-0B35-4FA6-B61D-A122B39BB6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AA918ED-D358-4957-AA80-0C1B28559F4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040B1F6-5969-424E-82D4-0336BF0A9328}"/>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9FEA264F-C547-4AB7-8B37-858E52675758}"/>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1927470-E673-4BC2-A087-8B5B053B4000}"/>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5A15076-98C1-44D6-9944-45560025E0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5C48C57-6D3C-44F4-8E99-397DB153D6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C378059B-7BA9-4BA8-9BC5-8A23193D57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E74021-BC8E-49C6-AE53-F1C9C562797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AA7411F-0B50-41E9-8A70-609CCD3636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1D8C7699-A98F-42CF-BAED-78C3A35713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D5D71AA-50EE-4D4E-882D-9753DE8EAC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B5DC897-33BE-49C2-AF01-3CE5F54BEE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D61F0F2F-4F5B-4449-A32E-BD8786AD95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FF933651-9F23-466F-B72D-EDCBE6E6E3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32EBA7-B746-4250-B1DA-08D4C0422D16}"/>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403E1CB-6DF9-44AD-8631-71611B6DD704}"/>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41717ED-EFA9-451C-89D7-9821F128C6D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27781F1-151E-4769-A221-FA3587C0CF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F6AED02-421F-4489-9816-E3BB452B52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1AA068B-5FB4-4E1C-8C62-C99AA199581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B5B828-9E0C-4A95-BA0A-905F1BCAC8A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268B62AF-DEDC-4331-B164-A48EF5D1E52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2092375-9D28-4417-A462-9D013FEE001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D63D007-D4FE-45FC-B94E-B75C4B32C3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9AD20D1-6772-445C-97E5-D31740F3DA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1187E3F-09D8-48AD-87C5-B2D4D27AE6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174A1FE-4FDC-4729-8AA9-E631CD90CC1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1076265-50C0-41C3-AEF8-FF6632B8FE6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A3D8F73-E0B0-4974-B7BF-B9055D0838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FF5DFC2-2564-4B72-8F78-2A4C3BABE3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CF78B10-414F-4014-A675-4C6FFF8E00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7B00A1A-A749-4D17-A14E-945E0FFE92B6}"/>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00CD0D2-0B03-488B-B09C-F23E09D77265}"/>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3F3A6CF-F45B-427E-8289-3BAC00442B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92EFE1B-1992-43E6-AA31-0284CE5CC5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6DC22D8-B6D6-4F65-9089-F81EC43007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0ca26eb2cb4f2b" /><Relationship Type="http://schemas.openxmlformats.org/officeDocument/2006/relationships/slideLayout" Target="/ppt/slideLayouts/slideLayout1.xml" Id="R43b70cd368a64d5f" /><Relationship Type="http://schemas.openxmlformats.org/officeDocument/2006/relationships/slideLayout" Target="/ppt/slideLayouts/slideLayout2.xml" Id="R291ebf29e75a4326" /><Relationship Type="http://schemas.openxmlformats.org/officeDocument/2006/relationships/slideLayout" Target="/ppt/slideLayouts/slideLayout3.xml" Id="R30b4dd75db274045" /><Relationship Type="http://schemas.openxmlformats.org/officeDocument/2006/relationships/slideLayout" Target="/ppt/slideLayouts/slideLayout4.xml" Id="Re0248e5b90074cc0" /><Relationship Type="http://schemas.openxmlformats.org/officeDocument/2006/relationships/slideLayout" Target="/ppt/slideLayouts/slideLayout5.xml" Id="R688a866305694914" /><Relationship Type="http://schemas.openxmlformats.org/officeDocument/2006/relationships/slideLayout" Target="/ppt/slideLayouts/slideLayout6.xml" Id="R625e405f1a634428" /><Relationship Type="http://schemas.openxmlformats.org/officeDocument/2006/relationships/slideLayout" Target="/ppt/slideLayouts/slideLayout7.xml" Id="Rd43e58cbc6694cef" /><Relationship Type="http://schemas.openxmlformats.org/officeDocument/2006/relationships/slideLayout" Target="/ppt/slideLayouts/slideLayout8.xml" Id="Rec1b6579b962497f" /><Relationship Type="http://schemas.openxmlformats.org/officeDocument/2006/relationships/slideLayout" Target="/ppt/slideLayouts/slideLayout9.xml" Id="R5dbcd52fc3b44e44" /><Relationship Type="http://schemas.openxmlformats.org/officeDocument/2006/relationships/slideLayout" Target="/ppt/slideLayouts/slideLayout10.xml" Id="Rc80af7f8f2b24d34" /><Relationship Type="http://schemas.openxmlformats.org/officeDocument/2006/relationships/slideLayout" Target="/ppt/slideLayouts/slideLayout11.xml" Id="Rb7d5b80136da455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D3856AE-3BAA-49EA-8109-6FC653632C6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04BC516-68BA-434F-B6A5-A4BFF231AE9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2374C02-1A9C-4688-A37F-647D2A68B3DD}"/>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2BD3E45-1BD1-4832-AC99-B85F8FAA8744}"/>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C01CAF5-9B63-4E82-AEAA-2401823EA26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b70cd368a64d5f"/>
    <p:sldLayoutId xmlns:r="http://schemas.openxmlformats.org/officeDocument/2006/relationships" id="2147483650" r:id="R291ebf29e75a4326"/>
    <p:sldLayoutId xmlns:r="http://schemas.openxmlformats.org/officeDocument/2006/relationships" id="2147483651" r:id="R30b4dd75db274045"/>
    <p:sldLayoutId xmlns:r="http://schemas.openxmlformats.org/officeDocument/2006/relationships" id="2147483652" r:id="Re0248e5b90074cc0"/>
    <p:sldLayoutId xmlns:r="http://schemas.openxmlformats.org/officeDocument/2006/relationships" id="2147483653" r:id="R688a866305694914"/>
    <p:sldLayoutId xmlns:r="http://schemas.openxmlformats.org/officeDocument/2006/relationships" id="2147483654" r:id="R625e405f1a634428"/>
    <p:sldLayoutId xmlns:r="http://schemas.openxmlformats.org/officeDocument/2006/relationships" id="2147483655" r:id="Rd43e58cbc6694cef"/>
    <p:sldLayoutId xmlns:r="http://schemas.openxmlformats.org/officeDocument/2006/relationships" id="2147483656" r:id="Rec1b6579b962497f"/>
    <p:sldLayoutId xmlns:r="http://schemas.openxmlformats.org/officeDocument/2006/relationships" id="2147483657" r:id="R5dbcd52fc3b44e44"/>
    <p:sldLayoutId xmlns:r="http://schemas.openxmlformats.org/officeDocument/2006/relationships" id="2147483658" r:id="Rc80af7f8f2b24d34"/>
    <p:sldLayoutId xmlns:r="http://schemas.openxmlformats.org/officeDocument/2006/relationships" id="2147483659" r:id="Rb7d5b80136da455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ebe39e33704f9e" /><Relationship Type="http://schemas.openxmlformats.org/officeDocument/2006/relationships/notesSlide" Target="/ppt/notesSlides/notesSlide1.xml" Id="R1bd4edca29fd41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6bf398f5f042f9" /><Relationship Type="http://schemas.openxmlformats.org/officeDocument/2006/relationships/notesSlide" Target="/ppt/notesSlides/notesSlide2.xml" Id="Rf1525c9e3d5941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7da8486f5441fb" /><Relationship Type="http://schemas.openxmlformats.org/officeDocument/2006/relationships/notesSlide" Target="/ppt/notesSlides/notesSlide3.xml" Id="R3bd7a2a156d54f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92988848d74358" /><Relationship Type="http://schemas.openxmlformats.org/officeDocument/2006/relationships/notesSlide" Target="/ppt/notesSlides/notesSlide4.xml" Id="R5fc302ebe9cd47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27d7814e594e02" /><Relationship Type="http://schemas.openxmlformats.org/officeDocument/2006/relationships/notesSlide" Target="/ppt/notesSlides/notesSlide5.xml" Id="Rd0e496e5509848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dd845790804399" /><Relationship Type="http://schemas.openxmlformats.org/officeDocument/2006/relationships/notesSlide" Target="/ppt/notesSlides/notesSlide6.xml" Id="Rfe794f28a8ce4b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ffcc8e779f48e2" /><Relationship Type="http://schemas.openxmlformats.org/officeDocument/2006/relationships/notesSlide" Target="/ppt/notesSlides/notesSlide7.xml" Id="R65091a9e6c8f44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a632a0c3994b32" /><Relationship Type="http://schemas.openxmlformats.org/officeDocument/2006/relationships/image" Target="/ppt/media/image.png" Id="R8b71b1987fcc437e" /><Relationship Type="http://schemas.openxmlformats.org/officeDocument/2006/relationships/image" Target="/ppt/media/image2.png" Id="R77ad2b0926b74927" /><Relationship Type="http://schemas.openxmlformats.org/officeDocument/2006/relationships/image" Target="/ppt/media/image3.png" Id="R3783d92a045f43db" /><Relationship Type="http://schemas.openxmlformats.org/officeDocument/2006/relationships/notesSlide" Target="/ppt/notesSlides/notesSlide8.xml" Id="R1b84b9801a4f49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1f4971182d4095" /><Relationship Type="http://schemas.openxmlformats.org/officeDocument/2006/relationships/image" Target="/ppt/media/image4.png" Id="Raaa57495fd2e4048" /><Relationship Type="http://schemas.openxmlformats.org/officeDocument/2006/relationships/image" Target="/ppt/media/image5.png" Id="R6a3602ea26534e14" /><Relationship Type="http://schemas.openxmlformats.org/officeDocument/2006/relationships/image" Target="/ppt/media/image6.png" Id="R5fb42b8809d84226" /><Relationship Type="http://schemas.openxmlformats.org/officeDocument/2006/relationships/notesSlide" Target="/ppt/notesSlides/notesSlide9.xml" Id="Rb4f1760f078c40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533ee4bdee4a44" /><Relationship Type="http://schemas.openxmlformats.org/officeDocument/2006/relationships/notesSlide" Target="/ppt/notesSlides/notesSlide10.xml" Id="Rb0bdb1be4f5344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7c8b1404752463e" /><Relationship Type="http://schemas.openxmlformats.org/officeDocument/2006/relationships/image" Target="/ppt/media/image7.png" Id="Rc48912837a8849b1" /><Relationship Type="http://schemas.openxmlformats.org/officeDocument/2006/relationships/notesSlide" Target="/ppt/notesSlides/notesSlide11.xml" Id="Re96e17db38454ca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D8A76E8B-F6E4-437F-8B2B-00FE349CBE2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sp>
      <p:sp>
        <p:nvSpPr>
          <p:cNvPr id="3" name="TextBox 3">
            <a:extLst xmlns:a="http://schemas.openxmlformats.org/drawingml/2006/main">
              <a:ext uri="{FF2B5EF4-FFF2-40B4-BE49-F238E27FC236}">
                <a16:creationId xmlns:a16="http://schemas.microsoft.com/office/drawing/2014/main" id="{9AD6844A-A1BC-42FC-BA35-E09DD74077BF}"/>
              </a:ext>
            </a:extLst>
          </p:cNvPr>
          <p:cNvSpPr>
            <a:spLocks xmlns:a="http://schemas.openxmlformats.org/drawingml/2006/main" noGrp="1"/>
          </p:cNvSpPr>
          <p:nvPr/>
        </p:nvSpPr>
        <p:spPr>
          <a:xfrm xmlns:a="http://schemas.openxmlformats.org/drawingml/2006/main" rot="0" flipH="0" flipV="0">
            <a:off x="671512" y="1021556"/>
            <a:ext cx="76891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17324D"/>
                </a:solidFill>
                <a:latin typeface="Arial"/>
                <a:ea typeface="Arial"/>
                <a:cs typeface="Arial"/>
              </a:rPr>
              <a:t>CHAPTER 1</a:t>
            </a:r>
          </a:p>
        </p:txBody>
      </p:sp>
      <p:sp>
        <p:nvSpPr>
          <p:cNvPr id="4" name="Line 4">
            <a:extLst xmlns:a="http://schemas.openxmlformats.org/drawingml/2006/main">
              <a:ext uri="{FF2B5EF4-FFF2-40B4-BE49-F238E27FC236}">
                <a16:creationId xmlns:a16="http://schemas.microsoft.com/office/drawing/2014/main" id="{734EE10D-FBF7-4D16-A26F-ACF701C92AE1}"/>
              </a:ext>
            </a:extLst>
          </p:cNvPr>
          <p:cNvSpPr>
            <a:spLocks xmlns:a="http://schemas.openxmlformats.org/drawingml/2006/main" noGrp="1"/>
          </p:cNvSpPr>
          <p:nvPr/>
        </p:nvSpPr>
        <p:spPr>
          <a:xfrm xmlns:a="http://schemas.openxmlformats.org/drawingml/2006/main" rot="0" flipH="0" flipV="0">
            <a:off x="685800" y="1390650"/>
            <a:ext cx="1485900" cy="9525"/>
          </a:xfrm>
          <a:custGeom xmlns:a="http://schemas.openxmlformats.org/drawingml/2006/main">
            <a:rect l="l" t="t" r="r" b="b"/>
            <a:pathLst>
              <a:path w="1485900" h="9525">
                <a:moveTo>
                  <a:pt x="0" y="0"/>
                </a:moveTo>
                <a:lnTo>
                  <a:pt x="1485900" y="0"/>
                </a:lnTo>
              </a:path>
            </a:pathLst>
          </a:custGeom>
          <a:noFill xmlns:a="http://schemas.openxmlformats.org/drawingml/2006/main"/>
          <a:ln xmlns:a="http://schemas.openxmlformats.org/drawingml/2006/main" w="28575">
            <a:solidFill>
              <a:srgbClr val="17324D"/>
            </a:solidFill>
          </a:ln>
        </p:spPr>
      </p:sp>
      <p:sp>
        <p:nvSpPr>
          <p:cNvPr id="6" name="TextBox 6">
            <a:extLst xmlns:a="http://schemas.openxmlformats.org/drawingml/2006/main">
              <a:ext uri="{FF2B5EF4-FFF2-40B4-BE49-F238E27FC236}">
                <a16:creationId xmlns:a16="http://schemas.microsoft.com/office/drawing/2014/main" id="{776C4D5B-0429-47C5-9090-D5C17964C9EC}"/>
              </a:ext>
            </a:extLst>
          </p:cNvPr>
          <p:cNvSpPr>
            <a:spLocks xmlns:a="http://schemas.openxmlformats.org/drawingml/2006/main" noGrp="1"/>
          </p:cNvSpPr>
          <p:nvPr/>
        </p:nvSpPr>
        <p:spPr>
          <a:xfrm xmlns:a="http://schemas.openxmlformats.org/drawingml/2006/main" rot="0" flipH="0" flipV="0">
            <a:off x="645795" y="2184082"/>
            <a:ext cx="8796099" cy="11925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4350"/>
              </a:lnSpc>
              <a:buNone/>
            </a:pPr>
            <a:r>
              <a:rPr sz="3150" b="1">
                <a:solidFill>
                  <a:srgbClr val="20262B"/>
                </a:solidFill>
                <a:latin typeface="Arial"/>
                <a:ea typeface="Arial"/>
                <a:cs typeface="Arial"/>
              </a:rPr>
              <a:t>How Does AI Change Information Acquisition </a:t>
            </a:r>
            <a:r>
              <a:rPr sz="3150" b="1">
                <a:solidFill>
                  <a:srgbClr val="20262B"/>
                </a:solidFill>
                <a:latin typeface="Arial"/>
                <a:ea typeface="Arial"/>
                <a:cs typeface="Arial"/>
              </a:rPr>
              <a:t>and Opinion Formation in Human Groups?</a:t>
            </a:r>
          </a:p>
        </p:txBody>
      </p:sp>
      <p:sp>
        <p:nvSpPr>
          <p:cNvPr id="8" name="Line 8">
            <a:extLst xmlns:a="http://schemas.openxmlformats.org/drawingml/2006/main">
              <a:ext uri="{FF2B5EF4-FFF2-40B4-BE49-F238E27FC236}">
                <a16:creationId xmlns:a16="http://schemas.microsoft.com/office/drawing/2014/main" id="{4ABF6AB1-91A3-44D5-8B90-76AA6AF0A2FE}"/>
              </a:ext>
            </a:extLst>
          </p:cNvPr>
          <p:cNvSpPr>
            <a:spLocks xmlns:a="http://schemas.openxmlformats.org/drawingml/2006/main" noGrp="1"/>
          </p:cNvSpPr>
          <p:nvPr/>
        </p:nvSpPr>
        <p:spPr>
          <a:xfrm xmlns:a="http://schemas.openxmlformats.org/drawingml/2006/main" rot="0" flipH="0" flipV="0">
            <a:off x="685800" y="4362450"/>
            <a:ext cx="10125075" cy="9525"/>
          </a:xfrm>
          <a:custGeom xmlns:a="http://schemas.openxmlformats.org/drawingml/2006/main">
            <a:rect l="l" t="t" r="r" b="b"/>
            <a:pathLst>
              <a:path w="10125075" h="9525">
                <a:moveTo>
                  <a:pt x="0" y="0"/>
                </a:moveTo>
                <a:lnTo>
                  <a:pt x="10125075" y="0"/>
                </a:lnTo>
              </a:path>
            </a:pathLst>
          </a:custGeom>
          <a:noFill xmlns:a="http://schemas.openxmlformats.org/drawingml/2006/main"/>
          <a:ln xmlns:a="http://schemas.openxmlformats.org/drawingml/2006/main" w="9525">
            <a:solidFill>
              <a:srgbClr val="D8DEE3"/>
            </a:solidFill>
          </a:ln>
        </p:spPr>
      </p:sp>
      <p:sp>
        <p:nvSpPr>
          <p:cNvPr id="9" name="Rectangle 9">
            <a:extLst xmlns:a="http://schemas.openxmlformats.org/drawingml/2006/main">
              <a:ext uri="{FF2B5EF4-FFF2-40B4-BE49-F238E27FC236}">
                <a16:creationId xmlns:a16="http://schemas.microsoft.com/office/drawing/2014/main" id="{228D1663-63C6-4D56-B512-AE5BD95A7A67}"/>
              </a:ext>
            </a:extLst>
          </p:cNvPr>
          <p:cNvSpPr>
            <a:spLocks xmlns:a="http://schemas.openxmlformats.org/drawingml/2006/main" noGrp="1"/>
          </p:cNvSpPr>
          <p:nvPr/>
        </p:nvSpPr>
        <p:spPr>
          <a:xfrm xmlns:a="http://schemas.openxmlformats.org/drawingml/2006/main" rot="0" flipH="0" flipV="0">
            <a:off x="685800" y="4362450"/>
            <a:ext cx="1733550" cy="38100"/>
          </a:xfrm>
          <a:prstGeom xmlns:a="http://schemas.openxmlformats.org/drawingml/2006/main" prst="rect">
            <a:avLst/>
          </a:prstGeom>
          <a:solidFill xmlns:a="http://schemas.openxmlformats.org/drawingml/2006/main">
            <a:srgbClr val="17324D"/>
          </a:solidFill>
          <a:ln xmlns:a="http://schemas.openxmlformats.org/drawingml/2006/main">
            <a:noFill/>
          </a:ln>
        </p:spPr>
      </p:sp>
    </p:spTree>
    <p:extLst>
      <p:ext uri="{BB962C8B-B14F-4D97-AF65-F5344CB8AC3E}">
        <p14:creationId xmlns:p14="http://schemas.microsoft.com/office/powerpoint/2010/main" val="20859356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1652CE1B-7FAE-42A6-8969-DA041E9EF3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sp>
      <p:sp>
        <p:nvSpPr>
          <p:cNvPr id="3" name="TextBox 3">
            <a:extLst xmlns:a="http://schemas.openxmlformats.org/drawingml/2006/main">
              <a:ext uri="{FF2B5EF4-FFF2-40B4-BE49-F238E27FC236}">
                <a16:creationId xmlns:a16="http://schemas.microsoft.com/office/drawing/2014/main" id="{57E5C5DD-4840-497F-87E8-54FF1532ED3E}"/>
              </a:ext>
            </a:extLst>
          </p:cNvPr>
          <p:cNvSpPr>
            <a:spLocks xmlns:a="http://schemas.openxmlformats.org/drawingml/2006/main" noGrp="1"/>
          </p:cNvSpPr>
          <p:nvPr/>
        </p:nvSpPr>
        <p:spPr>
          <a:xfrm xmlns:a="http://schemas.openxmlformats.org/drawingml/2006/main" rot="0" flipH="0" flipV="0">
            <a:off x="541020" y="464820"/>
            <a:ext cx="3488588"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20262B"/>
                </a:solidFill>
                <a:latin typeface="Arial"/>
                <a:ea typeface="Arial"/>
                <a:cs typeface="Arial"/>
              </a:rPr>
              <a:t>Research Background</a:t>
            </a:r>
          </a:p>
        </p:txBody>
      </p:sp>
      <p:sp>
        <p:nvSpPr>
          <p:cNvPr id="4" name="Line 4">
            <a:extLst xmlns:a="http://schemas.openxmlformats.org/drawingml/2006/main">
              <a:ext uri="{FF2B5EF4-FFF2-40B4-BE49-F238E27FC236}">
                <a16:creationId xmlns:a16="http://schemas.microsoft.com/office/drawing/2014/main" id="{64E3E239-4BE1-4219-A5B6-9F828383D752}"/>
              </a:ext>
            </a:extLst>
          </p:cNvPr>
          <p:cNvSpPr>
            <a:spLocks xmlns:a="http://schemas.openxmlformats.org/drawingml/2006/main" noGrp="1"/>
          </p:cNvSpPr>
          <p:nvPr/>
        </p:nvSpPr>
        <p:spPr>
          <a:xfrm xmlns:a="http://schemas.openxmlformats.org/drawingml/2006/main" rot="0" flipH="0" flipV="0">
            <a:off x="571500" y="971550"/>
            <a:ext cx="11049000" cy="9525"/>
          </a:xfrm>
          <a:custGeom xmlns:a="http://schemas.openxmlformats.org/drawingml/2006/main">
            <a:rect l="l" t="t" r="r" b="b"/>
            <a:pathLst>
              <a:path w="11049000" h="9525">
                <a:moveTo>
                  <a:pt x="0" y="0"/>
                </a:moveTo>
                <a:lnTo>
                  <a:pt x="11049000" y="0"/>
                </a:lnTo>
              </a:path>
            </a:pathLst>
          </a:custGeom>
          <a:noFill xmlns:a="http://schemas.openxmlformats.org/drawingml/2006/main"/>
          <a:ln xmlns:a="http://schemas.openxmlformats.org/drawingml/2006/main" w="9525">
            <a:solidFill>
              <a:srgbClr val="D8DEE3"/>
            </a:solidFill>
          </a:ln>
        </p:spPr>
      </p:sp>
      <p:sp>
        <p:nvSpPr>
          <p:cNvPr id="5" name="Rectangle 5">
            <a:extLst xmlns:a="http://schemas.openxmlformats.org/drawingml/2006/main">
              <a:ext uri="{FF2B5EF4-FFF2-40B4-BE49-F238E27FC236}">
                <a16:creationId xmlns:a16="http://schemas.microsoft.com/office/drawing/2014/main" id="{35F9437A-F6A1-42C3-8290-A30A5987E9DE}"/>
              </a:ext>
            </a:extLst>
          </p:cNvPr>
          <p:cNvSpPr>
            <a:spLocks xmlns:a="http://schemas.openxmlformats.org/drawingml/2006/main" noGrp="1"/>
          </p:cNvSpPr>
          <p:nvPr/>
        </p:nvSpPr>
        <p:spPr>
          <a:xfrm xmlns:a="http://schemas.openxmlformats.org/drawingml/2006/main" rot="0" flipH="0" flipV="0">
            <a:off x="571500" y="952500"/>
            <a:ext cx="1104900" cy="28575"/>
          </a:xfrm>
          <a:prstGeom xmlns:a="http://schemas.openxmlformats.org/drawingml/2006/main" prst="rect">
            <a:avLst/>
          </a:prstGeom>
          <a:solidFill xmlns:a="http://schemas.openxmlformats.org/drawingml/2006/main">
            <a:srgbClr val="17324D"/>
          </a:solidFill>
          <a:ln xmlns:a="http://schemas.openxmlformats.org/drawingml/2006/main">
            <a:noFill/>
          </a:ln>
        </p:spPr>
      </p:sp>
      <p:sp>
        <p:nvSpPr>
          <p:cNvPr id="7" name="TextBox 7">
            <a:extLst xmlns:a="http://schemas.openxmlformats.org/drawingml/2006/main">
              <a:ext uri="{FF2B5EF4-FFF2-40B4-BE49-F238E27FC236}">
                <a16:creationId xmlns:a16="http://schemas.microsoft.com/office/drawing/2014/main" id="{6D5D547B-BB0A-4165-A136-149338CD5296}"/>
              </a:ext>
            </a:extLst>
          </p:cNvPr>
          <p:cNvSpPr>
            <a:spLocks xmlns:a="http://schemas.openxmlformats.org/drawingml/2006/main" noGrp="1"/>
          </p:cNvSpPr>
          <p:nvPr/>
        </p:nvSpPr>
        <p:spPr>
          <a:xfrm xmlns:a="http://schemas.openxmlformats.org/drawingml/2006/main" rot="0" flipH="0" flipV="0">
            <a:off x="672465" y="1353502"/>
            <a:ext cx="1665925"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INFORMATION INTERFACE</a:t>
            </a:r>
          </a:p>
        </p:txBody>
      </p:sp>
      <p:sp>
        <p:nvSpPr>
          <p:cNvPr id="8" name="TextBox 8">
            <a:extLst xmlns:a="http://schemas.openxmlformats.org/drawingml/2006/main">
              <a:ext uri="{FF2B5EF4-FFF2-40B4-BE49-F238E27FC236}">
                <a16:creationId xmlns:a16="http://schemas.microsoft.com/office/drawing/2014/main" id="{02B4454A-1D1D-4557-ACBC-9B1FDCBB399B}"/>
              </a:ext>
            </a:extLst>
          </p:cNvPr>
          <p:cNvSpPr>
            <a:spLocks xmlns:a="http://schemas.openxmlformats.org/drawingml/2006/main" noGrp="1"/>
          </p:cNvSpPr>
          <p:nvPr/>
        </p:nvSpPr>
        <p:spPr>
          <a:xfrm xmlns:a="http://schemas.openxmlformats.org/drawingml/2006/main" rot="0" flipH="0" flipV="0">
            <a:off x="666750" y="1790700"/>
            <a:ext cx="1550289"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rgbClr val="20262B"/>
                </a:solidFill>
                <a:latin typeface="Arial"/>
                <a:ea typeface="Arial"/>
                <a:cs typeface="Arial"/>
              </a:rPr>
              <a:t>Search engines</a:t>
            </a:r>
          </a:p>
        </p:txBody>
      </p:sp>
      <p:sp>
        <p:nvSpPr>
          <p:cNvPr id="9" name="TextBox 9">
            <a:extLst xmlns:a="http://schemas.openxmlformats.org/drawingml/2006/main">
              <a:ext uri="{FF2B5EF4-FFF2-40B4-BE49-F238E27FC236}">
                <a16:creationId xmlns:a16="http://schemas.microsoft.com/office/drawing/2014/main" id="{8045CFFE-7E37-4CA9-BBED-F50BCA114E2B}"/>
              </a:ext>
            </a:extLst>
          </p:cNvPr>
          <p:cNvSpPr>
            <a:spLocks xmlns:a="http://schemas.openxmlformats.org/drawingml/2006/main" noGrp="1"/>
          </p:cNvSpPr>
          <p:nvPr/>
        </p:nvSpPr>
        <p:spPr>
          <a:xfrm xmlns:a="http://schemas.openxmlformats.org/drawingml/2006/main" rot="0" flipH="0" flipV="0">
            <a:off x="668655" y="2111692"/>
            <a:ext cx="4183380" cy="53149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2025"/>
              </a:lnSpc>
              <a:buNone/>
            </a:pPr>
            <a:r>
              <a:rPr sz="1350">
                <a:solidFill>
                  <a:srgbClr val="20262B"/>
                </a:solidFill>
                <a:latin typeface="Arial"/>
                <a:ea typeface="Arial"/>
                <a:cs typeface="Arial"/>
              </a:rPr>
              <a:t>Typically expose users to multiple sources, links, </a:t>
            </a:r>
            <a:r>
              <a:rPr sz="1350">
                <a:solidFill>
                  <a:srgbClr val="20262B"/>
                </a:solidFill>
                <a:latin typeface="Arial"/>
                <a:ea typeface="Arial"/>
                <a:cs typeface="Arial"/>
              </a:rPr>
              <a:t>and evidentiary cues.</a:t>
            </a:r>
          </a:p>
        </p:txBody>
      </p:sp>
      <p:sp>
        <p:nvSpPr>
          <p:cNvPr id="10" name="Line 10">
            <a:extLst xmlns:a="http://schemas.openxmlformats.org/drawingml/2006/main">
              <a:ext uri="{FF2B5EF4-FFF2-40B4-BE49-F238E27FC236}">
                <a16:creationId xmlns:a16="http://schemas.microsoft.com/office/drawing/2014/main" id="{5E9F36E0-5537-4E9C-ADF3-082FB35886FD}"/>
              </a:ext>
            </a:extLst>
          </p:cNvPr>
          <p:cNvSpPr>
            <a:spLocks xmlns:a="http://schemas.openxmlformats.org/drawingml/2006/main" noGrp="1"/>
          </p:cNvSpPr>
          <p:nvPr/>
        </p:nvSpPr>
        <p:spPr>
          <a:xfrm xmlns:a="http://schemas.openxmlformats.org/drawingml/2006/main" rot="0" flipH="0" flipV="0">
            <a:off x="685800" y="2781300"/>
            <a:ext cx="4743450" cy="9525"/>
          </a:xfrm>
          <a:custGeom xmlns:a="http://schemas.openxmlformats.org/drawingml/2006/main">
            <a:rect l="l" t="t" r="r" b="b"/>
            <a:pathLst>
              <a:path w="4743450" h="9525">
                <a:moveTo>
                  <a:pt x="0" y="0"/>
                </a:moveTo>
                <a:lnTo>
                  <a:pt x="4743450" y="0"/>
                </a:lnTo>
              </a:path>
            </a:pathLst>
          </a:custGeom>
          <a:noFill xmlns:a="http://schemas.openxmlformats.org/drawingml/2006/main"/>
          <a:ln xmlns:a="http://schemas.openxmlformats.org/drawingml/2006/main" w="9525">
            <a:solidFill>
              <a:srgbClr val="D8DEE3"/>
            </a:solidFill>
          </a:ln>
        </p:spPr>
      </p:sp>
      <p:sp>
        <p:nvSpPr>
          <p:cNvPr id="11" name="TextBox 11">
            <a:extLst xmlns:a="http://schemas.openxmlformats.org/drawingml/2006/main">
              <a:ext uri="{FF2B5EF4-FFF2-40B4-BE49-F238E27FC236}">
                <a16:creationId xmlns:a16="http://schemas.microsoft.com/office/drawing/2014/main" id="{7512A156-EB9F-47E5-B977-0839D7824E00}"/>
              </a:ext>
            </a:extLst>
          </p:cNvPr>
          <p:cNvSpPr>
            <a:spLocks xmlns:a="http://schemas.openxmlformats.org/drawingml/2006/main" noGrp="1"/>
          </p:cNvSpPr>
          <p:nvPr/>
        </p:nvSpPr>
        <p:spPr>
          <a:xfrm xmlns:a="http://schemas.openxmlformats.org/drawingml/2006/main" rot="0" flipH="0" flipV="0">
            <a:off x="666750" y="3048000"/>
            <a:ext cx="1382268"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rgbClr val="17324D"/>
                </a:solidFill>
                <a:latin typeface="Arial"/>
                <a:ea typeface="Arial"/>
                <a:cs typeface="Arial"/>
              </a:rPr>
              <a:t>Generative AI</a:t>
            </a:r>
          </a:p>
        </p:txBody>
      </p:sp>
      <p:sp>
        <p:nvSpPr>
          <p:cNvPr id="12" name="TextBox 12">
            <a:extLst xmlns:a="http://schemas.openxmlformats.org/drawingml/2006/main">
              <a:ext uri="{FF2B5EF4-FFF2-40B4-BE49-F238E27FC236}">
                <a16:creationId xmlns:a16="http://schemas.microsoft.com/office/drawing/2014/main" id="{97AF6E7C-C411-46F2-AEBA-C54C0D6E0298}"/>
              </a:ext>
            </a:extLst>
          </p:cNvPr>
          <p:cNvSpPr>
            <a:spLocks xmlns:a="http://schemas.openxmlformats.org/drawingml/2006/main" noGrp="1"/>
          </p:cNvSpPr>
          <p:nvPr/>
        </p:nvSpPr>
        <p:spPr>
          <a:xfrm xmlns:a="http://schemas.openxmlformats.org/drawingml/2006/main" rot="0" flipH="0" flipV="0">
            <a:off x="668655" y="3368992"/>
            <a:ext cx="5057775" cy="53149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2025"/>
              </a:lnSpc>
              <a:buNone/>
            </a:pPr>
            <a:r>
              <a:rPr sz="1350">
                <a:solidFill>
                  <a:srgbClr val="20262B"/>
                </a:solidFill>
                <a:latin typeface="Arial"/>
                <a:ea typeface="Arial"/>
                <a:cs typeface="Arial"/>
              </a:rPr>
              <a:t>Increasingly organizes information through direct answers, </a:t>
            </a:r>
            <a:r>
              <a:rPr sz="1350">
                <a:solidFill>
                  <a:srgbClr val="20262B"/>
                </a:solidFill>
                <a:latin typeface="Arial"/>
                <a:ea typeface="Arial"/>
                <a:cs typeface="Arial"/>
              </a:rPr>
              <a:t>integrated explanations, and follow-up dialogue.</a:t>
            </a:r>
          </a:p>
        </p:txBody>
      </p:sp>
      <p:sp>
        <p:nvSpPr>
          <p:cNvPr id="13" name="TextBox 13">
            <a:extLst xmlns:a="http://schemas.openxmlformats.org/drawingml/2006/main">
              <a:ext uri="{FF2B5EF4-FFF2-40B4-BE49-F238E27FC236}">
                <a16:creationId xmlns:a16="http://schemas.microsoft.com/office/drawing/2014/main" id="{B13E2199-6E75-4F4F-AC37-2F36B92906A5}"/>
              </a:ext>
            </a:extLst>
          </p:cNvPr>
          <p:cNvSpPr>
            <a:spLocks xmlns:a="http://schemas.openxmlformats.org/drawingml/2006/main" noGrp="1"/>
          </p:cNvSpPr>
          <p:nvPr/>
        </p:nvSpPr>
        <p:spPr>
          <a:xfrm xmlns:a="http://schemas.openxmlformats.org/drawingml/2006/main" rot="0" flipH="0" flipV="0">
            <a:off x="672465" y="4077652"/>
            <a:ext cx="4304205"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a:solidFill>
                  <a:srgbClr val="7A8792"/>
                </a:solidFill>
                <a:latin typeface="Arial"/>
                <a:ea typeface="Arial"/>
                <a:cs typeface="Arial"/>
              </a:rPr>
              <a:t>Examples: AI search assistants embedded in Weibo and WeChat.</a:t>
            </a:r>
          </a:p>
        </p:txBody>
      </p:sp>
      <p:sp>
        <p:nvSpPr>
          <p:cNvPr id="15" name="Line 15">
            <a:extLst xmlns:a="http://schemas.openxmlformats.org/drawingml/2006/main">
              <a:ext uri="{FF2B5EF4-FFF2-40B4-BE49-F238E27FC236}">
                <a16:creationId xmlns:a16="http://schemas.microsoft.com/office/drawing/2014/main" id="{2A721AF1-7EBA-4D97-B71E-21F5B4EDB49D}"/>
              </a:ext>
            </a:extLst>
          </p:cNvPr>
          <p:cNvSpPr>
            <a:spLocks xmlns:a="http://schemas.openxmlformats.org/drawingml/2006/main" noGrp="1"/>
          </p:cNvSpPr>
          <p:nvPr/>
        </p:nvSpPr>
        <p:spPr>
          <a:xfrm xmlns:a="http://schemas.openxmlformats.org/drawingml/2006/main" rot="0" flipH="0" flipV="0">
            <a:off x="6057900" y="1466850"/>
            <a:ext cx="9525" cy="4495800"/>
          </a:xfrm>
          <a:custGeom xmlns:a="http://schemas.openxmlformats.org/drawingml/2006/main">
            <a:rect l="l" t="t" r="r" b="b"/>
            <a:pathLst>
              <a:path w="9525" h="4495800">
                <a:moveTo>
                  <a:pt x="0" y="0"/>
                </a:moveTo>
                <a:lnTo>
                  <a:pt x="0" y="4495800"/>
                </a:lnTo>
              </a:path>
            </a:pathLst>
          </a:custGeom>
          <a:noFill xmlns:a="http://schemas.openxmlformats.org/drawingml/2006/main"/>
          <a:ln xmlns:a="http://schemas.openxmlformats.org/drawingml/2006/main" w="19050">
            <a:solidFill>
              <a:srgbClr val="17324D"/>
            </a:solidFill>
          </a:ln>
        </p:spPr>
      </p:sp>
      <p:sp>
        <p:nvSpPr>
          <p:cNvPr id="16" name="TextBox 16">
            <a:extLst xmlns:a="http://schemas.openxmlformats.org/drawingml/2006/main">
              <a:ext uri="{FF2B5EF4-FFF2-40B4-BE49-F238E27FC236}">
                <a16:creationId xmlns:a16="http://schemas.microsoft.com/office/drawing/2014/main" id="{6D9F07D7-7E53-48D8-9D97-E63E149058F6}"/>
              </a:ext>
            </a:extLst>
          </p:cNvPr>
          <p:cNvSpPr>
            <a:spLocks xmlns:a="http://schemas.openxmlformats.org/drawingml/2006/main" noGrp="1"/>
          </p:cNvSpPr>
          <p:nvPr/>
        </p:nvSpPr>
        <p:spPr>
          <a:xfrm xmlns:a="http://schemas.openxmlformats.org/drawingml/2006/main" rot="0" flipH="0" flipV="0">
            <a:off x="6387465" y="1353502"/>
            <a:ext cx="1585065"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GROUP-LEVEL CONCERN</a:t>
            </a:r>
          </a:p>
        </p:txBody>
      </p:sp>
      <p:sp>
        <p:nvSpPr>
          <p:cNvPr id="17" name="TextBox 17">
            <a:extLst xmlns:a="http://schemas.openxmlformats.org/drawingml/2006/main">
              <a:ext uri="{FF2B5EF4-FFF2-40B4-BE49-F238E27FC236}">
                <a16:creationId xmlns:a16="http://schemas.microsoft.com/office/drawing/2014/main" id="{76DEB441-01CF-4560-809D-000901CF359C}"/>
              </a:ext>
            </a:extLst>
          </p:cNvPr>
          <p:cNvSpPr>
            <a:spLocks xmlns:a="http://schemas.openxmlformats.org/drawingml/2006/main" noGrp="1"/>
          </p:cNvSpPr>
          <p:nvPr/>
        </p:nvSpPr>
        <p:spPr>
          <a:xfrm xmlns:a="http://schemas.openxmlformats.org/drawingml/2006/main" rot="0" flipH="0" flipV="0">
            <a:off x="6380798" y="1782604"/>
            <a:ext cx="3841480" cy="5962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2175"/>
              </a:lnSpc>
              <a:buNone/>
            </a:pPr>
            <a:r>
              <a:rPr sz="1575" b="1">
                <a:solidFill>
                  <a:srgbClr val="20262B"/>
                </a:solidFill>
                <a:latin typeface="Arial"/>
                <a:ea typeface="Arial"/>
                <a:cs typeface="Arial"/>
              </a:rPr>
              <a:t>Seemingly independent judgments may </a:t>
            </a:r>
            <a:r>
              <a:rPr sz="1575" b="1">
                <a:solidFill>
                  <a:srgbClr val="20262B"/>
                </a:solidFill>
                <a:latin typeface="Arial"/>
                <a:ea typeface="Arial"/>
                <a:cs typeface="Arial"/>
              </a:rPr>
              <a:t>contain common dependencies.</a:t>
            </a:r>
          </a:p>
        </p:txBody>
      </p:sp>
      <p:sp>
        <p:nvSpPr>
          <p:cNvPr id="18" name="TextBox 18">
            <a:extLst xmlns:a="http://schemas.openxmlformats.org/drawingml/2006/main">
              <a:ext uri="{FF2B5EF4-FFF2-40B4-BE49-F238E27FC236}">
                <a16:creationId xmlns:a16="http://schemas.microsoft.com/office/drawing/2014/main" id="{AFAC4547-15E1-4A57-95CB-C67D93939585}"/>
              </a:ext>
            </a:extLst>
          </p:cNvPr>
          <p:cNvSpPr>
            <a:spLocks xmlns:a="http://schemas.openxmlformats.org/drawingml/2006/main" noGrp="1"/>
          </p:cNvSpPr>
          <p:nvPr/>
        </p:nvSpPr>
        <p:spPr>
          <a:xfrm xmlns:a="http://schemas.openxmlformats.org/drawingml/2006/main" rot="0" flipH="0" flipV="0">
            <a:off x="6383655" y="2635568"/>
            <a:ext cx="4766310" cy="104584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2025"/>
              </a:lnSpc>
              <a:buNone/>
            </a:pPr>
            <a:r>
              <a:rPr sz="1350">
                <a:solidFill>
                  <a:srgbClr val="20262B"/>
                </a:solidFill>
                <a:latin typeface="Arial"/>
                <a:ea typeface="Arial"/>
                <a:cs typeface="Arial"/>
              </a:rPr>
              <a:t>When many members rely on the same model, similar </a:t>
            </a:r>
            <a:r>
              <a:rPr sz="1350">
                <a:solidFill>
                  <a:srgbClr val="20262B"/>
                </a:solidFill>
                <a:latin typeface="Arial"/>
                <a:ea typeface="Arial"/>
                <a:cs typeface="Arial"/>
              </a:rPr>
              <a:t>training data, the same retrieval system, and similar </a:t>
            </a:r>
            <a:r>
              <a:rPr sz="1350">
                <a:solidFill>
                  <a:srgbClr val="20262B"/>
                </a:solidFill>
                <a:latin typeface="Arial"/>
                <a:ea typeface="Arial"/>
                <a:cs typeface="Arial"/>
              </a:rPr>
              <a:t>generation logic, they may share information omissions, </a:t>
            </a:r>
            <a:r>
              <a:rPr sz="1350">
                <a:solidFill>
                  <a:srgbClr val="20262B"/>
                </a:solidFill>
                <a:latin typeface="Arial"/>
                <a:ea typeface="Arial"/>
                <a:cs typeface="Arial"/>
              </a:rPr>
              <a:t>narrative frames, and errors.</a:t>
            </a:r>
          </a:p>
        </p:txBody>
      </p:sp>
      <p:sp>
        <p:nvSpPr>
          <p:cNvPr id="19" name="Line 19">
            <a:extLst xmlns:a="http://schemas.openxmlformats.org/drawingml/2006/main">
              <a:ext uri="{FF2B5EF4-FFF2-40B4-BE49-F238E27FC236}">
                <a16:creationId xmlns:a16="http://schemas.microsoft.com/office/drawing/2014/main" id="{AD3DCC25-4264-4179-8889-C133F29E402D}"/>
              </a:ext>
            </a:extLst>
          </p:cNvPr>
          <p:cNvSpPr>
            <a:spLocks xmlns:a="http://schemas.openxmlformats.org/drawingml/2006/main" noGrp="1"/>
          </p:cNvSpPr>
          <p:nvPr/>
        </p:nvSpPr>
        <p:spPr>
          <a:xfrm xmlns:a="http://schemas.openxmlformats.org/drawingml/2006/main" rot="0" flipH="0" flipV="0">
            <a:off x="6400800" y="4000500"/>
            <a:ext cx="4914900" cy="9525"/>
          </a:xfrm>
          <a:custGeom xmlns:a="http://schemas.openxmlformats.org/drawingml/2006/main">
            <a:rect l="l" t="t" r="r" b="b"/>
            <a:pathLst>
              <a:path w="4914900" h="9525">
                <a:moveTo>
                  <a:pt x="0" y="0"/>
                </a:moveTo>
                <a:lnTo>
                  <a:pt x="4914900" y="0"/>
                </a:lnTo>
              </a:path>
            </a:pathLst>
          </a:custGeom>
          <a:noFill xmlns:a="http://schemas.openxmlformats.org/drawingml/2006/main"/>
          <a:ln xmlns:a="http://schemas.openxmlformats.org/drawingml/2006/main" w="9525">
            <a:solidFill>
              <a:srgbClr val="D8DEE3"/>
            </a:solidFill>
          </a:ln>
        </p:spPr>
      </p:sp>
      <p:sp>
        <p:nvSpPr>
          <p:cNvPr id="20" name="TextBox 20">
            <a:extLst xmlns:a="http://schemas.openxmlformats.org/drawingml/2006/main">
              <a:ext uri="{FF2B5EF4-FFF2-40B4-BE49-F238E27FC236}">
                <a16:creationId xmlns:a16="http://schemas.microsoft.com/office/drawing/2014/main" id="{A5BA3BFE-DAC0-451F-9C6B-231BA557B50D}"/>
              </a:ext>
            </a:extLst>
          </p:cNvPr>
          <p:cNvSpPr>
            <a:spLocks xmlns:a="http://schemas.openxmlformats.org/drawingml/2006/main" noGrp="1"/>
          </p:cNvSpPr>
          <p:nvPr/>
        </p:nvSpPr>
        <p:spPr>
          <a:xfrm xmlns:a="http://schemas.openxmlformats.org/drawingml/2006/main" rot="0" flipH="0" flipV="0">
            <a:off x="6385560" y="4271010"/>
            <a:ext cx="1861909"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7324D"/>
                </a:solidFill>
                <a:latin typeface="Arial"/>
                <a:ea typeface="Arial"/>
                <a:cs typeface="Arial"/>
              </a:rPr>
              <a:t>COMPETING POSSIBILITY</a:t>
            </a:r>
          </a:p>
        </p:txBody>
      </p:sp>
      <p:sp>
        <p:nvSpPr>
          <p:cNvPr id="21" name="TextBox 21">
            <a:extLst xmlns:a="http://schemas.openxmlformats.org/drawingml/2006/main">
              <a:ext uri="{FF2B5EF4-FFF2-40B4-BE49-F238E27FC236}">
                <a16:creationId xmlns:a16="http://schemas.microsoft.com/office/drawing/2014/main" id="{64843346-4BAD-42B5-BA69-251743DAAEED}"/>
              </a:ext>
            </a:extLst>
          </p:cNvPr>
          <p:cNvSpPr>
            <a:spLocks xmlns:a="http://schemas.openxmlformats.org/drawingml/2006/main" noGrp="1"/>
          </p:cNvSpPr>
          <p:nvPr/>
        </p:nvSpPr>
        <p:spPr>
          <a:xfrm xmlns:a="http://schemas.openxmlformats.org/drawingml/2006/main" rot="0" flipH="0" flipV="0">
            <a:off x="6383655" y="4664392"/>
            <a:ext cx="4560570" cy="53149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2025"/>
              </a:lnSpc>
              <a:buNone/>
            </a:pPr>
            <a:r>
              <a:rPr sz="1350">
                <a:solidFill>
                  <a:srgbClr val="20262B"/>
                </a:solidFill>
                <a:latin typeface="Arial"/>
                <a:ea typeface="Arial"/>
                <a:cs typeface="Arial"/>
              </a:rPr>
              <a:t>LLMs may strengthen users' existing views and push different groups further apart.</a:t>
            </a:r>
          </a:p>
        </p:txBody>
      </p:sp>
      <p:sp>
        <p:nvSpPr>
          <p:cNvPr id="23" name="TextBox 23">
            <a:extLst xmlns:a="http://schemas.openxmlformats.org/drawingml/2006/main">
              <a:ext uri="{FF2B5EF4-FFF2-40B4-BE49-F238E27FC236}">
                <a16:creationId xmlns:a16="http://schemas.microsoft.com/office/drawing/2014/main" id="{A115A374-0B79-4571-939C-4CE1E9A8AC75}"/>
              </a:ext>
            </a:extLst>
          </p:cNvPr>
          <p:cNvSpPr>
            <a:spLocks xmlns:a="http://schemas.openxmlformats.org/drawingml/2006/main" noGrp="1"/>
          </p:cNvSpPr>
          <p:nvPr/>
        </p:nvSpPr>
        <p:spPr>
          <a:xfrm xmlns:a="http://schemas.openxmlformats.org/drawingml/2006/main">
            <a:off x="11362754" y="6398895"/>
            <a:ext cx="154877"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00">
                <a:solidFill>
                  <a:srgbClr val="7A8792"/>
                </a:solidFill>
                <a:latin typeface="Arial"/>
                <a:ea typeface="Arial"/>
                <a:cs typeface="Arial"/>
              </a:rPr>
              <a:t>02</a:t>
            </a:r>
          </a:p>
        </p:txBody>
      </p:sp>
    </p:spTree>
    <p:extLst>
      <p:ext uri="{BB962C8B-B14F-4D97-AF65-F5344CB8AC3E}">
        <p14:creationId xmlns:p14="http://schemas.microsoft.com/office/powerpoint/2010/main" val="140134275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0D20C37D-5CBD-480B-91DC-3CEE307533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sp>
      <p:sp>
        <p:nvSpPr>
          <p:cNvPr id="3" name="TextBox 3">
            <a:extLst xmlns:a="http://schemas.openxmlformats.org/drawingml/2006/main">
              <a:ext uri="{FF2B5EF4-FFF2-40B4-BE49-F238E27FC236}">
                <a16:creationId xmlns:a16="http://schemas.microsoft.com/office/drawing/2014/main" id="{60B04B2E-49FD-4524-A9A3-52E3AE617617}"/>
              </a:ext>
            </a:extLst>
          </p:cNvPr>
          <p:cNvSpPr>
            <a:spLocks xmlns:a="http://schemas.openxmlformats.org/drawingml/2006/main" noGrp="1"/>
          </p:cNvSpPr>
          <p:nvPr/>
        </p:nvSpPr>
        <p:spPr>
          <a:xfrm xmlns:a="http://schemas.openxmlformats.org/drawingml/2006/main" rot="0" flipH="0" flipV="0">
            <a:off x="541020" y="464820"/>
            <a:ext cx="918450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20262B"/>
                </a:solidFill>
                <a:latin typeface="Arial"/>
                <a:ea typeface="Arial"/>
                <a:cs typeface="Arial"/>
              </a:rPr>
              <a:t>Why Might LLMs Produce Opposite Group-Level Effects?</a:t>
            </a:r>
          </a:p>
        </p:txBody>
      </p:sp>
      <p:sp>
        <p:nvSpPr>
          <p:cNvPr id="4" name="Line 4">
            <a:extLst xmlns:a="http://schemas.openxmlformats.org/drawingml/2006/main">
              <a:ext uri="{FF2B5EF4-FFF2-40B4-BE49-F238E27FC236}">
                <a16:creationId xmlns:a16="http://schemas.microsoft.com/office/drawing/2014/main" id="{C631F6FB-F7AD-4B9A-953D-26B5FDA3B084}"/>
              </a:ext>
            </a:extLst>
          </p:cNvPr>
          <p:cNvSpPr>
            <a:spLocks xmlns:a="http://schemas.openxmlformats.org/drawingml/2006/main" noGrp="1"/>
          </p:cNvSpPr>
          <p:nvPr/>
        </p:nvSpPr>
        <p:spPr>
          <a:xfrm xmlns:a="http://schemas.openxmlformats.org/drawingml/2006/main" rot="0" flipH="0" flipV="0">
            <a:off x="571500" y="971550"/>
            <a:ext cx="11049000" cy="9525"/>
          </a:xfrm>
          <a:custGeom xmlns:a="http://schemas.openxmlformats.org/drawingml/2006/main">
            <a:rect l="l" t="t" r="r" b="b"/>
            <a:pathLst>
              <a:path w="11049000" h="9525">
                <a:moveTo>
                  <a:pt x="0" y="0"/>
                </a:moveTo>
                <a:lnTo>
                  <a:pt x="11049000" y="0"/>
                </a:lnTo>
              </a:path>
            </a:pathLst>
          </a:custGeom>
          <a:noFill xmlns:a="http://schemas.openxmlformats.org/drawingml/2006/main"/>
          <a:ln xmlns:a="http://schemas.openxmlformats.org/drawingml/2006/main" w="9525">
            <a:solidFill>
              <a:srgbClr val="D8DEE3"/>
            </a:solidFill>
          </a:ln>
        </p:spPr>
      </p:sp>
      <p:sp>
        <p:nvSpPr>
          <p:cNvPr id="5" name="Rectangle 5">
            <a:extLst xmlns:a="http://schemas.openxmlformats.org/drawingml/2006/main">
              <a:ext uri="{FF2B5EF4-FFF2-40B4-BE49-F238E27FC236}">
                <a16:creationId xmlns:a16="http://schemas.microsoft.com/office/drawing/2014/main" id="{EDD2D538-5B61-441A-943B-CEF2B46C312D}"/>
              </a:ext>
            </a:extLst>
          </p:cNvPr>
          <p:cNvSpPr>
            <a:spLocks xmlns:a="http://schemas.openxmlformats.org/drawingml/2006/main" noGrp="1"/>
          </p:cNvSpPr>
          <p:nvPr/>
        </p:nvSpPr>
        <p:spPr>
          <a:xfrm xmlns:a="http://schemas.openxmlformats.org/drawingml/2006/main" rot="0" flipH="0" flipV="0">
            <a:off x="571500" y="952500"/>
            <a:ext cx="1104900" cy="28575"/>
          </a:xfrm>
          <a:prstGeom xmlns:a="http://schemas.openxmlformats.org/drawingml/2006/main" prst="rect">
            <a:avLst/>
          </a:prstGeom>
          <a:solidFill xmlns:a="http://schemas.openxmlformats.org/drawingml/2006/main">
            <a:srgbClr val="17324D"/>
          </a:solidFill>
          <a:ln xmlns:a="http://schemas.openxmlformats.org/drawingml/2006/main">
            <a:noFill/>
          </a:ln>
        </p:spPr>
      </p:sp>
      <p:sp>
        <p:nvSpPr>
          <p:cNvPr id="7" name="Line 7">
            <a:extLst xmlns:a="http://schemas.openxmlformats.org/drawingml/2006/main">
              <a:ext uri="{FF2B5EF4-FFF2-40B4-BE49-F238E27FC236}">
                <a16:creationId xmlns:a16="http://schemas.microsoft.com/office/drawing/2014/main" id="{7D12E70E-C995-48FF-9285-1254183572AB}"/>
              </a:ext>
            </a:extLst>
          </p:cNvPr>
          <p:cNvSpPr>
            <a:spLocks xmlns:a="http://schemas.openxmlformats.org/drawingml/2006/main" noGrp="1"/>
          </p:cNvSpPr>
          <p:nvPr/>
        </p:nvSpPr>
        <p:spPr>
          <a:xfrm xmlns:a="http://schemas.openxmlformats.org/drawingml/2006/main">
            <a:off x="6096000" y="1257300"/>
            <a:ext cx="9525" cy="4857750"/>
          </a:xfrm>
          <a:custGeom xmlns:a="http://schemas.openxmlformats.org/drawingml/2006/main">
            <a:rect l="l" t="t" r="r" b="b"/>
            <a:pathLst>
              <a:path w="9525" h="4857750">
                <a:moveTo>
                  <a:pt x="0" y="0"/>
                </a:moveTo>
                <a:lnTo>
                  <a:pt x="0" y="4857750"/>
                </a:lnTo>
              </a:path>
            </a:pathLst>
          </a:custGeom>
          <a:noFill xmlns:a="http://schemas.openxmlformats.org/drawingml/2006/main"/>
          <a:ln xmlns:a="http://schemas.openxmlformats.org/drawingml/2006/main" w="9525">
            <a:solidFill>
              <a:srgbClr val="D8DEE3"/>
            </a:solidFill>
          </a:ln>
        </p:spPr>
      </p:sp>
      <p:sp>
        <p:nvSpPr>
          <p:cNvPr id="8" name="TextBox 8">
            <a:extLst xmlns:a="http://schemas.openxmlformats.org/drawingml/2006/main">
              <a:ext uri="{FF2B5EF4-FFF2-40B4-BE49-F238E27FC236}">
                <a16:creationId xmlns:a16="http://schemas.microsoft.com/office/drawing/2014/main" id="{264A3DFD-1787-4204-A6C6-491138B3D828}"/>
              </a:ext>
            </a:extLst>
          </p:cNvPr>
          <p:cNvSpPr>
            <a:spLocks xmlns:a="http://schemas.openxmlformats.org/drawingml/2006/main" noGrp="1"/>
          </p:cNvSpPr>
          <p:nvPr/>
        </p:nvSpPr>
        <p:spPr>
          <a:xfrm xmlns:a="http://schemas.openxmlformats.org/drawingml/2006/main" rot="0" flipH="0" flipV="0">
            <a:off x="672465" y="1353502"/>
            <a:ext cx="475076"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PATH 1</a:t>
            </a:r>
          </a:p>
        </p:txBody>
      </p:sp>
      <p:sp>
        <p:nvSpPr>
          <p:cNvPr id="9" name="TextBox 9">
            <a:extLst xmlns:a="http://schemas.openxmlformats.org/drawingml/2006/main">
              <a:ext uri="{FF2B5EF4-FFF2-40B4-BE49-F238E27FC236}">
                <a16:creationId xmlns:a16="http://schemas.microsoft.com/office/drawing/2014/main" id="{34B07735-B3C5-4826-8FEF-F88AC8FAF2A6}"/>
              </a:ext>
            </a:extLst>
          </p:cNvPr>
          <p:cNvSpPr>
            <a:spLocks xmlns:a="http://schemas.openxmlformats.org/drawingml/2006/main" noGrp="1"/>
          </p:cNvSpPr>
          <p:nvPr/>
        </p:nvSpPr>
        <p:spPr>
          <a:xfrm xmlns:a="http://schemas.openxmlformats.org/drawingml/2006/main" rot="0" flipH="0" flipV="0">
            <a:off x="662940" y="1682115"/>
            <a:ext cx="5124155"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rgbClr val="20262B"/>
                </a:solidFill>
                <a:latin typeface="Arial"/>
                <a:ea typeface="Arial"/>
                <a:cs typeface="Arial"/>
              </a:rPr>
              <a:t>Shared information source → convergence</a:t>
            </a:r>
          </a:p>
        </p:txBody>
      </p:sp>
      <p:sp>
        <p:nvSpPr>
          <p:cNvPr id="10" name="TextBox 10">
            <a:extLst xmlns:a="http://schemas.openxmlformats.org/drawingml/2006/main">
              <a:ext uri="{FF2B5EF4-FFF2-40B4-BE49-F238E27FC236}">
                <a16:creationId xmlns:a16="http://schemas.microsoft.com/office/drawing/2014/main" id="{5D39AEE1-8B70-4433-AE03-F2F31BA4C90E}"/>
              </a:ext>
            </a:extLst>
          </p:cNvPr>
          <p:cNvSpPr>
            <a:spLocks xmlns:a="http://schemas.openxmlformats.org/drawingml/2006/main" noGrp="1"/>
          </p:cNvSpPr>
          <p:nvPr/>
        </p:nvSpPr>
        <p:spPr>
          <a:xfrm xmlns:a="http://schemas.openxmlformats.org/drawingml/2006/main" rot="0" flipH="0" flipV="0">
            <a:off x="669608" y="2243614"/>
            <a:ext cx="4412456" cy="7448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00"/>
              </a:lnSpc>
              <a:buNone/>
            </a:pPr>
            <a:r>
              <a:rPr sz="1275" b="1">
                <a:solidFill>
                  <a:srgbClr val="17324D"/>
                </a:solidFill>
                <a:latin typeface="Arial"/>
                <a:ea typeface="Arial"/>
                <a:cs typeface="Arial"/>
              </a:rPr>
              <a:t>Model-output homogeneity</a:t>
            </a:r>
          </a:p>
          <a:p xmlns:a="http://schemas.openxmlformats.org/drawingml/2006/main">
            <a:pPr algn="l">
              <a:lnSpc>
                <a:spcPts val="1800"/>
              </a:lnSpc>
              <a:spcBef>
                <a:spcPts val="225"/>
              </a:spcBef>
              <a:buNone/>
            </a:pPr>
            <a:r>
              <a:rPr sz="1275" i="1">
                <a:solidFill>
                  <a:srgbClr val="20262B"/>
                </a:solidFill>
                <a:latin typeface="Arial"/>
                <a:ea typeface="Arial"/>
                <a:cs typeface="Arial"/>
              </a:rPr>
              <a:t>Artificial Hivemind</a:t>
            </a:r>
            <a:r>
              <a:rPr sz="1275">
                <a:solidFill>
                  <a:srgbClr val="20262B"/>
                </a:solidFill>
                <a:latin typeface="Arial"/>
                <a:ea typeface="Arial"/>
                <a:cs typeface="Arial"/>
              </a:rPr>
              <a:t> identifies intra-model repetition </a:t>
            </a:r>
            <a:r>
              <a:rPr sz="1275">
                <a:solidFill>
                  <a:srgbClr val="20262B"/>
                </a:solidFill>
                <a:latin typeface="Arial"/>
                <a:ea typeface="Arial"/>
                <a:cs typeface="Arial"/>
              </a:rPr>
              <a:t>and inter-model homogeneity in open-ended generation.</a:t>
            </a:r>
          </a:p>
        </p:txBody>
      </p:sp>
      <p:sp>
        <p:nvSpPr>
          <p:cNvPr id="11" name="TextBox 11">
            <a:extLst xmlns:a="http://schemas.openxmlformats.org/drawingml/2006/main">
              <a:ext uri="{FF2B5EF4-FFF2-40B4-BE49-F238E27FC236}">
                <a16:creationId xmlns:a16="http://schemas.microsoft.com/office/drawing/2014/main" id="{70BF3F87-3891-410E-A45E-772EDC204BAD}"/>
              </a:ext>
            </a:extLst>
          </p:cNvPr>
          <p:cNvSpPr>
            <a:spLocks xmlns:a="http://schemas.openxmlformats.org/drawingml/2006/main" noGrp="1"/>
          </p:cNvSpPr>
          <p:nvPr/>
        </p:nvSpPr>
        <p:spPr>
          <a:xfrm xmlns:a="http://schemas.openxmlformats.org/drawingml/2006/main" rot="0" flipH="0" flipV="0">
            <a:off x="669608" y="3253264"/>
            <a:ext cx="4873943" cy="7448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00"/>
              </a:lnSpc>
              <a:buNone/>
            </a:pPr>
            <a:r>
              <a:rPr sz="1275" b="1">
                <a:solidFill>
                  <a:srgbClr val="17324D"/>
                </a:solidFill>
                <a:latin typeface="Arial"/>
                <a:ea typeface="Arial"/>
                <a:cs typeface="Arial"/>
              </a:rPr>
              <a:t>Algorithmic monoculture</a:t>
            </a:r>
          </a:p>
          <a:p xmlns:a="http://schemas.openxmlformats.org/drawingml/2006/main">
            <a:pPr algn="l">
              <a:lnSpc>
                <a:spcPts val="1800"/>
              </a:lnSpc>
              <a:spcBef>
                <a:spcPts val="225"/>
              </a:spcBef>
              <a:buNone/>
            </a:pPr>
            <a:r>
              <a:rPr sz="1275">
                <a:solidFill>
                  <a:srgbClr val="20262B"/>
                </a:solidFill>
                <a:latin typeface="Arial"/>
                <a:ea typeface="Arial"/>
                <a:cs typeface="Arial"/>
              </a:rPr>
              <a:t>Shared algorithms can correlate judgments; strong individual </a:t>
            </a:r>
            <a:r>
              <a:rPr sz="1275">
                <a:solidFill>
                  <a:srgbClr val="20262B"/>
                </a:solidFill>
                <a:latin typeface="Arial"/>
                <a:ea typeface="Arial"/>
                <a:cs typeface="Arial"/>
              </a:rPr>
              <a:t>performance does not guarantee system-level outcomes.</a:t>
            </a:r>
          </a:p>
        </p:txBody>
      </p:sp>
      <p:sp>
        <p:nvSpPr>
          <p:cNvPr id="12" name="TextBox 12">
            <a:extLst xmlns:a="http://schemas.openxmlformats.org/drawingml/2006/main">
              <a:ext uri="{FF2B5EF4-FFF2-40B4-BE49-F238E27FC236}">
                <a16:creationId xmlns:a16="http://schemas.microsoft.com/office/drawing/2014/main" id="{2D76B176-E980-4BBE-B419-060F5565FB39}"/>
              </a:ext>
            </a:extLst>
          </p:cNvPr>
          <p:cNvSpPr>
            <a:spLocks xmlns:a="http://schemas.openxmlformats.org/drawingml/2006/main" noGrp="1"/>
          </p:cNvSpPr>
          <p:nvPr/>
        </p:nvSpPr>
        <p:spPr>
          <a:xfrm xmlns:a="http://schemas.openxmlformats.org/drawingml/2006/main" rot="0" flipH="0" flipV="0">
            <a:off x="669608" y="4262914"/>
            <a:ext cx="4995386" cy="7448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00"/>
              </a:lnSpc>
              <a:buNone/>
            </a:pPr>
            <a:r>
              <a:rPr sz="1275" b="1">
                <a:solidFill>
                  <a:srgbClr val="17324D"/>
                </a:solidFill>
                <a:latin typeface="Arial"/>
                <a:ea typeface="Arial"/>
                <a:cs typeface="Arial"/>
              </a:rPr>
              <a:t>Repeated exposure and acceptance</a:t>
            </a:r>
          </a:p>
          <a:p xmlns:a="http://schemas.openxmlformats.org/drawingml/2006/main">
            <a:pPr algn="l">
              <a:lnSpc>
                <a:spcPts val="1800"/>
              </a:lnSpc>
              <a:spcBef>
                <a:spcPts val="225"/>
              </a:spcBef>
              <a:buNone/>
            </a:pPr>
            <a:r>
              <a:rPr sz="1275">
                <a:solidFill>
                  <a:srgbClr val="20262B"/>
                </a:solidFill>
                <a:latin typeface="Arial"/>
                <a:ea typeface="Arial"/>
                <a:cs typeface="Arial"/>
              </a:rPr>
              <a:t>When members repeatedly receive common information and give </a:t>
            </a:r>
            <a:r>
              <a:rPr sz="1275">
                <a:solidFill>
                  <a:srgbClr val="20262B"/>
                </a:solidFill>
                <a:latin typeface="Arial"/>
                <a:ea typeface="Arial"/>
                <a:cs typeface="Arial"/>
              </a:rPr>
              <a:t>it positive weight, initial opinion distances may narrow.</a:t>
            </a:r>
          </a:p>
        </p:txBody>
      </p:sp>
      <p:sp>
        <p:nvSpPr>
          <p:cNvPr id="14" name="TextBox 14">
            <a:extLst xmlns:a="http://schemas.openxmlformats.org/drawingml/2006/main">
              <a:ext uri="{FF2B5EF4-FFF2-40B4-BE49-F238E27FC236}">
                <a16:creationId xmlns:a16="http://schemas.microsoft.com/office/drawing/2014/main" id="{81AC22D6-BA2F-4002-A1A4-AD899B53D2CC}"/>
              </a:ext>
            </a:extLst>
          </p:cNvPr>
          <p:cNvSpPr>
            <a:spLocks xmlns:a="http://schemas.openxmlformats.org/drawingml/2006/main" noGrp="1"/>
          </p:cNvSpPr>
          <p:nvPr/>
        </p:nvSpPr>
        <p:spPr>
          <a:xfrm xmlns:a="http://schemas.openxmlformats.org/drawingml/2006/main" rot="0" flipH="0" flipV="0">
            <a:off x="6425565" y="1353502"/>
            <a:ext cx="475076"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PATH 2</a:t>
            </a:r>
          </a:p>
        </p:txBody>
      </p:sp>
      <p:sp>
        <p:nvSpPr>
          <p:cNvPr id="15" name="TextBox 15">
            <a:extLst xmlns:a="http://schemas.openxmlformats.org/drawingml/2006/main">
              <a:ext uri="{FF2B5EF4-FFF2-40B4-BE49-F238E27FC236}">
                <a16:creationId xmlns:a16="http://schemas.microsoft.com/office/drawing/2014/main" id="{49EF5C3C-A1F1-4602-96A5-5EE23612C944}"/>
              </a:ext>
            </a:extLst>
          </p:cNvPr>
          <p:cNvSpPr>
            <a:spLocks xmlns:a="http://schemas.openxmlformats.org/drawingml/2006/main" noGrp="1"/>
          </p:cNvSpPr>
          <p:nvPr/>
        </p:nvSpPr>
        <p:spPr>
          <a:xfrm xmlns:a="http://schemas.openxmlformats.org/drawingml/2006/main" rot="0" flipH="0" flipV="0">
            <a:off x="6416040" y="1682115"/>
            <a:ext cx="5993663"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rgbClr val="20262B"/>
                </a:solidFill>
                <a:latin typeface="Arial"/>
                <a:ea typeface="Arial"/>
                <a:cs typeface="Arial"/>
              </a:rPr>
              <a:t>Stance-conditioned generation → differentiation</a:t>
            </a:r>
          </a:p>
        </p:txBody>
      </p:sp>
      <p:sp>
        <p:nvSpPr>
          <p:cNvPr id="16" name="TextBox 16">
            <a:extLst xmlns:a="http://schemas.openxmlformats.org/drawingml/2006/main">
              <a:ext uri="{FF2B5EF4-FFF2-40B4-BE49-F238E27FC236}">
                <a16:creationId xmlns:a16="http://schemas.microsoft.com/office/drawing/2014/main" id="{5FDF0DF2-C241-4E40-A120-7722793C80A0}"/>
              </a:ext>
            </a:extLst>
          </p:cNvPr>
          <p:cNvSpPr>
            <a:spLocks xmlns:a="http://schemas.openxmlformats.org/drawingml/2006/main" noGrp="1"/>
          </p:cNvSpPr>
          <p:nvPr/>
        </p:nvSpPr>
        <p:spPr>
          <a:xfrm xmlns:a="http://schemas.openxmlformats.org/drawingml/2006/main" rot="0" flipH="0" flipV="0">
            <a:off x="6423660" y="2251710"/>
            <a:ext cx="4701540" cy="701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b="1">
                <a:solidFill>
                  <a:srgbClr val="17324D"/>
                </a:solidFill>
                <a:latin typeface="Arial"/>
                <a:ea typeface="Arial"/>
                <a:cs typeface="Arial"/>
              </a:rPr>
              <a:t>Motivated skepticism and biased assimilation</a:t>
            </a:r>
          </a:p>
          <a:p xmlns:a="http://schemas.openxmlformats.org/drawingml/2006/main">
            <a:pPr algn="l">
              <a:lnSpc>
                <a:spcPts val="1725"/>
              </a:lnSpc>
              <a:spcBef>
                <a:spcPts val="150"/>
              </a:spcBef>
              <a:buNone/>
            </a:pPr>
            <a:r>
              <a:rPr sz="1200">
                <a:solidFill>
                  <a:srgbClr val="20262B"/>
                </a:solidFill>
                <a:latin typeface="Arial"/>
                <a:ea typeface="Arial"/>
                <a:cs typeface="Arial"/>
              </a:rPr>
              <a:t>People more readily accept attitude-consistent arguments and </a:t>
            </a:r>
            <a:r>
              <a:rPr sz="1200">
                <a:solidFill>
                  <a:srgbClr val="20262B"/>
                </a:solidFill>
                <a:latin typeface="Arial"/>
                <a:ea typeface="Arial"/>
                <a:cs typeface="Arial"/>
              </a:rPr>
              <a:t>counterargue inconsistent ones. </a:t>
            </a:r>
            <a:r>
              <a:rPr sz="1200">
                <a:solidFill>
                  <a:srgbClr val="7A8792"/>
                </a:solidFill>
                <a:latin typeface="Arial"/>
                <a:ea typeface="Arial"/>
                <a:cs typeface="Arial"/>
              </a:rPr>
              <a:t>Taber &amp; Lodge, 2006</a:t>
            </a:r>
          </a:p>
        </p:txBody>
      </p:sp>
      <p:sp>
        <p:nvSpPr>
          <p:cNvPr id="17" name="TextBox 17">
            <a:extLst xmlns:a="http://schemas.openxmlformats.org/drawingml/2006/main">
              <a:ext uri="{FF2B5EF4-FFF2-40B4-BE49-F238E27FC236}">
                <a16:creationId xmlns:a16="http://schemas.microsoft.com/office/drawing/2014/main" id="{0CEE8194-181B-4E78-9FB2-87D9CD153036}"/>
              </a:ext>
            </a:extLst>
          </p:cNvPr>
          <p:cNvSpPr>
            <a:spLocks xmlns:a="http://schemas.openxmlformats.org/drawingml/2006/main" noGrp="1"/>
          </p:cNvSpPr>
          <p:nvPr/>
        </p:nvSpPr>
        <p:spPr>
          <a:xfrm xmlns:a="http://schemas.openxmlformats.org/drawingml/2006/main" rot="0" flipH="0" flipV="0">
            <a:off x="6423660" y="3204210"/>
            <a:ext cx="5059680" cy="701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b="1">
                <a:solidFill>
                  <a:srgbClr val="17324D"/>
                </a:solidFill>
                <a:latin typeface="Arial"/>
                <a:ea typeface="Arial"/>
                <a:cs typeface="Arial"/>
              </a:rPr>
              <a:t>User-conditioned generation</a:t>
            </a:r>
          </a:p>
          <a:p xmlns:a="http://schemas.openxmlformats.org/drawingml/2006/main">
            <a:pPr algn="l">
              <a:lnSpc>
                <a:spcPts val="1725"/>
              </a:lnSpc>
              <a:spcBef>
                <a:spcPts val="150"/>
              </a:spcBef>
              <a:buNone/>
            </a:pPr>
            <a:r>
              <a:rPr sz="1200">
                <a:solidFill>
                  <a:srgbClr val="20262B"/>
                </a:solidFill>
                <a:latin typeface="Arial"/>
                <a:ea typeface="Arial"/>
                <a:cs typeface="Arial"/>
              </a:rPr>
              <a:t>When an initial position enters the prompt or conversation history, </a:t>
            </a:r>
            <a:r>
              <a:rPr sz="1200">
                <a:solidFill>
                  <a:srgbClr val="20262B"/>
                </a:solidFill>
                <a:latin typeface="Arial"/>
                <a:ea typeface="Arial"/>
                <a:cs typeface="Arial"/>
              </a:rPr>
              <a:t>the LLM may generate more position-consistent information.</a:t>
            </a:r>
          </a:p>
        </p:txBody>
      </p:sp>
      <p:sp>
        <p:nvSpPr>
          <p:cNvPr id="18" name="TextBox 18">
            <a:extLst xmlns:a="http://schemas.openxmlformats.org/drawingml/2006/main">
              <a:ext uri="{FF2B5EF4-FFF2-40B4-BE49-F238E27FC236}">
                <a16:creationId xmlns:a16="http://schemas.microsoft.com/office/drawing/2014/main" id="{2540E6D1-CC65-4D03-8716-6EA0488F665D}"/>
              </a:ext>
            </a:extLst>
          </p:cNvPr>
          <p:cNvSpPr>
            <a:spLocks xmlns:a="http://schemas.openxmlformats.org/drawingml/2006/main" noGrp="1"/>
          </p:cNvSpPr>
          <p:nvPr/>
        </p:nvSpPr>
        <p:spPr>
          <a:xfrm xmlns:a="http://schemas.openxmlformats.org/drawingml/2006/main" rot="0" flipH="0" flipV="0">
            <a:off x="6423660" y="4156710"/>
            <a:ext cx="5105400" cy="701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b="1">
                <a:solidFill>
                  <a:srgbClr val="17324D"/>
                </a:solidFill>
                <a:latin typeface="Arial"/>
                <a:ea typeface="Arial"/>
                <a:cs typeface="Arial"/>
              </a:rPr>
              <a:t>Agent-based evidence</a:t>
            </a:r>
          </a:p>
          <a:p xmlns:a="http://schemas.openxmlformats.org/drawingml/2006/main">
            <a:pPr algn="l">
              <a:lnSpc>
                <a:spcPts val="1725"/>
              </a:lnSpc>
              <a:spcBef>
                <a:spcPts val="150"/>
              </a:spcBef>
              <a:buNone/>
            </a:pPr>
            <a:r>
              <a:rPr sz="1200">
                <a:solidFill>
                  <a:srgbClr val="20262B"/>
                </a:solidFill>
                <a:latin typeface="Arial"/>
                <a:ea typeface="Arial"/>
                <a:cs typeface="Arial"/>
              </a:rPr>
              <a:t>General prompts can produce consensus; confirmation-bias prompts </a:t>
            </a:r>
            <a:r>
              <a:rPr sz="1200">
                <a:solidFill>
                  <a:srgbClr val="20262B"/>
                </a:solidFill>
                <a:latin typeface="Arial"/>
                <a:ea typeface="Arial"/>
                <a:cs typeface="Arial"/>
              </a:rPr>
              <a:t>can produce fragmentation. </a:t>
            </a:r>
            <a:r>
              <a:rPr sz="1200">
                <a:solidFill>
                  <a:srgbClr val="7A8792"/>
                </a:solidFill>
                <a:latin typeface="Arial"/>
                <a:ea typeface="Arial"/>
                <a:cs typeface="Arial"/>
              </a:rPr>
              <a:t>Chuang et al., 2024</a:t>
            </a:r>
          </a:p>
        </p:txBody>
      </p:sp>
      <p:sp>
        <p:nvSpPr>
          <p:cNvPr id="19" name="TextBox 19">
            <a:extLst xmlns:a="http://schemas.openxmlformats.org/drawingml/2006/main">
              <a:ext uri="{FF2B5EF4-FFF2-40B4-BE49-F238E27FC236}">
                <a16:creationId xmlns:a16="http://schemas.microsoft.com/office/drawing/2014/main" id="{D6929361-96A4-4D0B-9924-719194ED771A}"/>
              </a:ext>
            </a:extLst>
          </p:cNvPr>
          <p:cNvSpPr>
            <a:spLocks xmlns:a="http://schemas.openxmlformats.org/drawingml/2006/main" noGrp="1"/>
          </p:cNvSpPr>
          <p:nvPr/>
        </p:nvSpPr>
        <p:spPr>
          <a:xfrm xmlns:a="http://schemas.openxmlformats.org/drawingml/2006/main" rot="0" flipH="0" flipV="0">
            <a:off x="6423660" y="5109210"/>
            <a:ext cx="323128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7324D"/>
                </a:solidFill>
                <a:latin typeface="Arial"/>
                <a:ea typeface="Arial"/>
                <a:cs typeface="Arial"/>
              </a:rPr>
              <a:t>Personalization and network structure</a:t>
            </a:r>
          </a:p>
        </p:txBody>
      </p:sp>
      <p:sp>
        <p:nvSpPr>
          <p:cNvPr id="20" name="TextBox 20">
            <a:extLst xmlns:a="http://schemas.openxmlformats.org/drawingml/2006/main">
              <a:ext uri="{FF2B5EF4-FFF2-40B4-BE49-F238E27FC236}">
                <a16:creationId xmlns:a16="http://schemas.microsoft.com/office/drawing/2014/main" id="{CD440D97-0315-4178-A6C3-F090C055C3AB}"/>
              </a:ext>
            </a:extLst>
          </p:cNvPr>
          <p:cNvSpPr>
            <a:spLocks xmlns:a="http://schemas.openxmlformats.org/drawingml/2006/main" noGrp="1"/>
          </p:cNvSpPr>
          <p:nvPr/>
        </p:nvSpPr>
        <p:spPr>
          <a:xfrm xmlns:a="http://schemas.openxmlformats.org/drawingml/2006/main" rot="0" flipH="0" flipV="0">
            <a:off x="6423660" y="5442585"/>
            <a:ext cx="4118991"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20262B"/>
                </a:solidFill>
                <a:latin typeface="Arial"/>
                <a:ea typeface="Arial"/>
                <a:cs typeface="Arial"/>
              </a:rPr>
              <a:t>Their interaction may produce opinion clustering and</a:t>
            </a:r>
          </a:p>
        </p:txBody>
      </p:sp>
      <p:sp>
        <p:nvSpPr>
          <p:cNvPr id="21" name="TextBox 21">
            <a:extLst xmlns:a="http://schemas.openxmlformats.org/drawingml/2006/main">
              <a:ext uri="{FF2B5EF4-FFF2-40B4-BE49-F238E27FC236}">
                <a16:creationId xmlns:a16="http://schemas.microsoft.com/office/drawing/2014/main" id="{20ECA6C2-272C-4ABE-A999-79B663174730}"/>
              </a:ext>
            </a:extLst>
          </p:cNvPr>
          <p:cNvSpPr>
            <a:spLocks xmlns:a="http://schemas.openxmlformats.org/drawingml/2006/main" noGrp="1"/>
          </p:cNvSpPr>
          <p:nvPr/>
        </p:nvSpPr>
        <p:spPr>
          <a:xfrm xmlns:a="http://schemas.openxmlformats.org/drawingml/2006/main" rot="0" flipH="0" flipV="0">
            <a:off x="6423660" y="5661660"/>
            <a:ext cx="1054608"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20262B"/>
                </a:solidFill>
                <a:latin typeface="Arial"/>
                <a:ea typeface="Arial"/>
                <a:cs typeface="Arial"/>
              </a:rPr>
              <a:t>polarization.</a:t>
            </a:r>
          </a:p>
        </p:txBody>
      </p:sp>
      <p:sp>
        <p:nvSpPr>
          <p:cNvPr id="23" name="TextBox 23">
            <a:extLst xmlns:a="http://schemas.openxmlformats.org/drawingml/2006/main">
              <a:ext uri="{FF2B5EF4-FFF2-40B4-BE49-F238E27FC236}">
                <a16:creationId xmlns:a16="http://schemas.microsoft.com/office/drawing/2014/main" id="{9B643D52-342C-466E-B553-3848BDED3815}"/>
              </a:ext>
            </a:extLst>
          </p:cNvPr>
          <p:cNvSpPr>
            <a:spLocks xmlns:a="http://schemas.openxmlformats.org/drawingml/2006/main" noGrp="1"/>
          </p:cNvSpPr>
          <p:nvPr/>
        </p:nvSpPr>
        <p:spPr>
          <a:xfrm xmlns:a="http://schemas.openxmlformats.org/drawingml/2006/main">
            <a:off x="11362754" y="6398895"/>
            <a:ext cx="154877"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00">
                <a:solidFill>
                  <a:srgbClr val="7A8792"/>
                </a:solidFill>
                <a:latin typeface="Arial"/>
                <a:ea typeface="Arial"/>
                <a:cs typeface="Arial"/>
              </a:rPr>
              <a:t>03</a:t>
            </a:r>
          </a:p>
        </p:txBody>
      </p:sp>
    </p:spTree>
    <p:extLst>
      <p:ext uri="{BB962C8B-B14F-4D97-AF65-F5344CB8AC3E}">
        <p14:creationId xmlns:p14="http://schemas.microsoft.com/office/powerpoint/2010/main" val="2266786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F5F31D53-9D3F-4DB0-866E-E114D61751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sp>
      <p:sp>
        <p:nvSpPr>
          <p:cNvPr id="3" name="TextBox 3">
            <a:extLst xmlns:a="http://schemas.openxmlformats.org/drawingml/2006/main">
              <a:ext uri="{FF2B5EF4-FFF2-40B4-BE49-F238E27FC236}">
                <a16:creationId xmlns:a16="http://schemas.microsoft.com/office/drawing/2014/main" id="{9A67A3C0-9888-4A00-B8FD-657D7674AFA4}"/>
              </a:ext>
            </a:extLst>
          </p:cNvPr>
          <p:cNvSpPr>
            <a:spLocks xmlns:a="http://schemas.openxmlformats.org/drawingml/2006/main" noGrp="1"/>
          </p:cNvSpPr>
          <p:nvPr/>
        </p:nvSpPr>
        <p:spPr>
          <a:xfrm xmlns:a="http://schemas.openxmlformats.org/drawingml/2006/main" rot="0" flipH="0" flipV="0">
            <a:off x="541020" y="464820"/>
            <a:ext cx="23796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20262B"/>
                </a:solidFill>
                <a:latin typeface="Arial"/>
                <a:ea typeface="Arial"/>
                <a:cs typeface="Arial"/>
              </a:rPr>
              <a:t>Research Gaps</a:t>
            </a:r>
          </a:p>
        </p:txBody>
      </p:sp>
      <p:sp>
        <p:nvSpPr>
          <p:cNvPr id="4" name="Line 4">
            <a:extLst xmlns:a="http://schemas.openxmlformats.org/drawingml/2006/main">
              <a:ext uri="{FF2B5EF4-FFF2-40B4-BE49-F238E27FC236}">
                <a16:creationId xmlns:a16="http://schemas.microsoft.com/office/drawing/2014/main" id="{F2341C10-4E45-4A59-B9DE-8AD237669CC1}"/>
              </a:ext>
            </a:extLst>
          </p:cNvPr>
          <p:cNvSpPr>
            <a:spLocks xmlns:a="http://schemas.openxmlformats.org/drawingml/2006/main" noGrp="1"/>
          </p:cNvSpPr>
          <p:nvPr/>
        </p:nvSpPr>
        <p:spPr>
          <a:xfrm xmlns:a="http://schemas.openxmlformats.org/drawingml/2006/main" rot="0" flipH="0" flipV="0">
            <a:off x="571500" y="971550"/>
            <a:ext cx="11049000" cy="9525"/>
          </a:xfrm>
          <a:custGeom xmlns:a="http://schemas.openxmlformats.org/drawingml/2006/main">
            <a:rect l="l" t="t" r="r" b="b"/>
            <a:pathLst>
              <a:path w="11049000" h="9525">
                <a:moveTo>
                  <a:pt x="0" y="0"/>
                </a:moveTo>
                <a:lnTo>
                  <a:pt x="11049000" y="0"/>
                </a:lnTo>
              </a:path>
            </a:pathLst>
          </a:custGeom>
          <a:noFill xmlns:a="http://schemas.openxmlformats.org/drawingml/2006/main"/>
          <a:ln xmlns:a="http://schemas.openxmlformats.org/drawingml/2006/main" w="9525">
            <a:solidFill>
              <a:srgbClr val="D8DEE3"/>
            </a:solidFill>
          </a:ln>
        </p:spPr>
      </p:sp>
      <p:sp>
        <p:nvSpPr>
          <p:cNvPr id="5" name="Rectangle 5">
            <a:extLst xmlns:a="http://schemas.openxmlformats.org/drawingml/2006/main">
              <a:ext uri="{FF2B5EF4-FFF2-40B4-BE49-F238E27FC236}">
                <a16:creationId xmlns:a16="http://schemas.microsoft.com/office/drawing/2014/main" id="{4B075335-6851-419E-9653-8CC550E2B89A}"/>
              </a:ext>
            </a:extLst>
          </p:cNvPr>
          <p:cNvSpPr>
            <a:spLocks xmlns:a="http://schemas.openxmlformats.org/drawingml/2006/main" noGrp="1"/>
          </p:cNvSpPr>
          <p:nvPr/>
        </p:nvSpPr>
        <p:spPr>
          <a:xfrm xmlns:a="http://schemas.openxmlformats.org/drawingml/2006/main" rot="0" flipH="0" flipV="0">
            <a:off x="571500" y="952500"/>
            <a:ext cx="1104900" cy="28575"/>
          </a:xfrm>
          <a:prstGeom xmlns:a="http://schemas.openxmlformats.org/drawingml/2006/main" prst="rect">
            <a:avLst/>
          </a:prstGeom>
          <a:solidFill xmlns:a="http://schemas.openxmlformats.org/drawingml/2006/main">
            <a:srgbClr val="17324D"/>
          </a:solidFill>
          <a:ln xmlns:a="http://schemas.openxmlformats.org/drawingml/2006/main">
            <a:noFill/>
          </a:ln>
        </p:spPr>
      </p:sp>
      <p:sp>
        <p:nvSpPr>
          <p:cNvPr id="7" name="TextBox 7">
            <a:extLst xmlns:a="http://schemas.openxmlformats.org/drawingml/2006/main">
              <a:ext uri="{FF2B5EF4-FFF2-40B4-BE49-F238E27FC236}">
                <a16:creationId xmlns:a16="http://schemas.microsoft.com/office/drawing/2014/main" id="{E3EC6C49-46EE-40DA-AB53-EDC4B754BC2D}"/>
              </a:ext>
            </a:extLst>
          </p:cNvPr>
          <p:cNvSpPr>
            <a:spLocks xmlns:a="http://schemas.openxmlformats.org/drawingml/2006/main" noGrp="1"/>
          </p:cNvSpPr>
          <p:nvPr/>
        </p:nvSpPr>
        <p:spPr>
          <a:xfrm xmlns:a="http://schemas.openxmlformats.org/drawingml/2006/main" rot="0" flipH="0" flipV="0">
            <a:off x="660082" y="1286351"/>
            <a:ext cx="36332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025" b="1">
                <a:solidFill>
                  <a:srgbClr val="17324D"/>
                </a:solidFill>
                <a:latin typeface="Arial"/>
                <a:ea typeface="Arial"/>
                <a:cs typeface="Arial"/>
              </a:rPr>
              <a:t>01</a:t>
            </a:r>
          </a:p>
        </p:txBody>
      </p:sp>
      <p:sp>
        <p:nvSpPr>
          <p:cNvPr id="8" name="TextBox 8">
            <a:extLst xmlns:a="http://schemas.openxmlformats.org/drawingml/2006/main">
              <a:ext uri="{FF2B5EF4-FFF2-40B4-BE49-F238E27FC236}">
                <a16:creationId xmlns:a16="http://schemas.microsoft.com/office/drawing/2014/main" id="{0F387F0D-267B-4BCD-A54A-C7A0A0E1D1FD}"/>
              </a:ext>
            </a:extLst>
          </p:cNvPr>
          <p:cNvSpPr>
            <a:spLocks xmlns:a="http://schemas.openxmlformats.org/drawingml/2006/main" noGrp="1"/>
          </p:cNvSpPr>
          <p:nvPr/>
        </p:nvSpPr>
        <p:spPr>
          <a:xfrm xmlns:a="http://schemas.openxmlformats.org/drawingml/2006/main" rot="0" flipH="0" flipV="0">
            <a:off x="1258252" y="1313021"/>
            <a:ext cx="2111254"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Output–exposure gap</a:t>
            </a:r>
          </a:p>
        </p:txBody>
      </p:sp>
      <p:sp>
        <p:nvSpPr>
          <p:cNvPr id="9" name="TextBox 9">
            <a:extLst xmlns:a="http://schemas.openxmlformats.org/drawingml/2006/main">
              <a:ext uri="{FF2B5EF4-FFF2-40B4-BE49-F238E27FC236}">
                <a16:creationId xmlns:a16="http://schemas.microsoft.com/office/drawing/2014/main" id="{144F87CB-2724-4023-9E1F-32CC3219E562}"/>
              </a:ext>
            </a:extLst>
          </p:cNvPr>
          <p:cNvSpPr>
            <a:spLocks xmlns:a="http://schemas.openxmlformats.org/drawingml/2006/main" noGrp="1"/>
          </p:cNvSpPr>
          <p:nvPr/>
        </p:nvSpPr>
        <p:spPr>
          <a:xfrm xmlns:a="http://schemas.openxmlformats.org/drawingml/2006/main" rot="0" flipH="0" flipV="0">
            <a:off x="1262062" y="1612106"/>
            <a:ext cx="5922169"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575"/>
              </a:lnSpc>
              <a:buNone/>
            </a:pPr>
            <a:r>
              <a:rPr sz="1125">
                <a:solidFill>
                  <a:srgbClr val="20262B"/>
                </a:solidFill>
                <a:latin typeface="Arial"/>
                <a:ea typeface="Arial"/>
                <a:cs typeface="Arial"/>
              </a:rPr>
              <a:t>It remains unclear whether similar LLM answers create similar information exposure </a:t>
            </a:r>
            <a:r>
              <a:rPr sz="1125">
                <a:solidFill>
                  <a:srgbClr val="20262B"/>
                </a:solidFill>
                <a:latin typeface="Arial"/>
                <a:ea typeface="Arial"/>
                <a:cs typeface="Arial"/>
              </a:rPr>
              <a:t>and diffusion among members.</a:t>
            </a:r>
          </a:p>
        </p:txBody>
      </p:sp>
      <p:sp>
        <p:nvSpPr>
          <p:cNvPr id="10" name="Line 10">
            <a:extLst xmlns:a="http://schemas.openxmlformats.org/drawingml/2006/main">
              <a:ext uri="{FF2B5EF4-FFF2-40B4-BE49-F238E27FC236}">
                <a16:creationId xmlns:a16="http://schemas.microsoft.com/office/drawing/2014/main" id="{47F4C979-F3F2-4127-84AB-28EBA410B247}"/>
              </a:ext>
            </a:extLst>
          </p:cNvPr>
          <p:cNvSpPr>
            <a:spLocks xmlns:a="http://schemas.openxmlformats.org/drawingml/2006/main" noGrp="1"/>
          </p:cNvSpPr>
          <p:nvPr/>
        </p:nvSpPr>
        <p:spPr>
          <a:xfrm xmlns:a="http://schemas.openxmlformats.org/drawingml/2006/main" rot="0" flipH="0" flipV="0">
            <a:off x="1276350" y="2085975"/>
            <a:ext cx="10229850" cy="9525"/>
          </a:xfrm>
          <a:custGeom xmlns:a="http://schemas.openxmlformats.org/drawingml/2006/main">
            <a:rect l="l" t="t" r="r" b="b"/>
            <a:pathLst>
              <a:path w="10229850" h="9525">
                <a:moveTo>
                  <a:pt x="0" y="0"/>
                </a:moveTo>
                <a:lnTo>
                  <a:pt x="10229850" y="0"/>
                </a:lnTo>
              </a:path>
            </a:pathLst>
          </a:custGeom>
          <a:noFill xmlns:a="http://schemas.openxmlformats.org/drawingml/2006/main"/>
          <a:ln xmlns:a="http://schemas.openxmlformats.org/drawingml/2006/main" w="9525">
            <a:solidFill>
              <a:srgbClr val="D8DEE3"/>
            </a:solidFill>
          </a:ln>
        </p:spPr>
      </p:sp>
      <p:sp>
        <p:nvSpPr>
          <p:cNvPr id="12" name="TextBox 12">
            <a:extLst xmlns:a="http://schemas.openxmlformats.org/drawingml/2006/main">
              <a:ext uri="{FF2B5EF4-FFF2-40B4-BE49-F238E27FC236}">
                <a16:creationId xmlns:a16="http://schemas.microsoft.com/office/drawing/2014/main" id="{CC1D3641-A0AD-444C-A36C-580281534ED1}"/>
              </a:ext>
            </a:extLst>
          </p:cNvPr>
          <p:cNvSpPr>
            <a:spLocks xmlns:a="http://schemas.openxmlformats.org/drawingml/2006/main" noGrp="1"/>
          </p:cNvSpPr>
          <p:nvPr/>
        </p:nvSpPr>
        <p:spPr>
          <a:xfrm xmlns:a="http://schemas.openxmlformats.org/drawingml/2006/main" rot="0" flipH="0" flipV="0">
            <a:off x="660082" y="2219801"/>
            <a:ext cx="36332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025" b="1">
                <a:solidFill>
                  <a:srgbClr val="17324D"/>
                </a:solidFill>
                <a:latin typeface="Arial"/>
                <a:ea typeface="Arial"/>
                <a:cs typeface="Arial"/>
              </a:rPr>
              <a:t>02</a:t>
            </a:r>
          </a:p>
        </p:txBody>
      </p:sp>
      <p:sp>
        <p:nvSpPr>
          <p:cNvPr id="13" name="TextBox 13">
            <a:extLst xmlns:a="http://schemas.openxmlformats.org/drawingml/2006/main">
              <a:ext uri="{FF2B5EF4-FFF2-40B4-BE49-F238E27FC236}">
                <a16:creationId xmlns:a16="http://schemas.microsoft.com/office/drawing/2014/main" id="{00D83AC3-0B28-4EA5-ADA0-DCCBC0CF1DCE}"/>
              </a:ext>
            </a:extLst>
          </p:cNvPr>
          <p:cNvSpPr>
            <a:spLocks xmlns:a="http://schemas.openxmlformats.org/drawingml/2006/main" noGrp="1"/>
          </p:cNvSpPr>
          <p:nvPr/>
        </p:nvSpPr>
        <p:spPr>
          <a:xfrm xmlns:a="http://schemas.openxmlformats.org/drawingml/2006/main" rot="0" flipH="0" flipV="0">
            <a:off x="1258252" y="2246471"/>
            <a:ext cx="2350684"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Information–opinion gap</a:t>
            </a:r>
          </a:p>
        </p:txBody>
      </p:sp>
      <p:sp>
        <p:nvSpPr>
          <p:cNvPr id="14" name="TextBox 14">
            <a:extLst xmlns:a="http://schemas.openxmlformats.org/drawingml/2006/main">
              <a:ext uri="{FF2B5EF4-FFF2-40B4-BE49-F238E27FC236}">
                <a16:creationId xmlns:a16="http://schemas.microsoft.com/office/drawing/2014/main" id="{2477F7BC-DE0D-4899-B4E0-D3E764E8BB66}"/>
              </a:ext>
            </a:extLst>
          </p:cNvPr>
          <p:cNvSpPr>
            <a:spLocks xmlns:a="http://schemas.openxmlformats.org/drawingml/2006/main" noGrp="1"/>
          </p:cNvSpPr>
          <p:nvPr/>
        </p:nvSpPr>
        <p:spPr>
          <a:xfrm xmlns:a="http://schemas.openxmlformats.org/drawingml/2006/main" rot="0" flipH="0" flipV="0">
            <a:off x="1262062" y="2545556"/>
            <a:ext cx="58293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575"/>
              </a:lnSpc>
              <a:buNone/>
            </a:pPr>
            <a:r>
              <a:rPr sz="1125">
                <a:solidFill>
                  <a:srgbClr val="20262B"/>
                </a:solidFill>
                <a:latin typeface="Arial"/>
                <a:ea typeface="Arial"/>
                <a:cs typeface="Arial"/>
              </a:rPr>
              <a:t>The path from exposure and diffusion to individual updating and group distributions </a:t>
            </a:r>
            <a:r>
              <a:rPr sz="1125">
                <a:solidFill>
                  <a:srgbClr val="20262B"/>
                </a:solidFill>
                <a:latin typeface="Arial"/>
                <a:ea typeface="Arial"/>
                <a:cs typeface="Arial"/>
              </a:rPr>
              <a:t>has not been identified layer by layer.</a:t>
            </a:r>
          </a:p>
        </p:txBody>
      </p:sp>
      <p:sp>
        <p:nvSpPr>
          <p:cNvPr id="15" name="Line 15">
            <a:extLst xmlns:a="http://schemas.openxmlformats.org/drawingml/2006/main">
              <a:ext uri="{FF2B5EF4-FFF2-40B4-BE49-F238E27FC236}">
                <a16:creationId xmlns:a16="http://schemas.microsoft.com/office/drawing/2014/main" id="{143AED1D-A574-4451-9F40-30416780CBB1}"/>
              </a:ext>
            </a:extLst>
          </p:cNvPr>
          <p:cNvSpPr>
            <a:spLocks xmlns:a="http://schemas.openxmlformats.org/drawingml/2006/main" noGrp="1"/>
          </p:cNvSpPr>
          <p:nvPr/>
        </p:nvSpPr>
        <p:spPr>
          <a:xfrm xmlns:a="http://schemas.openxmlformats.org/drawingml/2006/main" rot="0" flipH="0" flipV="0">
            <a:off x="1276350" y="3019425"/>
            <a:ext cx="10229850" cy="9525"/>
          </a:xfrm>
          <a:custGeom xmlns:a="http://schemas.openxmlformats.org/drawingml/2006/main">
            <a:rect l="l" t="t" r="r" b="b"/>
            <a:pathLst>
              <a:path w="10229850" h="9525">
                <a:moveTo>
                  <a:pt x="0" y="0"/>
                </a:moveTo>
                <a:lnTo>
                  <a:pt x="10229850" y="0"/>
                </a:lnTo>
              </a:path>
            </a:pathLst>
          </a:custGeom>
          <a:noFill xmlns:a="http://schemas.openxmlformats.org/drawingml/2006/main"/>
          <a:ln xmlns:a="http://schemas.openxmlformats.org/drawingml/2006/main" w="9525">
            <a:solidFill>
              <a:srgbClr val="D8DEE3"/>
            </a:solidFill>
          </a:ln>
        </p:spPr>
      </p:sp>
      <p:sp>
        <p:nvSpPr>
          <p:cNvPr id="17" name="TextBox 17">
            <a:extLst xmlns:a="http://schemas.openxmlformats.org/drawingml/2006/main">
              <a:ext uri="{FF2B5EF4-FFF2-40B4-BE49-F238E27FC236}">
                <a16:creationId xmlns:a16="http://schemas.microsoft.com/office/drawing/2014/main" id="{C59B0A99-6C8C-47C5-A134-D07CAC3E9418}"/>
              </a:ext>
            </a:extLst>
          </p:cNvPr>
          <p:cNvSpPr>
            <a:spLocks xmlns:a="http://schemas.openxmlformats.org/drawingml/2006/main" noGrp="1"/>
          </p:cNvSpPr>
          <p:nvPr/>
        </p:nvSpPr>
        <p:spPr>
          <a:xfrm xmlns:a="http://schemas.openxmlformats.org/drawingml/2006/main" rot="0" flipH="0" flipV="0">
            <a:off x="660082" y="3153251"/>
            <a:ext cx="36332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025" b="1">
                <a:solidFill>
                  <a:srgbClr val="17324D"/>
                </a:solidFill>
                <a:latin typeface="Arial"/>
                <a:ea typeface="Arial"/>
                <a:cs typeface="Arial"/>
              </a:rPr>
              <a:t>03</a:t>
            </a:r>
          </a:p>
        </p:txBody>
      </p:sp>
      <p:sp>
        <p:nvSpPr>
          <p:cNvPr id="18" name="TextBox 18">
            <a:extLst xmlns:a="http://schemas.openxmlformats.org/drawingml/2006/main">
              <a:ext uri="{FF2B5EF4-FFF2-40B4-BE49-F238E27FC236}">
                <a16:creationId xmlns:a16="http://schemas.microsoft.com/office/drawing/2014/main" id="{C1D802BD-6B34-49C1-9252-7FF646B7106E}"/>
              </a:ext>
            </a:extLst>
          </p:cNvPr>
          <p:cNvSpPr>
            <a:spLocks xmlns:a="http://schemas.openxmlformats.org/drawingml/2006/main" noGrp="1"/>
          </p:cNvSpPr>
          <p:nvPr/>
        </p:nvSpPr>
        <p:spPr>
          <a:xfrm xmlns:a="http://schemas.openxmlformats.org/drawingml/2006/main" rot="0" flipH="0" flipV="0">
            <a:off x="1258252" y="3179921"/>
            <a:ext cx="1642371"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Intervention gap</a:t>
            </a:r>
          </a:p>
        </p:txBody>
      </p:sp>
      <p:sp>
        <p:nvSpPr>
          <p:cNvPr id="19" name="TextBox 19">
            <a:extLst xmlns:a="http://schemas.openxmlformats.org/drawingml/2006/main">
              <a:ext uri="{FF2B5EF4-FFF2-40B4-BE49-F238E27FC236}">
                <a16:creationId xmlns:a16="http://schemas.microsoft.com/office/drawing/2014/main" id="{52C24B4E-21E6-49A9-963B-B3A3993D730E}"/>
              </a:ext>
            </a:extLst>
          </p:cNvPr>
          <p:cNvSpPr>
            <a:spLocks xmlns:a="http://schemas.openxmlformats.org/drawingml/2006/main" noGrp="1"/>
          </p:cNvSpPr>
          <p:nvPr/>
        </p:nvSpPr>
        <p:spPr>
          <a:xfrm xmlns:a="http://schemas.openxmlformats.org/drawingml/2006/main" rot="0" flipH="0" flipV="0">
            <a:off x="1262062" y="3479006"/>
            <a:ext cx="6693694"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575"/>
              </a:lnSpc>
              <a:buNone/>
            </a:pPr>
            <a:r>
              <a:rPr sz="1125">
                <a:solidFill>
                  <a:srgbClr val="20262B"/>
                </a:solidFill>
                <a:latin typeface="Arial"/>
                <a:ea typeface="Arial"/>
                <a:cs typeface="Arial"/>
              </a:rPr>
              <a:t>It remains untested whether changing the structure of LLM use alters the information process </a:t>
            </a:r>
            <a:r>
              <a:rPr sz="1125">
                <a:solidFill>
                  <a:srgbClr val="20262B"/>
                </a:solidFill>
                <a:latin typeface="Arial"/>
                <a:ea typeface="Arial"/>
                <a:cs typeface="Arial"/>
              </a:rPr>
              <a:t>and attenuates an observed pattern.</a:t>
            </a:r>
          </a:p>
        </p:txBody>
      </p:sp>
      <p:sp>
        <p:nvSpPr>
          <p:cNvPr id="20" name="Line 20">
            <a:extLst xmlns:a="http://schemas.openxmlformats.org/drawingml/2006/main">
              <a:ext uri="{FF2B5EF4-FFF2-40B4-BE49-F238E27FC236}">
                <a16:creationId xmlns:a16="http://schemas.microsoft.com/office/drawing/2014/main" id="{38466F24-3265-41E2-938B-F5C08DBEAE05}"/>
              </a:ext>
            </a:extLst>
          </p:cNvPr>
          <p:cNvSpPr>
            <a:spLocks xmlns:a="http://schemas.openxmlformats.org/drawingml/2006/main" noGrp="1"/>
          </p:cNvSpPr>
          <p:nvPr/>
        </p:nvSpPr>
        <p:spPr>
          <a:xfrm xmlns:a="http://schemas.openxmlformats.org/drawingml/2006/main" rot="0" flipH="0" flipV="0">
            <a:off x="1276350" y="3952875"/>
            <a:ext cx="10229850" cy="9525"/>
          </a:xfrm>
          <a:custGeom xmlns:a="http://schemas.openxmlformats.org/drawingml/2006/main">
            <a:rect l="l" t="t" r="r" b="b"/>
            <a:pathLst>
              <a:path w="10229850" h="9525">
                <a:moveTo>
                  <a:pt x="0" y="0"/>
                </a:moveTo>
                <a:lnTo>
                  <a:pt x="10229850" y="0"/>
                </a:lnTo>
              </a:path>
            </a:pathLst>
          </a:custGeom>
          <a:noFill xmlns:a="http://schemas.openxmlformats.org/drawingml/2006/main"/>
          <a:ln xmlns:a="http://schemas.openxmlformats.org/drawingml/2006/main" w="9525">
            <a:solidFill>
              <a:srgbClr val="D8DEE3"/>
            </a:solidFill>
          </a:ln>
        </p:spPr>
      </p:sp>
      <p:sp>
        <p:nvSpPr>
          <p:cNvPr id="22" name="TextBox 22">
            <a:extLst xmlns:a="http://schemas.openxmlformats.org/drawingml/2006/main">
              <a:ext uri="{FF2B5EF4-FFF2-40B4-BE49-F238E27FC236}">
                <a16:creationId xmlns:a16="http://schemas.microsoft.com/office/drawing/2014/main" id="{399C8ED6-3516-4C54-8F34-3EB053AFC687}"/>
              </a:ext>
            </a:extLst>
          </p:cNvPr>
          <p:cNvSpPr>
            <a:spLocks xmlns:a="http://schemas.openxmlformats.org/drawingml/2006/main" noGrp="1"/>
          </p:cNvSpPr>
          <p:nvPr/>
        </p:nvSpPr>
        <p:spPr>
          <a:xfrm xmlns:a="http://schemas.openxmlformats.org/drawingml/2006/main" rot="0" flipH="0" flipV="0">
            <a:off x="660082" y="4086701"/>
            <a:ext cx="36332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025" b="1">
                <a:solidFill>
                  <a:srgbClr val="17324D"/>
                </a:solidFill>
                <a:latin typeface="Arial"/>
                <a:ea typeface="Arial"/>
                <a:cs typeface="Arial"/>
              </a:rPr>
              <a:t>04</a:t>
            </a:r>
          </a:p>
        </p:txBody>
      </p:sp>
      <p:sp>
        <p:nvSpPr>
          <p:cNvPr id="23" name="TextBox 23">
            <a:extLst xmlns:a="http://schemas.openxmlformats.org/drawingml/2006/main">
              <a:ext uri="{FF2B5EF4-FFF2-40B4-BE49-F238E27FC236}">
                <a16:creationId xmlns:a16="http://schemas.microsoft.com/office/drawing/2014/main" id="{29E66F41-2CA1-4B05-BDEA-90C66962575C}"/>
              </a:ext>
            </a:extLst>
          </p:cNvPr>
          <p:cNvSpPr>
            <a:spLocks xmlns:a="http://schemas.openxmlformats.org/drawingml/2006/main" noGrp="1"/>
          </p:cNvSpPr>
          <p:nvPr/>
        </p:nvSpPr>
        <p:spPr>
          <a:xfrm xmlns:a="http://schemas.openxmlformats.org/drawingml/2006/main" rot="0" flipH="0" flipV="0">
            <a:off x="1258252" y="4113371"/>
            <a:ext cx="3926931"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Circular validity in LLM social simulation</a:t>
            </a:r>
          </a:p>
        </p:txBody>
      </p:sp>
      <p:sp>
        <p:nvSpPr>
          <p:cNvPr id="24" name="TextBox 24">
            <a:extLst xmlns:a="http://schemas.openxmlformats.org/drawingml/2006/main">
              <a:ext uri="{FF2B5EF4-FFF2-40B4-BE49-F238E27FC236}">
                <a16:creationId xmlns:a16="http://schemas.microsoft.com/office/drawing/2014/main" id="{2420C765-4D94-4DBF-BA66-EE959365DF74}"/>
              </a:ext>
            </a:extLst>
          </p:cNvPr>
          <p:cNvSpPr>
            <a:spLocks xmlns:a="http://schemas.openxmlformats.org/drawingml/2006/main" noGrp="1"/>
          </p:cNvSpPr>
          <p:nvPr/>
        </p:nvSpPr>
        <p:spPr>
          <a:xfrm xmlns:a="http://schemas.openxmlformats.org/drawingml/2006/main" rot="0" flipH="0" flipV="0">
            <a:off x="1261110" y="4423410"/>
            <a:ext cx="10142220" cy="4629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a:solidFill>
                  <a:srgbClr val="20262B"/>
                </a:solidFill>
                <a:latin typeface="Arial"/>
                <a:ea typeface="Arial"/>
                <a:cs typeface="Arial"/>
              </a:rPr>
              <a:t>Survey- and interview-based LLM agents are feasible (Argyle et al.; Park et al. use data from 1,052 people). </a:t>
            </a:r>
            <a:r>
              <a:rPr sz="1200">
                <a:solidFill>
                  <a:srgbClr val="20262B"/>
                </a:solidFill>
                <a:latin typeface="Arial"/>
                <a:ea typeface="Arial"/>
                <a:cs typeface="Arial"/>
              </a:rPr>
              <a:t>If the same LLM acts as both human proxy and shared information source, its preferences enter both behavior and content generation.</a:t>
            </a:r>
          </a:p>
        </p:txBody>
      </p:sp>
      <p:sp>
        <p:nvSpPr>
          <p:cNvPr id="25" name="Line 25">
            <a:extLst xmlns:a="http://schemas.openxmlformats.org/drawingml/2006/main">
              <a:ext uri="{FF2B5EF4-FFF2-40B4-BE49-F238E27FC236}">
                <a16:creationId xmlns:a16="http://schemas.microsoft.com/office/drawing/2014/main" id="{B49105B2-C057-498F-9BB4-854DEF1C1304}"/>
              </a:ext>
            </a:extLst>
          </p:cNvPr>
          <p:cNvSpPr>
            <a:spLocks xmlns:a="http://schemas.openxmlformats.org/drawingml/2006/main" noGrp="1"/>
          </p:cNvSpPr>
          <p:nvPr/>
        </p:nvSpPr>
        <p:spPr>
          <a:xfrm xmlns:a="http://schemas.openxmlformats.org/drawingml/2006/main" rot="0" flipH="0" flipV="0">
            <a:off x="1276350" y="5124450"/>
            <a:ext cx="10229850" cy="9525"/>
          </a:xfrm>
          <a:custGeom xmlns:a="http://schemas.openxmlformats.org/drawingml/2006/main">
            <a:rect l="l" t="t" r="r" b="b"/>
            <a:pathLst>
              <a:path w="10229850" h="9525">
                <a:moveTo>
                  <a:pt x="0" y="0"/>
                </a:moveTo>
                <a:lnTo>
                  <a:pt x="10229850" y="0"/>
                </a:lnTo>
              </a:path>
            </a:pathLst>
          </a:custGeom>
          <a:noFill xmlns:a="http://schemas.openxmlformats.org/drawingml/2006/main"/>
          <a:ln xmlns:a="http://schemas.openxmlformats.org/drawingml/2006/main" w="9525">
            <a:solidFill>
              <a:srgbClr val="D8DEE3"/>
            </a:solidFill>
          </a:ln>
        </p:spPr>
      </p:sp>
      <p:sp>
        <p:nvSpPr>
          <p:cNvPr id="27" name="TextBox 27">
            <a:extLst xmlns:a="http://schemas.openxmlformats.org/drawingml/2006/main">
              <a:ext uri="{FF2B5EF4-FFF2-40B4-BE49-F238E27FC236}">
                <a16:creationId xmlns:a16="http://schemas.microsoft.com/office/drawing/2014/main" id="{2BF77AE9-E13D-4F7A-A70F-F1EAA201422E}"/>
              </a:ext>
            </a:extLst>
          </p:cNvPr>
          <p:cNvSpPr>
            <a:spLocks xmlns:a="http://schemas.openxmlformats.org/drawingml/2006/main" noGrp="1"/>
          </p:cNvSpPr>
          <p:nvPr/>
        </p:nvSpPr>
        <p:spPr>
          <a:xfrm xmlns:a="http://schemas.openxmlformats.org/drawingml/2006/main" rot="0" flipH="0" flipV="0">
            <a:off x="660082" y="5363051"/>
            <a:ext cx="36332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025" b="1">
                <a:solidFill>
                  <a:srgbClr val="17324D"/>
                </a:solidFill>
                <a:latin typeface="Arial"/>
                <a:ea typeface="Arial"/>
                <a:cs typeface="Arial"/>
              </a:rPr>
              <a:t>05</a:t>
            </a:r>
          </a:p>
        </p:txBody>
      </p:sp>
      <p:sp>
        <p:nvSpPr>
          <p:cNvPr id="28" name="TextBox 28">
            <a:extLst xmlns:a="http://schemas.openxmlformats.org/drawingml/2006/main">
              <a:ext uri="{FF2B5EF4-FFF2-40B4-BE49-F238E27FC236}">
                <a16:creationId xmlns:a16="http://schemas.microsoft.com/office/drawing/2014/main" id="{9546A2B3-289A-401F-BCFD-50DBB96AD311}"/>
              </a:ext>
            </a:extLst>
          </p:cNvPr>
          <p:cNvSpPr>
            <a:spLocks xmlns:a="http://schemas.openxmlformats.org/drawingml/2006/main" noGrp="1"/>
          </p:cNvSpPr>
          <p:nvPr/>
        </p:nvSpPr>
        <p:spPr>
          <a:xfrm xmlns:a="http://schemas.openxmlformats.org/drawingml/2006/main" rot="0" flipH="0" flipV="0">
            <a:off x="1258252" y="5389721"/>
            <a:ext cx="3657573"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Missing validated micro–macro bridge</a:t>
            </a:r>
          </a:p>
        </p:txBody>
      </p:sp>
      <p:sp>
        <p:nvSpPr>
          <p:cNvPr id="29" name="TextBox 29">
            <a:extLst xmlns:a="http://schemas.openxmlformats.org/drawingml/2006/main">
              <a:ext uri="{FF2B5EF4-FFF2-40B4-BE49-F238E27FC236}">
                <a16:creationId xmlns:a16="http://schemas.microsoft.com/office/drawing/2014/main" id="{1D377D10-EBAA-4B7D-BFCE-ED4DB9ED73CC}"/>
              </a:ext>
            </a:extLst>
          </p:cNvPr>
          <p:cNvSpPr>
            <a:spLocks xmlns:a="http://schemas.openxmlformats.org/drawingml/2006/main" noGrp="1"/>
          </p:cNvSpPr>
          <p:nvPr/>
        </p:nvSpPr>
        <p:spPr>
          <a:xfrm xmlns:a="http://schemas.openxmlformats.org/drawingml/2006/main" rot="0" flipH="0" flipV="0">
            <a:off x="1261110" y="5699760"/>
            <a:ext cx="8214360" cy="4629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a:solidFill>
                  <a:srgbClr val="20262B"/>
                </a:solidFill>
                <a:latin typeface="Arial"/>
                <a:ea typeface="Arial"/>
                <a:cs typeface="Arial"/>
              </a:rPr>
              <a:t>Real-population experiments are usually too small and too short to observe the long-run system consequences </a:t>
            </a:r>
            <a:r>
              <a:rPr sz="1200">
                <a:solidFill>
                  <a:srgbClr val="20262B"/>
                </a:solidFill>
                <a:latin typeface="Arial"/>
                <a:ea typeface="Arial"/>
                <a:cs typeface="Arial"/>
              </a:rPr>
              <a:t>of thousands of users relying on a shared LLM.</a:t>
            </a:r>
          </a:p>
        </p:txBody>
      </p:sp>
      <p:sp>
        <p:nvSpPr>
          <p:cNvPr id="31" name="TextBox 31">
            <a:extLst xmlns:a="http://schemas.openxmlformats.org/drawingml/2006/main">
              <a:ext uri="{FF2B5EF4-FFF2-40B4-BE49-F238E27FC236}">
                <a16:creationId xmlns:a16="http://schemas.microsoft.com/office/drawing/2014/main" id="{0CBD3387-00E7-4DA1-A086-E6331FEAC46F}"/>
              </a:ext>
            </a:extLst>
          </p:cNvPr>
          <p:cNvSpPr>
            <a:spLocks xmlns:a="http://schemas.openxmlformats.org/drawingml/2006/main" noGrp="1"/>
          </p:cNvSpPr>
          <p:nvPr/>
        </p:nvSpPr>
        <p:spPr>
          <a:xfrm xmlns:a="http://schemas.openxmlformats.org/drawingml/2006/main">
            <a:off x="11362754" y="6398895"/>
            <a:ext cx="154877"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00">
                <a:solidFill>
                  <a:srgbClr val="7A8792"/>
                </a:solidFill>
                <a:latin typeface="Arial"/>
                <a:ea typeface="Arial"/>
                <a:cs typeface="Arial"/>
              </a:rPr>
              <a:t>04</a:t>
            </a:r>
          </a:p>
        </p:txBody>
      </p:sp>
    </p:spTree>
    <p:extLst>
      <p:ext uri="{BB962C8B-B14F-4D97-AF65-F5344CB8AC3E}">
        <p14:creationId xmlns:p14="http://schemas.microsoft.com/office/powerpoint/2010/main" val="171568036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5A80A72E-B12E-4110-828F-30921C41D3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sp>
      <p:sp>
        <p:nvSpPr>
          <p:cNvPr id="3" name="TextBox 3">
            <a:extLst xmlns:a="http://schemas.openxmlformats.org/drawingml/2006/main">
              <a:ext uri="{FF2B5EF4-FFF2-40B4-BE49-F238E27FC236}">
                <a16:creationId xmlns:a16="http://schemas.microsoft.com/office/drawing/2014/main" id="{88383BF9-E720-4D4D-A9B9-C64725A7AD84}"/>
              </a:ext>
            </a:extLst>
          </p:cNvPr>
          <p:cNvSpPr>
            <a:spLocks xmlns:a="http://schemas.openxmlformats.org/drawingml/2006/main" noGrp="1"/>
          </p:cNvSpPr>
          <p:nvPr/>
        </p:nvSpPr>
        <p:spPr>
          <a:xfrm xmlns:a="http://schemas.openxmlformats.org/drawingml/2006/main" rot="0" flipH="0" flipV="0">
            <a:off x="541020" y="464820"/>
            <a:ext cx="12326493"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20262B"/>
                </a:solidFill>
                <a:latin typeface="Arial"/>
                <a:ea typeface="Arial"/>
                <a:cs typeface="Arial"/>
              </a:rPr>
              <a:t>Theoretical Framework: How Group Opinions Emerge from Local Interaction</a:t>
            </a:r>
          </a:p>
        </p:txBody>
      </p:sp>
      <p:sp>
        <p:nvSpPr>
          <p:cNvPr id="4" name="Line 4">
            <a:extLst xmlns:a="http://schemas.openxmlformats.org/drawingml/2006/main">
              <a:ext uri="{FF2B5EF4-FFF2-40B4-BE49-F238E27FC236}">
                <a16:creationId xmlns:a16="http://schemas.microsoft.com/office/drawing/2014/main" id="{1AF17531-F35E-4B5A-91C7-420B8CE3AF87}"/>
              </a:ext>
            </a:extLst>
          </p:cNvPr>
          <p:cNvSpPr>
            <a:spLocks xmlns:a="http://schemas.openxmlformats.org/drawingml/2006/main" noGrp="1"/>
          </p:cNvSpPr>
          <p:nvPr/>
        </p:nvSpPr>
        <p:spPr>
          <a:xfrm xmlns:a="http://schemas.openxmlformats.org/drawingml/2006/main" rot="0" flipH="0" flipV="0">
            <a:off x="571500" y="971550"/>
            <a:ext cx="11049000" cy="9525"/>
          </a:xfrm>
          <a:custGeom xmlns:a="http://schemas.openxmlformats.org/drawingml/2006/main">
            <a:rect l="l" t="t" r="r" b="b"/>
            <a:pathLst>
              <a:path w="11049000" h="9525">
                <a:moveTo>
                  <a:pt x="0" y="0"/>
                </a:moveTo>
                <a:lnTo>
                  <a:pt x="11049000" y="0"/>
                </a:lnTo>
              </a:path>
            </a:pathLst>
          </a:custGeom>
          <a:noFill xmlns:a="http://schemas.openxmlformats.org/drawingml/2006/main"/>
          <a:ln xmlns:a="http://schemas.openxmlformats.org/drawingml/2006/main" w="9525">
            <a:solidFill>
              <a:srgbClr val="D8DEE3"/>
            </a:solidFill>
          </a:ln>
        </p:spPr>
      </p:sp>
      <p:sp>
        <p:nvSpPr>
          <p:cNvPr id="5" name="Rectangle 5">
            <a:extLst xmlns:a="http://schemas.openxmlformats.org/drawingml/2006/main">
              <a:ext uri="{FF2B5EF4-FFF2-40B4-BE49-F238E27FC236}">
                <a16:creationId xmlns:a16="http://schemas.microsoft.com/office/drawing/2014/main" id="{E0A099C4-DC6C-473D-9C06-38F283A49AA1}"/>
              </a:ext>
            </a:extLst>
          </p:cNvPr>
          <p:cNvSpPr>
            <a:spLocks xmlns:a="http://schemas.openxmlformats.org/drawingml/2006/main" noGrp="1"/>
          </p:cNvSpPr>
          <p:nvPr/>
        </p:nvSpPr>
        <p:spPr>
          <a:xfrm xmlns:a="http://schemas.openxmlformats.org/drawingml/2006/main" rot="0" flipH="0" flipV="0">
            <a:off x="571500" y="952500"/>
            <a:ext cx="1104900" cy="28575"/>
          </a:xfrm>
          <a:prstGeom xmlns:a="http://schemas.openxmlformats.org/drawingml/2006/main" prst="rect">
            <a:avLst/>
          </a:prstGeom>
          <a:solidFill xmlns:a="http://schemas.openxmlformats.org/drawingml/2006/main">
            <a:srgbClr val="17324D"/>
          </a:solidFill>
          <a:ln xmlns:a="http://schemas.openxmlformats.org/drawingml/2006/main">
            <a:noFill/>
          </a:ln>
        </p:spPr>
      </p:sp>
      <p:sp>
        <p:nvSpPr>
          <p:cNvPr id="7" name="TextBox 7">
            <a:extLst xmlns:a="http://schemas.openxmlformats.org/drawingml/2006/main">
              <a:ext uri="{FF2B5EF4-FFF2-40B4-BE49-F238E27FC236}">
                <a16:creationId xmlns:a16="http://schemas.microsoft.com/office/drawing/2014/main" id="{8F3B1083-E6C8-4744-A5F0-1F477C6A6C0C}"/>
              </a:ext>
            </a:extLst>
          </p:cNvPr>
          <p:cNvSpPr>
            <a:spLocks xmlns:a="http://schemas.openxmlformats.org/drawingml/2006/main" noGrp="1"/>
          </p:cNvSpPr>
          <p:nvPr/>
        </p:nvSpPr>
        <p:spPr>
          <a:xfrm xmlns:a="http://schemas.openxmlformats.org/drawingml/2006/main" rot="0" flipH="0" flipV="0">
            <a:off x="672465" y="1353502"/>
            <a:ext cx="541234"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THEORY</a:t>
            </a:r>
          </a:p>
        </p:txBody>
      </p:sp>
      <p:sp>
        <p:nvSpPr>
          <p:cNvPr id="8" name="TextBox 8">
            <a:extLst xmlns:a="http://schemas.openxmlformats.org/drawingml/2006/main">
              <a:ext uri="{FF2B5EF4-FFF2-40B4-BE49-F238E27FC236}">
                <a16:creationId xmlns:a16="http://schemas.microsoft.com/office/drawing/2014/main" id="{3A197F8E-D995-488D-87BD-DF54E674883B}"/>
              </a:ext>
            </a:extLst>
          </p:cNvPr>
          <p:cNvSpPr>
            <a:spLocks xmlns:a="http://schemas.openxmlformats.org/drawingml/2006/main" noGrp="1"/>
          </p:cNvSpPr>
          <p:nvPr/>
        </p:nvSpPr>
        <p:spPr>
          <a:xfrm xmlns:a="http://schemas.openxmlformats.org/drawingml/2006/main" rot="0" flipH="0" flipV="0">
            <a:off x="663892" y="1699736"/>
            <a:ext cx="2024363" cy="350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725" b="1">
                <a:solidFill>
                  <a:srgbClr val="20262B"/>
                </a:solidFill>
                <a:latin typeface="Arial"/>
                <a:ea typeface="Arial"/>
                <a:cs typeface="Arial"/>
              </a:rPr>
              <a:t>Opinion dynamics</a:t>
            </a:r>
          </a:p>
        </p:txBody>
      </p:sp>
      <p:sp>
        <p:nvSpPr>
          <p:cNvPr id="9" name="TextBox 9">
            <a:extLst xmlns:a="http://schemas.openxmlformats.org/drawingml/2006/main">
              <a:ext uri="{FF2B5EF4-FFF2-40B4-BE49-F238E27FC236}">
                <a16:creationId xmlns:a16="http://schemas.microsoft.com/office/drawing/2014/main" id="{83464FD6-7CD1-4921-B7F1-F42438191573}"/>
              </a:ext>
            </a:extLst>
          </p:cNvPr>
          <p:cNvSpPr>
            <a:spLocks xmlns:a="http://schemas.openxmlformats.org/drawingml/2006/main" noGrp="1"/>
          </p:cNvSpPr>
          <p:nvPr/>
        </p:nvSpPr>
        <p:spPr>
          <a:xfrm xmlns:a="http://schemas.openxmlformats.org/drawingml/2006/main" rot="0" flipH="0" flipV="0">
            <a:off x="669608" y="2062639"/>
            <a:ext cx="4210050" cy="4972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75"/>
              </a:lnSpc>
              <a:buNone/>
            </a:pPr>
            <a:r>
              <a:rPr sz="1275">
                <a:solidFill>
                  <a:srgbClr val="20262B"/>
                </a:solidFill>
                <a:latin typeface="Arial"/>
                <a:ea typeface="Arial"/>
                <a:cs typeface="Arial"/>
              </a:rPr>
              <a:t>Specifies how agents update positions in response to </a:t>
            </a:r>
            <a:r>
              <a:rPr sz="1275">
                <a:solidFill>
                  <a:srgbClr val="20262B"/>
                </a:solidFill>
                <a:latin typeface="Arial"/>
                <a:ea typeface="Arial"/>
                <a:cs typeface="Arial"/>
              </a:rPr>
              <a:t>external information and social influence.</a:t>
            </a:r>
          </a:p>
        </p:txBody>
      </p:sp>
      <p:sp>
        <p:nvSpPr>
          <p:cNvPr id="11" name="Line 11">
            <a:extLst xmlns:a="http://schemas.openxmlformats.org/drawingml/2006/main">
              <a:ext uri="{FF2B5EF4-FFF2-40B4-BE49-F238E27FC236}">
                <a16:creationId xmlns:a16="http://schemas.microsoft.com/office/drawing/2014/main" id="{23BA0C5F-E58A-4CBD-9A77-09B9900FEE1A}"/>
              </a:ext>
            </a:extLst>
          </p:cNvPr>
          <p:cNvSpPr>
            <a:spLocks xmlns:a="http://schemas.openxmlformats.org/drawingml/2006/main" noGrp="1"/>
          </p:cNvSpPr>
          <p:nvPr/>
        </p:nvSpPr>
        <p:spPr>
          <a:xfrm xmlns:a="http://schemas.openxmlformats.org/drawingml/2006/main" rot="0" flipH="0" flipV="0">
            <a:off x="6057900" y="1390650"/>
            <a:ext cx="9525" cy="1209675"/>
          </a:xfrm>
          <a:custGeom xmlns:a="http://schemas.openxmlformats.org/drawingml/2006/main">
            <a:rect l="l" t="t" r="r" b="b"/>
            <a:pathLst>
              <a:path w="9525" h="1209675">
                <a:moveTo>
                  <a:pt x="0" y="0"/>
                </a:moveTo>
                <a:lnTo>
                  <a:pt x="0" y="1209675"/>
                </a:lnTo>
              </a:path>
            </a:pathLst>
          </a:custGeom>
          <a:noFill xmlns:a="http://schemas.openxmlformats.org/drawingml/2006/main"/>
          <a:ln xmlns:a="http://schemas.openxmlformats.org/drawingml/2006/main" w="9525">
            <a:solidFill>
              <a:srgbClr val="D8DEE3"/>
            </a:solidFill>
          </a:ln>
        </p:spPr>
      </p:sp>
      <p:sp>
        <p:nvSpPr>
          <p:cNvPr id="12" name="TextBox 12">
            <a:extLst xmlns:a="http://schemas.openxmlformats.org/drawingml/2006/main">
              <a:ext uri="{FF2B5EF4-FFF2-40B4-BE49-F238E27FC236}">
                <a16:creationId xmlns:a16="http://schemas.microsoft.com/office/drawing/2014/main" id="{53FA82B4-4936-416A-85A6-8A8F4853A049}"/>
              </a:ext>
            </a:extLst>
          </p:cNvPr>
          <p:cNvSpPr>
            <a:spLocks xmlns:a="http://schemas.openxmlformats.org/drawingml/2006/main" noGrp="1"/>
          </p:cNvSpPr>
          <p:nvPr/>
        </p:nvSpPr>
        <p:spPr>
          <a:xfrm xmlns:a="http://schemas.openxmlformats.org/drawingml/2006/main" rot="0" flipH="0" flipV="0">
            <a:off x="6463665" y="1353502"/>
            <a:ext cx="570638"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METHOD</a:t>
            </a:r>
          </a:p>
        </p:txBody>
      </p:sp>
      <p:sp>
        <p:nvSpPr>
          <p:cNvPr id="13" name="TextBox 13">
            <a:extLst xmlns:a="http://schemas.openxmlformats.org/drawingml/2006/main">
              <a:ext uri="{FF2B5EF4-FFF2-40B4-BE49-F238E27FC236}">
                <a16:creationId xmlns:a16="http://schemas.microsoft.com/office/drawing/2014/main" id="{F469A66F-978C-4406-865F-21A14AB8201C}"/>
              </a:ext>
            </a:extLst>
          </p:cNvPr>
          <p:cNvSpPr>
            <a:spLocks xmlns:a="http://schemas.openxmlformats.org/drawingml/2006/main" noGrp="1"/>
          </p:cNvSpPr>
          <p:nvPr/>
        </p:nvSpPr>
        <p:spPr>
          <a:xfrm xmlns:a="http://schemas.openxmlformats.org/drawingml/2006/main" rot="0" flipH="0" flipV="0">
            <a:off x="6455092" y="1699736"/>
            <a:ext cx="2567805" cy="350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725" b="1">
                <a:solidFill>
                  <a:srgbClr val="20262B"/>
                </a:solidFill>
                <a:latin typeface="Arial"/>
                <a:ea typeface="Arial"/>
                <a:cs typeface="Arial"/>
              </a:rPr>
              <a:t>Agent-based modeling</a:t>
            </a:r>
          </a:p>
        </p:txBody>
      </p:sp>
      <p:sp>
        <p:nvSpPr>
          <p:cNvPr id="14" name="TextBox 14">
            <a:extLst xmlns:a="http://schemas.openxmlformats.org/drawingml/2006/main">
              <a:ext uri="{FF2B5EF4-FFF2-40B4-BE49-F238E27FC236}">
                <a16:creationId xmlns:a16="http://schemas.microsoft.com/office/drawing/2014/main" id="{004C42F2-F82B-4939-9DC3-14314BBCE73C}"/>
              </a:ext>
            </a:extLst>
          </p:cNvPr>
          <p:cNvSpPr>
            <a:spLocks xmlns:a="http://schemas.openxmlformats.org/drawingml/2006/main" noGrp="1"/>
          </p:cNvSpPr>
          <p:nvPr/>
        </p:nvSpPr>
        <p:spPr>
          <a:xfrm xmlns:a="http://schemas.openxmlformats.org/drawingml/2006/main" rot="0" flipH="0" flipV="0">
            <a:off x="6460808" y="2062639"/>
            <a:ext cx="5359718" cy="4972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75"/>
              </a:lnSpc>
              <a:buNone/>
            </a:pPr>
            <a:r>
              <a:rPr sz="1275">
                <a:solidFill>
                  <a:srgbClr val="20262B"/>
                </a:solidFill>
                <a:latin typeface="Arial"/>
                <a:ea typeface="Arial"/>
                <a:cs typeface="Arial"/>
              </a:rPr>
              <a:t>Simulates local interaction across populations, networks, and time </a:t>
            </a:r>
            <a:r>
              <a:rPr sz="1275">
                <a:solidFill>
                  <a:srgbClr val="20262B"/>
                </a:solidFill>
                <a:latin typeface="Arial"/>
                <a:ea typeface="Arial"/>
                <a:cs typeface="Arial"/>
              </a:rPr>
              <a:t>steps to examine emergent group-level patterns.</a:t>
            </a:r>
          </a:p>
        </p:txBody>
      </p:sp>
      <p:sp>
        <p:nvSpPr>
          <p:cNvPr id="16" name="TextBox 16">
            <a:extLst xmlns:a="http://schemas.openxmlformats.org/drawingml/2006/main">
              <a:ext uri="{FF2B5EF4-FFF2-40B4-BE49-F238E27FC236}">
                <a16:creationId xmlns:a16="http://schemas.microsoft.com/office/drawing/2014/main" id="{ED9C7494-6396-4E3D-BED0-413593FF437C}"/>
              </a:ext>
            </a:extLst>
          </p:cNvPr>
          <p:cNvSpPr>
            <a:spLocks xmlns:a="http://schemas.openxmlformats.org/drawingml/2006/main" noGrp="1"/>
          </p:cNvSpPr>
          <p:nvPr/>
        </p:nvSpPr>
        <p:spPr>
          <a:xfrm xmlns:a="http://schemas.openxmlformats.org/drawingml/2006/main" rot="0" flipH="0" flipV="0">
            <a:off x="672465" y="3029902"/>
            <a:ext cx="1636521"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MICRO–MACRO PROCESS</a:t>
            </a:r>
          </a:p>
        </p:txBody>
      </p:sp>
      <p:sp>
        <p:nvSpPr>
          <p:cNvPr id="18" name="Rectangle 18">
            <a:extLst xmlns:a="http://schemas.openxmlformats.org/drawingml/2006/main">
              <a:ext uri="{FF2B5EF4-FFF2-40B4-BE49-F238E27FC236}">
                <a16:creationId xmlns:a16="http://schemas.microsoft.com/office/drawing/2014/main" id="{CE9C5DF8-9884-402F-ADC1-FC79C669A769}"/>
              </a:ext>
            </a:extLst>
          </p:cNvPr>
          <p:cNvSpPr>
            <a:spLocks xmlns:a="http://schemas.openxmlformats.org/drawingml/2006/main" noGrp="1"/>
          </p:cNvSpPr>
          <p:nvPr/>
        </p:nvSpPr>
        <p:spPr>
          <a:xfrm xmlns:a="http://schemas.openxmlformats.org/drawingml/2006/main" rot="0" flipH="0" flipV="0">
            <a:off x="685800" y="3524250"/>
            <a:ext cx="2305050" cy="876300"/>
          </a:xfrm>
          <a:prstGeom xmlns:a="http://schemas.openxmlformats.org/drawingml/2006/main" prst="roundRect">
            <a:avLst>
              <a:gd name="adj" fmla="val 2174"/>
            </a:avLst>
          </a:prstGeom>
          <a:solidFill xmlns:a="http://schemas.openxmlformats.org/drawingml/2006/main">
            <a:srgbClr val="FFFFFF"/>
          </a:solidFill>
          <a:ln xmlns:a="http://schemas.openxmlformats.org/drawingml/2006/main" w="14288">
            <a:solidFill>
              <a:srgbClr val="D8DEE3"/>
            </a:solidFill>
          </a:ln>
        </p:spPr>
      </p:sp>
      <p:sp>
        <p:nvSpPr>
          <p:cNvPr id="19" name="TextBox 19">
            <a:extLst xmlns:a="http://schemas.openxmlformats.org/drawingml/2006/main">
              <a:ext uri="{FF2B5EF4-FFF2-40B4-BE49-F238E27FC236}">
                <a16:creationId xmlns:a16="http://schemas.microsoft.com/office/drawing/2014/main" id="{1AD995AF-A1F9-4E5F-8852-5EF9C7044D26}"/>
              </a:ext>
            </a:extLst>
          </p:cNvPr>
          <p:cNvSpPr>
            <a:spLocks xmlns:a="http://schemas.openxmlformats.org/drawingml/2006/main" noGrp="1"/>
          </p:cNvSpPr>
          <p:nvPr/>
        </p:nvSpPr>
        <p:spPr>
          <a:xfrm xmlns:a="http://schemas.openxmlformats.org/drawingml/2006/main" rot="0" flipH="0" flipV="0">
            <a:off x="1086973" y="3722846"/>
            <a:ext cx="1502703"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425" b="1">
                <a:solidFill>
                  <a:srgbClr val="20262B"/>
                </a:solidFill>
                <a:latin typeface="Arial"/>
                <a:ea typeface="Arial"/>
                <a:cs typeface="Arial"/>
              </a:rPr>
              <a:t>LLM-generated</a:t>
            </a:r>
          </a:p>
        </p:txBody>
      </p:sp>
      <p:sp>
        <p:nvSpPr>
          <p:cNvPr id="20" name="TextBox 20">
            <a:extLst xmlns:a="http://schemas.openxmlformats.org/drawingml/2006/main">
              <a:ext uri="{FF2B5EF4-FFF2-40B4-BE49-F238E27FC236}">
                <a16:creationId xmlns:a16="http://schemas.microsoft.com/office/drawing/2014/main" id="{9B0755CC-5B1A-4086-B3AB-5BEEB1F34BF4}"/>
              </a:ext>
            </a:extLst>
          </p:cNvPr>
          <p:cNvSpPr>
            <a:spLocks xmlns:a="http://schemas.openxmlformats.org/drawingml/2006/main" noGrp="1"/>
          </p:cNvSpPr>
          <p:nvPr/>
        </p:nvSpPr>
        <p:spPr>
          <a:xfrm xmlns:a="http://schemas.openxmlformats.org/drawingml/2006/main" rot="0" flipH="0" flipV="0">
            <a:off x="1361320" y="3980021"/>
            <a:ext cx="954010"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425" b="1">
                <a:solidFill>
                  <a:srgbClr val="20262B"/>
                </a:solidFill>
                <a:latin typeface="Arial"/>
                <a:ea typeface="Arial"/>
                <a:cs typeface="Arial"/>
              </a:rPr>
              <a:t>messages</a:t>
            </a:r>
          </a:p>
        </p:txBody>
      </p:sp>
      <p:sp>
        <p:nvSpPr>
          <p:cNvPr id="21" name="Line 21">
            <a:extLst xmlns:a="http://schemas.openxmlformats.org/drawingml/2006/main">
              <a:ext uri="{FF2B5EF4-FFF2-40B4-BE49-F238E27FC236}">
                <a16:creationId xmlns:a16="http://schemas.microsoft.com/office/drawing/2014/main" id="{91912CD5-BFC8-4F2C-8334-FB00BACD7A05}"/>
              </a:ext>
            </a:extLst>
          </p:cNvPr>
          <p:cNvSpPr>
            <a:spLocks xmlns:a="http://schemas.openxmlformats.org/drawingml/2006/main" noGrp="1"/>
          </p:cNvSpPr>
          <p:nvPr/>
        </p:nvSpPr>
        <p:spPr>
          <a:xfrm xmlns:a="http://schemas.openxmlformats.org/drawingml/2006/main" rot="0" flipH="0" flipV="0">
            <a:off x="2990850" y="3962400"/>
            <a:ext cx="381000" cy="9525"/>
          </a:xfrm>
          <a:custGeom xmlns:a="http://schemas.openxmlformats.org/drawingml/2006/main">
            <a:rect l="l" t="t" r="r" b="b"/>
            <a:pathLst>
              <a:path w="381000" h="9525">
                <a:moveTo>
                  <a:pt x="0" y="0"/>
                </a:moveTo>
                <a:lnTo>
                  <a:pt x="381000" y="0"/>
                </a:lnTo>
              </a:path>
            </a:pathLst>
          </a:custGeom>
          <a:noFill xmlns:a="http://schemas.openxmlformats.org/drawingml/2006/main"/>
          <a:ln xmlns:a="http://schemas.openxmlformats.org/drawingml/2006/main" w="19050">
            <a:solidFill>
              <a:srgbClr val="17324D"/>
            </a:solidFill>
          </a:ln>
        </p:spPr>
      </p:sp>
      <p:sp>
        <p:nvSpPr>
          <p:cNvPr id="22" name="Polygon 22">
            <a:extLst xmlns:a="http://schemas.openxmlformats.org/drawingml/2006/main">
              <a:ext uri="{FF2B5EF4-FFF2-40B4-BE49-F238E27FC236}">
                <a16:creationId xmlns:a16="http://schemas.microsoft.com/office/drawing/2014/main" id="{0B8C21A0-0A39-49F3-BF54-949A09495036}"/>
              </a:ext>
            </a:extLst>
          </p:cNvPr>
          <p:cNvSpPr>
            <a:spLocks xmlns:a="http://schemas.openxmlformats.org/drawingml/2006/main" noGrp="1"/>
          </p:cNvSpPr>
          <p:nvPr/>
        </p:nvSpPr>
        <p:spPr>
          <a:xfrm xmlns:a="http://schemas.openxmlformats.org/drawingml/2006/main" rot="0" flipH="0" flipV="0">
            <a:off x="3371850" y="3905250"/>
            <a:ext cx="114300" cy="114300"/>
          </a:xfrm>
          <a:custGeom xmlns:a="http://schemas.openxmlformats.org/drawingml/2006/main">
            <a:rect l="l" t="t" r="r" b="b"/>
            <a:pathLst>
              <a:path w="114300" h="114300">
                <a:moveTo>
                  <a:pt x="114300" y="57150"/>
                </a:moveTo>
                <a:lnTo>
                  <a:pt x="0" y="0"/>
                </a:lnTo>
                <a:lnTo>
                  <a:pt x="0" y="114300"/>
                </a:lnTo>
                <a:close/>
              </a:path>
            </a:pathLst>
          </a:custGeom>
          <a:solidFill xmlns:a="http://schemas.openxmlformats.org/drawingml/2006/main">
            <a:srgbClr val="17324D"/>
          </a:solidFill>
          <a:ln xmlns:a="http://schemas.openxmlformats.org/drawingml/2006/main">
            <a:noFill/>
          </a:ln>
        </p:spPr>
      </p:sp>
      <p:sp>
        <p:nvSpPr>
          <p:cNvPr id="24" name="Rectangle 24">
            <a:extLst xmlns:a="http://schemas.openxmlformats.org/drawingml/2006/main">
              <a:ext uri="{FF2B5EF4-FFF2-40B4-BE49-F238E27FC236}">
                <a16:creationId xmlns:a16="http://schemas.microsoft.com/office/drawing/2014/main" id="{E4B19004-E7A8-4BEE-8984-1F34596A8E1D}"/>
              </a:ext>
            </a:extLst>
          </p:cNvPr>
          <p:cNvSpPr>
            <a:spLocks xmlns:a="http://schemas.openxmlformats.org/drawingml/2006/main" noGrp="1"/>
          </p:cNvSpPr>
          <p:nvPr/>
        </p:nvSpPr>
        <p:spPr>
          <a:xfrm xmlns:a="http://schemas.openxmlformats.org/drawingml/2006/main" rot="0" flipH="0" flipV="0">
            <a:off x="3486150" y="3524250"/>
            <a:ext cx="2305050" cy="876300"/>
          </a:xfrm>
          <a:prstGeom xmlns:a="http://schemas.openxmlformats.org/drawingml/2006/main" prst="roundRect">
            <a:avLst>
              <a:gd name="adj" fmla="val 2174"/>
            </a:avLst>
          </a:prstGeom>
          <a:solidFill xmlns:a="http://schemas.openxmlformats.org/drawingml/2006/main">
            <a:srgbClr val="FFFFFF"/>
          </a:solidFill>
          <a:ln xmlns:a="http://schemas.openxmlformats.org/drawingml/2006/main" w="14288">
            <a:solidFill>
              <a:srgbClr val="D8DEE3"/>
            </a:solidFill>
          </a:ln>
        </p:spPr>
      </p:sp>
      <p:sp>
        <p:nvSpPr>
          <p:cNvPr id="25" name="TextBox 25">
            <a:extLst xmlns:a="http://schemas.openxmlformats.org/drawingml/2006/main">
              <a:ext uri="{FF2B5EF4-FFF2-40B4-BE49-F238E27FC236}">
                <a16:creationId xmlns:a16="http://schemas.microsoft.com/office/drawing/2014/main" id="{C7B75B7C-CE69-42A4-8077-C13AF52A2318}"/>
              </a:ext>
            </a:extLst>
          </p:cNvPr>
          <p:cNvSpPr>
            <a:spLocks xmlns:a="http://schemas.openxmlformats.org/drawingml/2006/main" noGrp="1"/>
          </p:cNvSpPr>
          <p:nvPr/>
        </p:nvSpPr>
        <p:spPr>
          <a:xfrm xmlns:a="http://schemas.openxmlformats.org/drawingml/2006/main" rot="0" flipH="0" flipV="0">
            <a:off x="3578060" y="3722846"/>
            <a:ext cx="2121231"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425" b="1">
                <a:solidFill>
                  <a:srgbClr val="20262B"/>
                </a:solidFill>
                <a:latin typeface="Arial"/>
                <a:ea typeface="Arial"/>
                <a:cs typeface="Arial"/>
              </a:rPr>
              <a:t>Information exposure</a:t>
            </a:r>
          </a:p>
        </p:txBody>
      </p:sp>
      <p:sp>
        <p:nvSpPr>
          <p:cNvPr id="26" name="TextBox 26">
            <a:extLst xmlns:a="http://schemas.openxmlformats.org/drawingml/2006/main">
              <a:ext uri="{FF2B5EF4-FFF2-40B4-BE49-F238E27FC236}">
                <a16:creationId xmlns:a16="http://schemas.microsoft.com/office/drawing/2014/main" id="{6663133E-AD13-41DB-A29C-D4AA2C41008D}"/>
              </a:ext>
            </a:extLst>
          </p:cNvPr>
          <p:cNvSpPr>
            <a:spLocks xmlns:a="http://schemas.openxmlformats.org/drawingml/2006/main" noGrp="1"/>
          </p:cNvSpPr>
          <p:nvPr/>
        </p:nvSpPr>
        <p:spPr>
          <a:xfrm xmlns:a="http://schemas.openxmlformats.org/drawingml/2006/main" rot="0" flipH="0" flipV="0">
            <a:off x="3982098" y="3980021"/>
            <a:ext cx="1313155"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425" b="1">
                <a:solidFill>
                  <a:srgbClr val="20262B"/>
                </a:solidFill>
                <a:latin typeface="Arial"/>
                <a:ea typeface="Arial"/>
                <a:cs typeface="Arial"/>
              </a:rPr>
              <a:t>and diffusion</a:t>
            </a:r>
          </a:p>
        </p:txBody>
      </p:sp>
      <p:sp>
        <p:nvSpPr>
          <p:cNvPr id="27" name="Line 27">
            <a:extLst xmlns:a="http://schemas.openxmlformats.org/drawingml/2006/main">
              <a:ext uri="{FF2B5EF4-FFF2-40B4-BE49-F238E27FC236}">
                <a16:creationId xmlns:a16="http://schemas.microsoft.com/office/drawing/2014/main" id="{706E2C4D-CAF3-44D3-9F5F-4CB78ED3C7CD}"/>
              </a:ext>
            </a:extLst>
          </p:cNvPr>
          <p:cNvSpPr>
            <a:spLocks xmlns:a="http://schemas.openxmlformats.org/drawingml/2006/main" noGrp="1"/>
          </p:cNvSpPr>
          <p:nvPr/>
        </p:nvSpPr>
        <p:spPr>
          <a:xfrm xmlns:a="http://schemas.openxmlformats.org/drawingml/2006/main" rot="0" flipH="0" flipV="0">
            <a:off x="5791200" y="3962400"/>
            <a:ext cx="381000" cy="9525"/>
          </a:xfrm>
          <a:custGeom xmlns:a="http://schemas.openxmlformats.org/drawingml/2006/main">
            <a:rect l="l" t="t" r="r" b="b"/>
            <a:pathLst>
              <a:path w="381000" h="9525">
                <a:moveTo>
                  <a:pt x="0" y="0"/>
                </a:moveTo>
                <a:lnTo>
                  <a:pt x="381000" y="0"/>
                </a:lnTo>
              </a:path>
            </a:pathLst>
          </a:custGeom>
          <a:noFill xmlns:a="http://schemas.openxmlformats.org/drawingml/2006/main"/>
          <a:ln xmlns:a="http://schemas.openxmlformats.org/drawingml/2006/main" w="19050">
            <a:solidFill>
              <a:srgbClr val="17324D"/>
            </a:solidFill>
          </a:ln>
        </p:spPr>
      </p:sp>
      <p:sp>
        <p:nvSpPr>
          <p:cNvPr id="28" name="Polygon 28">
            <a:extLst xmlns:a="http://schemas.openxmlformats.org/drawingml/2006/main">
              <a:ext uri="{FF2B5EF4-FFF2-40B4-BE49-F238E27FC236}">
                <a16:creationId xmlns:a16="http://schemas.microsoft.com/office/drawing/2014/main" id="{1122D330-896C-4FB6-9D19-B1EFF5859D6D}"/>
              </a:ext>
            </a:extLst>
          </p:cNvPr>
          <p:cNvSpPr>
            <a:spLocks xmlns:a="http://schemas.openxmlformats.org/drawingml/2006/main" noGrp="1"/>
          </p:cNvSpPr>
          <p:nvPr/>
        </p:nvSpPr>
        <p:spPr>
          <a:xfrm xmlns:a="http://schemas.openxmlformats.org/drawingml/2006/main" rot="0" flipH="0" flipV="0">
            <a:off x="6172200" y="3905250"/>
            <a:ext cx="114300" cy="114300"/>
          </a:xfrm>
          <a:custGeom xmlns:a="http://schemas.openxmlformats.org/drawingml/2006/main">
            <a:rect l="l" t="t" r="r" b="b"/>
            <a:pathLst>
              <a:path w="114300" h="114300">
                <a:moveTo>
                  <a:pt x="114300" y="57150"/>
                </a:moveTo>
                <a:lnTo>
                  <a:pt x="0" y="0"/>
                </a:lnTo>
                <a:lnTo>
                  <a:pt x="0" y="114300"/>
                </a:lnTo>
                <a:close/>
              </a:path>
            </a:pathLst>
          </a:custGeom>
          <a:solidFill xmlns:a="http://schemas.openxmlformats.org/drawingml/2006/main">
            <a:srgbClr val="17324D"/>
          </a:solidFill>
          <a:ln xmlns:a="http://schemas.openxmlformats.org/drawingml/2006/main">
            <a:noFill/>
          </a:ln>
        </p:spPr>
      </p:sp>
      <p:sp>
        <p:nvSpPr>
          <p:cNvPr id="30" name="Rectangle 30">
            <a:extLst xmlns:a="http://schemas.openxmlformats.org/drawingml/2006/main">
              <a:ext uri="{FF2B5EF4-FFF2-40B4-BE49-F238E27FC236}">
                <a16:creationId xmlns:a16="http://schemas.microsoft.com/office/drawing/2014/main" id="{B188AF0A-0B13-4586-9E4E-A6A24E00C633}"/>
              </a:ext>
            </a:extLst>
          </p:cNvPr>
          <p:cNvSpPr>
            <a:spLocks xmlns:a="http://schemas.openxmlformats.org/drawingml/2006/main" noGrp="1"/>
          </p:cNvSpPr>
          <p:nvPr/>
        </p:nvSpPr>
        <p:spPr>
          <a:xfrm xmlns:a="http://schemas.openxmlformats.org/drawingml/2006/main" rot="0" flipH="0" flipV="0">
            <a:off x="6286500" y="3524250"/>
            <a:ext cx="2305050" cy="876300"/>
          </a:xfrm>
          <a:prstGeom xmlns:a="http://schemas.openxmlformats.org/drawingml/2006/main" prst="roundRect">
            <a:avLst>
              <a:gd name="adj" fmla="val 2174"/>
            </a:avLst>
          </a:prstGeom>
          <a:solidFill xmlns:a="http://schemas.openxmlformats.org/drawingml/2006/main">
            <a:srgbClr val="FFFFFF"/>
          </a:solidFill>
          <a:ln xmlns:a="http://schemas.openxmlformats.org/drawingml/2006/main" w="14288">
            <a:solidFill>
              <a:srgbClr val="D8DEE3"/>
            </a:solidFill>
          </a:ln>
        </p:spPr>
      </p:sp>
      <p:sp>
        <p:nvSpPr>
          <p:cNvPr id="31" name="TextBox 31">
            <a:extLst xmlns:a="http://schemas.openxmlformats.org/drawingml/2006/main">
              <a:ext uri="{FF2B5EF4-FFF2-40B4-BE49-F238E27FC236}">
                <a16:creationId xmlns:a16="http://schemas.microsoft.com/office/drawing/2014/main" id="{A51927C2-2A26-490C-8D21-F80FB164CDAA}"/>
              </a:ext>
            </a:extLst>
          </p:cNvPr>
          <p:cNvSpPr>
            <a:spLocks xmlns:a="http://schemas.openxmlformats.org/drawingml/2006/main" noGrp="1"/>
          </p:cNvSpPr>
          <p:nvPr/>
        </p:nvSpPr>
        <p:spPr>
          <a:xfrm xmlns:a="http://schemas.openxmlformats.org/drawingml/2006/main" rot="0" flipH="0" flipV="0">
            <a:off x="6607863" y="3722846"/>
            <a:ext cx="1662323"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425" b="1">
                <a:solidFill>
                  <a:srgbClr val="20262B"/>
                </a:solidFill>
                <a:latin typeface="Arial"/>
                <a:ea typeface="Arial"/>
                <a:cs typeface="Arial"/>
              </a:rPr>
              <a:t>Individual opinion</a:t>
            </a:r>
          </a:p>
        </p:txBody>
      </p:sp>
      <p:sp>
        <p:nvSpPr>
          <p:cNvPr id="32" name="TextBox 32">
            <a:extLst xmlns:a="http://schemas.openxmlformats.org/drawingml/2006/main">
              <a:ext uri="{FF2B5EF4-FFF2-40B4-BE49-F238E27FC236}">
                <a16:creationId xmlns:a16="http://schemas.microsoft.com/office/drawing/2014/main" id="{881AF14C-770D-4773-A5D9-C1DC1D159AB5}"/>
              </a:ext>
            </a:extLst>
          </p:cNvPr>
          <p:cNvSpPr>
            <a:spLocks xmlns:a="http://schemas.openxmlformats.org/drawingml/2006/main" noGrp="1"/>
          </p:cNvSpPr>
          <p:nvPr/>
        </p:nvSpPr>
        <p:spPr>
          <a:xfrm xmlns:a="http://schemas.openxmlformats.org/drawingml/2006/main" rot="0" flipH="0" flipV="0">
            <a:off x="7006913" y="3980021"/>
            <a:ext cx="864223"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425" b="1">
                <a:solidFill>
                  <a:srgbClr val="20262B"/>
                </a:solidFill>
                <a:latin typeface="Arial"/>
                <a:ea typeface="Arial"/>
                <a:cs typeface="Arial"/>
              </a:rPr>
              <a:t>updating</a:t>
            </a:r>
          </a:p>
        </p:txBody>
      </p:sp>
      <p:sp>
        <p:nvSpPr>
          <p:cNvPr id="33" name="Line 33">
            <a:extLst xmlns:a="http://schemas.openxmlformats.org/drawingml/2006/main">
              <a:ext uri="{FF2B5EF4-FFF2-40B4-BE49-F238E27FC236}">
                <a16:creationId xmlns:a16="http://schemas.microsoft.com/office/drawing/2014/main" id="{B019A513-C2F3-482A-A405-DD0D21CA8BAA}"/>
              </a:ext>
            </a:extLst>
          </p:cNvPr>
          <p:cNvSpPr>
            <a:spLocks xmlns:a="http://schemas.openxmlformats.org/drawingml/2006/main" noGrp="1"/>
          </p:cNvSpPr>
          <p:nvPr/>
        </p:nvSpPr>
        <p:spPr>
          <a:xfrm xmlns:a="http://schemas.openxmlformats.org/drawingml/2006/main" rot="0" flipH="0" flipV="0">
            <a:off x="8591550" y="3962400"/>
            <a:ext cx="381000" cy="9525"/>
          </a:xfrm>
          <a:custGeom xmlns:a="http://schemas.openxmlformats.org/drawingml/2006/main">
            <a:rect l="l" t="t" r="r" b="b"/>
            <a:pathLst>
              <a:path w="381000" h="9525">
                <a:moveTo>
                  <a:pt x="0" y="0"/>
                </a:moveTo>
                <a:lnTo>
                  <a:pt x="381000" y="0"/>
                </a:lnTo>
              </a:path>
            </a:pathLst>
          </a:custGeom>
          <a:noFill xmlns:a="http://schemas.openxmlformats.org/drawingml/2006/main"/>
          <a:ln xmlns:a="http://schemas.openxmlformats.org/drawingml/2006/main" w="19050">
            <a:solidFill>
              <a:srgbClr val="17324D"/>
            </a:solidFill>
          </a:ln>
        </p:spPr>
      </p:sp>
      <p:sp>
        <p:nvSpPr>
          <p:cNvPr id="34" name="Polygon 34">
            <a:extLst xmlns:a="http://schemas.openxmlformats.org/drawingml/2006/main">
              <a:ext uri="{FF2B5EF4-FFF2-40B4-BE49-F238E27FC236}">
                <a16:creationId xmlns:a16="http://schemas.microsoft.com/office/drawing/2014/main" id="{C6A06048-049D-48BC-83A1-73D838B5FA2D}"/>
              </a:ext>
            </a:extLst>
          </p:cNvPr>
          <p:cNvSpPr>
            <a:spLocks xmlns:a="http://schemas.openxmlformats.org/drawingml/2006/main" noGrp="1"/>
          </p:cNvSpPr>
          <p:nvPr/>
        </p:nvSpPr>
        <p:spPr>
          <a:xfrm xmlns:a="http://schemas.openxmlformats.org/drawingml/2006/main" rot="0" flipH="0" flipV="0">
            <a:off x="8972550" y="3905250"/>
            <a:ext cx="114300" cy="114300"/>
          </a:xfrm>
          <a:custGeom xmlns:a="http://schemas.openxmlformats.org/drawingml/2006/main">
            <a:rect l="l" t="t" r="r" b="b"/>
            <a:pathLst>
              <a:path w="114300" h="114300">
                <a:moveTo>
                  <a:pt x="114300" y="57150"/>
                </a:moveTo>
                <a:lnTo>
                  <a:pt x="0" y="0"/>
                </a:lnTo>
                <a:lnTo>
                  <a:pt x="0" y="114300"/>
                </a:lnTo>
                <a:close/>
              </a:path>
            </a:pathLst>
          </a:custGeom>
          <a:solidFill xmlns:a="http://schemas.openxmlformats.org/drawingml/2006/main">
            <a:srgbClr val="17324D"/>
          </a:solidFill>
          <a:ln xmlns:a="http://schemas.openxmlformats.org/drawingml/2006/main">
            <a:noFill/>
          </a:ln>
        </p:spPr>
      </p:sp>
      <p:sp>
        <p:nvSpPr>
          <p:cNvPr id="36" name="Rectangle 36">
            <a:extLst xmlns:a="http://schemas.openxmlformats.org/drawingml/2006/main">
              <a:ext uri="{FF2B5EF4-FFF2-40B4-BE49-F238E27FC236}">
                <a16:creationId xmlns:a16="http://schemas.microsoft.com/office/drawing/2014/main" id="{50595550-BFFE-4CCE-B290-4DAF8B673E3F}"/>
              </a:ext>
            </a:extLst>
          </p:cNvPr>
          <p:cNvSpPr>
            <a:spLocks xmlns:a="http://schemas.openxmlformats.org/drawingml/2006/main" noGrp="1"/>
          </p:cNvSpPr>
          <p:nvPr/>
        </p:nvSpPr>
        <p:spPr>
          <a:xfrm xmlns:a="http://schemas.openxmlformats.org/drawingml/2006/main" rot="0" flipH="0" flipV="0">
            <a:off x="9086850" y="3524250"/>
            <a:ext cx="2419350" cy="876300"/>
          </a:xfrm>
          <a:prstGeom xmlns:a="http://schemas.openxmlformats.org/drawingml/2006/main" prst="roundRect">
            <a:avLst>
              <a:gd name="adj" fmla="val 2174"/>
            </a:avLst>
          </a:prstGeom>
          <a:solidFill xmlns:a="http://schemas.openxmlformats.org/drawingml/2006/main">
            <a:srgbClr val="FFFFFF"/>
          </a:solidFill>
          <a:ln xmlns:a="http://schemas.openxmlformats.org/drawingml/2006/main" w="19050">
            <a:solidFill>
              <a:srgbClr val="17324D"/>
            </a:solidFill>
          </a:ln>
        </p:spPr>
      </p:sp>
      <p:sp>
        <p:nvSpPr>
          <p:cNvPr id="37" name="TextBox 37">
            <a:extLst xmlns:a="http://schemas.openxmlformats.org/drawingml/2006/main">
              <a:ext uri="{FF2B5EF4-FFF2-40B4-BE49-F238E27FC236}">
                <a16:creationId xmlns:a16="http://schemas.microsoft.com/office/drawing/2014/main" id="{E8839D55-C289-4B88-A8D7-C25CA5520841}"/>
              </a:ext>
            </a:extLst>
          </p:cNvPr>
          <p:cNvSpPr>
            <a:spLocks xmlns:a="http://schemas.openxmlformats.org/drawingml/2006/main" noGrp="1"/>
          </p:cNvSpPr>
          <p:nvPr/>
        </p:nvSpPr>
        <p:spPr>
          <a:xfrm xmlns:a="http://schemas.openxmlformats.org/drawingml/2006/main" rot="0" flipH="0" flipV="0">
            <a:off x="9639948" y="3722846"/>
            <a:ext cx="1313155"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425" b="1">
                <a:solidFill>
                  <a:srgbClr val="17324D"/>
                </a:solidFill>
                <a:latin typeface="Arial"/>
                <a:ea typeface="Arial"/>
                <a:cs typeface="Arial"/>
              </a:rPr>
              <a:t>Group opinion</a:t>
            </a:r>
          </a:p>
        </p:txBody>
      </p:sp>
      <p:sp>
        <p:nvSpPr>
          <p:cNvPr id="38" name="TextBox 38">
            <a:extLst xmlns:a="http://schemas.openxmlformats.org/drawingml/2006/main">
              <a:ext uri="{FF2B5EF4-FFF2-40B4-BE49-F238E27FC236}">
                <a16:creationId xmlns:a16="http://schemas.microsoft.com/office/drawing/2014/main" id="{76AB489B-2756-40AA-926C-E69E62478932}"/>
              </a:ext>
            </a:extLst>
          </p:cNvPr>
          <p:cNvSpPr>
            <a:spLocks xmlns:a="http://schemas.openxmlformats.org/drawingml/2006/main" noGrp="1"/>
          </p:cNvSpPr>
          <p:nvPr/>
        </p:nvSpPr>
        <p:spPr>
          <a:xfrm xmlns:a="http://schemas.openxmlformats.org/drawingml/2006/main" rot="0" flipH="0" flipV="0">
            <a:off x="9694817" y="3980021"/>
            <a:ext cx="1203416"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425" b="1">
                <a:solidFill>
                  <a:srgbClr val="17324D"/>
                </a:solidFill>
                <a:latin typeface="Arial"/>
                <a:ea typeface="Arial"/>
                <a:cs typeface="Arial"/>
              </a:rPr>
              <a:t>distribution</a:t>
            </a:r>
          </a:p>
        </p:txBody>
      </p:sp>
      <p:sp>
        <p:nvSpPr>
          <p:cNvPr id="40" name="TextBox 40">
            <a:extLst xmlns:a="http://schemas.openxmlformats.org/drawingml/2006/main">
              <a:ext uri="{FF2B5EF4-FFF2-40B4-BE49-F238E27FC236}">
                <a16:creationId xmlns:a16="http://schemas.microsoft.com/office/drawing/2014/main" id="{A3C182D6-D799-4EAA-9E64-1FFA3F45D912}"/>
              </a:ext>
            </a:extLst>
          </p:cNvPr>
          <p:cNvSpPr>
            <a:spLocks xmlns:a="http://schemas.openxmlformats.org/drawingml/2006/main" noGrp="1"/>
          </p:cNvSpPr>
          <p:nvPr/>
        </p:nvSpPr>
        <p:spPr>
          <a:xfrm xmlns:a="http://schemas.openxmlformats.org/drawingml/2006/main" rot="0" flipH="0" flipV="0">
            <a:off x="7944898" y="4582478"/>
            <a:ext cx="4703254"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050">
                <a:solidFill>
                  <a:srgbClr val="7A8792"/>
                </a:solidFill>
                <a:latin typeface="Arial"/>
                <a:ea typeface="Arial"/>
                <a:cs typeface="Arial"/>
              </a:rPr>
              <a:t>convergence · clustering · polarization · persistent differentiation</a:t>
            </a:r>
          </a:p>
        </p:txBody>
      </p:sp>
      <p:sp>
        <p:nvSpPr>
          <p:cNvPr id="42" name="Line 42">
            <a:extLst xmlns:a="http://schemas.openxmlformats.org/drawingml/2006/main">
              <a:ext uri="{FF2B5EF4-FFF2-40B4-BE49-F238E27FC236}">
                <a16:creationId xmlns:a16="http://schemas.microsoft.com/office/drawing/2014/main" id="{28218640-006C-4A4C-BF9E-357046884631}"/>
              </a:ext>
            </a:extLst>
          </p:cNvPr>
          <p:cNvSpPr>
            <a:spLocks xmlns:a="http://schemas.openxmlformats.org/drawingml/2006/main" noGrp="1"/>
          </p:cNvSpPr>
          <p:nvPr/>
        </p:nvSpPr>
        <p:spPr>
          <a:xfrm xmlns:a="http://schemas.openxmlformats.org/drawingml/2006/main" rot="0" flipH="0" flipV="0">
            <a:off x="685800" y="5219700"/>
            <a:ext cx="10820400" cy="9525"/>
          </a:xfrm>
          <a:custGeom xmlns:a="http://schemas.openxmlformats.org/drawingml/2006/main">
            <a:rect l="l" t="t" r="r" b="b"/>
            <a:pathLst>
              <a:path w="10820400" h="9525">
                <a:moveTo>
                  <a:pt x="0" y="0"/>
                </a:moveTo>
                <a:lnTo>
                  <a:pt x="10820400" y="0"/>
                </a:lnTo>
              </a:path>
            </a:pathLst>
          </a:custGeom>
          <a:noFill xmlns:a="http://schemas.openxmlformats.org/drawingml/2006/main"/>
          <a:ln xmlns:a="http://schemas.openxmlformats.org/drawingml/2006/main" w="9525">
            <a:solidFill>
              <a:srgbClr val="D8DEE3"/>
            </a:solidFill>
          </a:ln>
        </p:spPr>
      </p:sp>
      <p:sp>
        <p:nvSpPr>
          <p:cNvPr id="43" name="TextBox 43">
            <a:extLst xmlns:a="http://schemas.openxmlformats.org/drawingml/2006/main">
              <a:ext uri="{FF2B5EF4-FFF2-40B4-BE49-F238E27FC236}">
                <a16:creationId xmlns:a16="http://schemas.microsoft.com/office/drawing/2014/main" id="{23080F3A-1B8B-4E5F-B88D-0080155573DD}"/>
              </a:ext>
            </a:extLst>
          </p:cNvPr>
          <p:cNvSpPr>
            <a:spLocks xmlns:a="http://schemas.openxmlformats.org/drawingml/2006/main" noGrp="1"/>
          </p:cNvSpPr>
          <p:nvPr/>
        </p:nvSpPr>
        <p:spPr>
          <a:xfrm xmlns:a="http://schemas.openxmlformats.org/drawingml/2006/main" rot="0" flipH="0" flipV="0">
            <a:off x="669608" y="5463064"/>
            <a:ext cx="7768352" cy="25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75" b="1">
                <a:solidFill>
                  <a:srgbClr val="17324D"/>
                </a:solidFill>
                <a:latin typeface="Arial"/>
                <a:ea typeface="Arial"/>
                <a:cs typeface="Arial"/>
              </a:rPr>
              <a:t>Opinion dynamics</a:t>
            </a:r>
            <a:r>
              <a:rPr sz="1275">
                <a:solidFill>
                  <a:srgbClr val="20262B"/>
                </a:solidFill>
                <a:latin typeface="Arial"/>
                <a:ea typeface="Arial"/>
                <a:cs typeface="Arial"/>
              </a:rPr>
              <a:t> supplies update rules; </a:t>
            </a:r>
            <a:r>
              <a:rPr sz="1275" b="1">
                <a:solidFill>
                  <a:srgbClr val="17324D"/>
                </a:solidFill>
                <a:latin typeface="Arial"/>
                <a:ea typeface="Arial"/>
                <a:cs typeface="Arial"/>
              </a:rPr>
              <a:t>ABM</a:t>
            </a:r>
            <a:r>
              <a:rPr sz="1275">
                <a:solidFill>
                  <a:srgbClr val="20262B"/>
                </a:solidFill>
                <a:latin typeface="Arial"/>
                <a:ea typeface="Arial"/>
                <a:cs typeface="Arial"/>
              </a:rPr>
              <a:t> simulates multi-agent, multi-round interaction.</a:t>
            </a:r>
          </a:p>
        </p:txBody>
      </p:sp>
      <p:sp>
        <p:nvSpPr>
          <p:cNvPr id="44" name="TextBox 44">
            <a:extLst xmlns:a="http://schemas.openxmlformats.org/drawingml/2006/main">
              <a:ext uri="{FF2B5EF4-FFF2-40B4-BE49-F238E27FC236}">
                <a16:creationId xmlns:a16="http://schemas.microsoft.com/office/drawing/2014/main" id="{D5B0A27F-1B29-4F22-846E-18EF7A9A5234}"/>
              </a:ext>
            </a:extLst>
          </p:cNvPr>
          <p:cNvSpPr>
            <a:spLocks xmlns:a="http://schemas.openxmlformats.org/drawingml/2006/main" noGrp="1"/>
          </p:cNvSpPr>
          <p:nvPr/>
        </p:nvSpPr>
        <p:spPr>
          <a:xfrm xmlns:a="http://schemas.openxmlformats.org/drawingml/2006/main" rot="0" flipH="0" flipV="0">
            <a:off x="669608" y="5767864"/>
            <a:ext cx="8193405" cy="25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75">
                <a:solidFill>
                  <a:srgbClr val="20262B"/>
                </a:solidFill>
                <a:latin typeface="Arial"/>
                <a:ea typeface="Arial"/>
                <a:cs typeface="Arial"/>
              </a:rPr>
              <a:t>LLMs generate information; explicit rules update opinions; human data calibrate ABM parameters.</a:t>
            </a:r>
          </a:p>
        </p:txBody>
      </p:sp>
      <p:sp>
        <p:nvSpPr>
          <p:cNvPr id="46" name="TextBox 46">
            <a:extLst xmlns:a="http://schemas.openxmlformats.org/drawingml/2006/main">
              <a:ext uri="{FF2B5EF4-FFF2-40B4-BE49-F238E27FC236}">
                <a16:creationId xmlns:a16="http://schemas.microsoft.com/office/drawing/2014/main" id="{4FB58AE6-2E1C-4E9D-BD4C-908766ADE24D}"/>
              </a:ext>
            </a:extLst>
          </p:cNvPr>
          <p:cNvSpPr>
            <a:spLocks xmlns:a="http://schemas.openxmlformats.org/drawingml/2006/main" noGrp="1"/>
          </p:cNvSpPr>
          <p:nvPr/>
        </p:nvSpPr>
        <p:spPr>
          <a:xfrm xmlns:a="http://schemas.openxmlformats.org/drawingml/2006/main">
            <a:off x="11362754" y="6398895"/>
            <a:ext cx="154877"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00">
                <a:solidFill>
                  <a:srgbClr val="7A8792"/>
                </a:solidFill>
                <a:latin typeface="Arial"/>
                <a:ea typeface="Arial"/>
                <a:cs typeface="Arial"/>
              </a:rPr>
              <a:t>05</a:t>
            </a:r>
          </a:p>
        </p:txBody>
      </p:sp>
    </p:spTree>
    <p:extLst>
      <p:ext uri="{BB962C8B-B14F-4D97-AF65-F5344CB8AC3E}">
        <p14:creationId xmlns:p14="http://schemas.microsoft.com/office/powerpoint/2010/main" val="31512061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027CB718-D3A5-4B75-8CA3-D6DB0D484A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sp>
      <p:sp>
        <p:nvSpPr>
          <p:cNvPr id="3" name="TextBox 3">
            <a:extLst xmlns:a="http://schemas.openxmlformats.org/drawingml/2006/main">
              <a:ext uri="{FF2B5EF4-FFF2-40B4-BE49-F238E27FC236}">
                <a16:creationId xmlns:a16="http://schemas.microsoft.com/office/drawing/2014/main" id="{3A07C234-8346-421A-9C30-4D8BCF45AA11}"/>
              </a:ext>
            </a:extLst>
          </p:cNvPr>
          <p:cNvSpPr>
            <a:spLocks xmlns:a="http://schemas.openxmlformats.org/drawingml/2006/main" noGrp="1"/>
          </p:cNvSpPr>
          <p:nvPr/>
        </p:nvSpPr>
        <p:spPr>
          <a:xfrm xmlns:a="http://schemas.openxmlformats.org/drawingml/2006/main" rot="0" flipH="0" flipV="0">
            <a:off x="541020" y="464820"/>
            <a:ext cx="8025155"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20262B"/>
                </a:solidFill>
                <a:latin typeface="Arial"/>
                <a:ea typeface="Arial"/>
                <a:cs typeface="Arial"/>
              </a:rPr>
              <a:t>How Do LLMs Change Group Opinion Distributions?</a:t>
            </a:r>
          </a:p>
        </p:txBody>
      </p:sp>
      <p:sp>
        <p:nvSpPr>
          <p:cNvPr id="4" name="Line 4">
            <a:extLst xmlns:a="http://schemas.openxmlformats.org/drawingml/2006/main">
              <a:ext uri="{FF2B5EF4-FFF2-40B4-BE49-F238E27FC236}">
                <a16:creationId xmlns:a16="http://schemas.microsoft.com/office/drawing/2014/main" id="{523B2518-8B6C-4AD2-9C7C-2B48EB06DA4F}"/>
              </a:ext>
            </a:extLst>
          </p:cNvPr>
          <p:cNvSpPr>
            <a:spLocks xmlns:a="http://schemas.openxmlformats.org/drawingml/2006/main" noGrp="1"/>
          </p:cNvSpPr>
          <p:nvPr/>
        </p:nvSpPr>
        <p:spPr>
          <a:xfrm xmlns:a="http://schemas.openxmlformats.org/drawingml/2006/main" rot="0" flipH="0" flipV="0">
            <a:off x="571500" y="971550"/>
            <a:ext cx="11049000" cy="9525"/>
          </a:xfrm>
          <a:custGeom xmlns:a="http://schemas.openxmlformats.org/drawingml/2006/main">
            <a:rect l="l" t="t" r="r" b="b"/>
            <a:pathLst>
              <a:path w="11049000" h="9525">
                <a:moveTo>
                  <a:pt x="0" y="0"/>
                </a:moveTo>
                <a:lnTo>
                  <a:pt x="11049000" y="0"/>
                </a:lnTo>
              </a:path>
            </a:pathLst>
          </a:custGeom>
          <a:noFill xmlns:a="http://schemas.openxmlformats.org/drawingml/2006/main"/>
          <a:ln xmlns:a="http://schemas.openxmlformats.org/drawingml/2006/main" w="9525">
            <a:solidFill>
              <a:srgbClr val="D8DEE3"/>
            </a:solidFill>
          </a:ln>
        </p:spPr>
      </p:sp>
      <p:sp>
        <p:nvSpPr>
          <p:cNvPr id="5" name="Rectangle 5">
            <a:extLst xmlns:a="http://schemas.openxmlformats.org/drawingml/2006/main">
              <a:ext uri="{FF2B5EF4-FFF2-40B4-BE49-F238E27FC236}">
                <a16:creationId xmlns:a16="http://schemas.microsoft.com/office/drawing/2014/main" id="{13B7044D-EBEC-4A39-87F9-7D23DC81BE02}"/>
              </a:ext>
            </a:extLst>
          </p:cNvPr>
          <p:cNvSpPr>
            <a:spLocks xmlns:a="http://schemas.openxmlformats.org/drawingml/2006/main" noGrp="1"/>
          </p:cNvSpPr>
          <p:nvPr/>
        </p:nvSpPr>
        <p:spPr>
          <a:xfrm xmlns:a="http://schemas.openxmlformats.org/drawingml/2006/main" rot="0" flipH="0" flipV="0">
            <a:off x="571500" y="952500"/>
            <a:ext cx="1104900" cy="28575"/>
          </a:xfrm>
          <a:prstGeom xmlns:a="http://schemas.openxmlformats.org/drawingml/2006/main" prst="rect">
            <a:avLst/>
          </a:prstGeom>
          <a:solidFill xmlns:a="http://schemas.openxmlformats.org/drawingml/2006/main">
            <a:srgbClr val="17324D"/>
          </a:solidFill>
          <a:ln xmlns:a="http://schemas.openxmlformats.org/drawingml/2006/main">
            <a:noFill/>
          </a:ln>
        </p:spPr>
      </p:sp>
      <p:sp>
        <p:nvSpPr>
          <p:cNvPr id="7" name="TextBox 7">
            <a:extLst xmlns:a="http://schemas.openxmlformats.org/drawingml/2006/main">
              <a:ext uri="{FF2B5EF4-FFF2-40B4-BE49-F238E27FC236}">
                <a16:creationId xmlns:a16="http://schemas.microsoft.com/office/drawing/2014/main" id="{41C213B2-EAB0-4A67-8F49-4EF2D1DE5E29}"/>
              </a:ext>
            </a:extLst>
          </p:cNvPr>
          <p:cNvSpPr>
            <a:spLocks xmlns:a="http://schemas.openxmlformats.org/drawingml/2006/main" noGrp="1"/>
          </p:cNvSpPr>
          <p:nvPr/>
        </p:nvSpPr>
        <p:spPr>
          <a:xfrm xmlns:a="http://schemas.openxmlformats.org/drawingml/2006/main" rot="0" flipH="0" flipV="0">
            <a:off x="672465" y="1296352"/>
            <a:ext cx="1019044"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SUBQUESTIONS</a:t>
            </a:r>
          </a:p>
        </p:txBody>
      </p:sp>
      <p:sp>
        <p:nvSpPr>
          <p:cNvPr id="9" name="TextBox 9">
            <a:extLst xmlns:a="http://schemas.openxmlformats.org/drawingml/2006/main">
              <a:ext uri="{FF2B5EF4-FFF2-40B4-BE49-F238E27FC236}">
                <a16:creationId xmlns:a16="http://schemas.microsoft.com/office/drawing/2014/main" id="{A6459C0E-DC05-48CC-9278-DFCEF5F0A7E1}"/>
              </a:ext>
            </a:extLst>
          </p:cNvPr>
          <p:cNvSpPr>
            <a:spLocks xmlns:a="http://schemas.openxmlformats.org/drawingml/2006/main" noGrp="1"/>
          </p:cNvSpPr>
          <p:nvPr/>
        </p:nvSpPr>
        <p:spPr>
          <a:xfrm xmlns:a="http://schemas.openxmlformats.org/drawingml/2006/main" rot="0" flipH="0" flipV="0">
            <a:off x="661988" y="1740694"/>
            <a:ext cx="533311"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75" b="1">
                <a:solidFill>
                  <a:srgbClr val="17324D"/>
                </a:solidFill>
                <a:latin typeface="Arial"/>
                <a:ea typeface="Arial"/>
                <a:cs typeface="Arial"/>
              </a:rPr>
              <a:t>SQ1</a:t>
            </a:r>
          </a:p>
        </p:txBody>
      </p:sp>
      <p:sp>
        <p:nvSpPr>
          <p:cNvPr id="10" name="TextBox 10">
            <a:extLst xmlns:a="http://schemas.openxmlformats.org/drawingml/2006/main">
              <a:ext uri="{FF2B5EF4-FFF2-40B4-BE49-F238E27FC236}">
                <a16:creationId xmlns:a16="http://schemas.microsoft.com/office/drawing/2014/main" id="{8A94B3F2-B0F6-43FC-BF91-B4572507B217}"/>
              </a:ext>
            </a:extLst>
          </p:cNvPr>
          <p:cNvSpPr>
            <a:spLocks xmlns:a="http://schemas.openxmlformats.org/drawingml/2006/main" noGrp="1"/>
          </p:cNvSpPr>
          <p:nvPr/>
        </p:nvSpPr>
        <p:spPr>
          <a:xfrm xmlns:a="http://schemas.openxmlformats.org/drawingml/2006/main" rot="0" flipH="0" flipV="0">
            <a:off x="1335405" y="1740218"/>
            <a:ext cx="4903470" cy="5219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950"/>
              </a:lnSpc>
              <a:buNone/>
            </a:pPr>
            <a:r>
              <a:rPr sz="1350">
                <a:solidFill>
                  <a:srgbClr val="20262B"/>
                </a:solidFill>
                <a:latin typeface="Arial"/>
                <a:ea typeface="Arial"/>
                <a:cs typeface="Arial"/>
              </a:rPr>
              <a:t>How do large language models change information exposure </a:t>
            </a:r>
            <a:r>
              <a:rPr sz="1350">
                <a:solidFill>
                  <a:srgbClr val="20262B"/>
                </a:solidFill>
                <a:latin typeface="Arial"/>
                <a:ea typeface="Arial"/>
                <a:cs typeface="Arial"/>
              </a:rPr>
              <a:t>and information diffusion within groups?</a:t>
            </a:r>
          </a:p>
        </p:txBody>
      </p:sp>
      <p:sp>
        <p:nvSpPr>
          <p:cNvPr id="12" name="TextBox 12">
            <a:extLst xmlns:a="http://schemas.openxmlformats.org/drawingml/2006/main">
              <a:ext uri="{FF2B5EF4-FFF2-40B4-BE49-F238E27FC236}">
                <a16:creationId xmlns:a16="http://schemas.microsoft.com/office/drawing/2014/main" id="{0FC56D5E-713A-4A42-9D83-355605096177}"/>
              </a:ext>
            </a:extLst>
          </p:cNvPr>
          <p:cNvSpPr>
            <a:spLocks xmlns:a="http://schemas.openxmlformats.org/drawingml/2006/main" noGrp="1"/>
          </p:cNvSpPr>
          <p:nvPr/>
        </p:nvSpPr>
        <p:spPr>
          <a:xfrm xmlns:a="http://schemas.openxmlformats.org/drawingml/2006/main" rot="0" flipH="0" flipV="0">
            <a:off x="661988" y="2940844"/>
            <a:ext cx="533311"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75" b="1">
                <a:solidFill>
                  <a:srgbClr val="17324D"/>
                </a:solidFill>
                <a:latin typeface="Arial"/>
                <a:ea typeface="Arial"/>
                <a:cs typeface="Arial"/>
              </a:rPr>
              <a:t>SQ2</a:t>
            </a:r>
          </a:p>
        </p:txBody>
      </p:sp>
      <p:sp>
        <p:nvSpPr>
          <p:cNvPr id="13" name="TextBox 13">
            <a:extLst xmlns:a="http://schemas.openxmlformats.org/drawingml/2006/main">
              <a:ext uri="{FF2B5EF4-FFF2-40B4-BE49-F238E27FC236}">
                <a16:creationId xmlns:a16="http://schemas.microsoft.com/office/drawing/2014/main" id="{FDFF00B3-CAEF-4BA8-B010-076A24EA2E47}"/>
              </a:ext>
            </a:extLst>
          </p:cNvPr>
          <p:cNvSpPr>
            <a:spLocks xmlns:a="http://schemas.openxmlformats.org/drawingml/2006/main" noGrp="1"/>
          </p:cNvSpPr>
          <p:nvPr/>
        </p:nvSpPr>
        <p:spPr>
          <a:xfrm xmlns:a="http://schemas.openxmlformats.org/drawingml/2006/main" rot="0" flipH="0" flipV="0">
            <a:off x="1335405" y="2940368"/>
            <a:ext cx="5109210" cy="5219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950"/>
              </a:lnSpc>
              <a:buNone/>
            </a:pPr>
            <a:r>
              <a:rPr sz="1350">
                <a:solidFill>
                  <a:srgbClr val="20262B"/>
                </a:solidFill>
                <a:latin typeface="Arial"/>
                <a:ea typeface="Arial"/>
                <a:cs typeface="Arial"/>
              </a:rPr>
              <a:t>How do changes in information exposure and diffusion affect </a:t>
            </a:r>
            <a:r>
              <a:rPr sz="1350">
                <a:solidFill>
                  <a:srgbClr val="20262B"/>
                </a:solidFill>
                <a:latin typeface="Arial"/>
                <a:ea typeface="Arial"/>
                <a:cs typeface="Arial"/>
              </a:rPr>
              <a:t>individual opinion updating and group opinion evolution?</a:t>
            </a:r>
          </a:p>
        </p:txBody>
      </p:sp>
      <p:sp>
        <p:nvSpPr>
          <p:cNvPr id="15" name="TextBox 15">
            <a:extLst xmlns:a="http://schemas.openxmlformats.org/drawingml/2006/main">
              <a:ext uri="{FF2B5EF4-FFF2-40B4-BE49-F238E27FC236}">
                <a16:creationId xmlns:a16="http://schemas.microsoft.com/office/drawing/2014/main" id="{F0CF7CC5-049A-426F-BB36-C1FDA46959A4}"/>
              </a:ext>
            </a:extLst>
          </p:cNvPr>
          <p:cNvSpPr>
            <a:spLocks xmlns:a="http://schemas.openxmlformats.org/drawingml/2006/main" noGrp="1"/>
          </p:cNvSpPr>
          <p:nvPr/>
        </p:nvSpPr>
        <p:spPr>
          <a:xfrm xmlns:a="http://schemas.openxmlformats.org/drawingml/2006/main" rot="0" flipH="0" flipV="0">
            <a:off x="661988" y="4140994"/>
            <a:ext cx="533311"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75" b="1">
                <a:solidFill>
                  <a:srgbClr val="17324D"/>
                </a:solidFill>
                <a:latin typeface="Arial"/>
                <a:ea typeface="Arial"/>
                <a:cs typeface="Arial"/>
              </a:rPr>
              <a:t>SQ3</a:t>
            </a:r>
          </a:p>
        </p:txBody>
      </p:sp>
      <p:sp>
        <p:nvSpPr>
          <p:cNvPr id="16" name="TextBox 16">
            <a:extLst xmlns:a="http://schemas.openxmlformats.org/drawingml/2006/main">
              <a:ext uri="{FF2B5EF4-FFF2-40B4-BE49-F238E27FC236}">
                <a16:creationId xmlns:a16="http://schemas.microsoft.com/office/drawing/2014/main" id="{5AD93CFE-BD8E-48A7-A588-6CCCDC39CD17}"/>
              </a:ext>
            </a:extLst>
          </p:cNvPr>
          <p:cNvSpPr>
            <a:spLocks xmlns:a="http://schemas.openxmlformats.org/drawingml/2006/main" noGrp="1"/>
          </p:cNvSpPr>
          <p:nvPr/>
        </p:nvSpPr>
        <p:spPr>
          <a:xfrm xmlns:a="http://schemas.openxmlformats.org/drawingml/2006/main" rot="0" flipH="0" flipV="0">
            <a:off x="1335405" y="4140518"/>
            <a:ext cx="5203507" cy="5219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950"/>
              </a:lnSpc>
              <a:buNone/>
            </a:pPr>
            <a:r>
              <a:rPr sz="1350">
                <a:solidFill>
                  <a:srgbClr val="20262B"/>
                </a:solidFill>
                <a:latin typeface="Arial"/>
                <a:ea typeface="Arial"/>
                <a:cs typeface="Arial"/>
              </a:rPr>
              <a:t>If these patterns of group opinion evolution are observed, </a:t>
            </a:r>
            <a:r>
              <a:rPr sz="1350">
                <a:solidFill>
                  <a:srgbClr val="20262B"/>
                </a:solidFill>
                <a:latin typeface="Arial"/>
                <a:ea typeface="Arial"/>
                <a:cs typeface="Arial"/>
              </a:rPr>
              <a:t>can technical interventions at the LLM layer attenuate them?</a:t>
            </a:r>
          </a:p>
        </p:txBody>
      </p:sp>
      <p:sp>
        <p:nvSpPr>
          <p:cNvPr id="18" name="Line 18">
            <a:extLst xmlns:a="http://schemas.openxmlformats.org/drawingml/2006/main">
              <a:ext uri="{FF2B5EF4-FFF2-40B4-BE49-F238E27FC236}">
                <a16:creationId xmlns:a16="http://schemas.microsoft.com/office/drawing/2014/main" id="{D3EC458D-32E2-4DF1-8840-EAF67F8B872D}"/>
              </a:ext>
            </a:extLst>
          </p:cNvPr>
          <p:cNvSpPr>
            <a:spLocks xmlns:a="http://schemas.openxmlformats.org/drawingml/2006/main" noGrp="1"/>
          </p:cNvSpPr>
          <p:nvPr/>
        </p:nvSpPr>
        <p:spPr>
          <a:xfrm xmlns:a="http://schemas.openxmlformats.org/drawingml/2006/main">
            <a:off x="6572250" y="1314450"/>
            <a:ext cx="9525" cy="4667250"/>
          </a:xfrm>
          <a:custGeom xmlns:a="http://schemas.openxmlformats.org/drawingml/2006/main">
            <a:rect l="l" t="t" r="r" b="b"/>
            <a:pathLst>
              <a:path w="9525" h="4667250">
                <a:moveTo>
                  <a:pt x="0" y="0"/>
                </a:moveTo>
                <a:lnTo>
                  <a:pt x="0" y="4667250"/>
                </a:lnTo>
              </a:path>
            </a:pathLst>
          </a:custGeom>
          <a:noFill xmlns:a="http://schemas.openxmlformats.org/drawingml/2006/main"/>
          <a:ln xmlns:a="http://schemas.openxmlformats.org/drawingml/2006/main" w="9525">
            <a:solidFill>
              <a:srgbClr val="D8DEE3"/>
            </a:solidFill>
          </a:ln>
        </p:spPr>
      </p:sp>
      <p:sp>
        <p:nvSpPr>
          <p:cNvPr id="19" name="TextBox 19">
            <a:extLst xmlns:a="http://schemas.openxmlformats.org/drawingml/2006/main">
              <a:ext uri="{FF2B5EF4-FFF2-40B4-BE49-F238E27FC236}">
                <a16:creationId xmlns:a16="http://schemas.microsoft.com/office/drawing/2014/main" id="{D75E46BF-F585-4ECC-B122-EE3DF758B05E}"/>
              </a:ext>
            </a:extLst>
          </p:cNvPr>
          <p:cNvSpPr>
            <a:spLocks xmlns:a="http://schemas.openxmlformats.org/drawingml/2006/main" noGrp="1"/>
          </p:cNvSpPr>
          <p:nvPr/>
        </p:nvSpPr>
        <p:spPr>
          <a:xfrm xmlns:a="http://schemas.openxmlformats.org/drawingml/2006/main" rot="0" flipH="0" flipV="0">
            <a:off x="6939915" y="1296352"/>
            <a:ext cx="1276326"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POSSIBLE RESULTS</a:t>
            </a:r>
          </a:p>
        </p:txBody>
      </p:sp>
      <p:sp>
        <p:nvSpPr>
          <p:cNvPr id="20" name="TextBox 20">
            <a:extLst xmlns:a="http://schemas.openxmlformats.org/drawingml/2006/main">
              <a:ext uri="{FF2B5EF4-FFF2-40B4-BE49-F238E27FC236}">
                <a16:creationId xmlns:a16="http://schemas.microsoft.com/office/drawing/2014/main" id="{FEAE9261-9434-4B18-A75A-9765DC455194}"/>
              </a:ext>
            </a:extLst>
          </p:cNvPr>
          <p:cNvSpPr>
            <a:spLocks xmlns:a="http://schemas.openxmlformats.org/drawingml/2006/main" noGrp="1"/>
          </p:cNvSpPr>
          <p:nvPr/>
        </p:nvSpPr>
        <p:spPr>
          <a:xfrm xmlns:a="http://schemas.openxmlformats.org/drawingml/2006/main" rot="0" flipH="0" flipV="0">
            <a:off x="6936105" y="1806892"/>
            <a:ext cx="1499223"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20262B"/>
                </a:solidFill>
                <a:latin typeface="Arial"/>
                <a:ea typeface="Arial"/>
                <a:cs typeface="Arial"/>
              </a:rPr>
              <a:t>1 · Convergence</a:t>
            </a:r>
          </a:p>
        </p:txBody>
      </p:sp>
      <p:sp>
        <p:nvSpPr>
          <p:cNvPr id="21" name="TextBox 21">
            <a:extLst xmlns:a="http://schemas.openxmlformats.org/drawingml/2006/main">
              <a:ext uri="{FF2B5EF4-FFF2-40B4-BE49-F238E27FC236}">
                <a16:creationId xmlns:a16="http://schemas.microsoft.com/office/drawing/2014/main" id="{C7AE515C-C1EE-45E0-A6FF-0E6B41E0900D}"/>
              </a:ext>
            </a:extLst>
          </p:cNvPr>
          <p:cNvSpPr>
            <a:spLocks xmlns:a="http://schemas.openxmlformats.org/drawingml/2006/main" noGrp="1"/>
          </p:cNvSpPr>
          <p:nvPr/>
        </p:nvSpPr>
        <p:spPr>
          <a:xfrm xmlns:a="http://schemas.openxmlformats.org/drawingml/2006/main" rot="0" flipH="0" flipV="0">
            <a:off x="6938010" y="2118360"/>
            <a:ext cx="4061460" cy="4629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a:solidFill>
                  <a:srgbClr val="20262B"/>
                </a:solidFill>
                <a:latin typeface="Arial"/>
                <a:ea typeface="Arial"/>
                <a:cs typeface="Arial"/>
              </a:rPr>
              <a:t>A shared LLM information source moves group opinions </a:t>
            </a:r>
            <a:r>
              <a:rPr sz="1200">
                <a:solidFill>
                  <a:srgbClr val="20262B"/>
                </a:solidFill>
                <a:latin typeface="Arial"/>
                <a:ea typeface="Arial"/>
                <a:cs typeface="Arial"/>
              </a:rPr>
              <a:t>toward convergence.</a:t>
            </a:r>
          </a:p>
        </p:txBody>
      </p:sp>
      <p:sp>
        <p:nvSpPr>
          <p:cNvPr id="22" name="Line 22">
            <a:extLst xmlns:a="http://schemas.openxmlformats.org/drawingml/2006/main">
              <a:ext uri="{FF2B5EF4-FFF2-40B4-BE49-F238E27FC236}">
                <a16:creationId xmlns:a16="http://schemas.microsoft.com/office/drawing/2014/main" id="{69B5E5FF-13F6-4EAD-86AF-E73DF77732D0}"/>
              </a:ext>
            </a:extLst>
          </p:cNvPr>
          <p:cNvSpPr>
            <a:spLocks xmlns:a="http://schemas.openxmlformats.org/drawingml/2006/main" noGrp="1"/>
          </p:cNvSpPr>
          <p:nvPr/>
        </p:nvSpPr>
        <p:spPr>
          <a:xfrm xmlns:a="http://schemas.openxmlformats.org/drawingml/2006/main" rot="0" flipH="0" flipV="0">
            <a:off x="6953250" y="2714625"/>
            <a:ext cx="4457700" cy="9525"/>
          </a:xfrm>
          <a:custGeom xmlns:a="http://schemas.openxmlformats.org/drawingml/2006/main">
            <a:rect l="l" t="t" r="r" b="b"/>
            <a:pathLst>
              <a:path w="4457700" h="9525">
                <a:moveTo>
                  <a:pt x="0" y="0"/>
                </a:moveTo>
                <a:lnTo>
                  <a:pt x="4457700" y="0"/>
                </a:lnTo>
              </a:path>
            </a:pathLst>
          </a:custGeom>
          <a:noFill xmlns:a="http://schemas.openxmlformats.org/drawingml/2006/main"/>
          <a:ln xmlns:a="http://schemas.openxmlformats.org/drawingml/2006/main" w="9525">
            <a:solidFill>
              <a:srgbClr val="D8DEE3"/>
            </a:solidFill>
          </a:ln>
        </p:spPr>
      </p:sp>
      <p:sp>
        <p:nvSpPr>
          <p:cNvPr id="23" name="TextBox 23">
            <a:extLst xmlns:a="http://schemas.openxmlformats.org/drawingml/2006/main">
              <a:ext uri="{FF2B5EF4-FFF2-40B4-BE49-F238E27FC236}">
                <a16:creationId xmlns:a16="http://schemas.microsoft.com/office/drawing/2014/main" id="{AF31C7C2-95C5-4295-9F2F-4577A6EDFC5F}"/>
              </a:ext>
            </a:extLst>
          </p:cNvPr>
          <p:cNvSpPr>
            <a:spLocks xmlns:a="http://schemas.openxmlformats.org/drawingml/2006/main" noGrp="1"/>
          </p:cNvSpPr>
          <p:nvPr/>
        </p:nvSpPr>
        <p:spPr>
          <a:xfrm xmlns:a="http://schemas.openxmlformats.org/drawingml/2006/main" rot="0" flipH="0" flipV="0">
            <a:off x="6936105" y="2987992"/>
            <a:ext cx="1773307"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20262B"/>
                </a:solidFill>
                <a:latin typeface="Arial"/>
                <a:ea typeface="Arial"/>
                <a:cs typeface="Arial"/>
              </a:rPr>
              <a:t>2 · Differentiation</a:t>
            </a:r>
          </a:p>
        </p:txBody>
      </p:sp>
      <p:sp>
        <p:nvSpPr>
          <p:cNvPr id="24" name="TextBox 24">
            <a:extLst xmlns:a="http://schemas.openxmlformats.org/drawingml/2006/main">
              <a:ext uri="{FF2B5EF4-FFF2-40B4-BE49-F238E27FC236}">
                <a16:creationId xmlns:a16="http://schemas.microsoft.com/office/drawing/2014/main" id="{5C5330A1-6E62-4C13-9C99-08CA995CE410}"/>
              </a:ext>
            </a:extLst>
          </p:cNvPr>
          <p:cNvSpPr>
            <a:spLocks xmlns:a="http://schemas.openxmlformats.org/drawingml/2006/main" noGrp="1"/>
          </p:cNvSpPr>
          <p:nvPr/>
        </p:nvSpPr>
        <p:spPr>
          <a:xfrm xmlns:a="http://schemas.openxmlformats.org/drawingml/2006/main" rot="0" flipH="0" flipV="0">
            <a:off x="6938010" y="3299460"/>
            <a:ext cx="4922520" cy="4629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a:solidFill>
                  <a:srgbClr val="20262B"/>
                </a:solidFill>
                <a:latin typeface="Arial"/>
                <a:ea typeface="Arial"/>
                <a:cs typeface="Arial"/>
              </a:rPr>
              <a:t>Stance-conditioned generation, selective sharing, or bounded </a:t>
            </a:r>
            <a:r>
              <a:rPr sz="1200">
                <a:solidFill>
                  <a:srgbClr val="20262B"/>
                </a:solidFill>
                <a:latin typeface="Arial"/>
                <a:ea typeface="Arial"/>
                <a:cs typeface="Arial"/>
              </a:rPr>
              <a:t>acceptance produces clustering, polarization, or fragmentation.</a:t>
            </a:r>
          </a:p>
        </p:txBody>
      </p:sp>
      <p:sp>
        <p:nvSpPr>
          <p:cNvPr id="25" name="Line 25">
            <a:extLst xmlns:a="http://schemas.openxmlformats.org/drawingml/2006/main">
              <a:ext uri="{FF2B5EF4-FFF2-40B4-BE49-F238E27FC236}">
                <a16:creationId xmlns:a16="http://schemas.microsoft.com/office/drawing/2014/main" id="{77E07522-588B-430C-90B8-DEC2D8F12674}"/>
              </a:ext>
            </a:extLst>
          </p:cNvPr>
          <p:cNvSpPr>
            <a:spLocks xmlns:a="http://schemas.openxmlformats.org/drawingml/2006/main" noGrp="1"/>
          </p:cNvSpPr>
          <p:nvPr/>
        </p:nvSpPr>
        <p:spPr>
          <a:xfrm xmlns:a="http://schemas.openxmlformats.org/drawingml/2006/main" rot="0" flipH="0" flipV="0">
            <a:off x="6953250" y="3895725"/>
            <a:ext cx="4457700" cy="9525"/>
          </a:xfrm>
          <a:custGeom xmlns:a="http://schemas.openxmlformats.org/drawingml/2006/main">
            <a:rect l="l" t="t" r="r" b="b"/>
            <a:pathLst>
              <a:path w="4457700" h="9525">
                <a:moveTo>
                  <a:pt x="0" y="0"/>
                </a:moveTo>
                <a:lnTo>
                  <a:pt x="4457700" y="0"/>
                </a:lnTo>
              </a:path>
            </a:pathLst>
          </a:custGeom>
          <a:noFill xmlns:a="http://schemas.openxmlformats.org/drawingml/2006/main"/>
          <a:ln xmlns:a="http://schemas.openxmlformats.org/drawingml/2006/main" w="9525">
            <a:solidFill>
              <a:srgbClr val="D8DEE3"/>
            </a:solidFill>
          </a:ln>
        </p:spPr>
      </p:sp>
      <p:sp>
        <p:nvSpPr>
          <p:cNvPr id="26" name="TextBox 26">
            <a:extLst xmlns:a="http://schemas.openxmlformats.org/drawingml/2006/main">
              <a:ext uri="{FF2B5EF4-FFF2-40B4-BE49-F238E27FC236}">
                <a16:creationId xmlns:a16="http://schemas.microsoft.com/office/drawing/2014/main" id="{FD42CBBD-40D3-4248-9342-213FDD14C26A}"/>
              </a:ext>
            </a:extLst>
          </p:cNvPr>
          <p:cNvSpPr>
            <a:spLocks xmlns:a="http://schemas.openxmlformats.org/drawingml/2006/main" noGrp="1"/>
          </p:cNvSpPr>
          <p:nvPr/>
        </p:nvSpPr>
        <p:spPr>
          <a:xfrm xmlns:a="http://schemas.openxmlformats.org/drawingml/2006/main" rot="0" flipH="0" flipV="0">
            <a:off x="6936105" y="4169092"/>
            <a:ext cx="3654092"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20262B"/>
                </a:solidFill>
                <a:latin typeface="Arial"/>
                <a:ea typeface="Arial"/>
                <a:cs typeface="Arial"/>
              </a:rPr>
              <a:t>3 · No measurable distributional change</a:t>
            </a:r>
          </a:p>
        </p:txBody>
      </p:sp>
      <p:sp>
        <p:nvSpPr>
          <p:cNvPr id="27" name="TextBox 27">
            <a:extLst xmlns:a="http://schemas.openxmlformats.org/drawingml/2006/main">
              <a:ext uri="{FF2B5EF4-FFF2-40B4-BE49-F238E27FC236}">
                <a16:creationId xmlns:a16="http://schemas.microsoft.com/office/drawing/2014/main" id="{672CE293-E8A2-4942-83D9-387ADC013B51}"/>
              </a:ext>
            </a:extLst>
          </p:cNvPr>
          <p:cNvSpPr>
            <a:spLocks xmlns:a="http://schemas.openxmlformats.org/drawingml/2006/main" noGrp="1"/>
          </p:cNvSpPr>
          <p:nvPr/>
        </p:nvSpPr>
        <p:spPr>
          <a:xfrm xmlns:a="http://schemas.openxmlformats.org/drawingml/2006/main" rot="0" flipH="0" flipV="0">
            <a:off x="6938010" y="4480560"/>
            <a:ext cx="4091940" cy="4629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a:solidFill>
                  <a:srgbClr val="20262B"/>
                </a:solidFill>
                <a:latin typeface="Arial"/>
                <a:ea typeface="Arial"/>
                <a:cs typeface="Arial"/>
              </a:rPr>
              <a:t>Exposure and diffusion change, while the group opinion </a:t>
            </a:r>
            <a:r>
              <a:rPr sz="1200">
                <a:solidFill>
                  <a:srgbClr val="20262B"/>
                </a:solidFill>
                <a:latin typeface="Arial"/>
                <a:ea typeface="Arial"/>
                <a:cs typeface="Arial"/>
              </a:rPr>
              <a:t>distribution does not.</a:t>
            </a:r>
          </a:p>
        </p:txBody>
      </p:sp>
      <p:sp>
        <p:nvSpPr>
          <p:cNvPr id="29" name="Line 29">
            <a:extLst xmlns:a="http://schemas.openxmlformats.org/drawingml/2006/main">
              <a:ext uri="{FF2B5EF4-FFF2-40B4-BE49-F238E27FC236}">
                <a16:creationId xmlns:a16="http://schemas.microsoft.com/office/drawing/2014/main" id="{76227D07-B004-4A7A-B862-A4910F8DCA57}"/>
              </a:ext>
            </a:extLst>
          </p:cNvPr>
          <p:cNvSpPr>
            <a:spLocks xmlns:a="http://schemas.openxmlformats.org/drawingml/2006/main" noGrp="1"/>
          </p:cNvSpPr>
          <p:nvPr/>
        </p:nvSpPr>
        <p:spPr>
          <a:xfrm xmlns:a="http://schemas.openxmlformats.org/drawingml/2006/main" rot="0" flipH="0" flipV="0">
            <a:off x="685800" y="5543550"/>
            <a:ext cx="10725150" cy="9525"/>
          </a:xfrm>
          <a:custGeom xmlns:a="http://schemas.openxmlformats.org/drawingml/2006/main">
            <a:rect l="l" t="t" r="r" b="b"/>
            <a:pathLst>
              <a:path w="10725150" h="9525">
                <a:moveTo>
                  <a:pt x="0" y="0"/>
                </a:moveTo>
                <a:lnTo>
                  <a:pt x="10725150" y="0"/>
                </a:lnTo>
              </a:path>
            </a:pathLst>
          </a:custGeom>
          <a:noFill xmlns:a="http://schemas.openxmlformats.org/drawingml/2006/main"/>
          <a:ln xmlns:a="http://schemas.openxmlformats.org/drawingml/2006/main" w="9525">
            <a:solidFill>
              <a:srgbClr val="D8DEE3"/>
            </a:solidFill>
          </a:ln>
        </p:spPr>
      </p:sp>
      <p:sp>
        <p:nvSpPr>
          <p:cNvPr id="30" name="TextBox 30">
            <a:extLst xmlns:a="http://schemas.openxmlformats.org/drawingml/2006/main">
              <a:ext uri="{FF2B5EF4-FFF2-40B4-BE49-F238E27FC236}">
                <a16:creationId xmlns:a16="http://schemas.microsoft.com/office/drawing/2014/main" id="{B54E129E-9A2A-4996-A135-635C445467E7}"/>
              </a:ext>
            </a:extLst>
          </p:cNvPr>
          <p:cNvSpPr>
            <a:spLocks xmlns:a="http://schemas.openxmlformats.org/drawingml/2006/main" noGrp="1"/>
          </p:cNvSpPr>
          <p:nvPr/>
        </p:nvSpPr>
        <p:spPr>
          <a:xfrm xmlns:a="http://schemas.openxmlformats.org/drawingml/2006/main" rot="0" flipH="0" flipV="0">
            <a:off x="672465" y="5715952"/>
            <a:ext cx="6254115" cy="4133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575"/>
              </a:lnSpc>
              <a:buNone/>
            </a:pPr>
            <a:r>
              <a:rPr sz="1050">
                <a:solidFill>
                  <a:srgbClr val="7A8792"/>
                </a:solidFill>
                <a:latin typeface="Arial"/>
                <a:ea typeface="Arial"/>
                <a:cs typeface="Arial"/>
              </a:rPr>
              <a:t>The outcomes are reported separately: convergence, clustering, polarization, fragmentation, </a:t>
            </a:r>
            <a:r>
              <a:rPr sz="1050">
                <a:solidFill>
                  <a:srgbClr val="7A8792"/>
                </a:solidFill>
                <a:latin typeface="Arial"/>
                <a:ea typeface="Arial"/>
                <a:cs typeface="Arial"/>
              </a:rPr>
              <a:t>and no distributional change are not interchangeable.</a:t>
            </a:r>
          </a:p>
        </p:txBody>
      </p:sp>
      <p:sp>
        <p:nvSpPr>
          <p:cNvPr id="32" name="TextBox 32">
            <a:extLst xmlns:a="http://schemas.openxmlformats.org/drawingml/2006/main">
              <a:ext uri="{FF2B5EF4-FFF2-40B4-BE49-F238E27FC236}">
                <a16:creationId xmlns:a16="http://schemas.microsoft.com/office/drawing/2014/main" id="{1F628C9C-6D1A-454D-82B9-BEADB4042972}"/>
              </a:ext>
            </a:extLst>
          </p:cNvPr>
          <p:cNvSpPr>
            <a:spLocks xmlns:a="http://schemas.openxmlformats.org/drawingml/2006/main" noGrp="1"/>
          </p:cNvSpPr>
          <p:nvPr/>
        </p:nvSpPr>
        <p:spPr>
          <a:xfrm xmlns:a="http://schemas.openxmlformats.org/drawingml/2006/main">
            <a:off x="11362754" y="6398895"/>
            <a:ext cx="154877"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00">
                <a:solidFill>
                  <a:srgbClr val="7A8792"/>
                </a:solidFill>
                <a:latin typeface="Arial"/>
                <a:ea typeface="Arial"/>
                <a:cs typeface="Arial"/>
              </a:rPr>
              <a:t>06</a:t>
            </a:r>
          </a:p>
        </p:txBody>
      </p:sp>
    </p:spTree>
    <p:extLst>
      <p:ext uri="{BB962C8B-B14F-4D97-AF65-F5344CB8AC3E}">
        <p14:creationId xmlns:p14="http://schemas.microsoft.com/office/powerpoint/2010/main" val="109269105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5D7CEA07-3E42-4636-9829-C84A1CC971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sp>
      <p:sp>
        <p:nvSpPr>
          <p:cNvPr id="3" name="TextBox 3">
            <a:extLst xmlns:a="http://schemas.openxmlformats.org/drawingml/2006/main">
              <a:ext uri="{FF2B5EF4-FFF2-40B4-BE49-F238E27FC236}">
                <a16:creationId xmlns:a16="http://schemas.microsoft.com/office/drawing/2014/main" id="{D848305F-404B-456C-86C7-876D0A4F73B1}"/>
              </a:ext>
            </a:extLst>
          </p:cNvPr>
          <p:cNvSpPr>
            <a:spLocks xmlns:a="http://schemas.openxmlformats.org/drawingml/2006/main" noGrp="1"/>
          </p:cNvSpPr>
          <p:nvPr/>
        </p:nvSpPr>
        <p:spPr>
          <a:xfrm xmlns:a="http://schemas.openxmlformats.org/drawingml/2006/main" rot="0" flipH="0" flipV="0">
            <a:off x="541020" y="464820"/>
            <a:ext cx="8529218"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20262B"/>
                </a:solidFill>
                <a:latin typeface="Arial"/>
                <a:ea typeface="Arial"/>
                <a:cs typeface="Arial"/>
              </a:rPr>
              <a:t>Research Method: Hybrid ABM with Opinion Dynamics</a:t>
            </a:r>
          </a:p>
        </p:txBody>
      </p:sp>
      <p:sp>
        <p:nvSpPr>
          <p:cNvPr id="4" name="Line 4">
            <a:extLst xmlns:a="http://schemas.openxmlformats.org/drawingml/2006/main">
              <a:ext uri="{FF2B5EF4-FFF2-40B4-BE49-F238E27FC236}">
                <a16:creationId xmlns:a16="http://schemas.microsoft.com/office/drawing/2014/main" id="{D47BA13F-9514-4392-9AAB-9B62AD8F2E87}"/>
              </a:ext>
            </a:extLst>
          </p:cNvPr>
          <p:cNvSpPr>
            <a:spLocks xmlns:a="http://schemas.openxmlformats.org/drawingml/2006/main" noGrp="1"/>
          </p:cNvSpPr>
          <p:nvPr/>
        </p:nvSpPr>
        <p:spPr>
          <a:xfrm xmlns:a="http://schemas.openxmlformats.org/drawingml/2006/main" rot="0" flipH="0" flipV="0">
            <a:off x="571500" y="971550"/>
            <a:ext cx="11049000" cy="9525"/>
          </a:xfrm>
          <a:custGeom xmlns:a="http://schemas.openxmlformats.org/drawingml/2006/main">
            <a:rect l="l" t="t" r="r" b="b"/>
            <a:pathLst>
              <a:path w="11049000" h="9525">
                <a:moveTo>
                  <a:pt x="0" y="0"/>
                </a:moveTo>
                <a:lnTo>
                  <a:pt x="11049000" y="0"/>
                </a:lnTo>
              </a:path>
            </a:pathLst>
          </a:custGeom>
          <a:noFill xmlns:a="http://schemas.openxmlformats.org/drawingml/2006/main"/>
          <a:ln xmlns:a="http://schemas.openxmlformats.org/drawingml/2006/main" w="9525">
            <a:solidFill>
              <a:srgbClr val="D8DEE3"/>
            </a:solidFill>
          </a:ln>
        </p:spPr>
      </p:sp>
      <p:sp>
        <p:nvSpPr>
          <p:cNvPr id="5" name="Rectangle 5">
            <a:extLst xmlns:a="http://schemas.openxmlformats.org/drawingml/2006/main">
              <a:ext uri="{FF2B5EF4-FFF2-40B4-BE49-F238E27FC236}">
                <a16:creationId xmlns:a16="http://schemas.microsoft.com/office/drawing/2014/main" id="{2DE32A23-55C8-426A-AD6B-700797E0F135}"/>
              </a:ext>
            </a:extLst>
          </p:cNvPr>
          <p:cNvSpPr>
            <a:spLocks xmlns:a="http://schemas.openxmlformats.org/drawingml/2006/main" noGrp="1"/>
          </p:cNvSpPr>
          <p:nvPr/>
        </p:nvSpPr>
        <p:spPr>
          <a:xfrm xmlns:a="http://schemas.openxmlformats.org/drawingml/2006/main" rot="0" flipH="0" flipV="0">
            <a:off x="571500" y="952500"/>
            <a:ext cx="1104900" cy="28575"/>
          </a:xfrm>
          <a:prstGeom xmlns:a="http://schemas.openxmlformats.org/drawingml/2006/main" prst="rect">
            <a:avLst/>
          </a:prstGeom>
          <a:solidFill xmlns:a="http://schemas.openxmlformats.org/drawingml/2006/main">
            <a:srgbClr val="17324D"/>
          </a:solidFill>
          <a:ln xmlns:a="http://schemas.openxmlformats.org/drawingml/2006/main">
            <a:noFill/>
          </a:ln>
        </p:spPr>
      </p:sp>
      <p:sp>
        <p:nvSpPr>
          <p:cNvPr id="7" name="TextBox 7">
            <a:extLst xmlns:a="http://schemas.openxmlformats.org/drawingml/2006/main">
              <a:ext uri="{FF2B5EF4-FFF2-40B4-BE49-F238E27FC236}">
                <a16:creationId xmlns:a16="http://schemas.microsoft.com/office/drawing/2014/main" id="{33084296-E80E-458C-83B4-5922C7B06A72}"/>
              </a:ext>
            </a:extLst>
          </p:cNvPr>
          <p:cNvSpPr>
            <a:spLocks xmlns:a="http://schemas.openxmlformats.org/drawingml/2006/main" noGrp="1"/>
          </p:cNvSpPr>
          <p:nvPr/>
        </p:nvSpPr>
        <p:spPr>
          <a:xfrm xmlns:a="http://schemas.openxmlformats.org/drawingml/2006/main" rot="0" flipH="0" flipV="0">
            <a:off x="4869763" y="1248728"/>
            <a:ext cx="2452473"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050" b="1">
                <a:solidFill>
                  <a:srgbClr val="17324D"/>
                </a:solidFill>
                <a:latin typeface="Arial"/>
                <a:ea typeface="Arial"/>
                <a:cs typeface="Arial"/>
              </a:rPr>
              <a:t>LLM ROLE 1 · INFORMATION SOURCE</a:t>
            </a:r>
          </a:p>
        </p:txBody>
      </p:sp>
      <p:sp>
        <p:nvSpPr>
          <p:cNvPr id="8" name="TextBox 8">
            <a:extLst xmlns:a="http://schemas.openxmlformats.org/drawingml/2006/main">
              <a:ext uri="{FF2B5EF4-FFF2-40B4-BE49-F238E27FC236}">
                <a16:creationId xmlns:a16="http://schemas.microsoft.com/office/drawing/2014/main" id="{B421D42A-0137-4F80-9663-260AB2C7C5D2}"/>
              </a:ext>
            </a:extLst>
          </p:cNvPr>
          <p:cNvSpPr>
            <a:spLocks xmlns:a="http://schemas.openxmlformats.org/drawingml/2006/main" noGrp="1"/>
          </p:cNvSpPr>
          <p:nvPr/>
        </p:nvSpPr>
        <p:spPr>
          <a:xfrm xmlns:a="http://schemas.openxmlformats.org/drawingml/2006/main" rot="0" flipH="0" flipV="0">
            <a:off x="3197947" y="1538764"/>
            <a:ext cx="5796105" cy="25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75">
                <a:solidFill>
                  <a:srgbClr val="20262B"/>
                </a:solidFill>
                <a:latin typeface="Arial"/>
                <a:ea typeface="Arial"/>
                <a:cs typeface="Arial"/>
              </a:rPr>
              <a:t>Policy answers · model, prompt, and routing as treatment conditions</a:t>
            </a:r>
          </a:p>
        </p:txBody>
      </p:sp>
      <p:sp>
        <p:nvSpPr>
          <p:cNvPr id="9" name="Line 9">
            <a:extLst xmlns:a="http://schemas.openxmlformats.org/drawingml/2006/main">
              <a:ext uri="{FF2B5EF4-FFF2-40B4-BE49-F238E27FC236}">
                <a16:creationId xmlns:a16="http://schemas.microsoft.com/office/drawing/2014/main" id="{56027314-B858-42EE-8011-40EE56512EA8}"/>
              </a:ext>
            </a:extLst>
          </p:cNvPr>
          <p:cNvSpPr>
            <a:spLocks xmlns:a="http://schemas.openxmlformats.org/drawingml/2006/main" noGrp="1"/>
          </p:cNvSpPr>
          <p:nvPr/>
        </p:nvSpPr>
        <p:spPr>
          <a:xfrm xmlns:a="http://schemas.openxmlformats.org/drawingml/2006/main" rot="0" flipH="0" flipV="0">
            <a:off x="6096000" y="1828800"/>
            <a:ext cx="9525" cy="276225"/>
          </a:xfrm>
          <a:custGeom xmlns:a="http://schemas.openxmlformats.org/drawingml/2006/main">
            <a:rect l="l" t="t" r="r" b="b"/>
            <a:pathLst>
              <a:path w="9525" h="276225">
                <a:moveTo>
                  <a:pt x="0" y="0"/>
                </a:moveTo>
                <a:lnTo>
                  <a:pt x="0" y="276225"/>
                </a:lnTo>
              </a:path>
            </a:pathLst>
          </a:custGeom>
          <a:noFill xmlns:a="http://schemas.openxmlformats.org/drawingml/2006/main"/>
          <a:ln xmlns:a="http://schemas.openxmlformats.org/drawingml/2006/main" w="19050">
            <a:solidFill>
              <a:srgbClr val="17324D"/>
            </a:solidFill>
          </a:ln>
        </p:spPr>
      </p:sp>
      <p:sp>
        <p:nvSpPr>
          <p:cNvPr id="10" name="Polygon 10">
            <a:extLst xmlns:a="http://schemas.openxmlformats.org/drawingml/2006/main">
              <a:ext uri="{FF2B5EF4-FFF2-40B4-BE49-F238E27FC236}">
                <a16:creationId xmlns:a16="http://schemas.microsoft.com/office/drawing/2014/main" id="{B5B4B10D-76AF-4718-A486-93CCBF6608A6}"/>
              </a:ext>
            </a:extLst>
          </p:cNvPr>
          <p:cNvSpPr>
            <a:spLocks xmlns:a="http://schemas.openxmlformats.org/drawingml/2006/main" noGrp="1"/>
          </p:cNvSpPr>
          <p:nvPr/>
        </p:nvSpPr>
        <p:spPr>
          <a:xfrm xmlns:a="http://schemas.openxmlformats.org/drawingml/2006/main" rot="0" flipH="0" flipV="0">
            <a:off x="6038850" y="2085975"/>
            <a:ext cx="114300" cy="114300"/>
          </a:xfrm>
          <a:custGeom xmlns:a="http://schemas.openxmlformats.org/drawingml/2006/main">
            <a:rect l="l" t="t" r="r" b="b"/>
            <a:pathLst>
              <a:path w="114300" h="114300">
                <a:moveTo>
                  <a:pt x="57150" y="114300"/>
                </a:moveTo>
                <a:lnTo>
                  <a:pt x="0" y="0"/>
                </a:lnTo>
                <a:lnTo>
                  <a:pt x="114300" y="0"/>
                </a:lnTo>
                <a:close/>
              </a:path>
            </a:pathLst>
          </a:custGeom>
          <a:solidFill xmlns:a="http://schemas.openxmlformats.org/drawingml/2006/main">
            <a:srgbClr val="17324D"/>
          </a:solidFill>
          <a:ln xmlns:a="http://schemas.openxmlformats.org/drawingml/2006/main">
            <a:noFill/>
          </a:ln>
        </p:spPr>
      </p:sp>
      <p:sp>
        <p:nvSpPr>
          <p:cNvPr id="12" name="TextBox 12">
            <a:extLst xmlns:a="http://schemas.openxmlformats.org/drawingml/2006/main">
              <a:ext uri="{FF2B5EF4-FFF2-40B4-BE49-F238E27FC236}">
                <a16:creationId xmlns:a16="http://schemas.microsoft.com/office/drawing/2014/main" id="{44B6CC51-BD2A-467E-9B9B-54765F638F4A}"/>
              </a:ext>
            </a:extLst>
          </p:cNvPr>
          <p:cNvSpPr>
            <a:spLocks xmlns:a="http://schemas.openxmlformats.org/drawingml/2006/main" noGrp="1"/>
          </p:cNvSpPr>
          <p:nvPr/>
        </p:nvSpPr>
        <p:spPr>
          <a:xfrm xmlns:a="http://schemas.openxmlformats.org/drawingml/2006/main" rot="0" flipH="0" flipV="0">
            <a:off x="634365" y="2687002"/>
            <a:ext cx="82792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HUMAN DATA</a:t>
            </a:r>
          </a:p>
        </p:txBody>
      </p:sp>
      <p:sp>
        <p:nvSpPr>
          <p:cNvPr id="13" name="TextBox 13">
            <a:extLst xmlns:a="http://schemas.openxmlformats.org/drawingml/2006/main">
              <a:ext uri="{FF2B5EF4-FFF2-40B4-BE49-F238E27FC236}">
                <a16:creationId xmlns:a16="http://schemas.microsoft.com/office/drawing/2014/main" id="{6C4034B3-25CF-420B-BDB5-9B93A5158951}"/>
              </a:ext>
            </a:extLst>
          </p:cNvPr>
          <p:cNvSpPr>
            <a:spLocks xmlns:a="http://schemas.openxmlformats.org/drawingml/2006/main" noGrp="1"/>
          </p:cNvSpPr>
          <p:nvPr/>
        </p:nvSpPr>
        <p:spPr>
          <a:xfrm xmlns:a="http://schemas.openxmlformats.org/drawingml/2006/main" rot="0" flipH="0" flipV="0">
            <a:off x="631508" y="3005614"/>
            <a:ext cx="2192505" cy="25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75" b="1">
                <a:solidFill>
                  <a:srgbClr val="20262B"/>
                </a:solidFill>
                <a:latin typeface="Arial"/>
                <a:ea typeface="Arial"/>
                <a:cs typeface="Arial"/>
              </a:rPr>
              <a:t>Surveys and experiments</a:t>
            </a:r>
          </a:p>
        </p:txBody>
      </p:sp>
      <p:sp>
        <p:nvSpPr>
          <p:cNvPr id="14" name="TextBox 14">
            <a:extLst xmlns:a="http://schemas.openxmlformats.org/drawingml/2006/main">
              <a:ext uri="{FF2B5EF4-FFF2-40B4-BE49-F238E27FC236}">
                <a16:creationId xmlns:a16="http://schemas.microsoft.com/office/drawing/2014/main" id="{23F5902E-77ED-4317-95A9-5B60C3FB3987}"/>
              </a:ext>
            </a:extLst>
          </p:cNvPr>
          <p:cNvSpPr>
            <a:spLocks xmlns:a="http://schemas.openxmlformats.org/drawingml/2006/main" noGrp="1"/>
          </p:cNvSpPr>
          <p:nvPr/>
        </p:nvSpPr>
        <p:spPr>
          <a:xfrm xmlns:a="http://schemas.openxmlformats.org/drawingml/2006/main" rot="0" flipH="0" flipV="0">
            <a:off x="632460" y="3318510"/>
            <a:ext cx="1783080" cy="701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00"/>
              </a:lnSpc>
              <a:buNone/>
            </a:pPr>
            <a:r>
              <a:rPr sz="1200">
                <a:solidFill>
                  <a:srgbClr val="20262B"/>
                </a:solidFill>
                <a:latin typeface="Arial"/>
                <a:ea typeface="Arial"/>
                <a:cs typeface="Arial"/>
              </a:rPr>
              <a:t>Population initialization </a:t>
            </a:r>
            <a:r>
              <a:rPr sz="1200">
                <a:solidFill>
                  <a:srgbClr val="20262B"/>
                </a:solidFill>
                <a:latin typeface="Arial"/>
                <a:ea typeface="Arial"/>
                <a:cs typeface="Arial"/>
              </a:rPr>
              <a:t>Parameter calibration </a:t>
            </a:r>
            <a:r>
              <a:rPr sz="1200">
                <a:solidFill>
                  <a:srgbClr val="20262B"/>
                </a:solidFill>
                <a:latin typeface="Arial"/>
                <a:ea typeface="Arial"/>
                <a:cs typeface="Arial"/>
              </a:rPr>
              <a:t>Held-out observations</a:t>
            </a:r>
          </a:p>
        </p:txBody>
      </p:sp>
      <p:sp>
        <p:nvSpPr>
          <p:cNvPr id="15" name="Line 15">
            <a:extLst xmlns:a="http://schemas.openxmlformats.org/drawingml/2006/main">
              <a:ext uri="{FF2B5EF4-FFF2-40B4-BE49-F238E27FC236}">
                <a16:creationId xmlns:a16="http://schemas.microsoft.com/office/drawing/2014/main" id="{6256CB73-C5B9-45F5-8721-3D399C261FFB}"/>
              </a:ext>
            </a:extLst>
          </p:cNvPr>
          <p:cNvSpPr>
            <a:spLocks xmlns:a="http://schemas.openxmlformats.org/drawingml/2006/main" noGrp="1"/>
          </p:cNvSpPr>
          <p:nvPr/>
        </p:nvSpPr>
        <p:spPr>
          <a:xfrm xmlns:a="http://schemas.openxmlformats.org/drawingml/2006/main" rot="0" flipH="0" flipV="0">
            <a:off x="2571750" y="3400425"/>
            <a:ext cx="485775" cy="9525"/>
          </a:xfrm>
          <a:custGeom xmlns:a="http://schemas.openxmlformats.org/drawingml/2006/main">
            <a:rect l="l" t="t" r="r" b="b"/>
            <a:pathLst>
              <a:path w="485775" h="9525">
                <a:moveTo>
                  <a:pt x="0" y="0"/>
                </a:moveTo>
                <a:lnTo>
                  <a:pt x="485775" y="0"/>
                </a:lnTo>
              </a:path>
            </a:pathLst>
          </a:custGeom>
          <a:noFill xmlns:a="http://schemas.openxmlformats.org/drawingml/2006/main"/>
          <a:ln xmlns:a="http://schemas.openxmlformats.org/drawingml/2006/main" w="19050">
            <a:solidFill>
              <a:srgbClr val="17324D"/>
            </a:solidFill>
          </a:ln>
        </p:spPr>
      </p:sp>
      <p:sp>
        <p:nvSpPr>
          <p:cNvPr id="16" name="Polygon 16">
            <a:extLst xmlns:a="http://schemas.openxmlformats.org/drawingml/2006/main">
              <a:ext uri="{FF2B5EF4-FFF2-40B4-BE49-F238E27FC236}">
                <a16:creationId xmlns:a16="http://schemas.microsoft.com/office/drawing/2014/main" id="{8840CADA-CB18-4F2A-9F2E-1AC1085760E2}"/>
              </a:ext>
            </a:extLst>
          </p:cNvPr>
          <p:cNvSpPr>
            <a:spLocks xmlns:a="http://schemas.openxmlformats.org/drawingml/2006/main" noGrp="1"/>
          </p:cNvSpPr>
          <p:nvPr/>
        </p:nvSpPr>
        <p:spPr>
          <a:xfrm xmlns:a="http://schemas.openxmlformats.org/drawingml/2006/main" rot="0" flipH="0" flipV="0">
            <a:off x="3048000" y="3343275"/>
            <a:ext cx="114300" cy="114300"/>
          </a:xfrm>
          <a:custGeom xmlns:a="http://schemas.openxmlformats.org/drawingml/2006/main">
            <a:rect l="l" t="t" r="r" b="b"/>
            <a:pathLst>
              <a:path w="114300" h="114300">
                <a:moveTo>
                  <a:pt x="114300" y="57150"/>
                </a:moveTo>
                <a:lnTo>
                  <a:pt x="0" y="0"/>
                </a:lnTo>
                <a:lnTo>
                  <a:pt x="0" y="114300"/>
                </a:lnTo>
                <a:close/>
              </a:path>
            </a:pathLst>
          </a:custGeom>
          <a:solidFill xmlns:a="http://schemas.openxmlformats.org/drawingml/2006/main">
            <a:srgbClr val="17324D"/>
          </a:solidFill>
          <a:ln xmlns:a="http://schemas.openxmlformats.org/drawingml/2006/main">
            <a:noFill/>
          </a:ln>
        </p:spPr>
      </p:sp>
      <p:sp>
        <p:nvSpPr>
          <p:cNvPr id="18" name="Rectangle 18">
            <a:extLst xmlns:a="http://schemas.openxmlformats.org/drawingml/2006/main">
              <a:ext uri="{FF2B5EF4-FFF2-40B4-BE49-F238E27FC236}">
                <a16:creationId xmlns:a16="http://schemas.microsoft.com/office/drawing/2014/main" id="{9CD0738A-ADB7-41D1-BE4E-6B3C9C1E02FB}"/>
              </a:ext>
            </a:extLst>
          </p:cNvPr>
          <p:cNvSpPr>
            <a:spLocks xmlns:a="http://schemas.openxmlformats.org/drawingml/2006/main" noGrp="1"/>
          </p:cNvSpPr>
          <p:nvPr/>
        </p:nvSpPr>
        <p:spPr>
          <a:xfrm xmlns:a="http://schemas.openxmlformats.org/drawingml/2006/main" rot="0" flipH="0" flipV="0">
            <a:off x="3162300" y="2200275"/>
            <a:ext cx="5867400" cy="2952750"/>
          </a:xfrm>
          <a:prstGeom xmlns:a="http://schemas.openxmlformats.org/drawingml/2006/main" prst="roundRect">
            <a:avLst>
              <a:gd name="adj" fmla="val 645"/>
            </a:avLst>
          </a:prstGeom>
          <a:solidFill xmlns:a="http://schemas.openxmlformats.org/drawingml/2006/main">
            <a:srgbClr val="FFFFFF"/>
          </a:solidFill>
          <a:ln xmlns:a="http://schemas.openxmlformats.org/drawingml/2006/main" w="19050">
            <a:solidFill>
              <a:srgbClr val="17324D"/>
            </a:solidFill>
          </a:ln>
        </p:spPr>
      </p:sp>
      <p:sp>
        <p:nvSpPr>
          <p:cNvPr id="19" name="TextBox 19">
            <a:extLst xmlns:a="http://schemas.openxmlformats.org/drawingml/2006/main">
              <a:ext uri="{FF2B5EF4-FFF2-40B4-BE49-F238E27FC236}">
                <a16:creationId xmlns:a16="http://schemas.microsoft.com/office/drawing/2014/main" id="{B322090B-66B0-4511-A8C3-E7E91161341E}"/>
              </a:ext>
            </a:extLst>
          </p:cNvPr>
          <p:cNvSpPr>
            <a:spLocks xmlns:a="http://schemas.openxmlformats.org/drawingml/2006/main" noGrp="1"/>
          </p:cNvSpPr>
          <p:nvPr/>
        </p:nvSpPr>
        <p:spPr>
          <a:xfrm xmlns:a="http://schemas.openxmlformats.org/drawingml/2006/main" rot="0" flipH="0" flipV="0">
            <a:off x="3434715" y="2439352"/>
            <a:ext cx="1268975"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HYBRID ABM GROUP</a:t>
            </a:r>
          </a:p>
        </p:txBody>
      </p:sp>
      <p:sp>
        <p:nvSpPr>
          <p:cNvPr id="20" name="Line 20">
            <a:extLst xmlns:a="http://schemas.openxmlformats.org/drawingml/2006/main">
              <a:ext uri="{FF2B5EF4-FFF2-40B4-BE49-F238E27FC236}">
                <a16:creationId xmlns:a16="http://schemas.microsoft.com/office/drawing/2014/main" id="{8F23B43E-32AC-429B-BD6F-59304F52C88E}"/>
              </a:ext>
            </a:extLst>
          </p:cNvPr>
          <p:cNvSpPr>
            <a:spLocks xmlns:a="http://schemas.openxmlformats.org/drawingml/2006/main" noGrp="1"/>
          </p:cNvSpPr>
          <p:nvPr/>
        </p:nvSpPr>
        <p:spPr>
          <a:xfrm xmlns:a="http://schemas.openxmlformats.org/drawingml/2006/main" rot="0" flipH="0" flipV="0">
            <a:off x="6096000" y="2790825"/>
            <a:ext cx="9525" cy="1704975"/>
          </a:xfrm>
          <a:custGeom xmlns:a="http://schemas.openxmlformats.org/drawingml/2006/main">
            <a:rect l="l" t="t" r="r" b="b"/>
            <a:pathLst>
              <a:path w="9525" h="1704975">
                <a:moveTo>
                  <a:pt x="0" y="0"/>
                </a:moveTo>
                <a:lnTo>
                  <a:pt x="0" y="1704975"/>
                </a:lnTo>
              </a:path>
            </a:pathLst>
          </a:custGeom>
          <a:noFill xmlns:a="http://schemas.openxmlformats.org/drawingml/2006/main"/>
          <a:ln xmlns:a="http://schemas.openxmlformats.org/drawingml/2006/main" w="9525">
            <a:solidFill>
              <a:srgbClr val="D8DEE3"/>
            </a:solidFill>
          </a:ln>
        </p:spPr>
      </p:sp>
      <p:sp>
        <p:nvSpPr>
          <p:cNvPr id="22" name="TextBox 22">
            <a:extLst xmlns:a="http://schemas.openxmlformats.org/drawingml/2006/main">
              <a:ext uri="{FF2B5EF4-FFF2-40B4-BE49-F238E27FC236}">
                <a16:creationId xmlns:a16="http://schemas.microsoft.com/office/drawing/2014/main" id="{4112F1C1-2921-4A92-86EB-A67BA861641B}"/>
              </a:ext>
            </a:extLst>
          </p:cNvPr>
          <p:cNvSpPr>
            <a:spLocks xmlns:a="http://schemas.openxmlformats.org/drawingml/2006/main" noGrp="1"/>
          </p:cNvSpPr>
          <p:nvPr/>
        </p:nvSpPr>
        <p:spPr>
          <a:xfrm xmlns:a="http://schemas.openxmlformats.org/drawingml/2006/main" rot="0" flipH="0" flipV="0">
            <a:off x="4218865" y="2991802"/>
            <a:ext cx="820569"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050" b="1">
                <a:solidFill>
                  <a:srgbClr val="17324D"/>
                </a:solidFill>
                <a:latin typeface="Arial"/>
                <a:ea typeface="Arial"/>
                <a:cs typeface="Arial"/>
              </a:rPr>
              <a:t>LLM ROLE 2</a:t>
            </a:r>
          </a:p>
        </p:txBody>
      </p:sp>
      <p:sp>
        <p:nvSpPr>
          <p:cNvPr id="23" name="TextBox 23">
            <a:extLst xmlns:a="http://schemas.openxmlformats.org/drawingml/2006/main">
              <a:ext uri="{FF2B5EF4-FFF2-40B4-BE49-F238E27FC236}">
                <a16:creationId xmlns:a16="http://schemas.microsoft.com/office/drawing/2014/main" id="{D4DD1B5F-F6AF-41DC-9F2D-64E46601476C}"/>
              </a:ext>
            </a:extLst>
          </p:cNvPr>
          <p:cNvSpPr>
            <a:spLocks xmlns:a="http://schemas.openxmlformats.org/drawingml/2006/main" noGrp="1"/>
          </p:cNvSpPr>
          <p:nvPr/>
        </p:nvSpPr>
        <p:spPr>
          <a:xfrm xmlns:a="http://schemas.openxmlformats.org/drawingml/2006/main" rot="0" flipH="0" flipV="0">
            <a:off x="3732550" y="3278029"/>
            <a:ext cx="1793199"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575" b="1">
                <a:solidFill>
                  <a:srgbClr val="20262B"/>
                </a:solidFill>
                <a:latin typeface="Arial"/>
                <a:ea typeface="Arial"/>
                <a:cs typeface="Arial"/>
              </a:rPr>
              <a:t>LLM agent nodes</a:t>
            </a:r>
          </a:p>
        </p:txBody>
      </p:sp>
      <p:sp>
        <p:nvSpPr>
          <p:cNvPr id="24" name="TextBox 24">
            <a:extLst xmlns:a="http://schemas.openxmlformats.org/drawingml/2006/main">
              <a:ext uri="{FF2B5EF4-FFF2-40B4-BE49-F238E27FC236}">
                <a16:creationId xmlns:a16="http://schemas.microsoft.com/office/drawing/2014/main" id="{D9E1C89E-1EB0-4A8D-8BB2-9FD7267553AA}"/>
              </a:ext>
            </a:extLst>
          </p:cNvPr>
          <p:cNvSpPr>
            <a:spLocks xmlns:a="http://schemas.openxmlformats.org/drawingml/2006/main" noGrp="1"/>
          </p:cNvSpPr>
          <p:nvPr/>
        </p:nvSpPr>
        <p:spPr>
          <a:xfrm xmlns:a="http://schemas.openxmlformats.org/drawingml/2006/main" rot="0" flipH="0" flipV="0">
            <a:off x="3557778" y="3680460"/>
            <a:ext cx="2142744"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00">
                <a:solidFill>
                  <a:srgbClr val="20262B"/>
                </a:solidFill>
                <a:latin typeface="Arial"/>
                <a:ea typeface="Arial"/>
                <a:cs typeface="Arial"/>
              </a:rPr>
              <a:t>Natural-language messages</a:t>
            </a:r>
          </a:p>
        </p:txBody>
      </p:sp>
      <p:sp>
        <p:nvSpPr>
          <p:cNvPr id="25" name="TextBox 25">
            <a:extLst xmlns:a="http://schemas.openxmlformats.org/drawingml/2006/main">
              <a:ext uri="{FF2B5EF4-FFF2-40B4-BE49-F238E27FC236}">
                <a16:creationId xmlns:a16="http://schemas.microsoft.com/office/drawing/2014/main" id="{4C7C4A01-CF75-4A0E-9539-8F6B1A256969}"/>
              </a:ext>
            </a:extLst>
          </p:cNvPr>
          <p:cNvSpPr>
            <a:spLocks xmlns:a="http://schemas.openxmlformats.org/drawingml/2006/main" noGrp="1"/>
          </p:cNvSpPr>
          <p:nvPr/>
        </p:nvSpPr>
        <p:spPr>
          <a:xfrm xmlns:a="http://schemas.openxmlformats.org/drawingml/2006/main" rot="0" flipH="0" flipV="0">
            <a:off x="3549777" y="3918585"/>
            <a:ext cx="2158746"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00">
                <a:solidFill>
                  <a:srgbClr val="20262B"/>
                </a:solidFill>
                <a:latin typeface="Arial"/>
                <a:ea typeface="Arial"/>
                <a:cs typeface="Arial"/>
              </a:rPr>
              <a:t>Structured opinion updates</a:t>
            </a:r>
          </a:p>
        </p:txBody>
      </p:sp>
      <p:sp>
        <p:nvSpPr>
          <p:cNvPr id="27" name="Line 27">
            <a:extLst xmlns:a="http://schemas.openxmlformats.org/drawingml/2006/main">
              <a:ext uri="{FF2B5EF4-FFF2-40B4-BE49-F238E27FC236}">
                <a16:creationId xmlns:a16="http://schemas.microsoft.com/office/drawing/2014/main" id="{4DBB9438-9947-42F4-837B-4E7C3EB3AA1B}"/>
              </a:ext>
            </a:extLst>
          </p:cNvPr>
          <p:cNvSpPr>
            <a:spLocks xmlns:a="http://schemas.openxmlformats.org/drawingml/2006/main" noGrp="1"/>
          </p:cNvSpPr>
          <p:nvPr/>
        </p:nvSpPr>
        <p:spPr>
          <a:xfrm xmlns:a="http://schemas.openxmlformats.org/drawingml/2006/main" rot="0" flipH="0" flipV="0">
            <a:off x="5572125" y="3667125"/>
            <a:ext cx="1047750" cy="9525"/>
          </a:xfrm>
          <a:custGeom xmlns:a="http://schemas.openxmlformats.org/drawingml/2006/main">
            <a:rect l="l" t="t" r="r" b="b"/>
            <a:pathLst>
              <a:path w="1047750" h="9525">
                <a:moveTo>
                  <a:pt x="0" y="0"/>
                </a:moveTo>
                <a:lnTo>
                  <a:pt x="1047750" y="0"/>
                </a:lnTo>
              </a:path>
            </a:pathLst>
          </a:custGeom>
          <a:noFill xmlns:a="http://schemas.openxmlformats.org/drawingml/2006/main"/>
          <a:ln xmlns:a="http://schemas.openxmlformats.org/drawingml/2006/main" w="19050">
            <a:solidFill>
              <a:srgbClr val="17324D"/>
            </a:solidFill>
          </a:ln>
        </p:spPr>
      </p:sp>
      <p:sp>
        <p:nvSpPr>
          <p:cNvPr id="28" name="Polygon 28">
            <a:extLst xmlns:a="http://schemas.openxmlformats.org/drawingml/2006/main">
              <a:ext uri="{FF2B5EF4-FFF2-40B4-BE49-F238E27FC236}">
                <a16:creationId xmlns:a16="http://schemas.microsoft.com/office/drawing/2014/main" id="{AD26C39F-A591-4122-A73B-A21CAB434A1A}"/>
              </a:ext>
            </a:extLst>
          </p:cNvPr>
          <p:cNvSpPr>
            <a:spLocks xmlns:a="http://schemas.openxmlformats.org/drawingml/2006/main" noGrp="1"/>
          </p:cNvSpPr>
          <p:nvPr/>
        </p:nvSpPr>
        <p:spPr>
          <a:xfrm xmlns:a="http://schemas.openxmlformats.org/drawingml/2006/main" rot="0" flipH="0" flipV="0">
            <a:off x="6505575" y="3609975"/>
            <a:ext cx="114300" cy="114300"/>
          </a:xfrm>
          <a:custGeom xmlns:a="http://schemas.openxmlformats.org/drawingml/2006/main">
            <a:rect l="l" t="t" r="r" b="b"/>
            <a:pathLst>
              <a:path w="114300" h="114300">
                <a:moveTo>
                  <a:pt x="114300" y="57150"/>
                </a:moveTo>
                <a:lnTo>
                  <a:pt x="0" y="0"/>
                </a:lnTo>
                <a:lnTo>
                  <a:pt x="0" y="114300"/>
                </a:lnTo>
                <a:close/>
              </a:path>
            </a:pathLst>
          </a:custGeom>
          <a:solidFill xmlns:a="http://schemas.openxmlformats.org/drawingml/2006/main">
            <a:srgbClr val="17324D"/>
          </a:solidFill>
          <a:ln xmlns:a="http://schemas.openxmlformats.org/drawingml/2006/main">
            <a:noFill/>
          </a:ln>
        </p:spPr>
      </p:sp>
      <p:sp>
        <p:nvSpPr>
          <p:cNvPr id="29" name="Polygon 29">
            <a:extLst xmlns:a="http://schemas.openxmlformats.org/drawingml/2006/main">
              <a:ext uri="{FF2B5EF4-FFF2-40B4-BE49-F238E27FC236}">
                <a16:creationId xmlns:a16="http://schemas.microsoft.com/office/drawing/2014/main" id="{5E5CC70E-59A9-4057-820B-C599FE14AA6D}"/>
              </a:ext>
            </a:extLst>
          </p:cNvPr>
          <p:cNvSpPr>
            <a:spLocks xmlns:a="http://schemas.openxmlformats.org/drawingml/2006/main" noGrp="1"/>
          </p:cNvSpPr>
          <p:nvPr/>
        </p:nvSpPr>
        <p:spPr>
          <a:xfrm xmlns:a="http://schemas.openxmlformats.org/drawingml/2006/main" rot="0" flipH="0" flipV="0">
            <a:off x="5572125" y="3609975"/>
            <a:ext cx="114300" cy="114300"/>
          </a:xfrm>
          <a:custGeom xmlns:a="http://schemas.openxmlformats.org/drawingml/2006/main">
            <a:rect l="l" t="t" r="r" b="b"/>
            <a:pathLst>
              <a:path w="114300" h="114300">
                <a:moveTo>
                  <a:pt x="0" y="57150"/>
                </a:moveTo>
                <a:lnTo>
                  <a:pt x="114300" y="0"/>
                </a:lnTo>
                <a:lnTo>
                  <a:pt x="114300" y="114300"/>
                </a:lnTo>
                <a:close/>
              </a:path>
            </a:pathLst>
          </a:custGeom>
          <a:solidFill xmlns:a="http://schemas.openxmlformats.org/drawingml/2006/main">
            <a:srgbClr val="17324D"/>
          </a:solidFill>
          <a:ln xmlns:a="http://schemas.openxmlformats.org/drawingml/2006/main">
            <a:noFill/>
          </a:ln>
        </p:spPr>
      </p:sp>
      <p:sp>
        <p:nvSpPr>
          <p:cNvPr id="30" name="TextBox 30">
            <a:extLst xmlns:a="http://schemas.openxmlformats.org/drawingml/2006/main">
              <a:ext uri="{FF2B5EF4-FFF2-40B4-BE49-F238E27FC236}">
                <a16:creationId xmlns:a16="http://schemas.microsoft.com/office/drawing/2014/main" id="{AFB21688-505A-41AC-B5CC-A3EA485903C8}"/>
              </a:ext>
            </a:extLst>
          </p:cNvPr>
          <p:cNvSpPr>
            <a:spLocks xmlns:a="http://schemas.openxmlformats.org/drawingml/2006/main" noGrp="1"/>
          </p:cNvSpPr>
          <p:nvPr/>
        </p:nvSpPr>
        <p:spPr>
          <a:xfrm xmlns:a="http://schemas.openxmlformats.org/drawingml/2006/main" rot="0" flipH="0" flipV="0">
            <a:off x="5722822" y="3438049"/>
            <a:ext cx="74635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a:solidFill>
                  <a:srgbClr val="7A8792"/>
                </a:solidFill>
                <a:latin typeface="Arial"/>
                <a:ea typeface="Arial"/>
                <a:cs typeface="Arial"/>
              </a:rPr>
              <a:t>interaction</a:t>
            </a:r>
          </a:p>
        </p:txBody>
      </p:sp>
      <p:sp>
        <p:nvSpPr>
          <p:cNvPr id="32" name="TextBox 32">
            <a:extLst xmlns:a="http://schemas.openxmlformats.org/drawingml/2006/main">
              <a:ext uri="{FF2B5EF4-FFF2-40B4-BE49-F238E27FC236}">
                <a16:creationId xmlns:a16="http://schemas.microsoft.com/office/drawing/2014/main" id="{29F5C348-74E7-4B7E-89B3-B04D71F7FC86}"/>
              </a:ext>
            </a:extLst>
          </p:cNvPr>
          <p:cNvSpPr>
            <a:spLocks xmlns:a="http://schemas.openxmlformats.org/drawingml/2006/main" noGrp="1"/>
          </p:cNvSpPr>
          <p:nvPr/>
        </p:nvSpPr>
        <p:spPr>
          <a:xfrm xmlns:a="http://schemas.openxmlformats.org/drawingml/2006/main" rot="0" flipH="0" flipV="0">
            <a:off x="7038626" y="2991802"/>
            <a:ext cx="1048448"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050" b="1">
                <a:solidFill>
                  <a:srgbClr val="17324D"/>
                </a:solidFill>
                <a:latin typeface="Arial"/>
                <a:ea typeface="Arial"/>
                <a:cs typeface="Arial"/>
              </a:rPr>
              <a:t>EXPLICIT RULES</a:t>
            </a:r>
          </a:p>
        </p:txBody>
      </p:sp>
      <p:sp>
        <p:nvSpPr>
          <p:cNvPr id="33" name="TextBox 33">
            <a:extLst xmlns:a="http://schemas.openxmlformats.org/drawingml/2006/main">
              <a:ext uri="{FF2B5EF4-FFF2-40B4-BE49-F238E27FC236}">
                <a16:creationId xmlns:a16="http://schemas.microsoft.com/office/drawing/2014/main" id="{C8490DA0-9066-4DC0-BA26-C9642A5D21B5}"/>
              </a:ext>
            </a:extLst>
          </p:cNvPr>
          <p:cNvSpPr>
            <a:spLocks xmlns:a="http://schemas.openxmlformats.org/drawingml/2006/main" noGrp="1"/>
          </p:cNvSpPr>
          <p:nvPr/>
        </p:nvSpPr>
        <p:spPr>
          <a:xfrm xmlns:a="http://schemas.openxmlformats.org/drawingml/2006/main" rot="0" flipH="0" flipV="0">
            <a:off x="6567013" y="3278029"/>
            <a:ext cx="1991674"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575" b="1">
                <a:solidFill>
                  <a:srgbClr val="20262B"/>
                </a:solidFill>
                <a:latin typeface="Arial"/>
                <a:ea typeface="Arial"/>
                <a:cs typeface="Arial"/>
              </a:rPr>
              <a:t>Rule-based agents</a:t>
            </a:r>
          </a:p>
        </p:txBody>
      </p:sp>
      <p:sp>
        <p:nvSpPr>
          <p:cNvPr id="34" name="TextBox 34">
            <a:extLst xmlns:a="http://schemas.openxmlformats.org/drawingml/2006/main">
              <a:ext uri="{FF2B5EF4-FFF2-40B4-BE49-F238E27FC236}">
                <a16:creationId xmlns:a16="http://schemas.microsoft.com/office/drawing/2014/main" id="{12E4ADE8-E4E5-4FD2-846F-F735B6565B30}"/>
              </a:ext>
            </a:extLst>
          </p:cNvPr>
          <p:cNvSpPr>
            <a:spLocks xmlns:a="http://schemas.openxmlformats.org/drawingml/2006/main" noGrp="1"/>
          </p:cNvSpPr>
          <p:nvPr/>
        </p:nvSpPr>
        <p:spPr>
          <a:xfrm xmlns:a="http://schemas.openxmlformats.org/drawingml/2006/main" rot="0" flipH="0" flipV="0">
            <a:off x="6471476" y="3680460"/>
            <a:ext cx="2182749"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00">
                <a:solidFill>
                  <a:srgbClr val="20262B"/>
                </a:solidFill>
                <a:latin typeface="Arial"/>
                <a:ea typeface="Arial"/>
                <a:cs typeface="Arial"/>
              </a:rPr>
              <a:t>Opinion-dynamics equations</a:t>
            </a:r>
          </a:p>
        </p:txBody>
      </p:sp>
      <p:sp>
        <p:nvSpPr>
          <p:cNvPr id="35" name="TextBox 35">
            <a:extLst xmlns:a="http://schemas.openxmlformats.org/drawingml/2006/main">
              <a:ext uri="{FF2B5EF4-FFF2-40B4-BE49-F238E27FC236}">
                <a16:creationId xmlns:a16="http://schemas.microsoft.com/office/drawing/2014/main" id="{A04496D4-466D-4566-A0E5-F70D0F8F86A9}"/>
              </a:ext>
            </a:extLst>
          </p:cNvPr>
          <p:cNvSpPr>
            <a:spLocks xmlns:a="http://schemas.openxmlformats.org/drawingml/2006/main" noGrp="1"/>
          </p:cNvSpPr>
          <p:nvPr/>
        </p:nvSpPr>
        <p:spPr>
          <a:xfrm xmlns:a="http://schemas.openxmlformats.org/drawingml/2006/main" rot="0" flipH="0" flipV="0">
            <a:off x="6387465" y="3918585"/>
            <a:ext cx="235077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00">
                <a:solidFill>
                  <a:srgbClr val="20262B"/>
                </a:solidFill>
                <a:latin typeface="Arial"/>
                <a:ea typeface="Arial"/>
                <a:cs typeface="Arial"/>
              </a:rPr>
              <a:t>Human-calibrated parameters</a:t>
            </a:r>
          </a:p>
        </p:txBody>
      </p:sp>
      <p:sp>
        <p:nvSpPr>
          <p:cNvPr id="37" name="Line 37">
            <a:extLst xmlns:a="http://schemas.openxmlformats.org/drawingml/2006/main">
              <a:ext uri="{FF2B5EF4-FFF2-40B4-BE49-F238E27FC236}">
                <a16:creationId xmlns:a16="http://schemas.microsoft.com/office/drawing/2014/main" id="{293B7650-4FFF-444F-B34E-6848659706EF}"/>
              </a:ext>
            </a:extLst>
          </p:cNvPr>
          <p:cNvSpPr>
            <a:spLocks xmlns:a="http://schemas.openxmlformats.org/drawingml/2006/main" noGrp="1"/>
          </p:cNvSpPr>
          <p:nvPr/>
        </p:nvSpPr>
        <p:spPr>
          <a:xfrm xmlns:a="http://schemas.openxmlformats.org/drawingml/2006/main" rot="0" flipH="0" flipV="0">
            <a:off x="3733800" y="4495800"/>
            <a:ext cx="4724400" cy="9525"/>
          </a:xfrm>
          <a:custGeom xmlns:a="http://schemas.openxmlformats.org/drawingml/2006/main">
            <a:rect l="l" t="t" r="r" b="b"/>
            <a:pathLst>
              <a:path w="4724400" h="9525">
                <a:moveTo>
                  <a:pt x="0" y="0"/>
                </a:moveTo>
                <a:lnTo>
                  <a:pt x="4724400" y="0"/>
                </a:lnTo>
              </a:path>
            </a:pathLst>
          </a:custGeom>
          <a:noFill xmlns:a="http://schemas.openxmlformats.org/drawingml/2006/main"/>
          <a:ln xmlns:a="http://schemas.openxmlformats.org/drawingml/2006/main" w="9525">
            <a:solidFill>
              <a:srgbClr val="D8DEE3"/>
            </a:solidFill>
          </a:ln>
        </p:spPr>
      </p:sp>
      <p:sp>
        <p:nvSpPr>
          <p:cNvPr id="38" name="TextBox 38">
            <a:extLst xmlns:a="http://schemas.openxmlformats.org/drawingml/2006/main">
              <a:ext uri="{FF2B5EF4-FFF2-40B4-BE49-F238E27FC236}">
                <a16:creationId xmlns:a16="http://schemas.microsoft.com/office/drawing/2014/main" id="{F533C8DF-9664-47FF-B37C-775CFF2C96F4}"/>
              </a:ext>
            </a:extLst>
          </p:cNvPr>
          <p:cNvSpPr>
            <a:spLocks xmlns:a="http://schemas.openxmlformats.org/drawingml/2006/main" noGrp="1"/>
          </p:cNvSpPr>
          <p:nvPr/>
        </p:nvSpPr>
        <p:spPr>
          <a:xfrm xmlns:a="http://schemas.openxmlformats.org/drawingml/2006/main" rot="0" flipH="0" flipV="0">
            <a:off x="3493237" y="4709160"/>
            <a:ext cx="5205527"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00" b="1">
                <a:solidFill>
                  <a:srgbClr val="17324D"/>
                </a:solidFill>
                <a:latin typeface="Arial"/>
                <a:ea typeface="Arial"/>
                <a:cs typeface="Arial"/>
              </a:rPr>
              <a:t>Update opinion · share information · advance to the next round</a:t>
            </a:r>
          </a:p>
        </p:txBody>
      </p:sp>
      <p:sp>
        <p:nvSpPr>
          <p:cNvPr id="40" name="Line 40">
            <a:extLst xmlns:a="http://schemas.openxmlformats.org/drawingml/2006/main">
              <a:ext uri="{FF2B5EF4-FFF2-40B4-BE49-F238E27FC236}">
                <a16:creationId xmlns:a16="http://schemas.microsoft.com/office/drawing/2014/main" id="{BE8D3F24-5B6A-45D8-8A75-6A8EAF26E0A8}"/>
              </a:ext>
            </a:extLst>
          </p:cNvPr>
          <p:cNvSpPr>
            <a:spLocks xmlns:a="http://schemas.openxmlformats.org/drawingml/2006/main" noGrp="1"/>
          </p:cNvSpPr>
          <p:nvPr/>
        </p:nvSpPr>
        <p:spPr>
          <a:xfrm xmlns:a="http://schemas.openxmlformats.org/drawingml/2006/main" rot="0" flipH="0" flipV="0">
            <a:off x="9029700" y="3400425"/>
            <a:ext cx="466725" cy="9525"/>
          </a:xfrm>
          <a:custGeom xmlns:a="http://schemas.openxmlformats.org/drawingml/2006/main">
            <a:rect l="l" t="t" r="r" b="b"/>
            <a:pathLst>
              <a:path w="466725" h="9525">
                <a:moveTo>
                  <a:pt x="0" y="0"/>
                </a:moveTo>
                <a:lnTo>
                  <a:pt x="466725" y="0"/>
                </a:lnTo>
              </a:path>
            </a:pathLst>
          </a:custGeom>
          <a:noFill xmlns:a="http://schemas.openxmlformats.org/drawingml/2006/main"/>
          <a:ln xmlns:a="http://schemas.openxmlformats.org/drawingml/2006/main" w="19050">
            <a:solidFill>
              <a:srgbClr val="17324D"/>
            </a:solidFill>
          </a:ln>
        </p:spPr>
      </p:sp>
      <p:sp>
        <p:nvSpPr>
          <p:cNvPr id="41" name="Polygon 41">
            <a:extLst xmlns:a="http://schemas.openxmlformats.org/drawingml/2006/main">
              <a:ext uri="{FF2B5EF4-FFF2-40B4-BE49-F238E27FC236}">
                <a16:creationId xmlns:a16="http://schemas.microsoft.com/office/drawing/2014/main" id="{8E4234E7-6A40-47C9-8BD6-7A4718B18C9A}"/>
              </a:ext>
            </a:extLst>
          </p:cNvPr>
          <p:cNvSpPr>
            <a:spLocks xmlns:a="http://schemas.openxmlformats.org/drawingml/2006/main" noGrp="1"/>
          </p:cNvSpPr>
          <p:nvPr/>
        </p:nvSpPr>
        <p:spPr>
          <a:xfrm xmlns:a="http://schemas.openxmlformats.org/drawingml/2006/main" rot="0" flipH="0" flipV="0">
            <a:off x="9486900" y="3343275"/>
            <a:ext cx="114300" cy="114300"/>
          </a:xfrm>
          <a:custGeom xmlns:a="http://schemas.openxmlformats.org/drawingml/2006/main">
            <a:rect l="l" t="t" r="r" b="b"/>
            <a:pathLst>
              <a:path w="114300" h="114300">
                <a:moveTo>
                  <a:pt x="114300" y="57150"/>
                </a:moveTo>
                <a:lnTo>
                  <a:pt x="0" y="0"/>
                </a:lnTo>
                <a:lnTo>
                  <a:pt x="0" y="114300"/>
                </a:lnTo>
                <a:close/>
              </a:path>
            </a:pathLst>
          </a:custGeom>
          <a:solidFill xmlns:a="http://schemas.openxmlformats.org/drawingml/2006/main">
            <a:srgbClr val="17324D"/>
          </a:solidFill>
          <a:ln xmlns:a="http://schemas.openxmlformats.org/drawingml/2006/main">
            <a:noFill/>
          </a:ln>
        </p:spPr>
      </p:sp>
      <p:sp>
        <p:nvSpPr>
          <p:cNvPr id="42" name="TextBox 42">
            <a:extLst xmlns:a="http://schemas.openxmlformats.org/drawingml/2006/main">
              <a:ext uri="{FF2B5EF4-FFF2-40B4-BE49-F238E27FC236}">
                <a16:creationId xmlns:a16="http://schemas.microsoft.com/office/drawing/2014/main" id="{86C43FD7-B259-4C56-B8D8-4910176BD8AD}"/>
              </a:ext>
            </a:extLst>
          </p:cNvPr>
          <p:cNvSpPr>
            <a:spLocks xmlns:a="http://schemas.openxmlformats.org/drawingml/2006/main" noGrp="1"/>
          </p:cNvSpPr>
          <p:nvPr/>
        </p:nvSpPr>
        <p:spPr>
          <a:xfrm xmlns:a="http://schemas.openxmlformats.org/drawingml/2006/main" rot="0" flipH="0" flipV="0">
            <a:off x="9835515" y="2687002"/>
            <a:ext cx="791166"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VALIDATION</a:t>
            </a:r>
          </a:p>
        </p:txBody>
      </p:sp>
      <p:sp>
        <p:nvSpPr>
          <p:cNvPr id="43" name="TextBox 43">
            <a:extLst xmlns:a="http://schemas.openxmlformats.org/drawingml/2006/main">
              <a:ext uri="{FF2B5EF4-FFF2-40B4-BE49-F238E27FC236}">
                <a16:creationId xmlns:a16="http://schemas.microsoft.com/office/drawing/2014/main" id="{81636659-5445-4302-9391-8A93AA6F7AB5}"/>
              </a:ext>
            </a:extLst>
          </p:cNvPr>
          <p:cNvSpPr>
            <a:spLocks xmlns:a="http://schemas.openxmlformats.org/drawingml/2006/main" noGrp="1"/>
          </p:cNvSpPr>
          <p:nvPr/>
        </p:nvSpPr>
        <p:spPr>
          <a:xfrm xmlns:a="http://schemas.openxmlformats.org/drawingml/2006/main" rot="0" flipH="0" flipV="0">
            <a:off x="9832658" y="3005614"/>
            <a:ext cx="1799756" cy="25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75" b="1">
                <a:solidFill>
                  <a:srgbClr val="20262B"/>
                </a:solidFill>
                <a:latin typeface="Arial"/>
                <a:ea typeface="Arial"/>
                <a:cs typeface="Arial"/>
              </a:rPr>
              <a:t>Compare predictions</a:t>
            </a:r>
          </a:p>
        </p:txBody>
      </p:sp>
      <p:sp>
        <p:nvSpPr>
          <p:cNvPr id="44" name="TextBox 44">
            <a:extLst xmlns:a="http://schemas.openxmlformats.org/drawingml/2006/main">
              <a:ext uri="{FF2B5EF4-FFF2-40B4-BE49-F238E27FC236}">
                <a16:creationId xmlns:a16="http://schemas.microsoft.com/office/drawing/2014/main" id="{59D3E0FC-9482-42E4-987D-878526BF431F}"/>
              </a:ext>
            </a:extLst>
          </p:cNvPr>
          <p:cNvSpPr>
            <a:spLocks xmlns:a="http://schemas.openxmlformats.org/drawingml/2006/main" noGrp="1"/>
          </p:cNvSpPr>
          <p:nvPr/>
        </p:nvSpPr>
        <p:spPr>
          <a:xfrm xmlns:a="http://schemas.openxmlformats.org/drawingml/2006/main" rot="0" flipH="0" flipV="0">
            <a:off x="9833610" y="3318510"/>
            <a:ext cx="1501140" cy="929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00"/>
              </a:lnSpc>
              <a:buNone/>
            </a:pPr>
            <a:r>
              <a:rPr sz="1200">
                <a:solidFill>
                  <a:srgbClr val="20262B"/>
                </a:solidFill>
                <a:latin typeface="Arial"/>
                <a:ea typeface="Arial"/>
                <a:cs typeface="Arial"/>
              </a:rPr>
              <a:t>Micro-level updates </a:t>
            </a:r>
            <a:r>
              <a:rPr sz="1200">
                <a:solidFill>
                  <a:srgbClr val="20262B"/>
                </a:solidFill>
                <a:latin typeface="Arial"/>
                <a:ea typeface="Arial"/>
                <a:cs typeface="Arial"/>
              </a:rPr>
              <a:t>Sharing behavior </a:t>
            </a:r>
            <a:r>
              <a:rPr sz="1200">
                <a:solidFill>
                  <a:srgbClr val="20262B"/>
                </a:solidFill>
                <a:latin typeface="Arial"/>
                <a:ea typeface="Arial"/>
                <a:cs typeface="Arial"/>
              </a:rPr>
              <a:t>Group distributions </a:t>
            </a:r>
            <a:r>
              <a:rPr sz="1200">
                <a:solidFill>
                  <a:srgbClr val="20262B"/>
                </a:solidFill>
                <a:latin typeface="Arial"/>
                <a:ea typeface="Arial"/>
                <a:cs typeface="Arial"/>
              </a:rPr>
              <a:t>Held-out issues</a:t>
            </a:r>
          </a:p>
        </p:txBody>
      </p:sp>
      <p:sp>
        <p:nvSpPr>
          <p:cNvPr id="46" name="TextBox 46">
            <a:extLst xmlns:a="http://schemas.openxmlformats.org/drawingml/2006/main">
              <a:ext uri="{FF2B5EF4-FFF2-40B4-BE49-F238E27FC236}">
                <a16:creationId xmlns:a16="http://schemas.microsoft.com/office/drawing/2014/main" id="{EB3A3862-253F-4AFB-BB67-485B504B7E99}"/>
              </a:ext>
            </a:extLst>
          </p:cNvPr>
          <p:cNvSpPr>
            <a:spLocks xmlns:a="http://schemas.openxmlformats.org/drawingml/2006/main" noGrp="1"/>
          </p:cNvSpPr>
          <p:nvPr/>
        </p:nvSpPr>
        <p:spPr>
          <a:xfrm xmlns:a="http://schemas.openxmlformats.org/drawingml/2006/main" rot="0" flipH="0" flipV="0">
            <a:off x="670560" y="5547360"/>
            <a:ext cx="9540240" cy="472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00"/>
              </a:lnSpc>
              <a:buNone/>
            </a:pPr>
            <a:r>
              <a:rPr sz="1200">
                <a:solidFill>
                  <a:srgbClr val="20262B"/>
                </a:solidFill>
                <a:latin typeface="Arial"/>
                <a:ea typeface="Arial"/>
                <a:cs typeface="Arial"/>
              </a:rPr>
              <a:t>The model retains the ABM population, network, time, and interaction environment. Some agents implement message and update </a:t>
            </a:r>
            <a:r>
              <a:rPr sz="1200">
                <a:solidFill>
                  <a:srgbClr val="20262B"/>
                </a:solidFill>
                <a:latin typeface="Arial"/>
                <a:ea typeface="Arial"/>
                <a:cs typeface="Arial"/>
              </a:rPr>
              <a:t>functions with an LLM; others use opinion-dynamics equations. Both types share the same input–output interfaces.</a:t>
            </a:r>
          </a:p>
        </p:txBody>
      </p:sp>
      <p:sp>
        <p:nvSpPr>
          <p:cNvPr id="48" name="TextBox 48">
            <a:extLst xmlns:a="http://schemas.openxmlformats.org/drawingml/2006/main">
              <a:ext uri="{FF2B5EF4-FFF2-40B4-BE49-F238E27FC236}">
                <a16:creationId xmlns:a16="http://schemas.microsoft.com/office/drawing/2014/main" id="{987B4FCC-2449-4521-88B8-F093A76506D2}"/>
              </a:ext>
            </a:extLst>
          </p:cNvPr>
          <p:cNvSpPr>
            <a:spLocks xmlns:a="http://schemas.openxmlformats.org/drawingml/2006/main" noGrp="1"/>
          </p:cNvSpPr>
          <p:nvPr/>
        </p:nvSpPr>
        <p:spPr>
          <a:xfrm xmlns:a="http://schemas.openxmlformats.org/drawingml/2006/main">
            <a:off x="11362754" y="6398895"/>
            <a:ext cx="154877"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00">
                <a:solidFill>
                  <a:srgbClr val="7A8792"/>
                </a:solidFill>
                <a:latin typeface="Arial"/>
                <a:ea typeface="Arial"/>
                <a:cs typeface="Arial"/>
              </a:rPr>
              <a:t>07</a:t>
            </a:r>
          </a:p>
        </p:txBody>
      </p:sp>
    </p:spTree>
    <p:extLst>
      <p:ext uri="{BB962C8B-B14F-4D97-AF65-F5344CB8AC3E}">
        <p14:creationId xmlns:p14="http://schemas.microsoft.com/office/powerpoint/2010/main" val="142324634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86FBCF6E-52DD-4969-A4BD-94A6ECCA4C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sp>
      <p:sp>
        <p:nvSpPr>
          <p:cNvPr id="3" name="TextBox 3">
            <a:extLst xmlns:a="http://schemas.openxmlformats.org/drawingml/2006/main">
              <a:ext uri="{FF2B5EF4-FFF2-40B4-BE49-F238E27FC236}">
                <a16:creationId xmlns:a16="http://schemas.microsoft.com/office/drawing/2014/main" id="{7E28877B-B400-4BBF-B72F-64469DE943A1}"/>
              </a:ext>
            </a:extLst>
          </p:cNvPr>
          <p:cNvSpPr>
            <a:spLocks xmlns:a="http://schemas.openxmlformats.org/drawingml/2006/main" noGrp="1"/>
          </p:cNvSpPr>
          <p:nvPr/>
        </p:nvSpPr>
        <p:spPr>
          <a:xfrm xmlns:a="http://schemas.openxmlformats.org/drawingml/2006/main" rot="0" flipH="0" flipV="0">
            <a:off x="558165" y="305752"/>
            <a:ext cx="1261624"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RESEARCH METHOD</a:t>
            </a:r>
          </a:p>
        </p:txBody>
      </p:sp>
      <p:sp>
        <p:nvSpPr>
          <p:cNvPr id="4" name="TextBox 4">
            <a:extLst xmlns:a="http://schemas.openxmlformats.org/drawingml/2006/main">
              <a:ext uri="{FF2B5EF4-FFF2-40B4-BE49-F238E27FC236}">
                <a16:creationId xmlns:a16="http://schemas.microsoft.com/office/drawing/2014/main" id="{5FB7BED6-2866-46E3-9AF7-C04217ADF2B9}"/>
              </a:ext>
            </a:extLst>
          </p:cNvPr>
          <p:cNvSpPr>
            <a:spLocks xmlns:a="http://schemas.openxmlformats.org/drawingml/2006/main" noGrp="1"/>
          </p:cNvSpPr>
          <p:nvPr/>
        </p:nvSpPr>
        <p:spPr>
          <a:xfrm xmlns:a="http://schemas.openxmlformats.org/drawingml/2006/main" rot="0" flipH="0" flipV="0">
            <a:off x="541020" y="521970"/>
            <a:ext cx="4446308"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20262B"/>
                </a:solidFill>
                <a:latin typeface="Arial"/>
                <a:ea typeface="Arial"/>
                <a:cs typeface="Arial"/>
              </a:rPr>
              <a:t>Three Behavioral Functions</a:t>
            </a:r>
          </a:p>
        </p:txBody>
      </p:sp>
      <p:sp>
        <p:nvSpPr>
          <p:cNvPr id="5" name="Line 5">
            <a:extLst xmlns:a="http://schemas.openxmlformats.org/drawingml/2006/main">
              <a:ext uri="{FF2B5EF4-FFF2-40B4-BE49-F238E27FC236}">
                <a16:creationId xmlns:a16="http://schemas.microsoft.com/office/drawing/2014/main" id="{588627EB-6E5D-483F-9EB0-9108D3215B44}"/>
              </a:ext>
            </a:extLst>
          </p:cNvPr>
          <p:cNvSpPr>
            <a:spLocks xmlns:a="http://schemas.openxmlformats.org/drawingml/2006/main" noGrp="1"/>
          </p:cNvSpPr>
          <p:nvPr/>
        </p:nvSpPr>
        <p:spPr>
          <a:xfrm xmlns:a="http://schemas.openxmlformats.org/drawingml/2006/main" rot="0" flipH="0" flipV="0">
            <a:off x="571500" y="971550"/>
            <a:ext cx="11049000" cy="9525"/>
          </a:xfrm>
          <a:custGeom xmlns:a="http://schemas.openxmlformats.org/drawingml/2006/main">
            <a:rect l="l" t="t" r="r" b="b"/>
            <a:pathLst>
              <a:path w="11049000" h="9525">
                <a:moveTo>
                  <a:pt x="0" y="0"/>
                </a:moveTo>
                <a:lnTo>
                  <a:pt x="11049000" y="0"/>
                </a:lnTo>
              </a:path>
            </a:pathLst>
          </a:custGeom>
          <a:noFill xmlns:a="http://schemas.openxmlformats.org/drawingml/2006/main"/>
          <a:ln xmlns:a="http://schemas.openxmlformats.org/drawingml/2006/main" w="9525">
            <a:solidFill>
              <a:srgbClr val="D8DEE3"/>
            </a:solidFill>
          </a:ln>
        </p:spPr>
      </p:sp>
      <p:sp>
        <p:nvSpPr>
          <p:cNvPr id="6" name="Rectangle 6">
            <a:extLst xmlns:a="http://schemas.openxmlformats.org/drawingml/2006/main">
              <a:ext uri="{FF2B5EF4-FFF2-40B4-BE49-F238E27FC236}">
                <a16:creationId xmlns:a16="http://schemas.microsoft.com/office/drawing/2014/main" id="{49083E9D-D50F-4FC4-ABD4-0F832B9AF775}"/>
              </a:ext>
            </a:extLst>
          </p:cNvPr>
          <p:cNvSpPr>
            <a:spLocks xmlns:a="http://schemas.openxmlformats.org/drawingml/2006/main" noGrp="1"/>
          </p:cNvSpPr>
          <p:nvPr/>
        </p:nvSpPr>
        <p:spPr>
          <a:xfrm xmlns:a="http://schemas.openxmlformats.org/drawingml/2006/main" rot="0" flipH="0" flipV="0">
            <a:off x="571500" y="952500"/>
            <a:ext cx="1104900" cy="28575"/>
          </a:xfrm>
          <a:prstGeom xmlns:a="http://schemas.openxmlformats.org/drawingml/2006/main" prst="rect">
            <a:avLst/>
          </a:prstGeom>
          <a:solidFill xmlns:a="http://schemas.openxmlformats.org/drawingml/2006/main">
            <a:srgbClr val="17324D"/>
          </a:solidFill>
          <a:ln xmlns:a="http://schemas.openxmlformats.org/drawingml/2006/main">
            <a:noFill/>
          </a:ln>
        </p:spPr>
      </p:sp>
      <p:sp>
        <p:nvSpPr>
          <p:cNvPr id="8" name="TextBox 8">
            <a:extLst xmlns:a="http://schemas.openxmlformats.org/drawingml/2006/main">
              <a:ext uri="{FF2B5EF4-FFF2-40B4-BE49-F238E27FC236}">
                <a16:creationId xmlns:a16="http://schemas.microsoft.com/office/drawing/2014/main" id="{E10BA52E-DBEF-4308-ADB5-C55230112259}"/>
              </a:ext>
            </a:extLst>
          </p:cNvPr>
          <p:cNvSpPr>
            <a:spLocks xmlns:a="http://schemas.openxmlformats.org/drawingml/2006/main" noGrp="1"/>
          </p:cNvSpPr>
          <p:nvPr/>
        </p:nvSpPr>
        <p:spPr>
          <a:xfrm xmlns:a="http://schemas.openxmlformats.org/drawingml/2006/main" rot="0" flipH="0" flipV="0">
            <a:off x="664845" y="1441132"/>
            <a:ext cx="2398405"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17324D"/>
                </a:solidFill>
                <a:latin typeface="Arial"/>
                <a:ea typeface="Arial"/>
                <a:cs typeface="Arial"/>
              </a:rPr>
              <a:t>1 · Message function</a:t>
            </a:r>
          </a:p>
        </p:txBody>
      </p:sp>
      <p:pic>
        <p:nvPicPr>
          <p:cNvPr id="38" name="Image 9"/>
          <p:cNvPicPr>
            <a:picLocks xmlns:a="http://schemas.openxmlformats.org/drawingml/2006/main" noChangeAspect="1"/>
          </p:cNvPicPr>
          <p:nvPr/>
        </p:nvPicPr>
        <p:blipFill>
          <a:blip xmlns:r="http://schemas.openxmlformats.org/officeDocument/2006/relationships" xmlns:a="http://schemas.openxmlformats.org/drawingml/2006/main" r:embed="R8b71b1987fcc437e"/>
          <a:stretch xmlns:a="http://schemas.openxmlformats.org/drawingml/2006/main">
            <a:fillRect l="0" t="0" r="0" b="0"/>
          </a:stretch>
        </p:blipFill>
        <p:spPr>
          <a:xfrm xmlns:a="http://schemas.openxmlformats.org/drawingml/2006/main" rot="0" flipH="0" flipV="0">
            <a:off x="2952750" y="1477895"/>
            <a:ext cx="3905250" cy="320810"/>
          </a:xfrm>
          <a:prstGeom xmlns:a="http://schemas.openxmlformats.org/drawingml/2006/main" prst="rect">
            <a:avLst/>
          </a:prstGeom>
        </p:spPr>
      </p:pic>
      <p:sp>
        <p:nvSpPr>
          <p:cNvPr id="10" name="TextBox 10">
            <a:extLst xmlns:a="http://schemas.openxmlformats.org/drawingml/2006/main">
              <a:ext uri="{FF2B5EF4-FFF2-40B4-BE49-F238E27FC236}">
                <a16:creationId xmlns:a16="http://schemas.microsoft.com/office/drawing/2014/main" id="{F8B5B8E8-D2E7-4A26-B9B3-2C6A71A45F27}"/>
              </a:ext>
            </a:extLst>
          </p:cNvPr>
          <p:cNvSpPr>
            <a:spLocks xmlns:a="http://schemas.openxmlformats.org/drawingml/2006/main" noGrp="1"/>
          </p:cNvSpPr>
          <p:nvPr/>
        </p:nvSpPr>
        <p:spPr>
          <a:xfrm xmlns:a="http://schemas.openxmlformats.org/drawingml/2006/main" rot="0" flipH="0" flipV="0">
            <a:off x="7318058" y="1395889"/>
            <a:ext cx="4031933" cy="4972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75"/>
              </a:lnSpc>
              <a:buNone/>
            </a:pPr>
            <a:r>
              <a:rPr sz="1275">
                <a:solidFill>
                  <a:srgbClr val="20262B"/>
                </a:solidFill>
                <a:latin typeface="Arial"/>
                <a:ea typeface="Arial"/>
                <a:cs typeface="Arial"/>
              </a:rPr>
              <a:t>Determines how an agent’s current state becomes </a:t>
            </a:r>
            <a:r>
              <a:rPr sz="1275">
                <a:solidFill>
                  <a:srgbClr val="20262B"/>
                </a:solidFill>
                <a:latin typeface="Arial"/>
                <a:ea typeface="Arial"/>
                <a:cs typeface="Arial"/>
              </a:rPr>
              <a:t>a transmissible natural-language message.</a:t>
            </a:r>
          </a:p>
        </p:txBody>
      </p:sp>
      <p:sp>
        <p:nvSpPr>
          <p:cNvPr id="11" name="Line 11">
            <a:extLst xmlns:a="http://schemas.openxmlformats.org/drawingml/2006/main">
              <a:ext uri="{FF2B5EF4-FFF2-40B4-BE49-F238E27FC236}">
                <a16:creationId xmlns:a16="http://schemas.microsoft.com/office/drawing/2014/main" id="{821B5648-066C-4B16-B403-432A9A14D3DC}"/>
              </a:ext>
            </a:extLst>
          </p:cNvPr>
          <p:cNvSpPr>
            <a:spLocks xmlns:a="http://schemas.openxmlformats.org/drawingml/2006/main" noGrp="1"/>
          </p:cNvSpPr>
          <p:nvPr/>
        </p:nvSpPr>
        <p:spPr>
          <a:xfrm xmlns:a="http://schemas.openxmlformats.org/drawingml/2006/main" rot="0" flipH="0" flipV="0">
            <a:off x="685800" y="2190750"/>
            <a:ext cx="10820400" cy="9525"/>
          </a:xfrm>
          <a:custGeom xmlns:a="http://schemas.openxmlformats.org/drawingml/2006/main">
            <a:rect l="l" t="t" r="r" b="b"/>
            <a:pathLst>
              <a:path w="10820400" h="9525">
                <a:moveTo>
                  <a:pt x="0" y="0"/>
                </a:moveTo>
                <a:lnTo>
                  <a:pt x="10820400" y="0"/>
                </a:lnTo>
              </a:path>
            </a:pathLst>
          </a:custGeom>
          <a:noFill xmlns:a="http://schemas.openxmlformats.org/drawingml/2006/main"/>
          <a:ln xmlns:a="http://schemas.openxmlformats.org/drawingml/2006/main" w="9525">
            <a:solidFill>
              <a:srgbClr val="D8DEE3"/>
            </a:solidFill>
          </a:ln>
        </p:spPr>
      </p:sp>
      <p:sp>
        <p:nvSpPr>
          <p:cNvPr id="13" name="TextBox 13">
            <a:extLst xmlns:a="http://schemas.openxmlformats.org/drawingml/2006/main">
              <a:ext uri="{FF2B5EF4-FFF2-40B4-BE49-F238E27FC236}">
                <a16:creationId xmlns:a16="http://schemas.microsoft.com/office/drawing/2014/main" id="{D51D751E-5F11-4F01-A76B-583FC3D4A263}"/>
              </a:ext>
            </a:extLst>
          </p:cNvPr>
          <p:cNvSpPr>
            <a:spLocks xmlns:a="http://schemas.openxmlformats.org/drawingml/2006/main" noGrp="1"/>
          </p:cNvSpPr>
          <p:nvPr/>
        </p:nvSpPr>
        <p:spPr>
          <a:xfrm xmlns:a="http://schemas.openxmlformats.org/drawingml/2006/main" rot="0" flipH="0" flipV="0">
            <a:off x="664845" y="2698432"/>
            <a:ext cx="2490816"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17324D"/>
                </a:solidFill>
                <a:latin typeface="Arial"/>
                <a:ea typeface="Arial"/>
                <a:cs typeface="Arial"/>
              </a:rPr>
              <a:t>2 · Selection function</a:t>
            </a:r>
          </a:p>
        </p:txBody>
      </p:sp>
      <p:pic>
        <p:nvPicPr>
          <p:cNvPr id="42" name="Image 14"/>
          <p:cNvPicPr>
            <a:picLocks xmlns:a="http://schemas.openxmlformats.org/drawingml/2006/main" noChangeAspect="1"/>
          </p:cNvPicPr>
          <p:nvPr/>
        </p:nvPicPr>
        <p:blipFill>
          <a:blip xmlns:r="http://schemas.openxmlformats.org/officeDocument/2006/relationships" xmlns:a="http://schemas.openxmlformats.org/drawingml/2006/main" r:embed="R77ad2b0926b74927"/>
          <a:stretch xmlns:a="http://schemas.openxmlformats.org/drawingml/2006/main">
            <a:fillRect l="0" t="0" r="0" b="0"/>
          </a:stretch>
        </p:blipFill>
        <p:spPr>
          <a:xfrm xmlns:a="http://schemas.openxmlformats.org/drawingml/2006/main" rot="0" flipH="0" flipV="0">
            <a:off x="2952750" y="2736141"/>
            <a:ext cx="3905250" cy="318919"/>
          </a:xfrm>
          <a:prstGeom xmlns:a="http://schemas.openxmlformats.org/drawingml/2006/main" prst="rect">
            <a:avLst/>
          </a:prstGeom>
        </p:spPr>
      </p:pic>
      <p:sp>
        <p:nvSpPr>
          <p:cNvPr id="15" name="TextBox 15">
            <a:extLst xmlns:a="http://schemas.openxmlformats.org/drawingml/2006/main">
              <a:ext uri="{FF2B5EF4-FFF2-40B4-BE49-F238E27FC236}">
                <a16:creationId xmlns:a16="http://schemas.microsoft.com/office/drawing/2014/main" id="{81A53B8B-D9C6-4F32-A40D-040C12BF2E1F}"/>
              </a:ext>
            </a:extLst>
          </p:cNvPr>
          <p:cNvSpPr>
            <a:spLocks xmlns:a="http://schemas.openxmlformats.org/drawingml/2006/main" noGrp="1"/>
          </p:cNvSpPr>
          <p:nvPr/>
        </p:nvSpPr>
        <p:spPr>
          <a:xfrm xmlns:a="http://schemas.openxmlformats.org/drawingml/2006/main" rot="0" flipH="0" flipV="0">
            <a:off x="7318058" y="2653189"/>
            <a:ext cx="3675698" cy="4972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75"/>
              </a:lnSpc>
              <a:buNone/>
            </a:pPr>
            <a:r>
              <a:rPr sz="1275">
                <a:solidFill>
                  <a:srgbClr val="20262B"/>
                </a:solidFill>
                <a:latin typeface="Arial"/>
                <a:ea typeface="Arial"/>
                <a:cs typeface="Arial"/>
              </a:rPr>
              <a:t>Determines which sources and messages enter </a:t>
            </a:r>
            <a:r>
              <a:rPr sz="1275">
                <a:solidFill>
                  <a:srgbClr val="20262B"/>
                </a:solidFill>
                <a:latin typeface="Arial"/>
                <a:ea typeface="Arial"/>
                <a:cs typeface="Arial"/>
              </a:rPr>
              <a:t>the agent’s actual exposure set.</a:t>
            </a:r>
          </a:p>
        </p:txBody>
      </p:sp>
      <p:sp>
        <p:nvSpPr>
          <p:cNvPr id="16" name="Line 16">
            <a:extLst xmlns:a="http://schemas.openxmlformats.org/drawingml/2006/main">
              <a:ext uri="{FF2B5EF4-FFF2-40B4-BE49-F238E27FC236}">
                <a16:creationId xmlns:a16="http://schemas.microsoft.com/office/drawing/2014/main" id="{2858D4E6-1557-4A60-AC9D-4B556D6BCB84}"/>
              </a:ext>
            </a:extLst>
          </p:cNvPr>
          <p:cNvSpPr>
            <a:spLocks xmlns:a="http://schemas.openxmlformats.org/drawingml/2006/main" noGrp="1"/>
          </p:cNvSpPr>
          <p:nvPr/>
        </p:nvSpPr>
        <p:spPr>
          <a:xfrm xmlns:a="http://schemas.openxmlformats.org/drawingml/2006/main" rot="0" flipH="0" flipV="0">
            <a:off x="685800" y="3448050"/>
            <a:ext cx="10820400" cy="9525"/>
          </a:xfrm>
          <a:custGeom xmlns:a="http://schemas.openxmlformats.org/drawingml/2006/main">
            <a:rect l="l" t="t" r="r" b="b"/>
            <a:pathLst>
              <a:path w="10820400" h="9525">
                <a:moveTo>
                  <a:pt x="0" y="0"/>
                </a:moveTo>
                <a:lnTo>
                  <a:pt x="10820400" y="0"/>
                </a:lnTo>
              </a:path>
            </a:pathLst>
          </a:custGeom>
          <a:noFill xmlns:a="http://schemas.openxmlformats.org/drawingml/2006/main"/>
          <a:ln xmlns:a="http://schemas.openxmlformats.org/drawingml/2006/main" w="9525">
            <a:solidFill>
              <a:srgbClr val="D8DEE3"/>
            </a:solidFill>
          </a:ln>
        </p:spPr>
      </p:sp>
      <p:sp>
        <p:nvSpPr>
          <p:cNvPr id="18" name="TextBox 18">
            <a:extLst xmlns:a="http://schemas.openxmlformats.org/drawingml/2006/main">
              <a:ext uri="{FF2B5EF4-FFF2-40B4-BE49-F238E27FC236}">
                <a16:creationId xmlns:a16="http://schemas.microsoft.com/office/drawing/2014/main" id="{06927EBA-1240-486C-92CF-D6C30C49D303}"/>
              </a:ext>
            </a:extLst>
          </p:cNvPr>
          <p:cNvSpPr>
            <a:spLocks xmlns:a="http://schemas.openxmlformats.org/drawingml/2006/main" noGrp="1"/>
          </p:cNvSpPr>
          <p:nvPr/>
        </p:nvSpPr>
        <p:spPr>
          <a:xfrm xmlns:a="http://schemas.openxmlformats.org/drawingml/2006/main" rot="0" flipH="0" flipV="0">
            <a:off x="664845" y="3955732"/>
            <a:ext cx="2225133"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17324D"/>
                </a:solidFill>
                <a:latin typeface="Arial"/>
                <a:ea typeface="Arial"/>
                <a:cs typeface="Arial"/>
              </a:rPr>
              <a:t>3 · Update function</a:t>
            </a:r>
          </a:p>
        </p:txBody>
      </p:sp>
      <p:pic>
        <p:nvPicPr>
          <p:cNvPr id="46" name="Image 19"/>
          <p:cNvPicPr>
            <a:picLocks xmlns:a="http://schemas.openxmlformats.org/drawingml/2006/main" noChangeAspect="1"/>
          </p:cNvPicPr>
          <p:nvPr/>
        </p:nvPicPr>
        <p:blipFill>
          <a:blip xmlns:r="http://schemas.openxmlformats.org/officeDocument/2006/relationships" xmlns:a="http://schemas.openxmlformats.org/drawingml/2006/main" r:embed="R3783d92a045f43db"/>
          <a:stretch xmlns:a="http://schemas.openxmlformats.org/drawingml/2006/main">
            <a:fillRect l="0" t="0" r="0" b="0"/>
          </a:stretch>
        </p:blipFill>
        <p:spPr>
          <a:xfrm xmlns:a="http://schemas.openxmlformats.org/drawingml/2006/main" rot="0" flipH="0" flipV="0">
            <a:off x="2800350" y="4029486"/>
            <a:ext cx="4210050" cy="246828"/>
          </a:xfrm>
          <a:prstGeom xmlns:a="http://schemas.openxmlformats.org/drawingml/2006/main" prst="rect">
            <a:avLst/>
          </a:prstGeom>
        </p:spPr>
      </p:pic>
      <p:sp>
        <p:nvSpPr>
          <p:cNvPr id="20" name="TextBox 20">
            <a:extLst xmlns:a="http://schemas.openxmlformats.org/drawingml/2006/main">
              <a:ext uri="{FF2B5EF4-FFF2-40B4-BE49-F238E27FC236}">
                <a16:creationId xmlns:a16="http://schemas.microsoft.com/office/drawing/2014/main" id="{E8300B65-B248-4868-801C-3FC256ECB4DC}"/>
              </a:ext>
            </a:extLst>
          </p:cNvPr>
          <p:cNvSpPr>
            <a:spLocks xmlns:a="http://schemas.openxmlformats.org/drawingml/2006/main" noGrp="1"/>
          </p:cNvSpPr>
          <p:nvPr/>
        </p:nvSpPr>
        <p:spPr>
          <a:xfrm xmlns:a="http://schemas.openxmlformats.org/drawingml/2006/main" rot="0" flipH="0" flipV="0">
            <a:off x="7318058" y="3910489"/>
            <a:ext cx="3886200" cy="4972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75"/>
              </a:lnSpc>
              <a:buNone/>
            </a:pPr>
            <a:r>
              <a:rPr sz="1275">
                <a:solidFill>
                  <a:srgbClr val="20262B"/>
                </a:solidFill>
                <a:latin typeface="Arial"/>
                <a:ea typeface="Arial"/>
                <a:cs typeface="Arial"/>
              </a:rPr>
              <a:t>Determines the agent’s next opinion state after </a:t>
            </a:r>
            <a:r>
              <a:rPr sz="1275">
                <a:solidFill>
                  <a:srgbClr val="20262B"/>
                </a:solidFill>
                <a:latin typeface="Arial"/>
                <a:ea typeface="Arial"/>
                <a:cs typeface="Arial"/>
              </a:rPr>
              <a:t>receiving the selected messages.</a:t>
            </a:r>
          </a:p>
        </p:txBody>
      </p:sp>
      <p:sp>
        <p:nvSpPr>
          <p:cNvPr id="21" name="Line 21">
            <a:extLst xmlns:a="http://schemas.openxmlformats.org/drawingml/2006/main">
              <a:ext uri="{FF2B5EF4-FFF2-40B4-BE49-F238E27FC236}">
                <a16:creationId xmlns:a16="http://schemas.microsoft.com/office/drawing/2014/main" id="{6AB7ED8A-DB57-454A-AF6C-CA7E62084843}"/>
              </a:ext>
            </a:extLst>
          </p:cNvPr>
          <p:cNvSpPr>
            <a:spLocks xmlns:a="http://schemas.openxmlformats.org/drawingml/2006/main" noGrp="1"/>
          </p:cNvSpPr>
          <p:nvPr/>
        </p:nvSpPr>
        <p:spPr>
          <a:xfrm xmlns:a="http://schemas.openxmlformats.org/drawingml/2006/main" rot="0" flipH="0" flipV="0">
            <a:off x="685800" y="4705350"/>
            <a:ext cx="10820400" cy="9525"/>
          </a:xfrm>
          <a:custGeom xmlns:a="http://schemas.openxmlformats.org/drawingml/2006/main">
            <a:rect l="l" t="t" r="r" b="b"/>
            <a:pathLst>
              <a:path w="10820400" h="9525">
                <a:moveTo>
                  <a:pt x="0" y="0"/>
                </a:moveTo>
                <a:lnTo>
                  <a:pt x="10820400" y="0"/>
                </a:lnTo>
              </a:path>
            </a:pathLst>
          </a:custGeom>
          <a:noFill xmlns:a="http://schemas.openxmlformats.org/drawingml/2006/main"/>
          <a:ln xmlns:a="http://schemas.openxmlformats.org/drawingml/2006/main" w="9525">
            <a:solidFill>
              <a:srgbClr val="D8DEE3"/>
            </a:solidFill>
          </a:ln>
        </p:spPr>
      </p:sp>
      <p:sp>
        <p:nvSpPr>
          <p:cNvPr id="23" name="TextBox 23">
            <a:extLst xmlns:a="http://schemas.openxmlformats.org/drawingml/2006/main">
              <a:ext uri="{FF2B5EF4-FFF2-40B4-BE49-F238E27FC236}">
                <a16:creationId xmlns:a16="http://schemas.microsoft.com/office/drawing/2014/main" id="{A7CA45E0-0749-4056-842D-7934F2E0F6B3}"/>
              </a:ext>
            </a:extLst>
          </p:cNvPr>
          <p:cNvSpPr>
            <a:spLocks xmlns:a="http://schemas.openxmlformats.org/drawingml/2006/main" noGrp="1"/>
          </p:cNvSpPr>
          <p:nvPr/>
        </p:nvSpPr>
        <p:spPr>
          <a:xfrm xmlns:a="http://schemas.openxmlformats.org/drawingml/2006/main" rot="0" flipH="0" flipV="0">
            <a:off x="672465" y="5049202"/>
            <a:ext cx="1673276"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050" b="1">
                <a:solidFill>
                  <a:srgbClr val="17324D"/>
                </a:solidFill>
                <a:latin typeface="Arial"/>
                <a:ea typeface="Arial"/>
                <a:cs typeface="Arial"/>
              </a:rPr>
              <a:t>STATE AND ENVIRONMENT</a:t>
            </a:r>
          </a:p>
        </p:txBody>
      </p:sp>
      <p:sp>
        <p:nvSpPr>
          <p:cNvPr id="24" name="TextBox 24">
            <a:extLst xmlns:a="http://schemas.openxmlformats.org/drawingml/2006/main">
              <a:ext uri="{FF2B5EF4-FFF2-40B4-BE49-F238E27FC236}">
                <a16:creationId xmlns:a16="http://schemas.microsoft.com/office/drawing/2014/main" id="{EE3D05F4-49F2-4639-994A-6EE0AA79BF13}"/>
              </a:ext>
            </a:extLst>
          </p:cNvPr>
          <p:cNvSpPr>
            <a:spLocks xmlns:a="http://schemas.openxmlformats.org/drawingml/2006/main" noGrp="1"/>
          </p:cNvSpPr>
          <p:nvPr/>
        </p:nvSpPr>
        <p:spPr>
          <a:xfrm xmlns:a="http://schemas.openxmlformats.org/drawingml/2006/main" rot="0" flipH="0" flipV="0">
            <a:off x="670560" y="5385435"/>
            <a:ext cx="8359140" cy="472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00"/>
              </a:lnSpc>
              <a:buNone/>
            </a:pPr>
            <a:r>
              <a:rPr sz="1200">
                <a:solidFill>
                  <a:srgbClr val="20262B"/>
                </a:solidFill>
                <a:latin typeface="Arial"/>
                <a:ea typeface="Arial"/>
                <a:cs typeface="Arial"/>
              </a:rPr>
              <a:t>The inputs encode the current opinion state, human-data-supported individual attributes, interaction history, </a:t>
            </a:r>
            <a:r>
              <a:rPr sz="1200">
                <a:solidFill>
                  <a:srgbClr val="20262B"/>
                </a:solidFill>
                <a:latin typeface="Arial"/>
                <a:ea typeface="Arial"/>
                <a:cs typeface="Arial"/>
              </a:rPr>
              <a:t>the external information environment, the network, and the sources that enter the current exposure set.</a:t>
            </a:r>
          </a:p>
        </p:txBody>
      </p:sp>
      <p:sp>
        <p:nvSpPr>
          <p:cNvPr id="26" name="TextBox 26">
            <a:extLst xmlns:a="http://schemas.openxmlformats.org/drawingml/2006/main">
              <a:ext uri="{FF2B5EF4-FFF2-40B4-BE49-F238E27FC236}">
                <a16:creationId xmlns:a16="http://schemas.microsoft.com/office/drawing/2014/main" id="{F9E9392F-CE20-4341-8466-1EE73603B71D}"/>
              </a:ext>
            </a:extLst>
          </p:cNvPr>
          <p:cNvSpPr>
            <a:spLocks xmlns:a="http://schemas.openxmlformats.org/drawingml/2006/main" noGrp="1"/>
          </p:cNvSpPr>
          <p:nvPr/>
        </p:nvSpPr>
        <p:spPr>
          <a:xfrm xmlns:a="http://schemas.openxmlformats.org/drawingml/2006/main" rot="0" flipH="0" flipV="0">
            <a:off x="672465" y="5963602"/>
            <a:ext cx="3967162" cy="403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500"/>
              </a:lnSpc>
              <a:buNone/>
            </a:pPr>
            <a:r>
              <a:rPr sz="1050">
                <a:solidFill>
                  <a:srgbClr val="7A8792"/>
                </a:solidFill>
                <a:latin typeface="Arial"/>
                <a:ea typeface="Arial"/>
                <a:cs typeface="Arial"/>
              </a:rPr>
              <a:t>LLM–ABM integration occurs at these behavioral interfaces; </a:t>
            </a:r>
            <a:r>
              <a:rPr sz="1050">
                <a:solidFill>
                  <a:srgbClr val="7A8792"/>
                </a:solidFill>
                <a:latin typeface="Arial"/>
                <a:ea typeface="Arial"/>
                <a:cs typeface="Arial"/>
              </a:rPr>
              <a:t>the update function is the primary link to opinion evolution.</a:t>
            </a:r>
          </a:p>
        </p:txBody>
      </p:sp>
      <p:sp>
        <p:nvSpPr>
          <p:cNvPr id="28" name="TextBox 28">
            <a:extLst xmlns:a="http://schemas.openxmlformats.org/drawingml/2006/main">
              <a:ext uri="{FF2B5EF4-FFF2-40B4-BE49-F238E27FC236}">
                <a16:creationId xmlns:a16="http://schemas.microsoft.com/office/drawing/2014/main" id="{B6A708DE-87F7-43A5-A96D-240BBC4AB789}"/>
              </a:ext>
            </a:extLst>
          </p:cNvPr>
          <p:cNvSpPr>
            <a:spLocks xmlns:a="http://schemas.openxmlformats.org/drawingml/2006/main" noGrp="1"/>
          </p:cNvSpPr>
          <p:nvPr/>
        </p:nvSpPr>
        <p:spPr>
          <a:xfrm xmlns:a="http://schemas.openxmlformats.org/drawingml/2006/main">
            <a:off x="11362754" y="6398895"/>
            <a:ext cx="154877"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00">
                <a:solidFill>
                  <a:srgbClr val="7A8792"/>
                </a:solidFill>
                <a:latin typeface="Arial"/>
                <a:ea typeface="Arial"/>
                <a:cs typeface="Arial"/>
              </a:rPr>
              <a:t>08</a:t>
            </a:r>
          </a:p>
        </p:txBody>
      </p:sp>
    </p:spTree>
    <p:extLst>
      <p:ext uri="{BB962C8B-B14F-4D97-AF65-F5344CB8AC3E}">
        <p14:creationId xmlns:p14="http://schemas.microsoft.com/office/powerpoint/2010/main" val="81790855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A16C74FA-B63D-4F81-85FC-2E48DD9486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sp>
      <p:sp>
        <p:nvSpPr>
          <p:cNvPr id="3" name="TextBox 3">
            <a:extLst xmlns:a="http://schemas.openxmlformats.org/drawingml/2006/main">
              <a:ext uri="{FF2B5EF4-FFF2-40B4-BE49-F238E27FC236}">
                <a16:creationId xmlns:a16="http://schemas.microsoft.com/office/drawing/2014/main" id="{FB7F6D8B-2503-48D9-88B9-55D6BBDD9217}"/>
              </a:ext>
            </a:extLst>
          </p:cNvPr>
          <p:cNvSpPr>
            <a:spLocks xmlns:a="http://schemas.openxmlformats.org/drawingml/2006/main" noGrp="1"/>
          </p:cNvSpPr>
          <p:nvPr/>
        </p:nvSpPr>
        <p:spPr>
          <a:xfrm xmlns:a="http://schemas.openxmlformats.org/drawingml/2006/main" rot="0" flipH="0" flipV="0">
            <a:off x="541020" y="464820"/>
            <a:ext cx="918450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20262B"/>
                </a:solidFill>
                <a:latin typeface="Arial"/>
                <a:ea typeface="Arial"/>
                <a:cs typeface="Arial"/>
              </a:rPr>
              <a:t>Testing the Three SQs Through the Behavioral Functions</a:t>
            </a:r>
          </a:p>
        </p:txBody>
      </p:sp>
      <p:sp>
        <p:nvSpPr>
          <p:cNvPr id="4" name="Line 4">
            <a:extLst xmlns:a="http://schemas.openxmlformats.org/drawingml/2006/main">
              <a:ext uri="{FF2B5EF4-FFF2-40B4-BE49-F238E27FC236}">
                <a16:creationId xmlns:a16="http://schemas.microsoft.com/office/drawing/2014/main" id="{180ED704-129A-4C57-8987-80ECDB68EECF}"/>
              </a:ext>
            </a:extLst>
          </p:cNvPr>
          <p:cNvSpPr>
            <a:spLocks xmlns:a="http://schemas.openxmlformats.org/drawingml/2006/main" noGrp="1"/>
          </p:cNvSpPr>
          <p:nvPr/>
        </p:nvSpPr>
        <p:spPr>
          <a:xfrm xmlns:a="http://schemas.openxmlformats.org/drawingml/2006/main" rot="0" flipH="0" flipV="0">
            <a:off x="571500" y="971550"/>
            <a:ext cx="11049000" cy="9525"/>
          </a:xfrm>
          <a:custGeom xmlns:a="http://schemas.openxmlformats.org/drawingml/2006/main">
            <a:rect l="l" t="t" r="r" b="b"/>
            <a:pathLst>
              <a:path w="11049000" h="9525">
                <a:moveTo>
                  <a:pt x="0" y="0"/>
                </a:moveTo>
                <a:lnTo>
                  <a:pt x="11049000" y="0"/>
                </a:lnTo>
              </a:path>
            </a:pathLst>
          </a:custGeom>
          <a:noFill xmlns:a="http://schemas.openxmlformats.org/drawingml/2006/main"/>
          <a:ln xmlns:a="http://schemas.openxmlformats.org/drawingml/2006/main" w="9525">
            <a:solidFill>
              <a:srgbClr val="D8DEE3"/>
            </a:solidFill>
          </a:ln>
        </p:spPr>
      </p:sp>
      <p:sp>
        <p:nvSpPr>
          <p:cNvPr id="5" name="Rectangle 5">
            <a:extLst xmlns:a="http://schemas.openxmlformats.org/drawingml/2006/main">
              <a:ext uri="{FF2B5EF4-FFF2-40B4-BE49-F238E27FC236}">
                <a16:creationId xmlns:a16="http://schemas.microsoft.com/office/drawing/2014/main" id="{81A46DF6-E395-4FCC-9665-7DE6E4B845EE}"/>
              </a:ext>
            </a:extLst>
          </p:cNvPr>
          <p:cNvSpPr>
            <a:spLocks xmlns:a="http://schemas.openxmlformats.org/drawingml/2006/main" noGrp="1"/>
          </p:cNvSpPr>
          <p:nvPr/>
        </p:nvSpPr>
        <p:spPr>
          <a:xfrm xmlns:a="http://schemas.openxmlformats.org/drawingml/2006/main" rot="0" flipH="0" flipV="0">
            <a:off x="571500" y="952500"/>
            <a:ext cx="1104900" cy="28575"/>
          </a:xfrm>
          <a:prstGeom xmlns:a="http://schemas.openxmlformats.org/drawingml/2006/main" prst="rect">
            <a:avLst/>
          </a:prstGeom>
          <a:solidFill xmlns:a="http://schemas.openxmlformats.org/drawingml/2006/main">
            <a:srgbClr val="17324D"/>
          </a:solidFill>
          <a:ln xmlns:a="http://schemas.openxmlformats.org/drawingml/2006/main">
            <a:noFill/>
          </a:ln>
        </p:spPr>
      </p:sp>
      <p:sp>
        <p:nvSpPr>
          <p:cNvPr id="7" name="Line 7">
            <a:extLst xmlns:a="http://schemas.openxmlformats.org/drawingml/2006/main">
              <a:ext uri="{FF2B5EF4-FFF2-40B4-BE49-F238E27FC236}">
                <a16:creationId xmlns:a16="http://schemas.microsoft.com/office/drawing/2014/main" id="{708519BF-79C9-4351-A62B-80B61D7B6BCA}"/>
              </a:ext>
            </a:extLst>
          </p:cNvPr>
          <p:cNvSpPr>
            <a:spLocks xmlns:a="http://schemas.openxmlformats.org/drawingml/2006/main" noGrp="1"/>
          </p:cNvSpPr>
          <p:nvPr/>
        </p:nvSpPr>
        <p:spPr>
          <a:xfrm xmlns:a="http://schemas.openxmlformats.org/drawingml/2006/main" rot="0" flipH="0" flipV="0">
            <a:off x="685800" y="1276350"/>
            <a:ext cx="9525" cy="1295400"/>
          </a:xfrm>
          <a:custGeom xmlns:a="http://schemas.openxmlformats.org/drawingml/2006/main">
            <a:rect l="l" t="t" r="r" b="b"/>
            <a:pathLst>
              <a:path w="9525" h="1295400">
                <a:moveTo>
                  <a:pt x="0" y="0"/>
                </a:moveTo>
                <a:lnTo>
                  <a:pt x="0" y="1295400"/>
                </a:lnTo>
              </a:path>
            </a:pathLst>
          </a:custGeom>
          <a:noFill xmlns:a="http://schemas.openxmlformats.org/drawingml/2006/main"/>
          <a:ln xmlns:a="http://schemas.openxmlformats.org/drawingml/2006/main" w="28575">
            <a:solidFill>
              <a:srgbClr val="17324D"/>
            </a:solidFill>
          </a:ln>
        </p:spPr>
      </p:sp>
      <p:sp>
        <p:nvSpPr>
          <p:cNvPr id="8" name="TextBox 8">
            <a:extLst xmlns:a="http://schemas.openxmlformats.org/drawingml/2006/main">
              <a:ext uri="{FF2B5EF4-FFF2-40B4-BE49-F238E27FC236}">
                <a16:creationId xmlns:a16="http://schemas.microsoft.com/office/drawing/2014/main" id="{C13C1C57-C5F6-460C-8769-BB820832C7DD}"/>
              </a:ext>
            </a:extLst>
          </p:cNvPr>
          <p:cNvSpPr>
            <a:spLocks xmlns:a="http://schemas.openxmlformats.org/drawingml/2006/main" noGrp="1"/>
          </p:cNvSpPr>
          <p:nvPr/>
        </p:nvSpPr>
        <p:spPr>
          <a:xfrm xmlns:a="http://schemas.openxmlformats.org/drawingml/2006/main" rot="0" flipH="0" flipV="0">
            <a:off x="873442" y="1299686"/>
            <a:ext cx="490646" cy="350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725" b="1">
                <a:solidFill>
                  <a:srgbClr val="17324D"/>
                </a:solidFill>
                <a:latin typeface="Arial"/>
                <a:ea typeface="Arial"/>
                <a:cs typeface="Arial"/>
              </a:rPr>
              <a:t>SQ1</a:t>
            </a:r>
          </a:p>
        </p:txBody>
      </p:sp>
      <p:sp>
        <p:nvSpPr>
          <p:cNvPr id="9" name="TextBox 9">
            <a:extLst xmlns:a="http://schemas.openxmlformats.org/drawingml/2006/main">
              <a:ext uri="{FF2B5EF4-FFF2-40B4-BE49-F238E27FC236}">
                <a16:creationId xmlns:a16="http://schemas.microsoft.com/office/drawing/2014/main" id="{99A6424A-FFDF-464B-8F4C-0DCE27F92939}"/>
              </a:ext>
            </a:extLst>
          </p:cNvPr>
          <p:cNvSpPr>
            <a:spLocks xmlns:a="http://schemas.openxmlformats.org/drawingml/2006/main" noGrp="1"/>
          </p:cNvSpPr>
          <p:nvPr/>
        </p:nvSpPr>
        <p:spPr>
          <a:xfrm xmlns:a="http://schemas.openxmlformats.org/drawingml/2006/main" rot="0" flipH="0" flipV="0">
            <a:off x="1563052" y="1313021"/>
            <a:ext cx="5712679"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Does the LLM change the message and selection functions?</a:t>
            </a:r>
          </a:p>
        </p:txBody>
      </p:sp>
      <p:sp>
        <p:nvSpPr>
          <p:cNvPr id="10" name="TextBox 10">
            <a:extLst xmlns:a="http://schemas.openxmlformats.org/drawingml/2006/main">
              <a:ext uri="{FF2B5EF4-FFF2-40B4-BE49-F238E27FC236}">
                <a16:creationId xmlns:a16="http://schemas.microsoft.com/office/drawing/2014/main" id="{AB7C827E-C71E-44DE-B01C-574DAA270FB3}"/>
              </a:ext>
            </a:extLst>
          </p:cNvPr>
          <p:cNvSpPr>
            <a:spLocks xmlns:a="http://schemas.openxmlformats.org/drawingml/2006/main" noGrp="1"/>
          </p:cNvSpPr>
          <p:nvPr/>
        </p:nvSpPr>
        <p:spPr>
          <a:xfrm xmlns:a="http://schemas.openxmlformats.org/drawingml/2006/main" rot="0" flipH="0" flipV="0">
            <a:off x="1566862" y="1688306"/>
            <a:ext cx="5343525"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125" b="1">
                <a:solidFill>
                  <a:srgbClr val="20262B"/>
                </a:solidFill>
                <a:latin typeface="Arial"/>
                <a:ea typeface="Arial"/>
                <a:cs typeface="Arial"/>
              </a:rPr>
              <a:t>Comparison:</a:t>
            </a:r>
            <a:r>
              <a:rPr sz="1125">
                <a:solidFill>
                  <a:srgbClr val="20262B"/>
                </a:solidFill>
                <a:latin typeface="Arial"/>
                <a:ea typeface="Arial"/>
                <a:cs typeface="Arial"/>
              </a:rPr>
              <a:t> human-information baseline versus shared LLM. </a:t>
            </a:r>
            <a:r>
              <a:rPr sz="1125" b="1">
                <a:solidFill>
                  <a:srgbClr val="20262B"/>
                </a:solidFill>
                <a:latin typeface="Arial"/>
                <a:ea typeface="Arial"/>
                <a:cs typeface="Arial"/>
              </a:rPr>
              <a:t>Observe:</a:t>
            </a:r>
            <a:r>
              <a:rPr sz="1125">
                <a:solidFill>
                  <a:srgbClr val="20262B"/>
                </a:solidFill>
                <a:latin typeface="Arial"/>
                <a:ea typeface="Arial"/>
                <a:cs typeface="Arial"/>
              </a:rPr>
              <a:t> stance, claims, sources, message overlap, and exposure overlap; </a:t>
            </a:r>
            <a:r>
              <a:rPr sz="1125">
                <a:solidFill>
                  <a:srgbClr val="20262B"/>
                </a:solidFill>
                <a:latin typeface="Arial"/>
                <a:ea typeface="Arial"/>
                <a:cs typeface="Arial"/>
              </a:rPr>
              <a:t>selection, sharing, and diffusion paths.</a:t>
            </a:r>
          </a:p>
        </p:txBody>
      </p:sp>
      <p:pic>
        <p:nvPicPr>
          <p:cNvPr id="43" name="Image 11"/>
          <p:cNvPicPr>
            <a:picLocks xmlns:a="http://schemas.openxmlformats.org/drawingml/2006/main" noChangeAspect="1"/>
          </p:cNvPicPr>
          <p:nvPr/>
        </p:nvPicPr>
        <p:blipFill>
          <a:blip xmlns:r="http://schemas.openxmlformats.org/officeDocument/2006/relationships" xmlns:a="http://schemas.openxmlformats.org/drawingml/2006/main" r:embed="Raaa57495fd2e4048"/>
          <a:stretch xmlns:a="http://schemas.openxmlformats.org/drawingml/2006/main">
            <a:fillRect l="0" t="0" r="0" b="0"/>
          </a:stretch>
        </p:blipFill>
        <p:spPr>
          <a:xfrm xmlns:a="http://schemas.openxmlformats.org/drawingml/2006/main" rot="0" flipH="0" flipV="0">
            <a:off x="6972300" y="2049769"/>
            <a:ext cx="4095750" cy="301013"/>
          </a:xfrm>
          <a:prstGeom xmlns:a="http://schemas.openxmlformats.org/drawingml/2006/main" prst="rect">
            <a:avLst/>
          </a:prstGeom>
        </p:spPr>
      </p:pic>
      <p:sp>
        <p:nvSpPr>
          <p:cNvPr id="12" name="Line 12">
            <a:extLst xmlns:a="http://schemas.openxmlformats.org/drawingml/2006/main">
              <a:ext uri="{FF2B5EF4-FFF2-40B4-BE49-F238E27FC236}">
                <a16:creationId xmlns:a16="http://schemas.microsoft.com/office/drawing/2014/main" id="{8ECA8D8C-7241-425F-A034-DFC72A5A53A1}"/>
              </a:ext>
            </a:extLst>
          </p:cNvPr>
          <p:cNvSpPr>
            <a:spLocks xmlns:a="http://schemas.openxmlformats.org/drawingml/2006/main" noGrp="1"/>
          </p:cNvSpPr>
          <p:nvPr/>
        </p:nvSpPr>
        <p:spPr>
          <a:xfrm xmlns:a="http://schemas.openxmlformats.org/drawingml/2006/main" rot="0" flipH="0" flipV="0">
            <a:off x="895350" y="2724150"/>
            <a:ext cx="10610850" cy="9525"/>
          </a:xfrm>
          <a:custGeom xmlns:a="http://schemas.openxmlformats.org/drawingml/2006/main">
            <a:rect l="l" t="t" r="r" b="b"/>
            <a:pathLst>
              <a:path w="10610850" h="9525">
                <a:moveTo>
                  <a:pt x="0" y="0"/>
                </a:moveTo>
                <a:lnTo>
                  <a:pt x="10610850" y="0"/>
                </a:lnTo>
              </a:path>
            </a:pathLst>
          </a:custGeom>
          <a:noFill xmlns:a="http://schemas.openxmlformats.org/drawingml/2006/main"/>
          <a:ln xmlns:a="http://schemas.openxmlformats.org/drawingml/2006/main" w="9525">
            <a:solidFill>
              <a:srgbClr val="D8DEE3"/>
            </a:solidFill>
          </a:ln>
        </p:spPr>
      </p:sp>
      <p:sp>
        <p:nvSpPr>
          <p:cNvPr id="14" name="Line 14">
            <a:extLst xmlns:a="http://schemas.openxmlformats.org/drawingml/2006/main">
              <a:ext uri="{FF2B5EF4-FFF2-40B4-BE49-F238E27FC236}">
                <a16:creationId xmlns:a16="http://schemas.microsoft.com/office/drawing/2014/main" id="{FA4A7E07-0743-422A-AA27-4598DC3E1688}"/>
              </a:ext>
            </a:extLst>
          </p:cNvPr>
          <p:cNvSpPr>
            <a:spLocks xmlns:a="http://schemas.openxmlformats.org/drawingml/2006/main" noGrp="1"/>
          </p:cNvSpPr>
          <p:nvPr/>
        </p:nvSpPr>
        <p:spPr>
          <a:xfrm xmlns:a="http://schemas.openxmlformats.org/drawingml/2006/main" rot="0" flipH="0" flipV="0">
            <a:off x="685800" y="2952750"/>
            <a:ext cx="9525" cy="1743075"/>
          </a:xfrm>
          <a:custGeom xmlns:a="http://schemas.openxmlformats.org/drawingml/2006/main">
            <a:rect l="l" t="t" r="r" b="b"/>
            <a:pathLst>
              <a:path w="9525" h="1743075">
                <a:moveTo>
                  <a:pt x="0" y="0"/>
                </a:moveTo>
                <a:lnTo>
                  <a:pt x="0" y="1743075"/>
                </a:lnTo>
              </a:path>
            </a:pathLst>
          </a:custGeom>
          <a:noFill xmlns:a="http://schemas.openxmlformats.org/drawingml/2006/main"/>
          <a:ln xmlns:a="http://schemas.openxmlformats.org/drawingml/2006/main" w="28575">
            <a:solidFill>
              <a:srgbClr val="17324D"/>
            </a:solidFill>
          </a:ln>
        </p:spPr>
      </p:sp>
      <p:sp>
        <p:nvSpPr>
          <p:cNvPr id="15" name="TextBox 15">
            <a:extLst xmlns:a="http://schemas.openxmlformats.org/drawingml/2006/main">
              <a:ext uri="{FF2B5EF4-FFF2-40B4-BE49-F238E27FC236}">
                <a16:creationId xmlns:a16="http://schemas.microsoft.com/office/drawing/2014/main" id="{3402FBF4-0509-42C3-AE74-6984DB847881}"/>
              </a:ext>
            </a:extLst>
          </p:cNvPr>
          <p:cNvSpPr>
            <a:spLocks xmlns:a="http://schemas.openxmlformats.org/drawingml/2006/main" noGrp="1"/>
          </p:cNvSpPr>
          <p:nvPr/>
        </p:nvSpPr>
        <p:spPr>
          <a:xfrm xmlns:a="http://schemas.openxmlformats.org/drawingml/2006/main" rot="0" flipH="0" flipV="0">
            <a:off x="873442" y="2985611"/>
            <a:ext cx="490646" cy="350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725" b="1">
                <a:solidFill>
                  <a:srgbClr val="17324D"/>
                </a:solidFill>
                <a:latin typeface="Arial"/>
                <a:ea typeface="Arial"/>
                <a:cs typeface="Arial"/>
              </a:rPr>
              <a:t>SQ2</a:t>
            </a:r>
          </a:p>
        </p:txBody>
      </p:sp>
      <p:sp>
        <p:nvSpPr>
          <p:cNvPr id="16" name="TextBox 16">
            <a:extLst xmlns:a="http://schemas.openxmlformats.org/drawingml/2006/main">
              <a:ext uri="{FF2B5EF4-FFF2-40B4-BE49-F238E27FC236}">
                <a16:creationId xmlns:a16="http://schemas.microsoft.com/office/drawing/2014/main" id="{34240356-FF2F-48DF-8C2C-3EAA7456E232}"/>
              </a:ext>
            </a:extLst>
          </p:cNvPr>
          <p:cNvSpPr>
            <a:spLocks xmlns:a="http://schemas.openxmlformats.org/drawingml/2006/main" noGrp="1"/>
          </p:cNvSpPr>
          <p:nvPr/>
        </p:nvSpPr>
        <p:spPr>
          <a:xfrm xmlns:a="http://schemas.openxmlformats.org/drawingml/2006/main" rot="0" flipH="0" flipV="0">
            <a:off x="1563052" y="2998946"/>
            <a:ext cx="5672774"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How do exposure and diffusion enter the update function?</a:t>
            </a:r>
          </a:p>
        </p:txBody>
      </p:sp>
      <p:sp>
        <p:nvSpPr>
          <p:cNvPr id="17" name="TextBox 17">
            <a:extLst xmlns:a="http://schemas.openxmlformats.org/drawingml/2006/main">
              <a:ext uri="{FF2B5EF4-FFF2-40B4-BE49-F238E27FC236}">
                <a16:creationId xmlns:a16="http://schemas.microsoft.com/office/drawing/2014/main" id="{C6300FAA-3980-48DF-8D77-1238BB8861AF}"/>
              </a:ext>
            </a:extLst>
          </p:cNvPr>
          <p:cNvSpPr>
            <a:spLocks xmlns:a="http://schemas.openxmlformats.org/drawingml/2006/main" noGrp="1"/>
          </p:cNvSpPr>
          <p:nvPr/>
        </p:nvSpPr>
        <p:spPr>
          <a:xfrm xmlns:a="http://schemas.openxmlformats.org/drawingml/2006/main" rot="0" flipH="0" flipV="0">
            <a:off x="1566862" y="3393281"/>
            <a:ext cx="5064919"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125" b="1">
                <a:solidFill>
                  <a:srgbClr val="20262B"/>
                </a:solidFill>
                <a:latin typeface="Arial"/>
                <a:ea typeface="Arial"/>
                <a:cs typeface="Arial"/>
              </a:rPr>
              <a:t>Hold fixed:</a:t>
            </a:r>
            <a:r>
              <a:rPr sz="1125">
                <a:solidFill>
                  <a:srgbClr val="20262B"/>
                </a:solidFill>
                <a:latin typeface="Arial"/>
                <a:ea typeface="Arial"/>
                <a:cs typeface="Arial"/>
              </a:rPr>
              <a:t> message library, initial groups, and networks. </a:t>
            </a:r>
            <a:r>
              <a:rPr sz="1125" b="1">
                <a:solidFill>
                  <a:srgbClr val="20262B"/>
                </a:solidFill>
                <a:latin typeface="Arial"/>
                <a:ea typeface="Arial"/>
                <a:cs typeface="Arial"/>
              </a:rPr>
              <a:t>Manipulate:</a:t>
            </a:r>
            <a:r>
              <a:rPr sz="1125">
                <a:solidFill>
                  <a:srgbClr val="20262B"/>
                </a:solidFill>
                <a:latin typeface="Arial"/>
                <a:ea typeface="Arial"/>
                <a:cs typeface="Arial"/>
              </a:rPr>
              <a:t> exposure commonality (low/high) and diffusion intensity </a:t>
            </a:r>
            <a:r>
              <a:rPr sz="1125">
                <a:solidFill>
                  <a:srgbClr val="20262B"/>
                </a:solidFill>
                <a:latin typeface="Arial"/>
                <a:ea typeface="Arial"/>
                <a:cs typeface="Arial"/>
              </a:rPr>
              <a:t>(off/human-calibrated). </a:t>
            </a:r>
            <a:r>
              <a:rPr sz="1125" b="1">
                <a:solidFill>
                  <a:srgbClr val="20262B"/>
                </a:solidFill>
                <a:latin typeface="Arial"/>
                <a:ea typeface="Arial"/>
                <a:cs typeface="Arial"/>
              </a:rPr>
              <a:t>Compare:</a:t>
            </a:r>
            <a:r>
              <a:rPr sz="1125">
                <a:solidFill>
                  <a:srgbClr val="20262B"/>
                </a:solidFill>
                <a:latin typeface="Arial"/>
                <a:ea typeface="Arial"/>
                <a:cs typeface="Arial"/>
              </a:rPr>
              <a:t> opinion change and group distributions across social-influence </a:t>
            </a:r>
            <a:r>
              <a:rPr sz="1125">
                <a:solidFill>
                  <a:srgbClr val="20262B"/>
                </a:solidFill>
                <a:latin typeface="Arial"/>
                <a:ea typeface="Arial"/>
                <a:cs typeface="Arial"/>
              </a:rPr>
              <a:t>weights and acceptable opinion distances.</a:t>
            </a:r>
          </a:p>
        </p:txBody>
      </p:sp>
      <p:pic>
        <p:nvPicPr>
          <p:cNvPr id="49" name="Image 18"/>
          <p:cNvPicPr>
            <a:picLocks xmlns:a="http://schemas.openxmlformats.org/drawingml/2006/main" noChangeAspect="1"/>
          </p:cNvPicPr>
          <p:nvPr/>
        </p:nvPicPr>
        <p:blipFill>
          <a:blip xmlns:r="http://schemas.openxmlformats.org/officeDocument/2006/relationships" xmlns:a="http://schemas.openxmlformats.org/drawingml/2006/main" r:embed="R6a3602ea26534e14"/>
          <a:stretch xmlns:a="http://schemas.openxmlformats.org/drawingml/2006/main">
            <a:fillRect l="0" t="0" r="0" b="0"/>
          </a:stretch>
        </p:blipFill>
        <p:spPr>
          <a:xfrm xmlns:a="http://schemas.openxmlformats.org/drawingml/2006/main" rot="0" flipH="0" flipV="0">
            <a:off x="6629400" y="3473787"/>
            <a:ext cx="4552950" cy="462877"/>
          </a:xfrm>
          <a:prstGeom xmlns:a="http://schemas.openxmlformats.org/drawingml/2006/main" prst="rect">
            <a:avLst/>
          </a:prstGeom>
        </p:spPr>
      </p:pic>
      <p:pic>
        <p:nvPicPr>
          <p:cNvPr id="50" name="Image 19"/>
          <p:cNvPicPr>
            <a:picLocks xmlns:a="http://schemas.openxmlformats.org/drawingml/2006/main" noChangeAspect="1"/>
          </p:cNvPicPr>
          <p:nvPr/>
        </p:nvPicPr>
        <p:blipFill>
          <a:blip xmlns:r="http://schemas.openxmlformats.org/officeDocument/2006/relationships" xmlns:a="http://schemas.openxmlformats.org/drawingml/2006/main" r:embed="R5fb42b8809d84226"/>
          <a:stretch xmlns:a="http://schemas.openxmlformats.org/drawingml/2006/main">
            <a:fillRect l="0" t="0" r="0" b="0"/>
          </a:stretch>
        </p:blipFill>
        <p:spPr>
          <a:xfrm xmlns:a="http://schemas.openxmlformats.org/drawingml/2006/main" rot="0" flipH="0" flipV="0">
            <a:off x="7181850" y="4184178"/>
            <a:ext cx="3448050" cy="261294"/>
          </a:xfrm>
          <a:prstGeom xmlns:a="http://schemas.openxmlformats.org/drawingml/2006/main" prst="rect">
            <a:avLst/>
          </a:prstGeom>
        </p:spPr>
      </p:pic>
      <p:sp>
        <p:nvSpPr>
          <p:cNvPr id="20" name="Line 20">
            <a:extLst xmlns:a="http://schemas.openxmlformats.org/drawingml/2006/main">
              <a:ext uri="{FF2B5EF4-FFF2-40B4-BE49-F238E27FC236}">
                <a16:creationId xmlns:a16="http://schemas.microsoft.com/office/drawing/2014/main" id="{D27D0C68-0428-47AC-8B2A-909CFD741E45}"/>
              </a:ext>
            </a:extLst>
          </p:cNvPr>
          <p:cNvSpPr>
            <a:spLocks xmlns:a="http://schemas.openxmlformats.org/drawingml/2006/main" noGrp="1"/>
          </p:cNvSpPr>
          <p:nvPr/>
        </p:nvSpPr>
        <p:spPr>
          <a:xfrm xmlns:a="http://schemas.openxmlformats.org/drawingml/2006/main" rot="0" flipH="0" flipV="0">
            <a:off x="895350" y="4848225"/>
            <a:ext cx="10610850" cy="9525"/>
          </a:xfrm>
          <a:custGeom xmlns:a="http://schemas.openxmlformats.org/drawingml/2006/main">
            <a:rect l="l" t="t" r="r" b="b"/>
            <a:pathLst>
              <a:path w="10610850" h="9525">
                <a:moveTo>
                  <a:pt x="0" y="0"/>
                </a:moveTo>
                <a:lnTo>
                  <a:pt x="10610850" y="0"/>
                </a:lnTo>
              </a:path>
            </a:pathLst>
          </a:custGeom>
          <a:noFill xmlns:a="http://schemas.openxmlformats.org/drawingml/2006/main"/>
          <a:ln xmlns:a="http://schemas.openxmlformats.org/drawingml/2006/main" w="9525">
            <a:solidFill>
              <a:srgbClr val="D8DEE3"/>
            </a:solidFill>
          </a:ln>
        </p:spPr>
      </p:sp>
      <p:sp>
        <p:nvSpPr>
          <p:cNvPr id="22" name="Line 22">
            <a:extLst xmlns:a="http://schemas.openxmlformats.org/drawingml/2006/main">
              <a:ext uri="{FF2B5EF4-FFF2-40B4-BE49-F238E27FC236}">
                <a16:creationId xmlns:a16="http://schemas.microsoft.com/office/drawing/2014/main" id="{65A49008-AFC9-4FCD-BF72-7FF58D3EA74A}"/>
              </a:ext>
            </a:extLst>
          </p:cNvPr>
          <p:cNvSpPr>
            <a:spLocks xmlns:a="http://schemas.openxmlformats.org/drawingml/2006/main" noGrp="1"/>
          </p:cNvSpPr>
          <p:nvPr/>
        </p:nvSpPr>
        <p:spPr>
          <a:xfrm xmlns:a="http://schemas.openxmlformats.org/drawingml/2006/main" rot="0" flipH="0" flipV="0">
            <a:off x="685800" y="5076825"/>
            <a:ext cx="9525" cy="1000125"/>
          </a:xfrm>
          <a:custGeom xmlns:a="http://schemas.openxmlformats.org/drawingml/2006/main">
            <a:rect l="l" t="t" r="r" b="b"/>
            <a:pathLst>
              <a:path w="9525" h="1000125">
                <a:moveTo>
                  <a:pt x="0" y="0"/>
                </a:moveTo>
                <a:lnTo>
                  <a:pt x="0" y="1000125"/>
                </a:lnTo>
              </a:path>
            </a:pathLst>
          </a:custGeom>
          <a:noFill xmlns:a="http://schemas.openxmlformats.org/drawingml/2006/main"/>
          <a:ln xmlns:a="http://schemas.openxmlformats.org/drawingml/2006/main" w="28575">
            <a:solidFill>
              <a:srgbClr val="17324D"/>
            </a:solidFill>
          </a:ln>
        </p:spPr>
      </p:sp>
      <p:sp>
        <p:nvSpPr>
          <p:cNvPr id="23" name="TextBox 23">
            <a:extLst xmlns:a="http://schemas.openxmlformats.org/drawingml/2006/main">
              <a:ext uri="{FF2B5EF4-FFF2-40B4-BE49-F238E27FC236}">
                <a16:creationId xmlns:a16="http://schemas.microsoft.com/office/drawing/2014/main" id="{ACA9DA8D-DFB7-4AB1-BB29-A89DCAED1BF1}"/>
              </a:ext>
            </a:extLst>
          </p:cNvPr>
          <p:cNvSpPr>
            <a:spLocks xmlns:a="http://schemas.openxmlformats.org/drawingml/2006/main" noGrp="1"/>
          </p:cNvSpPr>
          <p:nvPr/>
        </p:nvSpPr>
        <p:spPr>
          <a:xfrm xmlns:a="http://schemas.openxmlformats.org/drawingml/2006/main" rot="0" flipH="0" flipV="0">
            <a:off x="873442" y="5109686"/>
            <a:ext cx="490646" cy="350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725" b="1">
                <a:solidFill>
                  <a:srgbClr val="17324D"/>
                </a:solidFill>
                <a:latin typeface="Arial"/>
                <a:ea typeface="Arial"/>
                <a:cs typeface="Arial"/>
              </a:rPr>
              <a:t>SQ3</a:t>
            </a:r>
          </a:p>
        </p:txBody>
      </p:sp>
      <p:sp>
        <p:nvSpPr>
          <p:cNvPr id="24" name="TextBox 24">
            <a:extLst xmlns:a="http://schemas.openxmlformats.org/drawingml/2006/main">
              <a:ext uri="{FF2B5EF4-FFF2-40B4-BE49-F238E27FC236}">
                <a16:creationId xmlns:a16="http://schemas.microsoft.com/office/drawing/2014/main" id="{C32B868A-5FA6-4DD7-BDC8-0BB16F59C82D}"/>
              </a:ext>
            </a:extLst>
          </p:cNvPr>
          <p:cNvSpPr>
            <a:spLocks xmlns:a="http://schemas.openxmlformats.org/drawingml/2006/main" noGrp="1"/>
          </p:cNvSpPr>
          <p:nvPr/>
        </p:nvSpPr>
        <p:spPr>
          <a:xfrm xmlns:a="http://schemas.openxmlformats.org/drawingml/2006/main" rot="0" flipH="0" flipV="0">
            <a:off x="1563052" y="5123021"/>
            <a:ext cx="6341183"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Can an LLM-layer intervention attenuate the identified pattern?</a:t>
            </a:r>
          </a:p>
        </p:txBody>
      </p:sp>
      <p:sp>
        <p:nvSpPr>
          <p:cNvPr id="25" name="TextBox 25">
            <a:extLst xmlns:a="http://schemas.openxmlformats.org/drawingml/2006/main">
              <a:ext uri="{FF2B5EF4-FFF2-40B4-BE49-F238E27FC236}">
                <a16:creationId xmlns:a16="http://schemas.microsoft.com/office/drawing/2014/main" id="{8F7F1E57-F31C-4B9A-ACFE-E12CB7A8FD28}"/>
              </a:ext>
            </a:extLst>
          </p:cNvPr>
          <p:cNvSpPr>
            <a:spLocks xmlns:a="http://schemas.openxmlformats.org/drawingml/2006/main" noGrp="1"/>
          </p:cNvSpPr>
          <p:nvPr/>
        </p:nvSpPr>
        <p:spPr>
          <a:xfrm xmlns:a="http://schemas.openxmlformats.org/drawingml/2006/main" rot="0" flipH="0" flipV="0">
            <a:off x="1566862" y="5498306"/>
            <a:ext cx="845212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20262B"/>
                </a:solidFill>
                <a:latin typeface="Arial"/>
                <a:ea typeface="Arial"/>
                <a:cs typeface="Arial"/>
              </a:rPr>
              <a:t>Proceed only after SQ2 identifies a stable group-level pattern. Match average information quality, then compare:</a:t>
            </a:r>
          </a:p>
        </p:txBody>
      </p:sp>
      <p:sp>
        <p:nvSpPr>
          <p:cNvPr id="26" name="TextBox 26">
            <a:extLst xmlns:a="http://schemas.openxmlformats.org/drawingml/2006/main">
              <a:ext uri="{FF2B5EF4-FFF2-40B4-BE49-F238E27FC236}">
                <a16:creationId xmlns:a16="http://schemas.microsoft.com/office/drawing/2014/main" id="{4B2F6792-A2EB-4293-9850-5244902486BB}"/>
              </a:ext>
            </a:extLst>
          </p:cNvPr>
          <p:cNvSpPr>
            <a:spLocks xmlns:a="http://schemas.openxmlformats.org/drawingml/2006/main" noGrp="1"/>
          </p:cNvSpPr>
          <p:nvPr/>
        </p:nvSpPr>
        <p:spPr>
          <a:xfrm xmlns:a="http://schemas.openxmlformats.org/drawingml/2006/main" rot="0" flipH="0" flipV="0">
            <a:off x="2118360" y="5833110"/>
            <a:ext cx="146706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7324D"/>
                </a:solidFill>
                <a:latin typeface="Arial"/>
                <a:ea typeface="Arial"/>
                <a:cs typeface="Arial"/>
              </a:rPr>
              <a:t>shared single LLM</a:t>
            </a:r>
          </a:p>
        </p:txBody>
      </p:sp>
      <p:sp>
        <p:nvSpPr>
          <p:cNvPr id="27" name="Line 27">
            <a:extLst xmlns:a="http://schemas.openxmlformats.org/drawingml/2006/main">
              <a:ext uri="{FF2B5EF4-FFF2-40B4-BE49-F238E27FC236}">
                <a16:creationId xmlns:a16="http://schemas.microsoft.com/office/drawing/2014/main" id="{7F04E0D8-4B8D-4B55-AF49-78D4AA5BA38B}"/>
              </a:ext>
            </a:extLst>
          </p:cNvPr>
          <p:cNvSpPr>
            <a:spLocks xmlns:a="http://schemas.openxmlformats.org/drawingml/2006/main" noGrp="1"/>
          </p:cNvSpPr>
          <p:nvPr/>
        </p:nvSpPr>
        <p:spPr>
          <a:xfrm xmlns:a="http://schemas.openxmlformats.org/drawingml/2006/main" rot="0" flipH="0" flipV="0">
            <a:off x="3905250" y="5905500"/>
            <a:ext cx="1143000" cy="9525"/>
          </a:xfrm>
          <a:custGeom xmlns:a="http://schemas.openxmlformats.org/drawingml/2006/main">
            <a:rect l="l" t="t" r="r" b="b"/>
            <a:pathLst>
              <a:path w="1143000" h="9525">
                <a:moveTo>
                  <a:pt x="0" y="0"/>
                </a:moveTo>
                <a:lnTo>
                  <a:pt x="1143000" y="0"/>
                </a:lnTo>
              </a:path>
            </a:pathLst>
          </a:custGeom>
          <a:noFill xmlns:a="http://schemas.openxmlformats.org/drawingml/2006/main"/>
          <a:ln xmlns:a="http://schemas.openxmlformats.org/drawingml/2006/main" w="19050">
            <a:solidFill>
              <a:srgbClr val="17324D"/>
            </a:solidFill>
          </a:ln>
        </p:spPr>
      </p:sp>
      <p:sp>
        <p:nvSpPr>
          <p:cNvPr id="28" name="Polygon 28">
            <a:extLst xmlns:a="http://schemas.openxmlformats.org/drawingml/2006/main">
              <a:ext uri="{FF2B5EF4-FFF2-40B4-BE49-F238E27FC236}">
                <a16:creationId xmlns:a16="http://schemas.microsoft.com/office/drawing/2014/main" id="{2678BB9B-B771-4CB9-89A0-5AB3B3C04650}"/>
              </a:ext>
            </a:extLst>
          </p:cNvPr>
          <p:cNvSpPr>
            <a:spLocks xmlns:a="http://schemas.openxmlformats.org/drawingml/2006/main" noGrp="1"/>
          </p:cNvSpPr>
          <p:nvPr/>
        </p:nvSpPr>
        <p:spPr>
          <a:xfrm xmlns:a="http://schemas.openxmlformats.org/drawingml/2006/main" rot="0" flipH="0" flipV="0">
            <a:off x="4933950" y="5848350"/>
            <a:ext cx="114300" cy="114300"/>
          </a:xfrm>
          <a:custGeom xmlns:a="http://schemas.openxmlformats.org/drawingml/2006/main">
            <a:rect l="l" t="t" r="r" b="b"/>
            <a:pathLst>
              <a:path w="114300" h="114300">
                <a:moveTo>
                  <a:pt x="114300" y="57150"/>
                </a:moveTo>
                <a:lnTo>
                  <a:pt x="0" y="0"/>
                </a:lnTo>
                <a:lnTo>
                  <a:pt x="0" y="114300"/>
                </a:lnTo>
                <a:close/>
              </a:path>
            </a:pathLst>
          </a:custGeom>
          <a:solidFill xmlns:a="http://schemas.openxmlformats.org/drawingml/2006/main">
            <a:srgbClr val="17324D"/>
          </a:solidFill>
          <a:ln xmlns:a="http://schemas.openxmlformats.org/drawingml/2006/main">
            <a:noFill/>
          </a:ln>
        </p:spPr>
      </p:sp>
      <p:sp>
        <p:nvSpPr>
          <p:cNvPr id="29" name="TextBox 29">
            <a:extLst xmlns:a="http://schemas.openxmlformats.org/drawingml/2006/main">
              <a:ext uri="{FF2B5EF4-FFF2-40B4-BE49-F238E27FC236}">
                <a16:creationId xmlns:a16="http://schemas.microsoft.com/office/drawing/2014/main" id="{03D02893-2E95-417A-8072-89107797A571}"/>
              </a:ext>
            </a:extLst>
          </p:cNvPr>
          <p:cNvSpPr>
            <a:spLocks xmlns:a="http://schemas.openxmlformats.org/drawingml/2006/main" noGrp="1"/>
          </p:cNvSpPr>
          <p:nvPr/>
        </p:nvSpPr>
        <p:spPr>
          <a:xfrm xmlns:a="http://schemas.openxmlformats.org/drawingml/2006/main" rot="0" flipH="0" flipV="0">
            <a:off x="5299710" y="5833110"/>
            <a:ext cx="5180324"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7324D"/>
                </a:solidFill>
                <a:latin typeface="Arial"/>
                <a:ea typeface="Arial"/>
                <a:cs typeface="Arial"/>
              </a:rPr>
              <a:t>independent random routing across model families or providers</a:t>
            </a:r>
          </a:p>
        </p:txBody>
      </p:sp>
      <p:sp>
        <p:nvSpPr>
          <p:cNvPr id="31" name="TextBox 31">
            <a:extLst xmlns:a="http://schemas.openxmlformats.org/drawingml/2006/main">
              <a:ext uri="{FF2B5EF4-FFF2-40B4-BE49-F238E27FC236}">
                <a16:creationId xmlns:a16="http://schemas.microsoft.com/office/drawing/2014/main" id="{96D6A53B-BC36-4129-B50A-F34D20606688}"/>
              </a:ext>
            </a:extLst>
          </p:cNvPr>
          <p:cNvSpPr>
            <a:spLocks xmlns:a="http://schemas.openxmlformats.org/drawingml/2006/main" noGrp="1"/>
          </p:cNvSpPr>
          <p:nvPr/>
        </p:nvSpPr>
        <p:spPr>
          <a:xfrm xmlns:a="http://schemas.openxmlformats.org/drawingml/2006/main">
            <a:off x="11362754" y="6398895"/>
            <a:ext cx="154877"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00">
                <a:solidFill>
                  <a:srgbClr val="7A8792"/>
                </a:solidFill>
                <a:latin typeface="Arial"/>
                <a:ea typeface="Arial"/>
                <a:cs typeface="Arial"/>
              </a:rPr>
              <a:t>09</a:t>
            </a:r>
          </a:p>
        </p:txBody>
      </p:sp>
    </p:spTree>
    <p:extLst>
      <p:ext uri="{BB962C8B-B14F-4D97-AF65-F5344CB8AC3E}">
        <p14:creationId xmlns:p14="http://schemas.microsoft.com/office/powerpoint/2010/main" val="199868189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C8E09101-D490-4F38-BD61-9F10F7BA92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sp>
      <p:sp>
        <p:nvSpPr>
          <p:cNvPr id="3" name="TextBox 3">
            <a:extLst xmlns:a="http://schemas.openxmlformats.org/drawingml/2006/main">
              <a:ext uri="{FF2B5EF4-FFF2-40B4-BE49-F238E27FC236}">
                <a16:creationId xmlns:a16="http://schemas.microsoft.com/office/drawing/2014/main" id="{E68BC98E-9F11-4AF6-A6D9-5B4FF249782E}"/>
              </a:ext>
            </a:extLst>
          </p:cNvPr>
          <p:cNvSpPr>
            <a:spLocks xmlns:a="http://schemas.openxmlformats.org/drawingml/2006/main" noGrp="1"/>
          </p:cNvSpPr>
          <p:nvPr/>
        </p:nvSpPr>
        <p:spPr>
          <a:xfrm xmlns:a="http://schemas.openxmlformats.org/drawingml/2006/main" rot="0" flipH="0" flipV="0">
            <a:off x="541020" y="464820"/>
            <a:ext cx="2665286"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20262B"/>
                </a:solidFill>
                <a:latin typeface="Arial"/>
                <a:ea typeface="Arial"/>
                <a:cs typeface="Arial"/>
              </a:rPr>
              <a:t>Model Validation</a:t>
            </a:r>
          </a:p>
        </p:txBody>
      </p:sp>
      <p:sp>
        <p:nvSpPr>
          <p:cNvPr id="4" name="Line 4">
            <a:extLst xmlns:a="http://schemas.openxmlformats.org/drawingml/2006/main">
              <a:ext uri="{FF2B5EF4-FFF2-40B4-BE49-F238E27FC236}">
                <a16:creationId xmlns:a16="http://schemas.microsoft.com/office/drawing/2014/main" id="{4D87C8E6-ED61-4AB9-807D-BA660637F645}"/>
              </a:ext>
            </a:extLst>
          </p:cNvPr>
          <p:cNvSpPr>
            <a:spLocks xmlns:a="http://schemas.openxmlformats.org/drawingml/2006/main" noGrp="1"/>
          </p:cNvSpPr>
          <p:nvPr/>
        </p:nvSpPr>
        <p:spPr>
          <a:xfrm xmlns:a="http://schemas.openxmlformats.org/drawingml/2006/main" rot="0" flipH="0" flipV="0">
            <a:off x="571500" y="971550"/>
            <a:ext cx="11049000" cy="9525"/>
          </a:xfrm>
          <a:custGeom xmlns:a="http://schemas.openxmlformats.org/drawingml/2006/main">
            <a:rect l="l" t="t" r="r" b="b"/>
            <a:pathLst>
              <a:path w="11049000" h="9525">
                <a:moveTo>
                  <a:pt x="0" y="0"/>
                </a:moveTo>
                <a:lnTo>
                  <a:pt x="11049000" y="0"/>
                </a:lnTo>
              </a:path>
            </a:pathLst>
          </a:custGeom>
          <a:noFill xmlns:a="http://schemas.openxmlformats.org/drawingml/2006/main"/>
          <a:ln xmlns:a="http://schemas.openxmlformats.org/drawingml/2006/main" w="9525">
            <a:solidFill>
              <a:srgbClr val="D8DEE3"/>
            </a:solidFill>
          </a:ln>
        </p:spPr>
      </p:sp>
      <p:sp>
        <p:nvSpPr>
          <p:cNvPr id="5" name="Rectangle 5">
            <a:extLst xmlns:a="http://schemas.openxmlformats.org/drawingml/2006/main">
              <a:ext uri="{FF2B5EF4-FFF2-40B4-BE49-F238E27FC236}">
                <a16:creationId xmlns:a16="http://schemas.microsoft.com/office/drawing/2014/main" id="{F4ED62FA-A702-404C-9BB1-E235D8DAAB1E}"/>
              </a:ext>
            </a:extLst>
          </p:cNvPr>
          <p:cNvSpPr>
            <a:spLocks xmlns:a="http://schemas.openxmlformats.org/drawingml/2006/main" noGrp="1"/>
          </p:cNvSpPr>
          <p:nvPr/>
        </p:nvSpPr>
        <p:spPr>
          <a:xfrm xmlns:a="http://schemas.openxmlformats.org/drawingml/2006/main" rot="0" flipH="0" flipV="0">
            <a:off x="571500" y="952500"/>
            <a:ext cx="1104900" cy="28575"/>
          </a:xfrm>
          <a:prstGeom xmlns:a="http://schemas.openxmlformats.org/drawingml/2006/main" prst="rect">
            <a:avLst/>
          </a:prstGeom>
          <a:solidFill xmlns:a="http://schemas.openxmlformats.org/drawingml/2006/main">
            <a:srgbClr val="17324D"/>
          </a:solidFill>
          <a:ln xmlns:a="http://schemas.openxmlformats.org/drawingml/2006/main">
            <a:noFill/>
          </a:ln>
        </p:spPr>
      </p:sp>
      <p:sp>
        <p:nvSpPr>
          <p:cNvPr id="7" name="TextBox 7">
            <a:extLst xmlns:a="http://schemas.openxmlformats.org/drawingml/2006/main">
              <a:ext uri="{FF2B5EF4-FFF2-40B4-BE49-F238E27FC236}">
                <a16:creationId xmlns:a16="http://schemas.microsoft.com/office/drawing/2014/main" id="{A78B916B-4B95-4AA6-A5FE-6F741A30C3ED}"/>
              </a:ext>
            </a:extLst>
          </p:cNvPr>
          <p:cNvSpPr>
            <a:spLocks xmlns:a="http://schemas.openxmlformats.org/drawingml/2006/main" noGrp="1"/>
          </p:cNvSpPr>
          <p:nvPr/>
        </p:nvSpPr>
        <p:spPr>
          <a:xfrm xmlns:a="http://schemas.openxmlformats.org/drawingml/2006/main" rot="0" flipH="0" flipV="0">
            <a:off x="660082" y="1295876"/>
            <a:ext cx="36332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025" b="1">
                <a:solidFill>
                  <a:srgbClr val="17324D"/>
                </a:solidFill>
                <a:latin typeface="Arial"/>
                <a:ea typeface="Arial"/>
                <a:cs typeface="Arial"/>
              </a:rPr>
              <a:t>01</a:t>
            </a:r>
          </a:p>
        </p:txBody>
      </p:sp>
      <p:sp>
        <p:nvSpPr>
          <p:cNvPr id="8" name="TextBox 8">
            <a:extLst xmlns:a="http://schemas.openxmlformats.org/drawingml/2006/main">
              <a:ext uri="{FF2B5EF4-FFF2-40B4-BE49-F238E27FC236}">
                <a16:creationId xmlns:a16="http://schemas.microsoft.com/office/drawing/2014/main" id="{DFD4BC53-A04D-4DC6-B4BD-3A05C8B37C47}"/>
              </a:ext>
            </a:extLst>
          </p:cNvPr>
          <p:cNvSpPr>
            <a:spLocks xmlns:a="http://schemas.openxmlformats.org/drawingml/2006/main" noGrp="1"/>
          </p:cNvSpPr>
          <p:nvPr/>
        </p:nvSpPr>
        <p:spPr>
          <a:xfrm xmlns:a="http://schemas.openxmlformats.org/drawingml/2006/main" rot="0" flipH="0" flipV="0">
            <a:off x="1277302" y="1322546"/>
            <a:ext cx="2071349"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Program verification</a:t>
            </a:r>
          </a:p>
        </p:txBody>
      </p:sp>
      <p:sp>
        <p:nvSpPr>
          <p:cNvPr id="9" name="TextBox 9">
            <a:extLst xmlns:a="http://schemas.openxmlformats.org/drawingml/2006/main">
              <a:ext uri="{FF2B5EF4-FFF2-40B4-BE49-F238E27FC236}">
                <a16:creationId xmlns:a16="http://schemas.microsoft.com/office/drawing/2014/main" id="{E9B0DDEA-34F0-43B7-80E9-95F1A9AD540B}"/>
              </a:ext>
            </a:extLst>
          </p:cNvPr>
          <p:cNvSpPr>
            <a:spLocks xmlns:a="http://schemas.openxmlformats.org/drawingml/2006/main" noGrp="1"/>
          </p:cNvSpPr>
          <p:nvPr/>
        </p:nvSpPr>
        <p:spPr>
          <a:xfrm xmlns:a="http://schemas.openxmlformats.org/drawingml/2006/main" rot="0" flipH="0" flipV="0">
            <a:off x="1280160" y="1632585"/>
            <a:ext cx="7330440" cy="4629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a:solidFill>
                  <a:srgbClr val="20262B"/>
                </a:solidFill>
                <a:latin typeface="Arial"/>
                <a:ea typeface="Arial"/>
                <a:cs typeface="Arial"/>
              </a:rPr>
              <a:t>Unit-test the message, selection, and update functions; test extreme cases and reproducibility; </a:t>
            </a:r>
            <a:r>
              <a:rPr sz="1200">
                <a:solidFill>
                  <a:srgbClr val="20262B"/>
                </a:solidFill>
                <a:latin typeface="Arial"/>
                <a:ea typeface="Arial"/>
                <a:cs typeface="Arial"/>
              </a:rPr>
              <a:t>report the complete model using the ODD protocol.</a:t>
            </a:r>
          </a:p>
        </p:txBody>
      </p:sp>
      <p:sp>
        <p:nvSpPr>
          <p:cNvPr id="10" name="Line 10">
            <a:extLst xmlns:a="http://schemas.openxmlformats.org/drawingml/2006/main">
              <a:ext uri="{FF2B5EF4-FFF2-40B4-BE49-F238E27FC236}">
                <a16:creationId xmlns:a16="http://schemas.microsoft.com/office/drawing/2014/main" id="{99132C45-DF08-4138-B1CA-43FD0F0949F6}"/>
              </a:ext>
            </a:extLst>
          </p:cNvPr>
          <p:cNvSpPr>
            <a:spLocks xmlns:a="http://schemas.openxmlformats.org/drawingml/2006/main" noGrp="1"/>
          </p:cNvSpPr>
          <p:nvPr/>
        </p:nvSpPr>
        <p:spPr>
          <a:xfrm xmlns:a="http://schemas.openxmlformats.org/drawingml/2006/main" rot="0" flipH="0" flipV="0">
            <a:off x="1295400" y="2238375"/>
            <a:ext cx="10210800" cy="9525"/>
          </a:xfrm>
          <a:custGeom xmlns:a="http://schemas.openxmlformats.org/drawingml/2006/main">
            <a:rect l="l" t="t" r="r" b="b"/>
            <a:pathLst>
              <a:path w="10210800" h="9525">
                <a:moveTo>
                  <a:pt x="0" y="0"/>
                </a:moveTo>
                <a:lnTo>
                  <a:pt x="10210800" y="0"/>
                </a:lnTo>
              </a:path>
            </a:pathLst>
          </a:custGeom>
          <a:noFill xmlns:a="http://schemas.openxmlformats.org/drawingml/2006/main"/>
          <a:ln xmlns:a="http://schemas.openxmlformats.org/drawingml/2006/main" w="9525">
            <a:solidFill>
              <a:srgbClr val="D8DEE3"/>
            </a:solidFill>
          </a:ln>
        </p:spPr>
      </p:sp>
      <p:sp>
        <p:nvSpPr>
          <p:cNvPr id="12" name="TextBox 12">
            <a:extLst xmlns:a="http://schemas.openxmlformats.org/drawingml/2006/main">
              <a:ext uri="{FF2B5EF4-FFF2-40B4-BE49-F238E27FC236}">
                <a16:creationId xmlns:a16="http://schemas.microsoft.com/office/drawing/2014/main" id="{3021A64F-C4D3-4C57-BF3A-FC16C58D39B0}"/>
              </a:ext>
            </a:extLst>
          </p:cNvPr>
          <p:cNvSpPr>
            <a:spLocks xmlns:a="http://schemas.openxmlformats.org/drawingml/2006/main" noGrp="1"/>
          </p:cNvSpPr>
          <p:nvPr/>
        </p:nvSpPr>
        <p:spPr>
          <a:xfrm xmlns:a="http://schemas.openxmlformats.org/drawingml/2006/main" rot="0" flipH="0" flipV="0">
            <a:off x="660082" y="2457926"/>
            <a:ext cx="36332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025" b="1">
                <a:solidFill>
                  <a:srgbClr val="17324D"/>
                </a:solidFill>
                <a:latin typeface="Arial"/>
                <a:ea typeface="Arial"/>
                <a:cs typeface="Arial"/>
              </a:rPr>
              <a:t>02</a:t>
            </a:r>
          </a:p>
        </p:txBody>
      </p:sp>
      <p:sp>
        <p:nvSpPr>
          <p:cNvPr id="13" name="TextBox 13">
            <a:extLst xmlns:a="http://schemas.openxmlformats.org/drawingml/2006/main">
              <a:ext uri="{FF2B5EF4-FFF2-40B4-BE49-F238E27FC236}">
                <a16:creationId xmlns:a16="http://schemas.microsoft.com/office/drawing/2014/main" id="{24ACB617-3255-4842-BF5A-2CB926166C68}"/>
              </a:ext>
            </a:extLst>
          </p:cNvPr>
          <p:cNvSpPr>
            <a:spLocks xmlns:a="http://schemas.openxmlformats.org/drawingml/2006/main" noGrp="1"/>
          </p:cNvSpPr>
          <p:nvPr/>
        </p:nvSpPr>
        <p:spPr>
          <a:xfrm xmlns:a="http://schemas.openxmlformats.org/drawingml/2006/main" rot="0" flipH="0" flipV="0">
            <a:off x="1277302" y="2484596"/>
            <a:ext cx="3368261"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Function-level empirical validation</a:t>
            </a:r>
          </a:p>
        </p:txBody>
      </p:sp>
      <p:sp>
        <p:nvSpPr>
          <p:cNvPr id="14" name="TextBox 14">
            <a:extLst xmlns:a="http://schemas.openxmlformats.org/drawingml/2006/main">
              <a:ext uri="{FF2B5EF4-FFF2-40B4-BE49-F238E27FC236}">
                <a16:creationId xmlns:a16="http://schemas.microsoft.com/office/drawing/2014/main" id="{D4F8C02D-FFCE-4D61-994F-1147E80CC1D1}"/>
              </a:ext>
            </a:extLst>
          </p:cNvPr>
          <p:cNvSpPr>
            <a:spLocks xmlns:a="http://schemas.openxmlformats.org/drawingml/2006/main" noGrp="1"/>
          </p:cNvSpPr>
          <p:nvPr/>
        </p:nvSpPr>
        <p:spPr>
          <a:xfrm xmlns:a="http://schemas.openxmlformats.org/drawingml/2006/main" rot="0" flipH="0" flipV="0">
            <a:off x="1280160" y="2794635"/>
            <a:ext cx="6652260" cy="4629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a:solidFill>
                  <a:srgbClr val="20262B"/>
                </a:solidFill>
                <a:latin typeface="Arial"/>
                <a:ea typeface="Arial"/>
                <a:cs typeface="Arial"/>
              </a:rPr>
              <a:t>Compare model outputs with held-out human messages, information selection or sharing, </a:t>
            </a:r>
            <a:r>
              <a:rPr sz="1200">
                <a:solidFill>
                  <a:srgbClr val="20262B"/>
                </a:solidFill>
                <a:latin typeface="Arial"/>
                <a:ea typeface="Arial"/>
                <a:cs typeface="Arial"/>
              </a:rPr>
              <a:t>and pretest–posttest opinion transitions.</a:t>
            </a:r>
          </a:p>
        </p:txBody>
      </p:sp>
      <p:sp>
        <p:nvSpPr>
          <p:cNvPr id="15" name="Line 15">
            <a:extLst xmlns:a="http://schemas.openxmlformats.org/drawingml/2006/main">
              <a:ext uri="{FF2B5EF4-FFF2-40B4-BE49-F238E27FC236}">
                <a16:creationId xmlns:a16="http://schemas.microsoft.com/office/drawing/2014/main" id="{8E06EE52-1D74-4978-B1EE-46F04D8E9AF0}"/>
              </a:ext>
            </a:extLst>
          </p:cNvPr>
          <p:cNvSpPr>
            <a:spLocks xmlns:a="http://schemas.openxmlformats.org/drawingml/2006/main" noGrp="1"/>
          </p:cNvSpPr>
          <p:nvPr/>
        </p:nvSpPr>
        <p:spPr>
          <a:xfrm xmlns:a="http://schemas.openxmlformats.org/drawingml/2006/main" rot="0" flipH="0" flipV="0">
            <a:off x="1295400" y="3400425"/>
            <a:ext cx="10210800" cy="9525"/>
          </a:xfrm>
          <a:custGeom xmlns:a="http://schemas.openxmlformats.org/drawingml/2006/main">
            <a:rect l="l" t="t" r="r" b="b"/>
            <a:pathLst>
              <a:path w="10210800" h="9525">
                <a:moveTo>
                  <a:pt x="0" y="0"/>
                </a:moveTo>
                <a:lnTo>
                  <a:pt x="10210800" y="0"/>
                </a:lnTo>
              </a:path>
            </a:pathLst>
          </a:custGeom>
          <a:noFill xmlns:a="http://schemas.openxmlformats.org/drawingml/2006/main"/>
          <a:ln xmlns:a="http://schemas.openxmlformats.org/drawingml/2006/main" w="9525">
            <a:solidFill>
              <a:srgbClr val="D8DEE3"/>
            </a:solidFill>
          </a:ln>
        </p:spPr>
      </p:sp>
      <p:sp>
        <p:nvSpPr>
          <p:cNvPr id="17" name="TextBox 17">
            <a:extLst xmlns:a="http://schemas.openxmlformats.org/drawingml/2006/main">
              <a:ext uri="{FF2B5EF4-FFF2-40B4-BE49-F238E27FC236}">
                <a16:creationId xmlns:a16="http://schemas.microsoft.com/office/drawing/2014/main" id="{FD0AECCC-92A2-461C-B976-933D604AEA41}"/>
              </a:ext>
            </a:extLst>
          </p:cNvPr>
          <p:cNvSpPr>
            <a:spLocks xmlns:a="http://schemas.openxmlformats.org/drawingml/2006/main" noGrp="1"/>
          </p:cNvSpPr>
          <p:nvPr/>
        </p:nvSpPr>
        <p:spPr>
          <a:xfrm xmlns:a="http://schemas.openxmlformats.org/drawingml/2006/main" rot="0" flipH="0" flipV="0">
            <a:off x="660082" y="3619976"/>
            <a:ext cx="36332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025" b="1">
                <a:solidFill>
                  <a:srgbClr val="17324D"/>
                </a:solidFill>
                <a:latin typeface="Arial"/>
                <a:ea typeface="Arial"/>
                <a:cs typeface="Arial"/>
              </a:rPr>
              <a:t>03</a:t>
            </a:r>
          </a:p>
        </p:txBody>
      </p:sp>
      <p:sp>
        <p:nvSpPr>
          <p:cNvPr id="18" name="TextBox 18">
            <a:extLst xmlns:a="http://schemas.openxmlformats.org/drawingml/2006/main">
              <a:ext uri="{FF2B5EF4-FFF2-40B4-BE49-F238E27FC236}">
                <a16:creationId xmlns:a16="http://schemas.microsoft.com/office/drawing/2014/main" id="{41703401-B2E9-4E6C-86DA-AF45A72619C0}"/>
              </a:ext>
            </a:extLst>
          </p:cNvPr>
          <p:cNvSpPr>
            <a:spLocks xmlns:a="http://schemas.openxmlformats.org/drawingml/2006/main" noGrp="1"/>
          </p:cNvSpPr>
          <p:nvPr/>
        </p:nvSpPr>
        <p:spPr>
          <a:xfrm xmlns:a="http://schemas.openxmlformats.org/drawingml/2006/main" rot="0" flipH="0" flipV="0">
            <a:off x="1277302" y="3646646"/>
            <a:ext cx="4345934"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Incremental test of the hybrid architecture</a:t>
            </a:r>
          </a:p>
        </p:txBody>
      </p:sp>
      <p:sp>
        <p:nvSpPr>
          <p:cNvPr id="19" name="TextBox 19">
            <a:extLst xmlns:a="http://schemas.openxmlformats.org/drawingml/2006/main">
              <a:ext uri="{FF2B5EF4-FFF2-40B4-BE49-F238E27FC236}">
                <a16:creationId xmlns:a16="http://schemas.microsoft.com/office/drawing/2014/main" id="{4330F113-629A-4637-BD30-45E5EC97EBA8}"/>
              </a:ext>
            </a:extLst>
          </p:cNvPr>
          <p:cNvSpPr>
            <a:spLocks xmlns:a="http://schemas.openxmlformats.org/drawingml/2006/main" noGrp="1"/>
          </p:cNvSpPr>
          <p:nvPr/>
        </p:nvSpPr>
        <p:spPr>
          <a:xfrm xmlns:a="http://schemas.openxmlformats.org/drawingml/2006/main" rot="0" flipH="0" flipV="0">
            <a:off x="1280160" y="3956685"/>
            <a:ext cx="7642860" cy="4629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a:solidFill>
                  <a:srgbClr val="20262B"/>
                </a:solidFill>
                <a:latin typeface="Arial"/>
                <a:ea typeface="Arial"/>
                <a:cs typeface="Arial"/>
              </a:rPr>
              <a:t>Under identical initial conditions, compare rule-only ABM, hybrid ABM, and simple baselines on held-out </a:t>
            </a:r>
            <a:r>
              <a:rPr sz="1200">
                <a:solidFill>
                  <a:srgbClr val="20262B"/>
                </a:solidFill>
                <a:latin typeface="Arial"/>
                <a:ea typeface="Arial"/>
                <a:cs typeface="Arial"/>
              </a:rPr>
              <a:t>prediction of message expression, opinion change, sharing behavior, and group distributions.</a:t>
            </a:r>
          </a:p>
        </p:txBody>
      </p:sp>
      <p:sp>
        <p:nvSpPr>
          <p:cNvPr id="20" name="Line 20">
            <a:extLst xmlns:a="http://schemas.openxmlformats.org/drawingml/2006/main">
              <a:ext uri="{FF2B5EF4-FFF2-40B4-BE49-F238E27FC236}">
                <a16:creationId xmlns:a16="http://schemas.microsoft.com/office/drawing/2014/main" id="{FC70EF51-558C-4786-9A5F-33D3976B1A83}"/>
              </a:ext>
            </a:extLst>
          </p:cNvPr>
          <p:cNvSpPr>
            <a:spLocks xmlns:a="http://schemas.openxmlformats.org/drawingml/2006/main" noGrp="1"/>
          </p:cNvSpPr>
          <p:nvPr/>
        </p:nvSpPr>
        <p:spPr>
          <a:xfrm xmlns:a="http://schemas.openxmlformats.org/drawingml/2006/main" rot="0" flipH="0" flipV="0">
            <a:off x="1295400" y="4562475"/>
            <a:ext cx="10210800" cy="9525"/>
          </a:xfrm>
          <a:custGeom xmlns:a="http://schemas.openxmlformats.org/drawingml/2006/main">
            <a:rect l="l" t="t" r="r" b="b"/>
            <a:pathLst>
              <a:path w="10210800" h="9525">
                <a:moveTo>
                  <a:pt x="0" y="0"/>
                </a:moveTo>
                <a:lnTo>
                  <a:pt x="10210800" y="0"/>
                </a:lnTo>
              </a:path>
            </a:pathLst>
          </a:custGeom>
          <a:noFill xmlns:a="http://schemas.openxmlformats.org/drawingml/2006/main"/>
          <a:ln xmlns:a="http://schemas.openxmlformats.org/drawingml/2006/main" w="9525">
            <a:solidFill>
              <a:srgbClr val="D8DEE3"/>
            </a:solidFill>
          </a:ln>
        </p:spPr>
      </p:sp>
      <p:sp>
        <p:nvSpPr>
          <p:cNvPr id="22" name="TextBox 22">
            <a:extLst xmlns:a="http://schemas.openxmlformats.org/drawingml/2006/main">
              <a:ext uri="{FF2B5EF4-FFF2-40B4-BE49-F238E27FC236}">
                <a16:creationId xmlns:a16="http://schemas.microsoft.com/office/drawing/2014/main" id="{086A4368-B2E1-4EB7-B65E-8A75B93E54A1}"/>
              </a:ext>
            </a:extLst>
          </p:cNvPr>
          <p:cNvSpPr>
            <a:spLocks xmlns:a="http://schemas.openxmlformats.org/drawingml/2006/main" noGrp="1"/>
          </p:cNvSpPr>
          <p:nvPr/>
        </p:nvSpPr>
        <p:spPr>
          <a:xfrm xmlns:a="http://schemas.openxmlformats.org/drawingml/2006/main" rot="0" flipH="0" flipV="0">
            <a:off x="660082" y="4782026"/>
            <a:ext cx="36332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025" b="1">
                <a:solidFill>
                  <a:srgbClr val="17324D"/>
                </a:solidFill>
                <a:latin typeface="Arial"/>
                <a:ea typeface="Arial"/>
                <a:cs typeface="Arial"/>
              </a:rPr>
              <a:t>04</a:t>
            </a:r>
          </a:p>
        </p:txBody>
      </p:sp>
      <p:sp>
        <p:nvSpPr>
          <p:cNvPr id="23" name="TextBox 23">
            <a:extLst xmlns:a="http://schemas.openxmlformats.org/drawingml/2006/main">
              <a:ext uri="{FF2B5EF4-FFF2-40B4-BE49-F238E27FC236}">
                <a16:creationId xmlns:a16="http://schemas.microsoft.com/office/drawing/2014/main" id="{6BCDA5A3-7922-4D18-8B85-3C4EAE82E0FB}"/>
              </a:ext>
            </a:extLst>
          </p:cNvPr>
          <p:cNvSpPr>
            <a:spLocks xmlns:a="http://schemas.openxmlformats.org/drawingml/2006/main" noGrp="1"/>
          </p:cNvSpPr>
          <p:nvPr/>
        </p:nvSpPr>
        <p:spPr>
          <a:xfrm xmlns:a="http://schemas.openxmlformats.org/drawingml/2006/main" rot="0" flipH="0" flipV="0">
            <a:off x="1277302" y="4808696"/>
            <a:ext cx="3368261"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Validation of group-level patterns</a:t>
            </a:r>
          </a:p>
        </p:txBody>
      </p:sp>
      <p:sp>
        <p:nvSpPr>
          <p:cNvPr id="24" name="TextBox 24">
            <a:extLst xmlns:a="http://schemas.openxmlformats.org/drawingml/2006/main">
              <a:ext uri="{FF2B5EF4-FFF2-40B4-BE49-F238E27FC236}">
                <a16:creationId xmlns:a16="http://schemas.microsoft.com/office/drawing/2014/main" id="{B5AB49ED-7C8A-40D2-A600-9F47DC2E3328}"/>
              </a:ext>
            </a:extLst>
          </p:cNvPr>
          <p:cNvSpPr>
            <a:spLocks xmlns:a="http://schemas.openxmlformats.org/drawingml/2006/main" noGrp="1"/>
          </p:cNvSpPr>
          <p:nvPr/>
        </p:nvSpPr>
        <p:spPr>
          <a:xfrm xmlns:a="http://schemas.openxmlformats.org/drawingml/2006/main" rot="0" flipH="0" flipV="0">
            <a:off x="1280160" y="5118735"/>
            <a:ext cx="7772400" cy="4629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725"/>
              </a:lnSpc>
              <a:buNone/>
            </a:pPr>
            <a:r>
              <a:rPr sz="1200">
                <a:solidFill>
                  <a:srgbClr val="20262B"/>
                </a:solidFill>
                <a:latin typeface="Arial"/>
                <a:ea typeface="Arial"/>
                <a:cs typeface="Arial"/>
              </a:rPr>
              <a:t>Use small, limited-round human group experiments to compare opinion trajectories, variance, clusters, </a:t>
            </a:r>
            <a:r>
              <a:rPr sz="1200">
                <a:solidFill>
                  <a:srgbClr val="20262B"/>
                </a:solidFill>
                <a:latin typeface="Arial"/>
                <a:ea typeface="Arial"/>
                <a:cs typeface="Arial"/>
              </a:rPr>
              <a:t>and diffusion patterns with simulated groups under matched initial conditions.</a:t>
            </a:r>
          </a:p>
        </p:txBody>
      </p:sp>
      <p:sp>
        <p:nvSpPr>
          <p:cNvPr id="26" name="Line 26">
            <a:extLst xmlns:a="http://schemas.openxmlformats.org/drawingml/2006/main">
              <a:ext uri="{FF2B5EF4-FFF2-40B4-BE49-F238E27FC236}">
                <a16:creationId xmlns:a16="http://schemas.microsoft.com/office/drawing/2014/main" id="{CC6091A7-C4D0-4B0D-B535-078EBAE3EA88}"/>
              </a:ext>
            </a:extLst>
          </p:cNvPr>
          <p:cNvSpPr>
            <a:spLocks xmlns:a="http://schemas.openxmlformats.org/drawingml/2006/main" noGrp="1"/>
          </p:cNvSpPr>
          <p:nvPr/>
        </p:nvSpPr>
        <p:spPr>
          <a:xfrm xmlns:a="http://schemas.openxmlformats.org/drawingml/2006/main" rot="0" flipH="0" flipV="0">
            <a:off x="685800" y="5781675"/>
            <a:ext cx="10820400" cy="9525"/>
          </a:xfrm>
          <a:custGeom xmlns:a="http://schemas.openxmlformats.org/drawingml/2006/main">
            <a:rect l="l" t="t" r="r" b="b"/>
            <a:pathLst>
              <a:path w="10820400" h="9525">
                <a:moveTo>
                  <a:pt x="0" y="0"/>
                </a:moveTo>
                <a:lnTo>
                  <a:pt x="10820400" y="0"/>
                </a:lnTo>
              </a:path>
            </a:pathLst>
          </a:custGeom>
          <a:noFill xmlns:a="http://schemas.openxmlformats.org/drawingml/2006/main"/>
          <a:ln xmlns:a="http://schemas.openxmlformats.org/drawingml/2006/main" w="19050">
            <a:solidFill>
              <a:srgbClr val="17324D"/>
            </a:solidFill>
          </a:ln>
        </p:spPr>
      </p:sp>
      <p:sp>
        <p:nvSpPr>
          <p:cNvPr id="27" name="TextBox 27">
            <a:extLst xmlns:a="http://schemas.openxmlformats.org/drawingml/2006/main">
              <a:ext uri="{FF2B5EF4-FFF2-40B4-BE49-F238E27FC236}">
                <a16:creationId xmlns:a16="http://schemas.microsoft.com/office/drawing/2014/main" id="{B99C6F73-2741-4C49-8126-310D242A0BC5}"/>
              </a:ext>
            </a:extLst>
          </p:cNvPr>
          <p:cNvSpPr>
            <a:spLocks xmlns:a="http://schemas.openxmlformats.org/drawingml/2006/main" noGrp="1"/>
          </p:cNvSpPr>
          <p:nvPr/>
        </p:nvSpPr>
        <p:spPr>
          <a:xfrm xmlns:a="http://schemas.openxmlformats.org/drawingml/2006/main" rot="0" flipH="0" flipV="0">
            <a:off x="671512" y="5974556"/>
            <a:ext cx="106820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17324D"/>
                </a:solidFill>
                <a:latin typeface="Arial"/>
                <a:ea typeface="Arial"/>
                <a:cs typeface="Arial"/>
              </a:rPr>
              <a:t>DECISION RULE</a:t>
            </a:r>
          </a:p>
        </p:txBody>
      </p:sp>
      <p:sp>
        <p:nvSpPr>
          <p:cNvPr id="28" name="TextBox 28">
            <a:extLst xmlns:a="http://schemas.openxmlformats.org/drawingml/2006/main">
              <a:ext uri="{FF2B5EF4-FFF2-40B4-BE49-F238E27FC236}">
                <a16:creationId xmlns:a16="http://schemas.microsoft.com/office/drawing/2014/main" id="{076E5724-1490-48B7-9E73-DCB5FD4AEDB9}"/>
              </a:ext>
            </a:extLst>
          </p:cNvPr>
          <p:cNvSpPr>
            <a:spLocks xmlns:a="http://schemas.openxmlformats.org/drawingml/2006/main" noGrp="1"/>
          </p:cNvSpPr>
          <p:nvPr/>
        </p:nvSpPr>
        <p:spPr>
          <a:xfrm xmlns:a="http://schemas.openxmlformats.org/drawingml/2006/main" rot="0" flipH="0" flipV="0">
            <a:off x="1967865" y="5887402"/>
            <a:ext cx="7207568" cy="403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500"/>
              </a:lnSpc>
              <a:buNone/>
            </a:pPr>
            <a:r>
              <a:rPr sz="1050">
                <a:solidFill>
                  <a:srgbClr val="20262B"/>
                </a:solidFill>
                <a:latin typeface="Arial"/>
                <a:ea typeface="Arial"/>
                <a:cs typeface="Arial"/>
              </a:rPr>
              <a:t>Use function ablation and sensitivity analysis. If the hybrid model does not improve out-of-sample prediction, </a:t>
            </a:r>
            <a:r>
              <a:rPr sz="1050">
                <a:solidFill>
                  <a:srgbClr val="20262B"/>
                </a:solidFill>
                <a:latin typeface="Arial"/>
                <a:ea typeface="Arial"/>
                <a:cs typeface="Arial"/>
              </a:rPr>
              <a:t>claim no additional methodological value for LLM agents.</a:t>
            </a:r>
          </a:p>
        </p:txBody>
      </p:sp>
      <p:sp>
        <p:nvSpPr>
          <p:cNvPr id="30" name="TextBox 30">
            <a:extLst xmlns:a="http://schemas.openxmlformats.org/drawingml/2006/main">
              <a:ext uri="{FF2B5EF4-FFF2-40B4-BE49-F238E27FC236}">
                <a16:creationId xmlns:a16="http://schemas.microsoft.com/office/drawing/2014/main" id="{918587AB-8A91-4280-BCB3-E51292B1FC22}"/>
              </a:ext>
            </a:extLst>
          </p:cNvPr>
          <p:cNvSpPr>
            <a:spLocks xmlns:a="http://schemas.openxmlformats.org/drawingml/2006/main" noGrp="1"/>
          </p:cNvSpPr>
          <p:nvPr/>
        </p:nvSpPr>
        <p:spPr>
          <a:xfrm xmlns:a="http://schemas.openxmlformats.org/drawingml/2006/main">
            <a:off x="11362754" y="6398895"/>
            <a:ext cx="154877"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00">
                <a:solidFill>
                  <a:srgbClr val="7A8792"/>
                </a:solidFill>
                <a:latin typeface="Arial"/>
                <a:ea typeface="Arial"/>
                <a:cs typeface="Arial"/>
              </a:rPr>
              <a:t>10</a:t>
            </a:r>
          </a:p>
        </p:txBody>
      </p:sp>
    </p:spTree>
    <p:extLst>
      <p:ext uri="{BB962C8B-B14F-4D97-AF65-F5344CB8AC3E}">
        <p14:creationId xmlns:p14="http://schemas.microsoft.com/office/powerpoint/2010/main" val="26033217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EF740DCB-E319-4C9F-BD10-C5AF36A91B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sp>
      <p:sp>
        <p:nvSpPr>
          <p:cNvPr id="3" name="TextBox 3">
            <a:extLst xmlns:a="http://schemas.openxmlformats.org/drawingml/2006/main">
              <a:ext uri="{FF2B5EF4-FFF2-40B4-BE49-F238E27FC236}">
                <a16:creationId xmlns:a16="http://schemas.microsoft.com/office/drawing/2014/main" id="{CD6F8EE3-24A8-4E4F-A37C-EE46016FE37D}"/>
              </a:ext>
            </a:extLst>
          </p:cNvPr>
          <p:cNvSpPr>
            <a:spLocks xmlns:a="http://schemas.openxmlformats.org/drawingml/2006/main" noGrp="1"/>
          </p:cNvSpPr>
          <p:nvPr/>
        </p:nvSpPr>
        <p:spPr>
          <a:xfrm xmlns:a="http://schemas.openxmlformats.org/drawingml/2006/main" rot="0" flipH="0" flipV="0">
            <a:off x="541020" y="464820"/>
            <a:ext cx="3875037"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400" b="1">
                <a:solidFill>
                  <a:srgbClr val="20262B"/>
                </a:solidFill>
                <a:latin typeface="Arial"/>
                <a:ea typeface="Arial"/>
                <a:cs typeface="Arial"/>
              </a:rPr>
              <a:t>Expected Contributions</a:t>
            </a:r>
          </a:p>
        </p:txBody>
      </p:sp>
      <p:sp>
        <p:nvSpPr>
          <p:cNvPr id="4" name="Line 4">
            <a:extLst xmlns:a="http://schemas.openxmlformats.org/drawingml/2006/main">
              <a:ext uri="{FF2B5EF4-FFF2-40B4-BE49-F238E27FC236}">
                <a16:creationId xmlns:a16="http://schemas.microsoft.com/office/drawing/2014/main" id="{A079520B-1939-4B6D-B82E-AE1C08599442}"/>
              </a:ext>
            </a:extLst>
          </p:cNvPr>
          <p:cNvSpPr>
            <a:spLocks xmlns:a="http://schemas.openxmlformats.org/drawingml/2006/main" noGrp="1"/>
          </p:cNvSpPr>
          <p:nvPr/>
        </p:nvSpPr>
        <p:spPr>
          <a:xfrm xmlns:a="http://schemas.openxmlformats.org/drawingml/2006/main" rot="0" flipH="0" flipV="0">
            <a:off x="571500" y="971550"/>
            <a:ext cx="11049000" cy="9525"/>
          </a:xfrm>
          <a:custGeom xmlns:a="http://schemas.openxmlformats.org/drawingml/2006/main">
            <a:rect l="l" t="t" r="r" b="b"/>
            <a:pathLst>
              <a:path w="11049000" h="9525">
                <a:moveTo>
                  <a:pt x="0" y="0"/>
                </a:moveTo>
                <a:lnTo>
                  <a:pt x="11049000" y="0"/>
                </a:lnTo>
              </a:path>
            </a:pathLst>
          </a:custGeom>
          <a:noFill xmlns:a="http://schemas.openxmlformats.org/drawingml/2006/main"/>
          <a:ln xmlns:a="http://schemas.openxmlformats.org/drawingml/2006/main" w="9525">
            <a:solidFill>
              <a:srgbClr val="D8DEE3"/>
            </a:solidFill>
          </a:ln>
        </p:spPr>
      </p:sp>
      <p:sp>
        <p:nvSpPr>
          <p:cNvPr id="5" name="Rectangle 5">
            <a:extLst xmlns:a="http://schemas.openxmlformats.org/drawingml/2006/main">
              <a:ext uri="{FF2B5EF4-FFF2-40B4-BE49-F238E27FC236}">
                <a16:creationId xmlns:a16="http://schemas.microsoft.com/office/drawing/2014/main" id="{54A6A898-96E3-43E8-9230-ED99C126E0C9}"/>
              </a:ext>
            </a:extLst>
          </p:cNvPr>
          <p:cNvSpPr>
            <a:spLocks xmlns:a="http://schemas.openxmlformats.org/drawingml/2006/main" noGrp="1"/>
          </p:cNvSpPr>
          <p:nvPr/>
        </p:nvSpPr>
        <p:spPr>
          <a:xfrm xmlns:a="http://schemas.openxmlformats.org/drawingml/2006/main" rot="0" flipH="0" flipV="0">
            <a:off x="571500" y="952500"/>
            <a:ext cx="1104900" cy="28575"/>
          </a:xfrm>
          <a:prstGeom xmlns:a="http://schemas.openxmlformats.org/drawingml/2006/main" prst="rect">
            <a:avLst/>
          </a:prstGeom>
          <a:solidFill xmlns:a="http://schemas.openxmlformats.org/drawingml/2006/main">
            <a:srgbClr val="17324D"/>
          </a:solidFill>
          <a:ln xmlns:a="http://schemas.openxmlformats.org/drawingml/2006/main">
            <a:noFill/>
          </a:ln>
        </p:spPr>
      </p:sp>
      <p:sp>
        <p:nvSpPr>
          <p:cNvPr id="7" name="Line 7">
            <a:extLst xmlns:a="http://schemas.openxmlformats.org/drawingml/2006/main">
              <a:ext uri="{FF2B5EF4-FFF2-40B4-BE49-F238E27FC236}">
                <a16:creationId xmlns:a16="http://schemas.microsoft.com/office/drawing/2014/main" id="{9704C14C-AAD0-4977-91C8-959672990A5F}"/>
              </a:ext>
            </a:extLst>
          </p:cNvPr>
          <p:cNvSpPr>
            <a:spLocks xmlns:a="http://schemas.openxmlformats.org/drawingml/2006/main" noGrp="1"/>
          </p:cNvSpPr>
          <p:nvPr/>
        </p:nvSpPr>
        <p:spPr>
          <a:xfrm xmlns:a="http://schemas.openxmlformats.org/drawingml/2006/main" rot="0" flipH="0" flipV="0">
            <a:off x="6096000" y="1257300"/>
            <a:ext cx="9525" cy="4514850"/>
          </a:xfrm>
          <a:custGeom xmlns:a="http://schemas.openxmlformats.org/drawingml/2006/main">
            <a:rect l="l" t="t" r="r" b="b"/>
            <a:pathLst>
              <a:path w="9525" h="4514850">
                <a:moveTo>
                  <a:pt x="0" y="0"/>
                </a:moveTo>
                <a:lnTo>
                  <a:pt x="0" y="4514850"/>
                </a:lnTo>
              </a:path>
            </a:pathLst>
          </a:custGeom>
          <a:noFill xmlns:a="http://schemas.openxmlformats.org/drawingml/2006/main"/>
          <a:ln xmlns:a="http://schemas.openxmlformats.org/drawingml/2006/main" w="9525">
            <a:solidFill>
              <a:srgbClr val="D8DEE3"/>
            </a:solidFill>
          </a:ln>
        </p:spPr>
      </p:sp>
      <p:sp>
        <p:nvSpPr>
          <p:cNvPr id="8" name="Line 8">
            <a:extLst xmlns:a="http://schemas.openxmlformats.org/drawingml/2006/main">
              <a:ext uri="{FF2B5EF4-FFF2-40B4-BE49-F238E27FC236}">
                <a16:creationId xmlns:a16="http://schemas.microsoft.com/office/drawing/2014/main" id="{2B4420E7-038B-4739-BA5A-F4B62B8EEE8C}"/>
              </a:ext>
            </a:extLst>
          </p:cNvPr>
          <p:cNvSpPr>
            <a:spLocks xmlns:a="http://schemas.openxmlformats.org/drawingml/2006/main" noGrp="1"/>
          </p:cNvSpPr>
          <p:nvPr/>
        </p:nvSpPr>
        <p:spPr>
          <a:xfrm xmlns:a="http://schemas.openxmlformats.org/drawingml/2006/main" rot="0" flipH="0" flipV="0">
            <a:off x="685800" y="3486150"/>
            <a:ext cx="10820400" cy="9525"/>
          </a:xfrm>
          <a:custGeom xmlns:a="http://schemas.openxmlformats.org/drawingml/2006/main">
            <a:rect l="l" t="t" r="r" b="b"/>
            <a:pathLst>
              <a:path w="10820400" h="9525">
                <a:moveTo>
                  <a:pt x="0" y="0"/>
                </a:moveTo>
                <a:lnTo>
                  <a:pt x="10820400" y="0"/>
                </a:lnTo>
              </a:path>
            </a:pathLst>
          </a:custGeom>
          <a:noFill xmlns:a="http://schemas.openxmlformats.org/drawingml/2006/main"/>
          <a:ln xmlns:a="http://schemas.openxmlformats.org/drawingml/2006/main" w="9525">
            <a:solidFill>
              <a:srgbClr val="D8DEE3"/>
            </a:solidFill>
          </a:ln>
        </p:spPr>
      </p:sp>
      <p:sp>
        <p:nvSpPr>
          <p:cNvPr id="10" name="TextBox 10">
            <a:extLst xmlns:a="http://schemas.openxmlformats.org/drawingml/2006/main">
              <a:ext uri="{FF2B5EF4-FFF2-40B4-BE49-F238E27FC236}">
                <a16:creationId xmlns:a16="http://schemas.microsoft.com/office/drawing/2014/main" id="{C0C72D4B-E73E-43EA-A34E-B01106589D73}"/>
              </a:ext>
            </a:extLst>
          </p:cNvPr>
          <p:cNvSpPr>
            <a:spLocks xmlns:a="http://schemas.openxmlformats.org/drawingml/2006/main" noGrp="1"/>
          </p:cNvSpPr>
          <p:nvPr/>
        </p:nvSpPr>
        <p:spPr>
          <a:xfrm xmlns:a="http://schemas.openxmlformats.org/drawingml/2006/main" rot="0" flipH="0" flipV="0">
            <a:off x="661035" y="1313498"/>
            <a:ext cx="349868" cy="39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950" b="1">
                <a:solidFill>
                  <a:srgbClr val="17324D"/>
                </a:solidFill>
                <a:latin typeface="Arial"/>
                <a:ea typeface="Arial"/>
                <a:cs typeface="Arial"/>
              </a:rPr>
              <a:t>01</a:t>
            </a:r>
          </a:p>
        </p:txBody>
      </p:sp>
      <p:sp>
        <p:nvSpPr>
          <p:cNvPr id="11" name="TextBox 11">
            <a:extLst xmlns:a="http://schemas.openxmlformats.org/drawingml/2006/main">
              <a:ext uri="{FF2B5EF4-FFF2-40B4-BE49-F238E27FC236}">
                <a16:creationId xmlns:a16="http://schemas.microsoft.com/office/drawing/2014/main" id="{473DC6C9-71AF-4AC3-BC89-E15AF80EBFC4}"/>
              </a:ext>
            </a:extLst>
          </p:cNvPr>
          <p:cNvSpPr>
            <a:spLocks xmlns:a="http://schemas.openxmlformats.org/drawingml/2006/main" noGrp="1"/>
          </p:cNvSpPr>
          <p:nvPr/>
        </p:nvSpPr>
        <p:spPr>
          <a:xfrm xmlns:a="http://schemas.openxmlformats.org/drawingml/2006/main" rot="0" flipH="0" flipV="0">
            <a:off x="1182052" y="1341596"/>
            <a:ext cx="4565411"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From individual interaction to group formation</a:t>
            </a:r>
          </a:p>
        </p:txBody>
      </p:sp>
      <p:sp>
        <p:nvSpPr>
          <p:cNvPr id="12" name="TextBox 12">
            <a:extLst xmlns:a="http://schemas.openxmlformats.org/drawingml/2006/main">
              <a:ext uri="{FF2B5EF4-FFF2-40B4-BE49-F238E27FC236}">
                <a16:creationId xmlns:a16="http://schemas.microsoft.com/office/drawing/2014/main" id="{F0E5E9AD-3196-4EBA-84C7-2A6ADF9C3230}"/>
              </a:ext>
            </a:extLst>
          </p:cNvPr>
          <p:cNvSpPr>
            <a:spLocks xmlns:a="http://schemas.openxmlformats.org/drawingml/2006/main" noGrp="1"/>
          </p:cNvSpPr>
          <p:nvPr/>
        </p:nvSpPr>
        <p:spPr>
          <a:xfrm xmlns:a="http://schemas.openxmlformats.org/drawingml/2006/main" rot="0" flipH="0" flipV="0">
            <a:off x="670560" y="1813560"/>
            <a:ext cx="5402580" cy="701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00"/>
              </a:lnSpc>
              <a:buNone/>
            </a:pPr>
            <a:r>
              <a:rPr sz="1200">
                <a:solidFill>
                  <a:srgbClr val="20262B"/>
                </a:solidFill>
                <a:latin typeface="Arial"/>
                <a:ea typeface="Arial"/>
                <a:cs typeface="Arial"/>
              </a:rPr>
              <a:t>Extend human–LLM interaction research from individual responses </a:t>
            </a:r>
            <a:r>
              <a:rPr sz="1200">
                <a:solidFill>
                  <a:srgbClr val="20262B"/>
                </a:solidFill>
                <a:latin typeface="Arial"/>
                <a:ea typeface="Arial"/>
                <a:cs typeface="Arial"/>
              </a:rPr>
              <a:t>to a micro–macro process connecting generated information, exposure, </a:t>
            </a:r>
            <a:r>
              <a:rPr sz="1200">
                <a:solidFill>
                  <a:srgbClr val="20262B"/>
                </a:solidFill>
                <a:latin typeface="Arial"/>
                <a:ea typeface="Arial"/>
                <a:cs typeface="Arial"/>
              </a:rPr>
              <a:t>diffusion, opinion updating, and group opinion distributions.</a:t>
            </a:r>
          </a:p>
        </p:txBody>
      </p:sp>
      <p:sp>
        <p:nvSpPr>
          <p:cNvPr id="14" name="TextBox 14">
            <a:extLst xmlns:a="http://schemas.openxmlformats.org/drawingml/2006/main">
              <a:ext uri="{FF2B5EF4-FFF2-40B4-BE49-F238E27FC236}">
                <a16:creationId xmlns:a16="http://schemas.microsoft.com/office/drawing/2014/main" id="{4A81335B-C03A-474F-9E59-A4BA7300CAB2}"/>
              </a:ext>
            </a:extLst>
          </p:cNvPr>
          <p:cNvSpPr>
            <a:spLocks xmlns:a="http://schemas.openxmlformats.org/drawingml/2006/main" noGrp="1"/>
          </p:cNvSpPr>
          <p:nvPr/>
        </p:nvSpPr>
        <p:spPr>
          <a:xfrm xmlns:a="http://schemas.openxmlformats.org/drawingml/2006/main" rot="0" flipH="0" flipV="0">
            <a:off x="6414135" y="1313498"/>
            <a:ext cx="349868" cy="39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950" b="1">
                <a:solidFill>
                  <a:srgbClr val="17324D"/>
                </a:solidFill>
                <a:latin typeface="Arial"/>
                <a:ea typeface="Arial"/>
                <a:cs typeface="Arial"/>
              </a:rPr>
              <a:t>02</a:t>
            </a:r>
          </a:p>
        </p:txBody>
      </p:sp>
      <p:sp>
        <p:nvSpPr>
          <p:cNvPr id="15" name="TextBox 15">
            <a:extLst xmlns:a="http://schemas.openxmlformats.org/drawingml/2006/main">
              <a:ext uri="{FF2B5EF4-FFF2-40B4-BE49-F238E27FC236}">
                <a16:creationId xmlns:a16="http://schemas.microsoft.com/office/drawing/2014/main" id="{851E5282-F0A6-4B99-ABF2-4E8C044F49CF}"/>
              </a:ext>
            </a:extLst>
          </p:cNvPr>
          <p:cNvSpPr>
            <a:spLocks xmlns:a="http://schemas.openxmlformats.org/drawingml/2006/main" noGrp="1"/>
          </p:cNvSpPr>
          <p:nvPr/>
        </p:nvSpPr>
        <p:spPr>
          <a:xfrm xmlns:a="http://schemas.openxmlformats.org/drawingml/2006/main" rot="0" flipH="0" flipV="0">
            <a:off x="6935152" y="1341596"/>
            <a:ext cx="4625269"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Natural-language processes in opinion dynamics</a:t>
            </a:r>
          </a:p>
        </p:txBody>
      </p:sp>
      <p:sp>
        <p:nvSpPr>
          <p:cNvPr id="16" name="TextBox 16">
            <a:extLst xmlns:a="http://schemas.openxmlformats.org/drawingml/2006/main">
              <a:ext uri="{FF2B5EF4-FFF2-40B4-BE49-F238E27FC236}">
                <a16:creationId xmlns:a16="http://schemas.microsoft.com/office/drawing/2014/main" id="{4AE11924-89FB-45F6-AD8E-62D35AE27865}"/>
              </a:ext>
            </a:extLst>
          </p:cNvPr>
          <p:cNvSpPr>
            <a:spLocks xmlns:a="http://schemas.openxmlformats.org/drawingml/2006/main" noGrp="1"/>
          </p:cNvSpPr>
          <p:nvPr/>
        </p:nvSpPr>
        <p:spPr>
          <a:xfrm xmlns:a="http://schemas.openxmlformats.org/drawingml/2006/main" rot="0" flipH="0" flipV="0">
            <a:off x="6423660" y="1813560"/>
            <a:ext cx="5143500" cy="472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00"/>
              </a:lnSpc>
              <a:buNone/>
            </a:pPr>
            <a:r>
              <a:rPr sz="1200">
                <a:solidFill>
                  <a:srgbClr val="20262B"/>
                </a:solidFill>
                <a:latin typeface="Arial"/>
                <a:ea typeface="Arial"/>
                <a:cs typeface="Arial"/>
              </a:rPr>
              <a:t>Separate message generation, information selection, and opinion </a:t>
            </a:r>
            <a:r>
              <a:rPr sz="1200">
                <a:solidFill>
                  <a:srgbClr val="20262B"/>
                </a:solidFill>
                <a:latin typeface="Arial"/>
                <a:ea typeface="Arial"/>
                <a:cs typeface="Arial"/>
              </a:rPr>
              <a:t>updating so that language content is not compressed into one state.</a:t>
            </a:r>
          </a:p>
        </p:txBody>
      </p:sp>
      <p:pic>
        <p:nvPicPr>
          <p:cNvPr id="44" name="Image 17"/>
          <p:cNvPicPr>
            <a:picLocks xmlns:a="http://schemas.openxmlformats.org/drawingml/2006/main" noChangeAspect="1"/>
          </p:cNvPicPr>
          <p:nvPr/>
        </p:nvPicPr>
        <p:blipFill>
          <a:blip xmlns:r="http://schemas.openxmlformats.org/officeDocument/2006/relationships" xmlns:a="http://schemas.openxmlformats.org/drawingml/2006/main" r:embed="Rc48912837a8849b1"/>
          <a:stretch xmlns:a="http://schemas.openxmlformats.org/drawingml/2006/main">
            <a:fillRect l="0" t="0" r="0" b="0"/>
          </a:stretch>
        </p:blipFill>
        <p:spPr>
          <a:xfrm xmlns:a="http://schemas.openxmlformats.org/drawingml/2006/main" rot="0" flipH="0" flipV="0">
            <a:off x="6896100" y="2704342"/>
            <a:ext cx="4000500" cy="306317"/>
          </a:xfrm>
          <a:prstGeom xmlns:a="http://schemas.openxmlformats.org/drawingml/2006/main" prst="rect">
            <a:avLst/>
          </a:prstGeom>
        </p:spPr>
      </p:pic>
      <p:sp>
        <p:nvSpPr>
          <p:cNvPr id="19" name="TextBox 19">
            <a:extLst xmlns:a="http://schemas.openxmlformats.org/drawingml/2006/main">
              <a:ext uri="{FF2B5EF4-FFF2-40B4-BE49-F238E27FC236}">
                <a16:creationId xmlns:a16="http://schemas.microsoft.com/office/drawing/2014/main" id="{CE61C7BC-1270-45B8-8F94-44F02B0CA351}"/>
              </a:ext>
            </a:extLst>
          </p:cNvPr>
          <p:cNvSpPr>
            <a:spLocks xmlns:a="http://schemas.openxmlformats.org/drawingml/2006/main" noGrp="1"/>
          </p:cNvSpPr>
          <p:nvPr/>
        </p:nvSpPr>
        <p:spPr>
          <a:xfrm xmlns:a="http://schemas.openxmlformats.org/drawingml/2006/main" rot="0" flipH="0" flipV="0">
            <a:off x="661035" y="3732848"/>
            <a:ext cx="349868" cy="39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950" b="1">
                <a:solidFill>
                  <a:srgbClr val="17324D"/>
                </a:solidFill>
                <a:latin typeface="Arial"/>
                <a:ea typeface="Arial"/>
                <a:cs typeface="Arial"/>
              </a:rPr>
              <a:t>03</a:t>
            </a:r>
          </a:p>
        </p:txBody>
      </p:sp>
      <p:sp>
        <p:nvSpPr>
          <p:cNvPr id="20" name="TextBox 20">
            <a:extLst xmlns:a="http://schemas.openxmlformats.org/drawingml/2006/main">
              <a:ext uri="{FF2B5EF4-FFF2-40B4-BE49-F238E27FC236}">
                <a16:creationId xmlns:a16="http://schemas.microsoft.com/office/drawing/2014/main" id="{C3EAB556-D858-49F3-9FFC-AE711167CB0C}"/>
              </a:ext>
            </a:extLst>
          </p:cNvPr>
          <p:cNvSpPr>
            <a:spLocks xmlns:a="http://schemas.openxmlformats.org/drawingml/2006/main" noGrp="1"/>
          </p:cNvSpPr>
          <p:nvPr/>
        </p:nvSpPr>
        <p:spPr>
          <a:xfrm xmlns:a="http://schemas.openxmlformats.org/drawingml/2006/main" rot="0" flipH="0" flipV="0">
            <a:off x="1182052" y="3760946"/>
            <a:ext cx="3817193"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Boundaries of LLM-output homogeneity</a:t>
            </a:r>
          </a:p>
        </p:txBody>
      </p:sp>
      <p:sp>
        <p:nvSpPr>
          <p:cNvPr id="21" name="TextBox 21">
            <a:extLst xmlns:a="http://schemas.openxmlformats.org/drawingml/2006/main">
              <a:ext uri="{FF2B5EF4-FFF2-40B4-BE49-F238E27FC236}">
                <a16:creationId xmlns:a16="http://schemas.microsoft.com/office/drawing/2014/main" id="{53C69D9C-3DDD-489D-BC69-210206DA47B0}"/>
              </a:ext>
            </a:extLst>
          </p:cNvPr>
          <p:cNvSpPr>
            <a:spLocks xmlns:a="http://schemas.openxmlformats.org/drawingml/2006/main" noGrp="1"/>
          </p:cNvSpPr>
          <p:nvPr/>
        </p:nvSpPr>
        <p:spPr>
          <a:xfrm xmlns:a="http://schemas.openxmlformats.org/drawingml/2006/main" rot="0" flipH="0" flipV="0">
            <a:off x="670560" y="4232910"/>
            <a:ext cx="4914900" cy="701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00"/>
              </a:lnSpc>
              <a:buNone/>
            </a:pPr>
            <a:r>
              <a:rPr sz="1200">
                <a:solidFill>
                  <a:srgbClr val="20262B"/>
                </a:solidFill>
                <a:latin typeface="Arial"/>
                <a:ea typeface="Arial"/>
                <a:cs typeface="Arial"/>
              </a:rPr>
              <a:t>Test when shared information promotes convergence and when </a:t>
            </a:r>
            <a:r>
              <a:rPr sz="1200">
                <a:solidFill>
                  <a:srgbClr val="20262B"/>
                </a:solidFill>
                <a:latin typeface="Arial"/>
                <a:ea typeface="Arial"/>
                <a:cs typeface="Arial"/>
              </a:rPr>
              <a:t>stance-conditioned generation plus bounded acceptance promotes </a:t>
            </a:r>
            <a:r>
              <a:rPr sz="1200">
                <a:solidFill>
                  <a:srgbClr val="20262B"/>
                </a:solidFill>
                <a:latin typeface="Arial"/>
                <a:ea typeface="Arial"/>
                <a:cs typeface="Arial"/>
              </a:rPr>
              <a:t>clustering, polarization, or persistent differentiation.</a:t>
            </a:r>
          </a:p>
        </p:txBody>
      </p:sp>
      <p:sp>
        <p:nvSpPr>
          <p:cNvPr id="23" name="TextBox 23">
            <a:extLst xmlns:a="http://schemas.openxmlformats.org/drawingml/2006/main">
              <a:ext uri="{FF2B5EF4-FFF2-40B4-BE49-F238E27FC236}">
                <a16:creationId xmlns:a16="http://schemas.microsoft.com/office/drawing/2014/main" id="{D9642EA5-5797-4554-9DA5-AA4B4A560548}"/>
              </a:ext>
            </a:extLst>
          </p:cNvPr>
          <p:cNvSpPr>
            <a:spLocks xmlns:a="http://schemas.openxmlformats.org/drawingml/2006/main" noGrp="1"/>
          </p:cNvSpPr>
          <p:nvPr/>
        </p:nvSpPr>
        <p:spPr>
          <a:xfrm xmlns:a="http://schemas.openxmlformats.org/drawingml/2006/main" rot="0" flipH="0" flipV="0">
            <a:off x="6414135" y="3732848"/>
            <a:ext cx="349868" cy="39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950" b="1">
                <a:solidFill>
                  <a:srgbClr val="17324D"/>
                </a:solidFill>
                <a:latin typeface="Arial"/>
                <a:ea typeface="Arial"/>
                <a:cs typeface="Arial"/>
              </a:rPr>
              <a:t>04</a:t>
            </a:r>
          </a:p>
        </p:txBody>
      </p:sp>
      <p:sp>
        <p:nvSpPr>
          <p:cNvPr id="24" name="TextBox 24">
            <a:extLst xmlns:a="http://schemas.openxmlformats.org/drawingml/2006/main">
              <a:ext uri="{FF2B5EF4-FFF2-40B4-BE49-F238E27FC236}">
                <a16:creationId xmlns:a16="http://schemas.microsoft.com/office/drawing/2014/main" id="{C34332AD-26D6-467B-B2E1-69137542E225}"/>
              </a:ext>
            </a:extLst>
          </p:cNvPr>
          <p:cNvSpPr>
            <a:spLocks xmlns:a="http://schemas.openxmlformats.org/drawingml/2006/main" noGrp="1"/>
          </p:cNvSpPr>
          <p:nvPr/>
        </p:nvSpPr>
        <p:spPr>
          <a:xfrm xmlns:a="http://schemas.openxmlformats.org/drawingml/2006/main" rot="0" flipH="0" flipV="0">
            <a:off x="6935152" y="3760946"/>
            <a:ext cx="3617668"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425" b="1">
                <a:solidFill>
                  <a:srgbClr val="20262B"/>
                </a:solidFill>
                <a:latin typeface="Arial"/>
                <a:ea typeface="Arial"/>
                <a:cs typeface="Arial"/>
              </a:rPr>
              <a:t>Extend the explanatory scope of ABM</a:t>
            </a:r>
          </a:p>
        </p:txBody>
      </p:sp>
      <p:sp>
        <p:nvSpPr>
          <p:cNvPr id="25" name="TextBox 25">
            <a:extLst xmlns:a="http://schemas.openxmlformats.org/drawingml/2006/main">
              <a:ext uri="{FF2B5EF4-FFF2-40B4-BE49-F238E27FC236}">
                <a16:creationId xmlns:a16="http://schemas.microsoft.com/office/drawing/2014/main" id="{AE1C3EA5-1BFE-4121-8272-8C363DE45E07}"/>
              </a:ext>
            </a:extLst>
          </p:cNvPr>
          <p:cNvSpPr>
            <a:spLocks xmlns:a="http://schemas.openxmlformats.org/drawingml/2006/main" noGrp="1"/>
          </p:cNvSpPr>
          <p:nvPr/>
        </p:nvSpPr>
        <p:spPr>
          <a:xfrm xmlns:a="http://schemas.openxmlformats.org/drawingml/2006/main" rot="0" flipH="0" flipV="0">
            <a:off x="6423660" y="4232910"/>
            <a:ext cx="5189220" cy="701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800"/>
              </a:lnSpc>
              <a:buNone/>
            </a:pPr>
            <a:r>
              <a:rPr sz="1200">
                <a:solidFill>
                  <a:srgbClr val="20262B"/>
                </a:solidFill>
                <a:latin typeface="Arial"/>
                <a:ea typeface="Arial"/>
                <a:cs typeface="Arial"/>
              </a:rPr>
              <a:t>Combine explicit dynamic rules with readable natural-language </a:t>
            </a:r>
            <a:r>
              <a:rPr sz="1200">
                <a:solidFill>
                  <a:srgbClr val="20262B"/>
                </a:solidFill>
                <a:latin typeface="Arial"/>
                <a:ea typeface="Arial"/>
                <a:cs typeface="Arial"/>
              </a:rPr>
              <a:t>process records. Trace group outcomes through messages, exposure </a:t>
            </a:r>
            <a:r>
              <a:rPr sz="1200">
                <a:solidFill>
                  <a:srgbClr val="20262B"/>
                </a:solidFill>
                <a:latin typeface="Arial"/>
                <a:ea typeface="Arial"/>
                <a:cs typeface="Arial"/>
              </a:rPr>
              <a:t>sets, diffusion paths, and round-by-round opinion changes.</a:t>
            </a:r>
          </a:p>
        </p:txBody>
      </p:sp>
      <p:sp>
        <p:nvSpPr>
          <p:cNvPr id="27" name="Line 27">
            <a:extLst xmlns:a="http://schemas.openxmlformats.org/drawingml/2006/main">
              <a:ext uri="{FF2B5EF4-FFF2-40B4-BE49-F238E27FC236}">
                <a16:creationId xmlns:a16="http://schemas.microsoft.com/office/drawing/2014/main" id="{4454F443-9996-419F-98FC-396E03F1D12C}"/>
              </a:ext>
            </a:extLst>
          </p:cNvPr>
          <p:cNvSpPr>
            <a:spLocks xmlns:a="http://schemas.openxmlformats.org/drawingml/2006/main" noGrp="1"/>
          </p:cNvSpPr>
          <p:nvPr/>
        </p:nvSpPr>
        <p:spPr>
          <a:xfrm xmlns:a="http://schemas.openxmlformats.org/drawingml/2006/main" rot="0" flipH="0" flipV="0">
            <a:off x="685800" y="5867400"/>
            <a:ext cx="10820400" cy="9525"/>
          </a:xfrm>
          <a:custGeom xmlns:a="http://schemas.openxmlformats.org/drawingml/2006/main">
            <a:rect l="l" t="t" r="r" b="b"/>
            <a:pathLst>
              <a:path w="10820400" h="9525">
                <a:moveTo>
                  <a:pt x="0" y="0"/>
                </a:moveTo>
                <a:lnTo>
                  <a:pt x="10820400" y="0"/>
                </a:lnTo>
              </a:path>
            </a:pathLst>
          </a:custGeom>
          <a:noFill xmlns:a="http://schemas.openxmlformats.org/drawingml/2006/main"/>
          <a:ln xmlns:a="http://schemas.openxmlformats.org/drawingml/2006/main" w="9525">
            <a:solidFill>
              <a:srgbClr val="17324D"/>
            </a:solidFill>
          </a:ln>
        </p:spPr>
      </p:sp>
      <p:sp>
        <p:nvSpPr>
          <p:cNvPr id="28" name="TextBox 28">
            <a:extLst xmlns:a="http://schemas.openxmlformats.org/drawingml/2006/main">
              <a:ext uri="{FF2B5EF4-FFF2-40B4-BE49-F238E27FC236}">
                <a16:creationId xmlns:a16="http://schemas.microsoft.com/office/drawing/2014/main" id="{238C8F3C-FC0B-4982-910B-6AAA57BA783C}"/>
              </a:ext>
            </a:extLst>
          </p:cNvPr>
          <p:cNvSpPr>
            <a:spLocks xmlns:a="http://schemas.openxmlformats.org/drawingml/2006/main" noGrp="1"/>
          </p:cNvSpPr>
          <p:nvPr/>
        </p:nvSpPr>
        <p:spPr>
          <a:xfrm xmlns:a="http://schemas.openxmlformats.org/drawingml/2006/main" rot="0" flipH="0" flipV="0">
            <a:off x="672465" y="6020752"/>
            <a:ext cx="5047297" cy="403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lstStyle xmlns:a="http://schemas.openxmlformats.org/drawingml/2006/main"/>
          <a:p xmlns:a="http://schemas.openxmlformats.org/drawingml/2006/main">
            <a:pPr algn="l">
              <a:lnSpc>
                <a:spcPts val="1500"/>
              </a:lnSpc>
              <a:buNone/>
            </a:pPr>
            <a:r>
              <a:rPr sz="1050">
                <a:solidFill>
                  <a:srgbClr val="7A8792"/>
                </a:solidFill>
                <a:latin typeface="Arial"/>
                <a:ea typeface="Arial"/>
                <a:cs typeface="Arial"/>
              </a:rPr>
              <a:t>All contributions are prospective and will be retained, narrowed, or removed </a:t>
            </a:r>
            <a:r>
              <a:rPr sz="1050">
                <a:solidFill>
                  <a:srgbClr val="7A8792"/>
                </a:solidFill>
                <a:latin typeface="Arial"/>
                <a:ea typeface="Arial"/>
                <a:cs typeface="Arial"/>
              </a:rPr>
              <a:t>according to the evidence for SQ1–SQ3.</a:t>
            </a:r>
          </a:p>
        </p:txBody>
      </p:sp>
      <p:sp>
        <p:nvSpPr>
          <p:cNvPr id="30" name="TextBox 30">
            <a:extLst xmlns:a="http://schemas.openxmlformats.org/drawingml/2006/main">
              <a:ext uri="{FF2B5EF4-FFF2-40B4-BE49-F238E27FC236}">
                <a16:creationId xmlns:a16="http://schemas.microsoft.com/office/drawing/2014/main" id="{CD8E7300-F602-4E09-8448-9E8E35BE4304}"/>
              </a:ext>
            </a:extLst>
          </p:cNvPr>
          <p:cNvSpPr>
            <a:spLocks xmlns:a="http://schemas.openxmlformats.org/drawingml/2006/main" noGrp="1"/>
          </p:cNvSpPr>
          <p:nvPr/>
        </p:nvSpPr>
        <p:spPr>
          <a:xfrm xmlns:a="http://schemas.openxmlformats.org/drawingml/2006/main">
            <a:off x="11362754" y="6398895"/>
            <a:ext cx="154877"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00">
                <a:solidFill>
                  <a:srgbClr val="7A8792"/>
                </a:solidFill>
                <a:latin typeface="Arial"/>
                <a:ea typeface="Arial"/>
                <a:cs typeface="Arial"/>
              </a:rPr>
              <a:t>11</a:t>
            </a:r>
          </a:p>
        </p:txBody>
      </p:sp>
    </p:spTree>
    <p:extLst>
      <p:ext uri="{BB962C8B-B14F-4D97-AF65-F5344CB8AC3E}">
        <p14:creationId xmlns:p14="http://schemas.microsoft.com/office/powerpoint/2010/main" val="163780510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2026-08-27T05:33:24.5830000Z</dcterms:created>
  <dcterms:modified xsi:type="dcterms:W3CDTF">2026-08-27T05:33:24.5830000Z</dcterms:modified>
</coreProperties>
</file>