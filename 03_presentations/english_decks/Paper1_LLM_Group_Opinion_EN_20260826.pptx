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chapter examines how large language models may change information acquisition and opinion formation at the group level. The focus is not limited to what one user learns from one interaction. The study follows a sequence from model-generated information to member exposure, diffusion through a network, individual opinion updating, and the resulting group opinion distribution.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Conventional search exposes users to multiple sources and evidentiary cues. Generative AI increasingly provides an integrated answer and then supports follow-up dialogue. At the group level, this interface may create common dependencies when many members rely on the same model, retrieval system, and generation logic. Their judgments can look independent while sharing omissions, frames, or errors. A competing possibility is that interaction conditioned on prior positions reinforces those positions and increases differentiation across groups.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literature supports two competing paths. The first begins with a shared information source. Model-output homogeneity and algorithmic monoculture suggest that separate users may still receive correlated information. Repeated exposure and positive acceptance can then move opinions toward convergence. The second path begins with user-conditioned generation. Motivated skepticism, stance-consistent outputs, and selective acceptance can lead different camps to update in different directions. The study therefore does not assume convergence in advance; it models the conditions that distinguish convergence from differentiation.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first three gaps define the causal chain. Similar outputs may not produce similar exposure, changed exposure may not change opinions, and an LLM-side intervention may not change either process. The fourth gap concerns circular validity in LLM social simulation: if one model generates both the shared information and the behavior of the human proxy, its preferences can enter both sides of the simulation. The fifth gap concerns scale. Human experiments are important for calibration and validation, yet they rarely reveal long-run patterns across very large populations.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page separates the theoretical rule from the simulation method. Opinion dynamics specifies how an individual position changes in response to external information and social influence. Agent-based modeling implements those local rules across a population, network, and sequence of rounds. The research then inserts a natural-language information layer: LLM-generated messages enter exposure and diffusion, those inputs enter opinion updating, and repeated interaction produces a group opinion distribution. Human data constrain the parameters and test whether the state transitions correspond to real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three subquestions form one process chain. SQ1 asks whether LLM use changes information exposure and diffusion. SQ2 asks whether those process changes enter individual updating and alter the group distribution. SQ3 is conditional: it is tested only after a stable group-level pattern is identified. The design allows convergence, differentiation, and a null distributional result. These outcomes remain separate because a change in information exposure alone does not establish a change in group opinions.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LLM has two roles in the architecture. First, it is the information source being studied; model, prompt, and routing are treatment conditions. Second, selected nodes inside the ABM are implemented as LLM agents. Other nodes remain rule-based opinion-dynamics agents. Both types share the same state scale, network, time steps, and behavioral interfaces. Human surveys and experiments initialize the population, calibrate parameters, and provide held-out observations. Validation compares both micro-level transitions and group-level distributions.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hybridization is implemented through three behavioral functions. The message function determines how an agent produces a transmissible natural-language message. The selection function determines which available messages enter the actual exposure set. The update function determines the next opinion state after exposure. Rule-based and LLM agents use the same interfaces, which allows direct comparison. The selection rule remains explicit in the main model, while the message and update functions are the primary locations where LLM-generated behavior can enter.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Each subquestion maps to a distinct causal comparison. SQ1 compares a human-information baseline with a shared-LLM condition and observes the outputs of the message and selection functions. SQ2 fixes the message library, initial population, and network, then manipulates exposure commonality and diffusion intensity before observing the update function and group distribution. SQ3 compares a shared single model with independent random routing across model families or providers. The intervention counts as effective only if it changes a defined information process and attenuates the same group-level outcome identified in SQ2.</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Validation proceeds in four layers. Program verification checks whether the code implements the declared functions and ODD specification. Function-level validation compares model outputs with held-out human messages, selection or sharing behavior, and opinion transitions. The incremental test compares rule-only, hybrid, and simple baseline models under identical initial conditions. Group-level validation compares simulated trajectories with small multi-round human group data when available. Function ablation and sensitivity analysis identify the source of an effect. If the hybrid model does not improve out-of-sample prediction, the study does not claim additional methodological value for LLM agents.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expected contribution has four parts. The study extends human–LLM interaction research from individual responses to group opinion formation. It brings natural-language message generation and diffusion into an opinion-dynamics framework. It identifies conditions under which shared-model homogeneity produces convergence and conditions under which stance-conditioned generation and bounded acceptance produce differentiation. It also extends the explanatory scope of ABM by preserving both explicit dynamic rules and readable language-process records. These claims remain prospective and will be retained only when supported by the evidence for the three subquestions.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698ecd6ab63e4c4c.png"/>
  <Relationship Id="rId3" Type="http://schemas.openxmlformats.org/officeDocument/2006/relationships/image" Target="../media/image_904ff83f5cb7a08a.png"/>
  <Relationship Id="rId4" Type="http://schemas.openxmlformats.org/officeDocument/2006/relationships/image" Target="../media/image_e22b1a57018ac962.png"/>
  <Relationship Id="rId5"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a8683060b99986b.png"/>
  <Relationship Id="rId3" Type="http://schemas.openxmlformats.org/officeDocument/2006/relationships/image" Target="../media/image_c05ce0456df32984.png"/>
  <Relationship Id="rId4" Type="http://schemas.openxmlformats.org/officeDocument/2006/relationships/image" Target="../media/image_b541789fddcbd98d.png"/>
  <Relationship Id="rId5"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c02c9cd2e5cde14.png"/>
  <Relationship Id="rId3"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671512" y="1021556"/>
            <a:ext cx="1500188" cy="378619"/>
            <a:chOff x="671512" y="1021556"/>
            <a:chExt cx="1500188" cy="378619"/>
          </a:xfrm>
        </p:grpSpPr>
        <p:sp>
          <p:nvSpPr>
            <p:cNvPr id="3" name="TextBox 3"/>
            <p:cNvSpPr txBox="1"/>
            <p:nvPr/>
          </p:nvSpPr>
          <p:spPr>
            <a:xfrm>
              <a:off x="671512" y="1021556"/>
              <a:ext cx="768918" cy="228600"/>
            </a:xfrm>
            <a:prstGeom prst="rect">
              <a:avLst/>
            </a:prstGeom>
            <a:noFill/>
            <a:ln>
              <a:noFill/>
            </a:ln>
          </p:spPr>
          <p:txBody>
            <a:bodyPr wrap="none" lIns="0" tIns="0" rIns="0" bIns="0" anchor="t" anchorCtr="0">
              <a:spAutoFit/>
            </a:bodyPr>
            <a:lstStyle/>
            <a:p>
              <a:pPr algn="l"/>
              <a:r>
                <a:rPr lang="zh-CN" sz="1125" b="1" dirty="0">
                  <a:solidFill>
                    <a:srgbClr val="17324D"/>
                  </a:solidFill>
                  <a:latin typeface="Arial"/>
                  <a:ea typeface="Microsoft YaHei"/>
                  <a:cs typeface="Arial"/>
                </a:rPr>
                <a:t>CHAPTER 1</a:t>
              </a:r>
            </a:p>
          </p:txBody>
        </p:sp>
        <p:sp>
          <p:nvSpPr>
            <p:cNvPr id="4" name="Line 4"/>
            <p:cNvSpPr/>
            <p:nvPr/>
          </p:nvSpPr>
          <p:spPr>
            <a:xfrm>
              <a:off x="685800" y="1390650"/>
              <a:ext cx="1485900" cy="9525"/>
            </a:xfrm>
            <a:custGeom>
              <a:avLst/>
              <a:gdLst/>
              <a:ahLst/>
              <a:cxnLst/>
              <a:rect l="l" t="t" r="r" b="b"/>
              <a:pathLst>
                <a:path w="1485900" h="9525">
                  <a:moveTo>
                    <a:pt x="0" y="0"/>
                  </a:moveTo>
                  <a:lnTo>
                    <a:pt x="1485900" y="0"/>
                  </a:lnTo>
                </a:path>
              </a:pathLst>
            </a:custGeom>
            <a:noFill/>
            <a:ln w="28575">
              <a:solidFill>
                <a:srgbClr val="17324D"/>
              </a:solidFill>
            </a:ln>
          </p:spPr>
        </p:sp>
      </p:grpSp>
      <p:grpSp>
        <p:nvGrpSpPr>
          <p:cNvPr id="7" name="Group 7"/>
          <p:cNvGrpSpPr/>
          <p:nvPr/>
        </p:nvGrpSpPr>
        <p:grpSpPr>
          <a:xfrm>
            <a:off x="645795" y="2184082"/>
            <a:ext cx="8796099" cy="1192530"/>
            <a:chOff x="645795" y="2184082"/>
            <a:chExt cx="8796099" cy="1192530"/>
          </a:xfrm>
        </p:grpSpPr>
        <p:sp>
          <p:nvSpPr>
            <p:cNvPr id="6" name="TextBox 6"/>
            <p:cNvSpPr txBox="1"/>
            <p:nvPr/>
          </p:nvSpPr>
          <p:spPr>
            <a:xfrm>
              <a:off x="645795" y="2184082"/>
              <a:ext cx="8796099" cy="1192530"/>
            </a:xfrm>
            <a:prstGeom prst="rect">
              <a:avLst/>
            </a:prstGeom>
            <a:noFill/>
            <a:ln>
              <a:noFill/>
            </a:ln>
          </p:spPr>
          <p:txBody>
            <a:bodyPr wrap="square" lIns="0" tIns="0" rIns="0" bIns="0" anchor="t" anchorCtr="0"/>
            <a:lstStyle/>
            <a:p>
              <a:pPr algn="l">
                <a:lnSpc>
                  <a:spcPts val="4350"/>
                </a:lnSpc>
              </a:pPr>
              <a:r>
                <a:rPr lang="zh-CN" sz="3150" b="1" dirty="0">
                  <a:solidFill>
                    <a:srgbClr val="20262B"/>
                  </a:solidFill>
                  <a:latin typeface="Arial"/>
                  <a:ea typeface="Microsoft YaHei"/>
                  <a:cs typeface="Arial"/>
                </a:rPr>
                <a:t xml:space="preserve">How Does AI Change Information Acquisition </a:t>
              </a:r>
              <a:r>
                <a:rPr lang="zh-CN" sz="3150" b="1" dirty="0">
                  <a:solidFill>
                    <a:srgbClr val="20262B"/>
                  </a:solidFill>
                  <a:latin typeface="Arial"/>
                  <a:ea typeface="Microsoft YaHei"/>
                  <a:cs typeface="Arial"/>
                </a:rPr>
                <a:t>and Opinion Formation in Human Groups?</a:t>
              </a:r>
            </a:p>
          </p:txBody>
        </p:sp>
      </p:grpSp>
      <p:grpSp>
        <p:nvGrpSpPr>
          <p:cNvPr id="10" name="Group 10"/>
          <p:cNvGrpSpPr/>
          <p:nvPr/>
        </p:nvGrpSpPr>
        <p:grpSpPr>
          <a:xfrm>
            <a:off x="685800" y="4362450"/>
            <a:ext cx="10125075" cy="38100"/>
            <a:chOff x="685800" y="4362450"/>
            <a:chExt cx="10125075" cy="38100"/>
          </a:xfrm>
        </p:grpSpPr>
        <p:sp>
          <p:nvSpPr>
            <p:cNvPr id="8" name="Line 8"/>
            <p:cNvSpPr/>
            <p:nvPr/>
          </p:nvSpPr>
          <p:spPr>
            <a:xfrm>
              <a:off x="685800" y="4362450"/>
              <a:ext cx="10125075" cy="9525"/>
            </a:xfrm>
            <a:custGeom>
              <a:avLst/>
              <a:gdLst/>
              <a:ahLst/>
              <a:cxnLst/>
              <a:rect l="l" t="t" r="r" b="b"/>
              <a:pathLst>
                <a:path w="10125075" h="9525">
                  <a:moveTo>
                    <a:pt x="0" y="0"/>
                  </a:moveTo>
                  <a:lnTo>
                    <a:pt x="10125075" y="0"/>
                  </a:lnTo>
                </a:path>
              </a:pathLst>
            </a:custGeom>
            <a:noFill/>
            <a:ln w="9525">
              <a:solidFill>
                <a:srgbClr val="D8DEE3"/>
              </a:solidFill>
            </a:ln>
          </p:spPr>
        </p:sp>
        <p:sp>
          <p:nvSpPr>
            <p:cNvPr id="9" name="Rectangle 9"/>
            <p:cNvSpPr/>
            <p:nvPr/>
          </p:nvSpPr>
          <p:spPr>
            <a:xfrm>
              <a:off x="685800" y="4362450"/>
              <a:ext cx="1733550" cy="38100"/>
            </a:xfrm>
            <a:prstGeom prst="rect">
              <a:avLst/>
            </a:prstGeom>
            <a:solidFill>
              <a:srgbClr val="17324D"/>
            </a:solidFill>
            <a:ln>
              <a:noFill/>
            </a:ln>
          </p:spPr>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1079480" cy="516255"/>
            <a:chOff x="541020" y="464820"/>
            <a:chExt cx="11079480" cy="516255"/>
          </a:xfrm>
        </p:grpSpPr>
        <p:sp>
          <p:nvSpPr>
            <p:cNvPr id="3" name="TextBox 3"/>
            <p:cNvSpPr txBox="1"/>
            <p:nvPr/>
          </p:nvSpPr>
          <p:spPr>
            <a:xfrm>
              <a:off x="541020" y="464820"/>
              <a:ext cx="3488588"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Research Background</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grpSp>
        <p:nvGrpSpPr>
          <p:cNvPr id="14" name="Group 14"/>
          <p:cNvGrpSpPr/>
          <p:nvPr/>
        </p:nvGrpSpPr>
        <p:grpSpPr>
          <a:xfrm>
            <a:off x="666750" y="1353502"/>
            <a:ext cx="5059680" cy="2937510"/>
            <a:chOff x="666750" y="1353502"/>
            <a:chExt cx="5059680" cy="2937510"/>
          </a:xfrm>
        </p:grpSpPr>
        <p:sp>
          <p:nvSpPr>
            <p:cNvPr id="7" name="TextBox 7"/>
            <p:cNvSpPr txBox="1"/>
            <p:nvPr/>
          </p:nvSpPr>
          <p:spPr>
            <a:xfrm>
              <a:off x="672465" y="1353502"/>
              <a:ext cx="1665925"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INFORMATION INTERFACE</a:t>
              </a:r>
            </a:p>
          </p:txBody>
        </p:sp>
        <p:sp>
          <p:nvSpPr>
            <p:cNvPr id="8" name="TextBox 8"/>
            <p:cNvSpPr txBox="1"/>
            <p:nvPr/>
          </p:nvSpPr>
          <p:spPr>
            <a:xfrm>
              <a:off x="666750" y="1790700"/>
              <a:ext cx="1550289" cy="304800"/>
            </a:xfrm>
            <a:prstGeom prst="rect">
              <a:avLst/>
            </a:prstGeom>
            <a:noFill/>
            <a:ln>
              <a:noFill/>
            </a:ln>
          </p:spPr>
          <p:txBody>
            <a:bodyPr wrap="none" lIns="0" tIns="0" rIns="0" bIns="0" anchor="t" anchorCtr="0">
              <a:spAutoFit/>
            </a:bodyPr>
            <a:lstStyle/>
            <a:p>
              <a:pPr algn="l"/>
              <a:r>
                <a:rPr lang="zh-CN" sz="1500" b="1" dirty="0">
                  <a:solidFill>
                    <a:srgbClr val="20262B"/>
                  </a:solidFill>
                  <a:latin typeface="Arial"/>
                  <a:ea typeface="Microsoft YaHei"/>
                  <a:cs typeface="Arial"/>
                </a:rPr>
                <a:t>Search engines</a:t>
              </a:r>
            </a:p>
          </p:txBody>
        </p:sp>
        <p:sp>
          <p:nvSpPr>
            <p:cNvPr id="9" name="TextBox 9"/>
            <p:cNvSpPr txBox="1"/>
            <p:nvPr/>
          </p:nvSpPr>
          <p:spPr>
            <a:xfrm>
              <a:off x="668655" y="2111692"/>
              <a:ext cx="4183380" cy="531495"/>
            </a:xfrm>
            <a:prstGeom prst="rect">
              <a:avLst/>
            </a:prstGeom>
            <a:noFill/>
            <a:ln>
              <a:noFill/>
            </a:ln>
          </p:spPr>
          <p:txBody>
            <a:bodyPr wrap="square" lIns="0" tIns="0" rIns="0" bIns="0" anchor="t" anchorCtr="0"/>
            <a:lstStyle/>
            <a:p>
              <a:pPr algn="l">
                <a:lnSpc>
                  <a:spcPts val="2025"/>
                </a:lnSpc>
              </a:pPr>
              <a:r>
                <a:rPr lang="zh-CN" sz="1350" dirty="0">
                  <a:solidFill>
                    <a:srgbClr val="20262B"/>
                  </a:solidFill>
                  <a:latin typeface="Arial"/>
                  <a:ea typeface="Microsoft YaHei"/>
                  <a:cs typeface="Arial"/>
                </a:rPr>
                <a:t xml:space="preserve">Typically expose users to multiple sources, links, </a:t>
              </a:r>
              <a:r>
                <a:rPr lang="zh-CN" sz="1350" dirty="0">
                  <a:solidFill>
                    <a:srgbClr val="20262B"/>
                  </a:solidFill>
                  <a:latin typeface="Arial"/>
                  <a:ea typeface="Microsoft YaHei"/>
                  <a:cs typeface="Arial"/>
                </a:rPr>
                <a:t>and evidentiary cues.</a:t>
              </a:r>
            </a:p>
          </p:txBody>
        </p:sp>
        <p:sp>
          <p:nvSpPr>
            <p:cNvPr id="10" name="Line 10"/>
            <p:cNvSpPr/>
            <p:nvPr/>
          </p:nvSpPr>
          <p:spPr>
            <a:xfrm>
              <a:off x="685800" y="2781300"/>
              <a:ext cx="4743450" cy="9525"/>
            </a:xfrm>
            <a:custGeom>
              <a:avLst/>
              <a:gdLst/>
              <a:ahLst/>
              <a:cxnLst/>
              <a:rect l="l" t="t" r="r" b="b"/>
              <a:pathLst>
                <a:path w="4743450" h="9525">
                  <a:moveTo>
                    <a:pt x="0" y="0"/>
                  </a:moveTo>
                  <a:lnTo>
                    <a:pt x="4743450" y="0"/>
                  </a:lnTo>
                </a:path>
              </a:pathLst>
            </a:custGeom>
            <a:noFill/>
            <a:ln w="9525">
              <a:solidFill>
                <a:srgbClr val="D8DEE3"/>
              </a:solidFill>
            </a:ln>
          </p:spPr>
        </p:sp>
        <p:sp>
          <p:nvSpPr>
            <p:cNvPr id="11" name="TextBox 11"/>
            <p:cNvSpPr txBox="1"/>
            <p:nvPr/>
          </p:nvSpPr>
          <p:spPr>
            <a:xfrm>
              <a:off x="666750" y="3048000"/>
              <a:ext cx="1382268" cy="304800"/>
            </a:xfrm>
            <a:prstGeom prst="rect">
              <a:avLst/>
            </a:prstGeom>
            <a:noFill/>
            <a:ln>
              <a:noFill/>
            </a:ln>
          </p:spPr>
          <p:txBody>
            <a:bodyPr wrap="none" lIns="0" tIns="0" rIns="0" bIns="0" anchor="t" anchorCtr="0">
              <a:spAutoFit/>
            </a:bodyPr>
            <a:lstStyle/>
            <a:p>
              <a:pPr algn="l"/>
              <a:r>
                <a:rPr lang="zh-CN" sz="1500" b="1" dirty="0">
                  <a:solidFill>
                    <a:srgbClr val="17324D"/>
                  </a:solidFill>
                  <a:latin typeface="Arial"/>
                  <a:ea typeface="Microsoft YaHei"/>
                  <a:cs typeface="Arial"/>
                </a:rPr>
                <a:t>Generative AI</a:t>
              </a:r>
            </a:p>
          </p:txBody>
        </p:sp>
        <p:sp>
          <p:nvSpPr>
            <p:cNvPr id="12" name="TextBox 12"/>
            <p:cNvSpPr txBox="1"/>
            <p:nvPr/>
          </p:nvSpPr>
          <p:spPr>
            <a:xfrm>
              <a:off x="668655" y="3368992"/>
              <a:ext cx="5057775" cy="531495"/>
            </a:xfrm>
            <a:prstGeom prst="rect">
              <a:avLst/>
            </a:prstGeom>
            <a:noFill/>
            <a:ln>
              <a:noFill/>
            </a:ln>
          </p:spPr>
          <p:txBody>
            <a:bodyPr wrap="square" lIns="0" tIns="0" rIns="0" bIns="0" anchor="t" anchorCtr="0"/>
            <a:lstStyle/>
            <a:p>
              <a:pPr algn="l">
                <a:lnSpc>
                  <a:spcPts val="2025"/>
                </a:lnSpc>
              </a:pPr>
              <a:r>
                <a:rPr lang="zh-CN" sz="1350" dirty="0">
                  <a:solidFill>
                    <a:srgbClr val="20262B"/>
                  </a:solidFill>
                  <a:latin typeface="Arial"/>
                  <a:ea typeface="Microsoft YaHei"/>
                  <a:cs typeface="Arial"/>
                </a:rPr>
                <a:t xml:space="preserve">Increasingly organizes information through direct answers, </a:t>
              </a:r>
              <a:r>
                <a:rPr lang="zh-CN" sz="1350" dirty="0">
                  <a:solidFill>
                    <a:srgbClr val="20262B"/>
                  </a:solidFill>
                  <a:latin typeface="Arial"/>
                  <a:ea typeface="Microsoft YaHei"/>
                  <a:cs typeface="Arial"/>
                </a:rPr>
                <a:t>integrated explanations, and follow-up dialogue.</a:t>
              </a:r>
            </a:p>
          </p:txBody>
        </p:sp>
        <p:sp>
          <p:nvSpPr>
            <p:cNvPr id="13" name="TextBox 13"/>
            <p:cNvSpPr txBox="1"/>
            <p:nvPr/>
          </p:nvSpPr>
          <p:spPr>
            <a:xfrm>
              <a:off x="672465" y="4077652"/>
              <a:ext cx="4304205" cy="213360"/>
            </a:xfrm>
            <a:prstGeom prst="rect">
              <a:avLst/>
            </a:prstGeom>
            <a:noFill/>
            <a:ln>
              <a:noFill/>
            </a:ln>
          </p:spPr>
          <p:txBody>
            <a:bodyPr wrap="none" lIns="0" tIns="0" rIns="0" bIns="0" anchor="t" anchorCtr="0">
              <a:spAutoFit/>
            </a:bodyPr>
            <a:lstStyle/>
            <a:p>
              <a:pPr algn="l"/>
              <a:r>
                <a:rPr lang="zh-CN" sz="1050" dirty="0">
                  <a:solidFill>
                    <a:srgbClr val="7A8792"/>
                  </a:solidFill>
                  <a:latin typeface="Arial"/>
                  <a:ea typeface="Microsoft YaHei"/>
                  <a:cs typeface="Arial"/>
                </a:rPr>
                <a:t>Examples: AI search assistants embedded in Weibo and WeChat.</a:t>
              </a:r>
            </a:p>
          </p:txBody>
        </p:sp>
      </p:grpSp>
      <p:grpSp>
        <p:nvGrpSpPr>
          <p:cNvPr id="22" name="Group 22"/>
          <p:cNvGrpSpPr/>
          <p:nvPr/>
        </p:nvGrpSpPr>
        <p:grpSpPr>
          <a:xfrm>
            <a:off x="6057900" y="1353502"/>
            <a:ext cx="5257800" cy="4609148"/>
            <a:chOff x="6057900" y="1353502"/>
            <a:chExt cx="5257800" cy="4609148"/>
          </a:xfrm>
        </p:grpSpPr>
        <p:sp>
          <p:nvSpPr>
            <p:cNvPr id="15" name="Line 15"/>
            <p:cNvSpPr/>
            <p:nvPr/>
          </p:nvSpPr>
          <p:spPr>
            <a:xfrm>
              <a:off x="6057900" y="1466850"/>
              <a:ext cx="9525" cy="4495800"/>
            </a:xfrm>
            <a:custGeom>
              <a:avLst/>
              <a:gdLst/>
              <a:ahLst/>
              <a:cxnLst/>
              <a:rect l="l" t="t" r="r" b="b"/>
              <a:pathLst>
                <a:path w="9525" h="4495800">
                  <a:moveTo>
                    <a:pt x="0" y="0"/>
                  </a:moveTo>
                  <a:lnTo>
                    <a:pt x="0" y="4495800"/>
                  </a:lnTo>
                </a:path>
              </a:pathLst>
            </a:custGeom>
            <a:noFill/>
            <a:ln w="19050">
              <a:solidFill>
                <a:srgbClr val="17324D"/>
              </a:solidFill>
            </a:ln>
          </p:spPr>
        </p:sp>
        <p:sp>
          <p:nvSpPr>
            <p:cNvPr id="16" name="TextBox 16"/>
            <p:cNvSpPr txBox="1"/>
            <p:nvPr/>
          </p:nvSpPr>
          <p:spPr>
            <a:xfrm>
              <a:off x="6387465" y="1353502"/>
              <a:ext cx="1585065"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GROUP-LEVEL CONCERN</a:t>
              </a:r>
            </a:p>
          </p:txBody>
        </p:sp>
        <p:sp>
          <p:nvSpPr>
            <p:cNvPr id="17" name="TextBox 17"/>
            <p:cNvSpPr txBox="1"/>
            <p:nvPr/>
          </p:nvSpPr>
          <p:spPr>
            <a:xfrm>
              <a:off x="6380798" y="1782604"/>
              <a:ext cx="3841480" cy="596265"/>
            </a:xfrm>
            <a:prstGeom prst="rect">
              <a:avLst/>
            </a:prstGeom>
            <a:noFill/>
            <a:ln>
              <a:noFill/>
            </a:ln>
          </p:spPr>
          <p:txBody>
            <a:bodyPr wrap="square" lIns="0" tIns="0" rIns="0" bIns="0" anchor="t" anchorCtr="0"/>
            <a:lstStyle/>
            <a:p>
              <a:pPr algn="l">
                <a:lnSpc>
                  <a:spcPts val="2175"/>
                </a:lnSpc>
              </a:pPr>
              <a:r>
                <a:rPr lang="zh-CN" sz="1575" b="1" dirty="0">
                  <a:solidFill>
                    <a:srgbClr val="20262B"/>
                  </a:solidFill>
                  <a:latin typeface="Arial"/>
                  <a:ea typeface="Microsoft YaHei"/>
                  <a:cs typeface="Arial"/>
                </a:rPr>
                <a:t xml:space="preserve">Seemingly independent judgments may </a:t>
              </a:r>
              <a:r>
                <a:rPr lang="zh-CN" sz="1575" b="1" dirty="0">
                  <a:solidFill>
                    <a:srgbClr val="20262B"/>
                  </a:solidFill>
                  <a:latin typeface="Arial"/>
                  <a:ea typeface="Microsoft YaHei"/>
                  <a:cs typeface="Arial"/>
                </a:rPr>
                <a:t>contain common dependencies.</a:t>
              </a:r>
            </a:p>
          </p:txBody>
        </p:sp>
        <p:sp>
          <p:nvSpPr>
            <p:cNvPr id="18" name="TextBox 18"/>
            <p:cNvSpPr txBox="1"/>
            <p:nvPr/>
          </p:nvSpPr>
          <p:spPr>
            <a:xfrm>
              <a:off x="6383655" y="2635568"/>
              <a:ext cx="4766310" cy="1045845"/>
            </a:xfrm>
            <a:prstGeom prst="rect">
              <a:avLst/>
            </a:prstGeom>
            <a:noFill/>
            <a:ln>
              <a:noFill/>
            </a:ln>
          </p:spPr>
          <p:txBody>
            <a:bodyPr wrap="square" lIns="0" tIns="0" rIns="0" bIns="0" anchor="t" anchorCtr="0"/>
            <a:lstStyle/>
            <a:p>
              <a:pPr algn="l">
                <a:lnSpc>
                  <a:spcPts val="2025"/>
                </a:lnSpc>
              </a:pPr>
              <a:r>
                <a:rPr lang="zh-CN" sz="1350" dirty="0">
                  <a:solidFill>
                    <a:srgbClr val="20262B"/>
                  </a:solidFill>
                  <a:latin typeface="Arial"/>
                  <a:ea typeface="Microsoft YaHei"/>
                  <a:cs typeface="Arial"/>
                </a:rPr>
                <a:t xml:space="preserve">When many members rely on the same model, similar </a:t>
              </a:r>
              <a:r>
                <a:rPr lang="zh-CN" sz="1350" dirty="0">
                  <a:solidFill>
                    <a:srgbClr val="20262B"/>
                  </a:solidFill>
                  <a:latin typeface="Arial"/>
                  <a:ea typeface="Microsoft YaHei"/>
                  <a:cs typeface="Arial"/>
                </a:rPr>
                <a:t xml:space="preserve">training data, the same retrieval system, and similar </a:t>
              </a:r>
              <a:r>
                <a:rPr lang="zh-CN" sz="1350" dirty="0">
                  <a:solidFill>
                    <a:srgbClr val="20262B"/>
                  </a:solidFill>
                  <a:latin typeface="Arial"/>
                  <a:ea typeface="Microsoft YaHei"/>
                  <a:cs typeface="Arial"/>
                </a:rPr>
                <a:t xml:space="preserve">generation logic, they may share information omissions, </a:t>
              </a:r>
              <a:r>
                <a:rPr lang="zh-CN" sz="1350" dirty="0">
                  <a:solidFill>
                    <a:srgbClr val="20262B"/>
                  </a:solidFill>
                  <a:latin typeface="Arial"/>
                  <a:ea typeface="Microsoft YaHei"/>
                  <a:cs typeface="Arial"/>
                </a:rPr>
                <a:t>narrative frames, and errors.</a:t>
              </a:r>
            </a:p>
          </p:txBody>
        </p:sp>
        <p:sp>
          <p:nvSpPr>
            <p:cNvPr id="19" name="Line 19"/>
            <p:cNvSpPr/>
            <p:nvPr/>
          </p:nvSpPr>
          <p:spPr>
            <a:xfrm>
              <a:off x="6400800" y="4000500"/>
              <a:ext cx="4914900" cy="9525"/>
            </a:xfrm>
            <a:custGeom>
              <a:avLst/>
              <a:gdLst/>
              <a:ahLst/>
              <a:cxnLst/>
              <a:rect l="l" t="t" r="r" b="b"/>
              <a:pathLst>
                <a:path w="4914900" h="9525">
                  <a:moveTo>
                    <a:pt x="0" y="0"/>
                  </a:moveTo>
                  <a:lnTo>
                    <a:pt x="4914900" y="0"/>
                  </a:lnTo>
                </a:path>
              </a:pathLst>
            </a:custGeom>
            <a:noFill/>
            <a:ln w="9525">
              <a:solidFill>
                <a:srgbClr val="D8DEE3"/>
              </a:solidFill>
            </a:ln>
          </p:spPr>
        </p:sp>
        <p:sp>
          <p:nvSpPr>
            <p:cNvPr id="20" name="TextBox 20"/>
            <p:cNvSpPr txBox="1"/>
            <p:nvPr/>
          </p:nvSpPr>
          <p:spPr>
            <a:xfrm>
              <a:off x="6385560" y="4271010"/>
              <a:ext cx="1861909" cy="243840"/>
            </a:xfrm>
            <a:prstGeom prst="rect">
              <a:avLst/>
            </a:prstGeom>
            <a:noFill/>
            <a:ln>
              <a:noFill/>
            </a:ln>
          </p:spPr>
          <p:txBody>
            <a:bodyPr wrap="none" lIns="0" tIns="0" rIns="0" bIns="0" anchor="t" anchorCtr="0">
              <a:spAutoFit/>
            </a:bodyPr>
            <a:lstStyle/>
            <a:p>
              <a:pPr algn="l"/>
              <a:r>
                <a:rPr lang="zh-CN" sz="1200" b="1" dirty="0">
                  <a:solidFill>
                    <a:srgbClr val="17324D"/>
                  </a:solidFill>
                  <a:latin typeface="Arial"/>
                  <a:ea typeface="Microsoft YaHei"/>
                  <a:cs typeface="Arial"/>
                </a:rPr>
                <a:t>COMPETING POSSIBILITY</a:t>
              </a:r>
            </a:p>
          </p:txBody>
        </p:sp>
        <p:sp>
          <p:nvSpPr>
            <p:cNvPr id="21" name="TextBox 21"/>
            <p:cNvSpPr txBox="1"/>
            <p:nvPr/>
          </p:nvSpPr>
          <p:spPr>
            <a:xfrm>
              <a:off x="6383655" y="4664392"/>
              <a:ext cx="4560570" cy="531495"/>
            </a:xfrm>
            <a:prstGeom prst="rect">
              <a:avLst/>
            </a:prstGeom>
            <a:noFill/>
            <a:ln>
              <a:noFill/>
            </a:ln>
          </p:spPr>
          <p:txBody>
            <a:bodyPr wrap="square" lIns="0" tIns="0" rIns="0" bIns="0" anchor="t" anchorCtr="0"/>
            <a:lstStyle/>
            <a:p>
              <a:pPr algn="l">
                <a:lnSpc>
                  <a:spcPts val="2025"/>
                </a:lnSpc>
              </a:pPr>
              <a:r>
                <a:rPr lang="zh-CN" sz="1350" dirty="0">
                  <a:solidFill>
                    <a:srgbClr val="20262B"/>
                  </a:solidFill>
                  <a:latin typeface="Arial"/>
                  <a:ea typeface="Microsoft YaHei"/>
                  <a:cs typeface="Arial"/>
                </a:rPr>
                <a:t xml:space="preserve">Stance-conditioned interaction may reinforce prior </a:t>
              </a:r>
              <a:r>
                <a:rPr lang="zh-CN" sz="1350" dirty="0">
                  <a:solidFill>
                    <a:srgbClr val="20262B"/>
                  </a:solidFill>
                  <a:latin typeface="Arial"/>
                  <a:ea typeface="Microsoft YaHei"/>
                  <a:cs typeface="Arial"/>
                </a:rPr>
                <a:t>positions and increase differentiation across groups.</a:t>
              </a:r>
            </a:p>
          </p:txBody>
        </p:sp>
      </p:grpSp>
      <p:sp>
        <p:nvSpPr>
          <p:cNvPr id="23" name="TextBox 23"/>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02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1079480" cy="516255"/>
            <a:chOff x="541020" y="464820"/>
            <a:chExt cx="11079480" cy="516255"/>
          </a:xfrm>
        </p:grpSpPr>
        <p:sp>
          <p:nvSpPr>
            <p:cNvPr id="3" name="TextBox 3"/>
            <p:cNvSpPr txBox="1"/>
            <p:nvPr/>
          </p:nvSpPr>
          <p:spPr>
            <a:xfrm>
              <a:off x="541020" y="464820"/>
              <a:ext cx="9184500"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Why Might LLMs Produce Opposite Group-Level Effects?</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sp>
        <p:nvSpPr>
          <p:cNvPr id="7" name="Line 7"/>
          <p:cNvSpPr/>
          <p:nvPr/>
        </p:nvSpPr>
        <p:spPr>
          <a:xfrm>
            <a:off x="6096000" y="1257300"/>
            <a:ext cx="9525" cy="4857750"/>
          </a:xfrm>
          <a:custGeom>
            <a:avLst/>
            <a:gdLst/>
            <a:ahLst/>
            <a:cxnLst/>
            <a:rect l="l" t="t" r="r" b="b"/>
            <a:pathLst>
              <a:path w="9525" h="4857750">
                <a:moveTo>
                  <a:pt x="0" y="0"/>
                </a:moveTo>
                <a:lnTo>
                  <a:pt x="0" y="4857750"/>
                </a:lnTo>
              </a:path>
            </a:pathLst>
          </a:custGeom>
          <a:noFill/>
          <a:ln w="9525">
            <a:solidFill>
              <a:srgbClr val="D8DEE3"/>
            </a:solidFill>
          </a:ln>
        </p:spPr>
      </p:sp>
      <p:grpSp>
        <p:nvGrpSpPr>
          <p:cNvPr id="13" name="Group 13"/>
          <p:cNvGrpSpPr/>
          <p:nvPr/>
        </p:nvGrpSpPr>
        <p:grpSpPr>
          <a:xfrm>
            <a:off x="662940" y="1353502"/>
            <a:ext cx="5124155" cy="3654267"/>
            <a:chOff x="662940" y="1353502"/>
            <a:chExt cx="5124155" cy="3654267"/>
          </a:xfrm>
        </p:grpSpPr>
        <p:sp>
          <p:nvSpPr>
            <p:cNvPr id="8" name="TextBox 8"/>
            <p:cNvSpPr txBox="1"/>
            <p:nvPr/>
          </p:nvSpPr>
          <p:spPr>
            <a:xfrm>
              <a:off x="672465" y="1353502"/>
              <a:ext cx="475076"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PATH 1</a:t>
              </a:r>
            </a:p>
          </p:txBody>
        </p:sp>
        <p:sp>
          <p:nvSpPr>
            <p:cNvPr id="9" name="TextBox 9"/>
            <p:cNvSpPr txBox="1"/>
            <p:nvPr/>
          </p:nvSpPr>
          <p:spPr>
            <a:xfrm>
              <a:off x="662940" y="1682115"/>
              <a:ext cx="5124155" cy="365760"/>
            </a:xfrm>
            <a:prstGeom prst="rect">
              <a:avLst/>
            </a:prstGeom>
            <a:noFill/>
            <a:ln>
              <a:noFill/>
            </a:ln>
          </p:spPr>
          <p:txBody>
            <a:bodyPr wrap="none" lIns="0" tIns="0" rIns="0" bIns="0" anchor="t" anchorCtr="0">
              <a:spAutoFit/>
            </a:bodyPr>
            <a:lstStyle/>
            <a:p>
              <a:pPr algn="l"/>
              <a:r>
                <a:rPr lang="zh-CN" sz="1800" b="1" dirty="0">
                  <a:solidFill>
                    <a:srgbClr val="20262B"/>
                  </a:solidFill>
                  <a:latin typeface="Arial"/>
                  <a:ea typeface="Microsoft YaHei"/>
                  <a:cs typeface="Arial"/>
                </a:rPr>
                <a:t>Shared information source → convergence</a:t>
              </a:r>
            </a:p>
          </p:txBody>
        </p:sp>
        <p:sp>
          <p:nvSpPr>
            <p:cNvPr id="10" name="TextBox 10"/>
            <p:cNvSpPr txBox="1"/>
            <p:nvPr/>
          </p:nvSpPr>
          <p:spPr>
            <a:xfrm>
              <a:off x="669608" y="2243614"/>
              <a:ext cx="4412456" cy="744855"/>
            </a:xfrm>
            <a:prstGeom prst="rect">
              <a:avLst/>
            </a:prstGeom>
            <a:noFill/>
            <a:ln>
              <a:noFill/>
            </a:ln>
          </p:spPr>
          <p:txBody>
            <a:bodyPr wrap="square" lIns="0" tIns="0" rIns="0" bIns="0" anchor="t" anchorCtr="0"/>
            <a:lstStyle/>
            <a:p>
              <a:pPr algn="l">
                <a:lnSpc>
                  <a:spcPts val="1800"/>
                </a:lnSpc>
              </a:pPr>
              <a:r>
                <a:rPr lang="zh-CN" sz="1275" b="1" dirty="0">
                  <a:solidFill>
                    <a:srgbClr val="17324D"/>
                  </a:solidFill>
                  <a:latin typeface="Arial"/>
                  <a:ea typeface="Microsoft YaHei"/>
                  <a:cs typeface="Arial"/>
                </a:rPr>
                <a:t>Model-output homogeneity</a:t>
              </a:r>
            </a:p>
            <a:p>
              <a:pPr algn="l">
                <a:lnSpc>
                  <a:spcPts val="1800"/>
                </a:lnSpc>
                <a:spcBef>
                  <a:spcPts val="225"/>
                </a:spcBef>
              </a:pPr>
              <a:r>
                <a:rPr lang="zh-CN" sz="1275" i="1" dirty="0">
                  <a:solidFill>
                    <a:srgbClr val="20262B"/>
                  </a:solidFill>
                  <a:latin typeface="Arial"/>
                  <a:ea typeface="Microsoft YaHei"/>
                  <a:cs typeface="Arial"/>
                </a:rPr>
                <a:t>Artificial Hivemind</a:t>
              </a:r>
              <a:r>
                <a:rPr lang="zh-CN" sz="1275" dirty="0">
                  <a:solidFill>
                    <a:srgbClr val="20262B"/>
                  </a:solidFill>
                  <a:latin typeface="Arial"/>
                  <a:ea typeface="Microsoft YaHei"/>
                  <a:cs typeface="Arial"/>
                </a:rPr>
                <a:t xml:space="preserve"> identifies intra-model repetition </a:t>
              </a:r>
              <a:r>
                <a:rPr lang="zh-CN" sz="1275" dirty="0">
                  <a:solidFill>
                    <a:srgbClr val="20262B"/>
                  </a:solidFill>
                  <a:latin typeface="Arial"/>
                  <a:ea typeface="Microsoft YaHei"/>
                  <a:cs typeface="Arial"/>
                </a:rPr>
                <a:t>and inter-model homogeneity in open-ended generation.</a:t>
              </a:r>
            </a:p>
          </p:txBody>
        </p:sp>
        <p:sp>
          <p:nvSpPr>
            <p:cNvPr id="11" name="TextBox 11"/>
            <p:cNvSpPr txBox="1"/>
            <p:nvPr/>
          </p:nvSpPr>
          <p:spPr>
            <a:xfrm>
              <a:off x="669608" y="3253264"/>
              <a:ext cx="4873943" cy="744855"/>
            </a:xfrm>
            <a:prstGeom prst="rect">
              <a:avLst/>
            </a:prstGeom>
            <a:noFill/>
            <a:ln>
              <a:noFill/>
            </a:ln>
          </p:spPr>
          <p:txBody>
            <a:bodyPr wrap="square" lIns="0" tIns="0" rIns="0" bIns="0" anchor="t" anchorCtr="0"/>
            <a:lstStyle/>
            <a:p>
              <a:pPr algn="l">
                <a:lnSpc>
                  <a:spcPts val="1800"/>
                </a:lnSpc>
              </a:pPr>
              <a:r>
                <a:rPr lang="zh-CN" sz="1275" b="1" dirty="0">
                  <a:solidFill>
                    <a:srgbClr val="17324D"/>
                  </a:solidFill>
                  <a:latin typeface="Arial"/>
                  <a:ea typeface="Microsoft YaHei"/>
                  <a:cs typeface="Arial"/>
                </a:rPr>
                <a:t>Algorithmic monoculture</a:t>
              </a:r>
            </a:p>
            <a:p>
              <a:pPr algn="l">
                <a:lnSpc>
                  <a:spcPts val="1800"/>
                </a:lnSpc>
                <a:spcBef>
                  <a:spcPts val="225"/>
                </a:spcBef>
              </a:pPr>
              <a:r>
                <a:rPr lang="zh-CN" sz="1275" dirty="0">
                  <a:solidFill>
                    <a:srgbClr val="20262B"/>
                  </a:solidFill>
                  <a:latin typeface="Arial"/>
                  <a:ea typeface="Microsoft YaHei"/>
                  <a:cs typeface="Arial"/>
                </a:rPr>
                <a:t xml:space="preserve">Shared algorithms can correlate judgments; strong individual </a:t>
              </a:r>
              <a:r>
                <a:rPr lang="zh-CN" sz="1275" dirty="0">
                  <a:solidFill>
                    <a:srgbClr val="20262B"/>
                  </a:solidFill>
                  <a:latin typeface="Arial"/>
                  <a:ea typeface="Microsoft YaHei"/>
                  <a:cs typeface="Arial"/>
                </a:rPr>
                <a:t>performance does not guarantee system-level outcomes.</a:t>
              </a:r>
            </a:p>
          </p:txBody>
        </p:sp>
        <p:sp>
          <p:nvSpPr>
            <p:cNvPr id="12" name="TextBox 12"/>
            <p:cNvSpPr txBox="1"/>
            <p:nvPr/>
          </p:nvSpPr>
          <p:spPr>
            <a:xfrm>
              <a:off x="669608" y="4262914"/>
              <a:ext cx="4995386" cy="744855"/>
            </a:xfrm>
            <a:prstGeom prst="rect">
              <a:avLst/>
            </a:prstGeom>
            <a:noFill/>
            <a:ln>
              <a:noFill/>
            </a:ln>
          </p:spPr>
          <p:txBody>
            <a:bodyPr wrap="square" lIns="0" tIns="0" rIns="0" bIns="0" anchor="t" anchorCtr="0"/>
            <a:lstStyle/>
            <a:p>
              <a:pPr algn="l">
                <a:lnSpc>
                  <a:spcPts val="1800"/>
                </a:lnSpc>
              </a:pPr>
              <a:r>
                <a:rPr lang="zh-CN" sz="1275" b="1" dirty="0">
                  <a:solidFill>
                    <a:srgbClr val="17324D"/>
                  </a:solidFill>
                  <a:latin typeface="Arial"/>
                  <a:ea typeface="Microsoft YaHei"/>
                  <a:cs typeface="Arial"/>
                </a:rPr>
                <a:t>Repeated exposure and acceptance</a:t>
              </a:r>
            </a:p>
            <a:p>
              <a:pPr algn="l">
                <a:lnSpc>
                  <a:spcPts val="1800"/>
                </a:lnSpc>
                <a:spcBef>
                  <a:spcPts val="225"/>
                </a:spcBef>
              </a:pPr>
              <a:r>
                <a:rPr lang="zh-CN" sz="1275" dirty="0">
                  <a:solidFill>
                    <a:srgbClr val="20262B"/>
                  </a:solidFill>
                  <a:latin typeface="Arial"/>
                  <a:ea typeface="Microsoft YaHei"/>
                  <a:cs typeface="Arial"/>
                </a:rPr>
                <a:t xml:space="preserve">When members repeatedly receive common information and give </a:t>
              </a:r>
              <a:r>
                <a:rPr lang="zh-CN" sz="1275" dirty="0">
                  <a:solidFill>
                    <a:srgbClr val="20262B"/>
                  </a:solidFill>
                  <a:latin typeface="Arial"/>
                  <a:ea typeface="Microsoft YaHei"/>
                  <a:cs typeface="Arial"/>
                </a:rPr>
                <a:t>it positive weight, initial opinion distances may narrow.</a:t>
              </a:r>
            </a:p>
          </p:txBody>
        </p:sp>
      </p:grpSp>
      <p:grpSp>
        <p:nvGrpSpPr>
          <p:cNvPr id="22" name="Group 22"/>
          <p:cNvGrpSpPr/>
          <p:nvPr/>
        </p:nvGrpSpPr>
        <p:grpSpPr>
          <a:xfrm>
            <a:off x="6416040" y="1353502"/>
            <a:ext cx="5993663" cy="4551998"/>
            <a:chOff x="6416040" y="1353502"/>
            <a:chExt cx="5993663" cy="4551998"/>
          </a:xfrm>
        </p:grpSpPr>
        <p:sp>
          <p:nvSpPr>
            <p:cNvPr id="14" name="TextBox 14"/>
            <p:cNvSpPr txBox="1"/>
            <p:nvPr/>
          </p:nvSpPr>
          <p:spPr>
            <a:xfrm>
              <a:off x="6425565" y="1353502"/>
              <a:ext cx="475076"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PATH 2</a:t>
              </a:r>
            </a:p>
          </p:txBody>
        </p:sp>
        <p:sp>
          <p:nvSpPr>
            <p:cNvPr id="15" name="TextBox 15"/>
            <p:cNvSpPr txBox="1"/>
            <p:nvPr/>
          </p:nvSpPr>
          <p:spPr>
            <a:xfrm>
              <a:off x="6416040" y="1682115"/>
              <a:ext cx="5993663" cy="365760"/>
            </a:xfrm>
            <a:prstGeom prst="rect">
              <a:avLst/>
            </a:prstGeom>
            <a:noFill/>
            <a:ln>
              <a:noFill/>
            </a:ln>
          </p:spPr>
          <p:txBody>
            <a:bodyPr wrap="none" lIns="0" tIns="0" rIns="0" bIns="0" anchor="t" anchorCtr="0">
              <a:spAutoFit/>
            </a:bodyPr>
            <a:lstStyle/>
            <a:p>
              <a:pPr algn="l"/>
              <a:r>
                <a:rPr lang="zh-CN" sz="1800" b="1" dirty="0">
                  <a:solidFill>
                    <a:srgbClr val="20262B"/>
                  </a:solidFill>
                  <a:latin typeface="Arial"/>
                  <a:ea typeface="Microsoft YaHei"/>
                  <a:cs typeface="Arial"/>
                </a:rPr>
                <a:t>Stance-conditioned generation → differentiation</a:t>
              </a:r>
            </a:p>
          </p:txBody>
        </p:sp>
        <p:sp>
          <p:nvSpPr>
            <p:cNvPr id="16" name="TextBox 16"/>
            <p:cNvSpPr txBox="1"/>
            <p:nvPr/>
          </p:nvSpPr>
          <p:spPr>
            <a:xfrm>
              <a:off x="6423660" y="2251710"/>
              <a:ext cx="4701540" cy="701040"/>
            </a:xfrm>
            <a:prstGeom prst="rect">
              <a:avLst/>
            </a:prstGeom>
            <a:noFill/>
            <a:ln>
              <a:noFill/>
            </a:ln>
          </p:spPr>
          <p:txBody>
            <a:bodyPr wrap="square" lIns="0" tIns="0" rIns="0" bIns="0" anchor="t" anchorCtr="0"/>
            <a:lstStyle/>
            <a:p>
              <a:pPr algn="l">
                <a:lnSpc>
                  <a:spcPts val="1725"/>
                </a:lnSpc>
              </a:pPr>
              <a:r>
                <a:rPr lang="zh-CN" sz="1200" b="1" dirty="0">
                  <a:solidFill>
                    <a:srgbClr val="17324D"/>
                  </a:solidFill>
                  <a:latin typeface="Arial"/>
                  <a:ea typeface="Microsoft YaHei"/>
                  <a:cs typeface="Arial"/>
                </a:rPr>
                <a:t>Motivated skepticism and biased assimilation</a:t>
              </a:r>
            </a:p>
            <a:p>
              <a:pPr algn="l">
                <a:lnSpc>
                  <a:spcPts val="1725"/>
                </a:lnSpc>
                <a:spcBef>
                  <a:spcPts val="150"/>
                </a:spcBef>
              </a:pPr>
              <a:r>
                <a:rPr lang="zh-CN" sz="1200" dirty="0">
                  <a:solidFill>
                    <a:srgbClr val="20262B"/>
                  </a:solidFill>
                  <a:latin typeface="Arial"/>
                  <a:ea typeface="Microsoft YaHei"/>
                  <a:cs typeface="Arial"/>
                </a:rPr>
                <a:t xml:space="preserve">People more readily accept attitude-consistent arguments and </a:t>
              </a:r>
              <a:r>
                <a:rPr lang="zh-CN" sz="1200" dirty="0">
                  <a:solidFill>
                    <a:srgbClr val="20262B"/>
                  </a:solidFill>
                  <a:latin typeface="Arial"/>
                  <a:ea typeface="Microsoft YaHei"/>
                  <a:cs typeface="Arial"/>
                </a:rPr>
                <a:t xml:space="preserve">counterargue inconsistent ones. </a:t>
              </a:r>
              <a:r>
                <a:rPr lang="zh-CN" sz="1200" dirty="0">
                  <a:solidFill>
                    <a:srgbClr val="7A8792"/>
                  </a:solidFill>
                  <a:latin typeface="Arial"/>
                  <a:ea typeface="Microsoft YaHei"/>
                  <a:cs typeface="Arial"/>
                </a:rPr>
                <a:t>Taber &amp; Lodge, 2006</a:t>
              </a:r>
            </a:p>
          </p:txBody>
        </p:sp>
        <p:sp>
          <p:nvSpPr>
            <p:cNvPr id="17" name="TextBox 17"/>
            <p:cNvSpPr txBox="1"/>
            <p:nvPr/>
          </p:nvSpPr>
          <p:spPr>
            <a:xfrm>
              <a:off x="6423660" y="3204210"/>
              <a:ext cx="5059680" cy="701040"/>
            </a:xfrm>
            <a:prstGeom prst="rect">
              <a:avLst/>
            </a:prstGeom>
            <a:noFill/>
            <a:ln>
              <a:noFill/>
            </a:ln>
          </p:spPr>
          <p:txBody>
            <a:bodyPr wrap="square" lIns="0" tIns="0" rIns="0" bIns="0" anchor="t" anchorCtr="0"/>
            <a:lstStyle/>
            <a:p>
              <a:pPr algn="l">
                <a:lnSpc>
                  <a:spcPts val="1725"/>
                </a:lnSpc>
              </a:pPr>
              <a:r>
                <a:rPr lang="zh-CN" sz="1200" b="1" dirty="0">
                  <a:solidFill>
                    <a:srgbClr val="17324D"/>
                  </a:solidFill>
                  <a:latin typeface="Arial"/>
                  <a:ea typeface="Microsoft YaHei"/>
                  <a:cs typeface="Arial"/>
                </a:rPr>
                <a:t>User-conditioned generation</a:t>
              </a:r>
            </a:p>
            <a:p>
              <a:pPr algn="l">
                <a:lnSpc>
                  <a:spcPts val="1725"/>
                </a:lnSpc>
                <a:spcBef>
                  <a:spcPts val="150"/>
                </a:spcBef>
              </a:pPr>
              <a:r>
                <a:rPr lang="zh-CN" sz="1200" dirty="0">
                  <a:solidFill>
                    <a:srgbClr val="20262B"/>
                  </a:solidFill>
                  <a:latin typeface="Arial"/>
                  <a:ea typeface="Microsoft YaHei"/>
                  <a:cs typeface="Arial"/>
                </a:rPr>
                <a:t xml:space="preserve">When an initial position enters the prompt or conversation history, </a:t>
              </a:r>
              <a:r>
                <a:rPr lang="zh-CN" sz="1200" dirty="0">
                  <a:solidFill>
                    <a:srgbClr val="20262B"/>
                  </a:solidFill>
                  <a:latin typeface="Arial"/>
                  <a:ea typeface="Microsoft YaHei"/>
                  <a:cs typeface="Arial"/>
                </a:rPr>
                <a:t>the LLM may generate more position-consistent information.</a:t>
              </a:r>
            </a:p>
          </p:txBody>
        </p:sp>
        <p:sp>
          <p:nvSpPr>
            <p:cNvPr id="18" name="TextBox 18"/>
            <p:cNvSpPr txBox="1"/>
            <p:nvPr/>
          </p:nvSpPr>
          <p:spPr>
            <a:xfrm>
              <a:off x="6423660" y="4156710"/>
              <a:ext cx="5105400" cy="701040"/>
            </a:xfrm>
            <a:prstGeom prst="rect">
              <a:avLst/>
            </a:prstGeom>
            <a:noFill/>
            <a:ln>
              <a:noFill/>
            </a:ln>
          </p:spPr>
          <p:txBody>
            <a:bodyPr wrap="square" lIns="0" tIns="0" rIns="0" bIns="0" anchor="t" anchorCtr="0"/>
            <a:lstStyle/>
            <a:p>
              <a:pPr algn="l">
                <a:lnSpc>
                  <a:spcPts val="1725"/>
                </a:lnSpc>
              </a:pPr>
              <a:r>
                <a:rPr lang="zh-CN" sz="1200" b="1" dirty="0">
                  <a:solidFill>
                    <a:srgbClr val="17324D"/>
                  </a:solidFill>
                  <a:latin typeface="Arial"/>
                  <a:ea typeface="Microsoft YaHei"/>
                  <a:cs typeface="Arial"/>
                </a:rPr>
                <a:t>Agent-based evidence</a:t>
              </a:r>
            </a:p>
            <a:p>
              <a:pPr algn="l">
                <a:lnSpc>
                  <a:spcPts val="1725"/>
                </a:lnSpc>
                <a:spcBef>
                  <a:spcPts val="150"/>
                </a:spcBef>
              </a:pPr>
              <a:r>
                <a:rPr lang="zh-CN" sz="1200" dirty="0">
                  <a:solidFill>
                    <a:srgbClr val="20262B"/>
                  </a:solidFill>
                  <a:latin typeface="Arial"/>
                  <a:ea typeface="Microsoft YaHei"/>
                  <a:cs typeface="Arial"/>
                </a:rPr>
                <a:t xml:space="preserve">General prompts can produce consensus; confirmation-bias prompts </a:t>
              </a:r>
              <a:r>
                <a:rPr lang="zh-CN" sz="1200" dirty="0">
                  <a:solidFill>
                    <a:srgbClr val="20262B"/>
                  </a:solidFill>
                  <a:latin typeface="Arial"/>
                  <a:ea typeface="Microsoft YaHei"/>
                  <a:cs typeface="Arial"/>
                </a:rPr>
                <a:t xml:space="preserve">can produce fragmentation. </a:t>
              </a:r>
              <a:r>
                <a:rPr lang="zh-CN" sz="1200" dirty="0">
                  <a:solidFill>
                    <a:srgbClr val="7A8792"/>
                  </a:solidFill>
                  <a:latin typeface="Arial"/>
                  <a:ea typeface="Microsoft YaHei"/>
                  <a:cs typeface="Arial"/>
                </a:rPr>
                <a:t>Chuang et al., 2024</a:t>
              </a:r>
            </a:p>
          </p:txBody>
        </p:sp>
        <p:sp>
          <p:nvSpPr>
            <p:cNvPr id="19" name="TextBox 19"/>
            <p:cNvSpPr txBox="1"/>
            <p:nvPr/>
          </p:nvSpPr>
          <p:spPr>
            <a:xfrm>
              <a:off x="6423660" y="5109210"/>
              <a:ext cx="3231280" cy="243840"/>
            </a:xfrm>
            <a:prstGeom prst="rect">
              <a:avLst/>
            </a:prstGeom>
            <a:noFill/>
            <a:ln>
              <a:noFill/>
            </a:ln>
          </p:spPr>
          <p:txBody>
            <a:bodyPr wrap="none" lIns="0" tIns="0" rIns="0" bIns="0" anchor="t" anchorCtr="0">
              <a:spAutoFit/>
            </a:bodyPr>
            <a:lstStyle/>
            <a:p>
              <a:pPr algn="l"/>
              <a:r>
                <a:rPr lang="zh-CN" sz="1200" b="1" dirty="0">
                  <a:solidFill>
                    <a:srgbClr val="17324D"/>
                  </a:solidFill>
                  <a:latin typeface="Arial"/>
                  <a:ea typeface="Microsoft YaHei"/>
                  <a:cs typeface="Arial"/>
                </a:rPr>
                <a:t>Personalization and network structure</a:t>
              </a:r>
            </a:p>
          </p:txBody>
        </p:sp>
        <p:sp>
          <p:nvSpPr>
            <p:cNvPr id="20" name="TextBox 20"/>
            <p:cNvSpPr txBox="1"/>
            <p:nvPr/>
          </p:nvSpPr>
          <p:spPr>
            <a:xfrm>
              <a:off x="6423660" y="5442585"/>
              <a:ext cx="4118991" cy="243840"/>
            </a:xfrm>
            <a:prstGeom prst="rect">
              <a:avLst/>
            </a:prstGeom>
            <a:noFill/>
            <a:ln>
              <a:noFill/>
            </a:ln>
          </p:spPr>
          <p:txBody>
            <a:bodyPr wrap="none" lIns="0" tIns="0" rIns="0" bIns="0" anchor="t" anchorCtr="0">
              <a:spAutoFit/>
            </a:bodyPr>
            <a:lstStyle/>
            <a:p>
              <a:pPr algn="l"/>
              <a:r>
                <a:rPr lang="zh-CN" sz="1200" dirty="0">
                  <a:solidFill>
                    <a:srgbClr val="20262B"/>
                  </a:solidFill>
                  <a:latin typeface="Arial"/>
                  <a:ea typeface="Microsoft YaHei"/>
                  <a:cs typeface="Arial"/>
                </a:rPr>
                <a:t>Their interaction may produce opinion clustering and</a:t>
              </a:r>
            </a:p>
          </p:txBody>
        </p:sp>
        <p:sp>
          <p:nvSpPr>
            <p:cNvPr id="21" name="TextBox 21"/>
            <p:cNvSpPr txBox="1"/>
            <p:nvPr/>
          </p:nvSpPr>
          <p:spPr>
            <a:xfrm>
              <a:off x="6423660" y="5661660"/>
              <a:ext cx="1054608" cy="243840"/>
            </a:xfrm>
            <a:prstGeom prst="rect">
              <a:avLst/>
            </a:prstGeom>
            <a:noFill/>
            <a:ln>
              <a:noFill/>
            </a:ln>
          </p:spPr>
          <p:txBody>
            <a:bodyPr wrap="none" lIns="0" tIns="0" rIns="0" bIns="0" anchor="t" anchorCtr="0">
              <a:spAutoFit/>
            </a:bodyPr>
            <a:lstStyle/>
            <a:p>
              <a:pPr algn="l"/>
              <a:r>
                <a:rPr lang="zh-CN" sz="1200" dirty="0">
                  <a:solidFill>
                    <a:srgbClr val="20262B"/>
                  </a:solidFill>
                  <a:latin typeface="Arial"/>
                  <a:ea typeface="Microsoft YaHei"/>
                  <a:cs typeface="Arial"/>
                </a:rPr>
                <a:t>polarization.</a:t>
              </a:r>
            </a:p>
          </p:txBody>
        </p:sp>
      </p:grpSp>
      <p:sp>
        <p:nvSpPr>
          <p:cNvPr id="23" name="TextBox 23"/>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03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400"/>
                                        <p:tgtEl>
                                          <p:spTgt spid="1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1079480" cy="516255"/>
            <a:chOff x="541020" y="464820"/>
            <a:chExt cx="11079480" cy="516255"/>
          </a:xfrm>
        </p:grpSpPr>
        <p:sp>
          <p:nvSpPr>
            <p:cNvPr id="3" name="TextBox 3"/>
            <p:cNvSpPr txBox="1"/>
            <p:nvPr/>
          </p:nvSpPr>
          <p:spPr>
            <a:xfrm>
              <a:off x="541020" y="464820"/>
              <a:ext cx="2379650"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Research Gaps</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grpSp>
        <p:nvGrpSpPr>
          <p:cNvPr id="11" name="Group 11"/>
          <p:cNvGrpSpPr/>
          <p:nvPr/>
        </p:nvGrpSpPr>
        <p:grpSpPr>
          <a:xfrm>
            <a:off x="660082" y="1286351"/>
            <a:ext cx="10846118" cy="809149"/>
            <a:chOff x="660082" y="1286351"/>
            <a:chExt cx="10846118" cy="809149"/>
          </a:xfrm>
        </p:grpSpPr>
        <p:sp>
          <p:nvSpPr>
            <p:cNvPr id="7" name="TextBox 7"/>
            <p:cNvSpPr txBox="1"/>
            <p:nvPr/>
          </p:nvSpPr>
          <p:spPr>
            <a:xfrm>
              <a:off x="660082" y="1286351"/>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01</a:t>
              </a:r>
            </a:p>
          </p:txBody>
        </p:sp>
        <p:sp>
          <p:nvSpPr>
            <p:cNvPr id="8" name="TextBox 8"/>
            <p:cNvSpPr txBox="1"/>
            <p:nvPr/>
          </p:nvSpPr>
          <p:spPr>
            <a:xfrm>
              <a:off x="1258252" y="1313021"/>
              <a:ext cx="2111254"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Output–exposure gap</a:t>
              </a:r>
            </a:p>
          </p:txBody>
        </p:sp>
        <p:sp>
          <p:nvSpPr>
            <p:cNvPr id="9" name="TextBox 9"/>
            <p:cNvSpPr txBox="1"/>
            <p:nvPr/>
          </p:nvSpPr>
          <p:spPr>
            <a:xfrm>
              <a:off x="1262062" y="1612106"/>
              <a:ext cx="5922169" cy="428625"/>
            </a:xfrm>
            <a:prstGeom prst="rect">
              <a:avLst/>
            </a:prstGeom>
            <a:noFill/>
            <a:ln>
              <a:noFill/>
            </a:ln>
          </p:spPr>
          <p:txBody>
            <a:bodyPr wrap="square" lIns="0" tIns="0" rIns="0" bIns="0" anchor="t" anchorCtr="0"/>
            <a:lstStyle/>
            <a:p>
              <a:pPr algn="l">
                <a:lnSpc>
                  <a:spcPts val="1575"/>
                </a:lnSpc>
              </a:pPr>
              <a:r>
                <a:rPr lang="zh-CN" sz="1125" dirty="0">
                  <a:solidFill>
                    <a:srgbClr val="20262B"/>
                  </a:solidFill>
                  <a:latin typeface="Arial"/>
                  <a:ea typeface="Microsoft YaHei"/>
                  <a:cs typeface="Arial"/>
                </a:rPr>
                <a:t xml:space="preserve">It remains unclear whether similar LLM answers create similar information exposure </a:t>
              </a:r>
              <a:r>
                <a:rPr lang="zh-CN" sz="1125" dirty="0">
                  <a:solidFill>
                    <a:srgbClr val="20262B"/>
                  </a:solidFill>
                  <a:latin typeface="Arial"/>
                  <a:ea typeface="Microsoft YaHei"/>
                  <a:cs typeface="Arial"/>
                </a:rPr>
                <a:t>and diffusion among members.</a:t>
              </a:r>
            </a:p>
          </p:txBody>
        </p:sp>
        <p:sp>
          <p:nvSpPr>
            <p:cNvPr id="10" name="Line 10"/>
            <p:cNvSpPr/>
            <p:nvPr/>
          </p:nvSpPr>
          <p:spPr>
            <a:xfrm>
              <a:off x="1276350" y="2085975"/>
              <a:ext cx="10229850" cy="9525"/>
            </a:xfrm>
            <a:custGeom>
              <a:avLst/>
              <a:gdLst/>
              <a:ahLst/>
              <a:cxnLst/>
              <a:rect l="l" t="t" r="r" b="b"/>
              <a:pathLst>
                <a:path w="10229850" h="9525">
                  <a:moveTo>
                    <a:pt x="0" y="0"/>
                  </a:moveTo>
                  <a:lnTo>
                    <a:pt x="10229850" y="0"/>
                  </a:lnTo>
                </a:path>
              </a:pathLst>
            </a:custGeom>
            <a:noFill/>
            <a:ln w="9525">
              <a:solidFill>
                <a:srgbClr val="D8DEE3"/>
              </a:solidFill>
            </a:ln>
          </p:spPr>
        </p:sp>
      </p:grpSp>
      <p:grpSp>
        <p:nvGrpSpPr>
          <p:cNvPr id="16" name="Group 16"/>
          <p:cNvGrpSpPr/>
          <p:nvPr/>
        </p:nvGrpSpPr>
        <p:grpSpPr>
          <a:xfrm>
            <a:off x="660082" y="2219801"/>
            <a:ext cx="10846118" cy="809149"/>
            <a:chOff x="660082" y="2219801"/>
            <a:chExt cx="10846118" cy="809149"/>
          </a:xfrm>
        </p:grpSpPr>
        <p:sp>
          <p:nvSpPr>
            <p:cNvPr id="12" name="TextBox 12"/>
            <p:cNvSpPr txBox="1"/>
            <p:nvPr/>
          </p:nvSpPr>
          <p:spPr>
            <a:xfrm>
              <a:off x="660082" y="2219801"/>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02</a:t>
              </a:r>
            </a:p>
          </p:txBody>
        </p:sp>
        <p:sp>
          <p:nvSpPr>
            <p:cNvPr id="13" name="TextBox 13"/>
            <p:cNvSpPr txBox="1"/>
            <p:nvPr/>
          </p:nvSpPr>
          <p:spPr>
            <a:xfrm>
              <a:off x="1258252" y="2246471"/>
              <a:ext cx="2350684"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Information–opinion gap</a:t>
              </a:r>
            </a:p>
          </p:txBody>
        </p:sp>
        <p:sp>
          <p:nvSpPr>
            <p:cNvPr id="14" name="TextBox 14"/>
            <p:cNvSpPr txBox="1"/>
            <p:nvPr/>
          </p:nvSpPr>
          <p:spPr>
            <a:xfrm>
              <a:off x="1262062" y="2545556"/>
              <a:ext cx="5829300" cy="428625"/>
            </a:xfrm>
            <a:prstGeom prst="rect">
              <a:avLst/>
            </a:prstGeom>
            <a:noFill/>
            <a:ln>
              <a:noFill/>
            </a:ln>
          </p:spPr>
          <p:txBody>
            <a:bodyPr wrap="square" lIns="0" tIns="0" rIns="0" bIns="0" anchor="t" anchorCtr="0"/>
            <a:lstStyle/>
            <a:p>
              <a:pPr algn="l">
                <a:lnSpc>
                  <a:spcPts val="1575"/>
                </a:lnSpc>
              </a:pPr>
              <a:r>
                <a:rPr lang="zh-CN" sz="1125" dirty="0">
                  <a:solidFill>
                    <a:srgbClr val="20262B"/>
                  </a:solidFill>
                  <a:latin typeface="Arial"/>
                  <a:ea typeface="Microsoft YaHei"/>
                  <a:cs typeface="Arial"/>
                </a:rPr>
                <a:t xml:space="preserve">The path from exposure and diffusion to individual updating and group distributions </a:t>
              </a:r>
              <a:r>
                <a:rPr lang="zh-CN" sz="1125" dirty="0">
                  <a:solidFill>
                    <a:srgbClr val="20262B"/>
                  </a:solidFill>
                  <a:latin typeface="Arial"/>
                  <a:ea typeface="Microsoft YaHei"/>
                  <a:cs typeface="Arial"/>
                </a:rPr>
                <a:t>has not been identified layer by layer.</a:t>
              </a:r>
            </a:p>
          </p:txBody>
        </p:sp>
        <p:sp>
          <p:nvSpPr>
            <p:cNvPr id="15" name="Line 15"/>
            <p:cNvSpPr/>
            <p:nvPr/>
          </p:nvSpPr>
          <p:spPr>
            <a:xfrm>
              <a:off x="1276350" y="3019425"/>
              <a:ext cx="10229850" cy="9525"/>
            </a:xfrm>
            <a:custGeom>
              <a:avLst/>
              <a:gdLst/>
              <a:ahLst/>
              <a:cxnLst/>
              <a:rect l="l" t="t" r="r" b="b"/>
              <a:pathLst>
                <a:path w="10229850" h="9525">
                  <a:moveTo>
                    <a:pt x="0" y="0"/>
                  </a:moveTo>
                  <a:lnTo>
                    <a:pt x="10229850" y="0"/>
                  </a:lnTo>
                </a:path>
              </a:pathLst>
            </a:custGeom>
            <a:noFill/>
            <a:ln w="9525">
              <a:solidFill>
                <a:srgbClr val="D8DEE3"/>
              </a:solidFill>
            </a:ln>
          </p:spPr>
        </p:sp>
      </p:grpSp>
      <p:grpSp>
        <p:nvGrpSpPr>
          <p:cNvPr id="21" name="Group 21"/>
          <p:cNvGrpSpPr/>
          <p:nvPr/>
        </p:nvGrpSpPr>
        <p:grpSpPr>
          <a:xfrm>
            <a:off x="660082" y="3153251"/>
            <a:ext cx="10846118" cy="809149"/>
            <a:chOff x="660082" y="3153251"/>
            <a:chExt cx="10846118" cy="809149"/>
          </a:xfrm>
        </p:grpSpPr>
        <p:sp>
          <p:nvSpPr>
            <p:cNvPr id="17" name="TextBox 17"/>
            <p:cNvSpPr txBox="1"/>
            <p:nvPr/>
          </p:nvSpPr>
          <p:spPr>
            <a:xfrm>
              <a:off x="660082" y="3153251"/>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03</a:t>
              </a:r>
            </a:p>
          </p:txBody>
        </p:sp>
        <p:sp>
          <p:nvSpPr>
            <p:cNvPr id="18" name="TextBox 18"/>
            <p:cNvSpPr txBox="1"/>
            <p:nvPr/>
          </p:nvSpPr>
          <p:spPr>
            <a:xfrm>
              <a:off x="1258252" y="3179921"/>
              <a:ext cx="1642371"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Intervention gap</a:t>
              </a:r>
            </a:p>
          </p:txBody>
        </p:sp>
        <p:sp>
          <p:nvSpPr>
            <p:cNvPr id="19" name="TextBox 19"/>
            <p:cNvSpPr txBox="1"/>
            <p:nvPr/>
          </p:nvSpPr>
          <p:spPr>
            <a:xfrm>
              <a:off x="1262062" y="3479006"/>
              <a:ext cx="6693694" cy="428625"/>
            </a:xfrm>
            <a:prstGeom prst="rect">
              <a:avLst/>
            </a:prstGeom>
            <a:noFill/>
            <a:ln>
              <a:noFill/>
            </a:ln>
          </p:spPr>
          <p:txBody>
            <a:bodyPr wrap="square" lIns="0" tIns="0" rIns="0" bIns="0" anchor="t" anchorCtr="0"/>
            <a:lstStyle/>
            <a:p>
              <a:pPr algn="l">
                <a:lnSpc>
                  <a:spcPts val="1575"/>
                </a:lnSpc>
              </a:pPr>
              <a:r>
                <a:rPr lang="zh-CN" sz="1125" dirty="0">
                  <a:solidFill>
                    <a:srgbClr val="20262B"/>
                  </a:solidFill>
                  <a:latin typeface="Arial"/>
                  <a:ea typeface="Microsoft YaHei"/>
                  <a:cs typeface="Arial"/>
                </a:rPr>
                <a:t xml:space="preserve">It remains untested whether changing the structure of LLM use alters the information process </a:t>
              </a:r>
              <a:r>
                <a:rPr lang="zh-CN" sz="1125" dirty="0">
                  <a:solidFill>
                    <a:srgbClr val="20262B"/>
                  </a:solidFill>
                  <a:latin typeface="Arial"/>
                  <a:ea typeface="Microsoft YaHei"/>
                  <a:cs typeface="Arial"/>
                </a:rPr>
                <a:t>and attenuates an observed pattern.</a:t>
              </a:r>
            </a:p>
          </p:txBody>
        </p:sp>
        <p:sp>
          <p:nvSpPr>
            <p:cNvPr id="20" name="Line 20"/>
            <p:cNvSpPr/>
            <p:nvPr/>
          </p:nvSpPr>
          <p:spPr>
            <a:xfrm>
              <a:off x="1276350" y="3952875"/>
              <a:ext cx="10229850" cy="9525"/>
            </a:xfrm>
            <a:custGeom>
              <a:avLst/>
              <a:gdLst/>
              <a:ahLst/>
              <a:cxnLst/>
              <a:rect l="l" t="t" r="r" b="b"/>
              <a:pathLst>
                <a:path w="10229850" h="9525">
                  <a:moveTo>
                    <a:pt x="0" y="0"/>
                  </a:moveTo>
                  <a:lnTo>
                    <a:pt x="10229850" y="0"/>
                  </a:lnTo>
                </a:path>
              </a:pathLst>
            </a:custGeom>
            <a:noFill/>
            <a:ln w="9525">
              <a:solidFill>
                <a:srgbClr val="D8DEE3"/>
              </a:solidFill>
            </a:ln>
          </p:spPr>
        </p:sp>
      </p:grpSp>
      <p:grpSp>
        <p:nvGrpSpPr>
          <p:cNvPr id="26" name="Group 26"/>
          <p:cNvGrpSpPr/>
          <p:nvPr/>
        </p:nvGrpSpPr>
        <p:grpSpPr>
          <a:xfrm>
            <a:off x="660082" y="4086701"/>
            <a:ext cx="10846118" cy="1047274"/>
            <a:chOff x="660082" y="4086701"/>
            <a:chExt cx="10846118" cy="1047274"/>
          </a:xfrm>
        </p:grpSpPr>
        <p:sp>
          <p:nvSpPr>
            <p:cNvPr id="22" name="TextBox 22"/>
            <p:cNvSpPr txBox="1"/>
            <p:nvPr/>
          </p:nvSpPr>
          <p:spPr>
            <a:xfrm>
              <a:off x="660082" y="4086701"/>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04</a:t>
              </a:r>
            </a:p>
          </p:txBody>
        </p:sp>
        <p:sp>
          <p:nvSpPr>
            <p:cNvPr id="23" name="TextBox 23"/>
            <p:cNvSpPr txBox="1"/>
            <p:nvPr/>
          </p:nvSpPr>
          <p:spPr>
            <a:xfrm>
              <a:off x="1258252" y="4113371"/>
              <a:ext cx="3926931"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Circular validity in LLM social simulation</a:t>
              </a:r>
            </a:p>
          </p:txBody>
        </p:sp>
        <p:sp>
          <p:nvSpPr>
            <p:cNvPr id="24" name="TextBox 24"/>
            <p:cNvSpPr txBox="1"/>
            <p:nvPr/>
          </p:nvSpPr>
          <p:spPr>
            <a:xfrm>
              <a:off x="1261110" y="4423410"/>
              <a:ext cx="1014222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Survey- and interview-based LLM agents are feasible (Argyle et al.; Park et al. use data from 1,052 people). </a:t>
              </a:r>
              <a:r>
                <a:rPr lang="zh-CN" sz="1200" dirty="0">
                  <a:solidFill>
                    <a:srgbClr val="20262B"/>
                  </a:solidFill>
                  <a:latin typeface="Arial"/>
                  <a:ea typeface="Microsoft YaHei"/>
                  <a:cs typeface="Arial"/>
                </a:rPr>
                <a:t>If the same LLM acts as both human proxy and shared information source, its preferences enter both behavior and content generation.</a:t>
              </a:r>
            </a:p>
          </p:txBody>
        </p:sp>
        <p:sp>
          <p:nvSpPr>
            <p:cNvPr id="25" name="Line 25"/>
            <p:cNvSpPr/>
            <p:nvPr/>
          </p:nvSpPr>
          <p:spPr>
            <a:xfrm>
              <a:off x="1276350" y="5124450"/>
              <a:ext cx="10229850" cy="9525"/>
            </a:xfrm>
            <a:custGeom>
              <a:avLst/>
              <a:gdLst/>
              <a:ahLst/>
              <a:cxnLst/>
              <a:rect l="l" t="t" r="r" b="b"/>
              <a:pathLst>
                <a:path w="10229850" h="9525">
                  <a:moveTo>
                    <a:pt x="0" y="0"/>
                  </a:moveTo>
                  <a:lnTo>
                    <a:pt x="10229850" y="0"/>
                  </a:lnTo>
                </a:path>
              </a:pathLst>
            </a:custGeom>
            <a:noFill/>
            <a:ln w="9525">
              <a:solidFill>
                <a:srgbClr val="D8DEE3"/>
              </a:solidFill>
            </a:ln>
          </p:spPr>
        </p:sp>
      </p:grpSp>
      <p:grpSp>
        <p:nvGrpSpPr>
          <p:cNvPr id="30" name="Group 30"/>
          <p:cNvGrpSpPr/>
          <p:nvPr/>
        </p:nvGrpSpPr>
        <p:grpSpPr>
          <a:xfrm>
            <a:off x="660082" y="5363051"/>
            <a:ext cx="8815388" cy="799624"/>
            <a:chOff x="660082" y="5363051"/>
            <a:chExt cx="8815388" cy="799624"/>
          </a:xfrm>
        </p:grpSpPr>
        <p:sp>
          <p:nvSpPr>
            <p:cNvPr id="27" name="TextBox 27"/>
            <p:cNvSpPr txBox="1"/>
            <p:nvPr/>
          </p:nvSpPr>
          <p:spPr>
            <a:xfrm>
              <a:off x="660082" y="5363051"/>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05</a:t>
              </a:r>
            </a:p>
          </p:txBody>
        </p:sp>
        <p:sp>
          <p:nvSpPr>
            <p:cNvPr id="28" name="TextBox 28"/>
            <p:cNvSpPr txBox="1"/>
            <p:nvPr/>
          </p:nvSpPr>
          <p:spPr>
            <a:xfrm>
              <a:off x="1258252" y="5389721"/>
              <a:ext cx="3657573"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Missing validated micro–macro bridge</a:t>
              </a:r>
            </a:p>
          </p:txBody>
        </p:sp>
        <p:sp>
          <p:nvSpPr>
            <p:cNvPr id="29" name="TextBox 29"/>
            <p:cNvSpPr txBox="1"/>
            <p:nvPr/>
          </p:nvSpPr>
          <p:spPr>
            <a:xfrm>
              <a:off x="1261110" y="5699760"/>
              <a:ext cx="821436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Real-population experiments are usually too small and too short to observe the long-run system consequences </a:t>
              </a:r>
              <a:r>
                <a:rPr lang="zh-CN" sz="1200" dirty="0">
                  <a:solidFill>
                    <a:srgbClr val="20262B"/>
                  </a:solidFill>
                  <a:latin typeface="Arial"/>
                  <a:ea typeface="Microsoft YaHei"/>
                  <a:cs typeface="Arial"/>
                </a:rPr>
                <a:t>of thousands of users relying on a shared LLM.</a:t>
              </a:r>
            </a:p>
          </p:txBody>
        </p:sp>
      </p:grpSp>
      <p:sp>
        <p:nvSpPr>
          <p:cNvPr id="31" name="TextBox 31"/>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04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image">
                                      <p:cBhvr>
                                        <p:cTn id="7" dur="400"/>
                                        <p:tgtEl>
                                          <p:spTgt spid="11"/>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400"/>
                                        <p:tgtEl>
                                          <p:spTgt spid="2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slide(fromBottom)">
                                      <p:cBhvr>
                                        <p:cTn id="19" dur="400"/>
                                        <p:tgtEl>
                                          <p:spTgt spid="26"/>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image">
                                      <p:cBhvr>
                                        <p:cTn id="2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21" grpId="0"/>
      <p:bldP spid="26"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2326493" cy="516255"/>
            <a:chOff x="541020" y="464820"/>
            <a:chExt cx="12326493" cy="516255"/>
          </a:xfrm>
        </p:grpSpPr>
        <p:sp>
          <p:nvSpPr>
            <p:cNvPr id="3" name="TextBox 3"/>
            <p:cNvSpPr txBox="1"/>
            <p:nvPr/>
          </p:nvSpPr>
          <p:spPr>
            <a:xfrm>
              <a:off x="541020" y="464820"/>
              <a:ext cx="12326493"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Theoretical Framework: How Group Opinions Emerge from Local Interaction</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grpSp>
        <p:nvGrpSpPr>
          <p:cNvPr id="10" name="Group 10"/>
          <p:cNvGrpSpPr/>
          <p:nvPr/>
        </p:nvGrpSpPr>
        <p:grpSpPr>
          <a:xfrm>
            <a:off x="663892" y="1353502"/>
            <a:ext cx="4215766" cy="1206342"/>
            <a:chOff x="663892" y="1353502"/>
            <a:chExt cx="4215766" cy="1206342"/>
          </a:xfrm>
        </p:grpSpPr>
        <p:sp>
          <p:nvSpPr>
            <p:cNvPr id="7" name="TextBox 7"/>
            <p:cNvSpPr txBox="1"/>
            <p:nvPr/>
          </p:nvSpPr>
          <p:spPr>
            <a:xfrm>
              <a:off x="672465" y="1353502"/>
              <a:ext cx="541234"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THEORY</a:t>
              </a:r>
            </a:p>
          </p:txBody>
        </p:sp>
        <p:sp>
          <p:nvSpPr>
            <p:cNvPr id="8" name="TextBox 8"/>
            <p:cNvSpPr txBox="1"/>
            <p:nvPr/>
          </p:nvSpPr>
          <p:spPr>
            <a:xfrm>
              <a:off x="663892" y="1699736"/>
              <a:ext cx="2024363" cy="350520"/>
            </a:xfrm>
            <a:prstGeom prst="rect">
              <a:avLst/>
            </a:prstGeom>
            <a:noFill/>
            <a:ln>
              <a:noFill/>
            </a:ln>
          </p:spPr>
          <p:txBody>
            <a:bodyPr wrap="none" lIns="0" tIns="0" rIns="0" bIns="0" anchor="t" anchorCtr="0">
              <a:spAutoFit/>
            </a:bodyPr>
            <a:lstStyle/>
            <a:p>
              <a:pPr algn="l"/>
              <a:r>
                <a:rPr lang="zh-CN" sz="1725" b="1" dirty="0">
                  <a:solidFill>
                    <a:srgbClr val="20262B"/>
                  </a:solidFill>
                  <a:latin typeface="Arial"/>
                  <a:ea typeface="Microsoft YaHei"/>
                  <a:cs typeface="Arial"/>
                </a:rPr>
                <a:t>Opinion dynamics</a:t>
              </a:r>
            </a:p>
          </p:txBody>
        </p:sp>
        <p:sp>
          <p:nvSpPr>
            <p:cNvPr id="9" name="TextBox 9"/>
            <p:cNvSpPr txBox="1"/>
            <p:nvPr/>
          </p:nvSpPr>
          <p:spPr>
            <a:xfrm>
              <a:off x="669608" y="2062639"/>
              <a:ext cx="4210050" cy="497205"/>
            </a:xfrm>
            <a:prstGeom prst="rect">
              <a:avLst/>
            </a:prstGeom>
            <a:noFill/>
            <a:ln>
              <a:noFill/>
            </a:ln>
          </p:spPr>
          <p:txBody>
            <a:bodyPr wrap="square" lIns="0" tIns="0" rIns="0" bIns="0" anchor="t" anchorCtr="0"/>
            <a:lstStyle/>
            <a:p>
              <a:pPr algn="l">
                <a:lnSpc>
                  <a:spcPts val="1875"/>
                </a:lnSpc>
              </a:pPr>
              <a:r>
                <a:rPr lang="zh-CN" sz="1275" dirty="0">
                  <a:solidFill>
                    <a:srgbClr val="20262B"/>
                  </a:solidFill>
                  <a:latin typeface="Arial"/>
                  <a:ea typeface="Microsoft YaHei"/>
                  <a:cs typeface="Arial"/>
                </a:rPr>
                <a:t xml:space="preserve">Specifies how agents update positions in response to </a:t>
              </a:r>
              <a:r>
                <a:rPr lang="zh-CN" sz="1275" dirty="0">
                  <a:solidFill>
                    <a:srgbClr val="20262B"/>
                  </a:solidFill>
                  <a:latin typeface="Arial"/>
                  <a:ea typeface="Microsoft YaHei"/>
                  <a:cs typeface="Arial"/>
                </a:rPr>
                <a:t>external information and social influence.</a:t>
              </a:r>
            </a:p>
          </p:txBody>
        </p:sp>
      </p:grpSp>
      <p:grpSp>
        <p:nvGrpSpPr>
          <p:cNvPr id="15" name="Group 15"/>
          <p:cNvGrpSpPr/>
          <p:nvPr/>
        </p:nvGrpSpPr>
        <p:grpSpPr>
          <a:xfrm>
            <a:off x="6057900" y="1353502"/>
            <a:ext cx="5762626" cy="1246823"/>
            <a:chOff x="6057900" y="1353502"/>
            <a:chExt cx="5762626" cy="1246823"/>
          </a:xfrm>
        </p:grpSpPr>
        <p:sp>
          <p:nvSpPr>
            <p:cNvPr id="11" name="Line 11"/>
            <p:cNvSpPr/>
            <p:nvPr/>
          </p:nvSpPr>
          <p:spPr>
            <a:xfrm>
              <a:off x="6057900" y="1390650"/>
              <a:ext cx="9525" cy="1209675"/>
            </a:xfrm>
            <a:custGeom>
              <a:avLst/>
              <a:gdLst/>
              <a:ahLst/>
              <a:cxnLst/>
              <a:rect l="l" t="t" r="r" b="b"/>
              <a:pathLst>
                <a:path w="9525" h="1209675">
                  <a:moveTo>
                    <a:pt x="0" y="0"/>
                  </a:moveTo>
                  <a:lnTo>
                    <a:pt x="0" y="1209675"/>
                  </a:lnTo>
                </a:path>
              </a:pathLst>
            </a:custGeom>
            <a:noFill/>
            <a:ln w="9525">
              <a:solidFill>
                <a:srgbClr val="D8DEE3"/>
              </a:solidFill>
            </a:ln>
          </p:spPr>
        </p:sp>
        <p:sp>
          <p:nvSpPr>
            <p:cNvPr id="12" name="TextBox 12"/>
            <p:cNvSpPr txBox="1"/>
            <p:nvPr/>
          </p:nvSpPr>
          <p:spPr>
            <a:xfrm>
              <a:off x="6463665" y="1353502"/>
              <a:ext cx="570638"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METHOD</a:t>
              </a:r>
            </a:p>
          </p:txBody>
        </p:sp>
        <p:sp>
          <p:nvSpPr>
            <p:cNvPr id="13" name="TextBox 13"/>
            <p:cNvSpPr txBox="1"/>
            <p:nvPr/>
          </p:nvSpPr>
          <p:spPr>
            <a:xfrm>
              <a:off x="6455092" y="1699736"/>
              <a:ext cx="2567805" cy="350520"/>
            </a:xfrm>
            <a:prstGeom prst="rect">
              <a:avLst/>
            </a:prstGeom>
            <a:noFill/>
            <a:ln>
              <a:noFill/>
            </a:ln>
          </p:spPr>
          <p:txBody>
            <a:bodyPr wrap="none" lIns="0" tIns="0" rIns="0" bIns="0" anchor="t" anchorCtr="0">
              <a:spAutoFit/>
            </a:bodyPr>
            <a:lstStyle/>
            <a:p>
              <a:pPr algn="l"/>
              <a:r>
                <a:rPr lang="zh-CN" sz="1725" b="1" dirty="0">
                  <a:solidFill>
                    <a:srgbClr val="20262B"/>
                  </a:solidFill>
                  <a:latin typeface="Arial"/>
                  <a:ea typeface="Microsoft YaHei"/>
                  <a:cs typeface="Arial"/>
                </a:rPr>
                <a:t>Agent-based modeling</a:t>
              </a:r>
            </a:p>
          </p:txBody>
        </p:sp>
        <p:sp>
          <p:nvSpPr>
            <p:cNvPr id="14" name="TextBox 14"/>
            <p:cNvSpPr txBox="1"/>
            <p:nvPr/>
          </p:nvSpPr>
          <p:spPr>
            <a:xfrm>
              <a:off x="6460808" y="2062639"/>
              <a:ext cx="5359718" cy="497205"/>
            </a:xfrm>
            <a:prstGeom prst="rect">
              <a:avLst/>
            </a:prstGeom>
            <a:noFill/>
            <a:ln>
              <a:noFill/>
            </a:ln>
          </p:spPr>
          <p:txBody>
            <a:bodyPr wrap="square" lIns="0" tIns="0" rIns="0" bIns="0" anchor="t" anchorCtr="0"/>
            <a:lstStyle/>
            <a:p>
              <a:pPr algn="l">
                <a:lnSpc>
                  <a:spcPts val="1875"/>
                </a:lnSpc>
              </a:pPr>
              <a:r>
                <a:rPr lang="zh-CN" sz="1275" dirty="0">
                  <a:solidFill>
                    <a:srgbClr val="20262B"/>
                  </a:solidFill>
                  <a:latin typeface="Arial"/>
                  <a:ea typeface="Microsoft YaHei"/>
                  <a:cs typeface="Arial"/>
                </a:rPr>
                <a:t xml:space="preserve">Simulates local interaction across populations, networks, and time </a:t>
              </a:r>
              <a:r>
                <a:rPr lang="zh-CN" sz="1275" dirty="0">
                  <a:solidFill>
                    <a:srgbClr val="20262B"/>
                  </a:solidFill>
                  <a:latin typeface="Arial"/>
                  <a:ea typeface="Microsoft YaHei"/>
                  <a:cs typeface="Arial"/>
                </a:rPr>
                <a:t>steps to examine emergent group-level patterns.</a:t>
              </a:r>
            </a:p>
          </p:txBody>
        </p:sp>
      </p:grpSp>
      <p:grpSp>
        <p:nvGrpSpPr>
          <p:cNvPr id="17" name="Group 17"/>
          <p:cNvGrpSpPr/>
          <p:nvPr/>
        </p:nvGrpSpPr>
        <p:grpSpPr>
          <a:xfrm>
            <a:off x="672465" y="3029902"/>
            <a:ext cx="1636521" cy="213360"/>
            <a:chOff x="672465" y="3029902"/>
            <a:chExt cx="1636521" cy="213360"/>
          </a:xfrm>
        </p:grpSpPr>
        <p:sp>
          <p:nvSpPr>
            <p:cNvPr id="16" name="TextBox 16"/>
            <p:cNvSpPr txBox="1"/>
            <p:nvPr/>
          </p:nvSpPr>
          <p:spPr>
            <a:xfrm>
              <a:off x="672465" y="3029902"/>
              <a:ext cx="1636521"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MICRO–MACRO PROCESS</a:t>
              </a:r>
            </a:p>
          </p:txBody>
        </p:sp>
      </p:grpSp>
      <p:grpSp>
        <p:nvGrpSpPr>
          <p:cNvPr id="23" name="Group 23"/>
          <p:cNvGrpSpPr/>
          <p:nvPr/>
        </p:nvGrpSpPr>
        <p:grpSpPr>
          <a:xfrm>
            <a:off x="685800" y="3524250"/>
            <a:ext cx="2800350" cy="876300"/>
            <a:chOff x="685800" y="3524250"/>
            <a:chExt cx="2800350" cy="876300"/>
          </a:xfrm>
        </p:grpSpPr>
        <p:sp>
          <p:nvSpPr>
            <p:cNvPr id="18" name="Rectangle 18"/>
            <p:cNvSpPr/>
            <p:nvPr/>
          </p:nvSpPr>
          <p:spPr>
            <a:xfrm>
              <a:off x="685800" y="3524250"/>
              <a:ext cx="2305050" cy="876300"/>
            </a:xfrm>
            <a:prstGeom prst="roundRect">
              <a:avLst>
                <a:gd name="adj" fmla="val 2174"/>
              </a:avLst>
            </a:prstGeom>
            <a:solidFill>
              <a:srgbClr val="FFFFFF"/>
            </a:solidFill>
            <a:ln w="14288">
              <a:solidFill>
                <a:srgbClr val="D8DEE3"/>
              </a:solidFill>
            </a:ln>
          </p:spPr>
        </p:sp>
        <p:sp>
          <p:nvSpPr>
            <p:cNvPr id="19" name="TextBox 19"/>
            <p:cNvSpPr txBox="1"/>
            <p:nvPr/>
          </p:nvSpPr>
          <p:spPr>
            <a:xfrm>
              <a:off x="1086973" y="3722846"/>
              <a:ext cx="1502703" cy="289560"/>
            </a:xfrm>
            <a:prstGeom prst="rect">
              <a:avLst/>
            </a:prstGeom>
            <a:noFill/>
            <a:ln>
              <a:noFill/>
            </a:ln>
          </p:spPr>
          <p:txBody>
            <a:bodyPr wrap="none" lIns="0" tIns="0" rIns="0" bIns="0" anchor="t" anchorCtr="0">
              <a:spAutoFit/>
            </a:bodyPr>
            <a:lstStyle/>
            <a:p>
              <a:pPr algn="ctr"/>
              <a:r>
                <a:rPr lang="zh-CN" sz="1425" b="1" dirty="0">
                  <a:solidFill>
                    <a:srgbClr val="20262B"/>
                  </a:solidFill>
                  <a:latin typeface="Arial"/>
                  <a:ea typeface="Microsoft YaHei"/>
                  <a:cs typeface="Arial"/>
                </a:rPr>
                <a:t>LLM-generated</a:t>
              </a:r>
            </a:p>
          </p:txBody>
        </p:sp>
        <p:sp>
          <p:nvSpPr>
            <p:cNvPr id="20" name="TextBox 20"/>
            <p:cNvSpPr txBox="1"/>
            <p:nvPr/>
          </p:nvSpPr>
          <p:spPr>
            <a:xfrm>
              <a:off x="1361320" y="3980021"/>
              <a:ext cx="954010" cy="289560"/>
            </a:xfrm>
            <a:prstGeom prst="rect">
              <a:avLst/>
            </a:prstGeom>
            <a:noFill/>
            <a:ln>
              <a:noFill/>
            </a:ln>
          </p:spPr>
          <p:txBody>
            <a:bodyPr wrap="none" lIns="0" tIns="0" rIns="0" bIns="0" anchor="t" anchorCtr="0">
              <a:spAutoFit/>
            </a:bodyPr>
            <a:lstStyle/>
            <a:p>
              <a:pPr algn="ctr"/>
              <a:r>
                <a:rPr lang="zh-CN" sz="1425" b="1" dirty="0">
                  <a:solidFill>
                    <a:srgbClr val="20262B"/>
                  </a:solidFill>
                  <a:latin typeface="Arial"/>
                  <a:ea typeface="Microsoft YaHei"/>
                  <a:cs typeface="Arial"/>
                </a:rPr>
                <a:t>messages</a:t>
              </a:r>
            </a:p>
          </p:txBody>
        </p:sp>
        <p:sp>
          <p:nvSpPr>
            <p:cNvPr id="21" name="Line 21"/>
            <p:cNvSpPr/>
            <p:nvPr/>
          </p:nvSpPr>
          <p:spPr>
            <a:xfrm>
              <a:off x="2990850" y="3962400"/>
              <a:ext cx="381000" cy="9525"/>
            </a:xfrm>
            <a:custGeom>
              <a:avLst/>
              <a:gdLst/>
              <a:ahLst/>
              <a:cxnLst/>
              <a:rect l="l" t="t" r="r" b="b"/>
              <a:pathLst>
                <a:path w="381000" h="9525">
                  <a:moveTo>
                    <a:pt x="0" y="0"/>
                  </a:moveTo>
                  <a:lnTo>
                    <a:pt x="381000" y="0"/>
                  </a:lnTo>
                </a:path>
              </a:pathLst>
            </a:custGeom>
            <a:noFill/>
            <a:ln w="19050">
              <a:solidFill>
                <a:srgbClr val="17324D"/>
              </a:solidFill>
            </a:ln>
          </p:spPr>
        </p:sp>
        <p:sp>
          <p:nvSpPr>
            <p:cNvPr id="22" name="Polygon 22"/>
            <p:cNvSpPr/>
            <p:nvPr/>
          </p:nvSpPr>
          <p:spPr>
            <a:xfrm>
              <a:off x="3371850" y="3905250"/>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grpSp>
      <p:grpSp>
        <p:nvGrpSpPr>
          <p:cNvPr id="29" name="Group 29"/>
          <p:cNvGrpSpPr/>
          <p:nvPr/>
        </p:nvGrpSpPr>
        <p:grpSpPr>
          <a:xfrm>
            <a:off x="3486150" y="3524250"/>
            <a:ext cx="2800350" cy="876300"/>
            <a:chOff x="3486150" y="3524250"/>
            <a:chExt cx="2800350" cy="876300"/>
          </a:xfrm>
        </p:grpSpPr>
        <p:sp>
          <p:nvSpPr>
            <p:cNvPr id="24" name="Rectangle 24"/>
            <p:cNvSpPr/>
            <p:nvPr/>
          </p:nvSpPr>
          <p:spPr>
            <a:xfrm>
              <a:off x="3486150" y="3524250"/>
              <a:ext cx="2305050" cy="876300"/>
            </a:xfrm>
            <a:prstGeom prst="roundRect">
              <a:avLst>
                <a:gd name="adj" fmla="val 2174"/>
              </a:avLst>
            </a:prstGeom>
            <a:solidFill>
              <a:srgbClr val="FFFFFF"/>
            </a:solidFill>
            <a:ln w="14288">
              <a:solidFill>
                <a:srgbClr val="D8DEE3"/>
              </a:solidFill>
            </a:ln>
          </p:spPr>
        </p:sp>
        <p:sp>
          <p:nvSpPr>
            <p:cNvPr id="25" name="TextBox 25"/>
            <p:cNvSpPr txBox="1"/>
            <p:nvPr/>
          </p:nvSpPr>
          <p:spPr>
            <a:xfrm>
              <a:off x="3578060" y="3722846"/>
              <a:ext cx="2121231" cy="289560"/>
            </a:xfrm>
            <a:prstGeom prst="rect">
              <a:avLst/>
            </a:prstGeom>
            <a:noFill/>
            <a:ln>
              <a:noFill/>
            </a:ln>
          </p:spPr>
          <p:txBody>
            <a:bodyPr wrap="none" lIns="0" tIns="0" rIns="0" bIns="0" anchor="t" anchorCtr="0">
              <a:spAutoFit/>
            </a:bodyPr>
            <a:lstStyle/>
            <a:p>
              <a:pPr algn="ctr"/>
              <a:r>
                <a:rPr lang="zh-CN" sz="1425" b="1" dirty="0">
                  <a:solidFill>
                    <a:srgbClr val="20262B"/>
                  </a:solidFill>
                  <a:latin typeface="Arial"/>
                  <a:ea typeface="Microsoft YaHei"/>
                  <a:cs typeface="Arial"/>
                </a:rPr>
                <a:t>Information exposure</a:t>
              </a:r>
            </a:p>
          </p:txBody>
        </p:sp>
        <p:sp>
          <p:nvSpPr>
            <p:cNvPr id="26" name="TextBox 26"/>
            <p:cNvSpPr txBox="1"/>
            <p:nvPr/>
          </p:nvSpPr>
          <p:spPr>
            <a:xfrm>
              <a:off x="3982098" y="3980021"/>
              <a:ext cx="1313155" cy="289560"/>
            </a:xfrm>
            <a:prstGeom prst="rect">
              <a:avLst/>
            </a:prstGeom>
            <a:noFill/>
            <a:ln>
              <a:noFill/>
            </a:ln>
          </p:spPr>
          <p:txBody>
            <a:bodyPr wrap="none" lIns="0" tIns="0" rIns="0" bIns="0" anchor="t" anchorCtr="0">
              <a:spAutoFit/>
            </a:bodyPr>
            <a:lstStyle/>
            <a:p>
              <a:pPr algn="ctr"/>
              <a:r>
                <a:rPr lang="zh-CN" sz="1425" b="1" dirty="0">
                  <a:solidFill>
                    <a:srgbClr val="20262B"/>
                  </a:solidFill>
                  <a:latin typeface="Arial"/>
                  <a:ea typeface="Microsoft YaHei"/>
                  <a:cs typeface="Arial"/>
                </a:rPr>
                <a:t>and diffusion</a:t>
              </a:r>
            </a:p>
          </p:txBody>
        </p:sp>
        <p:sp>
          <p:nvSpPr>
            <p:cNvPr id="27" name="Line 27"/>
            <p:cNvSpPr/>
            <p:nvPr/>
          </p:nvSpPr>
          <p:spPr>
            <a:xfrm>
              <a:off x="5791200" y="3962400"/>
              <a:ext cx="381000" cy="9525"/>
            </a:xfrm>
            <a:custGeom>
              <a:avLst/>
              <a:gdLst/>
              <a:ahLst/>
              <a:cxnLst/>
              <a:rect l="l" t="t" r="r" b="b"/>
              <a:pathLst>
                <a:path w="381000" h="9525">
                  <a:moveTo>
                    <a:pt x="0" y="0"/>
                  </a:moveTo>
                  <a:lnTo>
                    <a:pt x="381000" y="0"/>
                  </a:lnTo>
                </a:path>
              </a:pathLst>
            </a:custGeom>
            <a:noFill/>
            <a:ln w="19050">
              <a:solidFill>
                <a:srgbClr val="17324D"/>
              </a:solidFill>
            </a:ln>
          </p:spPr>
        </p:sp>
        <p:sp>
          <p:nvSpPr>
            <p:cNvPr id="28" name="Polygon 28"/>
            <p:cNvSpPr/>
            <p:nvPr/>
          </p:nvSpPr>
          <p:spPr>
            <a:xfrm>
              <a:off x="6172200" y="3905250"/>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grpSp>
      <p:grpSp>
        <p:nvGrpSpPr>
          <p:cNvPr id="35" name="Group 35"/>
          <p:cNvGrpSpPr/>
          <p:nvPr/>
        </p:nvGrpSpPr>
        <p:grpSpPr>
          <a:xfrm>
            <a:off x="6286500" y="3524250"/>
            <a:ext cx="2800350" cy="876300"/>
            <a:chOff x="6286500" y="3524250"/>
            <a:chExt cx="2800350" cy="876300"/>
          </a:xfrm>
        </p:grpSpPr>
        <p:sp>
          <p:nvSpPr>
            <p:cNvPr id="30" name="Rectangle 30"/>
            <p:cNvSpPr/>
            <p:nvPr/>
          </p:nvSpPr>
          <p:spPr>
            <a:xfrm>
              <a:off x="6286500" y="3524250"/>
              <a:ext cx="2305050" cy="876300"/>
            </a:xfrm>
            <a:prstGeom prst="roundRect">
              <a:avLst>
                <a:gd name="adj" fmla="val 2174"/>
              </a:avLst>
            </a:prstGeom>
            <a:solidFill>
              <a:srgbClr val="FFFFFF"/>
            </a:solidFill>
            <a:ln w="14288">
              <a:solidFill>
                <a:srgbClr val="D8DEE3"/>
              </a:solidFill>
            </a:ln>
          </p:spPr>
        </p:sp>
        <p:sp>
          <p:nvSpPr>
            <p:cNvPr id="31" name="TextBox 31"/>
            <p:cNvSpPr txBox="1"/>
            <p:nvPr/>
          </p:nvSpPr>
          <p:spPr>
            <a:xfrm>
              <a:off x="6607863" y="3722846"/>
              <a:ext cx="1662323" cy="289560"/>
            </a:xfrm>
            <a:prstGeom prst="rect">
              <a:avLst/>
            </a:prstGeom>
            <a:noFill/>
            <a:ln>
              <a:noFill/>
            </a:ln>
          </p:spPr>
          <p:txBody>
            <a:bodyPr wrap="none" lIns="0" tIns="0" rIns="0" bIns="0" anchor="t" anchorCtr="0">
              <a:spAutoFit/>
            </a:bodyPr>
            <a:lstStyle/>
            <a:p>
              <a:pPr algn="ctr"/>
              <a:r>
                <a:rPr lang="zh-CN" sz="1425" b="1" dirty="0">
                  <a:solidFill>
                    <a:srgbClr val="20262B"/>
                  </a:solidFill>
                  <a:latin typeface="Arial"/>
                  <a:ea typeface="Microsoft YaHei"/>
                  <a:cs typeface="Arial"/>
                </a:rPr>
                <a:t>Individual opinion</a:t>
              </a:r>
            </a:p>
          </p:txBody>
        </p:sp>
        <p:sp>
          <p:nvSpPr>
            <p:cNvPr id="32" name="TextBox 32"/>
            <p:cNvSpPr txBox="1"/>
            <p:nvPr/>
          </p:nvSpPr>
          <p:spPr>
            <a:xfrm>
              <a:off x="7006913" y="3980021"/>
              <a:ext cx="864223" cy="289560"/>
            </a:xfrm>
            <a:prstGeom prst="rect">
              <a:avLst/>
            </a:prstGeom>
            <a:noFill/>
            <a:ln>
              <a:noFill/>
            </a:ln>
          </p:spPr>
          <p:txBody>
            <a:bodyPr wrap="none" lIns="0" tIns="0" rIns="0" bIns="0" anchor="t" anchorCtr="0">
              <a:spAutoFit/>
            </a:bodyPr>
            <a:lstStyle/>
            <a:p>
              <a:pPr algn="ctr"/>
              <a:r>
                <a:rPr lang="zh-CN" sz="1425" b="1" dirty="0">
                  <a:solidFill>
                    <a:srgbClr val="20262B"/>
                  </a:solidFill>
                  <a:latin typeface="Arial"/>
                  <a:ea typeface="Microsoft YaHei"/>
                  <a:cs typeface="Arial"/>
                </a:rPr>
                <a:t>updating</a:t>
              </a:r>
            </a:p>
          </p:txBody>
        </p:sp>
        <p:sp>
          <p:nvSpPr>
            <p:cNvPr id="33" name="Line 33"/>
            <p:cNvSpPr/>
            <p:nvPr/>
          </p:nvSpPr>
          <p:spPr>
            <a:xfrm>
              <a:off x="8591550" y="3962400"/>
              <a:ext cx="381000" cy="9525"/>
            </a:xfrm>
            <a:custGeom>
              <a:avLst/>
              <a:gdLst/>
              <a:ahLst/>
              <a:cxnLst/>
              <a:rect l="l" t="t" r="r" b="b"/>
              <a:pathLst>
                <a:path w="381000" h="9525">
                  <a:moveTo>
                    <a:pt x="0" y="0"/>
                  </a:moveTo>
                  <a:lnTo>
                    <a:pt x="381000" y="0"/>
                  </a:lnTo>
                </a:path>
              </a:pathLst>
            </a:custGeom>
            <a:noFill/>
            <a:ln w="19050">
              <a:solidFill>
                <a:srgbClr val="17324D"/>
              </a:solidFill>
            </a:ln>
          </p:spPr>
        </p:sp>
        <p:sp>
          <p:nvSpPr>
            <p:cNvPr id="34" name="Polygon 34"/>
            <p:cNvSpPr/>
            <p:nvPr/>
          </p:nvSpPr>
          <p:spPr>
            <a:xfrm>
              <a:off x="8972550" y="3905250"/>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grpSp>
      <p:grpSp>
        <p:nvGrpSpPr>
          <p:cNvPr id="39" name="Group 39"/>
          <p:cNvGrpSpPr/>
          <p:nvPr/>
        </p:nvGrpSpPr>
        <p:grpSpPr>
          <a:xfrm>
            <a:off x="9086850" y="3524250"/>
            <a:ext cx="2419350" cy="876300"/>
            <a:chOff x="9086850" y="3524250"/>
            <a:chExt cx="2419350" cy="876300"/>
          </a:xfrm>
        </p:grpSpPr>
        <p:sp>
          <p:nvSpPr>
            <p:cNvPr id="36" name="Rectangle 36"/>
            <p:cNvSpPr/>
            <p:nvPr/>
          </p:nvSpPr>
          <p:spPr>
            <a:xfrm>
              <a:off x="9086850" y="3524250"/>
              <a:ext cx="2419350" cy="876300"/>
            </a:xfrm>
            <a:prstGeom prst="roundRect">
              <a:avLst>
                <a:gd name="adj" fmla="val 2174"/>
              </a:avLst>
            </a:prstGeom>
            <a:solidFill>
              <a:srgbClr val="FFFFFF"/>
            </a:solidFill>
            <a:ln w="19050">
              <a:solidFill>
                <a:srgbClr val="17324D"/>
              </a:solidFill>
            </a:ln>
          </p:spPr>
        </p:sp>
        <p:sp>
          <p:nvSpPr>
            <p:cNvPr id="37" name="TextBox 37"/>
            <p:cNvSpPr txBox="1"/>
            <p:nvPr/>
          </p:nvSpPr>
          <p:spPr>
            <a:xfrm>
              <a:off x="9639948" y="3722846"/>
              <a:ext cx="1313155" cy="289560"/>
            </a:xfrm>
            <a:prstGeom prst="rect">
              <a:avLst/>
            </a:prstGeom>
            <a:noFill/>
            <a:ln>
              <a:noFill/>
            </a:ln>
          </p:spPr>
          <p:txBody>
            <a:bodyPr wrap="none" lIns="0" tIns="0" rIns="0" bIns="0" anchor="t" anchorCtr="0">
              <a:spAutoFit/>
            </a:bodyPr>
            <a:lstStyle/>
            <a:p>
              <a:pPr algn="ctr"/>
              <a:r>
                <a:rPr lang="zh-CN" sz="1425" b="1" dirty="0">
                  <a:solidFill>
                    <a:srgbClr val="17324D"/>
                  </a:solidFill>
                  <a:latin typeface="Arial"/>
                  <a:ea typeface="Microsoft YaHei"/>
                  <a:cs typeface="Arial"/>
                </a:rPr>
                <a:t>Group opinion</a:t>
              </a:r>
            </a:p>
          </p:txBody>
        </p:sp>
        <p:sp>
          <p:nvSpPr>
            <p:cNvPr id="38" name="TextBox 38"/>
            <p:cNvSpPr txBox="1"/>
            <p:nvPr/>
          </p:nvSpPr>
          <p:spPr>
            <a:xfrm>
              <a:off x="9694817" y="3980021"/>
              <a:ext cx="1203416" cy="289560"/>
            </a:xfrm>
            <a:prstGeom prst="rect">
              <a:avLst/>
            </a:prstGeom>
            <a:noFill/>
            <a:ln>
              <a:noFill/>
            </a:ln>
          </p:spPr>
          <p:txBody>
            <a:bodyPr wrap="none" lIns="0" tIns="0" rIns="0" bIns="0" anchor="t" anchorCtr="0">
              <a:spAutoFit/>
            </a:bodyPr>
            <a:lstStyle/>
            <a:p>
              <a:pPr algn="ctr"/>
              <a:r>
                <a:rPr lang="zh-CN" sz="1425" b="1" dirty="0">
                  <a:solidFill>
                    <a:srgbClr val="17324D"/>
                  </a:solidFill>
                  <a:latin typeface="Arial"/>
                  <a:ea typeface="Microsoft YaHei"/>
                  <a:cs typeface="Arial"/>
                </a:rPr>
                <a:t>distribution</a:t>
              </a:r>
            </a:p>
          </p:txBody>
        </p:sp>
      </p:grpSp>
      <p:grpSp>
        <p:nvGrpSpPr>
          <p:cNvPr id="41" name="Group 41"/>
          <p:cNvGrpSpPr/>
          <p:nvPr/>
        </p:nvGrpSpPr>
        <p:grpSpPr>
          <a:xfrm>
            <a:off x="7944898" y="4582478"/>
            <a:ext cx="4703254" cy="213360"/>
            <a:chOff x="7944898" y="4582478"/>
            <a:chExt cx="4703254" cy="213360"/>
          </a:xfrm>
        </p:grpSpPr>
        <p:sp>
          <p:nvSpPr>
            <p:cNvPr id="40" name="TextBox 40"/>
            <p:cNvSpPr txBox="1"/>
            <p:nvPr/>
          </p:nvSpPr>
          <p:spPr>
            <a:xfrm>
              <a:off x="7944898" y="4582478"/>
              <a:ext cx="4703254" cy="213360"/>
            </a:xfrm>
            <a:prstGeom prst="rect">
              <a:avLst/>
            </a:prstGeom>
            <a:noFill/>
            <a:ln>
              <a:noFill/>
            </a:ln>
          </p:spPr>
          <p:txBody>
            <a:bodyPr wrap="none" lIns="0" tIns="0" rIns="0" bIns="0" anchor="t" anchorCtr="0">
              <a:spAutoFit/>
            </a:bodyPr>
            <a:lstStyle/>
            <a:p>
              <a:pPr algn="ctr"/>
              <a:r>
                <a:rPr lang="zh-CN" sz="1050" dirty="0">
                  <a:solidFill>
                    <a:srgbClr val="7A8792"/>
                  </a:solidFill>
                  <a:latin typeface="Arial"/>
                  <a:ea typeface="Microsoft YaHei"/>
                  <a:cs typeface="Arial"/>
                </a:rPr>
                <a:t>convergence · clustering · polarization · persistent differentiation</a:t>
              </a:r>
            </a:p>
          </p:txBody>
        </p:sp>
      </p:grpSp>
      <p:grpSp>
        <p:nvGrpSpPr>
          <p:cNvPr id="45" name="Group 45"/>
          <p:cNvGrpSpPr/>
          <p:nvPr/>
        </p:nvGrpSpPr>
        <p:grpSpPr>
          <a:xfrm>
            <a:off x="669608" y="5219700"/>
            <a:ext cx="10836592" cy="807244"/>
            <a:chOff x="669608" y="5219700"/>
            <a:chExt cx="10836592" cy="807244"/>
          </a:xfrm>
        </p:grpSpPr>
        <p:sp>
          <p:nvSpPr>
            <p:cNvPr id="42" name="Line 42"/>
            <p:cNvSpPr/>
            <p:nvPr/>
          </p:nvSpPr>
          <p:spPr>
            <a:xfrm>
              <a:off x="685800" y="5219700"/>
              <a:ext cx="10820400" cy="9525"/>
            </a:xfrm>
            <a:custGeom>
              <a:avLst/>
              <a:gdLst/>
              <a:ahLst/>
              <a:cxnLst/>
              <a:rect l="l" t="t" r="r" b="b"/>
              <a:pathLst>
                <a:path w="10820400" h="9525">
                  <a:moveTo>
                    <a:pt x="0" y="0"/>
                  </a:moveTo>
                  <a:lnTo>
                    <a:pt x="10820400" y="0"/>
                  </a:lnTo>
                </a:path>
              </a:pathLst>
            </a:custGeom>
            <a:noFill/>
            <a:ln w="9525">
              <a:solidFill>
                <a:srgbClr val="D8DEE3"/>
              </a:solidFill>
            </a:ln>
          </p:spPr>
        </p:sp>
        <p:sp>
          <p:nvSpPr>
            <p:cNvPr id="43" name="TextBox 43"/>
            <p:cNvSpPr txBox="1"/>
            <p:nvPr/>
          </p:nvSpPr>
          <p:spPr>
            <a:xfrm>
              <a:off x="669608" y="5463064"/>
              <a:ext cx="7768352" cy="259080"/>
            </a:xfrm>
            <a:prstGeom prst="rect">
              <a:avLst/>
            </a:prstGeom>
            <a:noFill/>
            <a:ln>
              <a:noFill/>
            </a:ln>
          </p:spPr>
          <p:txBody>
            <a:bodyPr wrap="none" lIns="0" tIns="0" rIns="0" bIns="0" anchor="t" anchorCtr="0">
              <a:spAutoFit/>
            </a:bodyPr>
            <a:lstStyle/>
            <a:p>
              <a:pPr algn="l"/>
              <a:r>
                <a:rPr lang="zh-CN" sz="1275" b="1" dirty="0">
                  <a:solidFill>
                    <a:srgbClr val="17324D"/>
                  </a:solidFill>
                  <a:latin typeface="Arial"/>
                  <a:ea typeface="Microsoft YaHei"/>
                  <a:cs typeface="Arial"/>
                </a:rPr>
                <a:t>Opinion dynamics</a:t>
              </a:r>
              <a:r>
                <a:rPr lang="zh-CN" sz="1275" dirty="0">
                  <a:solidFill>
                    <a:srgbClr val="20262B"/>
                  </a:solidFill>
                  <a:latin typeface="Arial"/>
                  <a:ea typeface="Microsoft YaHei"/>
                  <a:cs typeface="Arial"/>
                </a:rPr>
                <a:t xml:space="preserve"> supplies update rules; </a:t>
              </a:r>
              <a:r>
                <a:rPr lang="zh-CN" sz="1275" b="1" dirty="0">
                  <a:solidFill>
                    <a:srgbClr val="17324D"/>
                  </a:solidFill>
                  <a:latin typeface="Arial"/>
                  <a:ea typeface="Microsoft YaHei"/>
                  <a:cs typeface="Arial"/>
                </a:rPr>
                <a:t>ABM</a:t>
              </a:r>
              <a:r>
                <a:rPr lang="zh-CN" sz="1275" dirty="0">
                  <a:solidFill>
                    <a:srgbClr val="20262B"/>
                  </a:solidFill>
                  <a:latin typeface="Arial"/>
                  <a:ea typeface="Microsoft YaHei"/>
                  <a:cs typeface="Arial"/>
                </a:rPr>
                <a:t xml:space="preserve"> simulates multi-agent, multi-round interaction.</a:t>
              </a:r>
            </a:p>
          </p:txBody>
        </p:sp>
        <p:sp>
          <p:nvSpPr>
            <p:cNvPr id="44" name="TextBox 44"/>
            <p:cNvSpPr txBox="1"/>
            <p:nvPr/>
          </p:nvSpPr>
          <p:spPr>
            <a:xfrm>
              <a:off x="669608" y="5767864"/>
              <a:ext cx="8193405" cy="259080"/>
            </a:xfrm>
            <a:prstGeom prst="rect">
              <a:avLst/>
            </a:prstGeom>
            <a:noFill/>
            <a:ln>
              <a:noFill/>
            </a:ln>
          </p:spPr>
          <p:txBody>
            <a:bodyPr wrap="none" lIns="0" tIns="0" rIns="0" bIns="0" anchor="t" anchorCtr="0">
              <a:spAutoFit/>
            </a:bodyPr>
            <a:lstStyle/>
            <a:p>
              <a:pPr algn="l"/>
              <a:r>
                <a:rPr lang="zh-CN" sz="1275" dirty="0">
                  <a:solidFill>
                    <a:srgbClr val="20262B"/>
                  </a:solidFill>
                  <a:latin typeface="Arial"/>
                  <a:ea typeface="Microsoft YaHei"/>
                  <a:cs typeface="Arial"/>
                </a:rPr>
                <a:t>LLMs generate information; explicit rules update opinions; human data calibrate ABM parameters.</a:t>
              </a:r>
            </a:p>
          </p:txBody>
        </p:sp>
      </p:grpSp>
      <p:sp>
        <p:nvSpPr>
          <p:cNvPr id="46" name="TextBox 46"/>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05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400"/>
                                        <p:tgtEl>
                                          <p:spTgt spid="1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image">
                                      <p:cBhvr>
                                        <p:cTn id="19" dur="400"/>
                                        <p:tgtEl>
                                          <p:spTgt spid="23"/>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400"/>
                                        <p:tgtEl>
                                          <p:spTgt spid="35"/>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slide(fromBottom)">
                                      <p:cBhvr>
                                        <p:cTn id="31" dur="400"/>
                                        <p:tgtEl>
                                          <p:spTgt spid="39"/>
                                        </p:tgtEl>
                                      </p:cBhvr>
                                    </p:animEffect>
                                  </p:childTnLst>
                                </p:cTn>
                              </p:par>
                            </p:childTnLst>
                          </p:cTn>
                        </p:par>
                        <p:par>
                          <p:cTn id="32" fill="hold">
                            <p:stCondLst>
                              <p:cond delay="6300"/>
                            </p:stCondLst>
                            <p:childTnLst>
                              <p:par>
                                <p:cTn id="33" presetID="23" presetClass="entr" presetSubtype="0" fill="hold"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image">
                                      <p:cBhvr>
                                        <p:cTn id="35" dur="400"/>
                                        <p:tgtEl>
                                          <p:spTgt spid="41"/>
                                        </p:tgtEl>
                                      </p:cBhvr>
                                    </p:animEffect>
                                  </p:childTnLst>
                                </p:cTn>
                              </p:par>
                            </p:childTnLst>
                          </p:cTn>
                        </p:par>
                        <p:par>
                          <p:cTn id="36" fill="hold">
                            <p:stCondLst>
                              <p:cond delay="7200"/>
                            </p:stCondLst>
                            <p:childTnLst>
                              <p:par>
                                <p:cTn id="37" presetID="10" presetClass="entr" presetSubtype="0" fill="hold" nodeType="after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7" grpId="0"/>
      <p:bldP spid="23" grpId="0"/>
      <p:bldP spid="29" grpId="0"/>
      <p:bldP spid="35" grpId="0"/>
      <p:bldP spid="39" grpId="0"/>
      <p:bldP spid="41" grpId="0"/>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1079480" cy="516255"/>
            <a:chOff x="541020" y="464820"/>
            <a:chExt cx="11079480" cy="516255"/>
          </a:xfrm>
        </p:grpSpPr>
        <p:sp>
          <p:nvSpPr>
            <p:cNvPr id="3" name="TextBox 3"/>
            <p:cNvSpPr txBox="1"/>
            <p:nvPr/>
          </p:nvSpPr>
          <p:spPr>
            <a:xfrm>
              <a:off x="541020" y="464820"/>
              <a:ext cx="8025155"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How Do LLMs Change Group Opinion Distributions?</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grpSp>
        <p:nvGrpSpPr>
          <p:cNvPr id="8" name="Group 8"/>
          <p:cNvGrpSpPr/>
          <p:nvPr/>
        </p:nvGrpSpPr>
        <p:grpSpPr>
          <a:xfrm>
            <a:off x="672465" y="1296352"/>
            <a:ext cx="1019044" cy="213360"/>
            <a:chOff x="672465" y="1296352"/>
            <a:chExt cx="1019044" cy="213360"/>
          </a:xfrm>
        </p:grpSpPr>
        <p:sp>
          <p:nvSpPr>
            <p:cNvPr id="7" name="TextBox 7"/>
            <p:cNvSpPr txBox="1"/>
            <p:nvPr/>
          </p:nvSpPr>
          <p:spPr>
            <a:xfrm>
              <a:off x="672465" y="1296352"/>
              <a:ext cx="1019044"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SUBQUESTIONS</a:t>
              </a:r>
            </a:p>
          </p:txBody>
        </p:sp>
      </p:grpSp>
      <p:grpSp>
        <p:nvGrpSpPr>
          <p:cNvPr id="11" name="Group 11"/>
          <p:cNvGrpSpPr/>
          <p:nvPr/>
        </p:nvGrpSpPr>
        <p:grpSpPr>
          <a:xfrm>
            <a:off x="661988" y="1740218"/>
            <a:ext cx="5576887" cy="521970"/>
            <a:chOff x="661988" y="1740218"/>
            <a:chExt cx="5576887" cy="521970"/>
          </a:xfrm>
        </p:grpSpPr>
        <p:sp>
          <p:nvSpPr>
            <p:cNvPr id="9" name="TextBox 9"/>
            <p:cNvSpPr txBox="1"/>
            <p:nvPr/>
          </p:nvSpPr>
          <p:spPr>
            <a:xfrm>
              <a:off x="661988" y="1740694"/>
              <a:ext cx="533311" cy="381000"/>
            </a:xfrm>
            <a:prstGeom prst="rect">
              <a:avLst/>
            </a:prstGeom>
            <a:noFill/>
            <a:ln>
              <a:noFill/>
            </a:ln>
          </p:spPr>
          <p:txBody>
            <a:bodyPr wrap="none" lIns="0" tIns="0" rIns="0" bIns="0" anchor="t" anchorCtr="0">
              <a:spAutoFit/>
            </a:bodyPr>
            <a:lstStyle/>
            <a:p>
              <a:pPr algn="l"/>
              <a:r>
                <a:rPr lang="zh-CN" sz="1875" b="1" dirty="0">
                  <a:solidFill>
                    <a:srgbClr val="17324D"/>
                  </a:solidFill>
                  <a:latin typeface="Arial"/>
                  <a:ea typeface="Microsoft YaHei"/>
                  <a:cs typeface="Arial"/>
                </a:rPr>
                <a:t>SQ1</a:t>
              </a:r>
            </a:p>
          </p:txBody>
        </p:sp>
        <p:sp>
          <p:nvSpPr>
            <p:cNvPr id="10" name="TextBox 10"/>
            <p:cNvSpPr txBox="1"/>
            <p:nvPr/>
          </p:nvSpPr>
          <p:spPr>
            <a:xfrm>
              <a:off x="1335405" y="1740218"/>
              <a:ext cx="4903470" cy="521970"/>
            </a:xfrm>
            <a:prstGeom prst="rect">
              <a:avLst/>
            </a:prstGeom>
            <a:noFill/>
            <a:ln>
              <a:noFill/>
            </a:ln>
          </p:spPr>
          <p:txBody>
            <a:bodyPr wrap="square" lIns="0" tIns="0" rIns="0" bIns="0" anchor="t" anchorCtr="0"/>
            <a:lstStyle/>
            <a:p>
              <a:pPr algn="l">
                <a:lnSpc>
                  <a:spcPts val="1950"/>
                </a:lnSpc>
              </a:pPr>
              <a:r>
                <a:rPr lang="zh-CN" sz="1350" dirty="0">
                  <a:solidFill>
                    <a:srgbClr val="20262B"/>
                  </a:solidFill>
                  <a:latin typeface="Arial"/>
                  <a:ea typeface="Microsoft YaHei"/>
                  <a:cs typeface="Arial"/>
                </a:rPr>
                <a:t xml:space="preserve">How do large language models change information exposure </a:t>
              </a:r>
              <a:r>
                <a:rPr lang="zh-CN" sz="1350" dirty="0">
                  <a:solidFill>
                    <a:srgbClr val="20262B"/>
                  </a:solidFill>
                  <a:latin typeface="Arial"/>
                  <a:ea typeface="Microsoft YaHei"/>
                  <a:cs typeface="Arial"/>
                </a:rPr>
                <a:t>and information diffusion within groups?</a:t>
              </a:r>
            </a:p>
          </p:txBody>
        </p:sp>
      </p:grpSp>
      <p:grpSp>
        <p:nvGrpSpPr>
          <p:cNvPr id="14" name="Group 14"/>
          <p:cNvGrpSpPr/>
          <p:nvPr/>
        </p:nvGrpSpPr>
        <p:grpSpPr>
          <a:xfrm>
            <a:off x="661988" y="2940368"/>
            <a:ext cx="5782627" cy="521970"/>
            <a:chOff x="661988" y="2940368"/>
            <a:chExt cx="5782627" cy="521970"/>
          </a:xfrm>
        </p:grpSpPr>
        <p:sp>
          <p:nvSpPr>
            <p:cNvPr id="12" name="TextBox 12"/>
            <p:cNvSpPr txBox="1"/>
            <p:nvPr/>
          </p:nvSpPr>
          <p:spPr>
            <a:xfrm>
              <a:off x="661988" y="2940844"/>
              <a:ext cx="533311" cy="381000"/>
            </a:xfrm>
            <a:prstGeom prst="rect">
              <a:avLst/>
            </a:prstGeom>
            <a:noFill/>
            <a:ln>
              <a:noFill/>
            </a:ln>
          </p:spPr>
          <p:txBody>
            <a:bodyPr wrap="none" lIns="0" tIns="0" rIns="0" bIns="0" anchor="t" anchorCtr="0">
              <a:spAutoFit/>
            </a:bodyPr>
            <a:lstStyle/>
            <a:p>
              <a:pPr algn="l"/>
              <a:r>
                <a:rPr lang="zh-CN" sz="1875" b="1" dirty="0">
                  <a:solidFill>
                    <a:srgbClr val="17324D"/>
                  </a:solidFill>
                  <a:latin typeface="Arial"/>
                  <a:ea typeface="Microsoft YaHei"/>
                  <a:cs typeface="Arial"/>
                </a:rPr>
                <a:t>SQ2</a:t>
              </a:r>
            </a:p>
          </p:txBody>
        </p:sp>
        <p:sp>
          <p:nvSpPr>
            <p:cNvPr id="13" name="TextBox 13"/>
            <p:cNvSpPr txBox="1"/>
            <p:nvPr/>
          </p:nvSpPr>
          <p:spPr>
            <a:xfrm>
              <a:off x="1335405" y="2940368"/>
              <a:ext cx="5109210" cy="521970"/>
            </a:xfrm>
            <a:prstGeom prst="rect">
              <a:avLst/>
            </a:prstGeom>
            <a:noFill/>
            <a:ln>
              <a:noFill/>
            </a:ln>
          </p:spPr>
          <p:txBody>
            <a:bodyPr wrap="square" lIns="0" tIns="0" rIns="0" bIns="0" anchor="t" anchorCtr="0"/>
            <a:lstStyle/>
            <a:p>
              <a:pPr algn="l">
                <a:lnSpc>
                  <a:spcPts val="1950"/>
                </a:lnSpc>
              </a:pPr>
              <a:r>
                <a:rPr lang="zh-CN" sz="1350" dirty="0">
                  <a:solidFill>
                    <a:srgbClr val="20262B"/>
                  </a:solidFill>
                  <a:latin typeface="Arial"/>
                  <a:ea typeface="Microsoft YaHei"/>
                  <a:cs typeface="Arial"/>
                </a:rPr>
                <a:t xml:space="preserve">How do changes in information exposure and diffusion affect </a:t>
              </a:r>
              <a:r>
                <a:rPr lang="zh-CN" sz="1350" dirty="0">
                  <a:solidFill>
                    <a:srgbClr val="20262B"/>
                  </a:solidFill>
                  <a:latin typeface="Arial"/>
                  <a:ea typeface="Microsoft YaHei"/>
                  <a:cs typeface="Arial"/>
                </a:rPr>
                <a:t>individual opinion updating and group opinion evolution?</a:t>
              </a:r>
            </a:p>
          </p:txBody>
        </p:sp>
      </p:grpSp>
      <p:grpSp>
        <p:nvGrpSpPr>
          <p:cNvPr id="17" name="Group 17"/>
          <p:cNvGrpSpPr/>
          <p:nvPr/>
        </p:nvGrpSpPr>
        <p:grpSpPr>
          <a:xfrm>
            <a:off x="661988" y="4140518"/>
            <a:ext cx="5876924" cy="521970"/>
            <a:chOff x="661988" y="4140518"/>
            <a:chExt cx="5876924" cy="521970"/>
          </a:xfrm>
        </p:grpSpPr>
        <p:sp>
          <p:nvSpPr>
            <p:cNvPr id="15" name="TextBox 15"/>
            <p:cNvSpPr txBox="1"/>
            <p:nvPr/>
          </p:nvSpPr>
          <p:spPr>
            <a:xfrm>
              <a:off x="661988" y="4140994"/>
              <a:ext cx="533311" cy="381000"/>
            </a:xfrm>
            <a:prstGeom prst="rect">
              <a:avLst/>
            </a:prstGeom>
            <a:noFill/>
            <a:ln>
              <a:noFill/>
            </a:ln>
          </p:spPr>
          <p:txBody>
            <a:bodyPr wrap="none" lIns="0" tIns="0" rIns="0" bIns="0" anchor="t" anchorCtr="0">
              <a:spAutoFit/>
            </a:bodyPr>
            <a:lstStyle/>
            <a:p>
              <a:pPr algn="l"/>
              <a:r>
                <a:rPr lang="zh-CN" sz="1875" b="1" dirty="0">
                  <a:solidFill>
                    <a:srgbClr val="17324D"/>
                  </a:solidFill>
                  <a:latin typeface="Arial"/>
                  <a:ea typeface="Microsoft YaHei"/>
                  <a:cs typeface="Arial"/>
                </a:rPr>
                <a:t>SQ3</a:t>
              </a:r>
            </a:p>
          </p:txBody>
        </p:sp>
        <p:sp>
          <p:nvSpPr>
            <p:cNvPr id="16" name="TextBox 16"/>
            <p:cNvSpPr txBox="1"/>
            <p:nvPr/>
          </p:nvSpPr>
          <p:spPr>
            <a:xfrm>
              <a:off x="1335405" y="4140518"/>
              <a:ext cx="5203507" cy="521970"/>
            </a:xfrm>
            <a:prstGeom prst="rect">
              <a:avLst/>
            </a:prstGeom>
            <a:noFill/>
            <a:ln>
              <a:noFill/>
            </a:ln>
          </p:spPr>
          <p:txBody>
            <a:bodyPr wrap="square" lIns="0" tIns="0" rIns="0" bIns="0" anchor="t" anchorCtr="0"/>
            <a:lstStyle/>
            <a:p>
              <a:pPr algn="l">
                <a:lnSpc>
                  <a:spcPts val="1950"/>
                </a:lnSpc>
              </a:pPr>
              <a:r>
                <a:rPr lang="zh-CN" sz="1350" dirty="0">
                  <a:solidFill>
                    <a:srgbClr val="20262B"/>
                  </a:solidFill>
                  <a:latin typeface="Arial"/>
                  <a:ea typeface="Microsoft YaHei"/>
                  <a:cs typeface="Arial"/>
                </a:rPr>
                <a:t xml:space="preserve">If these patterns of group opinion evolution are observed, </a:t>
              </a:r>
              <a:r>
                <a:rPr lang="zh-CN" sz="1350" dirty="0">
                  <a:solidFill>
                    <a:srgbClr val="20262B"/>
                  </a:solidFill>
                  <a:latin typeface="Arial"/>
                  <a:ea typeface="Microsoft YaHei"/>
                  <a:cs typeface="Arial"/>
                </a:rPr>
                <a:t>can technical interventions at the LLM layer attenuate them?</a:t>
              </a:r>
            </a:p>
          </p:txBody>
        </p:sp>
      </p:grpSp>
      <p:sp>
        <p:nvSpPr>
          <p:cNvPr id="18" name="Line 18"/>
          <p:cNvSpPr/>
          <p:nvPr/>
        </p:nvSpPr>
        <p:spPr>
          <a:xfrm>
            <a:off x="6572250" y="1314450"/>
            <a:ext cx="9525" cy="4667250"/>
          </a:xfrm>
          <a:custGeom>
            <a:avLst/>
            <a:gdLst/>
            <a:ahLst/>
            <a:cxnLst/>
            <a:rect l="l" t="t" r="r" b="b"/>
            <a:pathLst>
              <a:path w="9525" h="4667250">
                <a:moveTo>
                  <a:pt x="0" y="0"/>
                </a:moveTo>
                <a:lnTo>
                  <a:pt x="0" y="4667250"/>
                </a:lnTo>
              </a:path>
            </a:pathLst>
          </a:custGeom>
          <a:noFill/>
          <a:ln w="9525">
            <a:solidFill>
              <a:srgbClr val="D8DEE3"/>
            </a:solidFill>
          </a:ln>
        </p:spPr>
      </p:sp>
      <p:grpSp>
        <p:nvGrpSpPr>
          <p:cNvPr id="28" name="Group 28"/>
          <p:cNvGrpSpPr/>
          <p:nvPr/>
        </p:nvGrpSpPr>
        <p:grpSpPr>
          <a:xfrm>
            <a:off x="6936105" y="1296352"/>
            <a:ext cx="4924425" cy="3647123"/>
            <a:chOff x="6936105" y="1296352"/>
            <a:chExt cx="4924425" cy="3647123"/>
          </a:xfrm>
        </p:grpSpPr>
        <p:sp>
          <p:nvSpPr>
            <p:cNvPr id="19" name="TextBox 19"/>
            <p:cNvSpPr txBox="1"/>
            <p:nvPr/>
          </p:nvSpPr>
          <p:spPr>
            <a:xfrm>
              <a:off x="6939915" y="1296352"/>
              <a:ext cx="1276326"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POSSIBLE RESULTS</a:t>
              </a:r>
            </a:p>
          </p:txBody>
        </p:sp>
        <p:sp>
          <p:nvSpPr>
            <p:cNvPr id="20" name="TextBox 20"/>
            <p:cNvSpPr txBox="1"/>
            <p:nvPr/>
          </p:nvSpPr>
          <p:spPr>
            <a:xfrm>
              <a:off x="6936105" y="1806892"/>
              <a:ext cx="1499223" cy="274320"/>
            </a:xfrm>
            <a:prstGeom prst="rect">
              <a:avLst/>
            </a:prstGeom>
            <a:noFill/>
            <a:ln>
              <a:noFill/>
            </a:ln>
          </p:spPr>
          <p:txBody>
            <a:bodyPr wrap="none" lIns="0" tIns="0" rIns="0" bIns="0" anchor="t" anchorCtr="0">
              <a:spAutoFit/>
            </a:bodyPr>
            <a:lstStyle/>
            <a:p>
              <a:pPr algn="l"/>
              <a:r>
                <a:rPr lang="zh-CN" sz="1350" b="1" dirty="0">
                  <a:solidFill>
                    <a:srgbClr val="20262B"/>
                  </a:solidFill>
                  <a:latin typeface="Arial"/>
                  <a:ea typeface="Microsoft YaHei"/>
                  <a:cs typeface="Arial"/>
                </a:rPr>
                <a:t>1 · Convergence</a:t>
              </a:r>
            </a:p>
          </p:txBody>
        </p:sp>
        <p:sp>
          <p:nvSpPr>
            <p:cNvPr id="21" name="TextBox 21"/>
            <p:cNvSpPr txBox="1"/>
            <p:nvPr/>
          </p:nvSpPr>
          <p:spPr>
            <a:xfrm>
              <a:off x="6938010" y="2118360"/>
              <a:ext cx="406146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A shared LLM information source moves group opinions </a:t>
              </a:r>
              <a:r>
                <a:rPr lang="zh-CN" sz="1200" dirty="0">
                  <a:solidFill>
                    <a:srgbClr val="20262B"/>
                  </a:solidFill>
                  <a:latin typeface="Arial"/>
                  <a:ea typeface="Microsoft YaHei"/>
                  <a:cs typeface="Arial"/>
                </a:rPr>
                <a:t>toward convergence.</a:t>
              </a:r>
            </a:p>
          </p:txBody>
        </p:sp>
        <p:sp>
          <p:nvSpPr>
            <p:cNvPr id="22" name="Line 22"/>
            <p:cNvSpPr/>
            <p:nvPr/>
          </p:nvSpPr>
          <p:spPr>
            <a:xfrm>
              <a:off x="6953250" y="2714625"/>
              <a:ext cx="4457700" cy="9525"/>
            </a:xfrm>
            <a:custGeom>
              <a:avLst/>
              <a:gdLst/>
              <a:ahLst/>
              <a:cxnLst/>
              <a:rect l="l" t="t" r="r" b="b"/>
              <a:pathLst>
                <a:path w="4457700" h="9525">
                  <a:moveTo>
                    <a:pt x="0" y="0"/>
                  </a:moveTo>
                  <a:lnTo>
                    <a:pt x="4457700" y="0"/>
                  </a:lnTo>
                </a:path>
              </a:pathLst>
            </a:custGeom>
            <a:noFill/>
            <a:ln w="9525">
              <a:solidFill>
                <a:srgbClr val="D8DEE3"/>
              </a:solidFill>
            </a:ln>
          </p:spPr>
        </p:sp>
        <p:sp>
          <p:nvSpPr>
            <p:cNvPr id="23" name="TextBox 23"/>
            <p:cNvSpPr txBox="1"/>
            <p:nvPr/>
          </p:nvSpPr>
          <p:spPr>
            <a:xfrm>
              <a:off x="6936105" y="2987992"/>
              <a:ext cx="1773307" cy="274320"/>
            </a:xfrm>
            <a:prstGeom prst="rect">
              <a:avLst/>
            </a:prstGeom>
            <a:noFill/>
            <a:ln>
              <a:noFill/>
            </a:ln>
          </p:spPr>
          <p:txBody>
            <a:bodyPr wrap="none" lIns="0" tIns="0" rIns="0" bIns="0" anchor="t" anchorCtr="0">
              <a:spAutoFit/>
            </a:bodyPr>
            <a:lstStyle/>
            <a:p>
              <a:pPr algn="l"/>
              <a:r>
                <a:rPr lang="zh-CN" sz="1350" b="1" dirty="0">
                  <a:solidFill>
                    <a:srgbClr val="20262B"/>
                  </a:solidFill>
                  <a:latin typeface="Arial"/>
                  <a:ea typeface="Microsoft YaHei"/>
                  <a:cs typeface="Arial"/>
                </a:rPr>
                <a:t>2 · Differentiation</a:t>
              </a:r>
            </a:p>
          </p:txBody>
        </p:sp>
        <p:sp>
          <p:nvSpPr>
            <p:cNvPr id="24" name="TextBox 24"/>
            <p:cNvSpPr txBox="1"/>
            <p:nvPr/>
          </p:nvSpPr>
          <p:spPr>
            <a:xfrm>
              <a:off x="6938010" y="3299460"/>
              <a:ext cx="492252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Stance-conditioned generation, selective sharing, or bounded </a:t>
              </a:r>
              <a:r>
                <a:rPr lang="zh-CN" sz="1200" dirty="0">
                  <a:solidFill>
                    <a:srgbClr val="20262B"/>
                  </a:solidFill>
                  <a:latin typeface="Arial"/>
                  <a:ea typeface="Microsoft YaHei"/>
                  <a:cs typeface="Arial"/>
                </a:rPr>
                <a:t>acceptance produces clustering, polarization, or fragmentation.</a:t>
              </a:r>
            </a:p>
          </p:txBody>
        </p:sp>
        <p:sp>
          <p:nvSpPr>
            <p:cNvPr id="25" name="Line 25"/>
            <p:cNvSpPr/>
            <p:nvPr/>
          </p:nvSpPr>
          <p:spPr>
            <a:xfrm>
              <a:off x="6953250" y="3895725"/>
              <a:ext cx="4457700" cy="9525"/>
            </a:xfrm>
            <a:custGeom>
              <a:avLst/>
              <a:gdLst/>
              <a:ahLst/>
              <a:cxnLst/>
              <a:rect l="l" t="t" r="r" b="b"/>
              <a:pathLst>
                <a:path w="4457700" h="9525">
                  <a:moveTo>
                    <a:pt x="0" y="0"/>
                  </a:moveTo>
                  <a:lnTo>
                    <a:pt x="4457700" y="0"/>
                  </a:lnTo>
                </a:path>
              </a:pathLst>
            </a:custGeom>
            <a:noFill/>
            <a:ln w="9525">
              <a:solidFill>
                <a:srgbClr val="D8DEE3"/>
              </a:solidFill>
            </a:ln>
          </p:spPr>
        </p:sp>
        <p:sp>
          <p:nvSpPr>
            <p:cNvPr id="26" name="TextBox 26"/>
            <p:cNvSpPr txBox="1"/>
            <p:nvPr/>
          </p:nvSpPr>
          <p:spPr>
            <a:xfrm>
              <a:off x="6936105" y="4169092"/>
              <a:ext cx="3654092" cy="274320"/>
            </a:xfrm>
            <a:prstGeom prst="rect">
              <a:avLst/>
            </a:prstGeom>
            <a:noFill/>
            <a:ln>
              <a:noFill/>
            </a:ln>
          </p:spPr>
          <p:txBody>
            <a:bodyPr wrap="none" lIns="0" tIns="0" rIns="0" bIns="0" anchor="t" anchorCtr="0">
              <a:spAutoFit/>
            </a:bodyPr>
            <a:lstStyle/>
            <a:p>
              <a:pPr algn="l"/>
              <a:r>
                <a:rPr lang="zh-CN" sz="1350" b="1" dirty="0">
                  <a:solidFill>
                    <a:srgbClr val="20262B"/>
                  </a:solidFill>
                  <a:latin typeface="Arial"/>
                  <a:ea typeface="Microsoft YaHei"/>
                  <a:cs typeface="Arial"/>
                </a:rPr>
                <a:t>3 · No measurable distributional change</a:t>
              </a:r>
            </a:p>
          </p:txBody>
        </p:sp>
        <p:sp>
          <p:nvSpPr>
            <p:cNvPr id="27" name="TextBox 27"/>
            <p:cNvSpPr txBox="1"/>
            <p:nvPr/>
          </p:nvSpPr>
          <p:spPr>
            <a:xfrm>
              <a:off x="6938010" y="4480560"/>
              <a:ext cx="409194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Exposure and diffusion change, while the group opinion </a:t>
              </a:r>
              <a:r>
                <a:rPr lang="zh-CN" sz="1200" dirty="0">
                  <a:solidFill>
                    <a:srgbClr val="20262B"/>
                  </a:solidFill>
                  <a:latin typeface="Arial"/>
                  <a:ea typeface="Microsoft YaHei"/>
                  <a:cs typeface="Arial"/>
                </a:rPr>
                <a:t>distribution does not.</a:t>
              </a:r>
            </a:p>
          </p:txBody>
        </p:sp>
      </p:grpSp>
      <p:grpSp>
        <p:nvGrpSpPr>
          <p:cNvPr id="31" name="Group 31"/>
          <p:cNvGrpSpPr/>
          <p:nvPr/>
        </p:nvGrpSpPr>
        <p:grpSpPr>
          <a:xfrm>
            <a:off x="672465" y="5543550"/>
            <a:ext cx="10738485" cy="585787"/>
            <a:chOff x="672465" y="5543550"/>
            <a:chExt cx="10738485" cy="585787"/>
          </a:xfrm>
        </p:grpSpPr>
        <p:sp>
          <p:nvSpPr>
            <p:cNvPr id="29" name="Line 29"/>
            <p:cNvSpPr/>
            <p:nvPr/>
          </p:nvSpPr>
          <p:spPr>
            <a:xfrm>
              <a:off x="685800" y="5543550"/>
              <a:ext cx="10725150" cy="9525"/>
            </a:xfrm>
            <a:custGeom>
              <a:avLst/>
              <a:gdLst/>
              <a:ahLst/>
              <a:cxnLst/>
              <a:rect l="l" t="t" r="r" b="b"/>
              <a:pathLst>
                <a:path w="10725150" h="9525">
                  <a:moveTo>
                    <a:pt x="0" y="0"/>
                  </a:moveTo>
                  <a:lnTo>
                    <a:pt x="10725150" y="0"/>
                  </a:lnTo>
                </a:path>
              </a:pathLst>
            </a:custGeom>
            <a:noFill/>
            <a:ln w="9525">
              <a:solidFill>
                <a:srgbClr val="D8DEE3"/>
              </a:solidFill>
            </a:ln>
          </p:spPr>
        </p:sp>
        <p:sp>
          <p:nvSpPr>
            <p:cNvPr id="30" name="TextBox 30"/>
            <p:cNvSpPr txBox="1"/>
            <p:nvPr/>
          </p:nvSpPr>
          <p:spPr>
            <a:xfrm>
              <a:off x="672465" y="5715952"/>
              <a:ext cx="6254115" cy="413385"/>
            </a:xfrm>
            <a:prstGeom prst="rect">
              <a:avLst/>
            </a:prstGeom>
            <a:noFill/>
            <a:ln>
              <a:noFill/>
            </a:ln>
          </p:spPr>
          <p:txBody>
            <a:bodyPr wrap="square" lIns="0" tIns="0" rIns="0" bIns="0" anchor="t" anchorCtr="0"/>
            <a:lstStyle/>
            <a:p>
              <a:pPr algn="l">
                <a:lnSpc>
                  <a:spcPts val="1575"/>
                </a:lnSpc>
              </a:pPr>
              <a:r>
                <a:rPr lang="zh-CN" sz="1050" dirty="0">
                  <a:solidFill>
                    <a:srgbClr val="7A8792"/>
                  </a:solidFill>
                  <a:latin typeface="Arial"/>
                  <a:ea typeface="Microsoft YaHei"/>
                  <a:cs typeface="Arial"/>
                </a:rPr>
                <a:t xml:space="preserve">The outcomes are reported separately: convergence, clustering, polarization, fragmentation, </a:t>
              </a:r>
              <a:r>
                <a:rPr lang="zh-CN" sz="1050" dirty="0">
                  <a:solidFill>
                    <a:srgbClr val="7A8792"/>
                  </a:solidFill>
                  <a:latin typeface="Arial"/>
                  <a:ea typeface="Microsoft YaHei"/>
                  <a:cs typeface="Arial"/>
                </a:rPr>
                <a:t>and no distributional change are not interchangeable.</a:t>
              </a:r>
            </a:p>
          </p:txBody>
        </p:sp>
      </p:grpSp>
      <p:sp>
        <p:nvSpPr>
          <p:cNvPr id="32" name="TextBox 32"/>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slide(fromBottom)">
                                      <p:cBhvr>
                                        <p:cTn id="11" dur="400"/>
                                        <p:tgtEl>
                                          <p:spTgt spid="11"/>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image">
                                      <p:cBhvr>
                                        <p:cTn id="15" dur="400"/>
                                        <p:tgtEl>
                                          <p:spTgt spid="1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400"/>
                                        <p:tgtEl>
                                          <p:spTgt spid="28"/>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P spid="17" grpId="0"/>
      <p:bldP spid="28"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1079480" cy="516255"/>
            <a:chOff x="541020" y="464820"/>
            <a:chExt cx="11079480" cy="516255"/>
          </a:xfrm>
        </p:grpSpPr>
        <p:sp>
          <p:nvSpPr>
            <p:cNvPr id="3" name="TextBox 3"/>
            <p:cNvSpPr txBox="1"/>
            <p:nvPr/>
          </p:nvSpPr>
          <p:spPr>
            <a:xfrm>
              <a:off x="541020" y="464820"/>
              <a:ext cx="8529218"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Research Method: Hybrid ABM with Opinion Dynamics</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grpSp>
        <p:nvGrpSpPr>
          <p:cNvPr id="11" name="Group 11"/>
          <p:cNvGrpSpPr/>
          <p:nvPr/>
        </p:nvGrpSpPr>
        <p:grpSpPr>
          <a:xfrm>
            <a:off x="3197947" y="1248728"/>
            <a:ext cx="5796105" cy="951547"/>
            <a:chOff x="3197947" y="1248728"/>
            <a:chExt cx="5796105" cy="951547"/>
          </a:xfrm>
        </p:grpSpPr>
        <p:sp>
          <p:nvSpPr>
            <p:cNvPr id="7" name="TextBox 7"/>
            <p:cNvSpPr txBox="1"/>
            <p:nvPr/>
          </p:nvSpPr>
          <p:spPr>
            <a:xfrm>
              <a:off x="4869763" y="1248728"/>
              <a:ext cx="2452473" cy="213360"/>
            </a:xfrm>
            <a:prstGeom prst="rect">
              <a:avLst/>
            </a:prstGeom>
            <a:noFill/>
            <a:ln>
              <a:noFill/>
            </a:ln>
          </p:spPr>
          <p:txBody>
            <a:bodyPr wrap="none" lIns="0" tIns="0" rIns="0" bIns="0" anchor="t" anchorCtr="0">
              <a:spAutoFit/>
            </a:bodyPr>
            <a:lstStyle/>
            <a:p>
              <a:pPr algn="ctr"/>
              <a:r>
                <a:rPr lang="zh-CN" sz="1050" b="1" dirty="0">
                  <a:solidFill>
                    <a:srgbClr val="17324D"/>
                  </a:solidFill>
                  <a:latin typeface="Arial"/>
                  <a:ea typeface="Microsoft YaHei"/>
                  <a:cs typeface="Arial"/>
                </a:rPr>
                <a:t>LLM ROLE 1 · INFORMATION SOURCE</a:t>
              </a:r>
            </a:p>
          </p:txBody>
        </p:sp>
        <p:sp>
          <p:nvSpPr>
            <p:cNvPr id="8" name="TextBox 8"/>
            <p:cNvSpPr txBox="1"/>
            <p:nvPr/>
          </p:nvSpPr>
          <p:spPr>
            <a:xfrm>
              <a:off x="3197947" y="1538764"/>
              <a:ext cx="5796105" cy="259080"/>
            </a:xfrm>
            <a:prstGeom prst="rect">
              <a:avLst/>
            </a:prstGeom>
            <a:noFill/>
            <a:ln>
              <a:noFill/>
            </a:ln>
          </p:spPr>
          <p:txBody>
            <a:bodyPr wrap="none" lIns="0" tIns="0" rIns="0" bIns="0" anchor="t" anchorCtr="0">
              <a:spAutoFit/>
            </a:bodyPr>
            <a:lstStyle/>
            <a:p>
              <a:pPr algn="ctr"/>
              <a:r>
                <a:rPr lang="zh-CN" sz="1275" dirty="0">
                  <a:solidFill>
                    <a:srgbClr val="20262B"/>
                  </a:solidFill>
                  <a:latin typeface="Arial"/>
                  <a:ea typeface="Microsoft YaHei"/>
                  <a:cs typeface="Arial"/>
                </a:rPr>
                <a:t>Policy answers · model, prompt, and routing as treatment conditions</a:t>
              </a:r>
            </a:p>
          </p:txBody>
        </p:sp>
        <p:sp>
          <p:nvSpPr>
            <p:cNvPr id="9" name="Line 9"/>
            <p:cNvSpPr/>
            <p:nvPr/>
          </p:nvSpPr>
          <p:spPr>
            <a:xfrm>
              <a:off x="6096000" y="1828800"/>
              <a:ext cx="9525" cy="276225"/>
            </a:xfrm>
            <a:custGeom>
              <a:avLst/>
              <a:gdLst/>
              <a:ahLst/>
              <a:cxnLst/>
              <a:rect l="l" t="t" r="r" b="b"/>
              <a:pathLst>
                <a:path w="9525" h="276225">
                  <a:moveTo>
                    <a:pt x="0" y="0"/>
                  </a:moveTo>
                  <a:lnTo>
                    <a:pt x="0" y="276225"/>
                  </a:lnTo>
                </a:path>
              </a:pathLst>
            </a:custGeom>
            <a:noFill/>
            <a:ln w="19050">
              <a:solidFill>
                <a:srgbClr val="17324D"/>
              </a:solidFill>
            </a:ln>
          </p:spPr>
        </p:sp>
        <p:sp>
          <p:nvSpPr>
            <p:cNvPr id="10" name="Polygon 10"/>
            <p:cNvSpPr/>
            <p:nvPr/>
          </p:nvSpPr>
          <p:spPr>
            <a:xfrm>
              <a:off x="6038850" y="2085975"/>
              <a:ext cx="114300" cy="114300"/>
            </a:xfrm>
            <a:custGeom>
              <a:avLst/>
              <a:gdLst/>
              <a:ahLst/>
              <a:cxnLst/>
              <a:rect l="l" t="t" r="r" b="b"/>
              <a:pathLst>
                <a:path w="114300" h="114300">
                  <a:moveTo>
                    <a:pt x="57150" y="114300"/>
                  </a:moveTo>
                  <a:lnTo>
                    <a:pt x="0" y="0"/>
                  </a:lnTo>
                  <a:lnTo>
                    <a:pt x="114300" y="0"/>
                  </a:lnTo>
                  <a:close/>
                </a:path>
              </a:pathLst>
            </a:custGeom>
            <a:solidFill>
              <a:srgbClr val="17324D"/>
            </a:solidFill>
            <a:ln>
              <a:noFill/>
            </a:ln>
          </p:spPr>
        </p:sp>
      </p:grpSp>
      <p:grpSp>
        <p:nvGrpSpPr>
          <p:cNvPr id="17" name="Group 17"/>
          <p:cNvGrpSpPr/>
          <p:nvPr/>
        </p:nvGrpSpPr>
        <p:grpSpPr>
          <a:xfrm>
            <a:off x="631508" y="2687002"/>
            <a:ext cx="2530792" cy="1332548"/>
            <a:chOff x="631508" y="2687002"/>
            <a:chExt cx="2530792" cy="1332548"/>
          </a:xfrm>
        </p:grpSpPr>
        <p:sp>
          <p:nvSpPr>
            <p:cNvPr id="12" name="TextBox 12"/>
            <p:cNvSpPr txBox="1"/>
            <p:nvPr/>
          </p:nvSpPr>
          <p:spPr>
            <a:xfrm>
              <a:off x="634365" y="2687002"/>
              <a:ext cx="827920"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HUMAN DATA</a:t>
              </a:r>
            </a:p>
          </p:txBody>
        </p:sp>
        <p:sp>
          <p:nvSpPr>
            <p:cNvPr id="13" name="TextBox 13"/>
            <p:cNvSpPr txBox="1"/>
            <p:nvPr/>
          </p:nvSpPr>
          <p:spPr>
            <a:xfrm>
              <a:off x="631508" y="3005614"/>
              <a:ext cx="2192505" cy="259080"/>
            </a:xfrm>
            <a:prstGeom prst="rect">
              <a:avLst/>
            </a:prstGeom>
            <a:noFill/>
            <a:ln>
              <a:noFill/>
            </a:ln>
          </p:spPr>
          <p:txBody>
            <a:bodyPr wrap="none" lIns="0" tIns="0" rIns="0" bIns="0" anchor="t" anchorCtr="0">
              <a:spAutoFit/>
            </a:bodyPr>
            <a:lstStyle/>
            <a:p>
              <a:pPr algn="l"/>
              <a:r>
                <a:rPr lang="zh-CN" sz="1275" b="1" dirty="0">
                  <a:solidFill>
                    <a:srgbClr val="20262B"/>
                  </a:solidFill>
                  <a:latin typeface="Arial"/>
                  <a:ea typeface="Microsoft YaHei"/>
                  <a:cs typeface="Arial"/>
                </a:rPr>
                <a:t>Surveys and experiments</a:t>
              </a:r>
            </a:p>
          </p:txBody>
        </p:sp>
        <p:sp>
          <p:nvSpPr>
            <p:cNvPr id="14" name="TextBox 14"/>
            <p:cNvSpPr txBox="1"/>
            <p:nvPr/>
          </p:nvSpPr>
          <p:spPr>
            <a:xfrm>
              <a:off x="632460" y="3318510"/>
              <a:ext cx="1783080" cy="701040"/>
            </a:xfrm>
            <a:prstGeom prst="rect">
              <a:avLst/>
            </a:prstGeom>
            <a:noFill/>
            <a:ln>
              <a:noFill/>
            </a:ln>
          </p:spPr>
          <p:txBody>
            <a:bodyPr wrap="square" lIns="0" tIns="0" rIns="0" bIns="0" anchor="t" anchorCtr="0"/>
            <a:lstStyle/>
            <a:p>
              <a:pPr algn="l">
                <a:lnSpc>
                  <a:spcPts val="1800"/>
                </a:lnSpc>
              </a:pPr>
              <a:r>
                <a:rPr lang="zh-CN" sz="1200" dirty="0">
                  <a:solidFill>
                    <a:srgbClr val="20262B"/>
                  </a:solidFill>
                  <a:latin typeface="Arial"/>
                  <a:ea typeface="Microsoft YaHei"/>
                  <a:cs typeface="Arial"/>
                </a:rPr>
                <a:t xml:space="preserve">Population initialization </a:t>
              </a:r>
              <a:r>
                <a:rPr lang="zh-CN" sz="1200" dirty="0">
                  <a:solidFill>
                    <a:srgbClr val="20262B"/>
                  </a:solidFill>
                  <a:latin typeface="Arial"/>
                  <a:ea typeface="Microsoft YaHei"/>
                  <a:cs typeface="Arial"/>
                </a:rPr>
                <a:t xml:space="preserve">Parameter calibration </a:t>
              </a:r>
              <a:r>
                <a:rPr lang="zh-CN" sz="1200" dirty="0">
                  <a:solidFill>
                    <a:srgbClr val="20262B"/>
                  </a:solidFill>
                  <a:latin typeface="Arial"/>
                  <a:ea typeface="Microsoft YaHei"/>
                  <a:cs typeface="Arial"/>
                </a:rPr>
                <a:t>Held-out observations</a:t>
              </a:r>
            </a:p>
          </p:txBody>
        </p:sp>
        <p:sp>
          <p:nvSpPr>
            <p:cNvPr id="15" name="Line 15"/>
            <p:cNvSpPr/>
            <p:nvPr/>
          </p:nvSpPr>
          <p:spPr>
            <a:xfrm>
              <a:off x="2571750" y="3400425"/>
              <a:ext cx="485775" cy="9525"/>
            </a:xfrm>
            <a:custGeom>
              <a:avLst/>
              <a:gdLst/>
              <a:ahLst/>
              <a:cxnLst/>
              <a:rect l="l" t="t" r="r" b="b"/>
              <a:pathLst>
                <a:path w="485775" h="9525">
                  <a:moveTo>
                    <a:pt x="0" y="0"/>
                  </a:moveTo>
                  <a:lnTo>
                    <a:pt x="485775" y="0"/>
                  </a:lnTo>
                </a:path>
              </a:pathLst>
            </a:custGeom>
            <a:noFill/>
            <a:ln w="19050">
              <a:solidFill>
                <a:srgbClr val="17324D"/>
              </a:solidFill>
            </a:ln>
          </p:spPr>
        </p:sp>
        <p:sp>
          <p:nvSpPr>
            <p:cNvPr id="16" name="Polygon 16"/>
            <p:cNvSpPr/>
            <p:nvPr/>
          </p:nvSpPr>
          <p:spPr>
            <a:xfrm>
              <a:off x="3048000" y="3343275"/>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grpSp>
      <p:grpSp>
        <p:nvGrpSpPr>
          <p:cNvPr id="21" name="Group 21"/>
          <p:cNvGrpSpPr/>
          <p:nvPr/>
        </p:nvGrpSpPr>
        <p:grpSpPr>
          <a:xfrm>
            <a:off x="3162300" y="2200275"/>
            <a:ext cx="5867400" cy="2952750"/>
            <a:chOff x="3162300" y="2200275"/>
            <a:chExt cx="5867400" cy="2952750"/>
          </a:xfrm>
        </p:grpSpPr>
        <p:sp>
          <p:nvSpPr>
            <p:cNvPr id="18" name="Rectangle 18"/>
            <p:cNvSpPr/>
            <p:nvPr/>
          </p:nvSpPr>
          <p:spPr>
            <a:xfrm>
              <a:off x="3162300" y="2200275"/>
              <a:ext cx="5867400" cy="2952750"/>
            </a:xfrm>
            <a:prstGeom prst="roundRect">
              <a:avLst>
                <a:gd name="adj" fmla="val 645"/>
              </a:avLst>
            </a:prstGeom>
            <a:solidFill>
              <a:srgbClr val="FFFFFF"/>
            </a:solidFill>
            <a:ln w="19050">
              <a:solidFill>
                <a:srgbClr val="17324D"/>
              </a:solidFill>
            </a:ln>
          </p:spPr>
        </p:sp>
        <p:sp>
          <p:nvSpPr>
            <p:cNvPr id="19" name="TextBox 19"/>
            <p:cNvSpPr txBox="1"/>
            <p:nvPr/>
          </p:nvSpPr>
          <p:spPr>
            <a:xfrm>
              <a:off x="3434715" y="2439352"/>
              <a:ext cx="1268975"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HYBRID ABM GROUP</a:t>
              </a:r>
            </a:p>
          </p:txBody>
        </p:sp>
        <p:sp>
          <p:nvSpPr>
            <p:cNvPr id="20" name="Line 20"/>
            <p:cNvSpPr/>
            <p:nvPr/>
          </p:nvSpPr>
          <p:spPr>
            <a:xfrm>
              <a:off x="6096000" y="2790825"/>
              <a:ext cx="9525" cy="1704975"/>
            </a:xfrm>
            <a:custGeom>
              <a:avLst/>
              <a:gdLst/>
              <a:ahLst/>
              <a:cxnLst/>
              <a:rect l="l" t="t" r="r" b="b"/>
              <a:pathLst>
                <a:path w="9525" h="1704975">
                  <a:moveTo>
                    <a:pt x="0" y="0"/>
                  </a:moveTo>
                  <a:lnTo>
                    <a:pt x="0" y="1704975"/>
                  </a:lnTo>
                </a:path>
              </a:pathLst>
            </a:custGeom>
            <a:noFill/>
            <a:ln w="9525">
              <a:solidFill>
                <a:srgbClr val="D8DEE3"/>
              </a:solidFill>
            </a:ln>
          </p:spPr>
        </p:sp>
      </p:grpSp>
      <p:grpSp>
        <p:nvGrpSpPr>
          <p:cNvPr id="26" name="Group 26"/>
          <p:cNvGrpSpPr/>
          <p:nvPr/>
        </p:nvGrpSpPr>
        <p:grpSpPr>
          <a:xfrm>
            <a:off x="3549777" y="2991802"/>
            <a:ext cx="2158746" cy="1170623"/>
            <a:chOff x="3549777" y="2991802"/>
            <a:chExt cx="2158746" cy="1170623"/>
          </a:xfrm>
        </p:grpSpPr>
        <p:sp>
          <p:nvSpPr>
            <p:cNvPr id="22" name="TextBox 22"/>
            <p:cNvSpPr txBox="1"/>
            <p:nvPr/>
          </p:nvSpPr>
          <p:spPr>
            <a:xfrm>
              <a:off x="4218865" y="2991802"/>
              <a:ext cx="820569" cy="213360"/>
            </a:xfrm>
            <a:prstGeom prst="rect">
              <a:avLst/>
            </a:prstGeom>
            <a:noFill/>
            <a:ln>
              <a:noFill/>
            </a:ln>
          </p:spPr>
          <p:txBody>
            <a:bodyPr wrap="none" lIns="0" tIns="0" rIns="0" bIns="0" anchor="t" anchorCtr="0">
              <a:spAutoFit/>
            </a:bodyPr>
            <a:lstStyle/>
            <a:p>
              <a:pPr algn="ctr"/>
              <a:r>
                <a:rPr lang="zh-CN" sz="1050" b="1" dirty="0">
                  <a:solidFill>
                    <a:srgbClr val="17324D"/>
                  </a:solidFill>
                  <a:latin typeface="Arial"/>
                  <a:ea typeface="Microsoft YaHei"/>
                  <a:cs typeface="Arial"/>
                </a:rPr>
                <a:t>LLM ROLE 2</a:t>
              </a:r>
            </a:p>
          </p:txBody>
        </p:sp>
        <p:sp>
          <p:nvSpPr>
            <p:cNvPr id="23" name="TextBox 23"/>
            <p:cNvSpPr txBox="1"/>
            <p:nvPr/>
          </p:nvSpPr>
          <p:spPr>
            <a:xfrm>
              <a:off x="3732550" y="3278029"/>
              <a:ext cx="1793199" cy="320040"/>
            </a:xfrm>
            <a:prstGeom prst="rect">
              <a:avLst/>
            </a:prstGeom>
            <a:noFill/>
            <a:ln>
              <a:noFill/>
            </a:ln>
          </p:spPr>
          <p:txBody>
            <a:bodyPr wrap="none" lIns="0" tIns="0" rIns="0" bIns="0" anchor="t" anchorCtr="0">
              <a:spAutoFit/>
            </a:bodyPr>
            <a:lstStyle/>
            <a:p>
              <a:pPr algn="ctr"/>
              <a:r>
                <a:rPr lang="zh-CN" sz="1575" b="1" dirty="0">
                  <a:solidFill>
                    <a:srgbClr val="20262B"/>
                  </a:solidFill>
                  <a:latin typeface="Arial"/>
                  <a:ea typeface="Microsoft YaHei"/>
                  <a:cs typeface="Arial"/>
                </a:rPr>
                <a:t>LLM agent nodes</a:t>
              </a:r>
            </a:p>
          </p:txBody>
        </p:sp>
        <p:sp>
          <p:nvSpPr>
            <p:cNvPr id="24" name="TextBox 24"/>
            <p:cNvSpPr txBox="1"/>
            <p:nvPr/>
          </p:nvSpPr>
          <p:spPr>
            <a:xfrm>
              <a:off x="3557778" y="3680460"/>
              <a:ext cx="2142744" cy="243840"/>
            </a:xfrm>
            <a:prstGeom prst="rect">
              <a:avLst/>
            </a:prstGeom>
            <a:noFill/>
            <a:ln>
              <a:noFill/>
            </a:ln>
          </p:spPr>
          <p:txBody>
            <a:bodyPr wrap="none" lIns="0" tIns="0" rIns="0" bIns="0" anchor="t" anchorCtr="0">
              <a:spAutoFit/>
            </a:bodyPr>
            <a:lstStyle/>
            <a:p>
              <a:pPr algn="ctr"/>
              <a:r>
                <a:rPr lang="zh-CN" sz="1200" dirty="0">
                  <a:solidFill>
                    <a:srgbClr val="20262B"/>
                  </a:solidFill>
                  <a:latin typeface="Arial"/>
                  <a:ea typeface="Microsoft YaHei"/>
                  <a:cs typeface="Arial"/>
                </a:rPr>
                <a:t>Natural-language messages</a:t>
              </a:r>
            </a:p>
          </p:txBody>
        </p:sp>
        <p:sp>
          <p:nvSpPr>
            <p:cNvPr id="25" name="TextBox 25"/>
            <p:cNvSpPr txBox="1"/>
            <p:nvPr/>
          </p:nvSpPr>
          <p:spPr>
            <a:xfrm>
              <a:off x="3549777" y="3918585"/>
              <a:ext cx="2158746" cy="243840"/>
            </a:xfrm>
            <a:prstGeom prst="rect">
              <a:avLst/>
            </a:prstGeom>
            <a:noFill/>
            <a:ln>
              <a:noFill/>
            </a:ln>
          </p:spPr>
          <p:txBody>
            <a:bodyPr wrap="none" lIns="0" tIns="0" rIns="0" bIns="0" anchor="t" anchorCtr="0">
              <a:spAutoFit/>
            </a:bodyPr>
            <a:lstStyle/>
            <a:p>
              <a:pPr algn="ctr"/>
              <a:r>
                <a:rPr lang="zh-CN" sz="1200" dirty="0">
                  <a:solidFill>
                    <a:srgbClr val="20262B"/>
                  </a:solidFill>
                  <a:latin typeface="Arial"/>
                  <a:ea typeface="Microsoft YaHei"/>
                  <a:cs typeface="Arial"/>
                </a:rPr>
                <a:t>Structured opinion updates</a:t>
              </a:r>
            </a:p>
          </p:txBody>
        </p:sp>
      </p:grpSp>
      <p:grpSp>
        <p:nvGrpSpPr>
          <p:cNvPr id="31" name="Group 31"/>
          <p:cNvGrpSpPr/>
          <p:nvPr/>
        </p:nvGrpSpPr>
        <p:grpSpPr>
          <a:xfrm>
            <a:off x="5572125" y="3438049"/>
            <a:ext cx="1047750" cy="286226"/>
            <a:chOff x="5572125" y="3438049"/>
            <a:chExt cx="1047750" cy="286226"/>
          </a:xfrm>
        </p:grpSpPr>
        <p:sp>
          <p:nvSpPr>
            <p:cNvPr id="27" name="Line 27"/>
            <p:cNvSpPr/>
            <p:nvPr/>
          </p:nvSpPr>
          <p:spPr>
            <a:xfrm>
              <a:off x="5572125" y="3667125"/>
              <a:ext cx="1047750" cy="9525"/>
            </a:xfrm>
            <a:custGeom>
              <a:avLst/>
              <a:gdLst/>
              <a:ahLst/>
              <a:cxnLst/>
              <a:rect l="l" t="t" r="r" b="b"/>
              <a:pathLst>
                <a:path w="1047750" h="9525">
                  <a:moveTo>
                    <a:pt x="0" y="0"/>
                  </a:moveTo>
                  <a:lnTo>
                    <a:pt x="1047750" y="0"/>
                  </a:lnTo>
                </a:path>
              </a:pathLst>
            </a:custGeom>
            <a:noFill/>
            <a:ln w="19050">
              <a:solidFill>
                <a:srgbClr val="17324D"/>
              </a:solidFill>
            </a:ln>
          </p:spPr>
        </p:sp>
        <p:sp>
          <p:nvSpPr>
            <p:cNvPr id="28" name="Polygon 28"/>
            <p:cNvSpPr/>
            <p:nvPr/>
          </p:nvSpPr>
          <p:spPr>
            <a:xfrm>
              <a:off x="6505575" y="3609975"/>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29" name="Polygon 29"/>
            <p:cNvSpPr/>
            <p:nvPr/>
          </p:nvSpPr>
          <p:spPr>
            <a:xfrm>
              <a:off x="5572125" y="3609975"/>
              <a:ext cx="114300" cy="114300"/>
            </a:xfrm>
            <a:custGeom>
              <a:avLst/>
              <a:gdLst/>
              <a:ahLst/>
              <a:cxnLst/>
              <a:rect l="l" t="t" r="r" b="b"/>
              <a:pathLst>
                <a:path w="114300" h="114300">
                  <a:moveTo>
                    <a:pt x="0" y="57150"/>
                  </a:moveTo>
                  <a:lnTo>
                    <a:pt x="114300" y="0"/>
                  </a:lnTo>
                  <a:lnTo>
                    <a:pt x="114300" y="114300"/>
                  </a:lnTo>
                  <a:close/>
                </a:path>
              </a:pathLst>
            </a:custGeom>
            <a:solidFill>
              <a:srgbClr val="17324D"/>
            </a:solidFill>
            <a:ln>
              <a:noFill/>
            </a:ln>
          </p:spPr>
        </p:sp>
        <p:sp>
          <p:nvSpPr>
            <p:cNvPr id="30" name="TextBox 30"/>
            <p:cNvSpPr txBox="1"/>
            <p:nvPr/>
          </p:nvSpPr>
          <p:spPr>
            <a:xfrm>
              <a:off x="5722822" y="3438049"/>
              <a:ext cx="746355" cy="198120"/>
            </a:xfrm>
            <a:prstGeom prst="rect">
              <a:avLst/>
            </a:prstGeom>
            <a:noFill/>
            <a:ln>
              <a:noFill/>
            </a:ln>
          </p:spPr>
          <p:txBody>
            <a:bodyPr wrap="none" lIns="0" tIns="0" rIns="0" bIns="0" anchor="t" anchorCtr="0">
              <a:spAutoFit/>
            </a:bodyPr>
            <a:lstStyle/>
            <a:p>
              <a:pPr algn="ctr"/>
              <a:r>
                <a:rPr lang="zh-CN" sz="975" dirty="0">
                  <a:solidFill>
                    <a:srgbClr val="7A8792"/>
                  </a:solidFill>
                  <a:latin typeface="Arial"/>
                  <a:ea typeface="Microsoft YaHei"/>
                  <a:cs typeface="Arial"/>
                </a:rPr>
                <a:t>interaction</a:t>
              </a:r>
            </a:p>
          </p:txBody>
        </p:sp>
      </p:grpSp>
      <p:grpSp>
        <p:nvGrpSpPr>
          <p:cNvPr id="36" name="Group 36"/>
          <p:cNvGrpSpPr/>
          <p:nvPr/>
        </p:nvGrpSpPr>
        <p:grpSpPr>
          <a:xfrm>
            <a:off x="6387465" y="2991802"/>
            <a:ext cx="2350770" cy="1170623"/>
            <a:chOff x="6387465" y="2991802"/>
            <a:chExt cx="2350770" cy="1170623"/>
          </a:xfrm>
        </p:grpSpPr>
        <p:sp>
          <p:nvSpPr>
            <p:cNvPr id="32" name="TextBox 32"/>
            <p:cNvSpPr txBox="1"/>
            <p:nvPr/>
          </p:nvSpPr>
          <p:spPr>
            <a:xfrm>
              <a:off x="7038626" y="2991802"/>
              <a:ext cx="1048448" cy="213360"/>
            </a:xfrm>
            <a:prstGeom prst="rect">
              <a:avLst/>
            </a:prstGeom>
            <a:noFill/>
            <a:ln>
              <a:noFill/>
            </a:ln>
          </p:spPr>
          <p:txBody>
            <a:bodyPr wrap="none" lIns="0" tIns="0" rIns="0" bIns="0" anchor="t" anchorCtr="0">
              <a:spAutoFit/>
            </a:bodyPr>
            <a:lstStyle/>
            <a:p>
              <a:pPr algn="ctr"/>
              <a:r>
                <a:rPr lang="zh-CN" sz="1050" b="1" dirty="0">
                  <a:solidFill>
                    <a:srgbClr val="17324D"/>
                  </a:solidFill>
                  <a:latin typeface="Arial"/>
                  <a:ea typeface="Microsoft YaHei"/>
                  <a:cs typeface="Arial"/>
                </a:rPr>
                <a:t>EXPLICIT RULES</a:t>
              </a:r>
            </a:p>
          </p:txBody>
        </p:sp>
        <p:sp>
          <p:nvSpPr>
            <p:cNvPr id="33" name="TextBox 33"/>
            <p:cNvSpPr txBox="1"/>
            <p:nvPr/>
          </p:nvSpPr>
          <p:spPr>
            <a:xfrm>
              <a:off x="6567013" y="3278029"/>
              <a:ext cx="1991674" cy="320040"/>
            </a:xfrm>
            <a:prstGeom prst="rect">
              <a:avLst/>
            </a:prstGeom>
            <a:noFill/>
            <a:ln>
              <a:noFill/>
            </a:ln>
          </p:spPr>
          <p:txBody>
            <a:bodyPr wrap="none" lIns="0" tIns="0" rIns="0" bIns="0" anchor="t" anchorCtr="0">
              <a:spAutoFit/>
            </a:bodyPr>
            <a:lstStyle/>
            <a:p>
              <a:pPr algn="ctr"/>
              <a:r>
                <a:rPr lang="zh-CN" sz="1575" b="1" dirty="0">
                  <a:solidFill>
                    <a:srgbClr val="20262B"/>
                  </a:solidFill>
                  <a:latin typeface="Arial"/>
                  <a:ea typeface="Microsoft YaHei"/>
                  <a:cs typeface="Arial"/>
                </a:rPr>
                <a:t>Rule-based agents</a:t>
              </a:r>
            </a:p>
          </p:txBody>
        </p:sp>
        <p:sp>
          <p:nvSpPr>
            <p:cNvPr id="34" name="TextBox 34"/>
            <p:cNvSpPr txBox="1"/>
            <p:nvPr/>
          </p:nvSpPr>
          <p:spPr>
            <a:xfrm>
              <a:off x="6471476" y="3680460"/>
              <a:ext cx="2182749" cy="243840"/>
            </a:xfrm>
            <a:prstGeom prst="rect">
              <a:avLst/>
            </a:prstGeom>
            <a:noFill/>
            <a:ln>
              <a:noFill/>
            </a:ln>
          </p:spPr>
          <p:txBody>
            <a:bodyPr wrap="none" lIns="0" tIns="0" rIns="0" bIns="0" anchor="t" anchorCtr="0">
              <a:spAutoFit/>
            </a:bodyPr>
            <a:lstStyle/>
            <a:p>
              <a:pPr algn="ctr"/>
              <a:r>
                <a:rPr lang="zh-CN" sz="1200" dirty="0">
                  <a:solidFill>
                    <a:srgbClr val="20262B"/>
                  </a:solidFill>
                  <a:latin typeface="Arial"/>
                  <a:ea typeface="Microsoft YaHei"/>
                  <a:cs typeface="Arial"/>
                </a:rPr>
                <a:t>Opinion-dynamics equations</a:t>
              </a:r>
            </a:p>
          </p:txBody>
        </p:sp>
        <p:sp>
          <p:nvSpPr>
            <p:cNvPr id="35" name="TextBox 35"/>
            <p:cNvSpPr txBox="1"/>
            <p:nvPr/>
          </p:nvSpPr>
          <p:spPr>
            <a:xfrm>
              <a:off x="6387465" y="3918585"/>
              <a:ext cx="2350770" cy="243840"/>
            </a:xfrm>
            <a:prstGeom prst="rect">
              <a:avLst/>
            </a:prstGeom>
            <a:noFill/>
            <a:ln>
              <a:noFill/>
            </a:ln>
          </p:spPr>
          <p:txBody>
            <a:bodyPr wrap="none" lIns="0" tIns="0" rIns="0" bIns="0" anchor="t" anchorCtr="0">
              <a:spAutoFit/>
            </a:bodyPr>
            <a:lstStyle/>
            <a:p>
              <a:pPr algn="ctr"/>
              <a:r>
                <a:rPr lang="zh-CN" sz="1200" dirty="0">
                  <a:solidFill>
                    <a:srgbClr val="20262B"/>
                  </a:solidFill>
                  <a:latin typeface="Arial"/>
                  <a:ea typeface="Microsoft YaHei"/>
                  <a:cs typeface="Arial"/>
                </a:rPr>
                <a:t>Human-calibrated parameters</a:t>
              </a:r>
            </a:p>
          </p:txBody>
        </p:sp>
      </p:grpSp>
      <p:grpSp>
        <p:nvGrpSpPr>
          <p:cNvPr id="39" name="Group 39"/>
          <p:cNvGrpSpPr/>
          <p:nvPr/>
        </p:nvGrpSpPr>
        <p:grpSpPr>
          <a:xfrm>
            <a:off x="3493237" y="4495800"/>
            <a:ext cx="5205527" cy="457200"/>
            <a:chOff x="3493237" y="4495800"/>
            <a:chExt cx="5205527" cy="457200"/>
          </a:xfrm>
        </p:grpSpPr>
        <p:sp>
          <p:nvSpPr>
            <p:cNvPr id="37" name="Line 37"/>
            <p:cNvSpPr/>
            <p:nvPr/>
          </p:nvSpPr>
          <p:spPr>
            <a:xfrm>
              <a:off x="3733800" y="4495800"/>
              <a:ext cx="4724400" cy="9525"/>
            </a:xfrm>
            <a:custGeom>
              <a:avLst/>
              <a:gdLst/>
              <a:ahLst/>
              <a:cxnLst/>
              <a:rect l="l" t="t" r="r" b="b"/>
              <a:pathLst>
                <a:path w="4724400" h="9525">
                  <a:moveTo>
                    <a:pt x="0" y="0"/>
                  </a:moveTo>
                  <a:lnTo>
                    <a:pt x="4724400" y="0"/>
                  </a:lnTo>
                </a:path>
              </a:pathLst>
            </a:custGeom>
            <a:noFill/>
            <a:ln w="9525">
              <a:solidFill>
                <a:srgbClr val="D8DEE3"/>
              </a:solidFill>
            </a:ln>
          </p:spPr>
        </p:sp>
        <p:sp>
          <p:nvSpPr>
            <p:cNvPr id="38" name="TextBox 38"/>
            <p:cNvSpPr txBox="1"/>
            <p:nvPr/>
          </p:nvSpPr>
          <p:spPr>
            <a:xfrm>
              <a:off x="3493237" y="4709160"/>
              <a:ext cx="5205527" cy="243840"/>
            </a:xfrm>
            <a:prstGeom prst="rect">
              <a:avLst/>
            </a:prstGeom>
            <a:noFill/>
            <a:ln>
              <a:noFill/>
            </a:ln>
          </p:spPr>
          <p:txBody>
            <a:bodyPr wrap="none" lIns="0" tIns="0" rIns="0" bIns="0" anchor="t" anchorCtr="0">
              <a:spAutoFit/>
            </a:bodyPr>
            <a:lstStyle/>
            <a:p>
              <a:pPr algn="ctr"/>
              <a:r>
                <a:rPr lang="zh-CN" sz="1200" b="1" dirty="0">
                  <a:solidFill>
                    <a:srgbClr val="17324D"/>
                  </a:solidFill>
                  <a:latin typeface="Arial"/>
                  <a:ea typeface="Microsoft YaHei"/>
                  <a:cs typeface="Arial"/>
                </a:rPr>
                <a:t>Update opinion · share information · advance to the next round</a:t>
              </a:r>
            </a:p>
          </p:txBody>
        </p:sp>
      </p:grpSp>
      <p:grpSp>
        <p:nvGrpSpPr>
          <p:cNvPr id="45" name="Group 45"/>
          <p:cNvGrpSpPr/>
          <p:nvPr/>
        </p:nvGrpSpPr>
        <p:grpSpPr>
          <a:xfrm>
            <a:off x="9029700" y="2687002"/>
            <a:ext cx="2602714" cy="1561148"/>
            <a:chOff x="9029700" y="2687002"/>
            <a:chExt cx="2602714" cy="1561148"/>
          </a:xfrm>
        </p:grpSpPr>
        <p:sp>
          <p:nvSpPr>
            <p:cNvPr id="40" name="Line 40"/>
            <p:cNvSpPr/>
            <p:nvPr/>
          </p:nvSpPr>
          <p:spPr>
            <a:xfrm>
              <a:off x="9029700" y="3400425"/>
              <a:ext cx="466725" cy="9525"/>
            </a:xfrm>
            <a:custGeom>
              <a:avLst/>
              <a:gdLst/>
              <a:ahLst/>
              <a:cxnLst/>
              <a:rect l="l" t="t" r="r" b="b"/>
              <a:pathLst>
                <a:path w="466725" h="9525">
                  <a:moveTo>
                    <a:pt x="0" y="0"/>
                  </a:moveTo>
                  <a:lnTo>
                    <a:pt x="466725" y="0"/>
                  </a:lnTo>
                </a:path>
              </a:pathLst>
            </a:custGeom>
            <a:noFill/>
            <a:ln w="19050">
              <a:solidFill>
                <a:srgbClr val="17324D"/>
              </a:solidFill>
            </a:ln>
          </p:spPr>
        </p:sp>
        <p:sp>
          <p:nvSpPr>
            <p:cNvPr id="41" name="Polygon 41"/>
            <p:cNvSpPr/>
            <p:nvPr/>
          </p:nvSpPr>
          <p:spPr>
            <a:xfrm>
              <a:off x="9486900" y="3343275"/>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42" name="TextBox 42"/>
            <p:cNvSpPr txBox="1"/>
            <p:nvPr/>
          </p:nvSpPr>
          <p:spPr>
            <a:xfrm>
              <a:off x="9835515" y="2687002"/>
              <a:ext cx="791166"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VALIDATION</a:t>
              </a:r>
            </a:p>
          </p:txBody>
        </p:sp>
        <p:sp>
          <p:nvSpPr>
            <p:cNvPr id="43" name="TextBox 43"/>
            <p:cNvSpPr txBox="1"/>
            <p:nvPr/>
          </p:nvSpPr>
          <p:spPr>
            <a:xfrm>
              <a:off x="9832658" y="3005614"/>
              <a:ext cx="1799756" cy="259080"/>
            </a:xfrm>
            <a:prstGeom prst="rect">
              <a:avLst/>
            </a:prstGeom>
            <a:noFill/>
            <a:ln>
              <a:noFill/>
            </a:ln>
          </p:spPr>
          <p:txBody>
            <a:bodyPr wrap="none" lIns="0" tIns="0" rIns="0" bIns="0" anchor="t" anchorCtr="0">
              <a:spAutoFit/>
            </a:bodyPr>
            <a:lstStyle/>
            <a:p>
              <a:pPr algn="l"/>
              <a:r>
                <a:rPr lang="zh-CN" sz="1275" b="1" dirty="0">
                  <a:solidFill>
                    <a:srgbClr val="20262B"/>
                  </a:solidFill>
                  <a:latin typeface="Arial"/>
                  <a:ea typeface="Microsoft YaHei"/>
                  <a:cs typeface="Arial"/>
                </a:rPr>
                <a:t>Compare predictions</a:t>
              </a:r>
            </a:p>
          </p:txBody>
        </p:sp>
        <p:sp>
          <p:nvSpPr>
            <p:cNvPr id="44" name="TextBox 44"/>
            <p:cNvSpPr txBox="1"/>
            <p:nvPr/>
          </p:nvSpPr>
          <p:spPr>
            <a:xfrm>
              <a:off x="9833610" y="3318510"/>
              <a:ext cx="1501140" cy="929640"/>
            </a:xfrm>
            <a:prstGeom prst="rect">
              <a:avLst/>
            </a:prstGeom>
            <a:noFill/>
            <a:ln>
              <a:noFill/>
            </a:ln>
          </p:spPr>
          <p:txBody>
            <a:bodyPr wrap="square" lIns="0" tIns="0" rIns="0" bIns="0" anchor="t" anchorCtr="0"/>
            <a:lstStyle/>
            <a:p>
              <a:pPr algn="l">
                <a:lnSpc>
                  <a:spcPts val="1800"/>
                </a:lnSpc>
              </a:pPr>
              <a:r>
                <a:rPr lang="zh-CN" sz="1200" dirty="0">
                  <a:solidFill>
                    <a:srgbClr val="20262B"/>
                  </a:solidFill>
                  <a:latin typeface="Arial"/>
                  <a:ea typeface="Microsoft YaHei"/>
                  <a:cs typeface="Arial"/>
                </a:rPr>
                <a:t xml:space="preserve">Micro-level updates </a:t>
              </a:r>
              <a:r>
                <a:rPr lang="zh-CN" sz="1200" dirty="0">
                  <a:solidFill>
                    <a:srgbClr val="20262B"/>
                  </a:solidFill>
                  <a:latin typeface="Arial"/>
                  <a:ea typeface="Microsoft YaHei"/>
                  <a:cs typeface="Arial"/>
                </a:rPr>
                <a:t xml:space="preserve">Sharing behavior </a:t>
              </a:r>
              <a:r>
                <a:rPr lang="zh-CN" sz="1200" dirty="0">
                  <a:solidFill>
                    <a:srgbClr val="20262B"/>
                  </a:solidFill>
                  <a:latin typeface="Arial"/>
                  <a:ea typeface="Microsoft YaHei"/>
                  <a:cs typeface="Arial"/>
                </a:rPr>
                <a:t xml:space="preserve">Group distributions </a:t>
              </a:r>
              <a:r>
                <a:rPr lang="zh-CN" sz="1200" dirty="0">
                  <a:solidFill>
                    <a:srgbClr val="20262B"/>
                  </a:solidFill>
                  <a:latin typeface="Arial"/>
                  <a:ea typeface="Microsoft YaHei"/>
                  <a:cs typeface="Arial"/>
                </a:rPr>
                <a:t>Held-out issues</a:t>
              </a:r>
            </a:p>
          </p:txBody>
        </p:sp>
      </p:grpSp>
      <p:grpSp>
        <p:nvGrpSpPr>
          <p:cNvPr id="47" name="Group 47"/>
          <p:cNvGrpSpPr/>
          <p:nvPr/>
        </p:nvGrpSpPr>
        <p:grpSpPr>
          <a:xfrm>
            <a:off x="670560" y="5547360"/>
            <a:ext cx="9540240" cy="472440"/>
            <a:chOff x="670560" y="5547360"/>
            <a:chExt cx="9540240" cy="472440"/>
          </a:xfrm>
        </p:grpSpPr>
        <p:sp>
          <p:nvSpPr>
            <p:cNvPr id="46" name="TextBox 46"/>
            <p:cNvSpPr txBox="1"/>
            <p:nvPr/>
          </p:nvSpPr>
          <p:spPr>
            <a:xfrm>
              <a:off x="670560" y="5547360"/>
              <a:ext cx="9540240" cy="472440"/>
            </a:xfrm>
            <a:prstGeom prst="rect">
              <a:avLst/>
            </a:prstGeom>
            <a:noFill/>
            <a:ln>
              <a:noFill/>
            </a:ln>
          </p:spPr>
          <p:txBody>
            <a:bodyPr wrap="square" lIns="0" tIns="0" rIns="0" bIns="0" anchor="t" anchorCtr="0"/>
            <a:lstStyle/>
            <a:p>
              <a:pPr algn="l">
                <a:lnSpc>
                  <a:spcPts val="1800"/>
                </a:lnSpc>
              </a:pPr>
              <a:r>
                <a:rPr lang="zh-CN" sz="1200" dirty="0">
                  <a:solidFill>
                    <a:srgbClr val="20262B"/>
                  </a:solidFill>
                  <a:latin typeface="Arial"/>
                  <a:ea typeface="Microsoft YaHei"/>
                  <a:cs typeface="Arial"/>
                </a:rPr>
                <a:t xml:space="preserve">The model retains the ABM population, network, time, and interaction environment. Some agents implement message and update </a:t>
              </a:r>
              <a:r>
                <a:rPr lang="zh-CN" sz="1200" dirty="0">
                  <a:solidFill>
                    <a:srgbClr val="20262B"/>
                  </a:solidFill>
                  <a:latin typeface="Arial"/>
                  <a:ea typeface="Microsoft YaHei"/>
                  <a:cs typeface="Arial"/>
                </a:rPr>
                <a:t>functions with an LLM; others use opinion-dynamics equations. Both types share the same input–output interfaces.</a:t>
              </a:r>
            </a:p>
          </p:txBody>
        </p:sp>
      </p:grpSp>
      <p:sp>
        <p:nvSpPr>
          <p:cNvPr id="48" name="TextBox 48"/>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07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400"/>
                                        <p:tgtEl>
                                          <p:spTgt spid="2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slide(fromBottom)">
                                      <p:cBhvr>
                                        <p:cTn id="19" dur="400"/>
                                        <p:tgtEl>
                                          <p:spTgt spid="26"/>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image">
                                      <p:cBhvr>
                                        <p:cTn id="23" dur="400"/>
                                        <p:tgtEl>
                                          <p:spTgt spid="31"/>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400"/>
                                        <p:tgtEl>
                                          <p:spTgt spid="39"/>
                                        </p:tgtEl>
                                      </p:cBhvr>
                                    </p:animEffect>
                                  </p:childTnLst>
                                </p:cTn>
                              </p:par>
                            </p:childTnLst>
                          </p:cTn>
                        </p:par>
                        <p:par>
                          <p:cTn id="28" fill="hold">
                            <p:stCondLst>
                              <p:cond delay="5400"/>
                            </p:stCondLst>
                            <p:childTnLst>
                              <p:par>
                                <p:cTn id="29" presetID="22" presetClass="entr" presetSubtype="1" fill="hold"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400"/>
                                        <p:tgtEl>
                                          <p:spTgt spid="45"/>
                                        </p:tgtEl>
                                      </p:cBhvr>
                                    </p:animEffect>
                                  </p:childTnLst>
                                </p:cTn>
                              </p:par>
                            </p:childTnLst>
                          </p:cTn>
                        </p:par>
                        <p:par>
                          <p:cTn id="32" fill="hold">
                            <p:stCondLst>
                              <p:cond delay="6300"/>
                            </p:stCondLst>
                            <p:childTnLst>
                              <p:par>
                                <p:cTn id="33" presetID="2" presetClass="entr" presetSubtype="4" fill="hold" nodeType="after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slide(fromBottom)">
                                      <p:cBhvr>
                                        <p:cTn id="35"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1" grpId="0"/>
      <p:bldP spid="26" grpId="0"/>
      <p:bldP spid="31" grpId="0"/>
      <p:bldP spid="39" grpId="0"/>
      <p:bldP spid="45" grpId="0"/>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541020" y="305752"/>
            <a:ext cx="11079480" cy="703898"/>
            <a:chOff x="541020" y="305752"/>
            <a:chExt cx="11079480" cy="703898"/>
          </a:xfrm>
        </p:grpSpPr>
        <p:sp>
          <p:nvSpPr>
            <p:cNvPr id="3" name="TextBox 3"/>
            <p:cNvSpPr txBox="1"/>
            <p:nvPr/>
          </p:nvSpPr>
          <p:spPr>
            <a:xfrm>
              <a:off x="558165" y="305752"/>
              <a:ext cx="1261624"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RESEARCH METHOD</a:t>
              </a:r>
            </a:p>
          </p:txBody>
        </p:sp>
        <p:sp>
          <p:nvSpPr>
            <p:cNvPr id="4" name="TextBox 4"/>
            <p:cNvSpPr txBox="1"/>
            <p:nvPr/>
          </p:nvSpPr>
          <p:spPr>
            <a:xfrm>
              <a:off x="541020" y="521970"/>
              <a:ext cx="4446308"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Three Behavioral Functions</a:t>
              </a:r>
            </a:p>
          </p:txBody>
        </p:sp>
        <p:sp>
          <p:nvSpPr>
            <p:cNvPr id="5" name="Line 5"/>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6" name="Rectangle 6"/>
            <p:cNvSpPr/>
            <p:nvPr/>
          </p:nvSpPr>
          <p:spPr>
            <a:xfrm>
              <a:off x="571500" y="952500"/>
              <a:ext cx="1104900" cy="28575"/>
            </a:xfrm>
            <a:prstGeom prst="rect">
              <a:avLst/>
            </a:prstGeom>
            <a:solidFill>
              <a:srgbClr val="17324D"/>
            </a:solidFill>
            <a:ln>
              <a:noFill/>
            </a:ln>
          </p:spPr>
        </p:sp>
      </p:grpSp>
      <p:grpSp>
        <p:nvGrpSpPr>
          <p:cNvPr id="12" name="Group 12"/>
          <p:cNvGrpSpPr/>
          <p:nvPr/>
        </p:nvGrpSpPr>
        <p:grpSpPr>
          <a:xfrm>
            <a:off x="664845" y="1395889"/>
            <a:ext cx="10841355" cy="804386"/>
            <a:chOff x="664845" y="1395889"/>
            <a:chExt cx="10841355" cy="804386"/>
          </a:xfrm>
        </p:grpSpPr>
        <p:sp>
          <p:nvSpPr>
            <p:cNvPr id="8" name="TextBox 8"/>
            <p:cNvSpPr txBox="1"/>
            <p:nvPr/>
          </p:nvSpPr>
          <p:spPr>
            <a:xfrm>
              <a:off x="664845" y="1441132"/>
              <a:ext cx="2398405" cy="335280"/>
            </a:xfrm>
            <a:prstGeom prst="rect">
              <a:avLst/>
            </a:prstGeom>
            <a:noFill/>
            <a:ln>
              <a:noFill/>
            </a:ln>
          </p:spPr>
          <p:txBody>
            <a:bodyPr wrap="none" lIns="0" tIns="0" rIns="0" bIns="0" anchor="t" anchorCtr="0">
              <a:spAutoFit/>
            </a:bodyPr>
            <a:lstStyle/>
            <a:p>
              <a:pPr algn="l"/>
              <a:r>
                <a:rPr lang="zh-CN" sz="1650" b="1" dirty="0">
                  <a:solidFill>
                    <a:srgbClr val="17324D"/>
                  </a:solidFill>
                  <a:latin typeface="Arial"/>
                  <a:ea typeface="Microsoft YaHei"/>
                  <a:cs typeface="Arial"/>
                </a:rPr>
                <a:t>1 · Message function</a:t>
              </a:r>
            </a:p>
          </p:txBody>
        </p:sp>
        <p:pic>
          <p:nvPicPr>
            <p:cNvPr id="9" name="Image 9"/>
            <p:cNvPicPr>
              <a:picLocks noChangeAspect="1"/>
            </p:cNvPicPr>
            <p:nvPr/>
          </p:nvPicPr>
          <p:blipFill>
            <a:blip r:embed="rId2"/>
            <a:stretch>
              <a:fillRect/>
            </a:stretch>
          </p:blipFill>
          <p:spPr>
            <a:xfrm>
              <a:off x="2952750" y="1477895"/>
              <a:ext cx="3905250" cy="320810"/>
            </a:xfrm>
            <a:prstGeom prst="rect">
              <a:avLst/>
            </a:prstGeom>
          </p:spPr>
        </p:pic>
        <p:sp>
          <p:nvSpPr>
            <p:cNvPr id="10" name="TextBox 10"/>
            <p:cNvSpPr txBox="1"/>
            <p:nvPr/>
          </p:nvSpPr>
          <p:spPr>
            <a:xfrm>
              <a:off x="7318058" y="1395889"/>
              <a:ext cx="4031933" cy="497205"/>
            </a:xfrm>
            <a:prstGeom prst="rect">
              <a:avLst/>
            </a:prstGeom>
            <a:noFill/>
            <a:ln>
              <a:noFill/>
            </a:ln>
          </p:spPr>
          <p:txBody>
            <a:bodyPr wrap="square" lIns="0" tIns="0" rIns="0" bIns="0" anchor="t" anchorCtr="0"/>
            <a:lstStyle/>
            <a:p>
              <a:pPr algn="l">
                <a:lnSpc>
                  <a:spcPts val="1875"/>
                </a:lnSpc>
              </a:pPr>
              <a:r>
                <a:rPr lang="zh-CN" sz="1275" dirty="0">
                  <a:solidFill>
                    <a:srgbClr val="20262B"/>
                  </a:solidFill>
                  <a:latin typeface="Arial"/>
                  <a:ea typeface="Microsoft YaHei"/>
                  <a:cs typeface="Arial"/>
                </a:rPr>
                <a:t xml:space="preserve">Determines how an agent’s current state becomes </a:t>
              </a:r>
              <a:r>
                <a:rPr lang="zh-CN" sz="1275" dirty="0">
                  <a:solidFill>
                    <a:srgbClr val="20262B"/>
                  </a:solidFill>
                  <a:latin typeface="Arial"/>
                  <a:ea typeface="Microsoft YaHei"/>
                  <a:cs typeface="Arial"/>
                </a:rPr>
                <a:t>a transmissible natural-language message.</a:t>
              </a:r>
            </a:p>
          </p:txBody>
        </p:sp>
        <p:sp>
          <p:nvSpPr>
            <p:cNvPr id="11" name="Line 11"/>
            <p:cNvSpPr/>
            <p:nvPr/>
          </p:nvSpPr>
          <p:spPr>
            <a:xfrm>
              <a:off x="685800" y="2190750"/>
              <a:ext cx="10820400" cy="9525"/>
            </a:xfrm>
            <a:custGeom>
              <a:avLst/>
              <a:gdLst/>
              <a:ahLst/>
              <a:cxnLst/>
              <a:rect l="l" t="t" r="r" b="b"/>
              <a:pathLst>
                <a:path w="10820400" h="9525">
                  <a:moveTo>
                    <a:pt x="0" y="0"/>
                  </a:moveTo>
                  <a:lnTo>
                    <a:pt x="10820400" y="0"/>
                  </a:lnTo>
                </a:path>
              </a:pathLst>
            </a:custGeom>
            <a:noFill/>
            <a:ln w="9525">
              <a:solidFill>
                <a:srgbClr val="D8DEE3"/>
              </a:solidFill>
            </a:ln>
          </p:spPr>
        </p:sp>
      </p:grpSp>
      <p:grpSp>
        <p:nvGrpSpPr>
          <p:cNvPr id="17" name="Group 17"/>
          <p:cNvGrpSpPr/>
          <p:nvPr/>
        </p:nvGrpSpPr>
        <p:grpSpPr>
          <a:xfrm>
            <a:off x="664845" y="2653189"/>
            <a:ext cx="10841355" cy="804386"/>
            <a:chOff x="664845" y="2653189"/>
            <a:chExt cx="10841355" cy="804386"/>
          </a:xfrm>
        </p:grpSpPr>
        <p:sp>
          <p:nvSpPr>
            <p:cNvPr id="13" name="TextBox 13"/>
            <p:cNvSpPr txBox="1"/>
            <p:nvPr/>
          </p:nvSpPr>
          <p:spPr>
            <a:xfrm>
              <a:off x="664845" y="2698432"/>
              <a:ext cx="2490816" cy="335280"/>
            </a:xfrm>
            <a:prstGeom prst="rect">
              <a:avLst/>
            </a:prstGeom>
            <a:noFill/>
            <a:ln>
              <a:noFill/>
            </a:ln>
          </p:spPr>
          <p:txBody>
            <a:bodyPr wrap="none" lIns="0" tIns="0" rIns="0" bIns="0" anchor="t" anchorCtr="0">
              <a:spAutoFit/>
            </a:bodyPr>
            <a:lstStyle/>
            <a:p>
              <a:pPr algn="l"/>
              <a:r>
                <a:rPr lang="zh-CN" sz="1650" b="1" dirty="0">
                  <a:solidFill>
                    <a:srgbClr val="17324D"/>
                  </a:solidFill>
                  <a:latin typeface="Arial"/>
                  <a:ea typeface="Microsoft YaHei"/>
                  <a:cs typeface="Arial"/>
                </a:rPr>
                <a:t>2 · Selection function</a:t>
              </a:r>
            </a:p>
          </p:txBody>
        </p:sp>
        <p:pic>
          <p:nvPicPr>
            <p:cNvPr id="14" name="Image 14"/>
            <p:cNvPicPr>
              <a:picLocks noChangeAspect="1"/>
            </p:cNvPicPr>
            <p:nvPr/>
          </p:nvPicPr>
          <p:blipFill>
            <a:blip r:embed="rId3"/>
            <a:stretch>
              <a:fillRect/>
            </a:stretch>
          </p:blipFill>
          <p:spPr>
            <a:xfrm>
              <a:off x="2952750" y="2736141"/>
              <a:ext cx="3905250" cy="318919"/>
            </a:xfrm>
            <a:prstGeom prst="rect">
              <a:avLst/>
            </a:prstGeom>
          </p:spPr>
        </p:pic>
        <p:sp>
          <p:nvSpPr>
            <p:cNvPr id="15" name="TextBox 15"/>
            <p:cNvSpPr txBox="1"/>
            <p:nvPr/>
          </p:nvSpPr>
          <p:spPr>
            <a:xfrm>
              <a:off x="7318058" y="2653189"/>
              <a:ext cx="3675698" cy="497205"/>
            </a:xfrm>
            <a:prstGeom prst="rect">
              <a:avLst/>
            </a:prstGeom>
            <a:noFill/>
            <a:ln>
              <a:noFill/>
            </a:ln>
          </p:spPr>
          <p:txBody>
            <a:bodyPr wrap="square" lIns="0" tIns="0" rIns="0" bIns="0" anchor="t" anchorCtr="0"/>
            <a:lstStyle/>
            <a:p>
              <a:pPr algn="l">
                <a:lnSpc>
                  <a:spcPts val="1875"/>
                </a:lnSpc>
              </a:pPr>
              <a:r>
                <a:rPr lang="zh-CN" sz="1275" dirty="0">
                  <a:solidFill>
                    <a:srgbClr val="20262B"/>
                  </a:solidFill>
                  <a:latin typeface="Arial"/>
                  <a:ea typeface="Microsoft YaHei"/>
                  <a:cs typeface="Arial"/>
                </a:rPr>
                <a:t xml:space="preserve">Determines which sources and messages enter </a:t>
              </a:r>
              <a:r>
                <a:rPr lang="zh-CN" sz="1275" dirty="0">
                  <a:solidFill>
                    <a:srgbClr val="20262B"/>
                  </a:solidFill>
                  <a:latin typeface="Arial"/>
                  <a:ea typeface="Microsoft YaHei"/>
                  <a:cs typeface="Arial"/>
                </a:rPr>
                <a:t>the agent’s actual exposure set.</a:t>
              </a:r>
            </a:p>
          </p:txBody>
        </p:sp>
        <p:sp>
          <p:nvSpPr>
            <p:cNvPr id="16" name="Line 16"/>
            <p:cNvSpPr/>
            <p:nvPr/>
          </p:nvSpPr>
          <p:spPr>
            <a:xfrm>
              <a:off x="685800" y="3448050"/>
              <a:ext cx="10820400" cy="9525"/>
            </a:xfrm>
            <a:custGeom>
              <a:avLst/>
              <a:gdLst/>
              <a:ahLst/>
              <a:cxnLst/>
              <a:rect l="l" t="t" r="r" b="b"/>
              <a:pathLst>
                <a:path w="10820400" h="9525">
                  <a:moveTo>
                    <a:pt x="0" y="0"/>
                  </a:moveTo>
                  <a:lnTo>
                    <a:pt x="10820400" y="0"/>
                  </a:lnTo>
                </a:path>
              </a:pathLst>
            </a:custGeom>
            <a:noFill/>
            <a:ln w="9525">
              <a:solidFill>
                <a:srgbClr val="D8DEE3"/>
              </a:solidFill>
            </a:ln>
          </p:spPr>
        </p:sp>
      </p:grpSp>
      <p:grpSp>
        <p:nvGrpSpPr>
          <p:cNvPr id="22" name="Group 22"/>
          <p:cNvGrpSpPr/>
          <p:nvPr/>
        </p:nvGrpSpPr>
        <p:grpSpPr>
          <a:xfrm>
            <a:off x="664845" y="3910489"/>
            <a:ext cx="10841355" cy="804386"/>
            <a:chOff x="664845" y="3910489"/>
            <a:chExt cx="10841355" cy="804386"/>
          </a:xfrm>
        </p:grpSpPr>
        <p:sp>
          <p:nvSpPr>
            <p:cNvPr id="18" name="TextBox 18"/>
            <p:cNvSpPr txBox="1"/>
            <p:nvPr/>
          </p:nvSpPr>
          <p:spPr>
            <a:xfrm>
              <a:off x="664845" y="3955732"/>
              <a:ext cx="2225133" cy="335280"/>
            </a:xfrm>
            <a:prstGeom prst="rect">
              <a:avLst/>
            </a:prstGeom>
            <a:noFill/>
            <a:ln>
              <a:noFill/>
            </a:ln>
          </p:spPr>
          <p:txBody>
            <a:bodyPr wrap="none" lIns="0" tIns="0" rIns="0" bIns="0" anchor="t" anchorCtr="0">
              <a:spAutoFit/>
            </a:bodyPr>
            <a:lstStyle/>
            <a:p>
              <a:pPr algn="l"/>
              <a:r>
                <a:rPr lang="zh-CN" sz="1650" b="1" dirty="0">
                  <a:solidFill>
                    <a:srgbClr val="17324D"/>
                  </a:solidFill>
                  <a:latin typeface="Arial"/>
                  <a:ea typeface="Microsoft YaHei"/>
                  <a:cs typeface="Arial"/>
                </a:rPr>
                <a:t>3 · Update function</a:t>
              </a:r>
            </a:p>
          </p:txBody>
        </p:sp>
        <p:pic>
          <p:nvPicPr>
            <p:cNvPr id="19" name="Image 19"/>
            <p:cNvPicPr>
              <a:picLocks noChangeAspect="1"/>
            </p:cNvPicPr>
            <p:nvPr/>
          </p:nvPicPr>
          <p:blipFill>
            <a:blip r:embed="rId4"/>
            <a:stretch>
              <a:fillRect/>
            </a:stretch>
          </p:blipFill>
          <p:spPr>
            <a:xfrm>
              <a:off x="2800350" y="4029486"/>
              <a:ext cx="4210050" cy="246828"/>
            </a:xfrm>
            <a:prstGeom prst="rect">
              <a:avLst/>
            </a:prstGeom>
          </p:spPr>
        </p:pic>
        <p:sp>
          <p:nvSpPr>
            <p:cNvPr id="20" name="TextBox 20"/>
            <p:cNvSpPr txBox="1"/>
            <p:nvPr/>
          </p:nvSpPr>
          <p:spPr>
            <a:xfrm>
              <a:off x="7318058" y="3910489"/>
              <a:ext cx="3886200" cy="497205"/>
            </a:xfrm>
            <a:prstGeom prst="rect">
              <a:avLst/>
            </a:prstGeom>
            <a:noFill/>
            <a:ln>
              <a:noFill/>
            </a:ln>
          </p:spPr>
          <p:txBody>
            <a:bodyPr wrap="square" lIns="0" tIns="0" rIns="0" bIns="0" anchor="t" anchorCtr="0"/>
            <a:lstStyle/>
            <a:p>
              <a:pPr algn="l">
                <a:lnSpc>
                  <a:spcPts val="1875"/>
                </a:lnSpc>
              </a:pPr>
              <a:r>
                <a:rPr lang="zh-CN" sz="1275" dirty="0">
                  <a:solidFill>
                    <a:srgbClr val="20262B"/>
                  </a:solidFill>
                  <a:latin typeface="Arial"/>
                  <a:ea typeface="Microsoft YaHei"/>
                  <a:cs typeface="Arial"/>
                </a:rPr>
                <a:t xml:space="preserve">Determines the agent’s next opinion state after </a:t>
              </a:r>
              <a:r>
                <a:rPr lang="zh-CN" sz="1275" dirty="0">
                  <a:solidFill>
                    <a:srgbClr val="20262B"/>
                  </a:solidFill>
                  <a:latin typeface="Arial"/>
                  <a:ea typeface="Microsoft YaHei"/>
                  <a:cs typeface="Arial"/>
                </a:rPr>
                <a:t>receiving the selected messages.</a:t>
              </a:r>
            </a:p>
          </p:txBody>
        </p:sp>
        <p:sp>
          <p:nvSpPr>
            <p:cNvPr id="21" name="Line 21"/>
            <p:cNvSpPr/>
            <p:nvPr/>
          </p:nvSpPr>
          <p:spPr>
            <a:xfrm>
              <a:off x="685800" y="4705350"/>
              <a:ext cx="10820400" cy="9525"/>
            </a:xfrm>
            <a:custGeom>
              <a:avLst/>
              <a:gdLst/>
              <a:ahLst/>
              <a:cxnLst/>
              <a:rect l="l" t="t" r="r" b="b"/>
              <a:pathLst>
                <a:path w="10820400" h="9525">
                  <a:moveTo>
                    <a:pt x="0" y="0"/>
                  </a:moveTo>
                  <a:lnTo>
                    <a:pt x="10820400" y="0"/>
                  </a:lnTo>
                </a:path>
              </a:pathLst>
            </a:custGeom>
            <a:noFill/>
            <a:ln w="9525">
              <a:solidFill>
                <a:srgbClr val="D8DEE3"/>
              </a:solidFill>
            </a:ln>
          </p:spPr>
        </p:sp>
      </p:grpSp>
      <p:grpSp>
        <p:nvGrpSpPr>
          <p:cNvPr id="25" name="Group 25"/>
          <p:cNvGrpSpPr/>
          <p:nvPr/>
        </p:nvGrpSpPr>
        <p:grpSpPr>
          <a:xfrm>
            <a:off x="670560" y="5049202"/>
            <a:ext cx="8359140" cy="808673"/>
            <a:chOff x="670560" y="5049202"/>
            <a:chExt cx="8359140" cy="808673"/>
          </a:xfrm>
        </p:grpSpPr>
        <p:sp>
          <p:nvSpPr>
            <p:cNvPr id="23" name="TextBox 23"/>
            <p:cNvSpPr txBox="1"/>
            <p:nvPr/>
          </p:nvSpPr>
          <p:spPr>
            <a:xfrm>
              <a:off x="672465" y="5049202"/>
              <a:ext cx="1673276" cy="213360"/>
            </a:xfrm>
            <a:prstGeom prst="rect">
              <a:avLst/>
            </a:prstGeom>
            <a:noFill/>
            <a:ln>
              <a:noFill/>
            </a:ln>
          </p:spPr>
          <p:txBody>
            <a:bodyPr wrap="none" lIns="0" tIns="0" rIns="0" bIns="0" anchor="t" anchorCtr="0">
              <a:spAutoFit/>
            </a:bodyPr>
            <a:lstStyle/>
            <a:p>
              <a:pPr algn="l"/>
              <a:r>
                <a:rPr lang="zh-CN" sz="1050" b="1" dirty="0">
                  <a:solidFill>
                    <a:srgbClr val="17324D"/>
                  </a:solidFill>
                  <a:latin typeface="Arial"/>
                  <a:ea typeface="Microsoft YaHei"/>
                  <a:cs typeface="Arial"/>
                </a:rPr>
                <a:t>STATE AND ENVIRONMENT</a:t>
              </a:r>
            </a:p>
          </p:txBody>
        </p:sp>
        <p:sp>
          <p:nvSpPr>
            <p:cNvPr id="24" name="TextBox 24"/>
            <p:cNvSpPr txBox="1"/>
            <p:nvPr/>
          </p:nvSpPr>
          <p:spPr>
            <a:xfrm>
              <a:off x="670560" y="5385435"/>
              <a:ext cx="8359140" cy="472440"/>
            </a:xfrm>
            <a:prstGeom prst="rect">
              <a:avLst/>
            </a:prstGeom>
            <a:noFill/>
            <a:ln>
              <a:noFill/>
            </a:ln>
          </p:spPr>
          <p:txBody>
            <a:bodyPr wrap="square" lIns="0" tIns="0" rIns="0" bIns="0" anchor="t" anchorCtr="0"/>
            <a:lstStyle/>
            <a:p>
              <a:pPr algn="l">
                <a:lnSpc>
                  <a:spcPts val="1800"/>
                </a:lnSpc>
              </a:pPr>
              <a:r>
                <a:rPr lang="zh-CN" sz="1200" dirty="0">
                  <a:solidFill>
                    <a:srgbClr val="20262B"/>
                  </a:solidFill>
                  <a:latin typeface="Arial"/>
                  <a:ea typeface="Microsoft YaHei"/>
                  <a:cs typeface="Arial"/>
                </a:rPr>
                <a:t xml:space="preserve">The inputs encode the current opinion state, human-data-supported individual attributes, interaction history, </a:t>
              </a:r>
              <a:r>
                <a:rPr lang="zh-CN" sz="1200" dirty="0">
                  <a:solidFill>
                    <a:srgbClr val="20262B"/>
                  </a:solidFill>
                  <a:latin typeface="Arial"/>
                  <a:ea typeface="Microsoft YaHei"/>
                  <a:cs typeface="Arial"/>
                </a:rPr>
                <a:t>the external information environment, the network, and the sources that enter the current exposure set.</a:t>
              </a:r>
            </a:p>
          </p:txBody>
        </p:sp>
      </p:grpSp>
      <p:grpSp>
        <p:nvGrpSpPr>
          <p:cNvPr id="27" name="Group 27"/>
          <p:cNvGrpSpPr/>
          <p:nvPr/>
        </p:nvGrpSpPr>
        <p:grpSpPr>
          <a:xfrm>
            <a:off x="672465" y="5963602"/>
            <a:ext cx="3967162" cy="403860"/>
            <a:chOff x="672465" y="5963602"/>
            <a:chExt cx="3967162" cy="403860"/>
          </a:xfrm>
        </p:grpSpPr>
        <p:sp>
          <p:nvSpPr>
            <p:cNvPr id="26" name="TextBox 26"/>
            <p:cNvSpPr txBox="1"/>
            <p:nvPr/>
          </p:nvSpPr>
          <p:spPr>
            <a:xfrm>
              <a:off x="672465" y="5963602"/>
              <a:ext cx="3967162" cy="403860"/>
            </a:xfrm>
            <a:prstGeom prst="rect">
              <a:avLst/>
            </a:prstGeom>
            <a:noFill/>
            <a:ln>
              <a:noFill/>
            </a:ln>
          </p:spPr>
          <p:txBody>
            <a:bodyPr wrap="square" lIns="0" tIns="0" rIns="0" bIns="0" anchor="t" anchorCtr="0"/>
            <a:lstStyle/>
            <a:p>
              <a:pPr algn="l">
                <a:lnSpc>
                  <a:spcPts val="1500"/>
                </a:lnSpc>
              </a:pPr>
              <a:r>
                <a:rPr lang="zh-CN" sz="1050" dirty="0">
                  <a:solidFill>
                    <a:srgbClr val="7A8792"/>
                  </a:solidFill>
                  <a:latin typeface="Arial"/>
                  <a:ea typeface="Microsoft YaHei"/>
                  <a:cs typeface="Arial"/>
                </a:rPr>
                <a:t xml:space="preserve">LLM–ABM integration occurs at these behavioral interfaces; </a:t>
              </a:r>
              <a:r>
                <a:rPr lang="zh-CN" sz="1050" dirty="0">
                  <a:solidFill>
                    <a:srgbClr val="7A8792"/>
                  </a:solidFill>
                  <a:latin typeface="Arial"/>
                  <a:ea typeface="Microsoft YaHei"/>
                  <a:cs typeface="Arial"/>
                </a:rPr>
                <a:t>the update function is the primary link to opinion evolution.</a:t>
              </a:r>
            </a:p>
          </p:txBody>
        </p:sp>
      </p:grpSp>
      <p:sp>
        <p:nvSpPr>
          <p:cNvPr id="28" name="TextBox 28"/>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08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image">
                                      <p:cBhvr>
                                        <p:cTn id="7" dur="400"/>
                                        <p:tgtEl>
                                          <p:spTgt spid="1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400"/>
                                        <p:tgtEl>
                                          <p:spTgt spid="22"/>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slide(fromBottom)">
                                      <p:cBhvr>
                                        <p:cTn id="19" dur="400"/>
                                        <p:tgtEl>
                                          <p:spTgt spid="2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2" grpId="0"/>
      <p:bldP spid="25"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1079480" cy="516255"/>
            <a:chOff x="541020" y="464820"/>
            <a:chExt cx="11079480" cy="516255"/>
          </a:xfrm>
        </p:grpSpPr>
        <p:sp>
          <p:nvSpPr>
            <p:cNvPr id="3" name="TextBox 3"/>
            <p:cNvSpPr txBox="1"/>
            <p:nvPr/>
          </p:nvSpPr>
          <p:spPr>
            <a:xfrm>
              <a:off x="541020" y="464820"/>
              <a:ext cx="9184500"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Testing the Three SQs Through the Behavioral Functions</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grpSp>
        <p:nvGrpSpPr>
          <p:cNvPr id="13" name="Group 13"/>
          <p:cNvGrpSpPr/>
          <p:nvPr/>
        </p:nvGrpSpPr>
        <p:grpSpPr>
          <a:xfrm>
            <a:off x="685800" y="1276350"/>
            <a:ext cx="10820400" cy="1457325"/>
            <a:chOff x="685800" y="1276350"/>
            <a:chExt cx="10820400" cy="1457325"/>
          </a:xfrm>
        </p:grpSpPr>
        <p:sp>
          <p:nvSpPr>
            <p:cNvPr id="7" name="Line 7"/>
            <p:cNvSpPr/>
            <p:nvPr/>
          </p:nvSpPr>
          <p:spPr>
            <a:xfrm>
              <a:off x="685800" y="1276350"/>
              <a:ext cx="9525" cy="1295400"/>
            </a:xfrm>
            <a:custGeom>
              <a:avLst/>
              <a:gdLst/>
              <a:ahLst/>
              <a:cxnLst/>
              <a:rect l="l" t="t" r="r" b="b"/>
              <a:pathLst>
                <a:path w="9525" h="1295400">
                  <a:moveTo>
                    <a:pt x="0" y="0"/>
                  </a:moveTo>
                  <a:lnTo>
                    <a:pt x="0" y="1295400"/>
                  </a:lnTo>
                </a:path>
              </a:pathLst>
            </a:custGeom>
            <a:noFill/>
            <a:ln w="28575">
              <a:solidFill>
                <a:srgbClr val="17324D"/>
              </a:solidFill>
            </a:ln>
          </p:spPr>
        </p:sp>
        <p:sp>
          <p:nvSpPr>
            <p:cNvPr id="8" name="TextBox 8"/>
            <p:cNvSpPr txBox="1"/>
            <p:nvPr/>
          </p:nvSpPr>
          <p:spPr>
            <a:xfrm>
              <a:off x="873442" y="1299686"/>
              <a:ext cx="490646" cy="350520"/>
            </a:xfrm>
            <a:prstGeom prst="rect">
              <a:avLst/>
            </a:prstGeom>
            <a:noFill/>
            <a:ln>
              <a:noFill/>
            </a:ln>
          </p:spPr>
          <p:txBody>
            <a:bodyPr wrap="none" lIns="0" tIns="0" rIns="0" bIns="0" anchor="t" anchorCtr="0">
              <a:spAutoFit/>
            </a:bodyPr>
            <a:lstStyle/>
            <a:p>
              <a:pPr algn="l"/>
              <a:r>
                <a:rPr lang="zh-CN" sz="1725" b="1" dirty="0">
                  <a:solidFill>
                    <a:srgbClr val="17324D"/>
                  </a:solidFill>
                  <a:latin typeface="Arial"/>
                  <a:ea typeface="Microsoft YaHei"/>
                  <a:cs typeface="Arial"/>
                </a:rPr>
                <a:t>SQ1</a:t>
              </a:r>
            </a:p>
          </p:txBody>
        </p:sp>
        <p:sp>
          <p:nvSpPr>
            <p:cNvPr id="9" name="TextBox 9"/>
            <p:cNvSpPr txBox="1"/>
            <p:nvPr/>
          </p:nvSpPr>
          <p:spPr>
            <a:xfrm>
              <a:off x="1563052" y="1313021"/>
              <a:ext cx="5712679"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Does the LLM change the message and selection functions?</a:t>
              </a:r>
            </a:p>
          </p:txBody>
        </p:sp>
        <p:sp>
          <p:nvSpPr>
            <p:cNvPr id="10" name="TextBox 10"/>
            <p:cNvSpPr txBox="1"/>
            <p:nvPr/>
          </p:nvSpPr>
          <p:spPr>
            <a:xfrm>
              <a:off x="1566862" y="1688306"/>
              <a:ext cx="5343525" cy="666750"/>
            </a:xfrm>
            <a:prstGeom prst="rect">
              <a:avLst/>
            </a:prstGeom>
            <a:noFill/>
            <a:ln>
              <a:noFill/>
            </a:ln>
          </p:spPr>
          <p:txBody>
            <a:bodyPr wrap="square" lIns="0" tIns="0" rIns="0" bIns="0" anchor="t" anchorCtr="0"/>
            <a:lstStyle/>
            <a:p>
              <a:pPr algn="l">
                <a:lnSpc>
                  <a:spcPts val="1725"/>
                </a:lnSpc>
              </a:pPr>
              <a:r>
                <a:rPr lang="zh-CN" sz="1125" b="1" dirty="0">
                  <a:solidFill>
                    <a:srgbClr val="20262B"/>
                  </a:solidFill>
                  <a:latin typeface="Arial"/>
                  <a:ea typeface="Microsoft YaHei"/>
                  <a:cs typeface="Arial"/>
                </a:rPr>
                <a:t>Comparison:</a:t>
              </a:r>
              <a:r>
                <a:rPr lang="zh-CN" sz="1125" dirty="0">
                  <a:solidFill>
                    <a:srgbClr val="20262B"/>
                  </a:solidFill>
                  <a:latin typeface="Arial"/>
                  <a:ea typeface="Microsoft YaHei"/>
                  <a:cs typeface="Arial"/>
                </a:rPr>
                <a:t xml:space="preserve"> human-information baseline versus shared LLM. </a:t>
              </a:r>
              <a:r>
                <a:rPr lang="zh-CN" sz="1125" b="1" dirty="0">
                  <a:solidFill>
                    <a:srgbClr val="20262B"/>
                  </a:solidFill>
                  <a:latin typeface="Arial"/>
                  <a:ea typeface="Microsoft YaHei"/>
                  <a:cs typeface="Arial"/>
                </a:rPr>
                <a:t>Observe:</a:t>
              </a:r>
              <a:r>
                <a:rPr lang="zh-CN" sz="1125" dirty="0">
                  <a:solidFill>
                    <a:srgbClr val="20262B"/>
                  </a:solidFill>
                  <a:latin typeface="Arial"/>
                  <a:ea typeface="Microsoft YaHei"/>
                  <a:cs typeface="Arial"/>
                </a:rPr>
                <a:t xml:space="preserve"> stance, claims, sources, message overlap, and exposure overlap; </a:t>
              </a:r>
              <a:r>
                <a:rPr lang="zh-CN" sz="1125" dirty="0">
                  <a:solidFill>
                    <a:srgbClr val="20262B"/>
                  </a:solidFill>
                  <a:latin typeface="Arial"/>
                  <a:ea typeface="Microsoft YaHei"/>
                  <a:cs typeface="Arial"/>
                </a:rPr>
                <a:t>selection, sharing, and diffusion paths.</a:t>
              </a:r>
            </a:p>
          </p:txBody>
        </p:sp>
        <p:pic>
          <p:nvPicPr>
            <p:cNvPr id="11" name="Image 11"/>
            <p:cNvPicPr>
              <a:picLocks noChangeAspect="1"/>
            </p:cNvPicPr>
            <p:nvPr/>
          </p:nvPicPr>
          <p:blipFill>
            <a:blip r:embed="rId2"/>
            <a:stretch>
              <a:fillRect/>
            </a:stretch>
          </p:blipFill>
          <p:spPr>
            <a:xfrm>
              <a:off x="6972300" y="2049769"/>
              <a:ext cx="4095750" cy="301013"/>
            </a:xfrm>
            <a:prstGeom prst="rect">
              <a:avLst/>
            </a:prstGeom>
          </p:spPr>
        </p:pic>
        <p:sp>
          <p:nvSpPr>
            <p:cNvPr id="12" name="Line 12"/>
            <p:cNvSpPr/>
            <p:nvPr/>
          </p:nvSpPr>
          <p:spPr>
            <a:xfrm>
              <a:off x="895350" y="2724150"/>
              <a:ext cx="10610850" cy="9525"/>
            </a:xfrm>
            <a:custGeom>
              <a:avLst/>
              <a:gdLst/>
              <a:ahLst/>
              <a:cxnLst/>
              <a:rect l="l" t="t" r="r" b="b"/>
              <a:pathLst>
                <a:path w="10610850" h="9525">
                  <a:moveTo>
                    <a:pt x="0" y="0"/>
                  </a:moveTo>
                  <a:lnTo>
                    <a:pt x="10610850" y="0"/>
                  </a:lnTo>
                </a:path>
              </a:pathLst>
            </a:custGeom>
            <a:noFill/>
            <a:ln w="9525">
              <a:solidFill>
                <a:srgbClr val="D8DEE3"/>
              </a:solidFill>
            </a:ln>
          </p:spPr>
        </p:sp>
      </p:grpSp>
      <p:grpSp>
        <p:nvGrpSpPr>
          <p:cNvPr id="21" name="Group 21"/>
          <p:cNvGrpSpPr/>
          <p:nvPr/>
        </p:nvGrpSpPr>
        <p:grpSpPr>
          <a:xfrm>
            <a:off x="685800" y="2952750"/>
            <a:ext cx="10820400" cy="1905000"/>
            <a:chOff x="685800" y="2952750"/>
            <a:chExt cx="10820400" cy="1905000"/>
          </a:xfrm>
        </p:grpSpPr>
        <p:sp>
          <p:nvSpPr>
            <p:cNvPr id="14" name="Line 14"/>
            <p:cNvSpPr/>
            <p:nvPr/>
          </p:nvSpPr>
          <p:spPr>
            <a:xfrm>
              <a:off x="685800" y="2952750"/>
              <a:ext cx="9525" cy="1743075"/>
            </a:xfrm>
            <a:custGeom>
              <a:avLst/>
              <a:gdLst/>
              <a:ahLst/>
              <a:cxnLst/>
              <a:rect l="l" t="t" r="r" b="b"/>
              <a:pathLst>
                <a:path w="9525" h="1743075">
                  <a:moveTo>
                    <a:pt x="0" y="0"/>
                  </a:moveTo>
                  <a:lnTo>
                    <a:pt x="0" y="1743075"/>
                  </a:lnTo>
                </a:path>
              </a:pathLst>
            </a:custGeom>
            <a:noFill/>
            <a:ln w="28575">
              <a:solidFill>
                <a:srgbClr val="17324D"/>
              </a:solidFill>
            </a:ln>
          </p:spPr>
        </p:sp>
        <p:sp>
          <p:nvSpPr>
            <p:cNvPr id="15" name="TextBox 15"/>
            <p:cNvSpPr txBox="1"/>
            <p:nvPr/>
          </p:nvSpPr>
          <p:spPr>
            <a:xfrm>
              <a:off x="873442" y="2985611"/>
              <a:ext cx="490646" cy="350520"/>
            </a:xfrm>
            <a:prstGeom prst="rect">
              <a:avLst/>
            </a:prstGeom>
            <a:noFill/>
            <a:ln>
              <a:noFill/>
            </a:ln>
          </p:spPr>
          <p:txBody>
            <a:bodyPr wrap="none" lIns="0" tIns="0" rIns="0" bIns="0" anchor="t" anchorCtr="0">
              <a:spAutoFit/>
            </a:bodyPr>
            <a:lstStyle/>
            <a:p>
              <a:pPr algn="l"/>
              <a:r>
                <a:rPr lang="zh-CN" sz="1725" b="1" dirty="0">
                  <a:solidFill>
                    <a:srgbClr val="17324D"/>
                  </a:solidFill>
                  <a:latin typeface="Arial"/>
                  <a:ea typeface="Microsoft YaHei"/>
                  <a:cs typeface="Arial"/>
                </a:rPr>
                <a:t>SQ2</a:t>
              </a:r>
            </a:p>
          </p:txBody>
        </p:sp>
        <p:sp>
          <p:nvSpPr>
            <p:cNvPr id="16" name="TextBox 16"/>
            <p:cNvSpPr txBox="1"/>
            <p:nvPr/>
          </p:nvSpPr>
          <p:spPr>
            <a:xfrm>
              <a:off x="1563052" y="2998946"/>
              <a:ext cx="5672774"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How do exposure and diffusion enter the update function?</a:t>
              </a:r>
            </a:p>
          </p:txBody>
        </p:sp>
        <p:sp>
          <p:nvSpPr>
            <p:cNvPr id="17" name="TextBox 17"/>
            <p:cNvSpPr txBox="1"/>
            <p:nvPr/>
          </p:nvSpPr>
          <p:spPr>
            <a:xfrm>
              <a:off x="1566862" y="3393281"/>
              <a:ext cx="5064919" cy="1104900"/>
            </a:xfrm>
            <a:prstGeom prst="rect">
              <a:avLst/>
            </a:prstGeom>
            <a:noFill/>
            <a:ln>
              <a:noFill/>
            </a:ln>
          </p:spPr>
          <p:txBody>
            <a:bodyPr wrap="square" lIns="0" tIns="0" rIns="0" bIns="0" anchor="t" anchorCtr="0"/>
            <a:lstStyle/>
            <a:p>
              <a:pPr algn="l">
                <a:lnSpc>
                  <a:spcPts val="1725"/>
                </a:lnSpc>
              </a:pPr>
              <a:r>
                <a:rPr lang="zh-CN" sz="1125" b="1" dirty="0">
                  <a:solidFill>
                    <a:srgbClr val="20262B"/>
                  </a:solidFill>
                  <a:latin typeface="Arial"/>
                  <a:ea typeface="Microsoft YaHei"/>
                  <a:cs typeface="Arial"/>
                </a:rPr>
                <a:t>Hold fixed:</a:t>
              </a:r>
              <a:r>
                <a:rPr lang="zh-CN" sz="1125" dirty="0">
                  <a:solidFill>
                    <a:srgbClr val="20262B"/>
                  </a:solidFill>
                  <a:latin typeface="Arial"/>
                  <a:ea typeface="Microsoft YaHei"/>
                  <a:cs typeface="Arial"/>
                </a:rPr>
                <a:t xml:space="preserve"> message library, initial groups, and networks. </a:t>
              </a:r>
              <a:r>
                <a:rPr lang="zh-CN" sz="1125" b="1" dirty="0">
                  <a:solidFill>
                    <a:srgbClr val="20262B"/>
                  </a:solidFill>
                  <a:latin typeface="Arial"/>
                  <a:ea typeface="Microsoft YaHei"/>
                  <a:cs typeface="Arial"/>
                </a:rPr>
                <a:t>Manipulate:</a:t>
              </a:r>
              <a:r>
                <a:rPr lang="zh-CN" sz="1125" dirty="0">
                  <a:solidFill>
                    <a:srgbClr val="20262B"/>
                  </a:solidFill>
                  <a:latin typeface="Arial"/>
                  <a:ea typeface="Microsoft YaHei"/>
                  <a:cs typeface="Arial"/>
                </a:rPr>
                <a:t xml:space="preserve"> exposure commonality (low/high) and diffusion intensity </a:t>
              </a:r>
              <a:r>
                <a:rPr lang="zh-CN" sz="1125" dirty="0">
                  <a:solidFill>
                    <a:srgbClr val="20262B"/>
                  </a:solidFill>
                  <a:latin typeface="Arial"/>
                  <a:ea typeface="Microsoft YaHei"/>
                  <a:cs typeface="Arial"/>
                </a:rPr>
                <a:t xml:space="preserve">(off/human-calibrated). </a:t>
              </a:r>
              <a:r>
                <a:rPr lang="zh-CN" sz="1125" b="1" dirty="0">
                  <a:solidFill>
                    <a:srgbClr val="20262B"/>
                  </a:solidFill>
                  <a:latin typeface="Arial"/>
                  <a:ea typeface="Microsoft YaHei"/>
                  <a:cs typeface="Arial"/>
                </a:rPr>
                <a:t>Compare:</a:t>
              </a:r>
              <a:r>
                <a:rPr lang="zh-CN" sz="1125" dirty="0">
                  <a:solidFill>
                    <a:srgbClr val="20262B"/>
                  </a:solidFill>
                  <a:latin typeface="Arial"/>
                  <a:ea typeface="Microsoft YaHei"/>
                  <a:cs typeface="Arial"/>
                </a:rPr>
                <a:t xml:space="preserve"> opinion change and group distributions across social-influence </a:t>
              </a:r>
              <a:r>
                <a:rPr lang="zh-CN" sz="1125" dirty="0">
                  <a:solidFill>
                    <a:srgbClr val="20262B"/>
                  </a:solidFill>
                  <a:latin typeface="Arial"/>
                  <a:ea typeface="Microsoft YaHei"/>
                  <a:cs typeface="Arial"/>
                </a:rPr>
                <a:t>weights and acceptable opinion distances.</a:t>
              </a:r>
            </a:p>
          </p:txBody>
        </p:sp>
        <p:pic>
          <p:nvPicPr>
            <p:cNvPr id="18" name="Image 18"/>
            <p:cNvPicPr>
              <a:picLocks noChangeAspect="1"/>
            </p:cNvPicPr>
            <p:nvPr/>
          </p:nvPicPr>
          <p:blipFill>
            <a:blip r:embed="rId3"/>
            <a:stretch>
              <a:fillRect/>
            </a:stretch>
          </p:blipFill>
          <p:spPr>
            <a:xfrm>
              <a:off x="6629400" y="3473787"/>
              <a:ext cx="4552950" cy="462877"/>
            </a:xfrm>
            <a:prstGeom prst="rect">
              <a:avLst/>
            </a:prstGeom>
          </p:spPr>
        </p:pic>
        <p:pic>
          <p:nvPicPr>
            <p:cNvPr id="19" name="Image 19"/>
            <p:cNvPicPr>
              <a:picLocks noChangeAspect="1"/>
            </p:cNvPicPr>
            <p:nvPr/>
          </p:nvPicPr>
          <p:blipFill>
            <a:blip r:embed="rId4"/>
            <a:stretch>
              <a:fillRect/>
            </a:stretch>
          </p:blipFill>
          <p:spPr>
            <a:xfrm>
              <a:off x="7181850" y="4184178"/>
              <a:ext cx="3448050" cy="261294"/>
            </a:xfrm>
            <a:prstGeom prst="rect">
              <a:avLst/>
            </a:prstGeom>
          </p:spPr>
        </p:pic>
        <p:sp>
          <p:nvSpPr>
            <p:cNvPr id="20" name="Line 20"/>
            <p:cNvSpPr/>
            <p:nvPr/>
          </p:nvSpPr>
          <p:spPr>
            <a:xfrm>
              <a:off x="895350" y="4848225"/>
              <a:ext cx="10610850" cy="9525"/>
            </a:xfrm>
            <a:custGeom>
              <a:avLst/>
              <a:gdLst/>
              <a:ahLst/>
              <a:cxnLst/>
              <a:rect l="l" t="t" r="r" b="b"/>
              <a:pathLst>
                <a:path w="10610850" h="9525">
                  <a:moveTo>
                    <a:pt x="0" y="0"/>
                  </a:moveTo>
                  <a:lnTo>
                    <a:pt x="10610850" y="0"/>
                  </a:lnTo>
                </a:path>
              </a:pathLst>
            </a:custGeom>
            <a:noFill/>
            <a:ln w="9525">
              <a:solidFill>
                <a:srgbClr val="D8DEE3"/>
              </a:solidFill>
            </a:ln>
          </p:spPr>
        </p:sp>
      </p:grpSp>
      <p:grpSp>
        <p:nvGrpSpPr>
          <p:cNvPr id="30" name="Group 30"/>
          <p:cNvGrpSpPr/>
          <p:nvPr/>
        </p:nvGrpSpPr>
        <p:grpSpPr>
          <a:xfrm>
            <a:off x="685800" y="5076825"/>
            <a:ext cx="9794234" cy="1000125"/>
            <a:chOff x="685800" y="5076825"/>
            <a:chExt cx="9794234" cy="1000125"/>
          </a:xfrm>
        </p:grpSpPr>
        <p:sp>
          <p:nvSpPr>
            <p:cNvPr id="22" name="Line 22"/>
            <p:cNvSpPr/>
            <p:nvPr/>
          </p:nvSpPr>
          <p:spPr>
            <a:xfrm>
              <a:off x="685800" y="5076825"/>
              <a:ext cx="9525" cy="1000125"/>
            </a:xfrm>
            <a:custGeom>
              <a:avLst/>
              <a:gdLst/>
              <a:ahLst/>
              <a:cxnLst/>
              <a:rect l="l" t="t" r="r" b="b"/>
              <a:pathLst>
                <a:path w="9525" h="1000125">
                  <a:moveTo>
                    <a:pt x="0" y="0"/>
                  </a:moveTo>
                  <a:lnTo>
                    <a:pt x="0" y="1000125"/>
                  </a:lnTo>
                </a:path>
              </a:pathLst>
            </a:custGeom>
            <a:noFill/>
            <a:ln w="28575">
              <a:solidFill>
                <a:srgbClr val="17324D"/>
              </a:solidFill>
            </a:ln>
          </p:spPr>
        </p:sp>
        <p:sp>
          <p:nvSpPr>
            <p:cNvPr id="23" name="TextBox 23"/>
            <p:cNvSpPr txBox="1"/>
            <p:nvPr/>
          </p:nvSpPr>
          <p:spPr>
            <a:xfrm>
              <a:off x="873442" y="5109686"/>
              <a:ext cx="490646" cy="350520"/>
            </a:xfrm>
            <a:prstGeom prst="rect">
              <a:avLst/>
            </a:prstGeom>
            <a:noFill/>
            <a:ln>
              <a:noFill/>
            </a:ln>
          </p:spPr>
          <p:txBody>
            <a:bodyPr wrap="none" lIns="0" tIns="0" rIns="0" bIns="0" anchor="t" anchorCtr="0">
              <a:spAutoFit/>
            </a:bodyPr>
            <a:lstStyle/>
            <a:p>
              <a:pPr algn="l"/>
              <a:r>
                <a:rPr lang="zh-CN" sz="1725" b="1" dirty="0">
                  <a:solidFill>
                    <a:srgbClr val="17324D"/>
                  </a:solidFill>
                  <a:latin typeface="Arial"/>
                  <a:ea typeface="Microsoft YaHei"/>
                  <a:cs typeface="Arial"/>
                </a:rPr>
                <a:t>SQ3</a:t>
              </a:r>
            </a:p>
          </p:txBody>
        </p:sp>
        <p:sp>
          <p:nvSpPr>
            <p:cNvPr id="24" name="TextBox 24"/>
            <p:cNvSpPr txBox="1"/>
            <p:nvPr/>
          </p:nvSpPr>
          <p:spPr>
            <a:xfrm>
              <a:off x="1563052" y="5123021"/>
              <a:ext cx="6341183"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Can an LLM-layer intervention attenuate the identified pattern?</a:t>
              </a:r>
            </a:p>
          </p:txBody>
        </p:sp>
        <p:sp>
          <p:nvSpPr>
            <p:cNvPr id="25" name="TextBox 25"/>
            <p:cNvSpPr txBox="1"/>
            <p:nvPr/>
          </p:nvSpPr>
          <p:spPr>
            <a:xfrm>
              <a:off x="1566862" y="5498306"/>
              <a:ext cx="8452128" cy="228600"/>
            </a:xfrm>
            <a:prstGeom prst="rect">
              <a:avLst/>
            </a:prstGeom>
            <a:noFill/>
            <a:ln>
              <a:noFill/>
            </a:ln>
          </p:spPr>
          <p:txBody>
            <a:bodyPr wrap="none" lIns="0" tIns="0" rIns="0" bIns="0" anchor="t" anchorCtr="0">
              <a:spAutoFit/>
            </a:bodyPr>
            <a:lstStyle/>
            <a:p>
              <a:pPr algn="l"/>
              <a:r>
                <a:rPr lang="zh-CN" sz="1125" dirty="0">
                  <a:solidFill>
                    <a:srgbClr val="20262B"/>
                  </a:solidFill>
                  <a:latin typeface="Arial"/>
                  <a:ea typeface="Microsoft YaHei"/>
                  <a:cs typeface="Arial"/>
                </a:rPr>
                <a:t>Proceed only after SQ2 identifies a stable group-level pattern. Match average information quality, then compare:</a:t>
              </a:r>
            </a:p>
          </p:txBody>
        </p:sp>
        <p:sp>
          <p:nvSpPr>
            <p:cNvPr id="26" name="TextBox 26"/>
            <p:cNvSpPr txBox="1"/>
            <p:nvPr/>
          </p:nvSpPr>
          <p:spPr>
            <a:xfrm>
              <a:off x="2118360" y="5833110"/>
              <a:ext cx="1467060" cy="243840"/>
            </a:xfrm>
            <a:prstGeom prst="rect">
              <a:avLst/>
            </a:prstGeom>
            <a:noFill/>
            <a:ln>
              <a:noFill/>
            </a:ln>
          </p:spPr>
          <p:txBody>
            <a:bodyPr wrap="none" lIns="0" tIns="0" rIns="0" bIns="0" anchor="t" anchorCtr="0">
              <a:spAutoFit/>
            </a:bodyPr>
            <a:lstStyle/>
            <a:p>
              <a:pPr algn="l"/>
              <a:r>
                <a:rPr lang="zh-CN" sz="1200" b="1" dirty="0">
                  <a:solidFill>
                    <a:srgbClr val="17324D"/>
                  </a:solidFill>
                  <a:latin typeface="Arial"/>
                  <a:ea typeface="Microsoft YaHei"/>
                  <a:cs typeface="Arial"/>
                </a:rPr>
                <a:t>shared single LLM</a:t>
              </a:r>
            </a:p>
          </p:txBody>
        </p:sp>
        <p:sp>
          <p:nvSpPr>
            <p:cNvPr id="27" name="Line 27"/>
            <p:cNvSpPr/>
            <p:nvPr/>
          </p:nvSpPr>
          <p:spPr>
            <a:xfrm>
              <a:off x="3905250" y="5905500"/>
              <a:ext cx="1143000" cy="9525"/>
            </a:xfrm>
            <a:custGeom>
              <a:avLst/>
              <a:gdLst/>
              <a:ahLst/>
              <a:cxnLst/>
              <a:rect l="l" t="t" r="r" b="b"/>
              <a:pathLst>
                <a:path w="1143000" h="9525">
                  <a:moveTo>
                    <a:pt x="0" y="0"/>
                  </a:moveTo>
                  <a:lnTo>
                    <a:pt x="1143000" y="0"/>
                  </a:lnTo>
                </a:path>
              </a:pathLst>
            </a:custGeom>
            <a:noFill/>
            <a:ln w="19050">
              <a:solidFill>
                <a:srgbClr val="17324D"/>
              </a:solidFill>
            </a:ln>
          </p:spPr>
        </p:sp>
        <p:sp>
          <p:nvSpPr>
            <p:cNvPr id="28" name="Polygon 28"/>
            <p:cNvSpPr/>
            <p:nvPr/>
          </p:nvSpPr>
          <p:spPr>
            <a:xfrm>
              <a:off x="4933950" y="5848350"/>
              <a:ext cx="114300" cy="114300"/>
            </a:xfrm>
            <a:custGeom>
              <a:avLst/>
              <a:gdLst/>
              <a:ahLst/>
              <a:cxnLst/>
              <a:rect l="l" t="t" r="r" b="b"/>
              <a:pathLst>
                <a:path w="114300" h="114300">
                  <a:moveTo>
                    <a:pt x="114300" y="57150"/>
                  </a:moveTo>
                  <a:lnTo>
                    <a:pt x="0" y="0"/>
                  </a:lnTo>
                  <a:lnTo>
                    <a:pt x="0" y="114300"/>
                  </a:lnTo>
                  <a:close/>
                </a:path>
              </a:pathLst>
            </a:custGeom>
            <a:solidFill>
              <a:srgbClr val="17324D"/>
            </a:solidFill>
            <a:ln>
              <a:noFill/>
            </a:ln>
          </p:spPr>
        </p:sp>
        <p:sp>
          <p:nvSpPr>
            <p:cNvPr id="29" name="TextBox 29"/>
            <p:cNvSpPr txBox="1"/>
            <p:nvPr/>
          </p:nvSpPr>
          <p:spPr>
            <a:xfrm>
              <a:off x="5299710" y="5833110"/>
              <a:ext cx="5180324" cy="243840"/>
            </a:xfrm>
            <a:prstGeom prst="rect">
              <a:avLst/>
            </a:prstGeom>
            <a:noFill/>
            <a:ln>
              <a:noFill/>
            </a:ln>
          </p:spPr>
          <p:txBody>
            <a:bodyPr wrap="none" lIns="0" tIns="0" rIns="0" bIns="0" anchor="t" anchorCtr="0">
              <a:spAutoFit/>
            </a:bodyPr>
            <a:lstStyle/>
            <a:p>
              <a:pPr algn="l"/>
              <a:r>
                <a:rPr lang="zh-CN" sz="1200" b="1" dirty="0">
                  <a:solidFill>
                    <a:srgbClr val="17324D"/>
                  </a:solidFill>
                  <a:latin typeface="Arial"/>
                  <a:ea typeface="Microsoft YaHei"/>
                  <a:cs typeface="Arial"/>
                </a:rPr>
                <a:t>independent random routing across model families or providers</a:t>
              </a:r>
            </a:p>
          </p:txBody>
        </p:sp>
      </p:grpSp>
      <p:sp>
        <p:nvSpPr>
          <p:cNvPr id="31" name="TextBox 31"/>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left)">
                                      <p:cBhvr>
                                        <p:cTn id="11" dur="400"/>
                                        <p:tgtEl>
                                          <p:spTgt spid="2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slide(fromBottom)">
                                      <p:cBhvr>
                                        <p:cTn id="1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1079480" cy="516255"/>
            <a:chOff x="541020" y="464820"/>
            <a:chExt cx="11079480" cy="516255"/>
          </a:xfrm>
        </p:grpSpPr>
        <p:sp>
          <p:nvSpPr>
            <p:cNvPr id="3" name="TextBox 3"/>
            <p:cNvSpPr txBox="1"/>
            <p:nvPr/>
          </p:nvSpPr>
          <p:spPr>
            <a:xfrm>
              <a:off x="541020" y="464820"/>
              <a:ext cx="2665286"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Model Validation</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grpSp>
        <p:nvGrpSpPr>
          <p:cNvPr id="11" name="Group 11"/>
          <p:cNvGrpSpPr/>
          <p:nvPr/>
        </p:nvGrpSpPr>
        <p:grpSpPr>
          <a:xfrm>
            <a:off x="660082" y="1295876"/>
            <a:ext cx="10846118" cy="952024"/>
            <a:chOff x="660082" y="1295876"/>
            <a:chExt cx="10846118" cy="952024"/>
          </a:xfrm>
        </p:grpSpPr>
        <p:sp>
          <p:nvSpPr>
            <p:cNvPr id="7" name="TextBox 7"/>
            <p:cNvSpPr txBox="1"/>
            <p:nvPr/>
          </p:nvSpPr>
          <p:spPr>
            <a:xfrm>
              <a:off x="660082" y="1295876"/>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01</a:t>
              </a:r>
            </a:p>
          </p:txBody>
        </p:sp>
        <p:sp>
          <p:nvSpPr>
            <p:cNvPr id="8" name="TextBox 8"/>
            <p:cNvSpPr txBox="1"/>
            <p:nvPr/>
          </p:nvSpPr>
          <p:spPr>
            <a:xfrm>
              <a:off x="1277302" y="1322546"/>
              <a:ext cx="2071349"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Program verification</a:t>
              </a:r>
            </a:p>
          </p:txBody>
        </p:sp>
        <p:sp>
          <p:nvSpPr>
            <p:cNvPr id="9" name="TextBox 9"/>
            <p:cNvSpPr txBox="1"/>
            <p:nvPr/>
          </p:nvSpPr>
          <p:spPr>
            <a:xfrm>
              <a:off x="1280160" y="1632585"/>
              <a:ext cx="733044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Unit-test the message, selection, and update functions; test extreme cases and reproducibility; </a:t>
              </a:r>
              <a:r>
                <a:rPr lang="zh-CN" sz="1200" dirty="0">
                  <a:solidFill>
                    <a:srgbClr val="20262B"/>
                  </a:solidFill>
                  <a:latin typeface="Arial"/>
                  <a:ea typeface="Microsoft YaHei"/>
                  <a:cs typeface="Arial"/>
                </a:rPr>
                <a:t>report the complete model using the ODD protocol.</a:t>
              </a:r>
            </a:p>
          </p:txBody>
        </p:sp>
        <p:sp>
          <p:nvSpPr>
            <p:cNvPr id="10" name="Line 10"/>
            <p:cNvSpPr/>
            <p:nvPr/>
          </p:nvSpPr>
          <p:spPr>
            <a:xfrm>
              <a:off x="1295400" y="2238375"/>
              <a:ext cx="10210800" cy="9525"/>
            </a:xfrm>
            <a:custGeom>
              <a:avLst/>
              <a:gdLst/>
              <a:ahLst/>
              <a:cxnLst/>
              <a:rect l="l" t="t" r="r" b="b"/>
              <a:pathLst>
                <a:path w="10210800" h="9525">
                  <a:moveTo>
                    <a:pt x="0" y="0"/>
                  </a:moveTo>
                  <a:lnTo>
                    <a:pt x="10210800" y="0"/>
                  </a:lnTo>
                </a:path>
              </a:pathLst>
            </a:custGeom>
            <a:noFill/>
            <a:ln w="9525">
              <a:solidFill>
                <a:srgbClr val="D8DEE3"/>
              </a:solidFill>
            </a:ln>
          </p:spPr>
        </p:sp>
      </p:grpSp>
      <p:grpSp>
        <p:nvGrpSpPr>
          <p:cNvPr id="16" name="Group 16"/>
          <p:cNvGrpSpPr/>
          <p:nvPr/>
        </p:nvGrpSpPr>
        <p:grpSpPr>
          <a:xfrm>
            <a:off x="660082" y="2457926"/>
            <a:ext cx="10846118" cy="952024"/>
            <a:chOff x="660082" y="2457926"/>
            <a:chExt cx="10846118" cy="952024"/>
          </a:xfrm>
        </p:grpSpPr>
        <p:sp>
          <p:nvSpPr>
            <p:cNvPr id="12" name="TextBox 12"/>
            <p:cNvSpPr txBox="1"/>
            <p:nvPr/>
          </p:nvSpPr>
          <p:spPr>
            <a:xfrm>
              <a:off x="660082" y="2457926"/>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02</a:t>
              </a:r>
            </a:p>
          </p:txBody>
        </p:sp>
        <p:sp>
          <p:nvSpPr>
            <p:cNvPr id="13" name="TextBox 13"/>
            <p:cNvSpPr txBox="1"/>
            <p:nvPr/>
          </p:nvSpPr>
          <p:spPr>
            <a:xfrm>
              <a:off x="1277302" y="2484596"/>
              <a:ext cx="3368261"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Function-level empirical validation</a:t>
              </a:r>
            </a:p>
          </p:txBody>
        </p:sp>
        <p:sp>
          <p:nvSpPr>
            <p:cNvPr id="14" name="TextBox 14"/>
            <p:cNvSpPr txBox="1"/>
            <p:nvPr/>
          </p:nvSpPr>
          <p:spPr>
            <a:xfrm>
              <a:off x="1280160" y="2794635"/>
              <a:ext cx="665226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Compare model outputs with held-out human messages, information selection or sharing, </a:t>
              </a:r>
              <a:r>
                <a:rPr lang="zh-CN" sz="1200" dirty="0">
                  <a:solidFill>
                    <a:srgbClr val="20262B"/>
                  </a:solidFill>
                  <a:latin typeface="Arial"/>
                  <a:ea typeface="Microsoft YaHei"/>
                  <a:cs typeface="Arial"/>
                </a:rPr>
                <a:t>and pretest–posttest opinion transitions.</a:t>
              </a:r>
            </a:p>
          </p:txBody>
        </p:sp>
        <p:sp>
          <p:nvSpPr>
            <p:cNvPr id="15" name="Line 15"/>
            <p:cNvSpPr/>
            <p:nvPr/>
          </p:nvSpPr>
          <p:spPr>
            <a:xfrm>
              <a:off x="1295400" y="3400425"/>
              <a:ext cx="10210800" cy="9525"/>
            </a:xfrm>
            <a:custGeom>
              <a:avLst/>
              <a:gdLst/>
              <a:ahLst/>
              <a:cxnLst/>
              <a:rect l="l" t="t" r="r" b="b"/>
              <a:pathLst>
                <a:path w="10210800" h="9525">
                  <a:moveTo>
                    <a:pt x="0" y="0"/>
                  </a:moveTo>
                  <a:lnTo>
                    <a:pt x="10210800" y="0"/>
                  </a:lnTo>
                </a:path>
              </a:pathLst>
            </a:custGeom>
            <a:noFill/>
            <a:ln w="9525">
              <a:solidFill>
                <a:srgbClr val="D8DEE3"/>
              </a:solidFill>
            </a:ln>
          </p:spPr>
        </p:sp>
      </p:grpSp>
      <p:grpSp>
        <p:nvGrpSpPr>
          <p:cNvPr id="21" name="Group 21"/>
          <p:cNvGrpSpPr/>
          <p:nvPr/>
        </p:nvGrpSpPr>
        <p:grpSpPr>
          <a:xfrm>
            <a:off x="660082" y="3619976"/>
            <a:ext cx="10846118" cy="952024"/>
            <a:chOff x="660082" y="3619976"/>
            <a:chExt cx="10846118" cy="952024"/>
          </a:xfrm>
        </p:grpSpPr>
        <p:sp>
          <p:nvSpPr>
            <p:cNvPr id="17" name="TextBox 17"/>
            <p:cNvSpPr txBox="1"/>
            <p:nvPr/>
          </p:nvSpPr>
          <p:spPr>
            <a:xfrm>
              <a:off x="660082" y="3619976"/>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03</a:t>
              </a:r>
            </a:p>
          </p:txBody>
        </p:sp>
        <p:sp>
          <p:nvSpPr>
            <p:cNvPr id="18" name="TextBox 18"/>
            <p:cNvSpPr txBox="1"/>
            <p:nvPr/>
          </p:nvSpPr>
          <p:spPr>
            <a:xfrm>
              <a:off x="1277302" y="3646646"/>
              <a:ext cx="4345934"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Incremental test of the hybrid architecture</a:t>
              </a:r>
            </a:p>
          </p:txBody>
        </p:sp>
        <p:sp>
          <p:nvSpPr>
            <p:cNvPr id="19" name="TextBox 19"/>
            <p:cNvSpPr txBox="1"/>
            <p:nvPr/>
          </p:nvSpPr>
          <p:spPr>
            <a:xfrm>
              <a:off x="1280160" y="3956685"/>
              <a:ext cx="764286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Under identical initial conditions, compare rule-only ABM, hybrid ABM, and simple baselines on held-out </a:t>
              </a:r>
              <a:r>
                <a:rPr lang="zh-CN" sz="1200" dirty="0">
                  <a:solidFill>
                    <a:srgbClr val="20262B"/>
                  </a:solidFill>
                  <a:latin typeface="Arial"/>
                  <a:ea typeface="Microsoft YaHei"/>
                  <a:cs typeface="Arial"/>
                </a:rPr>
                <a:t>prediction of message expression, opinion change, sharing behavior, and group distributions.</a:t>
              </a:r>
            </a:p>
          </p:txBody>
        </p:sp>
        <p:sp>
          <p:nvSpPr>
            <p:cNvPr id="20" name="Line 20"/>
            <p:cNvSpPr/>
            <p:nvPr/>
          </p:nvSpPr>
          <p:spPr>
            <a:xfrm>
              <a:off x="1295400" y="4562475"/>
              <a:ext cx="10210800" cy="9525"/>
            </a:xfrm>
            <a:custGeom>
              <a:avLst/>
              <a:gdLst/>
              <a:ahLst/>
              <a:cxnLst/>
              <a:rect l="l" t="t" r="r" b="b"/>
              <a:pathLst>
                <a:path w="10210800" h="9525">
                  <a:moveTo>
                    <a:pt x="0" y="0"/>
                  </a:moveTo>
                  <a:lnTo>
                    <a:pt x="10210800" y="0"/>
                  </a:lnTo>
                </a:path>
              </a:pathLst>
            </a:custGeom>
            <a:noFill/>
            <a:ln w="9525">
              <a:solidFill>
                <a:srgbClr val="D8DEE3"/>
              </a:solidFill>
            </a:ln>
          </p:spPr>
        </p:sp>
      </p:grpSp>
      <p:grpSp>
        <p:nvGrpSpPr>
          <p:cNvPr id="25" name="Group 25"/>
          <p:cNvGrpSpPr/>
          <p:nvPr/>
        </p:nvGrpSpPr>
        <p:grpSpPr>
          <a:xfrm>
            <a:off x="660082" y="4782026"/>
            <a:ext cx="8392478" cy="799624"/>
            <a:chOff x="660082" y="4782026"/>
            <a:chExt cx="8392478" cy="799624"/>
          </a:xfrm>
        </p:grpSpPr>
        <p:sp>
          <p:nvSpPr>
            <p:cNvPr id="22" name="TextBox 22"/>
            <p:cNvSpPr txBox="1"/>
            <p:nvPr/>
          </p:nvSpPr>
          <p:spPr>
            <a:xfrm>
              <a:off x="660082" y="4782026"/>
              <a:ext cx="363324" cy="411480"/>
            </a:xfrm>
            <a:prstGeom prst="rect">
              <a:avLst/>
            </a:prstGeom>
            <a:noFill/>
            <a:ln>
              <a:noFill/>
            </a:ln>
          </p:spPr>
          <p:txBody>
            <a:bodyPr wrap="none" lIns="0" tIns="0" rIns="0" bIns="0" anchor="t" anchorCtr="0">
              <a:spAutoFit/>
            </a:bodyPr>
            <a:lstStyle/>
            <a:p>
              <a:pPr algn="l"/>
              <a:r>
                <a:rPr lang="zh-CN" sz="2025" b="1" dirty="0">
                  <a:solidFill>
                    <a:srgbClr val="17324D"/>
                  </a:solidFill>
                  <a:latin typeface="Arial"/>
                  <a:ea typeface="Microsoft YaHei"/>
                  <a:cs typeface="Arial"/>
                </a:rPr>
                <a:t>04</a:t>
              </a:r>
            </a:p>
          </p:txBody>
        </p:sp>
        <p:sp>
          <p:nvSpPr>
            <p:cNvPr id="23" name="TextBox 23"/>
            <p:cNvSpPr txBox="1"/>
            <p:nvPr/>
          </p:nvSpPr>
          <p:spPr>
            <a:xfrm>
              <a:off x="1277302" y="4808696"/>
              <a:ext cx="3368261"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Validation of group-level patterns</a:t>
              </a:r>
            </a:p>
          </p:txBody>
        </p:sp>
        <p:sp>
          <p:nvSpPr>
            <p:cNvPr id="24" name="TextBox 24"/>
            <p:cNvSpPr txBox="1"/>
            <p:nvPr/>
          </p:nvSpPr>
          <p:spPr>
            <a:xfrm>
              <a:off x="1280160" y="5118735"/>
              <a:ext cx="7772400" cy="462915"/>
            </a:xfrm>
            <a:prstGeom prst="rect">
              <a:avLst/>
            </a:prstGeom>
            <a:noFill/>
            <a:ln>
              <a:noFill/>
            </a:ln>
          </p:spPr>
          <p:txBody>
            <a:bodyPr wrap="square" lIns="0" tIns="0" rIns="0" bIns="0" anchor="t" anchorCtr="0"/>
            <a:lstStyle/>
            <a:p>
              <a:pPr algn="l">
                <a:lnSpc>
                  <a:spcPts val="1725"/>
                </a:lnSpc>
              </a:pPr>
              <a:r>
                <a:rPr lang="zh-CN" sz="1200" dirty="0">
                  <a:solidFill>
                    <a:srgbClr val="20262B"/>
                  </a:solidFill>
                  <a:latin typeface="Arial"/>
                  <a:ea typeface="Microsoft YaHei"/>
                  <a:cs typeface="Arial"/>
                </a:rPr>
                <a:t xml:space="preserve">Use small, limited-round human group experiments to compare opinion trajectories, variance, clusters, </a:t>
              </a:r>
              <a:r>
                <a:rPr lang="zh-CN" sz="1200" dirty="0">
                  <a:solidFill>
                    <a:srgbClr val="20262B"/>
                  </a:solidFill>
                  <a:latin typeface="Arial"/>
                  <a:ea typeface="Microsoft YaHei"/>
                  <a:cs typeface="Arial"/>
                </a:rPr>
                <a:t>and diffusion patterns with simulated groups under matched initial conditions.</a:t>
              </a:r>
            </a:p>
          </p:txBody>
        </p:sp>
      </p:grpSp>
      <p:grpSp>
        <p:nvGrpSpPr>
          <p:cNvPr id="29" name="Group 29"/>
          <p:cNvGrpSpPr/>
          <p:nvPr/>
        </p:nvGrpSpPr>
        <p:grpSpPr>
          <a:xfrm>
            <a:off x="671512" y="5781675"/>
            <a:ext cx="10834688" cy="509587"/>
            <a:chOff x="671512" y="5781675"/>
            <a:chExt cx="10834688" cy="509587"/>
          </a:xfrm>
        </p:grpSpPr>
        <p:sp>
          <p:nvSpPr>
            <p:cNvPr id="26" name="Line 26"/>
            <p:cNvSpPr/>
            <p:nvPr/>
          </p:nvSpPr>
          <p:spPr>
            <a:xfrm>
              <a:off x="685800" y="5781675"/>
              <a:ext cx="10820400" cy="9525"/>
            </a:xfrm>
            <a:custGeom>
              <a:avLst/>
              <a:gdLst/>
              <a:ahLst/>
              <a:cxnLst/>
              <a:rect l="l" t="t" r="r" b="b"/>
              <a:pathLst>
                <a:path w="10820400" h="9525">
                  <a:moveTo>
                    <a:pt x="0" y="0"/>
                  </a:moveTo>
                  <a:lnTo>
                    <a:pt x="10820400" y="0"/>
                  </a:lnTo>
                </a:path>
              </a:pathLst>
            </a:custGeom>
            <a:noFill/>
            <a:ln w="19050">
              <a:solidFill>
                <a:srgbClr val="17324D"/>
              </a:solidFill>
            </a:ln>
          </p:spPr>
        </p:sp>
        <p:sp>
          <p:nvSpPr>
            <p:cNvPr id="27" name="TextBox 27"/>
            <p:cNvSpPr txBox="1"/>
            <p:nvPr/>
          </p:nvSpPr>
          <p:spPr>
            <a:xfrm>
              <a:off x="671512" y="5974556"/>
              <a:ext cx="1068205" cy="228600"/>
            </a:xfrm>
            <a:prstGeom prst="rect">
              <a:avLst/>
            </a:prstGeom>
            <a:noFill/>
            <a:ln>
              <a:noFill/>
            </a:ln>
          </p:spPr>
          <p:txBody>
            <a:bodyPr wrap="none" lIns="0" tIns="0" rIns="0" bIns="0" anchor="t" anchorCtr="0">
              <a:spAutoFit/>
            </a:bodyPr>
            <a:lstStyle/>
            <a:p>
              <a:pPr algn="l"/>
              <a:r>
                <a:rPr lang="zh-CN" sz="1125" b="1" dirty="0">
                  <a:solidFill>
                    <a:srgbClr val="17324D"/>
                  </a:solidFill>
                  <a:latin typeface="Arial"/>
                  <a:ea typeface="Microsoft YaHei"/>
                  <a:cs typeface="Arial"/>
                </a:rPr>
                <a:t>DECISION RULE</a:t>
              </a:r>
            </a:p>
          </p:txBody>
        </p:sp>
        <p:sp>
          <p:nvSpPr>
            <p:cNvPr id="28" name="TextBox 28"/>
            <p:cNvSpPr txBox="1"/>
            <p:nvPr/>
          </p:nvSpPr>
          <p:spPr>
            <a:xfrm>
              <a:off x="1967865" y="5887402"/>
              <a:ext cx="7207568" cy="403860"/>
            </a:xfrm>
            <a:prstGeom prst="rect">
              <a:avLst/>
            </a:prstGeom>
            <a:noFill/>
            <a:ln>
              <a:noFill/>
            </a:ln>
          </p:spPr>
          <p:txBody>
            <a:bodyPr wrap="square" lIns="0" tIns="0" rIns="0" bIns="0" anchor="t" anchorCtr="0"/>
            <a:lstStyle/>
            <a:p>
              <a:pPr algn="l">
                <a:lnSpc>
                  <a:spcPts val="1500"/>
                </a:lnSpc>
              </a:pPr>
              <a:r>
                <a:rPr lang="zh-CN" sz="1050" dirty="0">
                  <a:solidFill>
                    <a:srgbClr val="20262B"/>
                  </a:solidFill>
                  <a:latin typeface="Arial"/>
                  <a:ea typeface="Microsoft YaHei"/>
                  <a:cs typeface="Arial"/>
                </a:rPr>
                <a:t xml:space="preserve">Use function ablation and sensitivity analysis. If the hybrid model does not improve out-of-sample prediction, </a:t>
              </a:r>
              <a:r>
                <a:rPr lang="zh-CN" sz="1050" dirty="0">
                  <a:solidFill>
                    <a:srgbClr val="20262B"/>
                  </a:solidFill>
                  <a:latin typeface="Arial"/>
                  <a:ea typeface="Microsoft YaHei"/>
                  <a:cs typeface="Arial"/>
                </a:rPr>
                <a:t>claim no additional methodological value for LLM agents.</a:t>
              </a:r>
            </a:p>
          </p:txBody>
        </p:sp>
      </p:grpSp>
      <p:sp>
        <p:nvSpPr>
          <p:cNvPr id="30" name="TextBox 30"/>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image">
                                      <p:cBhvr>
                                        <p:cTn id="7" dur="400"/>
                                        <p:tgtEl>
                                          <p:spTgt spid="11"/>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400"/>
                                        <p:tgtEl>
                                          <p:spTgt spid="21"/>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slide(fromBottom)">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6" grpId="0"/>
      <p:bldP spid="21" grpId="0"/>
      <p:bldP spid="2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41020" y="464820"/>
            <a:ext cx="11079480" cy="516255"/>
            <a:chOff x="541020" y="464820"/>
            <a:chExt cx="11079480" cy="516255"/>
          </a:xfrm>
        </p:grpSpPr>
        <p:sp>
          <p:nvSpPr>
            <p:cNvPr id="3" name="TextBox 3"/>
            <p:cNvSpPr txBox="1"/>
            <p:nvPr/>
          </p:nvSpPr>
          <p:spPr>
            <a:xfrm>
              <a:off x="541020" y="464820"/>
              <a:ext cx="3875037" cy="487680"/>
            </a:xfrm>
            <a:prstGeom prst="rect">
              <a:avLst/>
            </a:prstGeom>
            <a:noFill/>
            <a:ln>
              <a:noFill/>
            </a:ln>
          </p:spPr>
          <p:txBody>
            <a:bodyPr wrap="none" lIns="0" tIns="0" rIns="0" bIns="0" anchor="t" anchorCtr="0">
              <a:spAutoFit/>
            </a:bodyPr>
            <a:lstStyle/>
            <a:p>
              <a:pPr algn="l"/>
              <a:r>
                <a:rPr lang="zh-CN" sz="2400" b="1" dirty="0">
                  <a:solidFill>
                    <a:srgbClr val="20262B"/>
                  </a:solidFill>
                  <a:latin typeface="Arial"/>
                  <a:ea typeface="Microsoft YaHei"/>
                  <a:cs typeface="Arial"/>
                </a:rPr>
                <a:t>Expected Contributions</a:t>
              </a:r>
            </a:p>
          </p:txBody>
        </p:sp>
        <p:sp>
          <p:nvSpPr>
            <p:cNvPr id="4" name="Line 4"/>
            <p:cNvSpPr/>
            <p:nvPr/>
          </p:nvSpPr>
          <p:spPr>
            <a:xfrm>
              <a:off x="571500" y="971550"/>
              <a:ext cx="11049000" cy="9525"/>
            </a:xfrm>
            <a:custGeom>
              <a:avLst/>
              <a:gdLst/>
              <a:ahLst/>
              <a:cxnLst/>
              <a:rect l="l" t="t" r="r" b="b"/>
              <a:pathLst>
                <a:path w="11049000" h="9525">
                  <a:moveTo>
                    <a:pt x="0" y="0"/>
                  </a:moveTo>
                  <a:lnTo>
                    <a:pt x="11049000" y="0"/>
                  </a:lnTo>
                </a:path>
              </a:pathLst>
            </a:custGeom>
            <a:noFill/>
            <a:ln w="9525">
              <a:solidFill>
                <a:srgbClr val="D8DEE3"/>
              </a:solidFill>
            </a:ln>
          </p:spPr>
        </p:sp>
        <p:sp>
          <p:nvSpPr>
            <p:cNvPr id="5" name="Rectangle 5"/>
            <p:cNvSpPr/>
            <p:nvPr/>
          </p:nvSpPr>
          <p:spPr>
            <a:xfrm>
              <a:off x="571500" y="952500"/>
              <a:ext cx="1104900" cy="28575"/>
            </a:xfrm>
            <a:prstGeom prst="rect">
              <a:avLst/>
            </a:prstGeom>
            <a:solidFill>
              <a:srgbClr val="17324D"/>
            </a:solidFill>
            <a:ln>
              <a:noFill/>
            </a:ln>
          </p:spPr>
        </p:sp>
      </p:grpSp>
      <p:grpSp>
        <p:nvGrpSpPr>
          <p:cNvPr id="9" name="Group 9"/>
          <p:cNvGrpSpPr/>
          <p:nvPr/>
        </p:nvGrpSpPr>
        <p:grpSpPr>
          <a:xfrm>
            <a:off x="685800" y="1257300"/>
            <a:ext cx="10820400" cy="4514850"/>
            <a:chOff x="685800" y="1257300"/>
            <a:chExt cx="10820400" cy="4514850"/>
          </a:xfrm>
        </p:grpSpPr>
        <p:sp>
          <p:nvSpPr>
            <p:cNvPr id="7" name="Line 7"/>
            <p:cNvSpPr/>
            <p:nvPr/>
          </p:nvSpPr>
          <p:spPr>
            <a:xfrm>
              <a:off x="6096000" y="1257300"/>
              <a:ext cx="9525" cy="4514850"/>
            </a:xfrm>
            <a:custGeom>
              <a:avLst/>
              <a:gdLst/>
              <a:ahLst/>
              <a:cxnLst/>
              <a:rect l="l" t="t" r="r" b="b"/>
              <a:pathLst>
                <a:path w="9525" h="4514850">
                  <a:moveTo>
                    <a:pt x="0" y="0"/>
                  </a:moveTo>
                  <a:lnTo>
                    <a:pt x="0" y="4514850"/>
                  </a:lnTo>
                </a:path>
              </a:pathLst>
            </a:custGeom>
            <a:noFill/>
            <a:ln w="9525">
              <a:solidFill>
                <a:srgbClr val="D8DEE3"/>
              </a:solidFill>
            </a:ln>
          </p:spPr>
        </p:sp>
        <p:sp>
          <p:nvSpPr>
            <p:cNvPr id="8" name="Line 8"/>
            <p:cNvSpPr/>
            <p:nvPr/>
          </p:nvSpPr>
          <p:spPr>
            <a:xfrm>
              <a:off x="685800" y="3486150"/>
              <a:ext cx="10820400" cy="9525"/>
            </a:xfrm>
            <a:custGeom>
              <a:avLst/>
              <a:gdLst/>
              <a:ahLst/>
              <a:cxnLst/>
              <a:rect l="l" t="t" r="r" b="b"/>
              <a:pathLst>
                <a:path w="10820400" h="9525">
                  <a:moveTo>
                    <a:pt x="0" y="0"/>
                  </a:moveTo>
                  <a:lnTo>
                    <a:pt x="10820400" y="0"/>
                  </a:lnTo>
                </a:path>
              </a:pathLst>
            </a:custGeom>
            <a:noFill/>
            <a:ln w="9525">
              <a:solidFill>
                <a:srgbClr val="D8DEE3"/>
              </a:solidFill>
            </a:ln>
          </p:spPr>
        </p:sp>
      </p:grpSp>
      <p:grpSp>
        <p:nvGrpSpPr>
          <p:cNvPr id="13" name="Group 13"/>
          <p:cNvGrpSpPr/>
          <p:nvPr/>
        </p:nvGrpSpPr>
        <p:grpSpPr>
          <a:xfrm>
            <a:off x="661035" y="1313498"/>
            <a:ext cx="5412105" cy="1201102"/>
            <a:chOff x="661035" y="1313498"/>
            <a:chExt cx="5412105" cy="1201102"/>
          </a:xfrm>
        </p:grpSpPr>
        <p:sp>
          <p:nvSpPr>
            <p:cNvPr id="10" name="TextBox 10"/>
            <p:cNvSpPr txBox="1"/>
            <p:nvPr/>
          </p:nvSpPr>
          <p:spPr>
            <a:xfrm>
              <a:off x="661035" y="1313498"/>
              <a:ext cx="349868" cy="396240"/>
            </a:xfrm>
            <a:prstGeom prst="rect">
              <a:avLst/>
            </a:prstGeom>
            <a:noFill/>
            <a:ln>
              <a:noFill/>
            </a:ln>
          </p:spPr>
          <p:txBody>
            <a:bodyPr wrap="none" lIns="0" tIns="0" rIns="0" bIns="0" anchor="t" anchorCtr="0">
              <a:spAutoFit/>
            </a:bodyPr>
            <a:lstStyle/>
            <a:p>
              <a:pPr algn="l"/>
              <a:r>
                <a:rPr lang="zh-CN" sz="1950" b="1" dirty="0">
                  <a:solidFill>
                    <a:srgbClr val="17324D"/>
                  </a:solidFill>
                  <a:latin typeface="Arial"/>
                  <a:ea typeface="Microsoft YaHei"/>
                  <a:cs typeface="Arial"/>
                </a:rPr>
                <a:t>01</a:t>
              </a:r>
            </a:p>
          </p:txBody>
        </p:sp>
        <p:sp>
          <p:nvSpPr>
            <p:cNvPr id="11" name="TextBox 11"/>
            <p:cNvSpPr txBox="1"/>
            <p:nvPr/>
          </p:nvSpPr>
          <p:spPr>
            <a:xfrm>
              <a:off x="1182052" y="1341596"/>
              <a:ext cx="4565411"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From individual interaction to group formation</a:t>
              </a:r>
            </a:p>
          </p:txBody>
        </p:sp>
        <p:sp>
          <p:nvSpPr>
            <p:cNvPr id="12" name="TextBox 12"/>
            <p:cNvSpPr txBox="1"/>
            <p:nvPr/>
          </p:nvSpPr>
          <p:spPr>
            <a:xfrm>
              <a:off x="670560" y="1813560"/>
              <a:ext cx="5402580" cy="701040"/>
            </a:xfrm>
            <a:prstGeom prst="rect">
              <a:avLst/>
            </a:prstGeom>
            <a:noFill/>
            <a:ln>
              <a:noFill/>
            </a:ln>
          </p:spPr>
          <p:txBody>
            <a:bodyPr wrap="square" lIns="0" tIns="0" rIns="0" bIns="0" anchor="t" anchorCtr="0"/>
            <a:lstStyle/>
            <a:p>
              <a:pPr algn="l">
                <a:lnSpc>
                  <a:spcPts val="1800"/>
                </a:lnSpc>
              </a:pPr>
              <a:r>
                <a:rPr lang="zh-CN" sz="1200" dirty="0">
                  <a:solidFill>
                    <a:srgbClr val="20262B"/>
                  </a:solidFill>
                  <a:latin typeface="Arial"/>
                  <a:ea typeface="Microsoft YaHei"/>
                  <a:cs typeface="Arial"/>
                </a:rPr>
                <a:t xml:space="preserve">Extend human–LLM interaction research from individual responses </a:t>
              </a:r>
              <a:r>
                <a:rPr lang="zh-CN" sz="1200" dirty="0">
                  <a:solidFill>
                    <a:srgbClr val="20262B"/>
                  </a:solidFill>
                  <a:latin typeface="Arial"/>
                  <a:ea typeface="Microsoft YaHei"/>
                  <a:cs typeface="Arial"/>
                </a:rPr>
                <a:t xml:space="preserve">to a micro–macro process connecting generated information, exposure, </a:t>
              </a:r>
              <a:r>
                <a:rPr lang="zh-CN" sz="1200" dirty="0">
                  <a:solidFill>
                    <a:srgbClr val="20262B"/>
                  </a:solidFill>
                  <a:latin typeface="Arial"/>
                  <a:ea typeface="Microsoft YaHei"/>
                  <a:cs typeface="Arial"/>
                </a:rPr>
                <a:t>diffusion, opinion updating, and group opinion distributions.</a:t>
              </a:r>
            </a:p>
          </p:txBody>
        </p:sp>
      </p:grpSp>
      <p:grpSp>
        <p:nvGrpSpPr>
          <p:cNvPr id="18" name="Group 18"/>
          <p:cNvGrpSpPr/>
          <p:nvPr/>
        </p:nvGrpSpPr>
        <p:grpSpPr>
          <a:xfrm>
            <a:off x="6414135" y="1313498"/>
            <a:ext cx="5153025" cy="1697161"/>
            <a:chOff x="6414135" y="1313498"/>
            <a:chExt cx="5153025" cy="1697161"/>
          </a:xfrm>
        </p:grpSpPr>
        <p:sp>
          <p:nvSpPr>
            <p:cNvPr id="14" name="TextBox 14"/>
            <p:cNvSpPr txBox="1"/>
            <p:nvPr/>
          </p:nvSpPr>
          <p:spPr>
            <a:xfrm>
              <a:off x="6414135" y="1313498"/>
              <a:ext cx="349868" cy="396240"/>
            </a:xfrm>
            <a:prstGeom prst="rect">
              <a:avLst/>
            </a:prstGeom>
            <a:noFill/>
            <a:ln>
              <a:noFill/>
            </a:ln>
          </p:spPr>
          <p:txBody>
            <a:bodyPr wrap="none" lIns="0" tIns="0" rIns="0" bIns="0" anchor="t" anchorCtr="0">
              <a:spAutoFit/>
            </a:bodyPr>
            <a:lstStyle/>
            <a:p>
              <a:pPr algn="l"/>
              <a:r>
                <a:rPr lang="zh-CN" sz="1950" b="1" dirty="0">
                  <a:solidFill>
                    <a:srgbClr val="17324D"/>
                  </a:solidFill>
                  <a:latin typeface="Arial"/>
                  <a:ea typeface="Microsoft YaHei"/>
                  <a:cs typeface="Arial"/>
                </a:rPr>
                <a:t>02</a:t>
              </a:r>
            </a:p>
          </p:txBody>
        </p:sp>
        <p:sp>
          <p:nvSpPr>
            <p:cNvPr id="15" name="TextBox 15"/>
            <p:cNvSpPr txBox="1"/>
            <p:nvPr/>
          </p:nvSpPr>
          <p:spPr>
            <a:xfrm>
              <a:off x="6935152" y="1341596"/>
              <a:ext cx="4625269"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Natural-language processes in opinion dynamics</a:t>
              </a:r>
            </a:p>
          </p:txBody>
        </p:sp>
        <p:sp>
          <p:nvSpPr>
            <p:cNvPr id="16" name="TextBox 16"/>
            <p:cNvSpPr txBox="1"/>
            <p:nvPr/>
          </p:nvSpPr>
          <p:spPr>
            <a:xfrm>
              <a:off x="6423660" y="1813560"/>
              <a:ext cx="5143500" cy="472440"/>
            </a:xfrm>
            <a:prstGeom prst="rect">
              <a:avLst/>
            </a:prstGeom>
            <a:noFill/>
            <a:ln>
              <a:noFill/>
            </a:ln>
          </p:spPr>
          <p:txBody>
            <a:bodyPr wrap="square" lIns="0" tIns="0" rIns="0" bIns="0" anchor="t" anchorCtr="0"/>
            <a:lstStyle/>
            <a:p>
              <a:pPr algn="l">
                <a:lnSpc>
                  <a:spcPts val="1800"/>
                </a:lnSpc>
              </a:pPr>
              <a:r>
                <a:rPr lang="zh-CN" sz="1200" dirty="0">
                  <a:solidFill>
                    <a:srgbClr val="20262B"/>
                  </a:solidFill>
                  <a:latin typeface="Arial"/>
                  <a:ea typeface="Microsoft YaHei"/>
                  <a:cs typeface="Arial"/>
                </a:rPr>
                <a:t xml:space="preserve">Separate message generation, information selection, and opinion </a:t>
              </a:r>
              <a:r>
                <a:rPr lang="zh-CN" sz="1200" dirty="0">
                  <a:solidFill>
                    <a:srgbClr val="20262B"/>
                  </a:solidFill>
                  <a:latin typeface="Arial"/>
                  <a:ea typeface="Microsoft YaHei"/>
                  <a:cs typeface="Arial"/>
                </a:rPr>
                <a:t>updating so that language content is not compressed into one state.</a:t>
              </a:r>
            </a:p>
          </p:txBody>
        </p:sp>
        <p:pic>
          <p:nvPicPr>
            <p:cNvPr id="17" name="Image 17"/>
            <p:cNvPicPr>
              <a:picLocks noChangeAspect="1"/>
            </p:cNvPicPr>
            <p:nvPr/>
          </p:nvPicPr>
          <p:blipFill>
            <a:blip r:embed="rId2"/>
            <a:stretch>
              <a:fillRect/>
            </a:stretch>
          </p:blipFill>
          <p:spPr>
            <a:xfrm>
              <a:off x="6896100" y="2704342"/>
              <a:ext cx="4000500" cy="306317"/>
            </a:xfrm>
            <a:prstGeom prst="rect">
              <a:avLst/>
            </a:prstGeom>
          </p:spPr>
        </p:pic>
      </p:grpSp>
      <p:grpSp>
        <p:nvGrpSpPr>
          <p:cNvPr id="22" name="Group 22"/>
          <p:cNvGrpSpPr/>
          <p:nvPr/>
        </p:nvGrpSpPr>
        <p:grpSpPr>
          <a:xfrm>
            <a:off x="661035" y="3732848"/>
            <a:ext cx="4924425" cy="1201102"/>
            <a:chOff x="661035" y="3732848"/>
            <a:chExt cx="4924425" cy="1201102"/>
          </a:xfrm>
        </p:grpSpPr>
        <p:sp>
          <p:nvSpPr>
            <p:cNvPr id="19" name="TextBox 19"/>
            <p:cNvSpPr txBox="1"/>
            <p:nvPr/>
          </p:nvSpPr>
          <p:spPr>
            <a:xfrm>
              <a:off x="661035" y="3732848"/>
              <a:ext cx="349868" cy="396240"/>
            </a:xfrm>
            <a:prstGeom prst="rect">
              <a:avLst/>
            </a:prstGeom>
            <a:noFill/>
            <a:ln>
              <a:noFill/>
            </a:ln>
          </p:spPr>
          <p:txBody>
            <a:bodyPr wrap="none" lIns="0" tIns="0" rIns="0" bIns="0" anchor="t" anchorCtr="0">
              <a:spAutoFit/>
            </a:bodyPr>
            <a:lstStyle/>
            <a:p>
              <a:pPr algn="l"/>
              <a:r>
                <a:rPr lang="zh-CN" sz="1950" b="1" dirty="0">
                  <a:solidFill>
                    <a:srgbClr val="17324D"/>
                  </a:solidFill>
                  <a:latin typeface="Arial"/>
                  <a:ea typeface="Microsoft YaHei"/>
                  <a:cs typeface="Arial"/>
                </a:rPr>
                <a:t>03</a:t>
              </a:r>
            </a:p>
          </p:txBody>
        </p:sp>
        <p:sp>
          <p:nvSpPr>
            <p:cNvPr id="20" name="TextBox 20"/>
            <p:cNvSpPr txBox="1"/>
            <p:nvPr/>
          </p:nvSpPr>
          <p:spPr>
            <a:xfrm>
              <a:off x="1182052" y="3760946"/>
              <a:ext cx="3817193"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Boundaries of LLM-output homogeneity</a:t>
              </a:r>
            </a:p>
          </p:txBody>
        </p:sp>
        <p:sp>
          <p:nvSpPr>
            <p:cNvPr id="21" name="TextBox 21"/>
            <p:cNvSpPr txBox="1"/>
            <p:nvPr/>
          </p:nvSpPr>
          <p:spPr>
            <a:xfrm>
              <a:off x="670560" y="4232910"/>
              <a:ext cx="4914900" cy="701040"/>
            </a:xfrm>
            <a:prstGeom prst="rect">
              <a:avLst/>
            </a:prstGeom>
            <a:noFill/>
            <a:ln>
              <a:noFill/>
            </a:ln>
          </p:spPr>
          <p:txBody>
            <a:bodyPr wrap="square" lIns="0" tIns="0" rIns="0" bIns="0" anchor="t" anchorCtr="0"/>
            <a:lstStyle/>
            <a:p>
              <a:pPr algn="l">
                <a:lnSpc>
                  <a:spcPts val="1800"/>
                </a:lnSpc>
              </a:pPr>
              <a:r>
                <a:rPr lang="zh-CN" sz="1200" dirty="0">
                  <a:solidFill>
                    <a:srgbClr val="20262B"/>
                  </a:solidFill>
                  <a:latin typeface="Arial"/>
                  <a:ea typeface="Microsoft YaHei"/>
                  <a:cs typeface="Arial"/>
                </a:rPr>
                <a:t xml:space="preserve">Test when shared information promotes convergence and when </a:t>
              </a:r>
              <a:r>
                <a:rPr lang="zh-CN" sz="1200" dirty="0">
                  <a:solidFill>
                    <a:srgbClr val="20262B"/>
                  </a:solidFill>
                  <a:latin typeface="Arial"/>
                  <a:ea typeface="Microsoft YaHei"/>
                  <a:cs typeface="Arial"/>
                </a:rPr>
                <a:t xml:space="preserve">stance-conditioned generation plus bounded acceptance promotes </a:t>
              </a:r>
              <a:r>
                <a:rPr lang="zh-CN" sz="1200" dirty="0">
                  <a:solidFill>
                    <a:srgbClr val="20262B"/>
                  </a:solidFill>
                  <a:latin typeface="Arial"/>
                  <a:ea typeface="Microsoft YaHei"/>
                  <a:cs typeface="Arial"/>
                </a:rPr>
                <a:t>clustering, polarization, or persistent differentiation.</a:t>
              </a:r>
            </a:p>
          </p:txBody>
        </p:sp>
      </p:grpSp>
      <p:grpSp>
        <p:nvGrpSpPr>
          <p:cNvPr id="26" name="Group 26"/>
          <p:cNvGrpSpPr/>
          <p:nvPr/>
        </p:nvGrpSpPr>
        <p:grpSpPr>
          <a:xfrm>
            <a:off x="6414135" y="3732848"/>
            <a:ext cx="5198745" cy="1201102"/>
            <a:chOff x="6414135" y="3732848"/>
            <a:chExt cx="5198745" cy="1201102"/>
          </a:xfrm>
        </p:grpSpPr>
        <p:sp>
          <p:nvSpPr>
            <p:cNvPr id="23" name="TextBox 23"/>
            <p:cNvSpPr txBox="1"/>
            <p:nvPr/>
          </p:nvSpPr>
          <p:spPr>
            <a:xfrm>
              <a:off x="6414135" y="3732848"/>
              <a:ext cx="349868" cy="396240"/>
            </a:xfrm>
            <a:prstGeom prst="rect">
              <a:avLst/>
            </a:prstGeom>
            <a:noFill/>
            <a:ln>
              <a:noFill/>
            </a:ln>
          </p:spPr>
          <p:txBody>
            <a:bodyPr wrap="none" lIns="0" tIns="0" rIns="0" bIns="0" anchor="t" anchorCtr="0">
              <a:spAutoFit/>
            </a:bodyPr>
            <a:lstStyle/>
            <a:p>
              <a:pPr algn="l"/>
              <a:r>
                <a:rPr lang="zh-CN" sz="1950" b="1" dirty="0">
                  <a:solidFill>
                    <a:srgbClr val="17324D"/>
                  </a:solidFill>
                  <a:latin typeface="Arial"/>
                  <a:ea typeface="Microsoft YaHei"/>
                  <a:cs typeface="Arial"/>
                </a:rPr>
                <a:t>04</a:t>
              </a:r>
            </a:p>
          </p:txBody>
        </p:sp>
        <p:sp>
          <p:nvSpPr>
            <p:cNvPr id="24" name="TextBox 24"/>
            <p:cNvSpPr txBox="1"/>
            <p:nvPr/>
          </p:nvSpPr>
          <p:spPr>
            <a:xfrm>
              <a:off x="6935152" y="3760946"/>
              <a:ext cx="3617668" cy="289560"/>
            </a:xfrm>
            <a:prstGeom prst="rect">
              <a:avLst/>
            </a:prstGeom>
            <a:noFill/>
            <a:ln>
              <a:noFill/>
            </a:ln>
          </p:spPr>
          <p:txBody>
            <a:bodyPr wrap="none" lIns="0" tIns="0" rIns="0" bIns="0" anchor="t" anchorCtr="0">
              <a:spAutoFit/>
            </a:bodyPr>
            <a:lstStyle/>
            <a:p>
              <a:pPr algn="l"/>
              <a:r>
                <a:rPr lang="zh-CN" sz="1425" b="1" dirty="0">
                  <a:solidFill>
                    <a:srgbClr val="20262B"/>
                  </a:solidFill>
                  <a:latin typeface="Arial"/>
                  <a:ea typeface="Microsoft YaHei"/>
                  <a:cs typeface="Arial"/>
                </a:rPr>
                <a:t>Extend the explanatory scope of ABM</a:t>
              </a:r>
            </a:p>
          </p:txBody>
        </p:sp>
        <p:sp>
          <p:nvSpPr>
            <p:cNvPr id="25" name="TextBox 25"/>
            <p:cNvSpPr txBox="1"/>
            <p:nvPr/>
          </p:nvSpPr>
          <p:spPr>
            <a:xfrm>
              <a:off x="6423660" y="4232910"/>
              <a:ext cx="5189220" cy="701040"/>
            </a:xfrm>
            <a:prstGeom prst="rect">
              <a:avLst/>
            </a:prstGeom>
            <a:noFill/>
            <a:ln>
              <a:noFill/>
            </a:ln>
          </p:spPr>
          <p:txBody>
            <a:bodyPr wrap="square" lIns="0" tIns="0" rIns="0" bIns="0" anchor="t" anchorCtr="0"/>
            <a:lstStyle/>
            <a:p>
              <a:pPr algn="l">
                <a:lnSpc>
                  <a:spcPts val="1800"/>
                </a:lnSpc>
              </a:pPr>
              <a:r>
                <a:rPr lang="zh-CN" sz="1200" dirty="0">
                  <a:solidFill>
                    <a:srgbClr val="20262B"/>
                  </a:solidFill>
                  <a:latin typeface="Arial"/>
                  <a:ea typeface="Microsoft YaHei"/>
                  <a:cs typeface="Arial"/>
                </a:rPr>
                <a:t xml:space="preserve">Combine explicit dynamic rules with readable natural-language </a:t>
              </a:r>
              <a:r>
                <a:rPr lang="zh-CN" sz="1200" dirty="0">
                  <a:solidFill>
                    <a:srgbClr val="20262B"/>
                  </a:solidFill>
                  <a:latin typeface="Arial"/>
                  <a:ea typeface="Microsoft YaHei"/>
                  <a:cs typeface="Arial"/>
                </a:rPr>
                <a:t xml:space="preserve">process records. Trace group outcomes through messages, exposure </a:t>
              </a:r>
              <a:r>
                <a:rPr lang="zh-CN" sz="1200" dirty="0">
                  <a:solidFill>
                    <a:srgbClr val="20262B"/>
                  </a:solidFill>
                  <a:latin typeface="Arial"/>
                  <a:ea typeface="Microsoft YaHei"/>
                  <a:cs typeface="Arial"/>
                </a:rPr>
                <a:t>sets, diffusion paths, and round-by-round opinion changes.</a:t>
              </a:r>
            </a:p>
          </p:txBody>
        </p:sp>
      </p:grpSp>
      <p:grpSp>
        <p:nvGrpSpPr>
          <p:cNvPr id="29" name="Group 29"/>
          <p:cNvGrpSpPr/>
          <p:nvPr/>
        </p:nvGrpSpPr>
        <p:grpSpPr>
          <a:xfrm>
            <a:off x="672465" y="5867400"/>
            <a:ext cx="10833735" cy="557212"/>
            <a:chOff x="672465" y="5867400"/>
            <a:chExt cx="10833735" cy="557212"/>
          </a:xfrm>
        </p:grpSpPr>
        <p:sp>
          <p:nvSpPr>
            <p:cNvPr id="27" name="Line 27"/>
            <p:cNvSpPr/>
            <p:nvPr/>
          </p:nvSpPr>
          <p:spPr>
            <a:xfrm>
              <a:off x="685800" y="5867400"/>
              <a:ext cx="10820400" cy="9525"/>
            </a:xfrm>
            <a:custGeom>
              <a:avLst/>
              <a:gdLst/>
              <a:ahLst/>
              <a:cxnLst/>
              <a:rect l="l" t="t" r="r" b="b"/>
              <a:pathLst>
                <a:path w="10820400" h="9525">
                  <a:moveTo>
                    <a:pt x="0" y="0"/>
                  </a:moveTo>
                  <a:lnTo>
                    <a:pt x="10820400" y="0"/>
                  </a:lnTo>
                </a:path>
              </a:pathLst>
            </a:custGeom>
            <a:noFill/>
            <a:ln w="9525">
              <a:solidFill>
                <a:srgbClr val="17324D"/>
              </a:solidFill>
            </a:ln>
          </p:spPr>
        </p:sp>
        <p:sp>
          <p:nvSpPr>
            <p:cNvPr id="28" name="TextBox 28"/>
            <p:cNvSpPr txBox="1"/>
            <p:nvPr/>
          </p:nvSpPr>
          <p:spPr>
            <a:xfrm>
              <a:off x="672465" y="6020752"/>
              <a:ext cx="5047297" cy="403860"/>
            </a:xfrm>
            <a:prstGeom prst="rect">
              <a:avLst/>
            </a:prstGeom>
            <a:noFill/>
            <a:ln>
              <a:noFill/>
            </a:ln>
          </p:spPr>
          <p:txBody>
            <a:bodyPr wrap="square" lIns="0" tIns="0" rIns="0" bIns="0" anchor="t" anchorCtr="0"/>
            <a:lstStyle/>
            <a:p>
              <a:pPr algn="l">
                <a:lnSpc>
                  <a:spcPts val="1500"/>
                </a:lnSpc>
              </a:pPr>
              <a:r>
                <a:rPr lang="zh-CN" sz="1050" dirty="0">
                  <a:solidFill>
                    <a:srgbClr val="7A8792"/>
                  </a:solidFill>
                  <a:latin typeface="Arial"/>
                  <a:ea typeface="Microsoft YaHei"/>
                  <a:cs typeface="Arial"/>
                </a:rPr>
                <a:t xml:space="preserve">All contributions are prospective and will be retained, narrowed, or removed </a:t>
              </a:r>
              <a:r>
                <a:rPr lang="zh-CN" sz="1050" dirty="0">
                  <a:solidFill>
                    <a:srgbClr val="7A8792"/>
                  </a:solidFill>
                  <a:latin typeface="Arial"/>
                  <a:ea typeface="Microsoft YaHei"/>
                  <a:cs typeface="Arial"/>
                </a:rPr>
                <a:t>according to the evidence for SQ1–SQ3.</a:t>
              </a:r>
            </a:p>
          </p:txBody>
        </p:sp>
      </p:grpSp>
      <p:sp>
        <p:nvSpPr>
          <p:cNvPr id="30" name="TextBox 30"/>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A8792"/>
                </a:solidFill>
                <a:latin typeface="Arial"/>
                <a:ea typeface="Microsoft YaHei"/>
                <a:cs typeface="Arial"/>
              </a:rPr>
              <a:t>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image">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left)">
                                      <p:cBhvr>
                                        <p:cTn id="15" dur="400"/>
                                        <p:tgtEl>
                                          <p:spTgt spid="18"/>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slide(fromBottom)">
                                      <p:cBhvr>
                                        <p:cTn id="19" dur="400"/>
                                        <p:tgtEl>
                                          <p:spTgt spid="22"/>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image">
                                      <p:cBhvr>
                                        <p:cTn id="23" dur="400"/>
                                        <p:tgtEl>
                                          <p:spTgt spid="26"/>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8" grpId="0"/>
      <p:bldP spid="22" grpId="0"/>
      <p:bldP spid="26" grpId="0"/>
      <p:bldP spid="2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2026-08-26T04:16:45Z</dcterms:created>
  <dcterms:modified xsi:type="dcterms:W3CDTF">2026-08-26T04:16:45Z</dcterms:modified>
  <cp:category/>
  <cp:contentStatus/>
</cp:coreProperties>
</file>