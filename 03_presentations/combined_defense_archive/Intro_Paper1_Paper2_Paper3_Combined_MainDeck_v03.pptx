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3" r:id="rId10"/>
    <p:sldId id="264" r:id="rId11"/>
    <p:sldId id="265" r:id="rId12"/>
    <p:sldId id="266" r:id="rId13"/>
    <p:sldId id="267" r:id="rId14"/>
    <p:sldId id="262"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1" r:id="rId38"/>
    <p:sldId id="290" r:id="rId39"/>
    <p:sldId id="292" r:id="rId40"/>
    <p:sldId id="297" r:id="rId41"/>
    <p:sldId id="294" r:id="rId42"/>
    <p:sldId id="295" r:id="rId43"/>
    <p:sldId id="296" r:id="rId4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汉克克克克克克克" initials="authorId_374294938"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commentAuthors" Target="commentAuthors.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oleObject" Target="NULL"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Balanced</c:f>
              <c:strCache>
                <c:ptCount val="1"/>
                <c:pt idx="0">
                  <c:v>Balanced</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{54,52,55,56}</c:f>
              <c:numCache>
                <c:formatCode>General</c:formatCode>
                <c:ptCount val="4"/>
                <c:pt idx="0">
                  <c:v>54</c:v>
                </c:pt>
                <c:pt idx="1">
                  <c:v>52</c:v>
                </c:pt>
                <c:pt idx="2">
                  <c:v>55</c:v>
                </c:pt>
                <c:pt idx="3">
                  <c:v>56</c:v>
                </c:pt>
              </c:numCache>
            </c:numRef>
          </c:val>
          <c:smooth val="0"/>
        </c:ser>
        <c:ser>
          <c:idx val="1"/>
          <c:order val="1"/>
          <c:tx>
            <c:strRef>
              <c:f>Early Shock</c:f>
              <c:strCache>
                <c:ptCount val="1"/>
                <c:pt idx="0">
                  <c:v>Early Shock</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{54,36,40,44}</c:f>
              <c:numCache>
                <c:formatCode>General</c:formatCode>
                <c:ptCount val="4"/>
                <c:pt idx="0">
                  <c:v>54</c:v>
                </c:pt>
                <c:pt idx="1">
                  <c:v>36</c:v>
                </c:pt>
                <c:pt idx="2">
                  <c:v>40</c:v>
                </c:pt>
                <c:pt idx="3">
                  <c:v>44</c:v>
                </c:pt>
              </c:numCache>
            </c:numRef>
          </c:val>
          <c:smooth val="0"/>
        </c:ser>
        <c:ser>
          <c:idx val="2"/>
          <c:order val="2"/>
          <c:tx>
            <c:strRef>
              <c:f>Mid Shock</c:f>
              <c:strCache>
                <c:ptCount val="1"/>
                <c:pt idx="0">
                  <c:v>Mid Shock</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{54,50,37,42}</c:f>
              <c:numCache>
                <c:formatCode>General</c:formatCode>
                <c:ptCount val="4"/>
                <c:pt idx="0">
                  <c:v>54</c:v>
                </c:pt>
                <c:pt idx="1">
                  <c:v>50</c:v>
                </c:pt>
                <c:pt idx="2">
                  <c:v>37</c:v>
                </c:pt>
                <c:pt idx="3">
                  <c:v>42</c:v>
                </c:pt>
              </c:numCache>
            </c:numRef>
          </c:val>
          <c:smooth val="0"/>
        </c:ser>
        <c:dLbls>
          <c:showLegendKey val="1"/>
          <c:showVal val="1"/>
          <c:showCatName val="1"/>
          <c:showSerName val="1"/>
          <c:showPercent val="1"/>
          <c:showBubbleSize val="1"/>
        </c:dLbls>
        <c:marker val="0"/>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D8CCBB"/>
              </a:solidFill>
              <a:prstDash val="solid"/>
              <a:round/>
            </a:ln>
          </c:spPr>
        </c:majorGridlines>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50112"/>
        <c:crosses val="autoZero"/>
        <c:crossBetween val="between"/>
      </c:valAx>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c89554e0-413e-427c-8165-c5403faf2faa}"/>
      </c:ext>
    </c:extLst>
  </c:chart>
  <c:txPr>
    <a:bodyPr/>
    <a:lstStyle/>
    <a:p>
      <a:pPr>
        <a:defRPr lang="zh-CN"/>
      </a:pPr>
    </a:p>
  </c:txPr>
  <c:externalData r:id="rId1">
    <c:autoUpdate val="0"/>
  </c:externalData>
</c:chartSpace>
</file>

<file path=ppt/comments/comment1.xml><?xml version="1.0" encoding="utf-8"?>
<p:cmLst xmlns:a="http://schemas.openxmlformats.org/drawingml/2006/main" xmlns:r="http://schemas.openxmlformats.org/officeDocument/2006/relationships" xmlns:p="http://schemas.openxmlformats.org/presentationml/2006/main">
  <p:cm authorId="1" dt="2026-07-07T01:50:45.988" idx="1">
    <p:pos x="10" y="10"/>
    <p:text>要多练这个</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p:txBody>
      </p:sp>
      <p:sp>
        <p:nvSpPr>
          <p:cNvPr id="3" name="Date Placeholder"/>
          <p:cNvSpPr>
            <a:spLocks noGrp="1"/>
          </p:cNvSpPr>
          <p:nvPr>
            <p:ph type="dt" sz="quarter" idx="1"/>
          </p:nvPr>
        </p:nvSpPr>
        <p:spPr>
          <a:prstGeom prst="rect">
            <a:avLst/>
          </a:prstGeom>
        </p:spPr>
        <p:txBody>
          <a:bodyPr/>
          <a:lstStyle/>
          <a:p/>
        </p:txBody>
      </p:sp>
      <p:sp>
        <p:nvSpPr>
          <p:cNvPr id="4" name="Slide Image Placeholder"/>
          <p:cNvSpPr>
            <a:spLocks noGrp="1" noRot="1" noChangeAspect="1"/>
          </p:cNvSpPr>
          <p:nvPr>
            <p:ph type="sldImg" idx="2"/>
          </p:nvPr>
        </p:nvSpPr>
        <p:spPr>
          <a:prstGeom prst="rect">
            <a:avLst/>
          </a:prstGeom>
        </p:spPr>
        <p:txBody>
          <a:bodyPr/>
          <a:lstStyle/>
          <a:p/>
        </p:txBody>
      </p:sp>
      <p:sp>
        <p:nvSpPr>
          <p:cNvPr id="5" name="Notes Placeholder"/>
          <p:cNvSpPr>
            <a:spLocks noGrp="1"/>
          </p:cNvSpPr>
          <p:nvPr>
            <p:ph type="body" sz="quarter" idx="3"/>
          </p:nvPr>
        </p:nvSpPr>
        <p:spPr>
          <a:prstGeom prst="rect">
            <a:avLst/>
          </a:prstGeom>
        </p:spPr>
        <p:txBody>
          <a:bodyPr/>
          <a:lstStyle/>
          <a:p/>
        </p:txBody>
      </p:sp>
      <p:sp>
        <p:nvSpPr>
          <p:cNvPr id="6" name="Footer Placeholder"/>
          <p:cNvSpPr>
            <a:spLocks noGrp="1"/>
          </p:cNvSpPr>
          <p:nvPr>
            <p:ph type="ftr" sz="quarter" idx="4"/>
          </p:nvPr>
        </p:nvSpPr>
        <p:spPr>
          <a:prstGeom prst="rect">
            <a:avLst/>
          </a:prstGeom>
        </p:spPr>
        <p:txBody>
          <a:bodyPr/>
          <a:lstStyle/>
          <a:p/>
        </p:txBody>
      </p:sp>
      <p:sp>
        <p:nvSpPr>
          <p:cNvPr id="7" name="Slide Number Placeholder"/>
          <p:cNvSpPr>
            <a:spLocks noGrp="1"/>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afternoon, everyone.</a:t>
            </a:r>
            <a:endParaRPr lang="en-US" altLang="zh-CN"/>
          </a:p>
          <a:p>
            <a:r>
              <a:rPr lang="en-US" altLang="zh-CN"/>
              <a:t>Today I'd like to introduce my doctoral research.</a:t>
            </a:r>
            <a:endParaRPr lang="en-US" altLang="zh-CN"/>
          </a:p>
          <a:p>
            <a:r>
              <a:rPr lang="en-US" altLang="zh-CN"/>
              <a:t>Let me begin with a simple observation.</a:t>
            </a:r>
            <a:endParaRPr lang="en-US" altLang="zh-CN"/>
          </a:p>
          <a:p>
            <a:r>
              <a:rPr lang="en-US" altLang="zh-CN"/>
              <a:t>AI is becoming part of many important decisions that we make every day.</a:t>
            </a:r>
            <a:endParaRPr lang="en-US" altLang="zh-CN"/>
          </a:p>
          <a:p>
            <a:r>
              <a:rPr lang="en-US" altLang="zh-CN"/>
              <a:t>We can already see it in healthcare, public administration,  financial investment, and many other high-risk settings.</a:t>
            </a:r>
            <a:endParaRPr lang="en-US" altLang="zh-CN"/>
          </a:p>
          <a:p>
            <a:r>
              <a:rPr lang="en-US" altLang="zh-CN"/>
              <a:t>It is becoming part of real decision-making systems.</a:t>
            </a:r>
            <a:endParaRPr lang="en-US" altLang="zh-CN"/>
          </a:p>
          <a:p>
            <a:r>
              <a:rPr lang="en-US" altLang="zh-CN"/>
              <a:t>Because of this change, AI research or governance can no longer focus only on model performance or safety.</a:t>
            </a:r>
            <a:endParaRPr lang="en-US" altLang="zh-CN"/>
          </a:p>
          <a:p>
            <a:r>
              <a:rPr lang="en-US" altLang="zh-CN"/>
              <a:t>We also need to understand what happens to people once AI becomes part of the decision process.</a:t>
            </a:r>
            <a:endParaRPr lang="en-US" altLang="zh-CN"/>
          </a:p>
          <a:p>
            <a:r>
              <a:rPr lang="en-US" altLang="zh-CN"/>
              <a:t>This is the starting point of my dissertation.</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So what do we already know?</a:t>
            </a:r>
            <a:endParaRPr lang="en-US" altLang="zh-CN"/>
          </a:p>
          <a:p>
            <a:r>
              <a:rPr lang="en-US" altLang="zh-CN"/>
              <a:t>Existing research mainly studies AI from three perspectives.</a:t>
            </a:r>
            <a:endParaRPr lang="en-US" altLang="zh-CN"/>
          </a:p>
          <a:p>
            <a:r>
              <a:rPr lang="en-US" altLang="zh-CN"/>
              <a:t>The first asks whether AI improves human judgment.</a:t>
            </a:r>
            <a:endParaRPr lang="en-US" altLang="zh-CN"/>
          </a:p>
          <a:p>
            <a:r>
              <a:rPr lang="en-US" altLang="zh-CN"/>
              <a:t>The second asks whether people trust and rely on AI.</a:t>
            </a:r>
            <a:endParaRPr lang="en-US" altLang="zh-CN"/>
          </a:p>
          <a:p>
            <a:r>
              <a:rPr lang="en-US" altLang="zh-CN"/>
              <a:t>The third asks who should be responsible after AI-assisted decisions.</a:t>
            </a:r>
            <a:endParaRPr lang="en-US" altLang="zh-CN"/>
          </a:p>
          <a:p>
            <a:r>
              <a:rPr lang="en-US" altLang="zh-CN"/>
              <a:t>These are all important questions.</a:t>
            </a:r>
            <a:endParaRPr lang="en-US" altLang="zh-CN"/>
          </a:p>
          <a:p>
            <a:r>
              <a:rPr lang="en-US" altLang="zh-CN"/>
              <a:t>However, they share one common assumption.</a:t>
            </a:r>
            <a:endParaRPr lang="en-US" altLang="zh-CN"/>
          </a:p>
          <a:p>
            <a:r>
              <a:rPr lang="en-US" altLang="zh-CN"/>
              <a:t>They all treat AI as an external tool.</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Much of this literature still treats AI as a traditional algorithm.</a:t>
            </a:r>
            <a:endParaRPr lang="en-US" altLang="zh-CN"/>
          </a:p>
          <a:p>
            <a:r>
              <a:rPr lang="en-US" altLang="zh-CN"/>
              <a:t>For example, it often explains human-AI interaction through ideas such as algorithm aversion, algorithm appreciation, or advice-taking.</a:t>
            </a:r>
            <a:endParaRPr lang="en-US" altLang="zh-CN"/>
          </a:p>
          <a:p>
            <a:r>
              <a:rPr lang="en-US" altLang="zh-CN"/>
              <a:t>However, it is clear that this cannot explain why people sometimes over trust in AIs while at other times distrust them overly</a:t>
            </a:r>
            <a:endParaRPr lang="en-US" altLang="zh-CN"/>
          </a:p>
          <a:p>
            <a:r>
              <a:rPr lang="en-US" altLang="zh-CN"/>
              <a:t>Another limitation is that many studies still focus too much on the AI side.</a:t>
            </a:r>
            <a:endParaRPr lang="en-US" altLang="zh-CN"/>
          </a:p>
          <a:p>
            <a:r>
              <a:rPr lang="en-US" altLang="zh-CN"/>
              <a:t>They ask whether AI improves performance, whether the model is accurate.</a:t>
            </a:r>
            <a:endParaRPr lang="en-US" altLang="zh-CN"/>
          </a:p>
          <a:p>
            <a:r>
              <a:rPr lang="en-US" altLang="zh-CN"/>
              <a:t>The more important question is what happens on the human side.</a:t>
            </a:r>
            <a:endParaRPr lang="en-US" altLang="zh-CN"/>
          </a:p>
          <a:p>
            <a:r>
              <a:rPr lang="en-US" altLang="zh-CN"/>
              <a:t>we need a different way to understand AI-assisted decision-making.</a:t>
            </a:r>
            <a:endParaRPr lang="en-US" altLang="zh-CN"/>
          </a:p>
          <a:p>
            <a:r>
              <a:rPr lang="en-US" altLang="zh-CN"/>
              <a:t>We need to move from seeing AI as an external algorithmic tool, to seeing AI as part of the human decision process itself.</a:t>
            </a:r>
            <a:endParaRPr lang="en-US" altLang="zh-CN"/>
          </a:p>
          <a:p>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Why is this make sense?</a:t>
            </a:r>
            <a:endParaRPr lang="en-US" altLang="zh-CN"/>
          </a:p>
          <a:p>
            <a:r>
              <a:rPr lang="en-US" altLang="zh-CN"/>
              <a:t>Because large language models communicate through language rather than simple numerical outputs.</a:t>
            </a:r>
            <a:endParaRPr lang="en-US" altLang="zh-CN"/>
          </a:p>
          <a:p>
            <a:r>
              <a:rPr lang="en-US" altLang="zh-CN"/>
              <a:t>They explain,</a:t>
            </a:r>
            <a:endParaRPr lang="en-US" altLang="zh-CN"/>
          </a:p>
          <a:p>
            <a:r>
              <a:rPr lang="en-US" altLang="zh-CN"/>
              <a:t>summarize,</a:t>
            </a:r>
            <a:endParaRPr lang="en-US" altLang="zh-CN"/>
          </a:p>
          <a:p>
            <a:r>
              <a:rPr lang="en-US" altLang="zh-CN"/>
              <a:t>persuade,</a:t>
            </a:r>
            <a:endParaRPr lang="en-US" altLang="zh-CN"/>
          </a:p>
          <a:p>
            <a:r>
              <a:rPr lang="en-US" altLang="zh-CN"/>
              <a:t>reassure,</a:t>
            </a:r>
            <a:endParaRPr lang="en-US" altLang="zh-CN"/>
          </a:p>
          <a:p>
            <a:r>
              <a:rPr lang="en-US" altLang="zh-CN"/>
              <a:t>and organize information.</a:t>
            </a:r>
            <a:endParaRPr lang="en-US" altLang="zh-CN"/>
          </a:p>
          <a:p>
            <a:r>
              <a:rPr lang="en-US" altLang="zh-CN"/>
              <a:t>As a result,</a:t>
            </a:r>
            <a:endParaRPr lang="en-US" altLang="zh-CN"/>
          </a:p>
          <a:p>
            <a:r>
              <a:rPr lang="en-US" altLang="zh-CN"/>
              <a:t>they influence how people understand problems before making decisions.</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a:p>
          <a:p>
            <a:r>
              <a:rPr lang="en-US" altLang="zh-CN"/>
              <a:t>moreover,Large language models are built to work with context.</a:t>
            </a:r>
            <a:endParaRPr lang="en-US" altLang="zh-CN"/>
          </a:p>
          <a:p>
            <a:r>
              <a:rPr lang="en-US" altLang="zh-CN"/>
              <a:t>They can take a question, connect it with surrounding information, and generate a response in natural language.</a:t>
            </a:r>
            <a:endParaRPr lang="en-US" altLang="zh-CN"/>
          </a:p>
          <a:p>
            <a:r>
              <a:rPr lang="en-US" altLang="zh-CN"/>
              <a:t>They give a narrative.</a:t>
            </a:r>
            <a:endParaRPr lang="en-US" altLang="zh-CN"/>
          </a:p>
          <a:p>
            <a:r>
              <a:rPr lang="en-US" altLang="zh-CN"/>
              <a:t>Because of this, they enter the human decision process in a much more direct way.</a:t>
            </a:r>
            <a:endParaRPr lang="en-US" altLang="zh-CN"/>
          </a:p>
          <a:p>
            <a:r>
              <a:rPr lang="en-US" altLang="zh-CN"/>
              <a:t>And they can make a suggestion sound more convincing.</a:t>
            </a:r>
            <a:endParaRPr lang="en-US" altLang="zh-CN"/>
          </a:p>
          <a:p>
            <a:r>
              <a:rPr lang="en-US" altLang="zh-CN"/>
              <a:t>So users are not only influenced by what the AI says.</a:t>
            </a:r>
            <a:endParaRPr lang="en-US" altLang="zh-CN"/>
          </a:p>
          <a:p>
            <a:r>
              <a:rPr lang="en-US" altLang="zh-CN"/>
              <a:t>They are also influenced by how the AI says it.</a:t>
            </a:r>
            <a:endParaRPr lang="en-US" altLang="zh-CN"/>
          </a:p>
          <a:p>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So at this point, I want to move from the background to the core structure of my research.</a:t>
            </a:r>
            <a:endParaRPr lang="en-US" altLang="zh-CN"/>
          </a:p>
          <a:p>
            <a:r>
              <a:rPr lang="en-US" altLang="zh-CN"/>
              <a:t>My argument is that AI does not only affect one single decision.</a:t>
            </a:r>
            <a:endParaRPr lang="en-US" altLang="zh-CN"/>
          </a:p>
          <a:p>
            <a:r>
              <a:rPr lang="en-US" altLang="zh-CN"/>
              <a:t>Before people make a decision, AI may shape how they form beliefs.</a:t>
            </a:r>
            <a:endParaRPr lang="en-US" altLang="zh-CN"/>
          </a:p>
          <a:p>
            <a:r>
              <a:rPr lang="en-US" altLang="zh-CN"/>
              <a:t>Then, after people form a belief, AI may change how they judge risk.</a:t>
            </a:r>
            <a:endParaRPr lang="en-US" altLang="zh-CN"/>
          </a:p>
          <a:p>
            <a:r>
              <a:rPr lang="en-US" altLang="zh-CN"/>
              <a:t>It may also change how much they rely on the system, and when they decide to take action.</a:t>
            </a:r>
            <a:endParaRPr lang="en-US" altLang="zh-CN"/>
          </a:p>
          <a:p>
            <a:r>
              <a:rPr lang="en-US" altLang="zh-CN"/>
              <a:t>Finally, after the action leads to an outcome, AI may also change how responsibility is understood.</a:t>
            </a:r>
            <a:endParaRPr lang="en-US" altLang="zh-CN"/>
          </a:p>
          <a:p>
            <a:r>
              <a:rPr lang="en-US" altLang="zh-CN"/>
              <a:t>So the process is not just:</a:t>
            </a:r>
            <a:endParaRPr lang="en-US" altLang="zh-CN"/>
          </a:p>
          <a:p>
            <a:r>
              <a:rPr lang="en-US" altLang="zh-CN"/>
              <a:t>AI gives advice, and humans accept or reject it.</a:t>
            </a:r>
            <a:endParaRPr lang="en-US" altLang="zh-CN"/>
          </a:p>
          <a:p>
            <a:r>
              <a:rPr lang="en-US" altLang="zh-CN"/>
              <a:t>The process is closer to this:</a:t>
            </a:r>
            <a:endParaRPr lang="en-US" altLang="zh-CN"/>
          </a:p>
          <a:p>
            <a:r>
              <a:rPr lang="en-US" altLang="zh-CN"/>
              <a:t>AI shapes belief formation.</a:t>
            </a:r>
            <a:endParaRPr lang="en-US" altLang="zh-CN"/>
          </a:p>
          <a:p>
            <a:r>
              <a:rPr lang="en-US" altLang="zh-CN"/>
              <a:t>Then it affects reliance and action.</a:t>
            </a:r>
            <a:endParaRPr lang="en-US" altLang="zh-CN"/>
          </a:p>
          <a:p>
            <a:r>
              <a:rPr lang="en-US" altLang="zh-CN"/>
              <a:t>And finally, it influences responsibility attribution.</a:t>
            </a:r>
            <a:endParaRPr lang="en-US" altLang="zh-CN"/>
          </a:p>
          <a:p>
            <a:r>
              <a:rPr lang="en-US" altLang="zh-CN"/>
              <a:t>This is the shared process behind the three papers in my dissertation.</a:t>
            </a:r>
            <a:endParaRPr lang="en-US" altLang="zh-CN"/>
          </a:p>
          <a:p>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is where the dissertation separates into the three papers.
The three papers are connected because they examine one continuous human-AI decision process.
But they are also independent because each one isolates a different mapping, mechanism, and outcome.
Paper 1 studies evidence to belief.
It asks how answer-first AI changes evidence search, belief updating, and subjective information mastery.
Paper 2 studies feedback to reliance and action threshold.
It asks how AI error and repeated feedback recalibrate later reliance.
Paper 3 studies action to responsibility.
It asks how AI-assisted action reshapes ownership and responsibility attribution.
I begin with Paper 1 because later reliance and responsibility already depend on a belief base that AI may have reshaped.</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Now I will move to the first paper of my dissertation.</a:t>
            </a:r>
            <a:endParaRPr lang="en-US">
              <a:latin typeface="Times New Roman" panose="02020603050405020304" pitchFamily="18" charset="0"/>
            </a:endParaRPr>
          </a:p>
          <a:p>
            <a:r>
              <a:rPr lang="en-US">
                <a:latin typeface="Times New Roman" panose="02020603050405020304" pitchFamily="18" charset="0"/>
              </a:rPr>
              <a:t>This paper focuses how people move from evidence to belief.</a:t>
            </a:r>
            <a:endParaRPr lang="en-US">
              <a:latin typeface="Times New Roman" panose="02020603050405020304" pitchFamily="18" charset="0"/>
            </a:endParaRPr>
          </a:p>
          <a:p>
            <a:r>
              <a:rPr lang="en-US">
                <a:latin typeface="Times New Roman" panose="02020603050405020304" pitchFamily="18" charset="0"/>
              </a:rPr>
              <a:t>The basic idea is simple.</a:t>
            </a:r>
            <a:endParaRPr lang="en-US">
              <a:latin typeface="Times New Roman" panose="02020603050405020304" pitchFamily="18" charset="0"/>
            </a:endParaRPr>
          </a:p>
          <a:p>
            <a:r>
              <a:rPr lang="en-US">
                <a:latin typeface="Times New Roman" panose="02020603050405020304" pitchFamily="18" charset="0"/>
              </a:rPr>
              <a:t>Generative AI does not only give people an answer faster.</a:t>
            </a:r>
            <a:endParaRPr lang="en-US">
              <a:latin typeface="Times New Roman" panose="02020603050405020304" pitchFamily="18" charset="0"/>
            </a:endParaRPr>
          </a:p>
          <a:p>
            <a:r>
              <a:rPr lang="en-US">
                <a:latin typeface="Times New Roman" panose="02020603050405020304" pitchFamily="18" charset="0"/>
              </a:rPr>
              <a:t>It may also change when people feel they have already seen enough evidence.</a:t>
            </a:r>
            <a:endParaRPr lang="en-US">
              <a:latin typeface="Times New Roman" panose="02020603050405020304" pitchFamily="18" charset="0"/>
            </a:endParaRPr>
          </a:p>
          <a:p>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Let me start with a simple contrast.</a:t>
            </a:r>
            <a:endParaRPr lang="en-US">
              <a:latin typeface="Times New Roman" panose="02020603050405020304" pitchFamily="18" charset="0"/>
            </a:endParaRPr>
          </a:p>
          <a:p>
            <a:r>
              <a:rPr lang="en-US">
                <a:latin typeface="Times New Roman" panose="02020603050405020304" pitchFamily="18" charset="0"/>
              </a:rPr>
              <a:t>When we use a search engine, we usually see evidence first.</a:t>
            </a:r>
            <a:endParaRPr lang="en-US">
              <a:latin typeface="Times New Roman" panose="02020603050405020304" pitchFamily="18" charset="0"/>
            </a:endParaRPr>
          </a:p>
          <a:p>
            <a:r>
              <a:rPr lang="en-US">
                <a:latin typeface="Times New Roman" panose="02020603050405020304" pitchFamily="18" charset="0"/>
              </a:rPr>
              <a:t>We open different links.</a:t>
            </a:r>
            <a:endParaRPr lang="en-US">
              <a:latin typeface="Times New Roman" panose="02020603050405020304" pitchFamily="18" charset="0"/>
            </a:endParaRPr>
          </a:p>
          <a:p>
            <a:r>
              <a:rPr lang="en-US">
                <a:latin typeface="Times New Roman" panose="02020603050405020304" pitchFamily="18" charset="0"/>
              </a:rPr>
              <a:t>We compare sources.</a:t>
            </a:r>
            <a:endParaRPr lang="en-US">
              <a:latin typeface="Times New Roman" panose="02020603050405020304" pitchFamily="18" charset="0"/>
            </a:endParaRPr>
          </a:p>
          <a:p>
            <a:r>
              <a:rPr lang="en-US">
                <a:latin typeface="Times New Roman" panose="02020603050405020304" pitchFamily="18" charset="0"/>
              </a:rPr>
              <a:t>We notice disagreement.</a:t>
            </a:r>
            <a:endParaRPr lang="en-US">
              <a:latin typeface="Times New Roman" panose="02020603050405020304" pitchFamily="18" charset="0"/>
            </a:endParaRPr>
          </a:p>
          <a:p>
            <a:r>
              <a:rPr lang="en-US">
                <a:latin typeface="Times New Roman" panose="02020603050405020304" pitchFamily="18" charset="0"/>
              </a:rPr>
              <a:t>Then we slowly form our own judgment.</a:t>
            </a:r>
            <a:endParaRPr lang="en-US">
              <a:latin typeface="Times New Roman" panose="02020603050405020304" pitchFamily="18" charset="0"/>
            </a:endParaRPr>
          </a:p>
          <a:p>
            <a:r>
              <a:rPr lang="en-US">
                <a:latin typeface="Times New Roman" panose="02020603050405020304" pitchFamily="18" charset="0"/>
              </a:rPr>
              <a:t>But when we use an AI assistant, the order is often reversed.</a:t>
            </a:r>
            <a:endParaRPr lang="en-US">
              <a:latin typeface="Times New Roman" panose="02020603050405020304" pitchFamily="18" charset="0"/>
            </a:endParaRPr>
          </a:p>
          <a:p>
            <a:r>
              <a:rPr lang="en-US">
                <a:latin typeface="Times New Roman" panose="02020603050405020304" pitchFamily="18" charset="0"/>
              </a:rPr>
              <a:t>We first receive a summarized answer.</a:t>
            </a:r>
            <a:endParaRPr lang="en-US">
              <a:latin typeface="Times New Roman" panose="02020603050405020304" pitchFamily="18" charset="0"/>
            </a:endParaRPr>
          </a:p>
          <a:p>
            <a:r>
              <a:rPr lang="en-US">
                <a:latin typeface="Times New Roman" panose="02020603050405020304" pitchFamily="18" charset="0"/>
              </a:rPr>
              <a:t>The answer may already include an explanation, an example, and a conclusion.</a:t>
            </a:r>
            <a:endParaRPr lang="en-US">
              <a:latin typeface="Times New Roman" panose="02020603050405020304" pitchFamily="18" charset="0"/>
            </a:endParaRPr>
          </a:p>
          <a:p>
            <a:r>
              <a:rPr lang="en-US">
                <a:latin typeface="Times New Roman" panose="02020603050405020304" pitchFamily="18" charset="0"/>
              </a:rPr>
              <a:t>Only after that do we decide whether we want to verify it.</a:t>
            </a:r>
            <a:endParaRPr lang="en-US">
              <a:latin typeface="Times New Roman" panose="02020603050405020304" pitchFamily="18" charset="0"/>
            </a:endParaRPr>
          </a:p>
          <a:p>
            <a:r>
              <a:rPr lang="en-US">
                <a:latin typeface="Times New Roman" panose="02020603050405020304" pitchFamily="18" charset="0"/>
              </a:rPr>
              <a:t>So the difference is not only speed.</a:t>
            </a:r>
            <a:endParaRPr lang="en-US">
              <a:latin typeface="Times New Roman" panose="02020603050405020304" pitchFamily="18" charset="0"/>
            </a:endParaRPr>
          </a:p>
          <a:p>
            <a:r>
              <a:rPr lang="en-US">
                <a:latin typeface="Times New Roman" panose="02020603050405020304" pitchFamily="18" charset="0"/>
              </a:rPr>
              <a:t>The deeper difference is the order of the process.</a:t>
            </a:r>
            <a:endParaRPr lang="en-US">
              <a:latin typeface="Times New Roman" panose="02020603050405020304" pitchFamily="18" charset="0"/>
            </a:endParaRPr>
          </a:p>
          <a:p>
            <a:r>
              <a:rPr lang="en-US">
                <a:latin typeface="Times New Roman" panose="02020603050405020304" pitchFamily="18" charset="0"/>
              </a:rPr>
              <a:t>This reversal is the starting intuition of the paper.</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creates an important problem.</a:t>
            </a:r>
            <a:endParaRPr lang="en-US">
              <a:latin typeface="Times New Roman" panose="02020603050405020304" pitchFamily="18" charset="0"/>
            </a:endParaRPr>
          </a:p>
          <a:p>
            <a:r>
              <a:rPr lang="en-US">
                <a:latin typeface="Times New Roman" panose="02020603050405020304" pitchFamily="18" charset="0"/>
              </a:rPr>
              <a:t>If people search less after seeing an AI answer, should we worry?</a:t>
            </a:r>
            <a:endParaRPr lang="en-US">
              <a:latin typeface="Times New Roman" panose="02020603050405020304" pitchFamily="18" charset="0"/>
            </a:endParaRPr>
          </a:p>
          <a:p>
            <a:r>
              <a:rPr lang="en-US">
                <a:latin typeface="Times New Roman" panose="02020603050405020304" pitchFamily="18" charset="0"/>
              </a:rPr>
              <a:t>Not necessarily.</a:t>
            </a:r>
            <a:endParaRPr lang="en-US">
              <a:latin typeface="Times New Roman" panose="02020603050405020304" pitchFamily="18" charset="0"/>
            </a:endParaRPr>
          </a:p>
          <a:p>
            <a:r>
              <a:rPr lang="en-US">
                <a:latin typeface="Times New Roman" panose="02020603050405020304" pitchFamily="18" charset="0"/>
              </a:rPr>
              <a:t>Less search can mean two very different things.</a:t>
            </a:r>
            <a:endParaRPr lang="en-US">
              <a:latin typeface="Times New Roman" panose="02020603050405020304" pitchFamily="18" charset="0"/>
            </a:endParaRPr>
          </a:p>
          <a:p>
            <a:r>
              <a:rPr lang="en-US">
                <a:latin typeface="Times New Roman" panose="02020603050405020304" pitchFamily="18" charset="0"/>
              </a:rPr>
              <a:t>In the first case, AI has already compressed useful evidence well.</a:t>
            </a:r>
            <a:endParaRPr lang="en-US">
              <a:latin typeface="Times New Roman" panose="02020603050405020304" pitchFamily="18" charset="0"/>
            </a:endParaRPr>
          </a:p>
          <a:p>
            <a:r>
              <a:rPr lang="en-US">
                <a:latin typeface="Times New Roman" panose="02020603050405020304" pitchFamily="18" charset="0"/>
              </a:rPr>
              <a:t>Then the user searches less, but the final judgment does not become worse.</a:t>
            </a:r>
            <a:endParaRPr lang="en-US">
              <a:latin typeface="Times New Roman" panose="02020603050405020304" pitchFamily="18" charset="0"/>
            </a:endParaRPr>
          </a:p>
          <a:p>
            <a:r>
              <a:rPr lang="en-US">
                <a:latin typeface="Times New Roman" panose="02020603050405020304" pitchFamily="18" charset="0"/>
              </a:rPr>
              <a:t>But in the second case, the user searches less because the AI answer makes the evidence feel more complete than it really is.</a:t>
            </a:r>
            <a:endParaRPr lang="en-US">
              <a:latin typeface="Times New Roman" panose="02020603050405020304" pitchFamily="18" charset="0"/>
            </a:endParaRPr>
          </a:p>
          <a:p>
            <a:r>
              <a:rPr lang="en-US">
                <a:latin typeface="Times New Roman" panose="02020603050405020304" pitchFamily="18" charset="0"/>
              </a:rPr>
              <a:t>Then the user may stop too early, and the final judgment may become worse.</a:t>
            </a:r>
            <a:endParaRPr lang="en-US">
              <a:latin typeface="Times New Roman" panose="02020603050405020304" pitchFamily="18" charset="0"/>
            </a:endParaRPr>
          </a:p>
          <a:p>
            <a:r>
              <a:rPr lang="en-US">
                <a:latin typeface="Times New Roman" panose="02020603050405020304" pitchFamily="18" charset="0"/>
              </a:rPr>
              <a:t>That is harmful under-search.</a:t>
            </a:r>
            <a:endParaRPr lang="en-US">
              <a:latin typeface="Times New Roman" panose="02020603050405020304" pitchFamily="18" charset="0"/>
            </a:endParaRPr>
          </a:p>
          <a:p>
            <a:r>
              <a:rPr lang="en-US">
                <a:latin typeface="Times New Roman" panose="02020603050405020304" pitchFamily="18" charset="0"/>
              </a:rPr>
              <a:t>we should asks whether reduced search is justified.</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The image summarizes the closest literature targets on automation bias, reduced search, and verification. These papers are valuable, but they often move too quickly from less search to worse judgment, or they treat verification intensity as the key mechanism.</a:t>
            </a:r>
            <a:endParaRPr lang="en-US">
              <a:latin typeface="Times New Roman" panose="02020603050405020304" pitchFamily="18" charset="0"/>
            </a:endParaRPr>
          </a:p>
          <a:p>
            <a:r>
              <a:rPr lang="en-US">
                <a:latin typeface="Times New Roman" panose="02020603050405020304" pitchFamily="18" charset="0"/>
              </a:rPr>
              <a:t>So my paper separates three things.</a:t>
            </a:r>
            <a:endParaRPr lang="en-US">
              <a:latin typeface="Times New Roman" panose="02020603050405020304" pitchFamily="18" charset="0"/>
            </a:endParaRPr>
          </a:p>
          <a:p>
            <a:r>
              <a:rPr lang="en-US">
                <a:latin typeface="Times New Roman" panose="02020603050405020304" pitchFamily="18" charset="0"/>
              </a:rPr>
              <a:t>How much people search.</a:t>
            </a:r>
            <a:endParaRPr lang="en-US">
              <a:latin typeface="Times New Roman" panose="02020603050405020304" pitchFamily="18" charset="0"/>
            </a:endParaRPr>
          </a:p>
          <a:p>
            <a:r>
              <a:rPr lang="en-US">
                <a:latin typeface="Times New Roman" panose="02020603050405020304" pitchFamily="18" charset="0"/>
              </a:rPr>
              <a:t>Whether their final belief is close to the evidence.</a:t>
            </a:r>
            <a:endParaRPr lang="en-US">
              <a:latin typeface="Times New Roman" panose="02020603050405020304" pitchFamily="18" charset="0"/>
            </a:endParaRPr>
          </a:p>
          <a:p>
            <a:r>
              <a:rPr lang="en-US">
                <a:latin typeface="Times New Roman" panose="02020603050405020304" pitchFamily="18" charset="0"/>
              </a:rPr>
              <a:t>And how much they feel they understand the issue.</a:t>
            </a:r>
            <a:endParaRPr lang="en-US">
              <a:latin typeface="Times New Roman" panose="02020603050405020304" pitchFamily="18" charset="0"/>
            </a:endParaRPr>
          </a:p>
          <a:p>
            <a:r>
              <a:rPr lang="en-US">
                <a:latin typeface="Times New Roman" panose="02020603050405020304" pitchFamily="18" charset="0"/>
              </a:rPr>
              <a:t>This is why I frame the paper </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latin typeface="Times New Roman" panose="02020603050405020304" pitchFamily="18" charset="0"/>
              </a:rPr>
              <a:t>The core question is simple.</a:t>
            </a:r>
            <a:endParaRPr lang="en-US" altLang="zh-CN">
              <a:latin typeface="Times New Roman" panose="02020603050405020304" pitchFamily="18" charset="0"/>
            </a:endParaRPr>
          </a:p>
          <a:p>
            <a:r>
              <a:rPr lang="en-US" altLang="zh-CN">
                <a:latin typeface="Times New Roman" panose="02020603050405020304" pitchFamily="18" charset="0"/>
              </a:rPr>
              <a:t>After people see an AI answer, do they still look for more evidence?</a:t>
            </a:r>
            <a:endParaRPr lang="en-US" altLang="zh-CN">
              <a:latin typeface="Times New Roman" panose="02020603050405020304" pitchFamily="18" charset="0"/>
            </a:endParaRPr>
          </a:p>
          <a:p>
            <a:r>
              <a:rPr lang="en-US" altLang="zh-CN">
                <a:latin typeface="Times New Roman" panose="02020603050405020304" pitchFamily="18" charset="0"/>
              </a:rPr>
              <a:t>Or do they feel they already know enough?</a:t>
            </a:r>
            <a:endParaRPr lang="en-US" altLang="zh-CN">
              <a:latin typeface="Times New Roman" panose="02020603050405020304" pitchFamily="18" charset="0"/>
            </a:endParaRPr>
          </a:p>
          <a:p>
            <a:r>
              <a:rPr lang="en-US" altLang="zh-CN">
                <a:latin typeface="Times New Roman" panose="02020603050405020304" pitchFamily="18" charset="0"/>
              </a:rPr>
              <a:t>This is not only about trust.</a:t>
            </a:r>
            <a:endParaRPr lang="en-US" altLang="zh-CN">
              <a:latin typeface="Times New Roman" panose="02020603050405020304" pitchFamily="18" charset="0"/>
            </a:endParaRPr>
          </a:p>
          <a:p>
            <a:r>
              <a:rPr lang="en-US" altLang="zh-CN">
                <a:latin typeface="Times New Roman" panose="02020603050405020304" pitchFamily="18" charset="0"/>
              </a:rPr>
              <a:t>It is about information calibration.</a:t>
            </a:r>
            <a:endParaRPr lang="en-US" altLang="zh-CN">
              <a:latin typeface="Times New Roman" panose="02020603050405020304" pitchFamily="18" charset="0"/>
            </a:endParaRPr>
          </a:p>
          <a:p>
            <a:r>
              <a:rPr lang="en-US" altLang="zh-CN">
                <a:latin typeface="Times New Roman" panose="02020603050405020304" pitchFamily="18" charset="0"/>
              </a:rPr>
              <a:t>People may feel they understand the issue, but their belief may not be fully supported by evidence.</a:t>
            </a:r>
            <a:endParaRPr lang="en-US" altLang="zh-CN">
              <a:latin typeface="Times New Roman" panose="02020603050405020304" pitchFamily="18" charset="0"/>
            </a:endParaRPr>
          </a:p>
          <a:p>
            <a:r>
              <a:rPr lang="en-US" altLang="zh-CN">
                <a:latin typeface="Times New Roman" panose="02020603050405020304" pitchFamily="18" charset="0"/>
              </a:rPr>
              <a:t>A strong AI explanation can make this feeling stronger.</a:t>
            </a:r>
            <a:endParaRPr lang="en-US" altLang="zh-CN">
              <a:latin typeface="Times New Roman" panose="02020603050405020304" pitchFamily="18" charset="0"/>
            </a:endParaRPr>
          </a:p>
          <a:p>
            <a:r>
              <a:rPr lang="en-US" altLang="zh-CN">
                <a:latin typeface="Times New Roman" panose="02020603050405020304" pitchFamily="18" charset="0"/>
              </a:rPr>
              <a:t>It sounds complete.</a:t>
            </a:r>
            <a:endParaRPr lang="en-US" altLang="zh-CN">
              <a:latin typeface="Times New Roman" panose="02020603050405020304" pitchFamily="18" charset="0"/>
            </a:endParaRPr>
          </a:p>
          <a:p>
            <a:r>
              <a:rPr lang="en-US" altLang="zh-CN">
                <a:latin typeface="Times New Roman" panose="02020603050405020304" pitchFamily="18" charset="0"/>
              </a:rPr>
              <a:t>It gives a clear story.</a:t>
            </a:r>
            <a:endParaRPr lang="en-US" altLang="zh-CN">
              <a:latin typeface="Times New Roman" panose="02020603050405020304" pitchFamily="18" charset="0"/>
            </a:endParaRPr>
          </a:p>
          <a:p>
            <a:r>
              <a:rPr lang="en-US" altLang="zh-CN">
                <a:latin typeface="Times New Roman" panose="02020603050405020304" pitchFamily="18" charset="0"/>
              </a:rPr>
              <a:t>So users may assume that AI has already done the search and comparison for them.</a:t>
            </a:r>
            <a:endParaRPr lang="en-US" altLang="zh-CN">
              <a:latin typeface="Times New Roman" panose="02020603050405020304" pitchFamily="18" charset="0"/>
            </a:endParaRPr>
          </a:p>
          <a:p>
            <a:r>
              <a:rPr lang="en-US" altLang="zh-CN">
                <a:latin typeface="Times New Roman" panose="02020603050405020304" pitchFamily="18" charset="0"/>
              </a:rPr>
              <a:t>Then more evidence feels less necessary.</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And they stop earlier.</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That is the mechanism I want to test.</a:t>
            </a:r>
            <a:endParaRPr lang="en-US" altLang="zh-CN">
              <a:latin typeface="Times New Roman" panose="02020603050405020304" pitchFamily="18" charset="0"/>
            </a:endParaRPr>
          </a:p>
          <a:p>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latin typeface="Times New Roman" panose="02020603050405020304" pitchFamily="18" charset="0"/>
              </a:rPr>
              <a:t>Now I move to the task.</a:t>
            </a:r>
            <a:endParaRPr lang="en-US" altLang="zh-CN">
              <a:latin typeface="Times New Roman" panose="02020603050405020304" pitchFamily="18" charset="0"/>
            </a:endParaRPr>
          </a:p>
          <a:p>
            <a:r>
              <a:rPr lang="en-US" altLang="zh-CN">
                <a:latin typeface="Times New Roman" panose="02020603050405020304" pitchFamily="18" charset="0"/>
              </a:rPr>
              <a:t>I use a controlled belief-updating task.</a:t>
            </a:r>
            <a:endParaRPr lang="en-US" altLang="zh-CN">
              <a:latin typeface="Times New Roman" panose="02020603050405020304" pitchFamily="18" charset="0"/>
            </a:endParaRPr>
          </a:p>
          <a:p>
            <a:r>
              <a:rPr lang="en-US" altLang="zh-CN">
                <a:latin typeface="Times New Roman" panose="02020603050405020304" pitchFamily="18" charset="0"/>
              </a:rPr>
              <a:t>The logic comes from classic Bayesian tasks, but I put it into a company-risk setting.</a:t>
            </a:r>
            <a:endParaRPr lang="en-US" altLang="zh-CN">
              <a:latin typeface="Times New Roman" panose="02020603050405020304" pitchFamily="18" charset="0"/>
            </a:endParaRPr>
          </a:p>
          <a:p>
            <a:r>
              <a:rPr lang="en-US" altLang="zh-CN">
                <a:latin typeface="Times New Roman" panose="02020603050405020304" pitchFamily="18" charset="0"/>
              </a:rPr>
              <a:t>Participants judge whether a company has hidden risk.</a:t>
            </a:r>
            <a:endParaRPr lang="en-US" altLang="zh-CN">
              <a:latin typeface="Times New Roman" panose="02020603050405020304" pitchFamily="18" charset="0"/>
            </a:endParaRPr>
          </a:p>
          <a:p>
            <a:r>
              <a:rPr lang="en-US" altLang="zh-CN">
                <a:latin typeface="Times New Roman" panose="02020603050405020304" pitchFamily="18" charset="0"/>
              </a:rPr>
              <a:t>Some people start with raw evidence.</a:t>
            </a:r>
            <a:endParaRPr lang="en-US" altLang="zh-CN">
              <a:latin typeface="Times New Roman" panose="02020603050405020304" pitchFamily="18" charset="0"/>
            </a:endParaRPr>
          </a:p>
          <a:p>
            <a:r>
              <a:rPr lang="en-US" altLang="zh-CN">
                <a:latin typeface="Times New Roman" panose="02020603050405020304" pitchFamily="18" charset="0"/>
              </a:rPr>
              <a:t>Others first receive a summary.</a:t>
            </a:r>
            <a:endParaRPr lang="en-US" altLang="zh-CN">
              <a:latin typeface="Times New Roman" panose="02020603050405020304" pitchFamily="18" charset="0"/>
            </a:endParaRPr>
          </a:p>
          <a:p>
            <a:r>
              <a:rPr lang="en-US" altLang="zh-CN">
                <a:latin typeface="Times New Roman" panose="02020603050405020304" pitchFamily="18" charset="0"/>
              </a:rPr>
              <a:t>But the key point is this:</a:t>
            </a:r>
            <a:endParaRPr lang="en-US" altLang="zh-CN">
              <a:latin typeface="Times New Roman" panose="02020603050405020304" pitchFamily="18" charset="0"/>
            </a:endParaRPr>
          </a:p>
          <a:p>
            <a:r>
              <a:rPr lang="en-US" altLang="zh-CN">
                <a:latin typeface="Times New Roman" panose="02020603050405020304" pitchFamily="18" charset="0"/>
              </a:rPr>
              <a:t>the summary content is the same.</a:t>
            </a:r>
            <a:endParaRPr lang="en-US" altLang="zh-CN">
              <a:latin typeface="Times New Roman" panose="02020603050405020304" pitchFamily="18" charset="0"/>
            </a:endParaRPr>
          </a:p>
          <a:p>
            <a:r>
              <a:rPr lang="en-US" altLang="zh-CN">
                <a:latin typeface="Times New Roman" panose="02020603050405020304" pitchFamily="18" charset="0"/>
              </a:rPr>
              <a:t>What changes is the presentation.</a:t>
            </a:r>
            <a:endParaRPr lang="en-US" altLang="zh-CN">
              <a:latin typeface="Times New Roman" panose="02020603050405020304" pitchFamily="18" charset="0"/>
            </a:endParaRPr>
          </a:p>
          <a:p>
            <a:r>
              <a:rPr lang="en-US" altLang="zh-CN">
                <a:latin typeface="Times New Roman" panose="02020603050405020304" pitchFamily="18" charset="0"/>
              </a:rPr>
              <a:t>One group sees it as an AI-generated answer.The search cost is the same for all groups.</a:t>
            </a:r>
            <a:endParaRPr lang="en-US" altLang="zh-CN">
              <a:latin typeface="Times New Roman" panose="02020603050405020304" pitchFamily="18" charset="0"/>
            </a:endParaRPr>
          </a:p>
          <a:p>
            <a:r>
              <a:rPr lang="en-US" altLang="zh-CN">
                <a:latin typeface="Times New Roman" panose="02020603050405020304" pitchFamily="18" charset="0"/>
              </a:rPr>
              <a:t>So the task allows me to see when people stop searching, and whether their final belief matches the evidence they actually saw.</a:t>
            </a:r>
            <a:endParaRPr lang="en-US" altLang="zh-CN">
              <a:latin typeface="Times New Roman" panose="02020603050405020304" pitchFamily="18" charset="0"/>
            </a:endParaRPr>
          </a:p>
          <a:p>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latin typeface="Times New Roman" panose="02020603050405020304" pitchFamily="18" charset="0"/>
              </a:rPr>
              <a:t>This slide summarizes the five-group design.</a:t>
            </a:r>
            <a:endParaRPr lang="en-US" altLang="zh-CN">
              <a:latin typeface="Times New Roman" panose="02020603050405020304" pitchFamily="18" charset="0"/>
            </a:endParaRPr>
          </a:p>
          <a:p>
            <a:r>
              <a:rPr lang="en-US" altLang="zh-CN">
                <a:latin typeface="Times New Roman" panose="02020603050405020304" pitchFamily="18" charset="0"/>
              </a:rPr>
              <a:t> all groups are built on the same evidence pool.</a:t>
            </a:r>
            <a:endParaRPr lang="en-US" altLang="zh-CN">
              <a:latin typeface="Times New Roman" panose="02020603050405020304" pitchFamily="18" charset="0"/>
            </a:endParaRPr>
          </a:p>
          <a:p>
            <a:r>
              <a:rPr lang="en-US" altLang="zh-CN">
                <a:latin typeface="Times New Roman" panose="02020603050405020304" pitchFamily="18" charset="0"/>
              </a:rPr>
              <a:t>The baseline group enters the pool directly.</a:t>
            </a:r>
            <a:endParaRPr lang="en-US" altLang="zh-CN">
              <a:latin typeface="Times New Roman" panose="02020603050405020304" pitchFamily="18" charset="0"/>
            </a:endParaRPr>
          </a:p>
          <a:p>
            <a:r>
              <a:rPr lang="en-US" altLang="zh-CN">
                <a:latin typeface="Times New Roman" panose="02020603050405020304" pitchFamily="18" charset="0"/>
              </a:rPr>
              <a:t>The summary groups enter through different summary presentations.</a:t>
            </a:r>
            <a:endParaRPr lang="en-US" altLang="zh-CN">
              <a:latin typeface="Times New Roman" panose="02020603050405020304" pitchFamily="18" charset="0"/>
            </a:endParaRPr>
          </a:p>
          <a:p>
            <a:r>
              <a:rPr lang="en-US" altLang="zh-CN">
                <a:latin typeface="Times New Roman" panose="02020603050405020304" pitchFamily="18" charset="0"/>
              </a:rPr>
              <a:t>But after that, everyone faces the same follow-on search environment.</a:t>
            </a:r>
            <a:endParaRPr lang="en-US" altLang="zh-CN">
              <a:latin typeface="Times New Roman" panose="02020603050405020304" pitchFamily="18" charset="0"/>
            </a:endParaRPr>
          </a:p>
          <a:p>
            <a:r>
              <a:rPr lang="en-US" altLang="zh-CN">
                <a:latin typeface="Times New Roman" panose="02020603050405020304" pitchFamily="18" charset="0"/>
              </a:rPr>
              <a:t>They can inspect the same additional evidence, with the same search cost.</a:t>
            </a:r>
            <a:endParaRPr lang="en-US" altLang="zh-CN">
              <a:latin typeface="Times New Roman" panose="02020603050405020304" pitchFamily="18" charset="0"/>
            </a:endParaRPr>
          </a:p>
          <a:p>
            <a:r>
              <a:rPr lang="en-US" altLang="zh-CN">
                <a:latin typeface="Times New Roman" panose="02020603050405020304" pitchFamily="18" charset="0"/>
              </a:rPr>
              <a:t>So if their later search or belief updating differs, the difference comes from the entry condition, not from different evidence environments.</a:t>
            </a:r>
            <a:endParaRPr lang="en-US" altLang="zh-CN">
              <a:latin typeface="Times New Roman" panose="02020603050405020304" pitchFamily="18" charset="0"/>
            </a:endParaRPr>
          </a:p>
          <a:p>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latin typeface="Times New Roman" panose="02020603050405020304" pitchFamily="18" charset="0"/>
              </a:rPr>
              <a:t>This slide shows the main identification logic.</a:t>
            </a:r>
            <a:endParaRPr lang="en-US" altLang="zh-CN">
              <a:latin typeface="Times New Roman" panose="02020603050405020304" pitchFamily="18" charset="0"/>
            </a:endParaRPr>
          </a:p>
          <a:p>
            <a:r>
              <a:rPr lang="en-US" altLang="zh-CN">
                <a:latin typeface="Times New Roman" panose="02020603050405020304" pitchFamily="18" charset="0"/>
              </a:rPr>
              <a:t>Participants in the two summary conditions see the same summary text.</a:t>
            </a:r>
            <a:endParaRPr lang="en-US" altLang="zh-CN">
              <a:latin typeface="Times New Roman" panose="02020603050405020304" pitchFamily="18" charset="0"/>
            </a:endParaRPr>
          </a:p>
          <a:p>
            <a:r>
              <a:rPr lang="en-US" altLang="zh-CN">
                <a:latin typeface="Times New Roman" panose="02020603050405020304" pitchFamily="18" charset="0"/>
              </a:rPr>
              <a:t>The only difference is the label.</a:t>
            </a:r>
            <a:endParaRPr lang="en-US" altLang="zh-CN">
              <a:latin typeface="Times New Roman" panose="02020603050405020304" pitchFamily="18" charset="0"/>
            </a:endParaRPr>
          </a:p>
          <a:p>
            <a:r>
              <a:rPr lang="en-US" altLang="zh-CN">
                <a:latin typeface="Times New Roman" panose="02020603050405020304" pitchFamily="18" charset="0"/>
              </a:rPr>
              <a:t>One group sees it without an AI label.</a:t>
            </a:r>
            <a:endParaRPr lang="en-US" altLang="zh-CN">
              <a:latin typeface="Times New Roman" panose="02020603050405020304" pitchFamily="18" charset="0"/>
            </a:endParaRPr>
          </a:p>
          <a:p>
            <a:r>
              <a:rPr lang="en-US" altLang="zh-CN">
                <a:latin typeface="Times New Roman" panose="02020603050405020304" pitchFamily="18" charset="0"/>
              </a:rPr>
              <a:t>The other group sees it as AI-generated.</a:t>
            </a:r>
            <a:endParaRPr lang="en-US" altLang="zh-CN">
              <a:latin typeface="Times New Roman" panose="02020603050405020304" pitchFamily="18" charset="0"/>
            </a:endParaRPr>
          </a:p>
          <a:p>
            <a:r>
              <a:rPr lang="en-US" altLang="zh-CN">
                <a:latin typeface="Times New Roman" panose="02020603050405020304" pitchFamily="18" charset="0"/>
              </a:rPr>
              <a:t>So if they search differently later, it is not because the content is different.</a:t>
            </a:r>
            <a:endParaRPr lang="en-US" altLang="zh-CN">
              <a:latin typeface="Times New Roman" panose="02020603050405020304" pitchFamily="18" charset="0"/>
            </a:endParaRPr>
          </a:p>
          <a:p>
            <a:r>
              <a:rPr lang="en-US" altLang="zh-CN">
                <a:latin typeface="Times New Roman" panose="02020603050405020304" pitchFamily="18" charset="0"/>
              </a:rPr>
              <a:t>It is because the AI label changes how the summary is understood.</a:t>
            </a:r>
            <a:endParaRPr lang="en-US" altLang="zh-CN">
              <a:latin typeface="Times New Roman" panose="02020603050405020304" pitchFamily="18" charset="0"/>
            </a:endParaRPr>
          </a:p>
          <a:p>
            <a:r>
              <a:rPr lang="en-US" altLang="zh-CN">
                <a:latin typeface="Times New Roman" panose="02020603050405020304" pitchFamily="18" charset="0"/>
              </a:rPr>
              <a:t>The label may make the answer feel more complete, more processed, or more authoritative.</a:t>
            </a:r>
            <a:endParaRPr lang="en-US" altLang="zh-CN">
              <a:latin typeface="Times New Roman" panose="02020603050405020304" pitchFamily="18" charset="0"/>
            </a:endParaRPr>
          </a:p>
          <a:p>
            <a:r>
              <a:rPr lang="en-US" altLang="zh-CN">
                <a:latin typeface="Times New Roman" panose="02020603050405020304" pitchFamily="18" charset="0"/>
              </a:rPr>
              <a:t>After that, everyone goes through the same sequence:</a:t>
            </a:r>
            <a:endParaRPr lang="en-US" altLang="zh-CN">
              <a:latin typeface="Times New Roman" panose="02020603050405020304" pitchFamily="18" charset="0"/>
            </a:endParaRPr>
          </a:p>
          <a:p>
            <a:r>
              <a:rPr lang="en-US" altLang="zh-CN">
                <a:latin typeface="Times New Roman" panose="02020603050405020304" pitchFamily="18" charset="0"/>
              </a:rPr>
              <a:t>same prior, same search option, same posterior report, and same mastery rating.</a:t>
            </a:r>
            <a:endParaRPr lang="en-US" altLang="zh-CN">
              <a:latin typeface="Times New Roman" panose="02020603050405020304" pitchFamily="18" charset="0"/>
            </a:endParaRPr>
          </a:p>
          <a:p>
            <a:r>
              <a:rPr lang="en-US" altLang="zh-CN">
                <a:latin typeface="Times New Roman" panose="02020603050405020304" pitchFamily="18" charset="0"/>
              </a:rPr>
              <a:t>That is how I isolate the AI label effect.</a:t>
            </a:r>
            <a:endParaRPr lang="en-US" altLang="zh-CN">
              <a:latin typeface="Times New Roman" panose="02020603050405020304" pitchFamily="18" charset="0"/>
            </a:endParaRPr>
          </a:p>
          <a:p>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latin typeface="Times New Roman" panose="02020603050405020304" pitchFamily="18" charset="0"/>
              </a:rPr>
              <a:t>This slide explains the Bayesian benchmark in my design.</a:t>
            </a:r>
            <a:endParaRPr lang="en-US" altLang="zh-CN">
              <a:latin typeface="Times New Roman" panose="02020603050405020304" pitchFamily="18" charset="0"/>
            </a:endParaRPr>
          </a:p>
          <a:p>
            <a:r>
              <a:rPr lang="en-US" altLang="zh-CN">
                <a:latin typeface="Times New Roman" panose="02020603050405020304" pitchFamily="18" charset="0"/>
              </a:rPr>
              <a:t>I do not only count how many evidence items people open.</a:t>
            </a:r>
            <a:endParaRPr lang="en-US" altLang="zh-CN">
              <a:latin typeface="Times New Roman" panose="02020603050405020304" pitchFamily="18" charset="0"/>
            </a:endParaRPr>
          </a:p>
          <a:p>
            <a:r>
              <a:rPr lang="en-US" altLang="zh-CN">
                <a:latin typeface="Times New Roman" panose="02020603050405020304" pitchFamily="18" charset="0"/>
              </a:rPr>
              <a:t>I also ask whether their final belief is close to the Bayesian answer.</a:t>
            </a:r>
            <a:endParaRPr lang="en-US" altLang="zh-CN">
              <a:latin typeface="Times New Roman" panose="02020603050405020304" pitchFamily="18" charset="0"/>
            </a:endParaRPr>
          </a:p>
          <a:p>
            <a:r>
              <a:rPr lang="en-US" altLang="zh-CN">
                <a:latin typeface="Times New Roman" panose="02020603050405020304" pitchFamily="18" charset="0"/>
              </a:rPr>
              <a:t>There are two benchmarks here.</a:t>
            </a:r>
            <a:endParaRPr lang="en-US" altLang="zh-CN">
              <a:latin typeface="Times New Roman" panose="02020603050405020304" pitchFamily="18" charset="0"/>
            </a:endParaRPr>
          </a:p>
          <a:p>
            <a:r>
              <a:rPr lang="en-US" altLang="zh-CN">
                <a:latin typeface="Times New Roman" panose="02020603050405020304" pitchFamily="18" charset="0"/>
              </a:rPr>
              <a:t>The first one is based on what the participant actually saw.</a:t>
            </a:r>
            <a:endParaRPr lang="en-US" altLang="zh-CN">
              <a:latin typeface="Times New Roman" panose="02020603050405020304" pitchFamily="18" charset="0"/>
            </a:endParaRPr>
          </a:p>
          <a:p>
            <a:r>
              <a:rPr lang="en-US" altLang="zh-CN">
                <a:latin typeface="Times New Roman" panose="02020603050405020304" pitchFamily="18" charset="0"/>
              </a:rPr>
              <a:t>This includes the evidence in the summary, and the extra evidence they clicked later.</a:t>
            </a:r>
            <a:endParaRPr lang="en-US" altLang="zh-CN">
              <a:latin typeface="Times New Roman" panose="02020603050405020304" pitchFamily="18" charset="0"/>
            </a:endParaRPr>
          </a:p>
          <a:p>
            <a:r>
              <a:rPr lang="en-US" altLang="zh-CN">
                <a:latin typeface="Times New Roman" panose="02020603050405020304" pitchFamily="18" charset="0"/>
              </a:rPr>
              <a:t>So I calculate what their posterior should be, given only this information.</a:t>
            </a:r>
            <a:endParaRPr lang="en-US" altLang="zh-CN">
              <a:latin typeface="Times New Roman" panose="02020603050405020304" pitchFamily="18" charset="0"/>
            </a:endParaRPr>
          </a:p>
          <a:p>
            <a:r>
              <a:rPr lang="en-US" altLang="zh-CN">
                <a:latin typeface="Times New Roman" panose="02020603050405020304" pitchFamily="18" charset="0"/>
              </a:rPr>
              <a:t>Then I compare this Bayesian posterior with their reported posterior.</a:t>
            </a:r>
            <a:endParaRPr lang="en-US" altLang="zh-CN">
              <a:latin typeface="Times New Roman" panose="02020603050405020304" pitchFamily="18" charset="0"/>
            </a:endParaRPr>
          </a:p>
          <a:p>
            <a:r>
              <a:rPr lang="en-US" altLang="zh-CN">
                <a:latin typeface="Times New Roman" panose="02020603050405020304" pitchFamily="18" charset="0"/>
              </a:rPr>
              <a:t>If the gap is large, it means they did not use the evidence well.</a:t>
            </a:r>
            <a:endParaRPr lang="en-US" altLang="zh-CN">
              <a:latin typeface="Times New Roman" panose="02020603050405020304" pitchFamily="18" charset="0"/>
            </a:endParaRPr>
          </a:p>
          <a:p>
            <a:r>
              <a:rPr lang="en-US" altLang="zh-CN">
                <a:latin typeface="Times New Roman" panose="02020603050405020304" pitchFamily="18" charset="0"/>
              </a:rPr>
              <a:t>So this is a belief-updating problem.</a:t>
            </a:r>
            <a:endParaRPr lang="en-US" altLang="zh-CN">
              <a:latin typeface="Times New Roman" panose="02020603050405020304" pitchFamily="18" charset="0"/>
            </a:endParaRPr>
          </a:p>
          <a:p>
            <a:r>
              <a:rPr lang="en-US" altLang="zh-CN">
                <a:latin typeface="Times New Roman" panose="02020603050405020304" pitchFamily="18" charset="0"/>
              </a:rPr>
              <a:t>The second benchmark is based on the full evidence pool.</a:t>
            </a:r>
            <a:endParaRPr lang="en-US" altLang="zh-CN">
              <a:latin typeface="Times New Roman" panose="02020603050405020304" pitchFamily="18" charset="0"/>
            </a:endParaRPr>
          </a:p>
          <a:p>
            <a:r>
              <a:rPr lang="en-US" altLang="zh-CN">
                <a:latin typeface="Times New Roman" panose="02020603050405020304" pitchFamily="18" charset="0"/>
              </a:rPr>
              <a:t>This means all the evidence that was available in the task.</a:t>
            </a:r>
            <a:endParaRPr lang="en-US" altLang="zh-CN">
              <a:latin typeface="Times New Roman" panose="02020603050405020304" pitchFamily="18" charset="0"/>
            </a:endParaRPr>
          </a:p>
          <a:p>
            <a:r>
              <a:rPr lang="en-US" altLang="zh-CN">
                <a:latin typeface="Times New Roman" panose="02020603050405020304" pitchFamily="18" charset="0"/>
              </a:rPr>
              <a:t>I compare the participant’s reported posterior with this full-information Bayesian posterior.</a:t>
            </a:r>
            <a:endParaRPr lang="en-US" altLang="zh-CN">
              <a:latin typeface="Times New Roman" panose="02020603050405020304" pitchFamily="18" charset="0"/>
            </a:endParaRPr>
          </a:p>
          <a:p>
            <a:r>
              <a:rPr lang="en-US" altLang="zh-CN">
                <a:latin typeface="Times New Roman" panose="02020603050405020304" pitchFamily="18" charset="0"/>
              </a:rPr>
              <a:t>If this gap is large, it means their final judgment is far from the answer they would reach with all evidence.</a:t>
            </a:r>
            <a:endParaRPr lang="en-US" altLang="zh-CN">
              <a:latin typeface="Times New Roman" panose="02020603050405020304" pitchFamily="18" charset="0"/>
            </a:endParaRPr>
          </a:p>
          <a:p>
            <a:r>
              <a:rPr lang="en-US" altLang="zh-CN">
                <a:latin typeface="Times New Roman" panose="02020603050405020304" pitchFamily="18" charset="0"/>
              </a:rPr>
              <a:t>So this is more about stopping too early, or seeing too little evidence.</a:t>
            </a:r>
            <a:endParaRPr lang="en-US" altLang="zh-CN">
              <a:latin typeface="Times New Roman" panose="02020603050405020304" pitchFamily="18" charset="0"/>
            </a:endParaRPr>
          </a:p>
          <a:p>
            <a:r>
              <a:rPr lang="en-US" altLang="zh-CN">
                <a:latin typeface="Times New Roman" panose="02020603050405020304" pitchFamily="18" charset="0"/>
              </a:rPr>
              <a:t>So the key distinction is this:</a:t>
            </a:r>
            <a:endParaRPr lang="en-US" altLang="zh-CN">
              <a:latin typeface="Times New Roman" panose="02020603050405020304" pitchFamily="18" charset="0"/>
            </a:endParaRPr>
          </a:p>
          <a:p>
            <a:r>
              <a:rPr lang="en-US" altLang="zh-CN">
                <a:latin typeface="Times New Roman" panose="02020603050405020304" pitchFamily="18" charset="0"/>
              </a:rPr>
              <a:t>Did people update badly based on the evidence they had?</a:t>
            </a:r>
            <a:endParaRPr lang="en-US" altLang="zh-CN">
              <a:latin typeface="Times New Roman" panose="02020603050405020304" pitchFamily="18" charset="0"/>
            </a:endParaRPr>
          </a:p>
          <a:p>
            <a:r>
              <a:rPr lang="en-US" altLang="zh-CN">
                <a:latin typeface="Times New Roman" panose="02020603050405020304" pitchFamily="18" charset="0"/>
              </a:rPr>
              <a:t>Or did they update reasonably, but simply miss important evidence?</a:t>
            </a:r>
            <a:endParaRPr lang="en-US" altLang="zh-CN">
              <a:latin typeface="Times New Roman" panose="02020603050405020304" pitchFamily="18" charset="0"/>
            </a:endParaRPr>
          </a:p>
          <a:p>
            <a:endParaRPr lang="en-US" altLang="zh-CN">
              <a:latin typeface="Times New Roman" panose="02020603050405020304" pitchFamily="18" charset="0"/>
            </a:endParaRPr>
          </a:p>
          <a:p>
            <a:r>
              <a:rPr lang="en-US" altLang="zh-CN">
                <a:latin typeface="Times New Roman" panose="02020603050405020304" pitchFamily="18" charset="0"/>
              </a:rPr>
              <a:t>That is why Bayesian updating is useful here.</a:t>
            </a:r>
            <a:endParaRPr lang="en-US" altLang="zh-CN">
              <a:latin typeface="Times New Roman" panose="02020603050405020304" pitchFamily="18" charset="0"/>
            </a:endParaRPr>
          </a:p>
          <a:p>
            <a:r>
              <a:rPr lang="en-US" altLang="zh-CN">
                <a:latin typeface="Times New Roman" panose="02020603050405020304" pitchFamily="18" charset="0"/>
              </a:rPr>
              <a:t>The first error is: people see the evidence, but they do not update enough.</a:t>
            </a:r>
            <a:endParaRPr lang="en-US" altLang="zh-CN">
              <a:latin typeface="Times New Roman" panose="02020603050405020304" pitchFamily="18" charset="0"/>
            </a:endParaRPr>
          </a:p>
          <a:p>
            <a:r>
              <a:rPr lang="en-US" altLang="zh-CN">
                <a:latin typeface="Times New Roman" panose="02020603050405020304" pitchFamily="18" charset="0"/>
              </a:rPr>
              <a:t>The second error is: people may update enough based on what they saw, but they stop searching too early and miss important evidence.</a:t>
            </a:r>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latin typeface="Times New Roman" panose="02020603050405020304" pitchFamily="18" charset="0"/>
              </a:rPr>
              <a:t>This slide explains how I read the results.</a:t>
            </a:r>
            <a:endParaRPr lang="en-US" altLang="zh-CN">
              <a:latin typeface="Times New Roman" panose="02020603050405020304" pitchFamily="18" charset="0"/>
            </a:endParaRPr>
          </a:p>
          <a:p>
            <a:r>
              <a:rPr lang="en-US" altLang="zh-CN">
                <a:latin typeface="Times New Roman" panose="02020603050405020304" pitchFamily="18" charset="0"/>
              </a:rPr>
              <a:t>If the AI-labeled group searches less, that supports the stopping-threshold effect.</a:t>
            </a:r>
            <a:endParaRPr lang="en-US" altLang="zh-CN">
              <a:latin typeface="Times New Roman" panose="02020603050405020304" pitchFamily="18" charset="0"/>
            </a:endParaRPr>
          </a:p>
          <a:p>
            <a:r>
              <a:rPr lang="en-US" altLang="zh-CN">
                <a:latin typeface="Times New Roman" panose="02020603050405020304" pitchFamily="18" charset="0"/>
              </a:rPr>
              <a:t>But less search is not automatically bad.</a:t>
            </a:r>
            <a:endParaRPr lang="en-US" altLang="zh-CN">
              <a:latin typeface="Times New Roman" panose="02020603050405020304" pitchFamily="18" charset="0"/>
            </a:endParaRPr>
          </a:p>
          <a:p>
            <a:r>
              <a:rPr lang="en-US" altLang="zh-CN">
                <a:latin typeface="Times New Roman" panose="02020603050405020304" pitchFamily="18" charset="0"/>
              </a:rPr>
              <a:t>If the summary is complete, and judgment quality does not get worse, then less search may be efficient compression.</a:t>
            </a:r>
            <a:endParaRPr lang="en-US" altLang="zh-CN">
              <a:latin typeface="Times New Roman" panose="02020603050405020304" pitchFamily="18" charset="0"/>
            </a:endParaRPr>
          </a:p>
          <a:p>
            <a:r>
              <a:rPr lang="en-US" altLang="zh-CN">
                <a:latin typeface="Times New Roman" panose="02020603050405020304" pitchFamily="18" charset="0"/>
              </a:rPr>
              <a:t>People save effort without losing quality.</a:t>
            </a:r>
            <a:endParaRPr lang="en-US" altLang="zh-CN">
              <a:latin typeface="Times New Roman" panose="02020603050405020304" pitchFamily="18" charset="0"/>
            </a:endParaRPr>
          </a:p>
          <a:p>
            <a:r>
              <a:rPr lang="en-US" altLang="zh-CN">
                <a:latin typeface="Times New Roman" panose="02020603050405020304" pitchFamily="18" charset="0"/>
              </a:rPr>
              <a:t>But if the summary is incomplete, and people still search less, then it becomes harmful under-search.</a:t>
            </a:r>
            <a:endParaRPr lang="en-US" altLang="zh-CN">
              <a:latin typeface="Times New Roman" panose="02020603050405020304" pitchFamily="18" charset="0"/>
            </a:endParaRPr>
          </a:p>
          <a:p>
            <a:r>
              <a:rPr lang="en-US" altLang="zh-CN">
                <a:latin typeface="Times New Roman" panose="02020603050405020304" pitchFamily="18" charset="0"/>
              </a:rPr>
              <a:t>They stop too early, and their final judgment moves away from the full-information benchmark.</a:t>
            </a:r>
            <a:endParaRPr lang="en-US" altLang="zh-CN">
              <a:latin typeface="Times New Roman" panose="02020603050405020304" pitchFamily="18" charset="0"/>
            </a:endParaRPr>
          </a:p>
          <a:p>
            <a:r>
              <a:rPr lang="en-US" altLang="zh-CN">
                <a:latin typeface="Times New Roman" panose="02020603050405020304" pitchFamily="18" charset="0"/>
              </a:rPr>
              <a:t>The third pattern is calibration mismatch.</a:t>
            </a:r>
            <a:endParaRPr lang="en-US" altLang="zh-CN">
              <a:latin typeface="Times New Roman" panose="02020603050405020304" pitchFamily="18" charset="0"/>
            </a:endParaRPr>
          </a:p>
          <a:p>
            <a:r>
              <a:rPr lang="en-US" altLang="zh-CN">
                <a:latin typeface="Times New Roman" panose="02020603050405020304" pitchFamily="18" charset="0"/>
              </a:rPr>
              <a:t>People’s feeling of understanding may not match their actual judgment quality.</a:t>
            </a:r>
            <a:endParaRPr lang="en-US" altLang="zh-CN">
              <a:latin typeface="Times New Roman" panose="02020603050405020304" pitchFamily="18" charset="0"/>
            </a:endParaRPr>
          </a:p>
          <a:p>
            <a:r>
              <a:rPr lang="en-US" altLang="zh-CN">
                <a:latin typeface="Times New Roman" panose="02020603050405020304" pitchFamily="18" charset="0"/>
              </a:rPr>
              <a:t>So the real question is: after people search less, are they still making good judgments?</a:t>
            </a:r>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latin typeface="Times New Roman" panose="02020603050405020304" pitchFamily="18" charset="0"/>
              </a:rPr>
              <a:t>The contribution of Paper 1 is threefold.</a:t>
            </a:r>
            <a:endParaRPr lang="en-US" altLang="zh-CN">
              <a:latin typeface="Times New Roman" panose="02020603050405020304" pitchFamily="18" charset="0"/>
            </a:endParaRPr>
          </a:p>
          <a:p>
            <a:r>
              <a:rPr lang="en-US" altLang="zh-CN">
                <a:latin typeface="Times New Roman" panose="02020603050405020304" pitchFamily="18" charset="0"/>
              </a:rPr>
              <a:t>First, I move from generic AI trust to information calibration.</a:t>
            </a:r>
            <a:endParaRPr lang="en-US" altLang="zh-CN">
              <a:latin typeface="Times New Roman" panose="02020603050405020304" pitchFamily="18" charset="0"/>
            </a:endParaRPr>
          </a:p>
          <a:p>
            <a:r>
              <a:rPr lang="en-US" altLang="zh-CN">
                <a:latin typeface="Times New Roman" panose="02020603050405020304" pitchFamily="18" charset="0"/>
              </a:rPr>
              <a:t>I ask whether AI changes when people feel they have enough evidence.</a:t>
            </a:r>
            <a:endParaRPr lang="en-US" altLang="zh-CN">
              <a:latin typeface="Times New Roman" panose="02020603050405020304" pitchFamily="18" charset="0"/>
            </a:endParaRPr>
          </a:p>
          <a:p>
            <a:r>
              <a:rPr lang="en-US" altLang="zh-CN">
                <a:latin typeface="Times New Roman" panose="02020603050405020304" pitchFamily="18" charset="0"/>
              </a:rPr>
              <a:t>Second, I use a controlled Bayesian updating task.</a:t>
            </a:r>
            <a:endParaRPr lang="en-US" altLang="zh-CN">
              <a:latin typeface="Times New Roman" panose="02020603050405020304" pitchFamily="18" charset="0"/>
            </a:endParaRPr>
          </a:p>
          <a:p>
            <a:r>
              <a:rPr lang="en-US" altLang="zh-CN">
                <a:latin typeface="Times New Roman" panose="02020603050405020304" pitchFamily="18" charset="0"/>
              </a:rPr>
              <a:t>This lets me compare people’s final beliefs with the evidence they actually saw.</a:t>
            </a:r>
            <a:endParaRPr lang="en-US" altLang="zh-CN">
              <a:latin typeface="Times New Roman" panose="02020603050405020304" pitchFamily="18" charset="0"/>
            </a:endParaRPr>
          </a:p>
          <a:p>
            <a:r>
              <a:rPr lang="en-US" altLang="zh-CN">
                <a:latin typeface="Times New Roman" panose="02020603050405020304" pitchFamily="18" charset="0"/>
              </a:rPr>
              <a:t>Third, I separate efficient compression from harmful under-search.</a:t>
            </a:r>
            <a:endParaRPr lang="en-US" altLang="zh-CN">
              <a:latin typeface="Times New Roman" panose="02020603050405020304" pitchFamily="18" charset="0"/>
            </a:endParaRPr>
          </a:p>
          <a:p>
            <a:r>
              <a:rPr lang="en-US" altLang="zh-CN">
                <a:latin typeface="Times New Roman" panose="02020603050405020304" pitchFamily="18" charset="0"/>
              </a:rPr>
              <a:t>Less search is not always bad.</a:t>
            </a:r>
            <a:endParaRPr lang="en-US" altLang="zh-CN">
              <a:latin typeface="Times New Roman" panose="02020603050405020304" pitchFamily="18" charset="0"/>
            </a:endParaRPr>
          </a:p>
          <a:p>
            <a:r>
              <a:rPr lang="en-US" altLang="zh-CN">
                <a:latin typeface="Times New Roman" panose="02020603050405020304" pitchFamily="18" charset="0"/>
              </a:rPr>
              <a:t>But it becomes a problem when people stop too early.</a:t>
            </a:r>
            <a:endParaRPr lang="en-US" altLang="zh-CN">
              <a:latin typeface="Times New Roman" panose="02020603050405020304" pitchFamily="18" charset="0"/>
            </a:endParaRPr>
          </a:p>
          <a:p>
            <a:r>
              <a:rPr lang="en-US" altLang="zh-CN">
                <a:latin typeface="Times New Roman" panose="02020603050405020304" pitchFamily="18" charset="0"/>
              </a:rPr>
              <a:t>So the main point is simple:</a:t>
            </a:r>
            <a:endParaRPr lang="en-US" altLang="zh-CN">
              <a:latin typeface="Times New Roman" panose="02020603050405020304" pitchFamily="18" charset="0"/>
            </a:endParaRPr>
          </a:p>
          <a:p>
            <a:r>
              <a:rPr lang="en-US" altLang="zh-CN">
                <a:latin typeface="Times New Roman" panose="02020603050405020304" pitchFamily="18" charset="0"/>
              </a:rPr>
              <a:t>AI may not only reduce search.</a:t>
            </a:r>
            <a:endParaRPr lang="en-US" altLang="zh-CN">
              <a:latin typeface="Times New Roman" panose="02020603050405020304" pitchFamily="18" charset="0"/>
            </a:endParaRPr>
          </a:p>
          <a:p>
            <a:r>
              <a:rPr lang="en-US" altLang="zh-CN">
                <a:latin typeface="Times New Roman" panose="02020603050405020304" pitchFamily="18" charset="0"/>
              </a:rPr>
              <a:t>It may change when users feel they already know enough.</a:t>
            </a:r>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Now I will move to the second paper of my dissertation.</a:t>
            </a:r>
            <a:endParaRPr lang="en-US" altLang="zh-CN"/>
          </a:p>
          <a:p>
            <a:r>
              <a:rPr lang="en-US" altLang="zh-CN"/>
              <a:t>The question here is not whether people trust AI in general.</a:t>
            </a:r>
            <a:endParaRPr lang="en-US" altLang="zh-CN"/>
          </a:p>
          <a:p>
            <a:r>
              <a:rPr lang="en-US" altLang="zh-CN"/>
              <a:t>The question is how their reliance changes over time, especially after they see AI make a mistake.</a:t>
            </a:r>
            <a:endParaRPr lang="en-US" altLang="zh-CN"/>
          </a:p>
          <a:p>
            <a:r>
              <a:rPr lang="en-US" altLang="zh-CN"/>
              <a:t>So this paper studies dynamic reliance.</a:t>
            </a:r>
            <a:endParaRPr lang="en-US" altLang="zh-CN"/>
          </a:p>
          <a:p>
            <a:r>
              <a:rPr lang="en-US" altLang="zh-CN"/>
              <a:t>It asks what happens after a local AI failure enters a repeated decision process.</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When we use the same AI system, our trust is not always the same.</a:t>
            </a:r>
            <a:endParaRPr lang="en-US" altLang="zh-CN"/>
          </a:p>
          <a:p>
            <a:r>
              <a:rPr lang="en-US" altLang="zh-CN"/>
              <a:t>For example, we may trust AI to help write an email.</a:t>
            </a:r>
            <a:endParaRPr lang="en-US" altLang="zh-CN"/>
          </a:p>
          <a:p>
            <a:r>
              <a:rPr lang="en-US" altLang="zh-CN"/>
              <a:t>But we may become much more cautious when asking about medical advice, investment decisions, or research support.</a:t>
            </a:r>
            <a:endParaRPr lang="en-US" altLang="zh-CN"/>
          </a:p>
          <a:p>
            <a:r>
              <a:rPr lang="en-US" altLang="zh-CN"/>
              <a:t>So trust in AI is not fixed.</a:t>
            </a:r>
            <a:endParaRPr lang="en-US" altLang="zh-CN"/>
          </a:p>
          <a:p>
            <a:r>
              <a:rPr lang="en-US" altLang="zh-CN"/>
              <a:t>The puzzle in this paper is more specific.</a:t>
            </a:r>
            <a:endParaRPr lang="en-US" altLang="zh-CN"/>
          </a:p>
          <a:p>
            <a:r>
              <a:rPr lang="en-US" altLang="zh-CN"/>
              <a:t>If AI makes an early mistake, and later performs well again, do people come back?</a:t>
            </a:r>
            <a:endParaRPr lang="en-US" altLang="zh-CN"/>
          </a:p>
          <a:p>
            <a:r>
              <a:rPr lang="en-US" altLang="zh-CN"/>
              <a:t>So the key issue is not whether people dislike errors.</a:t>
            </a:r>
            <a:endParaRPr lang="en-US" altLang="zh-CN"/>
          </a:p>
          <a:p>
            <a:r>
              <a:rPr lang="en-US" altLang="zh-CN"/>
              <a:t>The key issue is whether reliance recovers.</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Existing research already tells us a lot about AI trust.</a:t>
            </a:r>
            <a:endParaRPr lang="en-US" altLang="zh-CN"/>
          </a:p>
          <a:p>
            <a:r>
              <a:rPr lang="en-US" altLang="zh-CN"/>
              <a:t>But many of them focus on one-shot decisions.</a:t>
            </a:r>
            <a:endParaRPr lang="en-US" altLang="zh-CN"/>
          </a:p>
          <a:p>
            <a:r>
              <a:rPr lang="en-US" altLang="zh-CN"/>
              <a:t>They can explain what people do right after an AI error.</a:t>
            </a:r>
            <a:endParaRPr lang="en-US" altLang="zh-CN"/>
          </a:p>
          <a:p>
            <a:r>
              <a:rPr lang="en-US" altLang="zh-CN"/>
              <a:t>But they tell us less about what happens later.</a:t>
            </a:r>
            <a:endParaRPr lang="en-US" altLang="zh-CN"/>
          </a:p>
          <a:p>
            <a:r>
              <a:rPr lang="en-US" altLang="zh-CN"/>
              <a:t>In real human-AI interaction, people do not use AI only once.</a:t>
            </a:r>
            <a:endParaRPr lang="en-US" altLang="zh-CN"/>
          </a:p>
          <a:p>
            <a:r>
              <a:rPr lang="en-US" altLang="zh-CN"/>
              <a:t>They interact with it repeatedly.</a:t>
            </a:r>
            <a:endParaRPr lang="en-US" altLang="zh-CN"/>
          </a:p>
          <a:p>
            <a:r>
              <a:rPr lang="en-US" altLang="zh-CN"/>
              <a:t>Anothor gap is existing models often treat AI preference or aversion as relatively static rather than dynamically evolving.</a:t>
            </a:r>
            <a:endParaRPr lang="en-US" altLang="zh-CN"/>
          </a:p>
          <a:p>
            <a:r>
              <a:rPr lang="en-US" altLang="zh-CN"/>
              <a:t>People’s reliance on the same AI is not fixed.</a:t>
            </a:r>
            <a:endParaRPr lang="en-US" altLang="zh-CN"/>
          </a:p>
          <a:p>
            <a:r>
              <a:rPr lang="en-US" altLang="zh-CN"/>
              <a:t>So this paper asks how reliance evolves across rounds.</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gap has two parts.</a:t>
            </a:r>
            <a:endParaRPr lang="en-US" altLang="zh-CN"/>
          </a:p>
          <a:p>
            <a:r>
              <a:rPr lang="en-US" altLang="zh-CN"/>
              <a:t>First, most existing studies are not truly multi-round.</a:t>
            </a:r>
            <a:endParaRPr lang="en-US" altLang="zh-CN"/>
          </a:p>
          <a:p>
            <a:r>
              <a:rPr lang="en-US" altLang="zh-CN"/>
              <a:t>They do not show whether early AI failures change later reliance paths.</a:t>
            </a:r>
            <a:endParaRPr lang="en-US" altLang="zh-CN"/>
          </a:p>
          <a:p>
            <a:r>
              <a:rPr lang="en-US" altLang="zh-CN"/>
              <a:t>Second, many studies do not isolate AI-specific asymmetry.</a:t>
            </a:r>
            <a:endParaRPr lang="en-US" altLang="zh-CN"/>
          </a:p>
          <a:p>
            <a:r>
              <a:rPr lang="en-US" altLang="zh-CN"/>
              <a:t>If AI performs worse, people rely on it less. That is not surprising.</a:t>
            </a:r>
            <a:endParaRPr lang="en-US" altLang="zh-CN"/>
          </a:p>
          <a:p>
            <a:r>
              <a:rPr lang="en-US" altLang="zh-CN"/>
              <a:t>The harder question is different.</a:t>
            </a:r>
            <a:endParaRPr lang="en-US" altLang="zh-CN"/>
          </a:p>
          <a:p>
            <a:r>
              <a:rPr lang="en-US" altLang="zh-CN"/>
              <a:t>When AI and human performance are matched overall, do people still punish AI errors more?</a:t>
            </a:r>
            <a:endParaRPr lang="en-US" altLang="zh-CN"/>
          </a:p>
          <a:p>
            <a:r>
              <a:rPr lang="en-US" altLang="zh-CN"/>
              <a:t>So this paper is not saying simply that people dislike algorithms.</a:t>
            </a:r>
            <a:endParaRPr lang="en-US" altLang="zh-CN"/>
          </a:p>
          <a:p>
            <a:r>
              <a:rPr lang="en-US" altLang="zh-CN"/>
              <a:t>It studies dynamic asymmetry under repeated feedback.</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in short The paper is about how reliance changes over repeated interactions.</a:t>
            </a:r>
            <a:endParaRPr lang="en-US" altLang="zh-CN"/>
          </a:p>
          <a:p>
            <a:r>
              <a:rPr lang="en-US" altLang="zh-CN"/>
              <a:t>In details, I ask what happens when AI makes a local mistake in one stage.</a:t>
            </a:r>
            <a:endParaRPr lang="en-US" altLang="zh-CN"/>
          </a:p>
          <a:p>
            <a:r>
              <a:rPr lang="en-US" altLang="zh-CN"/>
              <a:t>Does reliance drop only for a short time?</a:t>
            </a:r>
            <a:endParaRPr lang="en-US" altLang="zh-CN"/>
          </a:p>
          <a:p>
            <a:r>
              <a:rPr lang="en-US" altLang="zh-CN"/>
              <a:t>Or does that mistake change the later path of reliance?</a:t>
            </a:r>
            <a:endParaRPr lang="en-US" altLang="zh-CN"/>
          </a:p>
          <a:p>
            <a:r>
              <a:rPr lang="en-US" altLang="zh-CN"/>
              <a:t>So the main object here is the reliance path.</a:t>
            </a:r>
            <a:endParaRPr lang="en-US" altLang="zh-CN"/>
          </a:p>
          <a:p>
            <a:r>
              <a:rPr lang="en-US" altLang="zh-CN"/>
              <a:t>I first look at the path directly.</a:t>
            </a:r>
            <a:r>
              <a:rPr lang="zh-CN" altLang="en-US"/>
              <a:t>念</a:t>
            </a:r>
            <a:r>
              <a:rPr lang="en-US" altLang="zh-CN"/>
              <a:t>PPT</a:t>
            </a:r>
            <a:endParaRPr lang="en-US" altLang="zh-CN"/>
          </a:p>
          <a:p>
            <a:r>
              <a:rPr lang="en-US" altLang="zh-CN"/>
              <a:t>Then I use a learning model to help explain why the path changes.</a:t>
            </a:r>
            <a:endParaRPr lang="en-US" altLang="zh-CN"/>
          </a:p>
          <a:p>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Here are the hypotheses of this research.</a:t>
            </a:r>
            <a:endParaRPr lang="en-US" altLang="zh-CN"/>
          </a:p>
          <a:p>
            <a:r>
              <a:rPr lang="en-US" altLang="zh-CN"/>
              <a:t>H1 is about basic learning.</a:t>
            </a:r>
            <a:endParaRPr lang="en-US" altLang="zh-CN"/>
          </a:p>
          <a:p>
            <a:r>
              <a:rPr lang="en-US" altLang="zh-CN"/>
              <a:t>If AI does better, people should rely on it more.</a:t>
            </a:r>
            <a:endParaRPr lang="en-US" altLang="zh-CN"/>
          </a:p>
          <a:p>
            <a:r>
              <a:rPr lang="en-US" altLang="zh-CN"/>
              <a:t>If self does better, people should rely on AI less.</a:t>
            </a:r>
            <a:endParaRPr lang="en-US" altLang="zh-CN"/>
          </a:p>
          <a:p>
            <a:r>
              <a:rPr lang="en-US" altLang="zh-CN"/>
              <a:t>H2 is about AI error shocks.</a:t>
            </a:r>
            <a:endParaRPr lang="en-US" altLang="zh-CN"/>
          </a:p>
          <a:p>
            <a:r>
              <a:rPr lang="en-US" altLang="zh-CN"/>
              <a:t>If AI makes several mistakes in early period, people may reduce AI adoption more than when the same mistakes are spread out.</a:t>
            </a:r>
            <a:endParaRPr lang="en-US" altLang="zh-CN"/>
          </a:p>
          <a:p>
            <a:r>
              <a:rPr lang="en-US" altLang="zh-CN"/>
              <a:t>H3 is about recovery.</a:t>
            </a:r>
            <a:endParaRPr lang="en-US" altLang="zh-CN"/>
          </a:p>
          <a:p>
            <a:r>
              <a:rPr lang="en-US" altLang="zh-CN"/>
              <a:t>After the shock, does reliance come back?Or does it stay low?</a:t>
            </a:r>
            <a:endParaRPr lang="en-US" altLang="zh-CN"/>
          </a:p>
          <a:p>
            <a:r>
              <a:rPr lang="en-US" altLang="zh-CN"/>
              <a:t>H4 is about timing</a:t>
            </a:r>
            <a:endParaRPr lang="en-US" altLang="zh-CN"/>
          </a:p>
          <a:p>
            <a:r>
              <a:rPr lang="en-US" altLang="zh-CN"/>
              <a:t>An early shock may shape first impressions.</a:t>
            </a:r>
            <a:endParaRPr lang="en-US" altLang="zh-CN"/>
          </a:p>
          <a:p>
            <a:r>
              <a:rPr lang="en-US" altLang="zh-CN"/>
              <a:t>A mid shock may break trust after it has already formed.</a:t>
            </a:r>
            <a:endParaRPr lang="en-US" altLang="zh-CN"/>
          </a:p>
          <a:p>
            <a:r>
              <a:rPr lang="en-US" altLang="zh-CN"/>
              <a:t>H5 is about asymmetry.</a:t>
            </a:r>
            <a:endParaRPr lang="en-US" altLang="zh-CN"/>
          </a:p>
          <a:p>
            <a:r>
              <a:rPr lang="en-US" altLang="zh-CN"/>
              <a:t>After similar mistakes, people may forgive themselves faster than they forgive AI.</a:t>
            </a:r>
            <a:endParaRPr lang="en-US" altLang="zh-CN"/>
          </a:p>
          <a:p>
            <a:r>
              <a:rPr lang="en-US" altLang="zh-CN"/>
              <a:t>So the central test is this:</a:t>
            </a:r>
            <a:endParaRPr lang="en-US" altLang="zh-CN"/>
          </a:p>
          <a:p>
            <a:r>
              <a:rPr lang="en-US" altLang="zh-CN"/>
              <a:t>With the same overall performance, does AI reliance recover in the same way?</a:t>
            </a:r>
            <a:endParaRPr lang="en-US" altLang="zh-CN"/>
          </a:p>
          <a:p>
            <a:r>
              <a:rPr lang="en-US" altLang="zh-CN"/>
              <a:t>Or do AI mistakes leave a longer shadow?</a:t>
            </a:r>
            <a:endParaRPr lang="en-US" altLang="zh-CN"/>
          </a:p>
          <a:p>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Here I want to explain what the task must do.</a:t>
            </a:r>
            <a:endParaRPr lang="en-US" altLang="zh-CN"/>
          </a:p>
          <a:p>
            <a:r>
              <a:rPr lang="en-US" altLang="zh-CN"/>
              <a:t>I need a setting that can show reliance over time.</a:t>
            </a:r>
            <a:endParaRPr lang="en-US" altLang="zh-CN"/>
          </a:p>
          <a:p>
            <a:r>
              <a:rPr lang="en-US" altLang="zh-CN"/>
              <a:t>So first, it must have multiple rounds.</a:t>
            </a:r>
            <a:endParaRPr lang="en-US" altLang="zh-CN"/>
          </a:p>
          <a:p>
            <a:r>
              <a:rPr lang="en-US" altLang="zh-CN"/>
              <a:t>Otherwise, I cannot observe decline, recovery, or path dependence.</a:t>
            </a:r>
            <a:endParaRPr lang="en-US" altLang="zh-CN"/>
          </a:p>
          <a:p>
            <a:r>
              <a:rPr lang="en-US" altLang="zh-CN"/>
              <a:t>Second, it must have some learning cost.</a:t>
            </a:r>
            <a:endParaRPr lang="en-US" altLang="zh-CN"/>
          </a:p>
          <a:p>
            <a:r>
              <a:rPr lang="en-US" altLang="zh-CN"/>
              <a:t>If it is too easy, people learn it quickly and AI no longer matters.</a:t>
            </a:r>
            <a:endParaRPr lang="en-US" altLang="zh-CN"/>
          </a:p>
          <a:p>
            <a:r>
              <a:rPr lang="en-US" altLang="zh-CN"/>
              <a:t>If it is too hard, people may just give up and fully rely on AI.</a:t>
            </a:r>
            <a:endParaRPr lang="en-US" altLang="zh-CN"/>
          </a:p>
          <a:p>
            <a:r>
              <a:rPr lang="en-US" altLang="zh-CN"/>
              <a:t>Third, AI use must feel meaningful.</a:t>
            </a:r>
            <a:endParaRPr lang="en-US" altLang="zh-CN"/>
          </a:p>
          <a:p>
            <a:r>
              <a:rPr lang="en-US" altLang="zh-CN"/>
              <a:t>Participants should feel that AI can actually help.</a:t>
            </a:r>
            <a:endParaRPr lang="en-US" altLang="zh-CN"/>
          </a:p>
          <a:p>
            <a:r>
              <a:rPr lang="en-US" altLang="zh-CN"/>
              <a:t>Fourth, the environment must be clean.</a:t>
            </a:r>
            <a:endParaRPr lang="en-US" altLang="zh-CN"/>
          </a:p>
          <a:p>
            <a:r>
              <a:rPr lang="en-US" altLang="zh-CN"/>
              <a:t>Each participant faces the same standardized setting.</a:t>
            </a:r>
            <a:endParaRPr lang="en-US" altLang="zh-CN"/>
          </a:p>
          <a:p>
            <a:r>
              <a:rPr lang="en-US" altLang="zh-CN"/>
              <a:t>The opponent agent is only used to control difficulty and AI error timing.</a:t>
            </a:r>
            <a:endParaRPr lang="en-US" altLang="zh-CN"/>
          </a:p>
          <a:p>
            <a:r>
              <a:rPr lang="en-US" altLang="zh-CN"/>
              <a:t>Finally, I need counterfactual feedback.</a:t>
            </a:r>
            <a:endParaRPr lang="en-US" altLang="zh-CN"/>
          </a:p>
          <a:p>
            <a:r>
              <a:rPr lang="en-US" altLang="zh-CN"/>
              <a:t>Participants should see both self performance and AI performance after each round.</a:t>
            </a:r>
            <a:endParaRPr lang="en-US" altLang="zh-CN"/>
          </a:p>
          <a:p>
            <a:r>
              <a:rPr lang="en-US" altLang="zh-CN"/>
              <a:t>So the summary is simple:</a:t>
            </a:r>
            <a:endParaRPr lang="en-US" altLang="zh-CN"/>
          </a:p>
          <a:p>
            <a:r>
              <a:rPr lang="en-US" altLang="zh-CN"/>
              <a:t>all this desigin allow me to study reliance paths, not just fixed attitudes toward AI.</a:t>
            </a:r>
            <a:endParaRPr lang="en-US" altLang="zh-CN"/>
          </a:p>
          <a:p>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experiment is simple.</a:t>
            </a:r>
            <a:endParaRPr lang="en-US" altLang="zh-CN"/>
          </a:p>
          <a:p>
            <a:r>
              <a:rPr lang="en-US" altLang="zh-CN"/>
              <a:t>Participants face three abstract channels. There are no real-world labels, </a:t>
            </a:r>
            <a:endParaRPr lang="en-US" altLang="zh-CN"/>
          </a:p>
          <a:p>
            <a:r>
              <a:rPr lang="en-US" altLang="zh-CN"/>
              <a:t>In each round, each channel generates a different payoff. Participants have 100 points, and they need to allocate these points across the three channels.</a:t>
            </a:r>
            <a:endParaRPr lang="en-US" altLang="zh-CN"/>
          </a:p>
          <a:p>
            <a:r>
              <a:rPr lang="en-US" altLang="zh-CN"/>
              <a:t>they see the AI’s recommendation. Then they choose whether to submit their own decision or follow the AI.</a:t>
            </a:r>
            <a:endParaRPr lang="en-US" altLang="zh-CN"/>
          </a:p>
          <a:p>
            <a:r>
              <a:rPr lang="en-US" altLang="zh-CN"/>
              <a:t>But The payoff sequence is fixed in advance. So every participant faces the same 20 rounds. But we do not tell them this.</a:t>
            </a:r>
            <a:endParaRPr lang="en-US" altLang="zh-CN"/>
          </a:p>
          <a:p>
            <a:r>
              <a:rPr lang="en-US" altLang="zh-CN"/>
              <a:t>Instead, we tell them that the current payoff may be related to the previous round. This makes participants believe there may be an underlying pattern to learn.</a:t>
            </a:r>
            <a:endParaRPr lang="en-US" altLang="zh-CN"/>
          </a:p>
          <a:p>
            <a:r>
              <a:rPr lang="en-US" altLang="zh-CN"/>
              <a:t>The goal is to make the task difficult, but not impossible. Participants should feel uncertain enough to seek help from the AI, but the task should not be so simple that they can fully learn it after a few rounds.</a:t>
            </a:r>
            <a:endParaRPr lang="en-US" altLang="zh-CN"/>
          </a:p>
          <a:p>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visual simplification of the experiment. At the top, I only vary the timing structure of AI errors;</a:t>
            </a:r>
            <a:r>
              <a:rPr lang="en-US" altLang="zh-CN"/>
              <a:t>The important point is that overall performance is matched.</a:t>
            </a:r>
            <a:endParaRPr lang="en-US" altLang="zh-CN"/>
          </a:p>
          <a:p>
            <a:r>
              <a:rPr lang="en-US" altLang="zh-CN"/>
              <a:t>The total AI payoff is matched.</a:t>
            </a:r>
            <a:endParaRPr lang="en-US" altLang="zh-CN"/>
          </a:p>
          <a:p>
            <a:r>
              <a:rPr lang="en-US" altLang="zh-CN"/>
              <a:t>The number of errors is matched.</a:t>
            </a:r>
            <a:endParaRPr lang="en-US" altLang="zh-CN"/>
          </a:p>
          <a:p>
            <a:r>
              <a:rPr lang="en-US" altLang="zh-CN"/>
              <a:t>Average AI quality is matched.</a:t>
            </a:r>
            <a:endParaRPr lang="en-US" altLang="zh-CN"/>
          </a:p>
          <a:p>
            <a:r>
              <a:rPr lang="en-US" altLang="zh-CN"/>
              <a:t>So the main manipulated factor is error timing.</a:t>
            </a:r>
            <a:endParaRPr lang="en-US" altLang="zh-CN"/>
          </a:p>
          <a:p>
            <a:r>
              <a:rPr lang="en-US" altLang="zh-CN"/>
              <a:t>That lets me test whether the timing of AI failure changes later reliance.</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table is the identification map of the paper.</a:t>
            </a:r>
            <a:endParaRPr lang="en-US" altLang="zh-CN"/>
          </a:p>
          <a:p>
            <a:r>
              <a:rPr lang="en-US" altLang="zh-CN"/>
              <a:t>First, I test whether reliance responds to relative performance.</a:t>
            </a:r>
            <a:endParaRPr lang="en-US" altLang="zh-CN"/>
          </a:p>
          <a:p>
            <a:r>
              <a:rPr lang="en-US" altLang="zh-CN"/>
              <a:t>Second, I test whether clustered AI errors create a larger penalty than balanced errors.</a:t>
            </a:r>
            <a:endParaRPr lang="en-US" altLang="zh-CN"/>
          </a:p>
          <a:p>
            <a:r>
              <a:rPr lang="en-US" altLang="zh-CN"/>
              <a:t>Third, I test whether reliance fully recovers after AI performance improves.</a:t>
            </a:r>
            <a:endParaRPr lang="en-US" altLang="zh-CN"/>
          </a:p>
          <a:p>
            <a:r>
              <a:rPr lang="en-US" altLang="zh-CN"/>
              <a:t>Fourth, I test whether early errors matter more than mid-stage errors.</a:t>
            </a:r>
            <a:endParaRPr lang="en-US" altLang="zh-CN"/>
          </a:p>
          <a:p>
            <a:r>
              <a:rPr lang="en-US" altLang="zh-CN"/>
              <a:t>Fifth, I test whether AI misses are punished more than comparable self misses.</a:t>
            </a:r>
            <a:endParaRPr lang="en-US" altLang="zh-CN"/>
          </a:p>
          <a:p>
            <a:r>
              <a:rPr lang="en-US" altLang="zh-CN"/>
              <a:t>They show how reliance falls, whether it recovers, and whether AI errors leave a stronger effect.</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I use an EWA-inspired model to interpret the learning process.</a:t>
            </a:r>
            <a:endParaRPr lang="en-US" altLang="zh-CN"/>
          </a:p>
          <a:p>
            <a:r>
              <a:rPr lang="en-US" altLang="zh-CN"/>
              <a:t>But it is not the main identification strategy.</a:t>
            </a:r>
            <a:endParaRPr lang="en-US" altLang="zh-CN"/>
          </a:p>
          <a:p>
            <a:r>
              <a:rPr lang="en-US" altLang="zh-CN"/>
              <a:t>The main evidence comes from the experimental comparisons.</a:t>
            </a:r>
            <a:endParaRPr lang="en-US" altLang="zh-CN"/>
          </a:p>
          <a:p>
            <a:r>
              <a:rPr lang="en-US" altLang="zh-CN"/>
              <a:t>The model helps explain why the path changes.</a:t>
            </a:r>
            <a:endParaRPr lang="en-US" altLang="zh-CN"/>
          </a:p>
          <a:p>
            <a:r>
              <a:rPr lang="en-US" altLang="zh-CN"/>
              <a:t>This model is useful because participants repeatedly choose between their own judgment and AI judgment.</a:t>
            </a:r>
            <a:endParaRPr lang="en-US" altLang="zh-CN"/>
          </a:p>
          <a:p>
            <a:r>
              <a:rPr lang="en-US" altLang="zh-CN"/>
              <a:t>They also observe both actual and counterfactual feedback.</a:t>
            </a:r>
            <a:endParaRPr lang="en-US" altLang="zh-CN"/>
          </a:p>
          <a:p>
            <a:r>
              <a:rPr lang="en-US" altLang="zh-CN"/>
              <a:t>So we can think of people as updating the attraction of each source over time.</a:t>
            </a:r>
            <a:endParaRPr lang="en-US" altLang="zh-CN"/>
          </a:p>
          <a:p>
            <a:r>
              <a:rPr lang="en-US" altLang="zh-CN"/>
              <a:t>The key question is whether AI attraction drops more sharply after AI errors.</a:t>
            </a:r>
            <a:endParaRPr lang="en-US" altLang="zh-CN"/>
          </a:p>
          <a:p>
            <a:r>
              <a:rPr lang="en-US" altLang="zh-CN"/>
              <a:t>And whether that drop is harder to repair after early shocks.</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In conclusion, the paper studies how people adjust their reliance on AI in dynamic task.</a:t>
            </a:r>
            <a:endParaRPr lang="en-US" altLang="zh-CN"/>
          </a:p>
          <a:p>
            <a:r>
              <a:rPr lang="en-US" altLang="zh-CN"/>
              <a:t>The broader point is this:</a:t>
            </a:r>
            <a:endParaRPr lang="en-US" altLang="zh-CN"/>
          </a:p>
          <a:p>
            <a:r>
              <a:rPr lang="en-US" altLang="zh-CN"/>
              <a:t>Many failures in human-AI systems may not come only from poor model performance.</a:t>
            </a:r>
            <a:endParaRPr lang="en-US" altLang="zh-CN"/>
          </a:p>
          <a:p>
            <a:r>
              <a:rPr lang="en-US" altLang="zh-CN"/>
              <a:t>They may come from the wrong reliance path that users develop during interaction.</a:t>
            </a:r>
            <a:endParaRPr lang="en-US" altLang="zh-CN"/>
          </a:p>
          <a:p>
            <a:r>
              <a:rPr lang="en-US" altLang="zh-CN"/>
              <a:t>So this experiment tries to identify three things.</a:t>
            </a:r>
            <a:endParaRPr lang="en-US" altLang="zh-CN"/>
          </a:p>
          <a:p>
            <a:r>
              <a:rPr lang="en-US" altLang="zh-CN"/>
              <a:t>How does this path form?</a:t>
            </a:r>
            <a:endParaRPr lang="en-US" altLang="zh-CN"/>
          </a:p>
          <a:p>
            <a:r>
              <a:rPr lang="en-US" altLang="zh-CN"/>
              <a:t>Can reliance recover after AI performance improves?</a:t>
            </a:r>
            <a:endParaRPr lang="en-US" altLang="zh-CN"/>
          </a:p>
          <a:p>
            <a:r>
              <a:rPr lang="en-US" altLang="zh-CN"/>
              <a:t>And how does this path affect later human use of AI?</a:t>
            </a:r>
            <a:endParaRPr lang="en-US" altLang="zh-CN"/>
          </a:p>
          <a:p>
            <a:r>
              <a:rPr lang="en-US" altLang="zh-CN"/>
              <a:t>That is the main content of Paper 2.</a:t>
            </a:r>
            <a:endParaRPr lang="en-US" altLang="zh-CN"/>
          </a:p>
          <a:p>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I move to the third paper in the dissertation.</a:t>
            </a:r>
          </a:p>
          <a:p>
            <a:r>
              <a:t>If the first paper studies belief formation and the second studies reliance , this paper asks what happens once a action has to be owned.</a:t>
            </a:r>
          </a:p>
          <a:p>
            <a:pPr algn="l">
              <a:lnSpc>
                <a:spcPct val="106000"/>
              </a:lnSpc>
              <a:buNone/>
              <a:defRPr sz="1650" b="0" i="0">
                <a:solidFill>
                  <a:srgbClr val="D8CDC1"/>
                </a:solidFill>
                <a:latin typeface="Times New Roman" panose="02020603050405020304"/>
                <a:ea typeface="Times New Roman" panose="02020603050405020304"/>
                <a:cs typeface="Times New Roman" panose="02020603050405020304"/>
              </a:defRPr>
            </a:pPr>
            <a:r>
              <a:t>The core question is </a:t>
            </a:r>
            <a:r>
              <a:rPr sz="1200">
                <a:solidFill>
                  <a:srgbClr val="D8CDC1"/>
                </a:solidFill>
                <a:latin typeface="Times New Roman" panose="02020603050405020304"/>
                <a:ea typeface="Times New Roman" panose="02020603050405020304"/>
                <a:cs typeface="Times New Roman" panose="02020603050405020304"/>
                <a:sym typeface="+mn-ea"/>
              </a:rPr>
              <a:t>AI-supported decisions can change not only what people know, but whether they still feel accountable for the final move.</a:t>
            </a:r>
            <a:endParaRPr sz="1200">
              <a:solidFill>
                <a:srgbClr val="D8CDC1"/>
              </a:solidFill>
              <a:latin typeface="Times New Roman" panose="02020603050405020304"/>
              <a:ea typeface="Times New Roman" panose="02020603050405020304"/>
              <a:cs typeface="Times New Roman" panose="02020603050405020304"/>
              <a:sym typeface="+mn-ea"/>
            </a:endParaRPr>
          </a:p>
          <a:p>
            <a:pPr algn="l">
              <a:lnSpc>
                <a:spcPct val="106000"/>
              </a:lnSpc>
              <a:buNone/>
              <a:defRPr sz="1650" b="0" i="0">
                <a:solidFill>
                  <a:srgbClr val="D8CDC1"/>
                </a:solidFill>
                <a:latin typeface="Times New Roman" panose="02020603050405020304"/>
                <a:ea typeface="Times New Roman" panose="02020603050405020304"/>
                <a:cs typeface="Times New Roman" panose="02020603050405020304"/>
              </a:defRPr>
            </a:pPr>
            <a:endParaRPr lang="en-US" altLang="zh-CN" sz="1200">
              <a:solidFill>
                <a:srgbClr val="D8CDC1"/>
              </a:solidFill>
              <a:latin typeface="Times New Roman" panose="02020603050405020304"/>
              <a:ea typeface="Times New Roman" panose="02020603050405020304"/>
              <a:cs typeface="Times New Roman" panose="02020603050405020304"/>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Let </a:t>
            </a:r>
            <a:r>
              <a:rPr lang="en-US" altLang="zh-CN"/>
              <a:t>us start with a concrete case.</a:t>
            </a:r>
            <a:endParaRPr lang="en-US" altLang="zh-CN"/>
          </a:p>
          <a:p>
            <a:r>
              <a:rPr lang="en-US" altLang="zh-CN"/>
              <a:t>Claude has reportedly been used in U.S. military operations related to Iran.</a:t>
            </a:r>
            <a:endParaRPr lang="en-US" altLang="zh-CN"/>
          </a:p>
          <a:p>
            <a:r>
              <a:rPr lang="en-US" altLang="zh-CN"/>
              <a:t>For me, the key question is not who should take the respondsibility for the escalate action.</a:t>
            </a:r>
            <a:endParaRPr lang="en-US" altLang="zh-CN"/>
          </a:p>
          <a:p>
            <a:r>
              <a:rPr lang="en-US" altLang="zh-CN"/>
              <a:t>I care more about what happens before the action.</a:t>
            </a:r>
            <a:endParaRPr lang="en-US" altLang="zh-CN"/>
          </a:p>
          <a:p>
            <a:r>
              <a:rPr lang="en-US" altLang="zh-CN"/>
              <a:t>When humans work with AI in these settings, does their sense of responsibility change?</a:t>
            </a:r>
            <a:endParaRPr lang="en-US" altLang="zh-CN"/>
          </a:p>
          <a:p>
            <a:r>
              <a:rPr lang="en-US" altLang="zh-CN"/>
              <a:t>Most of time the human may still approve the final action.</a:t>
            </a:r>
            <a:endParaRPr lang="en-US" altLang="zh-CN"/>
          </a:p>
          <a:p>
            <a:r>
              <a:rPr lang="en-US" altLang="zh-CN"/>
              <a:t>But the decision may feel less personal.</a:t>
            </a:r>
            <a:endParaRPr lang="en-US" altLang="zh-CN"/>
          </a:p>
          <a:p>
            <a:r>
              <a:rPr lang="en-US" altLang="zh-CN"/>
              <a:t>The moral burden may become lighter.</a:t>
            </a:r>
            <a:endParaRPr lang="en-US" altLang="zh-CN"/>
          </a:p>
          <a:p>
            <a:r>
              <a:rPr lang="en-US" altLang="zh-CN"/>
              <a:t>Responsibility may start to shared between the human and the AI system.</a:t>
            </a:r>
            <a:endParaRPr lang="en-US" altLang="zh-CN"/>
          </a:p>
          <a:p>
            <a:r>
              <a:rPr lang="en-US" altLang="zh-CN"/>
              <a:t>These high-risk human-AI interactions will become more common.</a:t>
            </a:r>
            <a:endParaRPr lang="en-US" altLang="zh-CN"/>
          </a:p>
          <a:p>
            <a:r>
              <a:rPr lang="en-US" altLang="zh-CN"/>
              <a:t>So we need to understand how people think, feel, and act with AI before we design future rules and governance.</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paper builds on three lines of literature.</a:t>
            </a:r>
            <a:endParaRPr lang="en-US" altLang="zh-CN"/>
          </a:p>
          <a:p>
            <a:r>
              <a:rPr lang="en-US" altLang="zh-CN"/>
              <a:t>The first is about AI workflow design.</a:t>
            </a:r>
            <a:endParaRPr lang="en-US" altLang="zh-CN"/>
          </a:p>
          <a:p>
            <a:r>
              <a:rPr lang="en-US" altLang="zh-CN"/>
              <a:t>AI can enter the decision process in different places.</a:t>
            </a:r>
            <a:endParaRPr lang="en-US" altLang="zh-CN"/>
          </a:p>
          <a:p>
            <a:r>
              <a:rPr lang="en-US" altLang="zh-CN"/>
              <a:t>It can analyze, advise, recommend, or support approval.</a:t>
            </a:r>
            <a:endParaRPr lang="en-US" altLang="zh-CN"/>
          </a:p>
          <a:p>
            <a:r>
              <a:rPr lang="en-US" altLang="zh-CN"/>
              <a:t>So AI’s position in the process matters.</a:t>
            </a:r>
            <a:endParaRPr lang="en-US" altLang="zh-CN"/>
          </a:p>
          <a:p>
            <a:r>
              <a:rPr lang="en-US" altLang="zh-CN"/>
              <a:t>The second line is about delegation.</a:t>
            </a:r>
            <a:endParaRPr lang="en-US" altLang="zh-CN"/>
          </a:p>
          <a:p>
            <a:r>
              <a:rPr lang="en-US" altLang="zh-CN"/>
              <a:t>When a decision may create negative consequences, people may involve another agent to manage responsibility.</a:t>
            </a:r>
            <a:endParaRPr lang="en-US" altLang="zh-CN"/>
          </a:p>
          <a:p>
            <a:r>
              <a:rPr lang="en-US" altLang="zh-CN"/>
              <a:t>With AI support, the human may start to feel less like the full decision owner, and more like a supervisor.</a:t>
            </a:r>
            <a:endParaRPr lang="en-US" altLang="zh-CN"/>
          </a:p>
          <a:p>
            <a:r>
              <a:rPr lang="en-US" altLang="zh-CN"/>
              <a:t>The third line is accountability.</a:t>
            </a:r>
            <a:endParaRPr lang="en-US" altLang="zh-CN"/>
          </a:p>
          <a:p>
            <a:r>
              <a:rPr lang="en-US" altLang="zh-CN"/>
              <a:t>A system can require disclosure, approval, or justification.</a:t>
            </a:r>
            <a:endParaRPr lang="en-US" altLang="zh-CN"/>
          </a:p>
          <a:p>
            <a:r>
              <a:rPr lang="en-US" altLang="zh-CN"/>
              <a:t>But formal accountability does not always mean people actually feel responsible.</a:t>
            </a:r>
            <a:endParaRPr lang="en-US" altLang="zh-CN"/>
          </a:p>
          <a:p>
            <a:r>
              <a:rPr lang="en-US" altLang="zh-CN"/>
              <a:t>One important point is that responsibility here is not legal responsibility.</a:t>
            </a:r>
            <a:endParaRPr lang="en-US" altLang="zh-CN"/>
          </a:p>
          <a:p>
            <a:r>
              <a:rPr lang="en-US" altLang="zh-CN"/>
              <a:t>It is subjective responsibility.</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states the gap more directly.</a:t>
            </a:r>
            <a:endParaRPr lang="en-US" altLang="zh-CN"/>
          </a:p>
          <a:p>
            <a:r>
              <a:rPr lang="en-US" altLang="zh-CN"/>
              <a:t>a lot of that work focuses on what happens after the outcome.</a:t>
            </a:r>
            <a:endParaRPr lang="en-US" altLang="zh-CN"/>
          </a:p>
          <a:p>
            <a:r>
              <a:rPr lang="en-US" altLang="zh-CN"/>
              <a:t>Who gets blamed?</a:t>
            </a:r>
            <a:endParaRPr lang="en-US" altLang="zh-CN"/>
          </a:p>
          <a:p>
            <a:r>
              <a:rPr lang="en-US" altLang="zh-CN"/>
              <a:t>Who is accountable?</a:t>
            </a:r>
            <a:endParaRPr lang="en-US" altLang="zh-CN"/>
          </a:p>
          <a:p>
            <a:r>
              <a:rPr lang="en-US" altLang="zh-CN"/>
              <a:t>How is responsibility assigned?</a:t>
            </a:r>
            <a:endParaRPr lang="en-US" altLang="zh-CN"/>
          </a:p>
          <a:p>
            <a:r>
              <a:rPr lang="en-US" altLang="zh-CN"/>
              <a:t>My paper moves the question earlier.</a:t>
            </a:r>
            <a:endParaRPr lang="en-US" altLang="zh-CN"/>
          </a:p>
          <a:p>
            <a:r>
              <a:rPr lang="en-US" altLang="zh-CN"/>
              <a:t>Before the outcome happens, how does the AI-supported process change the person’s sense of ownership?</a:t>
            </a:r>
            <a:endParaRPr lang="en-US" altLang="zh-CN"/>
          </a:p>
          <a:p>
            <a:r>
              <a:rPr lang="en-US" altLang="zh-CN"/>
              <a:t>And does that change affect risky action?</a:t>
            </a:r>
            <a:endParaRPr lang="en-US" altLang="zh-CN"/>
          </a:p>
          <a:p>
            <a:r>
              <a:rPr lang="en-US" altLang="zh-CN"/>
              <a:t>So the gap is clear: We still do not fully understand the mechanism of responsibility distribution in human-AI interaction.</a:t>
            </a:r>
            <a:endParaRPr lang="en-US" altLang="zh-CN"/>
          </a:p>
          <a:p>
            <a:r>
              <a:rPr lang="en-US" altLang="zh-CN"/>
              <a:t>I want to know how visibility, traceability, attribution, and evaluability shape felt accountability before action.</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paper also connects to theories of strategic risk.</a:t>
            </a:r>
            <a:endParaRPr lang="en-US" altLang="zh-CN"/>
          </a:p>
          <a:p>
            <a:r>
              <a:rPr lang="en-US" altLang="zh-CN"/>
              <a:t>Rationalist theories explain escalation through bargaining failure, information problems, or commitment problems.</a:t>
            </a:r>
            <a:endParaRPr lang="en-US" altLang="zh-CN"/>
          </a:p>
          <a:p>
            <a:r>
              <a:rPr lang="en-US" altLang="zh-CN"/>
              <a:t>Behavioral theories explain risk-taking through framing, loss aversion, and emotion.</a:t>
            </a:r>
            <a:endParaRPr lang="en-US" altLang="zh-CN"/>
          </a:p>
          <a:p>
            <a:r>
              <a:rPr lang="en-US" altLang="zh-CN"/>
              <a:t>These theories are useful.</a:t>
            </a:r>
            <a:endParaRPr lang="en-US" altLang="zh-CN"/>
          </a:p>
          <a:p>
            <a:r>
              <a:rPr lang="en-US" altLang="zh-CN"/>
              <a:t>But they usually treat responsibility as already given.</a:t>
            </a:r>
            <a:endParaRPr lang="en-US" altLang="zh-CN"/>
          </a:p>
          <a:p>
            <a:r>
              <a:rPr lang="en-US" altLang="zh-CN"/>
              <a:t>The decision maker is assumed to carry the cost of the final choice.</a:t>
            </a:r>
            <a:endParaRPr lang="en-US" altLang="zh-CN"/>
          </a:p>
          <a:p>
            <a:r>
              <a:rPr lang="en-US" altLang="zh-CN"/>
              <a:t>AI may change exactly this condition.</a:t>
            </a:r>
            <a:endParaRPr lang="en-US" altLang="zh-CN"/>
          </a:p>
          <a:p>
            <a:r>
              <a:rPr lang="en-US" altLang="zh-CN"/>
              <a:t>When AI becomes part of the process, accountability may no longer feel fixed.</a:t>
            </a:r>
            <a:endParaRPr lang="en-US" altLang="zh-CN"/>
          </a:p>
          <a:p>
            <a:r>
              <a:rPr lang="en-US" altLang="zh-CN"/>
              <a:t>So we need to think about AI within conflict situations. Conflict settings have their own logic, and AI also has its own features. My point is that we need to study how these two things interact.</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paper has four research questions.</a:t>
            </a:r>
            <a:endParaRPr lang="en-US" altLang="zh-CN"/>
          </a:p>
          <a:p>
            <a:r>
              <a:rPr lang="en-US" altLang="zh-CN"/>
              <a:t>First, does AI decision support itself change high-risk strategic choice?</a:t>
            </a:r>
            <a:endParaRPr lang="en-US" altLang="zh-CN"/>
          </a:p>
          <a:p>
            <a:r>
              <a:rPr lang="en-US" altLang="zh-CN"/>
              <a:t>Second, when AI moves closer to the final action, does it change ownership and responsibility attribution?</a:t>
            </a:r>
            <a:endParaRPr lang="en-US" altLang="zh-CN"/>
          </a:p>
          <a:p>
            <a:r>
              <a:rPr lang="en-US" altLang="zh-CN"/>
              <a:t>Third, can accountability requirements increase felt accountability?</a:t>
            </a:r>
            <a:endParaRPr lang="en-US" altLang="zh-CN"/>
          </a:p>
          <a:p>
            <a:r>
              <a:rPr lang="en-US" altLang="zh-CN"/>
              <a:t>For example, does confirmation or justification make the human feel more responsible?</a:t>
            </a:r>
            <a:endParaRPr lang="en-US" altLang="zh-CN"/>
          </a:p>
          <a:p>
            <a:r>
              <a:rPr lang="en-US" altLang="zh-CN"/>
              <a:t>Fourth, do these accountability requirements change escalation behavior?</a:t>
            </a:r>
            <a:endParaRPr lang="en-US" altLang="zh-CN"/>
          </a:p>
          <a:p>
            <a:r>
              <a:rPr lang="en-US" altLang="zh-CN"/>
              <a:t>So the paper moves from AI presence to responsibility </a:t>
            </a:r>
            <a:r>
              <a:rPr lang="en-US" altLang="zh-CN">
                <a:sym typeface="+mn-ea"/>
              </a:rPr>
              <a:t>mechanism</a:t>
            </a:r>
            <a:r>
              <a:rPr lang="en-US" altLang="zh-CN"/>
              <a:t>.</a:t>
            </a:r>
            <a:endParaRPr lang="en-US" altLang="zh-CN"/>
          </a:p>
          <a:p>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turns the research questions into experimental conditions.</a:t>
            </a:r>
            <a:endParaRPr lang="en-US" altLang="zh-CN"/>
          </a:p>
          <a:p>
            <a:r>
              <a:rPr lang="en-US" altLang="zh-CN"/>
              <a:t>The key design is to keep two things constant.</a:t>
            </a:r>
            <a:endParaRPr lang="en-US" altLang="zh-CN"/>
          </a:p>
          <a:p>
            <a:r>
              <a:rPr lang="en-US" altLang="zh-CN"/>
              <a:t>First, everyone faces the same Hawk-Dove game.</a:t>
            </a:r>
            <a:endParaRPr lang="en-US" altLang="zh-CN"/>
          </a:p>
          <a:p>
            <a:r>
              <a:rPr lang="en-US" altLang="zh-CN"/>
              <a:t>Second, in all AI conditions, the AI analysis is the same.</a:t>
            </a:r>
            <a:endParaRPr lang="en-US" altLang="zh-CN"/>
          </a:p>
          <a:p>
            <a:r>
              <a:rPr lang="en-US" altLang="zh-CN"/>
              <a:t>What changes is the responsibility structure around the decision.</a:t>
            </a:r>
            <a:endParaRPr lang="en-US" altLang="zh-CN"/>
          </a:p>
          <a:p>
            <a:r>
              <a:rPr lang="en-US" altLang="zh-CN"/>
              <a:t>There are four conditions.</a:t>
            </a:r>
            <a:endParaRPr lang="en-US" altLang="zh-CN"/>
          </a:p>
          <a:p>
            <a:r>
              <a:rPr lang="en-US" altLang="zh-CN"/>
              <a:t>In the Human-only condition, participants make the choice without AI.</a:t>
            </a:r>
            <a:endParaRPr lang="en-US" altLang="zh-CN"/>
          </a:p>
          <a:p>
            <a:r>
              <a:rPr lang="en-US" altLang="zh-CN"/>
              <a:t>This gives the baseline for escalation and responsibility </a:t>
            </a:r>
            <a:endParaRPr lang="en-US" altLang="zh-CN"/>
          </a:p>
          <a:p>
            <a:r>
              <a:rPr lang="en-US" altLang="zh-CN"/>
              <a:t>In the AI-baseline condition, participants see AI analysis before choosing.</a:t>
            </a:r>
            <a:endParaRPr lang="en-US" altLang="zh-CN"/>
          </a:p>
          <a:p>
            <a:r>
              <a:rPr lang="en-US" altLang="zh-CN"/>
              <a:t>This tells us whether AI support itself changes high-risk choice.</a:t>
            </a:r>
            <a:endParaRPr lang="en-US" altLang="zh-CN"/>
          </a:p>
          <a:p>
            <a:r>
              <a:rPr lang="en-US" altLang="zh-CN"/>
              <a:t>In the AI-confirm condition, participants see the same AI analysis.</a:t>
            </a:r>
            <a:endParaRPr lang="en-US" altLang="zh-CN"/>
          </a:p>
          <a:p>
            <a:r>
              <a:rPr lang="en-US" altLang="zh-CN"/>
              <a:t>But before acting, they must clearly confirm that they have reviewed it.</a:t>
            </a:r>
            <a:endParaRPr lang="en-US" altLang="zh-CN"/>
          </a:p>
          <a:p>
            <a:r>
              <a:rPr lang="en-US" altLang="zh-CN"/>
              <a:t>This tests whether explicit human confirmation increases decision ownership and felt accountability.</a:t>
            </a:r>
            <a:endParaRPr lang="en-US" altLang="zh-CN"/>
          </a:p>
          <a:p>
            <a:r>
              <a:rPr lang="en-US" altLang="zh-CN"/>
              <a:t>In the AI-disclosure condition, participants again see the same AI analysis.</a:t>
            </a:r>
            <a:endParaRPr lang="en-US" altLang="zh-CN"/>
          </a:p>
          <a:p>
            <a:r>
              <a:rPr lang="en-US" altLang="zh-CN"/>
              <a:t>But this time, they must disclose AI use and its influence.</a:t>
            </a:r>
            <a:endParaRPr lang="en-US" altLang="zh-CN"/>
          </a:p>
          <a:p>
            <a:r>
              <a:rPr lang="en-US" altLang="zh-CN"/>
              <a:t>This tests whether visibility and traceability increase accountability.</a:t>
            </a:r>
            <a:endParaRPr lang="en-US" altLang="zh-CN"/>
          </a:p>
          <a:p>
            <a:r>
              <a:rPr lang="en-US" altLang="zh-CN"/>
              <a:t>It also tests whether disclosure makes responsibility feel more shared with the AI system.</a:t>
            </a:r>
            <a:endParaRPr lang="en-US" altLang="zh-CN"/>
          </a:p>
          <a:p>
            <a:r>
              <a:rPr lang="en-US" altLang="zh-CN"/>
              <a:t>So the identification logic is simple.</a:t>
            </a:r>
            <a:endParaRPr lang="en-US" altLang="zh-CN"/>
          </a:p>
          <a:p>
            <a:r>
              <a:rPr lang="en-US" altLang="zh-CN"/>
              <a:t>Human-only versus AI-baseline shows the effect of AI analytical support.</a:t>
            </a:r>
            <a:endParaRPr lang="en-US" altLang="zh-CN"/>
          </a:p>
          <a:p>
            <a:r>
              <a:rPr lang="en-US" altLang="zh-CN"/>
              <a:t>AI-baseline versus AI-confirm shows the effect of explicit confirmation.</a:t>
            </a:r>
            <a:endParaRPr lang="en-US" altLang="zh-CN"/>
          </a:p>
          <a:p>
            <a:r>
              <a:rPr lang="en-US" altLang="zh-CN"/>
              <a:t>AI-baseline versus AI-disclosure shows the effect of AI-use visibility.</a:t>
            </a:r>
            <a:endParaRPr lang="en-US" altLang="zh-CN"/>
          </a:p>
          <a:p>
            <a:r>
              <a:rPr lang="en-US" altLang="zh-CN"/>
              <a:t>AI-confirm versus AI-disclosure compares two different accountability designs.</a:t>
            </a:r>
            <a:endParaRPr lang="en-US" altLang="zh-CN"/>
          </a:p>
          <a:p>
            <a:r>
              <a:rPr lang="en-US" altLang="zh-CN"/>
              <a:t>The goal is to isolate whether responsibility architecture matters.</a:t>
            </a:r>
            <a:endParaRPr lang="en-US" altLang="zh-CN"/>
          </a:p>
          <a:p>
            <a:endParaRPr lang="en-US" altLang="zh-CN"/>
          </a:p>
          <a:p>
            <a:r>
              <a:rPr lang="en-US" altLang="zh-CN"/>
              <a:t>Same game.</a:t>
            </a:r>
            <a:endParaRPr lang="en-US" altLang="zh-CN"/>
          </a:p>
          <a:p>
            <a:endParaRPr lang="en-US" altLang="zh-CN"/>
          </a:p>
          <a:p>
            <a:r>
              <a:rPr lang="en-US" altLang="zh-CN"/>
              <a:t>Same AI analysis.</a:t>
            </a:r>
            <a:endParaRPr lang="en-US" altLang="zh-CN"/>
          </a:p>
          <a:p>
            <a:endParaRPr lang="en-US" altLang="zh-CN"/>
          </a:p>
          <a:p>
            <a:r>
              <a:rPr lang="en-US" altLang="zh-CN"/>
              <a:t>Different responsibility architecture.</a:t>
            </a:r>
            <a:endParaRPr lang="en-US" altLang="zh-CN"/>
          </a:p>
          <a:p>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To test this, I use a repeated Hawk-Dove environment.</a:t>
            </a:r>
            <a:endParaRPr lang="en-US" altLang="zh-CN"/>
          </a:p>
          <a:p>
            <a:r>
              <a:rPr lang="en-US" altLang="zh-CN"/>
              <a:t>This task is useful because escalation is meaningful.</a:t>
            </a:r>
            <a:endParaRPr lang="en-US" altLang="zh-CN"/>
          </a:p>
          <a:p>
            <a:r>
              <a:rPr lang="en-US" altLang="zh-CN"/>
              <a:t>If one side escalates and the other restrains, escalation can bring a gain.</a:t>
            </a:r>
            <a:endParaRPr lang="en-US" altLang="zh-CN"/>
          </a:p>
          <a:p>
            <a:r>
              <a:rPr lang="en-US" altLang="zh-CN"/>
              <a:t>But if both sides escalate, both suffer a loss.</a:t>
            </a:r>
            <a:endParaRPr lang="en-US" altLang="zh-CN"/>
          </a:p>
          <a:p>
            <a:r>
              <a:rPr lang="en-US" altLang="zh-CN"/>
              <a:t>So the choice is not just risky for the participant.</a:t>
            </a:r>
            <a:endParaRPr lang="en-US" altLang="zh-CN"/>
          </a:p>
          <a:p>
            <a:r>
              <a:rPr lang="en-US" altLang="zh-CN"/>
              <a:t>It can also create harm for another party.</a:t>
            </a:r>
            <a:endParaRPr lang="en-US" altLang="zh-CN"/>
          </a:p>
          <a:p>
            <a:r>
              <a:rPr lang="en-US" altLang="zh-CN"/>
              <a:t>That makes responsibility visible.</a:t>
            </a:r>
            <a:endParaRPr lang="en-US" altLang="zh-CN"/>
          </a:p>
          <a:p>
            <a:r>
              <a:rPr lang="en-US" altLang="zh-CN"/>
              <a:t>Participants see the same strategic environment.</a:t>
            </a:r>
            <a:endParaRPr lang="en-US" altLang="zh-CN"/>
          </a:p>
          <a:p>
            <a:r>
              <a:rPr lang="en-US" altLang="zh-CN"/>
              <a:t>Some decide alone.What changes is the responsibility structure around the decision.</a:t>
            </a:r>
            <a:endParaRPr lang="en-US" altLang="zh-CN"/>
          </a:p>
          <a:p>
            <a:r>
              <a:rPr lang="en-US" altLang="zh-CN"/>
              <a:t>The experiment is intentionally minimal: the strategic game and AI analysis are held constant, while the responsibility architecture is varied.</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is the key method slide.</a:t>
            </a:r>
            <a:endParaRPr lang="en-US" altLang="zh-CN"/>
          </a:p>
          <a:p>
            <a:r>
              <a:rPr lang="en-US" altLang="zh-CN"/>
              <a:t>Each condition has a specific role.</a:t>
            </a:r>
            <a:endParaRPr lang="en-US" altLang="zh-CN"/>
          </a:p>
          <a:p>
            <a:r>
              <a:rPr lang="en-US" altLang="zh-CN"/>
              <a:t>The human-only condition gives the baseline.</a:t>
            </a:r>
            <a:endParaRPr lang="en-US" altLang="zh-CN"/>
          </a:p>
          <a:p>
            <a:r>
              <a:rPr lang="en-US" altLang="zh-CN"/>
              <a:t>The AI-baseline condition shows what AI support itself changes.</a:t>
            </a:r>
            <a:endParaRPr lang="en-US" altLang="zh-CN"/>
          </a:p>
          <a:p>
            <a:r>
              <a:rPr lang="en-US" altLang="zh-CN"/>
              <a:t>The AI-confirm condition tests whether explicit human confirmation increases ownership.</a:t>
            </a:r>
            <a:endParaRPr lang="en-US" altLang="zh-CN"/>
          </a:p>
          <a:p>
            <a:r>
              <a:rPr lang="en-US" altLang="zh-CN"/>
              <a:t>The AI-disclosure condition tests whether visibility and traceability increase answerability.</a:t>
            </a:r>
            <a:endParaRPr lang="en-US" altLang="zh-CN"/>
          </a:p>
          <a:p>
            <a:r>
              <a:rPr lang="en-US" altLang="zh-CN"/>
              <a:t>So each comparison identifies a different part of responsibility design.</a:t>
            </a:r>
            <a:endParaRPr lang="en-US" altLang="zh-CN"/>
          </a:p>
          <a:p>
            <a:r>
              <a:rPr lang="en-US" altLang="zh-CN"/>
              <a:t>This is what keeps the design focused.</a:t>
            </a:r>
            <a:endParaRPr lang="en-US" altLang="zh-CN"/>
          </a:p>
          <a:p>
            <a:r>
              <a:rPr lang="en-US" altLang="zh-CN"/>
              <a:t>It is not a generic AI treatment.</a:t>
            </a:r>
            <a:endParaRPr lang="en-US" altLang="zh-CN"/>
          </a:p>
          <a:p>
            <a:r>
              <a:rPr lang="en-US" altLang="zh-CN"/>
              <a:t>It is a test of how different accountability structures shape ownership and risky behavior.</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contribution of Paper 3 is to study responsibility before outcomes occur.</a:t>
            </a:r>
            <a:endParaRPr lang="en-US" altLang="zh-CN"/>
          </a:p>
          <a:p>
            <a:r>
              <a:rPr lang="en-US" altLang="zh-CN"/>
              <a:t>AI support may change escalation by itself.</a:t>
            </a:r>
            <a:endParaRPr lang="en-US" altLang="zh-CN"/>
          </a:p>
          <a:p>
            <a:r>
              <a:rPr lang="en-US" altLang="zh-CN"/>
              <a:t>Confirmation may raise ownership because the human has to actively pass through the final decision point.</a:t>
            </a:r>
            <a:endParaRPr lang="en-US" altLang="zh-CN"/>
          </a:p>
          <a:p>
            <a:r>
              <a:rPr lang="en-US" altLang="zh-CN"/>
              <a:t>Disclosure may increase answerability.</a:t>
            </a:r>
            <a:endParaRPr lang="en-US" altLang="zh-CN"/>
          </a:p>
          <a:p>
            <a:r>
              <a:rPr lang="en-US" altLang="zh-CN"/>
              <a:t>But it may also make responsibility feel shared between the human and the AI system.</a:t>
            </a:r>
            <a:endParaRPr lang="en-US" altLang="zh-CN"/>
          </a:p>
          <a:p>
            <a:r>
              <a:rPr lang="en-US" altLang="zh-CN"/>
              <a:t>So structural accountability and felt accountability may not move together.</a:t>
            </a:r>
            <a:endParaRPr lang="en-US" altLang="zh-CN"/>
          </a:p>
          <a:p>
            <a:r>
              <a:rPr lang="en-US" altLang="zh-CN"/>
              <a:t>That is why the experiment measures both perception and behavior.</a:t>
            </a:r>
            <a:endParaRPr lang="en-US" altLang="zh-CN"/>
          </a:p>
          <a:p>
            <a:r>
              <a:rPr lang="en-US" altLang="zh-CN"/>
              <a:t>This paper completes the dissertation chain.</a:t>
            </a:r>
            <a:endParaRPr lang="en-US" altLang="zh-CN"/>
          </a:p>
          <a:p>
            <a:r>
              <a:rPr lang="en-US" altLang="zh-CN"/>
              <a:t>Paper 1 studies belief formation.</a:t>
            </a:r>
            <a:endParaRPr lang="en-US" altLang="zh-CN"/>
          </a:p>
          <a:p>
            <a:r>
              <a:rPr lang="en-US" altLang="zh-CN"/>
              <a:t>Paper 2 studies reliance calibration.</a:t>
            </a:r>
            <a:endParaRPr lang="en-US" altLang="zh-CN"/>
          </a:p>
          <a:p>
            <a:r>
              <a:rPr lang="en-US" altLang="zh-CN"/>
              <a:t>Paper 3 studies responsibility design.</a:t>
            </a:r>
            <a:endParaRPr lang="en-US" altLang="zh-CN"/>
          </a:p>
          <a:p>
            <a:r>
              <a:rPr lang="en-US" altLang="zh-CN"/>
              <a:t>The central point is simple:</a:t>
            </a:r>
            <a:endParaRPr lang="en-US" altLang="zh-CN"/>
          </a:p>
          <a:p>
            <a:r>
              <a:rPr lang="en-US" altLang="zh-CN"/>
              <a:t>What matters is not only whether people use AI.</a:t>
            </a:r>
            <a:endParaRPr lang="en-US" altLang="zh-CN"/>
          </a:p>
          <a:p>
            <a:r>
              <a:rPr lang="en-US" altLang="zh-CN"/>
              <a:t>What matters is how AI system design reorganizes responsibility before action is taken.</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2" Type="http://schemas.openxmlformats.org/officeDocument/2006/relationships/notesSlide" Target="../notesSlides/notesSlide7.xml"/><Relationship Id="rId21" Type="http://schemas.openxmlformats.org/officeDocument/2006/relationships/slideLayout" Target="../slideLayouts/slideLayout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4" Type="http://schemas.openxmlformats.org/officeDocument/2006/relationships/notesSlide" Target="../notesSlides/notesSlide13.xml"/><Relationship Id="rId13" Type="http://schemas.openxmlformats.org/officeDocument/2006/relationships/slideLayout" Target="../slideLayouts/slideLayout1.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tags" Target="../tags/tag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8" Type="http://schemas.openxmlformats.org/officeDocument/2006/relationships/notesSlide" Target="../notesSlides/notesSlide18.xml"/><Relationship Id="rId17" Type="http://schemas.openxmlformats.org/officeDocument/2006/relationships/slideLayout" Target="../slideLayouts/slideLayout1.xml"/><Relationship Id="rId16" Type="http://schemas.openxmlformats.org/officeDocument/2006/relationships/tags" Target="../tags/tag48.xml"/><Relationship Id="rId15" Type="http://schemas.openxmlformats.org/officeDocument/2006/relationships/tags" Target="../tags/tag47.xml"/><Relationship Id="rId14" Type="http://schemas.openxmlformats.org/officeDocument/2006/relationships/tags" Target="../tags/tag46.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tags" Target="../tags/tag3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56.xml"/><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0" Type="http://schemas.openxmlformats.org/officeDocument/2006/relationships/notesSlide" Target="../notesSlides/notesSlide21.xml"/><Relationship Id="rId1" Type="http://schemas.openxmlformats.org/officeDocument/2006/relationships/tags" Target="../tags/tag4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1" Type="http://schemas.openxmlformats.org/officeDocument/2006/relationships/comments" Target="../comments/comment1.xml"/><Relationship Id="rId10" Type="http://schemas.openxmlformats.org/officeDocument/2006/relationships/notesSlide" Target="../notesSlides/notesSlide24.xml"/><Relationship Id="rId1" Type="http://schemas.openxmlformats.org/officeDocument/2006/relationships/tags" Target="../tags/tag5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0" Type="http://schemas.openxmlformats.org/officeDocument/2006/relationships/notesSlide" Target="../notesSlides/notesSlide36.xml"/><Relationship Id="rId1" Type="http://schemas.openxmlformats.org/officeDocument/2006/relationships/tags" Target="../tags/tag6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1" Type="http://schemas.openxmlformats.org/officeDocument/2006/relationships/notesSlide" Target="../notesSlides/notesSlide41.xml"/><Relationship Id="rId10" Type="http://schemas.openxmlformats.org/officeDocument/2006/relationships/slideLayout" Target="../slideLayouts/slideLayout1.xml"/><Relationship Id="rId1" Type="http://schemas.openxmlformats.org/officeDocument/2006/relationships/tags" Target="../tags/tag7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1F2A44"/>
          </a:solidFill>
          <a:ln w="0">
            <a:solidFill>
              <a:srgbClr val="1F2A44"/>
            </a:solidFill>
            <a:prstDash val="solid"/>
          </a:ln>
        </p:spPr>
        <p:txBody>
          <a:bodyPr/>
          <a:lstStyle/>
          <a:p/>
        </p:txBody>
      </p:sp>
      <p:sp>
        <p:nvSpPr>
          <p:cNvPr id="3" name="椭圆 2"/>
          <p:cNvSpPr>
            <a:spLocks noGrp="1"/>
          </p:cNvSpPr>
          <p:nvPr/>
        </p:nvSpPr>
        <p:spPr>
          <a:xfrm>
            <a:off x="9525000" y="-1143000"/>
            <a:ext cx="3429000" cy="3429000"/>
          </a:xfrm>
          <a:prstGeom prst="ellipse">
            <a:avLst/>
          </a:prstGeom>
          <a:solidFill>
            <a:srgbClr val="314062"/>
          </a:solidFill>
          <a:ln w="0">
            <a:solidFill>
              <a:srgbClr val="314062"/>
            </a:solidFill>
            <a:prstDash val="solid"/>
          </a:ln>
        </p:spPr>
        <p:txBody>
          <a:bodyPr/>
          <a:lstStyle/>
          <a:p/>
        </p:txBody>
      </p:sp>
      <p:sp>
        <p:nvSpPr>
          <p:cNvPr id="4" name="椭圆 3"/>
          <p:cNvSpPr>
            <a:spLocks noGrp="1"/>
          </p:cNvSpPr>
          <p:nvPr/>
        </p:nvSpPr>
        <p:spPr>
          <a:xfrm>
            <a:off x="-1143000" y="4762500"/>
            <a:ext cx="2857500" cy="2857500"/>
          </a:xfrm>
          <a:prstGeom prst="ellipse">
            <a:avLst/>
          </a:prstGeom>
          <a:solidFill>
            <a:srgbClr val="273554"/>
          </a:solidFill>
          <a:ln w="0">
            <a:solidFill>
              <a:srgbClr val="273554"/>
            </a:solidFill>
            <a:prstDash val="solid"/>
          </a:ln>
        </p:spPr>
        <p:txBody>
          <a:bodyPr/>
          <a:lstStyle/>
          <a:p/>
        </p:txBody>
      </p:sp>
      <p:sp>
        <p:nvSpPr>
          <p:cNvPr id="5" name="矩形 4"/>
          <p:cNvSpPr>
            <a:spLocks noGrp="1"/>
          </p:cNvSpPr>
          <p:nvPr/>
        </p:nvSpPr>
        <p:spPr>
          <a:xfrm>
            <a:off x="552450" y="457200"/>
            <a:ext cx="19050" cy="5943600"/>
          </a:xfrm>
          <a:prstGeom prst="rect">
            <a:avLst/>
          </a:prstGeom>
          <a:solidFill>
            <a:srgbClr val="C89B4A"/>
          </a:solidFill>
          <a:ln w="0">
            <a:solidFill>
              <a:srgbClr val="C89B4A"/>
            </a:solidFill>
            <a:prstDash val="solid"/>
          </a:ln>
        </p:spPr>
        <p:txBody>
          <a:bodyPr/>
          <a:lstStyle/>
          <a:p/>
        </p:txBody>
      </p:sp>
      <p:sp>
        <p:nvSpPr>
          <p:cNvPr id="6" name="kicker-marker"/>
          <p:cNvSpPr>
            <a:spLocks noGrp="1"/>
          </p:cNvSpPr>
          <p:nvPr/>
        </p:nvSpPr>
        <p:spPr>
          <a:xfrm>
            <a:off x="914400" y="657225"/>
            <a:ext cx="171450" cy="171450"/>
          </a:xfrm>
          <a:prstGeom prst="rect">
            <a:avLst/>
          </a:prstGeom>
          <a:solidFill>
            <a:srgbClr val="C89B4A"/>
          </a:solidFill>
          <a:ln w="0">
            <a:solidFill>
              <a:srgbClr val="C89B4A"/>
            </a:solidFill>
            <a:prstDash val="solid"/>
          </a:ln>
        </p:spPr>
        <p:txBody>
          <a:bodyPr/>
          <a:lstStyle/>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C89B4A"/>
                </a:solidFill>
                <a:latin typeface="Times New Roman" panose="02020603050405020304"/>
                <a:ea typeface="Times New Roman" panose="02020603050405020304"/>
                <a:cs typeface="Times New Roman" panose="02020603050405020304"/>
              </a:defRPr>
            </a:pPr>
            <a:r>
              <a:rPr sz="1050" b="1">
                <a:solidFill>
                  <a:srgbClr val="C89B4A"/>
                </a:solidFill>
                <a:latin typeface="Times New Roman" panose="02020603050405020304"/>
                <a:ea typeface="Times New Roman" panose="02020603050405020304"/>
                <a:cs typeface="Times New Roman" panose="02020603050405020304"/>
              </a:rPr>
              <a:t>DOCTORAL PROJECT</a:t>
            </a:r>
            <a:endParaRPr sz="1050" b="1">
              <a:solidFill>
                <a:srgbClr val="C89B4A"/>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123950"/>
            <a:ext cx="6096000" cy="1333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850" b="1">
                <a:solidFill>
                  <a:srgbClr val="FFFFFF"/>
                </a:solidFill>
                <a:latin typeface="Times New Roman" panose="02020603050405020304"/>
                <a:ea typeface="Times New Roman" panose="02020603050405020304"/>
                <a:cs typeface="Times New Roman" panose="02020603050405020304"/>
              </a:defRPr>
            </a:pPr>
            <a:r>
              <a:rPr sz="2850" b="1">
                <a:solidFill>
                  <a:srgbClr val="FFFFFF"/>
                </a:solidFill>
                <a:latin typeface="Times New Roman" panose="02020603050405020304"/>
                <a:ea typeface="Times New Roman" panose="02020603050405020304"/>
                <a:cs typeface="Times New Roman" panose="02020603050405020304"/>
              </a:rPr>
              <a:t>The Puzzle That Motivates the Work</a:t>
            </a:r>
            <a:endParaRPr sz="2850" b="1">
              <a:solidFill>
                <a:srgbClr val="FFFFFF"/>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2476500"/>
            <a:ext cx="590550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0">
                <a:solidFill>
                  <a:srgbClr val="D8DDE7"/>
                </a:solidFill>
                <a:latin typeface="Times New Roman" panose="02020603050405020304"/>
                <a:ea typeface="Times New Roman" panose="02020603050405020304"/>
                <a:cs typeface="Times New Roman" panose="02020603050405020304"/>
              </a:defRPr>
            </a:pPr>
            <a:r>
              <a:rPr sz="1500" b="0">
                <a:solidFill>
                  <a:srgbClr val="D8DDE7"/>
                </a:solidFill>
                <a:latin typeface="Times New Roman" panose="02020603050405020304"/>
                <a:ea typeface="Times New Roman" panose="02020603050405020304"/>
                <a:cs typeface="Times New Roman" panose="02020603050405020304"/>
              </a:rPr>
              <a:t>AI is entering more real decision settings, and the key question is how human judgment changes once AI becomes part of the decision process</a:t>
            </a:r>
            <a:endParaRPr sz="1500" b="0">
              <a:solidFill>
                <a:srgbClr val="D8DDE7"/>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914400" y="3657600"/>
            <a:ext cx="2857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C89B4A"/>
                </a:solidFill>
                <a:latin typeface="Times New Roman" panose="02020603050405020304"/>
                <a:ea typeface="Times New Roman" panose="02020603050405020304"/>
                <a:cs typeface="Times New Roman" panose="02020603050405020304"/>
              </a:defRPr>
            </a:pPr>
            <a:r>
              <a:rPr sz="1200" b="1">
                <a:solidFill>
                  <a:srgbClr val="C89B4A"/>
                </a:solidFill>
                <a:latin typeface="Times New Roman" panose="02020603050405020304"/>
                <a:ea typeface="Times New Roman" panose="02020603050405020304"/>
                <a:cs typeface="Times New Roman" panose="02020603050405020304"/>
              </a:rPr>
              <a:t>Xu | Doctoral Project Intro | July 2026</a:t>
            </a:r>
            <a:endParaRPr sz="1200" b="1">
              <a:solidFill>
                <a:srgbClr val="C89B4A"/>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7620000" y="1123950"/>
            <a:ext cx="3048000" cy="1047750"/>
          </a:xfrm>
          <a:prstGeom prst="rect">
            <a:avLst/>
          </a:prstGeom>
          <a:solidFill>
            <a:srgbClr val="273654"/>
          </a:solidFill>
          <a:ln w="9525">
            <a:solidFill>
              <a:srgbClr val="435071"/>
            </a:solidFill>
            <a:prstDash val="solid"/>
          </a:ln>
        </p:spPr>
        <p:txBody>
          <a:bodyPr/>
          <a:lstStyle/>
          <a:p/>
        </p:txBody>
      </p:sp>
      <p:sp>
        <p:nvSpPr>
          <p:cNvPr id="12" name="矩形 11"/>
          <p:cNvSpPr>
            <a:spLocks noGrp="1"/>
          </p:cNvSpPr>
          <p:nvPr/>
        </p:nvSpPr>
        <p:spPr>
          <a:xfrm>
            <a:off x="7620000" y="1123950"/>
            <a:ext cx="57150" cy="1047750"/>
          </a:xfrm>
          <a:prstGeom prst="rect">
            <a:avLst/>
          </a:prstGeom>
          <a:solidFill>
            <a:srgbClr val="C89B4A"/>
          </a:solidFill>
          <a:ln w="0">
            <a:solidFill>
              <a:srgbClr val="C89B4A"/>
            </a:solidFill>
            <a:prstDash val="solid"/>
          </a:ln>
        </p:spPr>
        <p:txBody>
          <a:bodyPr/>
          <a:lstStyle/>
          <a:p/>
        </p:txBody>
      </p:sp>
      <p:sp>
        <p:nvSpPr>
          <p:cNvPr id="13" name="矩形 12"/>
          <p:cNvSpPr>
            <a:spLocks noGrp="1"/>
          </p:cNvSpPr>
          <p:nvPr/>
        </p:nvSpPr>
        <p:spPr>
          <a:xfrm>
            <a:off x="7829550" y="12763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REAL SETTINGS</a:t>
            </a:r>
            <a:endParaRPr sz="900" b="1">
              <a:solidFill>
                <a:srgbClr val="C89B4A"/>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nvSpPr>
        <p:spPr>
          <a:xfrm>
            <a:off x="7829550" y="144780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Where AI is entering</a:t>
            </a:r>
            <a:endParaRPr sz="1500" b="1">
              <a:solidFill>
                <a:srgbClr val="FFFFFF"/>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7829550" y="18859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Crisis judgment, organizational governance, public administration, healthcare, and other high-risk settings.</a:t>
            </a:r>
            <a:endParaRPr sz="1125" b="0">
              <a:solidFill>
                <a:srgbClr val="D8DCE6"/>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8191500" y="2552700"/>
            <a:ext cx="3048000" cy="1047750"/>
          </a:xfrm>
          <a:prstGeom prst="rect">
            <a:avLst/>
          </a:prstGeom>
          <a:solidFill>
            <a:srgbClr val="273654"/>
          </a:solidFill>
          <a:ln w="9525">
            <a:solidFill>
              <a:srgbClr val="435071"/>
            </a:solidFill>
            <a:prstDash val="solid"/>
          </a:ln>
        </p:spPr>
        <p:txBody>
          <a:bodyPr/>
          <a:lstStyle/>
          <a:p/>
        </p:txBody>
      </p:sp>
      <p:sp>
        <p:nvSpPr>
          <p:cNvPr id="17" name="矩形 16"/>
          <p:cNvSpPr>
            <a:spLocks noGrp="1"/>
          </p:cNvSpPr>
          <p:nvPr/>
        </p:nvSpPr>
        <p:spPr>
          <a:xfrm>
            <a:off x="8191500" y="2552700"/>
            <a:ext cx="57150" cy="1047750"/>
          </a:xfrm>
          <a:prstGeom prst="rect">
            <a:avLst/>
          </a:prstGeom>
          <a:solidFill>
            <a:srgbClr val="C89B4A"/>
          </a:solidFill>
          <a:ln w="0">
            <a:solidFill>
              <a:srgbClr val="C89B4A"/>
            </a:solidFill>
            <a:prstDash val="solid"/>
          </a:ln>
        </p:spPr>
        <p:txBody>
          <a:bodyPr/>
          <a:lstStyle/>
          <a:p/>
        </p:txBody>
      </p:sp>
      <p:sp>
        <p:nvSpPr>
          <p:cNvPr id="18" name="矩形 17"/>
          <p:cNvSpPr>
            <a:spLocks noGrp="1"/>
          </p:cNvSpPr>
          <p:nvPr/>
        </p:nvSpPr>
        <p:spPr>
          <a:xfrm>
            <a:off x="8401050" y="270510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WHAT CHANGES</a:t>
            </a:r>
            <a:endParaRPr sz="900" b="1">
              <a:solidFill>
                <a:srgbClr val="C89B4A"/>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8401050" y="28765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Embedded decision chains</a:t>
            </a:r>
            <a:endParaRPr sz="1500" b="1">
              <a:solidFill>
                <a:srgbClr val="FFFFFF"/>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8401050" y="331470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AI is no longer only a lab system or a stand-alone tool. It is becoming part of real organizational and institutional processes.</a:t>
            </a:r>
            <a:endParaRPr sz="1125" b="0">
              <a:solidFill>
                <a:srgbClr val="D8DCE6"/>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7620000" y="3981450"/>
            <a:ext cx="3048000" cy="1047750"/>
          </a:xfrm>
          <a:prstGeom prst="rect">
            <a:avLst/>
          </a:prstGeom>
          <a:solidFill>
            <a:srgbClr val="273654"/>
          </a:solidFill>
          <a:ln w="9525">
            <a:solidFill>
              <a:srgbClr val="435071"/>
            </a:solidFill>
            <a:prstDash val="solid"/>
          </a:ln>
        </p:spPr>
        <p:txBody>
          <a:bodyPr/>
          <a:lstStyle/>
          <a:p/>
        </p:txBody>
      </p:sp>
      <p:sp>
        <p:nvSpPr>
          <p:cNvPr id="22" name="矩形 21"/>
          <p:cNvSpPr>
            <a:spLocks noGrp="1"/>
          </p:cNvSpPr>
          <p:nvPr/>
        </p:nvSpPr>
        <p:spPr>
          <a:xfrm>
            <a:off x="7620000" y="3981450"/>
            <a:ext cx="57150" cy="1047750"/>
          </a:xfrm>
          <a:prstGeom prst="rect">
            <a:avLst/>
          </a:prstGeom>
          <a:solidFill>
            <a:srgbClr val="C89B4A"/>
          </a:solidFill>
          <a:ln w="0">
            <a:solidFill>
              <a:srgbClr val="C89B4A"/>
            </a:solidFill>
            <a:prstDash val="solid"/>
          </a:ln>
        </p:spPr>
        <p:txBody>
          <a:bodyPr/>
          <a:lstStyle/>
          <a:p/>
        </p:txBody>
      </p:sp>
      <p:sp>
        <p:nvSpPr>
          <p:cNvPr id="23" name="矩形 22"/>
          <p:cNvSpPr>
            <a:spLocks noGrp="1"/>
          </p:cNvSpPr>
          <p:nvPr/>
        </p:nvSpPr>
        <p:spPr>
          <a:xfrm>
            <a:off x="7829550" y="41338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WHY THIS MATTERS</a:t>
            </a:r>
            <a:endParaRPr sz="900" b="1">
              <a:solidFill>
                <a:srgbClr val="C89B4A"/>
              </a:solidFill>
              <a:latin typeface="Times New Roman" panose="02020603050405020304"/>
              <a:ea typeface="Times New Roman" panose="02020603050405020304"/>
              <a:cs typeface="Times New Roman" panose="02020603050405020304"/>
            </a:endParaRPr>
          </a:p>
        </p:txBody>
      </p:sp>
      <p:sp>
        <p:nvSpPr>
          <p:cNvPr id="24" name="矩形 23"/>
          <p:cNvSpPr>
            <a:spLocks noGrp="1"/>
          </p:cNvSpPr>
          <p:nvPr/>
        </p:nvSpPr>
        <p:spPr>
          <a:xfrm>
            <a:off x="7829550" y="430530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Why study the human side</a:t>
            </a:r>
            <a:endParaRPr sz="1500" b="1">
              <a:solidFill>
                <a:srgbClr val="FFFFFF"/>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nvSpPr>
        <p:spPr>
          <a:xfrm>
            <a:off x="7829550" y="47434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Once AI enters consequential decision chains, we need to understand what happens to people as they interpret, rely on, and act with AI.</a:t>
            </a:r>
            <a:endParaRPr sz="1125" b="0">
              <a:solidFill>
                <a:srgbClr val="D8DCE6"/>
              </a:solidFill>
              <a:latin typeface="Times New Roman" panose="02020603050405020304"/>
              <a:ea typeface="Times New Roman" panose="02020603050405020304"/>
              <a:cs typeface="Times New Roman" panose="02020603050405020304"/>
            </a:endParaRPr>
          </a:p>
        </p:txBody>
      </p:sp>
      <p:cxnSp>
        <p:nvCxnSpPr>
          <p:cNvPr id="79" name="肘形连接符 78"/>
          <p:cNvCxnSpPr>
            <a:stCxn id="10" idx="2"/>
            <a:endCxn id="15" idx="0"/>
          </p:cNvCxnSpPr>
          <p:nvPr/>
        </p:nvCxnSpPr>
        <p:spPr>
          <a:xfrm>
            <a:off x="9144000" y="2171700"/>
            <a:ext cx="571500" cy="381000"/>
          </a:xfrm>
          <a:prstGeom prst="bentConnector4">
            <a:avLst>
              <a:gd name="adj1" fmla="val 0"/>
              <a:gd name="adj2" fmla="val 50000"/>
            </a:avLst>
          </a:prstGeom>
          <a:ln w="19050">
            <a:solidFill>
              <a:srgbClr val="C89B4A"/>
            </a:solidFill>
            <a:prstDash val="solid"/>
            <a:headEnd type="arrow" w="med" len="med"/>
          </a:ln>
        </p:spPr>
      </p:cxnSp>
      <p:cxnSp>
        <p:nvCxnSpPr>
          <p:cNvPr id="80" name="肘形连接符 79"/>
          <p:cNvCxnSpPr>
            <a:stCxn id="15" idx="2"/>
            <a:endCxn id="20" idx="0"/>
          </p:cNvCxnSpPr>
          <p:nvPr/>
        </p:nvCxnSpPr>
        <p:spPr>
          <a:xfrm flipH="1">
            <a:off x="9144000" y="3600450"/>
            <a:ext cx="571500" cy="381000"/>
          </a:xfrm>
          <a:prstGeom prst="bentConnector4">
            <a:avLst>
              <a:gd name="adj1" fmla="val 0"/>
              <a:gd name="adj2" fmla="val 50000"/>
            </a:avLst>
          </a:prstGeom>
          <a:ln w="19050">
            <a:solidFill>
              <a:srgbClr val="C89B4A"/>
            </a:solidFill>
            <a:prstDash val="solid"/>
            <a:headEnd type="arrow" w="med" len="med"/>
          </a:ln>
        </p:spPr>
      </p:cxnSp>
      <p:sp>
        <p:nvSpPr>
          <p:cNvPr id="27" name="矩形 26"/>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D7DCE7"/>
                </a:solidFill>
                <a:latin typeface="Times New Roman" panose="02020603050405020304"/>
                <a:ea typeface="Times New Roman" panose="02020603050405020304"/>
                <a:cs typeface="Times New Roman" panose="02020603050405020304"/>
              </a:defRPr>
            </a:pPr>
            <a:r>
              <a:rPr sz="750" b="0">
                <a:solidFill>
                  <a:srgbClr val="D7DCE7"/>
                </a:solidFill>
                <a:latin typeface="Times New Roman" panose="02020603050405020304"/>
                <a:ea typeface="Times New Roman" panose="02020603050405020304"/>
                <a:cs typeface="Times New Roman" panose="02020603050405020304"/>
              </a:rPr>
              <a:t>The dissertation starts from that broader shift.</a:t>
            </a:r>
            <a:endParaRPr sz="750" b="0">
              <a:solidFill>
                <a:srgbClr val="D7DCE7"/>
              </a:solidFill>
              <a:latin typeface="Times New Roman" panose="02020603050405020304"/>
              <a:ea typeface="Times New Roman" panose="02020603050405020304"/>
              <a:cs typeface="Times New Roman" panose="02020603050405020304"/>
            </a:endParaRPr>
          </a:p>
        </p:txBody>
      </p:sp>
      <p:sp>
        <p:nvSpPr>
          <p:cNvPr id="28" name="矩形 27"/>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Aptos Mono"/>
                <a:ea typeface="Aptos Mono"/>
                <a:cs typeface="Aptos Mono"/>
              </a:rPr>
              <a:t>01</a:t>
            </a:r>
            <a:endParaRPr sz="900" b="1">
              <a:solidFill>
                <a:srgbClr val="C89B4A"/>
              </a:solidFill>
              <a:latin typeface="Aptos Mono"/>
              <a:ea typeface="Aptos Mono"/>
              <a:cs typeface="Aptos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CURRENT RESEARCH</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6667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Existing research usually asks three separate questions</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Does AI improve judgment quality? Do people trust and rely on AI? How is responsibility assigned after AI-assisted decisions?</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02</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914400" y="24574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endParaRPr sz="1725" b="1">
              <a:solidFill>
                <a:srgbClr val="B45A3C"/>
              </a:solidFill>
              <a:latin typeface="Aptos"/>
              <a:ea typeface="Aptos"/>
              <a:cs typeface="Aptos"/>
            </a:endParaRPr>
          </a:p>
        </p:txBody>
      </p:sp>
      <p:sp>
        <p:nvSpPr>
          <p:cNvPr id="12" name="矩形 11"/>
          <p:cNvSpPr>
            <a:spLocks noGrp="1"/>
          </p:cNvSpPr>
          <p:nvPr/>
        </p:nvSpPr>
        <p:spPr>
          <a:xfrm>
            <a:off x="1181100" y="24384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first question is whether AI improves human judgment quality or performance.</a:t>
            </a:r>
            <a:endParaRPr sz="1725" b="0">
              <a:solidFill>
                <a:srgbClr val="1D2433"/>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nvSpPr>
        <p:spPr>
          <a:xfrm>
            <a:off x="914400" y="323850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endParaRPr sz="1725" b="1">
              <a:solidFill>
                <a:srgbClr val="B45A3C"/>
              </a:solidFill>
              <a:latin typeface="Aptos"/>
              <a:ea typeface="Aptos"/>
              <a:cs typeface="Aptos"/>
            </a:endParaRPr>
          </a:p>
        </p:txBody>
      </p:sp>
      <p:sp>
        <p:nvSpPr>
          <p:cNvPr id="14" name="矩形 13"/>
          <p:cNvSpPr>
            <a:spLocks noGrp="1"/>
          </p:cNvSpPr>
          <p:nvPr/>
        </p:nvSpPr>
        <p:spPr>
          <a:xfrm>
            <a:off x="1181100" y="321945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second is whether people trust, adopt, or rely on AI advice.</a:t>
            </a:r>
            <a:endParaRPr sz="1725" b="0">
              <a:solidFill>
                <a:srgbClr val="1D2433"/>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914400" y="40195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endParaRPr sz="1725" b="1">
              <a:solidFill>
                <a:srgbClr val="B45A3C"/>
              </a:solidFill>
              <a:latin typeface="Aptos"/>
              <a:ea typeface="Aptos"/>
              <a:cs typeface="Aptos"/>
            </a:endParaRPr>
          </a:p>
        </p:txBody>
      </p:sp>
      <p:sp>
        <p:nvSpPr>
          <p:cNvPr id="16" name="矩形 15"/>
          <p:cNvSpPr>
            <a:spLocks noGrp="1"/>
          </p:cNvSpPr>
          <p:nvPr/>
        </p:nvSpPr>
        <p:spPr>
          <a:xfrm>
            <a:off x="1181100" y="40005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third is how responsibility should be allocated once AI is involved in decision-making.</a:t>
            </a:r>
            <a:endParaRPr sz="1725" b="0">
              <a:solidFill>
                <a:srgbClr val="1D2433"/>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7239000" y="2171700"/>
            <a:ext cx="3429000" cy="2628900"/>
          </a:xfrm>
          <a:prstGeom prst="rect">
            <a:avLst/>
          </a:prstGeom>
          <a:solidFill>
            <a:srgbClr val="FFF9F0"/>
          </a:solidFill>
          <a:ln w="9525">
            <a:solidFill>
              <a:srgbClr val="E9DDCB"/>
            </a:solidFill>
            <a:prstDash val="solid"/>
          </a:ln>
        </p:spPr>
        <p:txBody>
          <a:bodyPr/>
          <a:lstStyle/>
          <a:p/>
        </p:txBody>
      </p:sp>
      <p:sp>
        <p:nvSpPr>
          <p:cNvPr id="18" name="矩形 17"/>
          <p:cNvSpPr>
            <a:spLocks noGrp="1"/>
          </p:cNvSpPr>
          <p:nvPr/>
        </p:nvSpPr>
        <p:spPr>
          <a:xfrm>
            <a:off x="7239000" y="2171700"/>
            <a:ext cx="57150" cy="2628900"/>
          </a:xfrm>
          <a:prstGeom prst="rect">
            <a:avLst/>
          </a:prstGeom>
          <a:solidFill>
            <a:srgbClr val="B45A3C"/>
          </a:solidFill>
          <a:ln w="0">
            <a:solidFill>
              <a:srgbClr val="B45A3C"/>
            </a:solidFill>
            <a:prstDash val="solid"/>
          </a:ln>
        </p:spPr>
        <p:txBody>
          <a:bodyPr/>
          <a:lstStyle/>
          <a:p/>
        </p:txBody>
      </p:sp>
      <p:sp>
        <p:nvSpPr>
          <p:cNvPr id="19" name="矩形 18"/>
          <p:cNvSpPr>
            <a:spLocks noGrp="1"/>
          </p:cNvSpPr>
          <p:nvPr/>
        </p:nvSpPr>
        <p:spPr>
          <a:xfrm>
            <a:off x="7448550" y="2324100"/>
            <a:ext cx="3009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THREE STREAMS</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7448550" y="24955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What they ask</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1" name="圆角矩形 20"/>
          <p:cNvSpPr>
            <a:spLocks noGrp="1"/>
          </p:cNvSpPr>
          <p:nvPr/>
        </p:nvSpPr>
        <p:spPr>
          <a:xfrm>
            <a:off x="7715250" y="2762250"/>
            <a:ext cx="2476500" cy="400050"/>
          </a:xfrm>
          <a:prstGeom prst="roundRect">
            <a:avLst>
              <a:gd name="adj" fmla="val 19048"/>
            </a:avLst>
          </a:prstGeom>
          <a:solidFill>
            <a:srgbClr val="E8C6B8"/>
          </a:solidFill>
          <a:ln w="0">
            <a:solidFill>
              <a:srgbClr val="E8C6B8"/>
            </a:solidFill>
            <a:prstDash val="solid"/>
          </a:ln>
        </p:spPr>
        <p:txBody>
          <a:bodyPr/>
          <a:lstStyle/>
          <a:p/>
        </p:txBody>
      </p:sp>
      <p:sp>
        <p:nvSpPr>
          <p:cNvPr id="22" name="矩形 21"/>
          <p:cNvSpPr>
            <a:spLocks noGrp="1"/>
          </p:cNvSpPr>
          <p:nvPr/>
        </p:nvSpPr>
        <p:spPr>
          <a:xfrm>
            <a:off x="7829550" y="27908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Judgment quality</a:t>
            </a:r>
            <a:endParaRPr sz="975" b="1">
              <a:solidFill>
                <a:srgbClr val="1D2433"/>
              </a:solidFill>
              <a:latin typeface="Times New Roman" panose="02020603050405020304"/>
              <a:ea typeface="Times New Roman" panose="02020603050405020304"/>
              <a:cs typeface="Times New Roman" panose="02020603050405020304"/>
            </a:endParaRPr>
          </a:p>
        </p:txBody>
      </p:sp>
      <p:sp>
        <p:nvSpPr>
          <p:cNvPr id="23" name="圆角矩形 22"/>
          <p:cNvSpPr>
            <a:spLocks noGrp="1"/>
          </p:cNvSpPr>
          <p:nvPr/>
        </p:nvSpPr>
        <p:spPr>
          <a:xfrm>
            <a:off x="7715250" y="3352800"/>
            <a:ext cx="2476500" cy="400050"/>
          </a:xfrm>
          <a:prstGeom prst="roundRect">
            <a:avLst>
              <a:gd name="adj" fmla="val 19048"/>
            </a:avLst>
          </a:prstGeom>
          <a:solidFill>
            <a:srgbClr val="E9DDCB"/>
          </a:solidFill>
          <a:ln w="0">
            <a:solidFill>
              <a:srgbClr val="E9DDCB"/>
            </a:solidFill>
            <a:prstDash val="solid"/>
          </a:ln>
        </p:spPr>
        <p:txBody>
          <a:bodyPr/>
          <a:lstStyle/>
          <a:p/>
        </p:txBody>
      </p:sp>
      <p:sp>
        <p:nvSpPr>
          <p:cNvPr id="24" name="矩形 23"/>
          <p:cNvSpPr>
            <a:spLocks noGrp="1"/>
          </p:cNvSpPr>
          <p:nvPr/>
        </p:nvSpPr>
        <p:spPr>
          <a:xfrm>
            <a:off x="7829550" y="338137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Trust / reliance</a:t>
            </a:r>
            <a:endParaRPr sz="975" b="1">
              <a:solidFill>
                <a:srgbClr val="1D2433"/>
              </a:solidFill>
              <a:latin typeface="Times New Roman" panose="02020603050405020304"/>
              <a:ea typeface="Times New Roman" panose="02020603050405020304"/>
              <a:cs typeface="Times New Roman" panose="02020603050405020304"/>
            </a:endParaRPr>
          </a:p>
        </p:txBody>
      </p:sp>
      <p:sp>
        <p:nvSpPr>
          <p:cNvPr id="25" name="圆角矩形 24"/>
          <p:cNvSpPr>
            <a:spLocks noGrp="1"/>
          </p:cNvSpPr>
          <p:nvPr/>
        </p:nvSpPr>
        <p:spPr>
          <a:xfrm>
            <a:off x="7715250" y="3943350"/>
            <a:ext cx="2476500" cy="400050"/>
          </a:xfrm>
          <a:prstGeom prst="roundRect">
            <a:avLst>
              <a:gd name="adj" fmla="val 19048"/>
            </a:avLst>
          </a:prstGeom>
          <a:solidFill>
            <a:srgbClr val="E6E0D4"/>
          </a:solidFill>
          <a:ln w="0">
            <a:solidFill>
              <a:srgbClr val="E6E0D4"/>
            </a:solidFill>
            <a:prstDash val="solid"/>
          </a:ln>
        </p:spPr>
        <p:txBody>
          <a:bodyPr/>
          <a:lstStyle/>
          <a:p/>
        </p:txBody>
      </p:sp>
      <p:sp>
        <p:nvSpPr>
          <p:cNvPr id="26" name="矩形 25"/>
          <p:cNvSpPr>
            <a:spLocks noGrp="1"/>
          </p:cNvSpPr>
          <p:nvPr/>
        </p:nvSpPr>
        <p:spPr>
          <a:xfrm>
            <a:off x="7829550" y="39719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Responsibility</a:t>
            </a:r>
            <a:endParaRPr sz="975" b="1">
              <a:solidFill>
                <a:srgbClr val="1D2433"/>
              </a:solidFill>
              <a:latin typeface="Times New Roman" panose="02020603050405020304"/>
              <a:ea typeface="Times New Roman" panose="02020603050405020304"/>
              <a:cs typeface="Times New Roman" panose="02020603050405020304"/>
            </a:endParaRPr>
          </a:p>
        </p:txBody>
      </p:sp>
      <p:sp>
        <p:nvSpPr>
          <p:cNvPr id="27" name="矩形 26"/>
          <p:cNvSpPr>
            <a:spLocks noGrp="1"/>
          </p:cNvSpPr>
          <p:nvPr/>
        </p:nvSpPr>
        <p:spPr>
          <a:xfrm>
            <a:off x="914400" y="5486400"/>
            <a:ext cx="9715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These questions are important, but they still tend to treat AI as an external tool.</a:t>
            </a:r>
            <a:endParaRPr sz="12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RESEARCH GAP</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These literatures are important, but they still leave the process itself underexplained</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They are analytically useful, but they rarely show how belief formation, reliance calibration, and responsibility unfold inside one connected decision process.</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03</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914400" y="2343150"/>
            <a:ext cx="4076700" cy="1314450"/>
          </a:xfrm>
          <a:prstGeom prst="rect">
            <a:avLst/>
          </a:prstGeom>
          <a:solidFill>
            <a:srgbClr val="FFF9F0"/>
          </a:solidFill>
          <a:ln w="9525">
            <a:solidFill>
              <a:srgbClr val="E9DDCB"/>
            </a:solidFill>
            <a:prstDash val="solid"/>
          </a:ln>
        </p:spPr>
        <p:txBody>
          <a:bodyPr/>
          <a:lstStyle/>
          <a:p/>
        </p:txBody>
      </p:sp>
      <p:sp>
        <p:nvSpPr>
          <p:cNvPr id="12" name="矩形 11"/>
          <p:cNvSpPr>
            <a:spLocks noGrp="1"/>
          </p:cNvSpPr>
          <p:nvPr/>
        </p:nvSpPr>
        <p:spPr>
          <a:xfrm>
            <a:off x="914400" y="2343150"/>
            <a:ext cx="57150" cy="1314450"/>
          </a:xfrm>
          <a:prstGeom prst="rect">
            <a:avLst/>
          </a:prstGeom>
          <a:solidFill>
            <a:srgbClr val="B45A3C"/>
          </a:solidFill>
          <a:ln w="0">
            <a:solidFill>
              <a:srgbClr val="B45A3C"/>
            </a:solidFill>
            <a:prstDash val="solid"/>
          </a:ln>
        </p:spPr>
        <p:txBody>
          <a:bodyPr/>
          <a:lstStyle/>
          <a:p/>
        </p:txBody>
      </p:sp>
      <p:sp>
        <p:nvSpPr>
          <p:cNvPr id="13" name="矩形 12"/>
          <p:cNvSpPr>
            <a:spLocks noGrp="1"/>
          </p:cNvSpPr>
          <p:nvPr/>
        </p:nvSpPr>
        <p:spPr>
          <a:xfrm>
            <a:off x="11239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Decision quality / calibration</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nvSpPr>
        <p:spPr>
          <a:xfrm>
            <a:off x="11239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Zhang et al., 2020; Ma et al., 2023; Vaccaro et al., 2024</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11239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Research here asks whether AI improves joint judgment quality and calibration.</a:t>
            </a:r>
            <a:endParaRPr sz="1200" b="0">
              <a:solidFill>
                <a:srgbClr val="5F6775"/>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5638800" y="2343150"/>
            <a:ext cx="4076700" cy="1314450"/>
          </a:xfrm>
          <a:prstGeom prst="rect">
            <a:avLst/>
          </a:prstGeom>
          <a:solidFill>
            <a:srgbClr val="FFF9F0"/>
          </a:solidFill>
          <a:ln w="9525">
            <a:solidFill>
              <a:srgbClr val="E9DDCB"/>
            </a:solidFill>
            <a:prstDash val="solid"/>
          </a:ln>
        </p:spPr>
        <p:txBody>
          <a:bodyPr/>
          <a:lstStyle/>
          <a:p/>
        </p:txBody>
      </p:sp>
      <p:sp>
        <p:nvSpPr>
          <p:cNvPr id="17" name="矩形 16"/>
          <p:cNvSpPr>
            <a:spLocks noGrp="1"/>
          </p:cNvSpPr>
          <p:nvPr/>
        </p:nvSpPr>
        <p:spPr>
          <a:xfrm>
            <a:off x="5638800" y="2343150"/>
            <a:ext cx="57150" cy="1314450"/>
          </a:xfrm>
          <a:prstGeom prst="rect">
            <a:avLst/>
          </a:prstGeom>
          <a:solidFill>
            <a:srgbClr val="B45A3C"/>
          </a:solidFill>
          <a:ln w="0">
            <a:solidFill>
              <a:srgbClr val="B45A3C"/>
            </a:solidFill>
            <a:prstDash val="solid"/>
          </a:ln>
        </p:spPr>
        <p:txBody>
          <a:bodyPr/>
          <a:lstStyle/>
          <a:p/>
        </p:txBody>
      </p:sp>
      <p:sp>
        <p:nvSpPr>
          <p:cNvPr id="18" name="矩形 17"/>
          <p:cNvSpPr>
            <a:spLocks noGrp="1"/>
          </p:cNvSpPr>
          <p:nvPr/>
        </p:nvSpPr>
        <p:spPr>
          <a:xfrm>
            <a:off x="58483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Trust / reliance</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58483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Lee &amp; See, 2004; Dietvorst et al., 2015; Logg et al., 2019</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58483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This stream studies appropriate reliance, algorithm aversion, and algorithm appreciation.</a:t>
            </a:r>
            <a:endParaRPr sz="1200" b="0">
              <a:solidFill>
                <a:srgbClr val="5F6775"/>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914400" y="4000500"/>
            <a:ext cx="4076700" cy="1314450"/>
          </a:xfrm>
          <a:prstGeom prst="rect">
            <a:avLst/>
          </a:prstGeom>
          <a:solidFill>
            <a:srgbClr val="FFF9F0"/>
          </a:solidFill>
          <a:ln w="9525">
            <a:solidFill>
              <a:srgbClr val="E9DDCB"/>
            </a:solidFill>
            <a:prstDash val="solid"/>
          </a:ln>
        </p:spPr>
        <p:txBody>
          <a:bodyPr/>
          <a:lstStyle/>
          <a:p/>
        </p:txBody>
      </p:sp>
      <p:sp>
        <p:nvSpPr>
          <p:cNvPr id="22" name="矩形 21"/>
          <p:cNvSpPr>
            <a:spLocks noGrp="1"/>
          </p:cNvSpPr>
          <p:nvPr/>
        </p:nvSpPr>
        <p:spPr>
          <a:xfrm>
            <a:off x="914400" y="4000500"/>
            <a:ext cx="57150" cy="1314450"/>
          </a:xfrm>
          <a:prstGeom prst="rect">
            <a:avLst/>
          </a:prstGeom>
          <a:solidFill>
            <a:srgbClr val="B45A3C"/>
          </a:solidFill>
          <a:ln w="0">
            <a:solidFill>
              <a:srgbClr val="B45A3C"/>
            </a:solidFill>
            <a:prstDash val="solid"/>
          </a:ln>
        </p:spPr>
        <p:txBody>
          <a:bodyPr/>
          <a:lstStyle/>
          <a:p/>
        </p:txBody>
      </p:sp>
      <p:sp>
        <p:nvSpPr>
          <p:cNvPr id="23" name="矩形 22"/>
          <p:cNvSpPr>
            <a:spLocks noGrp="1"/>
          </p:cNvSpPr>
          <p:nvPr/>
        </p:nvSpPr>
        <p:spPr>
          <a:xfrm>
            <a:off x="11239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Responsibility / ownership</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4" name="矩形 23"/>
          <p:cNvSpPr>
            <a:spLocks noGrp="1"/>
          </p:cNvSpPr>
          <p:nvPr/>
        </p:nvSpPr>
        <p:spPr>
          <a:xfrm>
            <a:off x="11239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Kirchkamp &amp; Strobel, 2019; Kobis et al., 2025; Chevrier &amp; Teixeira, 2024</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nvSpPr>
        <p:spPr>
          <a:xfrm>
            <a:off x="11239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lang="en-US" altLang="zh-CN" sz="1200" b="0">
                <a:solidFill>
                  <a:srgbClr val="5F6775"/>
                </a:solidFill>
                <a:latin typeface="Times New Roman" panose="02020603050405020304"/>
                <a:ea typeface="Times New Roman" panose="02020603050405020304"/>
                <a:cs typeface="Times New Roman" panose="02020603050405020304"/>
              </a:rPr>
              <a:t>This stream studies how AI participation redistributes ownership, moral cost, and blame, mostly in delegation or ex post attribution settings.</a:t>
            </a:r>
            <a:endParaRPr lang="en-US" altLang="zh-CN" sz="1200" b="0">
              <a:solidFill>
                <a:srgbClr val="5F6775"/>
              </a:solidFill>
              <a:latin typeface="Times New Roman" panose="02020603050405020304"/>
              <a:ea typeface="Times New Roman" panose="02020603050405020304"/>
              <a:cs typeface="Times New Roman" panose="02020603050405020304"/>
            </a:endParaRPr>
          </a:p>
        </p:txBody>
      </p:sp>
      <p:sp>
        <p:nvSpPr>
          <p:cNvPr id="26" name="矩形 25"/>
          <p:cNvSpPr>
            <a:spLocks noGrp="1"/>
          </p:cNvSpPr>
          <p:nvPr/>
        </p:nvSpPr>
        <p:spPr>
          <a:xfrm>
            <a:off x="5638800" y="4000500"/>
            <a:ext cx="4076700" cy="1314450"/>
          </a:xfrm>
          <a:prstGeom prst="rect">
            <a:avLst/>
          </a:prstGeom>
          <a:solidFill>
            <a:srgbClr val="FFF9F0"/>
          </a:solidFill>
          <a:ln w="9525">
            <a:solidFill>
              <a:srgbClr val="E9DDCB"/>
            </a:solidFill>
            <a:prstDash val="solid"/>
          </a:ln>
        </p:spPr>
        <p:txBody>
          <a:bodyPr/>
          <a:lstStyle/>
          <a:p/>
        </p:txBody>
      </p:sp>
      <p:sp>
        <p:nvSpPr>
          <p:cNvPr id="27" name="矩形 26"/>
          <p:cNvSpPr>
            <a:spLocks noGrp="1"/>
          </p:cNvSpPr>
          <p:nvPr/>
        </p:nvSpPr>
        <p:spPr>
          <a:xfrm>
            <a:off x="5638800" y="4000500"/>
            <a:ext cx="57150" cy="1314450"/>
          </a:xfrm>
          <a:prstGeom prst="rect">
            <a:avLst/>
          </a:prstGeom>
          <a:solidFill>
            <a:srgbClr val="B45A3C"/>
          </a:solidFill>
          <a:ln w="0">
            <a:solidFill>
              <a:srgbClr val="B45A3C"/>
            </a:solidFill>
            <a:prstDash val="solid"/>
          </a:ln>
        </p:spPr>
        <p:txBody>
          <a:bodyPr/>
          <a:lstStyle/>
          <a:p/>
        </p:txBody>
      </p:sp>
      <p:sp>
        <p:nvSpPr>
          <p:cNvPr id="28" name="矩形 27"/>
          <p:cNvSpPr>
            <a:spLocks noGrp="1"/>
          </p:cNvSpPr>
          <p:nvPr/>
        </p:nvSpPr>
        <p:spPr>
          <a:xfrm>
            <a:off x="58483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What is still missing</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9" name="矩形 28"/>
          <p:cNvSpPr>
            <a:spLocks noGrp="1"/>
          </p:cNvSpPr>
          <p:nvPr/>
        </p:nvSpPr>
        <p:spPr>
          <a:xfrm>
            <a:off x="58483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Kidd &amp; Birhane, 2023; Harvey &amp; Fischer, 1997; Lee &amp; See, 2004</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30" name="矩形 29"/>
          <p:cNvSpPr>
            <a:spLocks noGrp="1"/>
          </p:cNvSpPr>
          <p:nvPr/>
        </p:nvSpPr>
        <p:spPr>
          <a:xfrm>
            <a:off x="58483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What is still missing is a process-level account of how these stages connect.</a:t>
            </a:r>
            <a:endParaRPr sz="12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WHY GENERATIVE AI</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People increasingly treat AI as a source of judgment, not just a tool</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In these interactions, AI does not simply give an answer. It shapes how people understand the problem itself.</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04</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1143000" y="2095500"/>
            <a:ext cx="2667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B45A3C"/>
                </a:solidFill>
                <a:latin typeface="Times New Roman" panose="02020603050405020304"/>
                <a:ea typeface="Times New Roman" panose="02020603050405020304"/>
                <a:cs typeface="Times New Roman" panose="02020603050405020304"/>
              </a:defRPr>
            </a:pPr>
            <a:r>
              <a:rPr sz="1500" b="1">
                <a:solidFill>
                  <a:srgbClr val="B45A3C"/>
                </a:solidFill>
                <a:latin typeface="Times New Roman" panose="02020603050405020304"/>
                <a:ea typeface="Times New Roman" panose="02020603050405020304"/>
                <a:cs typeface="Times New Roman" panose="02020603050405020304"/>
              </a:rPr>
              <a:t>Using AI as a tool</a:t>
            </a:r>
            <a:endParaRPr sz="1500" b="1">
              <a:solidFill>
                <a:srgbClr val="B45A3C"/>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6572250" y="2095500"/>
            <a:ext cx="3048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B45A3C"/>
                </a:solidFill>
                <a:latin typeface="Times New Roman" panose="02020603050405020304"/>
                <a:ea typeface="Times New Roman" panose="02020603050405020304"/>
                <a:cs typeface="Times New Roman" panose="02020603050405020304"/>
              </a:defRPr>
            </a:pPr>
            <a:r>
              <a:rPr sz="1500" b="1">
                <a:solidFill>
                  <a:srgbClr val="B45A3C"/>
                </a:solidFill>
                <a:latin typeface="Times New Roman" panose="02020603050405020304"/>
                <a:ea typeface="Times New Roman" panose="02020603050405020304"/>
                <a:cs typeface="Times New Roman" panose="02020603050405020304"/>
              </a:rPr>
              <a:t>Using AI as a judgment source</a:t>
            </a:r>
            <a:endParaRPr sz="1500" b="1">
              <a:solidFill>
                <a:srgbClr val="B45A3C"/>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nvSpPr>
        <p:spPr>
          <a:xfrm>
            <a:off x="1143000" y="2552700"/>
            <a:ext cx="3048000" cy="628650"/>
          </a:xfrm>
          <a:prstGeom prst="rect">
            <a:avLst/>
          </a:prstGeom>
          <a:solidFill>
            <a:srgbClr val="FFF9F0"/>
          </a:solidFill>
          <a:ln w="9525">
            <a:solidFill>
              <a:srgbClr val="E9DDCB"/>
            </a:solidFill>
            <a:prstDash val="solid"/>
          </a:ln>
        </p:spPr>
        <p:txBody>
          <a:bodyPr/>
          <a:lstStyle/>
          <a:p/>
        </p:txBody>
      </p:sp>
      <p:sp>
        <p:nvSpPr>
          <p:cNvPr id="14" name="矩形 13"/>
          <p:cNvSpPr>
            <a:spLocks noGrp="1"/>
          </p:cNvSpPr>
          <p:nvPr/>
        </p:nvSpPr>
        <p:spPr>
          <a:xfrm>
            <a:off x="1143000" y="2552700"/>
            <a:ext cx="57150" cy="628650"/>
          </a:xfrm>
          <a:prstGeom prst="rect">
            <a:avLst/>
          </a:prstGeom>
          <a:solidFill>
            <a:srgbClr val="B45A3C"/>
          </a:solidFill>
          <a:ln w="0">
            <a:solidFill>
              <a:srgbClr val="B45A3C"/>
            </a:solidFill>
            <a:prstDash val="solid"/>
          </a:ln>
        </p:spPr>
        <p:txBody>
          <a:bodyPr/>
          <a:lstStyle/>
          <a:p/>
        </p:txBody>
      </p:sp>
      <p:sp>
        <p:nvSpPr>
          <p:cNvPr id="15" name="矩形 14"/>
          <p:cNvSpPr>
            <a:spLocks noGrp="1"/>
          </p:cNvSpPr>
          <p:nvPr/>
        </p:nvSpPr>
        <p:spPr>
          <a:xfrm>
            <a:off x="1352550" y="27241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Search, calculate,</a:t>
            </a:r>
            <a:endParaRPr sz="1650" b="1">
              <a:solidFill>
                <a:srgbClr val="1D2433"/>
              </a:solidFill>
              <a:latin typeface="Times New Roman" panose="02020603050405020304"/>
              <a:ea typeface="Times New Roman" panose="02020603050405020304"/>
              <a:cs typeface="Times New Roman" panose="02020603050405020304"/>
            </a:endParaRP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or automate</a:t>
            </a:r>
            <a:endParaRPr sz="1650" b="1">
              <a:solidFill>
                <a:srgbClr val="1D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1143000" y="3429000"/>
            <a:ext cx="3048000" cy="628650"/>
          </a:xfrm>
          <a:prstGeom prst="rect">
            <a:avLst/>
          </a:prstGeom>
          <a:solidFill>
            <a:srgbClr val="FFF9F0"/>
          </a:solidFill>
          <a:ln w="9525">
            <a:solidFill>
              <a:srgbClr val="E9DDCB"/>
            </a:solidFill>
            <a:prstDash val="solid"/>
          </a:ln>
        </p:spPr>
        <p:txBody>
          <a:bodyPr/>
          <a:lstStyle/>
          <a:p/>
        </p:txBody>
      </p:sp>
      <p:sp>
        <p:nvSpPr>
          <p:cNvPr id="17" name="矩形 16"/>
          <p:cNvSpPr>
            <a:spLocks noGrp="1"/>
          </p:cNvSpPr>
          <p:nvPr/>
        </p:nvSpPr>
        <p:spPr>
          <a:xfrm>
            <a:off x="1143000" y="3429000"/>
            <a:ext cx="57150" cy="628650"/>
          </a:xfrm>
          <a:prstGeom prst="rect">
            <a:avLst/>
          </a:prstGeom>
          <a:solidFill>
            <a:srgbClr val="B45A3C"/>
          </a:solidFill>
          <a:ln w="0">
            <a:solidFill>
              <a:srgbClr val="B45A3C"/>
            </a:solidFill>
            <a:prstDash val="solid"/>
          </a:ln>
        </p:spPr>
        <p:txBody>
          <a:bodyPr/>
          <a:lstStyle/>
          <a:p/>
        </p:txBody>
      </p:sp>
      <p:sp>
        <p:nvSpPr>
          <p:cNvPr id="18" name="矩形 17"/>
          <p:cNvSpPr>
            <a:spLocks noGrp="1"/>
          </p:cNvSpPr>
          <p:nvPr/>
        </p:nvSpPr>
        <p:spPr>
          <a:xfrm>
            <a:off x="1352550" y="36004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Interpret the</a:t>
            </a:r>
            <a:endParaRPr sz="1650" b="1">
              <a:solidFill>
                <a:srgbClr val="1D2433"/>
              </a:solidFill>
              <a:latin typeface="Times New Roman" panose="02020603050405020304"/>
              <a:ea typeface="Times New Roman" panose="02020603050405020304"/>
              <a:cs typeface="Times New Roman" panose="02020603050405020304"/>
            </a:endParaRP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result yourself</a:t>
            </a:r>
            <a:endParaRPr sz="1650" b="1">
              <a:solidFill>
                <a:srgbClr val="1D2433"/>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1143000" y="4305300"/>
            <a:ext cx="3048000" cy="628650"/>
          </a:xfrm>
          <a:prstGeom prst="rect">
            <a:avLst/>
          </a:prstGeom>
          <a:solidFill>
            <a:srgbClr val="FFF9F0"/>
          </a:solidFill>
          <a:ln w="9525">
            <a:solidFill>
              <a:srgbClr val="E9DDCB"/>
            </a:solidFill>
            <a:prstDash val="solid"/>
          </a:ln>
        </p:spPr>
        <p:txBody>
          <a:bodyPr/>
          <a:lstStyle/>
          <a:p/>
        </p:txBody>
      </p:sp>
      <p:sp>
        <p:nvSpPr>
          <p:cNvPr id="20" name="矩形 19"/>
          <p:cNvSpPr>
            <a:spLocks noGrp="1"/>
          </p:cNvSpPr>
          <p:nvPr/>
        </p:nvSpPr>
        <p:spPr>
          <a:xfrm>
            <a:off x="1143000" y="4305300"/>
            <a:ext cx="57150" cy="628650"/>
          </a:xfrm>
          <a:prstGeom prst="rect">
            <a:avLst/>
          </a:prstGeom>
          <a:solidFill>
            <a:srgbClr val="B45A3C"/>
          </a:solidFill>
          <a:ln w="0">
            <a:solidFill>
              <a:srgbClr val="B45A3C"/>
            </a:solidFill>
            <a:prstDash val="solid"/>
          </a:ln>
        </p:spPr>
        <p:txBody>
          <a:bodyPr/>
          <a:lstStyle/>
          <a:p/>
        </p:txBody>
      </p:sp>
      <p:sp>
        <p:nvSpPr>
          <p:cNvPr id="21" name="矩形 20"/>
          <p:cNvSpPr>
            <a:spLocks noGrp="1"/>
          </p:cNvSpPr>
          <p:nvPr/>
        </p:nvSpPr>
        <p:spPr>
          <a:xfrm>
            <a:off x="1352550" y="44767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The tool stays</a:t>
            </a:r>
            <a:endParaRPr sz="1650" b="1">
              <a:solidFill>
                <a:srgbClr val="1D2433"/>
              </a:solidFill>
              <a:latin typeface="Times New Roman" panose="02020603050405020304"/>
              <a:ea typeface="Times New Roman" panose="02020603050405020304"/>
              <a:cs typeface="Times New Roman" panose="02020603050405020304"/>
            </a:endParaRP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outside the judgment</a:t>
            </a:r>
            <a:endParaRPr sz="1650" b="1">
              <a:solidFill>
                <a:srgbClr val="1D2433"/>
              </a:solidFill>
              <a:latin typeface="Times New Roman" panose="02020603050405020304"/>
              <a:ea typeface="Times New Roman" panose="02020603050405020304"/>
              <a:cs typeface="Times New Roman" panose="02020603050405020304"/>
            </a:endParaRPr>
          </a:p>
        </p:txBody>
      </p:sp>
      <p:sp>
        <p:nvSpPr>
          <p:cNvPr id="22" name="矩形 21"/>
          <p:cNvSpPr>
            <a:spLocks noGrp="1"/>
          </p:cNvSpPr>
          <p:nvPr/>
        </p:nvSpPr>
        <p:spPr>
          <a:xfrm>
            <a:off x="6572250" y="2552700"/>
            <a:ext cx="3429000" cy="628650"/>
          </a:xfrm>
          <a:prstGeom prst="rect">
            <a:avLst/>
          </a:prstGeom>
          <a:solidFill>
            <a:srgbClr val="FFF9F0"/>
          </a:solidFill>
          <a:ln w="9525">
            <a:solidFill>
              <a:srgbClr val="E9DDCB"/>
            </a:solidFill>
            <a:prstDash val="solid"/>
          </a:ln>
        </p:spPr>
        <p:txBody>
          <a:bodyPr/>
          <a:lstStyle/>
          <a:p/>
        </p:txBody>
      </p:sp>
      <p:sp>
        <p:nvSpPr>
          <p:cNvPr id="23" name="矩形 22"/>
          <p:cNvSpPr>
            <a:spLocks noGrp="1"/>
          </p:cNvSpPr>
          <p:nvPr/>
        </p:nvSpPr>
        <p:spPr>
          <a:xfrm>
            <a:off x="6572250" y="2552700"/>
            <a:ext cx="57150" cy="628650"/>
          </a:xfrm>
          <a:prstGeom prst="rect">
            <a:avLst/>
          </a:prstGeom>
          <a:solidFill>
            <a:srgbClr val="B45A3C"/>
          </a:solidFill>
          <a:ln w="0">
            <a:solidFill>
              <a:srgbClr val="B45A3C"/>
            </a:solidFill>
            <a:prstDash val="solid"/>
          </a:ln>
        </p:spPr>
        <p:txBody>
          <a:bodyPr/>
          <a:lstStyle/>
          <a:p/>
        </p:txBody>
      </p:sp>
      <p:sp>
        <p:nvSpPr>
          <p:cNvPr id="24" name="矩形 23"/>
          <p:cNvSpPr>
            <a:spLocks noGrp="1"/>
          </p:cNvSpPr>
          <p:nvPr/>
        </p:nvSpPr>
        <p:spPr>
          <a:xfrm>
            <a:off x="6781800" y="27241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Consult, discuss,</a:t>
            </a:r>
            <a:endParaRPr sz="1650" b="1">
              <a:solidFill>
                <a:srgbClr val="1D2433"/>
              </a:solidFill>
              <a:latin typeface="Times New Roman" panose="02020603050405020304"/>
              <a:ea typeface="Times New Roman" panose="02020603050405020304"/>
              <a:cs typeface="Times New Roman" panose="02020603050405020304"/>
            </a:endParaRP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or confirm</a:t>
            </a:r>
            <a:endParaRPr sz="1650" b="1">
              <a:solidFill>
                <a:srgbClr val="1D2433"/>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nvSpPr>
        <p:spPr>
          <a:xfrm>
            <a:off x="6572250" y="3429000"/>
            <a:ext cx="3429000" cy="628650"/>
          </a:xfrm>
          <a:prstGeom prst="rect">
            <a:avLst/>
          </a:prstGeom>
          <a:solidFill>
            <a:srgbClr val="FFF9F0"/>
          </a:solidFill>
          <a:ln w="9525">
            <a:solidFill>
              <a:srgbClr val="E9DDCB"/>
            </a:solidFill>
            <a:prstDash val="solid"/>
          </a:ln>
        </p:spPr>
        <p:txBody>
          <a:bodyPr/>
          <a:lstStyle/>
          <a:p/>
        </p:txBody>
      </p:sp>
      <p:sp>
        <p:nvSpPr>
          <p:cNvPr id="26" name="矩形 25"/>
          <p:cNvSpPr>
            <a:spLocks noGrp="1"/>
          </p:cNvSpPr>
          <p:nvPr/>
        </p:nvSpPr>
        <p:spPr>
          <a:xfrm>
            <a:off x="6572250" y="3429000"/>
            <a:ext cx="57150" cy="628650"/>
          </a:xfrm>
          <a:prstGeom prst="rect">
            <a:avLst/>
          </a:prstGeom>
          <a:solidFill>
            <a:srgbClr val="B45A3C"/>
          </a:solidFill>
          <a:ln w="0">
            <a:solidFill>
              <a:srgbClr val="B45A3C"/>
            </a:solidFill>
            <a:prstDash val="solid"/>
          </a:ln>
        </p:spPr>
        <p:txBody>
          <a:bodyPr/>
          <a:lstStyle/>
          <a:p/>
        </p:txBody>
      </p:sp>
      <p:sp>
        <p:nvSpPr>
          <p:cNvPr id="27" name="矩形 26"/>
          <p:cNvSpPr>
            <a:spLocks noGrp="1"/>
          </p:cNvSpPr>
          <p:nvPr/>
        </p:nvSpPr>
        <p:spPr>
          <a:xfrm>
            <a:off x="6781800" y="36004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Use AI to interpret</a:t>
            </a:r>
            <a:endParaRPr sz="1650" b="1">
              <a:solidFill>
                <a:srgbClr val="1D2433"/>
              </a:solidFill>
              <a:latin typeface="Times New Roman" panose="02020603050405020304"/>
              <a:ea typeface="Times New Roman" panose="02020603050405020304"/>
              <a:cs typeface="Times New Roman" panose="02020603050405020304"/>
            </a:endParaRP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complex situations</a:t>
            </a:r>
            <a:endParaRPr sz="1650" b="1">
              <a:solidFill>
                <a:srgbClr val="1D2433"/>
              </a:solidFill>
              <a:latin typeface="Times New Roman" panose="02020603050405020304"/>
              <a:ea typeface="Times New Roman" panose="02020603050405020304"/>
              <a:cs typeface="Times New Roman" panose="02020603050405020304"/>
            </a:endParaRPr>
          </a:p>
        </p:txBody>
      </p:sp>
      <p:sp>
        <p:nvSpPr>
          <p:cNvPr id="28" name="矩形 27"/>
          <p:cNvSpPr>
            <a:spLocks noGrp="1"/>
          </p:cNvSpPr>
          <p:nvPr/>
        </p:nvSpPr>
        <p:spPr>
          <a:xfrm>
            <a:off x="6572250" y="4305300"/>
            <a:ext cx="3429000" cy="628650"/>
          </a:xfrm>
          <a:prstGeom prst="rect">
            <a:avLst/>
          </a:prstGeom>
          <a:solidFill>
            <a:srgbClr val="FFF9F0"/>
          </a:solidFill>
          <a:ln w="9525">
            <a:solidFill>
              <a:srgbClr val="E9DDCB"/>
            </a:solidFill>
            <a:prstDash val="solid"/>
          </a:ln>
        </p:spPr>
        <p:txBody>
          <a:bodyPr/>
          <a:lstStyle/>
          <a:p/>
        </p:txBody>
      </p:sp>
      <p:sp>
        <p:nvSpPr>
          <p:cNvPr id="29" name="矩形 28"/>
          <p:cNvSpPr>
            <a:spLocks noGrp="1"/>
          </p:cNvSpPr>
          <p:nvPr/>
        </p:nvSpPr>
        <p:spPr>
          <a:xfrm>
            <a:off x="6572250" y="4305300"/>
            <a:ext cx="57150" cy="628650"/>
          </a:xfrm>
          <a:prstGeom prst="rect">
            <a:avLst/>
          </a:prstGeom>
          <a:solidFill>
            <a:srgbClr val="B45A3C"/>
          </a:solidFill>
          <a:ln w="0">
            <a:solidFill>
              <a:srgbClr val="B45A3C"/>
            </a:solidFill>
            <a:prstDash val="solid"/>
          </a:ln>
        </p:spPr>
        <p:txBody>
          <a:bodyPr/>
          <a:lstStyle/>
          <a:p/>
        </p:txBody>
      </p:sp>
      <p:sp>
        <p:nvSpPr>
          <p:cNvPr id="30" name="矩形 29"/>
          <p:cNvSpPr>
            <a:spLocks noGrp="1"/>
          </p:cNvSpPr>
          <p:nvPr/>
        </p:nvSpPr>
        <p:spPr>
          <a:xfrm>
            <a:off x="6781800" y="44767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Rely on its explanation</a:t>
            </a:r>
            <a:endParaRPr sz="1650" b="1">
              <a:solidFill>
                <a:srgbClr val="1D2433"/>
              </a:solidFill>
              <a:latin typeface="Times New Roman" panose="02020603050405020304"/>
              <a:ea typeface="Times New Roman" panose="02020603050405020304"/>
              <a:cs typeface="Times New Roman" panose="02020603050405020304"/>
            </a:endParaRP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and framing</a:t>
            </a:r>
            <a:endParaRPr sz="1650" b="1">
              <a:solidFill>
                <a:srgbClr val="1D2433"/>
              </a:solidFill>
              <a:latin typeface="Times New Roman" panose="02020603050405020304"/>
              <a:ea typeface="Times New Roman" panose="02020603050405020304"/>
              <a:cs typeface="Times New Roman" panose="02020603050405020304"/>
            </a:endParaRPr>
          </a:p>
        </p:txBody>
      </p:sp>
      <p:cxnSp>
        <p:nvCxnSpPr>
          <p:cNvPr id="101" name="直接箭头连接符 100"/>
          <p:cNvCxnSpPr>
            <a:stCxn id="12" idx="2"/>
            <a:endCxn id="15" idx="0"/>
          </p:cNvCxnSpPr>
          <p:nvPr/>
        </p:nvCxnSpPr>
        <p:spPr>
          <a:xfrm>
            <a:off x="2667000" y="3181350"/>
            <a:ext cx="0" cy="247650"/>
          </a:xfrm>
          <a:prstGeom prst="straightConnector1">
            <a:avLst/>
          </a:prstGeom>
          <a:ln w="19050">
            <a:solidFill>
              <a:srgbClr val="667561"/>
            </a:solidFill>
            <a:prstDash val="solid"/>
            <a:headEnd type="arrow" w="med" len="med"/>
          </a:ln>
        </p:spPr>
      </p:cxnSp>
      <p:cxnSp>
        <p:nvCxnSpPr>
          <p:cNvPr id="102" name="直接箭头连接符 101"/>
          <p:cNvCxnSpPr>
            <a:stCxn id="15" idx="2"/>
            <a:endCxn id="18" idx="0"/>
          </p:cNvCxnSpPr>
          <p:nvPr/>
        </p:nvCxnSpPr>
        <p:spPr>
          <a:xfrm>
            <a:off x="2667000" y="4057650"/>
            <a:ext cx="0" cy="247650"/>
          </a:xfrm>
          <a:prstGeom prst="straightConnector1">
            <a:avLst/>
          </a:prstGeom>
          <a:ln w="19050">
            <a:solidFill>
              <a:srgbClr val="667561"/>
            </a:solidFill>
            <a:prstDash val="solid"/>
            <a:headEnd type="arrow" w="med" len="med"/>
          </a:ln>
        </p:spPr>
      </p:cxnSp>
      <p:cxnSp>
        <p:nvCxnSpPr>
          <p:cNvPr id="103" name="直接箭头连接符 102"/>
          <p:cNvCxnSpPr>
            <a:stCxn id="21" idx="2"/>
            <a:endCxn id="24" idx="0"/>
          </p:cNvCxnSpPr>
          <p:nvPr/>
        </p:nvCxnSpPr>
        <p:spPr>
          <a:xfrm>
            <a:off x="8286750" y="3181350"/>
            <a:ext cx="0" cy="247650"/>
          </a:xfrm>
          <a:prstGeom prst="straightConnector1">
            <a:avLst/>
          </a:prstGeom>
          <a:ln w="19050">
            <a:solidFill>
              <a:srgbClr val="B45A3C"/>
            </a:solidFill>
            <a:prstDash val="solid"/>
            <a:headEnd type="arrow" w="med" len="med"/>
          </a:ln>
        </p:spPr>
      </p:cxnSp>
      <p:cxnSp>
        <p:nvCxnSpPr>
          <p:cNvPr id="104" name="直接箭头连接符 103"/>
          <p:cNvCxnSpPr>
            <a:stCxn id="24" idx="2"/>
            <a:endCxn id="27" idx="0"/>
          </p:cNvCxnSpPr>
          <p:nvPr/>
        </p:nvCxnSpPr>
        <p:spPr>
          <a:xfrm>
            <a:off x="8286750" y="4057650"/>
            <a:ext cx="0" cy="247650"/>
          </a:xfrm>
          <a:prstGeom prst="straightConnector1">
            <a:avLst/>
          </a:prstGeom>
          <a:ln w="19050">
            <a:solidFill>
              <a:srgbClr val="B45A3C"/>
            </a:solidFill>
            <a:prstDash val="solid"/>
            <a:headEnd type="arrow" w="med" len="med"/>
          </a:ln>
        </p:spPr>
      </p:cxnSp>
      <p:sp>
        <p:nvSpPr>
          <p:cNvPr id="34" name="矩形 33"/>
          <p:cNvSpPr>
            <a:spLocks noGrp="1"/>
          </p:cNvSpPr>
          <p:nvPr/>
        </p:nvSpPr>
        <p:spPr>
          <a:xfrm>
            <a:off x="4210050" y="3067050"/>
            <a:ext cx="1733550" cy="1143000"/>
          </a:xfrm>
          <a:prstGeom prst="rect">
            <a:avLst/>
          </a:prstGeom>
          <a:solidFill>
            <a:srgbClr val="EFE5D9"/>
          </a:solidFill>
          <a:ln w="9525">
            <a:solidFill>
              <a:srgbClr val="E9DDCB"/>
            </a:solidFill>
            <a:prstDash val="solid"/>
          </a:ln>
        </p:spPr>
        <p:txBody>
          <a:bodyPr/>
          <a:lstStyle/>
          <a:p/>
        </p:txBody>
      </p:sp>
      <p:sp>
        <p:nvSpPr>
          <p:cNvPr id="35" name="矩形 34"/>
          <p:cNvSpPr>
            <a:spLocks noGrp="1"/>
          </p:cNvSpPr>
          <p:nvPr/>
        </p:nvSpPr>
        <p:spPr>
          <a:xfrm>
            <a:off x="4210050" y="3067050"/>
            <a:ext cx="57150" cy="1143000"/>
          </a:xfrm>
          <a:prstGeom prst="rect">
            <a:avLst/>
          </a:prstGeom>
          <a:solidFill>
            <a:srgbClr val="C89B4A"/>
          </a:solidFill>
          <a:ln w="0">
            <a:solidFill>
              <a:srgbClr val="C89B4A"/>
            </a:solidFill>
            <a:prstDash val="solid"/>
          </a:ln>
        </p:spPr>
        <p:txBody>
          <a:bodyPr/>
          <a:lstStyle/>
          <a:p/>
        </p:txBody>
      </p:sp>
      <p:sp>
        <p:nvSpPr>
          <p:cNvPr id="36" name="矩形 35"/>
          <p:cNvSpPr>
            <a:spLocks noGrp="1"/>
          </p:cNvSpPr>
          <p:nvPr/>
        </p:nvSpPr>
        <p:spPr>
          <a:xfrm>
            <a:off x="4419600" y="3219450"/>
            <a:ext cx="1314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Aptos"/>
                <a:ea typeface="Aptos"/>
                <a:cs typeface="Aptos"/>
              </a:rPr>
              <a:t>SHIFT</a:t>
            </a:r>
            <a:endParaRPr sz="900" b="1">
              <a:solidFill>
                <a:srgbClr val="C89B4A"/>
              </a:solidFill>
              <a:latin typeface="Aptos"/>
              <a:ea typeface="Aptos"/>
              <a:cs typeface="Aptos"/>
            </a:endParaRPr>
          </a:p>
        </p:txBody>
      </p:sp>
      <p:sp>
        <p:nvSpPr>
          <p:cNvPr id="37" name="矩形 36"/>
          <p:cNvSpPr>
            <a:spLocks noGrp="1"/>
          </p:cNvSpPr>
          <p:nvPr/>
        </p:nvSpPr>
        <p:spPr>
          <a:xfrm>
            <a:off x="4419600" y="3390900"/>
            <a:ext cx="13144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From tool use</a:t>
            </a:r>
            <a:endParaRPr sz="1350" b="1">
              <a:solidFill>
                <a:srgbClr val="1D2433"/>
              </a:solidFill>
              <a:latin typeface="Times New Roman" panose="02020603050405020304"/>
              <a:ea typeface="Times New Roman" panose="02020603050405020304"/>
              <a:cs typeface="Times New Roman" panose="02020603050405020304"/>
            </a:endParaRPr>
          </a:p>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to judgment</a:t>
            </a:r>
            <a:endParaRPr sz="1350" b="1">
              <a:solidFill>
                <a:srgbClr val="1D2433"/>
              </a:solidFill>
              <a:latin typeface="Times New Roman" panose="02020603050405020304"/>
              <a:ea typeface="Times New Roman" panose="02020603050405020304"/>
              <a:cs typeface="Times New Roman" panose="02020603050405020304"/>
            </a:endParaRPr>
          </a:p>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interaction</a:t>
            </a:r>
            <a:endParaRPr sz="1350" b="1">
              <a:solidFill>
                <a:srgbClr val="1D2433"/>
              </a:solidFill>
              <a:latin typeface="Times New Roman" panose="02020603050405020304"/>
              <a:ea typeface="Times New Roman" panose="02020603050405020304"/>
              <a:cs typeface="Times New Roman" panose="02020603050405020304"/>
            </a:endParaRPr>
          </a:p>
        </p:txBody>
      </p:sp>
      <p:sp>
        <p:nvSpPr>
          <p:cNvPr id="38" name="矩形 37"/>
          <p:cNvSpPr>
            <a:spLocks noGrp="1"/>
          </p:cNvSpPr>
          <p:nvPr/>
        </p:nvSpPr>
        <p:spPr>
          <a:xfrm>
            <a:off x="914400" y="5619750"/>
            <a:ext cx="10096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More and more users do not use AI only to search, calculate, or automate. They consult it, discuss with it, confirm with it, and sometimes rely on it.</a:t>
            </a:r>
            <a:endParaRPr sz="12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WHY LLMs FEEL DIFFERENT</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6667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Large language models change interaction through language, explanation, and narrative</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Their Transformer architecture supports contextual integration, and later tuning makes them able to explain, respond, and interact continuously with users.</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05</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914400" y="24574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endParaRPr sz="1725" b="1">
              <a:solidFill>
                <a:srgbClr val="B45A3C"/>
              </a:solidFill>
              <a:latin typeface="Aptos"/>
              <a:ea typeface="Aptos"/>
              <a:cs typeface="Aptos"/>
            </a:endParaRPr>
          </a:p>
        </p:txBody>
      </p:sp>
      <p:sp>
        <p:nvSpPr>
          <p:cNvPr id="12" name="矩形 11"/>
          <p:cNvSpPr>
            <a:spLocks noGrp="1"/>
          </p:cNvSpPr>
          <p:nvPr/>
        </p:nvSpPr>
        <p:spPr>
          <a:xfrm>
            <a:off x="1181100" y="24384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This means the difference is not only more accurate output.</a:t>
            </a:r>
            <a:endParaRPr sz="1725" b="0">
              <a:solidFill>
                <a:srgbClr val="1D2433"/>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nvSpPr>
        <p:spPr>
          <a:xfrm>
            <a:off x="914400" y="323850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endParaRPr sz="1725" b="1">
              <a:solidFill>
                <a:srgbClr val="B45A3C"/>
              </a:solidFill>
              <a:latin typeface="Aptos"/>
              <a:ea typeface="Aptos"/>
              <a:cs typeface="Aptos"/>
            </a:endParaRPr>
          </a:p>
        </p:txBody>
      </p:sp>
      <p:sp>
        <p:nvSpPr>
          <p:cNvPr id="14" name="矩形 13"/>
          <p:cNvSpPr>
            <a:spLocks noGrp="1"/>
          </p:cNvSpPr>
          <p:nvPr/>
        </p:nvSpPr>
        <p:spPr>
          <a:xfrm>
            <a:off x="1181100" y="321945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form of output and the mode of interaction also change.</a:t>
            </a:r>
            <a:endParaRPr sz="1725" b="0">
              <a:solidFill>
                <a:srgbClr val="1D2433"/>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914400" y="40195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endParaRPr sz="1725" b="1">
              <a:solidFill>
                <a:srgbClr val="B45A3C"/>
              </a:solidFill>
              <a:latin typeface="Aptos"/>
              <a:ea typeface="Aptos"/>
              <a:cs typeface="Aptos"/>
            </a:endParaRPr>
          </a:p>
        </p:txBody>
      </p:sp>
      <p:sp>
        <p:nvSpPr>
          <p:cNvPr id="16" name="矩形 15"/>
          <p:cNvSpPr>
            <a:spLocks noGrp="1"/>
          </p:cNvSpPr>
          <p:nvPr/>
        </p:nvSpPr>
        <p:spPr>
          <a:xfrm>
            <a:off x="1181100" y="40005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LLMs enter the cognitive process through natural language, explanation, and narrative framing.</a:t>
            </a:r>
            <a:endParaRPr sz="1725" b="0">
              <a:solidFill>
                <a:srgbClr val="1D2433"/>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7239000" y="2171700"/>
            <a:ext cx="3429000" cy="2628900"/>
          </a:xfrm>
          <a:prstGeom prst="rect">
            <a:avLst/>
          </a:prstGeom>
          <a:solidFill>
            <a:srgbClr val="FFF9F0"/>
          </a:solidFill>
          <a:ln w="9525">
            <a:solidFill>
              <a:srgbClr val="E9DDCB"/>
            </a:solidFill>
            <a:prstDash val="solid"/>
          </a:ln>
        </p:spPr>
        <p:txBody>
          <a:bodyPr/>
          <a:lstStyle/>
          <a:p/>
        </p:txBody>
      </p:sp>
      <p:sp>
        <p:nvSpPr>
          <p:cNvPr id="18" name="矩形 17"/>
          <p:cNvSpPr>
            <a:spLocks noGrp="1"/>
          </p:cNvSpPr>
          <p:nvPr/>
        </p:nvSpPr>
        <p:spPr>
          <a:xfrm>
            <a:off x="7239000" y="2171700"/>
            <a:ext cx="57150" cy="2628900"/>
          </a:xfrm>
          <a:prstGeom prst="rect">
            <a:avLst/>
          </a:prstGeom>
          <a:solidFill>
            <a:srgbClr val="B45A3C"/>
          </a:solidFill>
          <a:ln w="0">
            <a:solidFill>
              <a:srgbClr val="B45A3C"/>
            </a:solidFill>
            <a:prstDash val="solid"/>
          </a:ln>
        </p:spPr>
        <p:txBody>
          <a:bodyPr/>
          <a:lstStyle/>
          <a:p/>
        </p:txBody>
      </p:sp>
      <p:sp>
        <p:nvSpPr>
          <p:cNvPr id="19" name="矩形 18"/>
          <p:cNvSpPr>
            <a:spLocks noGrp="1"/>
          </p:cNvSpPr>
          <p:nvPr/>
        </p:nvSpPr>
        <p:spPr>
          <a:xfrm>
            <a:off x="7448550" y="2324100"/>
            <a:ext cx="3009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WHAT THIS ENABLES</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7448550" y="24955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Why it matters</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1" name="圆角矩形 20"/>
          <p:cNvSpPr>
            <a:spLocks noGrp="1"/>
          </p:cNvSpPr>
          <p:nvPr/>
        </p:nvSpPr>
        <p:spPr>
          <a:xfrm>
            <a:off x="7715250" y="2762250"/>
            <a:ext cx="2476500" cy="400050"/>
          </a:xfrm>
          <a:prstGeom prst="roundRect">
            <a:avLst>
              <a:gd name="adj" fmla="val 19048"/>
            </a:avLst>
          </a:prstGeom>
          <a:solidFill>
            <a:srgbClr val="E8C6B8"/>
          </a:solidFill>
          <a:ln w="0">
            <a:solidFill>
              <a:srgbClr val="E8C6B8"/>
            </a:solidFill>
            <a:prstDash val="solid"/>
          </a:ln>
        </p:spPr>
        <p:txBody>
          <a:bodyPr/>
          <a:lstStyle/>
          <a:p/>
        </p:txBody>
      </p:sp>
      <p:sp>
        <p:nvSpPr>
          <p:cNvPr id="22" name="矩形 21"/>
          <p:cNvSpPr>
            <a:spLocks noGrp="1"/>
          </p:cNvSpPr>
          <p:nvPr/>
        </p:nvSpPr>
        <p:spPr>
          <a:xfrm>
            <a:off x="7829550" y="27908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Context integration</a:t>
            </a:r>
            <a:endParaRPr sz="975" b="1">
              <a:solidFill>
                <a:srgbClr val="1D2433"/>
              </a:solidFill>
              <a:latin typeface="Times New Roman" panose="02020603050405020304"/>
              <a:ea typeface="Times New Roman" panose="02020603050405020304"/>
              <a:cs typeface="Times New Roman" panose="02020603050405020304"/>
            </a:endParaRPr>
          </a:p>
        </p:txBody>
      </p:sp>
      <p:sp>
        <p:nvSpPr>
          <p:cNvPr id="23" name="圆角矩形 22"/>
          <p:cNvSpPr>
            <a:spLocks noGrp="1"/>
          </p:cNvSpPr>
          <p:nvPr/>
        </p:nvSpPr>
        <p:spPr>
          <a:xfrm>
            <a:off x="7715250" y="3352800"/>
            <a:ext cx="2476500" cy="400050"/>
          </a:xfrm>
          <a:prstGeom prst="roundRect">
            <a:avLst>
              <a:gd name="adj" fmla="val 19048"/>
            </a:avLst>
          </a:prstGeom>
          <a:solidFill>
            <a:srgbClr val="E9DDCB"/>
          </a:solidFill>
          <a:ln w="0">
            <a:solidFill>
              <a:srgbClr val="E9DDCB"/>
            </a:solidFill>
            <a:prstDash val="solid"/>
          </a:ln>
        </p:spPr>
        <p:txBody>
          <a:bodyPr/>
          <a:lstStyle/>
          <a:p/>
        </p:txBody>
      </p:sp>
      <p:sp>
        <p:nvSpPr>
          <p:cNvPr id="24" name="矩形 23"/>
          <p:cNvSpPr>
            <a:spLocks noGrp="1"/>
          </p:cNvSpPr>
          <p:nvPr/>
        </p:nvSpPr>
        <p:spPr>
          <a:xfrm>
            <a:off x="7829550" y="338137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Continuous explanation</a:t>
            </a:r>
            <a:endParaRPr sz="975" b="1">
              <a:solidFill>
                <a:srgbClr val="1D2433"/>
              </a:solidFill>
              <a:latin typeface="Times New Roman" panose="02020603050405020304"/>
              <a:ea typeface="Times New Roman" panose="02020603050405020304"/>
              <a:cs typeface="Times New Roman" panose="02020603050405020304"/>
            </a:endParaRPr>
          </a:p>
        </p:txBody>
      </p:sp>
      <p:sp>
        <p:nvSpPr>
          <p:cNvPr id="25" name="圆角矩形 24"/>
          <p:cNvSpPr>
            <a:spLocks noGrp="1"/>
          </p:cNvSpPr>
          <p:nvPr/>
        </p:nvSpPr>
        <p:spPr>
          <a:xfrm>
            <a:off x="7715250" y="3943350"/>
            <a:ext cx="2476500" cy="400050"/>
          </a:xfrm>
          <a:prstGeom prst="roundRect">
            <a:avLst>
              <a:gd name="adj" fmla="val 19048"/>
            </a:avLst>
          </a:prstGeom>
          <a:solidFill>
            <a:srgbClr val="E6E0D4"/>
          </a:solidFill>
          <a:ln w="0">
            <a:solidFill>
              <a:srgbClr val="E6E0D4"/>
            </a:solidFill>
            <a:prstDash val="solid"/>
          </a:ln>
        </p:spPr>
        <p:txBody>
          <a:bodyPr/>
          <a:lstStyle/>
          <a:p/>
        </p:txBody>
      </p:sp>
      <p:sp>
        <p:nvSpPr>
          <p:cNvPr id="26" name="矩形 25"/>
          <p:cNvSpPr>
            <a:spLocks noGrp="1"/>
          </p:cNvSpPr>
          <p:nvPr/>
        </p:nvSpPr>
        <p:spPr>
          <a:xfrm>
            <a:off x="7829550" y="39719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Narrative influence</a:t>
            </a:r>
            <a:endParaRPr sz="975" b="1">
              <a:solidFill>
                <a:srgbClr val="1D2433"/>
              </a:solidFill>
              <a:latin typeface="Times New Roman" panose="02020603050405020304"/>
              <a:ea typeface="Times New Roman" panose="02020603050405020304"/>
              <a:cs typeface="Times New Roman" panose="02020603050405020304"/>
            </a:endParaRPr>
          </a:p>
        </p:txBody>
      </p:sp>
      <p:sp>
        <p:nvSpPr>
          <p:cNvPr id="27" name="矩形 26"/>
          <p:cNvSpPr>
            <a:spLocks noGrp="1"/>
          </p:cNvSpPr>
          <p:nvPr/>
        </p:nvSpPr>
        <p:spPr>
          <a:xfrm>
            <a:off x="914400" y="5486400"/>
            <a:ext cx="9715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That is why people can be influenced not only by answers, but by the way answers are framed.</a:t>
            </a:r>
            <a:endParaRPr sz="12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lang="en-US" sz="1050" b="1">
                <a:solidFill>
                  <a:srgbClr val="B45A3C"/>
                </a:solidFill>
                <a:latin typeface="Times New Roman" panose="02020603050405020304"/>
                <a:ea typeface="Times New Roman" panose="02020603050405020304"/>
                <a:cs typeface="Times New Roman" panose="02020603050405020304"/>
              </a:rPr>
              <a:t>ONE CONNECTED PROCESS</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8191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lang="en-US" sz="2550" b="1">
                <a:solidFill>
                  <a:srgbClr val="1D2433"/>
                </a:solidFill>
                <a:latin typeface="Times New Roman" panose="02020603050405020304"/>
                <a:ea typeface="Times New Roman" panose="02020603050405020304"/>
                <a:cs typeface="Times New Roman" panose="02020603050405020304"/>
              </a:rPr>
              <a:t>The three papers study different stages of one connected human-AI decision process</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lang="en-US" sz="750" b="0">
                <a:solidFill>
                  <a:srgbClr val="7B7F88"/>
                </a:solidFill>
                <a:latin typeface="Times New Roman" panose="02020603050405020304"/>
                <a:ea typeface="Times New Roman" panose="02020603050405020304"/>
                <a:cs typeface="Times New Roman" panose="02020603050405020304"/>
              </a:rPr>
              <a:t>Belief Formation -&gt; Reliance Calibration / Action Threshold -&gt; Responsibility Attribution</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06</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914400" y="2266950"/>
            <a:ext cx="3143250" cy="3257550"/>
          </a:xfrm>
          <a:prstGeom prst="rect">
            <a:avLst/>
          </a:prstGeom>
          <a:solidFill>
            <a:srgbClr val="FFF9F0"/>
          </a:solidFill>
          <a:ln w="9525">
            <a:solidFill>
              <a:srgbClr val="E9DDCB"/>
            </a:solidFill>
            <a:prstDash val="solid"/>
          </a:ln>
        </p:spPr>
        <p:txBody>
          <a:bodyPr/>
          <a:lstStyle/>
          <a:p/>
        </p:txBody>
      </p:sp>
      <p:sp>
        <p:nvSpPr>
          <p:cNvPr id="12" name="矩形 11"/>
          <p:cNvSpPr>
            <a:spLocks noGrp="1"/>
          </p:cNvSpPr>
          <p:nvPr/>
        </p:nvSpPr>
        <p:spPr>
          <a:xfrm>
            <a:off x="914400" y="2266950"/>
            <a:ext cx="57150" cy="3257550"/>
          </a:xfrm>
          <a:prstGeom prst="rect">
            <a:avLst/>
          </a:prstGeom>
          <a:solidFill>
            <a:srgbClr val="B45A3C"/>
          </a:solidFill>
          <a:ln w="0">
            <a:solidFill>
              <a:srgbClr val="B45A3C"/>
            </a:solidFill>
            <a:prstDash val="solid"/>
          </a:ln>
        </p:spPr>
        <p:txBody>
          <a:bodyPr/>
          <a:lstStyle/>
          <a:p/>
        </p:txBody>
      </p:sp>
      <p:sp>
        <p:nvSpPr>
          <p:cNvPr id="13" name="矩形 12"/>
          <p:cNvSpPr>
            <a:spLocks noGrp="1"/>
          </p:cNvSpPr>
          <p:nvPr/>
        </p:nvSpPr>
        <p:spPr>
          <a:xfrm>
            <a:off x="11239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1</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nvSpPr>
        <p:spPr>
          <a:xfrm>
            <a:off x="11239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Belief formation</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11049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16" name="矩形 15"/>
          <p:cNvSpPr>
            <a:spLocks noGrp="1"/>
          </p:cNvSpPr>
          <p:nvPr/>
        </p:nvSpPr>
        <p:spPr>
          <a:xfrm>
            <a:off x="13716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information -&gt; belief</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11049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18" name="矩形 17"/>
          <p:cNvSpPr>
            <a:spLocks noGrp="1"/>
          </p:cNvSpPr>
          <p:nvPr/>
        </p:nvSpPr>
        <p:spPr>
          <a:xfrm>
            <a:off x="13716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How is a belief formed before people decide what to do?</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11049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20" name="矩形 19"/>
          <p:cNvSpPr>
            <a:spLocks noGrp="1"/>
          </p:cNvSpPr>
          <p:nvPr/>
        </p:nvSpPr>
        <p:spPr>
          <a:xfrm>
            <a:off x="13716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AI can shape what feels sufficient, relevant, or already processed.</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11049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lang="en-US" sz="900" b="0">
                <a:solidFill>
                  <a:srgbClr val="5F6775"/>
                </a:solidFill>
                <a:latin typeface="Times New Roman" panose="02020603050405020304"/>
                <a:ea typeface="Times New Roman" panose="02020603050405020304"/>
                <a:cs typeface="Times New Roman" panose="02020603050405020304"/>
              </a:rPr>
              <a:t>This is the belief-formation stage.</a:t>
            </a:r>
            <a:endParaRPr sz="900" b="0">
              <a:solidFill>
                <a:srgbClr val="5F6775"/>
              </a:solidFill>
              <a:latin typeface="Times New Roman" panose="02020603050405020304"/>
              <a:ea typeface="Times New Roman" panose="02020603050405020304"/>
              <a:cs typeface="Times New Roman" panose="02020603050405020304"/>
            </a:endParaRPr>
          </a:p>
        </p:txBody>
      </p:sp>
      <p:sp>
        <p:nvSpPr>
          <p:cNvPr id="22" name="矩形 21"/>
          <p:cNvSpPr>
            <a:spLocks noGrp="1"/>
          </p:cNvSpPr>
          <p:nvPr/>
        </p:nvSpPr>
        <p:spPr>
          <a:xfrm>
            <a:off x="4381500" y="2266950"/>
            <a:ext cx="3143250" cy="3257550"/>
          </a:xfrm>
          <a:prstGeom prst="rect">
            <a:avLst/>
          </a:prstGeom>
          <a:solidFill>
            <a:srgbClr val="FFF9F0"/>
          </a:solidFill>
          <a:ln w="9525">
            <a:solidFill>
              <a:srgbClr val="E9DDCB"/>
            </a:solidFill>
            <a:prstDash val="solid"/>
          </a:ln>
        </p:spPr>
        <p:txBody>
          <a:bodyPr/>
          <a:lstStyle/>
          <a:p/>
        </p:txBody>
      </p:sp>
      <p:sp>
        <p:nvSpPr>
          <p:cNvPr id="23" name="矩形 22"/>
          <p:cNvSpPr>
            <a:spLocks noGrp="1"/>
          </p:cNvSpPr>
          <p:nvPr/>
        </p:nvSpPr>
        <p:spPr>
          <a:xfrm>
            <a:off x="4381500" y="2266950"/>
            <a:ext cx="57150" cy="3257550"/>
          </a:xfrm>
          <a:prstGeom prst="rect">
            <a:avLst/>
          </a:prstGeom>
          <a:solidFill>
            <a:srgbClr val="B45A3C"/>
          </a:solidFill>
          <a:ln w="0">
            <a:solidFill>
              <a:srgbClr val="B45A3C"/>
            </a:solidFill>
            <a:prstDash val="solid"/>
          </a:ln>
        </p:spPr>
        <p:txBody>
          <a:bodyPr/>
          <a:lstStyle/>
          <a:p/>
        </p:txBody>
      </p:sp>
      <p:sp>
        <p:nvSpPr>
          <p:cNvPr id="24" name="矩形 23"/>
          <p:cNvSpPr>
            <a:spLocks noGrp="1"/>
          </p:cNvSpPr>
          <p:nvPr/>
        </p:nvSpPr>
        <p:spPr>
          <a:xfrm>
            <a:off x="45910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2</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nvSpPr>
        <p:spPr>
          <a:xfrm>
            <a:off x="45910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Reliance /</a:t>
            </a:r>
            <a:endParaRPr sz="1500" b="1">
              <a:solidFill>
                <a:srgbClr val="1D2433"/>
              </a:solidFill>
              <a:latin typeface="Times New Roman" panose="02020603050405020304"/>
              <a:ea typeface="Times New Roman" panose="02020603050405020304"/>
              <a:cs typeface="Times New Roman" panose="02020603050405020304"/>
            </a:endParaRPr>
          </a:p>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action</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6" name="矩形 25"/>
          <p:cNvSpPr>
            <a:spLocks noGrp="1"/>
          </p:cNvSpPr>
          <p:nvPr/>
        </p:nvSpPr>
        <p:spPr>
          <a:xfrm>
            <a:off x="45720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27" name="矩形 26"/>
          <p:cNvSpPr>
            <a:spLocks noGrp="1"/>
          </p:cNvSpPr>
          <p:nvPr/>
        </p:nvSpPr>
        <p:spPr>
          <a:xfrm>
            <a:off x="48387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belief / feedback</a:t>
            </a:r>
            <a:endParaRPr sz="1275" b="0">
              <a:solidFill>
                <a:srgbClr val="1D2433"/>
              </a:solidFill>
              <a:latin typeface="Times New Roman" panose="02020603050405020304"/>
              <a:ea typeface="Times New Roman" panose="02020603050405020304"/>
              <a:cs typeface="Times New Roman" panose="02020603050405020304"/>
            </a:endParaRPr>
          </a:p>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-&gt; action</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28" name="矩形 27"/>
          <p:cNvSpPr>
            <a:spLocks noGrp="1"/>
          </p:cNvSpPr>
          <p:nvPr/>
        </p:nvSpPr>
        <p:spPr>
          <a:xfrm>
            <a:off x="45720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29" name="矩形 28"/>
          <p:cNvSpPr>
            <a:spLocks noGrp="1"/>
          </p:cNvSpPr>
          <p:nvPr/>
        </p:nvSpPr>
        <p:spPr>
          <a:xfrm>
            <a:off x="48387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How does feedback reshape reliance and the threshold for action?</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30" name="矩形 29"/>
          <p:cNvSpPr>
            <a:spLocks noGrp="1"/>
          </p:cNvSpPr>
          <p:nvPr/>
        </p:nvSpPr>
        <p:spPr>
          <a:xfrm>
            <a:off x="45720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31" name="矩形 30"/>
          <p:cNvSpPr>
            <a:spLocks noGrp="1"/>
          </p:cNvSpPr>
          <p:nvPr/>
        </p:nvSpPr>
        <p:spPr>
          <a:xfrm>
            <a:off x="48387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People may rely, defer, or act differently once AI enters the process.</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32" name="矩形 31"/>
          <p:cNvSpPr>
            <a:spLocks noGrp="1"/>
          </p:cNvSpPr>
          <p:nvPr/>
        </p:nvSpPr>
        <p:spPr>
          <a:xfrm>
            <a:off x="45720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lang="en-US" sz="900" b="0">
                <a:solidFill>
                  <a:srgbClr val="5F6775"/>
                </a:solidFill>
                <a:latin typeface="Times New Roman" panose="02020603050405020304"/>
                <a:ea typeface="Times New Roman" panose="02020603050405020304"/>
                <a:cs typeface="Times New Roman" panose="02020603050405020304"/>
              </a:rPr>
              <a:t>This is the reliance-and-action stage.</a:t>
            </a:r>
            <a:endParaRPr sz="900" b="0">
              <a:solidFill>
                <a:srgbClr val="5F6775"/>
              </a:solidFill>
              <a:latin typeface="Times New Roman" panose="02020603050405020304"/>
              <a:ea typeface="Times New Roman" panose="02020603050405020304"/>
              <a:cs typeface="Times New Roman" panose="02020603050405020304"/>
            </a:endParaRPr>
          </a:p>
        </p:txBody>
      </p:sp>
      <p:sp>
        <p:nvSpPr>
          <p:cNvPr id="33" name="矩形 32"/>
          <p:cNvSpPr>
            <a:spLocks noGrp="1"/>
          </p:cNvSpPr>
          <p:nvPr/>
        </p:nvSpPr>
        <p:spPr>
          <a:xfrm>
            <a:off x="7848600" y="2266950"/>
            <a:ext cx="3143250" cy="3257550"/>
          </a:xfrm>
          <a:prstGeom prst="rect">
            <a:avLst/>
          </a:prstGeom>
          <a:solidFill>
            <a:srgbClr val="FFF9F0"/>
          </a:solidFill>
          <a:ln w="9525">
            <a:solidFill>
              <a:srgbClr val="E9DDCB"/>
            </a:solidFill>
            <a:prstDash val="solid"/>
          </a:ln>
        </p:spPr>
        <p:txBody>
          <a:bodyPr/>
          <a:lstStyle/>
          <a:p/>
        </p:txBody>
      </p:sp>
      <p:sp>
        <p:nvSpPr>
          <p:cNvPr id="34" name="矩形 33"/>
          <p:cNvSpPr>
            <a:spLocks noGrp="1"/>
          </p:cNvSpPr>
          <p:nvPr/>
        </p:nvSpPr>
        <p:spPr>
          <a:xfrm>
            <a:off x="7848600" y="2266950"/>
            <a:ext cx="57150" cy="3257550"/>
          </a:xfrm>
          <a:prstGeom prst="rect">
            <a:avLst/>
          </a:prstGeom>
          <a:solidFill>
            <a:srgbClr val="B45A3C"/>
          </a:solidFill>
          <a:ln w="0">
            <a:solidFill>
              <a:srgbClr val="B45A3C"/>
            </a:solidFill>
            <a:prstDash val="solid"/>
          </a:ln>
        </p:spPr>
        <p:txBody>
          <a:bodyPr/>
          <a:lstStyle/>
          <a:p/>
        </p:txBody>
      </p:sp>
      <p:sp>
        <p:nvSpPr>
          <p:cNvPr id="35" name="矩形 34"/>
          <p:cNvSpPr>
            <a:spLocks noGrp="1"/>
          </p:cNvSpPr>
          <p:nvPr/>
        </p:nvSpPr>
        <p:spPr>
          <a:xfrm>
            <a:off x="80581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3</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36" name="矩形 35"/>
          <p:cNvSpPr>
            <a:spLocks noGrp="1"/>
          </p:cNvSpPr>
          <p:nvPr/>
        </p:nvSpPr>
        <p:spPr>
          <a:xfrm>
            <a:off x="80581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Responsibility</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37" name="矩形 36"/>
          <p:cNvSpPr>
            <a:spLocks noGrp="1"/>
          </p:cNvSpPr>
          <p:nvPr/>
        </p:nvSpPr>
        <p:spPr>
          <a:xfrm>
            <a:off x="80391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38" name="矩形 37"/>
          <p:cNvSpPr>
            <a:spLocks noGrp="1"/>
          </p:cNvSpPr>
          <p:nvPr/>
        </p:nvSpPr>
        <p:spPr>
          <a:xfrm>
            <a:off x="83058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action -&gt; consequence</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39" name="矩形 38"/>
          <p:cNvSpPr>
            <a:spLocks noGrp="1"/>
          </p:cNvSpPr>
          <p:nvPr/>
        </p:nvSpPr>
        <p:spPr>
          <a:xfrm>
            <a:off x="80391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40" name="矩形 39"/>
          <p:cNvSpPr>
            <a:spLocks noGrp="1"/>
          </p:cNvSpPr>
          <p:nvPr/>
        </p:nvSpPr>
        <p:spPr>
          <a:xfrm>
            <a:off x="83058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How is responsibility understood once action produces consequences?</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41" name="矩形 40"/>
          <p:cNvSpPr>
            <a:spLocks noGrp="1"/>
          </p:cNvSpPr>
          <p:nvPr/>
        </p:nvSpPr>
        <p:spPr>
          <a:xfrm>
            <a:off x="80391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endParaRPr sz="1275" b="1">
              <a:solidFill>
                <a:srgbClr val="B45A3C"/>
              </a:solidFill>
              <a:latin typeface="Aptos"/>
              <a:ea typeface="Aptos"/>
              <a:cs typeface="Aptos"/>
            </a:endParaRPr>
          </a:p>
        </p:txBody>
      </p:sp>
      <p:sp>
        <p:nvSpPr>
          <p:cNvPr id="42" name="矩形 41"/>
          <p:cNvSpPr>
            <a:spLocks noGrp="1"/>
          </p:cNvSpPr>
          <p:nvPr/>
        </p:nvSpPr>
        <p:spPr>
          <a:xfrm>
            <a:off x="83058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AI can also reshape ownership and responsibility after outcomes occur.</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43" name="矩形 42"/>
          <p:cNvSpPr>
            <a:spLocks noGrp="1"/>
          </p:cNvSpPr>
          <p:nvPr/>
        </p:nvSpPr>
        <p:spPr>
          <a:xfrm>
            <a:off x="80391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lang="en-US" sz="900" b="0">
                <a:solidFill>
                  <a:srgbClr val="5F6775"/>
                </a:solidFill>
                <a:latin typeface="Times New Roman" panose="02020603050405020304"/>
                <a:ea typeface="Times New Roman" panose="02020603050405020304"/>
                <a:cs typeface="Times New Roman" panose="02020603050405020304"/>
              </a:rPr>
              <a:t>This is the responsibility stage.</a:t>
            </a:r>
            <a:endParaRPr sz="9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lang="en-US" sz="1050" b="1">
                <a:solidFill>
                  <a:srgbClr val="B45A3C"/>
                </a:solidFill>
                <a:latin typeface="Times New Roman" panose="02020603050405020304"/>
                <a:ea typeface="Times New Roman" panose="02020603050405020304"/>
                <a:cs typeface="Times New Roman" panose="02020603050405020304"/>
              </a:rPr>
              <a:t>THE THREE PAPERS</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lang="en-US" sz="2550" b="1">
                <a:solidFill>
                  <a:srgbClr val="1D2433"/>
                </a:solidFill>
                <a:latin typeface="Times New Roman" panose="02020603050405020304"/>
                <a:ea typeface="Times New Roman" panose="02020603050405020304"/>
                <a:cs typeface="Times New Roman" panose="02020603050405020304"/>
              </a:rPr>
              <a:t>The dissertation isolates different stages of that same decision process</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lang="en-US" sz="750" b="0">
                <a:solidFill>
                  <a:srgbClr val="7B7F88"/>
                </a:solidFill>
                <a:latin typeface="Times New Roman" panose="02020603050405020304"/>
                <a:ea typeface="Times New Roman" panose="02020603050405020304"/>
                <a:cs typeface="Times New Roman" panose="02020603050405020304"/>
              </a:rPr>
              <a:t>Each paper studies a different mapping, mechanism, and outcome within one connected human-AI decision sequence.</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lang="en-US" altLang="zh-CN" sz="900" b="1">
                <a:solidFill>
                  <a:srgbClr val="B45A3C"/>
                </a:solidFill>
                <a:latin typeface="Times New Roman" panose="02020603050405020304"/>
                <a:ea typeface="Times New Roman" panose="02020603050405020304"/>
                <a:cs typeface="Times New Roman" panose="02020603050405020304"/>
              </a:rPr>
              <a:t>07</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custDataLst>
              <p:tags r:id="rId1"/>
            </p:custDataLst>
          </p:nvPr>
        </p:nvSpPr>
        <p:spPr>
          <a:xfrm>
            <a:off x="914400" y="2343150"/>
            <a:ext cx="4076700" cy="1314450"/>
          </a:xfrm>
          <a:prstGeom prst="rect">
            <a:avLst/>
          </a:prstGeom>
          <a:solidFill>
            <a:srgbClr val="FFF9F0"/>
          </a:solidFill>
          <a:ln w="9525">
            <a:solidFill>
              <a:srgbClr val="E9DDCB"/>
            </a:solidFill>
            <a:prstDash val="solid"/>
          </a:ln>
        </p:spPr>
        <p:txBody>
          <a:bodyPr/>
          <a:lstStyle/>
          <a:p/>
        </p:txBody>
      </p:sp>
      <p:sp>
        <p:nvSpPr>
          <p:cNvPr id="12" name="矩形 11"/>
          <p:cNvSpPr>
            <a:spLocks noGrp="1"/>
          </p:cNvSpPr>
          <p:nvPr>
            <p:custDataLst>
              <p:tags r:id="rId2"/>
            </p:custDataLst>
          </p:nvPr>
        </p:nvSpPr>
        <p:spPr>
          <a:xfrm>
            <a:off x="914400" y="2343150"/>
            <a:ext cx="57150" cy="1314450"/>
          </a:xfrm>
          <a:prstGeom prst="rect">
            <a:avLst/>
          </a:prstGeom>
          <a:solidFill>
            <a:srgbClr val="B45A3C"/>
          </a:solidFill>
          <a:ln w="0">
            <a:solidFill>
              <a:srgbClr val="B45A3C"/>
            </a:solidFill>
            <a:prstDash val="solid"/>
          </a:ln>
        </p:spPr>
        <p:txBody>
          <a:bodyPr/>
          <a:lstStyle/>
          <a:p/>
        </p:txBody>
      </p:sp>
      <p:sp>
        <p:nvSpPr>
          <p:cNvPr id="13" name="矩形 12"/>
          <p:cNvSpPr>
            <a:spLocks noGrp="1"/>
          </p:cNvSpPr>
          <p:nvPr>
            <p:custDataLst>
              <p:tags r:id="rId3"/>
            </p:custDataLst>
          </p:nvPr>
        </p:nvSpPr>
        <p:spPr>
          <a:xfrm>
            <a:off x="11239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PAPER 1</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custDataLst>
              <p:tags r:id="rId4"/>
            </p:custDataLst>
          </p:nvPr>
        </p:nvSpPr>
        <p:spPr>
          <a:xfrm>
            <a:off x="11239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evidence -&gt; belief</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custDataLst>
              <p:tags r:id="rId5"/>
            </p:custDataLst>
          </p:nvPr>
        </p:nvSpPr>
        <p:spPr>
          <a:xfrm>
            <a:off x="11239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lang="en-US" sz="1200" b="0">
                <a:solidFill>
                  <a:srgbClr val="5F6775"/>
                </a:solidFill>
                <a:latin typeface="Times New Roman" panose="02020603050405020304"/>
                <a:ea typeface="Times New Roman" panose="02020603050405020304"/>
                <a:cs typeface="Times New Roman" panose="02020603050405020304"/>
              </a:rPr>
              <a:t>How answer-first AI changes evidence search, belief updating, and subjective information mastery.</a:t>
            </a:r>
            <a:endParaRPr sz="1200" b="0">
              <a:solidFill>
                <a:srgbClr val="5F6775"/>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custDataLst>
              <p:tags r:id="rId6"/>
            </p:custDataLst>
          </p:nvPr>
        </p:nvSpPr>
        <p:spPr>
          <a:xfrm>
            <a:off x="5638800" y="2343150"/>
            <a:ext cx="4076700" cy="1314450"/>
          </a:xfrm>
          <a:prstGeom prst="rect">
            <a:avLst/>
          </a:prstGeom>
          <a:solidFill>
            <a:srgbClr val="FFF9F0"/>
          </a:solidFill>
          <a:ln w="9525">
            <a:solidFill>
              <a:srgbClr val="E9DDCB"/>
            </a:solidFill>
            <a:prstDash val="solid"/>
          </a:ln>
        </p:spPr>
        <p:txBody>
          <a:bodyPr/>
          <a:lstStyle/>
          <a:p/>
        </p:txBody>
      </p:sp>
      <p:sp>
        <p:nvSpPr>
          <p:cNvPr id="17" name="矩形 16"/>
          <p:cNvSpPr>
            <a:spLocks noGrp="1"/>
          </p:cNvSpPr>
          <p:nvPr>
            <p:custDataLst>
              <p:tags r:id="rId7"/>
            </p:custDataLst>
          </p:nvPr>
        </p:nvSpPr>
        <p:spPr>
          <a:xfrm>
            <a:off x="5638800" y="2343150"/>
            <a:ext cx="57150" cy="1314450"/>
          </a:xfrm>
          <a:prstGeom prst="rect">
            <a:avLst/>
          </a:prstGeom>
          <a:solidFill>
            <a:srgbClr val="B45A3C"/>
          </a:solidFill>
          <a:ln w="0">
            <a:solidFill>
              <a:srgbClr val="B45A3C"/>
            </a:solidFill>
            <a:prstDash val="solid"/>
          </a:ln>
        </p:spPr>
        <p:txBody>
          <a:bodyPr/>
          <a:lstStyle/>
          <a:p/>
        </p:txBody>
      </p:sp>
      <p:sp>
        <p:nvSpPr>
          <p:cNvPr id="18" name="矩形 17"/>
          <p:cNvSpPr>
            <a:spLocks noGrp="1"/>
          </p:cNvSpPr>
          <p:nvPr>
            <p:custDataLst>
              <p:tags r:id="rId8"/>
            </p:custDataLst>
          </p:nvPr>
        </p:nvSpPr>
        <p:spPr>
          <a:xfrm>
            <a:off x="58483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PAPER 2</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custDataLst>
              <p:tags r:id="rId9"/>
            </p:custDataLst>
          </p:nvPr>
        </p:nvSpPr>
        <p:spPr>
          <a:xfrm>
            <a:off x="58483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belief / feedback</a:t>
            </a:r>
            <a:endParaRPr sz="1500" b="1">
              <a:solidFill>
                <a:srgbClr val="1D2433"/>
              </a:solidFill>
              <a:latin typeface="Times New Roman" panose="02020603050405020304"/>
              <a:ea typeface="Times New Roman" panose="02020603050405020304"/>
              <a:cs typeface="Times New Roman" panose="02020603050405020304"/>
            </a:endParaRPr>
          </a:p>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-&gt; action threshold</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custDataLst>
              <p:tags r:id="rId10"/>
            </p:custDataLst>
          </p:nvPr>
        </p:nvSpPr>
        <p:spPr>
          <a:xfrm>
            <a:off x="58483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lang="en-US" sz="1200" b="0">
                <a:solidFill>
                  <a:srgbClr val="5F6775"/>
                </a:solidFill>
                <a:latin typeface="Times New Roman" panose="02020603050405020304"/>
                <a:ea typeface="Times New Roman" panose="02020603050405020304"/>
                <a:cs typeface="Times New Roman" panose="02020603050405020304"/>
              </a:rPr>
              <a:t>How AI error and repeated feedback recalibrate later reliance and action thresholds.</a:t>
            </a:r>
            <a:endParaRPr sz="1200" b="0">
              <a:solidFill>
                <a:srgbClr val="5F6775"/>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custDataLst>
              <p:tags r:id="rId11"/>
            </p:custDataLst>
          </p:nvPr>
        </p:nvSpPr>
        <p:spPr>
          <a:xfrm>
            <a:off x="914400" y="4000500"/>
            <a:ext cx="4076700" cy="1314450"/>
          </a:xfrm>
          <a:prstGeom prst="rect">
            <a:avLst/>
          </a:prstGeom>
          <a:solidFill>
            <a:srgbClr val="FFF9F0"/>
          </a:solidFill>
          <a:ln w="9525">
            <a:solidFill>
              <a:srgbClr val="E9DDCB"/>
            </a:solidFill>
            <a:prstDash val="solid"/>
          </a:ln>
        </p:spPr>
        <p:txBody>
          <a:bodyPr/>
          <a:lstStyle/>
          <a:p/>
        </p:txBody>
      </p:sp>
      <p:sp>
        <p:nvSpPr>
          <p:cNvPr id="22" name="矩形 21"/>
          <p:cNvSpPr>
            <a:spLocks noGrp="1"/>
          </p:cNvSpPr>
          <p:nvPr>
            <p:custDataLst>
              <p:tags r:id="rId12"/>
            </p:custDataLst>
          </p:nvPr>
        </p:nvSpPr>
        <p:spPr>
          <a:xfrm>
            <a:off x="914400" y="4000500"/>
            <a:ext cx="57150" cy="1314450"/>
          </a:xfrm>
          <a:prstGeom prst="rect">
            <a:avLst/>
          </a:prstGeom>
          <a:solidFill>
            <a:srgbClr val="B45A3C"/>
          </a:solidFill>
          <a:ln w="0">
            <a:solidFill>
              <a:srgbClr val="B45A3C"/>
            </a:solidFill>
            <a:prstDash val="solid"/>
          </a:ln>
        </p:spPr>
        <p:txBody>
          <a:bodyPr/>
          <a:lstStyle/>
          <a:p/>
        </p:txBody>
      </p:sp>
      <p:sp>
        <p:nvSpPr>
          <p:cNvPr id="23" name="矩形 22"/>
          <p:cNvSpPr>
            <a:spLocks noGrp="1"/>
          </p:cNvSpPr>
          <p:nvPr>
            <p:custDataLst>
              <p:tags r:id="rId13"/>
            </p:custDataLst>
          </p:nvPr>
        </p:nvSpPr>
        <p:spPr>
          <a:xfrm>
            <a:off x="11239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PAPER 3</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4" name="矩形 23"/>
          <p:cNvSpPr>
            <a:spLocks noGrp="1"/>
          </p:cNvSpPr>
          <p:nvPr>
            <p:custDataLst>
              <p:tags r:id="rId14"/>
            </p:custDataLst>
          </p:nvPr>
        </p:nvSpPr>
        <p:spPr>
          <a:xfrm>
            <a:off x="11239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action -&gt; responsibility</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custDataLst>
              <p:tags r:id="rId15"/>
            </p:custDataLst>
          </p:nvPr>
        </p:nvSpPr>
        <p:spPr>
          <a:xfrm>
            <a:off x="11239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lang="en-US" altLang="zh-CN" sz="1200" b="0">
                <a:solidFill>
                  <a:srgbClr val="5F6775"/>
                </a:solidFill>
                <a:latin typeface="Times New Roman" panose="02020603050405020304"/>
                <a:ea typeface="Times New Roman" panose="02020603050405020304"/>
                <a:cs typeface="Times New Roman" panose="02020603050405020304"/>
              </a:rPr>
              <a:t>How AI decision systems reshape the mechanism of responsibility allocation.</a:t>
            </a:r>
            <a:endParaRPr lang="en-US" altLang="zh-CN" sz="1200" b="0">
              <a:solidFill>
                <a:srgbClr val="5F6775"/>
              </a:solidFill>
              <a:latin typeface="Times New Roman" panose="02020603050405020304"/>
              <a:ea typeface="Times New Roman" panose="02020603050405020304"/>
              <a:cs typeface="Times New Roman" panose="02020603050405020304"/>
            </a:endParaRPr>
          </a:p>
        </p:txBody>
      </p:sp>
      <p:sp>
        <p:nvSpPr>
          <p:cNvPr id="26" name="矩形 25"/>
          <p:cNvSpPr>
            <a:spLocks noGrp="1"/>
          </p:cNvSpPr>
          <p:nvPr>
            <p:custDataLst>
              <p:tags r:id="rId16"/>
            </p:custDataLst>
          </p:nvPr>
        </p:nvSpPr>
        <p:spPr>
          <a:xfrm>
            <a:off x="5638800" y="4000500"/>
            <a:ext cx="4076700" cy="1314450"/>
          </a:xfrm>
          <a:prstGeom prst="rect">
            <a:avLst/>
          </a:prstGeom>
          <a:solidFill>
            <a:srgbClr val="FFF9F0"/>
          </a:solidFill>
          <a:ln w="9525">
            <a:solidFill>
              <a:srgbClr val="E9DDCB"/>
            </a:solidFill>
            <a:prstDash val="solid"/>
          </a:ln>
        </p:spPr>
        <p:txBody>
          <a:bodyPr/>
          <a:lstStyle/>
          <a:p/>
        </p:txBody>
      </p:sp>
      <p:sp>
        <p:nvSpPr>
          <p:cNvPr id="27" name="矩形 26"/>
          <p:cNvSpPr>
            <a:spLocks noGrp="1"/>
          </p:cNvSpPr>
          <p:nvPr>
            <p:custDataLst>
              <p:tags r:id="rId17"/>
            </p:custDataLst>
          </p:nvPr>
        </p:nvSpPr>
        <p:spPr>
          <a:xfrm>
            <a:off x="5638800" y="4000500"/>
            <a:ext cx="57150" cy="1314450"/>
          </a:xfrm>
          <a:prstGeom prst="rect">
            <a:avLst/>
          </a:prstGeom>
          <a:solidFill>
            <a:srgbClr val="B45A3C"/>
          </a:solidFill>
          <a:ln w="0">
            <a:solidFill>
              <a:srgbClr val="B45A3C"/>
            </a:solidFill>
            <a:prstDash val="solid"/>
          </a:ln>
        </p:spPr>
        <p:txBody>
          <a:bodyPr/>
          <a:lstStyle/>
          <a:p/>
        </p:txBody>
      </p:sp>
      <p:sp>
        <p:nvSpPr>
          <p:cNvPr id="28" name="矩形 27"/>
          <p:cNvSpPr>
            <a:spLocks noGrp="1"/>
          </p:cNvSpPr>
          <p:nvPr>
            <p:custDataLst>
              <p:tags r:id="rId18"/>
            </p:custDataLst>
          </p:nvPr>
        </p:nvSpPr>
        <p:spPr>
          <a:xfrm>
            <a:off x="58483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lang="en-US" sz="900" b="1">
                <a:solidFill>
                  <a:srgbClr val="B45A3C"/>
                </a:solidFill>
                <a:latin typeface="Times New Roman" panose="02020603050405020304"/>
                <a:ea typeface="Times New Roman" panose="02020603050405020304"/>
                <a:cs typeface="Times New Roman" panose="02020603050405020304"/>
              </a:rPr>
              <a:t>NEXT</a:t>
            </a:r>
            <a:endParaRPr sz="900" b="1">
              <a:solidFill>
                <a:srgbClr val="B45A3C"/>
              </a:solidFill>
              <a:latin typeface="Times New Roman" panose="02020603050405020304"/>
              <a:ea typeface="Times New Roman" panose="02020603050405020304"/>
              <a:cs typeface="Times New Roman" panose="02020603050405020304"/>
            </a:endParaRPr>
          </a:p>
        </p:txBody>
      </p:sp>
      <p:sp>
        <p:nvSpPr>
          <p:cNvPr id="29" name="矩形 28"/>
          <p:cNvSpPr>
            <a:spLocks noGrp="1"/>
          </p:cNvSpPr>
          <p:nvPr>
            <p:custDataLst>
              <p:tags r:id="rId19"/>
            </p:custDataLst>
          </p:nvPr>
        </p:nvSpPr>
        <p:spPr>
          <a:xfrm>
            <a:off x="58483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lang="en-US" sz="1500" b="1">
                <a:solidFill>
                  <a:srgbClr val="1D2433"/>
                </a:solidFill>
                <a:latin typeface="Times New Roman" panose="02020603050405020304"/>
                <a:ea typeface="Times New Roman" panose="02020603050405020304"/>
                <a:cs typeface="Times New Roman" panose="02020603050405020304"/>
              </a:rPr>
              <a:t>Why begin with Paper 1</a:t>
            </a:r>
            <a:endParaRPr sz="1500" b="1">
              <a:solidFill>
                <a:srgbClr val="1D2433"/>
              </a:solidFill>
              <a:latin typeface="Times New Roman" panose="02020603050405020304"/>
              <a:ea typeface="Times New Roman" panose="02020603050405020304"/>
              <a:cs typeface="Times New Roman" panose="02020603050405020304"/>
            </a:endParaRPr>
          </a:p>
        </p:txBody>
      </p:sp>
      <p:sp>
        <p:nvSpPr>
          <p:cNvPr id="30" name="矩形 29"/>
          <p:cNvSpPr>
            <a:spLocks noGrp="1"/>
          </p:cNvSpPr>
          <p:nvPr>
            <p:custDataLst>
              <p:tags r:id="rId20"/>
            </p:custDataLst>
          </p:nvPr>
        </p:nvSpPr>
        <p:spPr>
          <a:xfrm>
            <a:off x="58483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lang="en-US" sz="1200" b="0">
                <a:solidFill>
                  <a:srgbClr val="5F6775"/>
                </a:solidFill>
                <a:latin typeface="Times New Roman" panose="02020603050405020304"/>
                <a:ea typeface="Times New Roman" panose="02020603050405020304"/>
                <a:cs typeface="Times New Roman" panose="02020603050405020304"/>
              </a:rPr>
              <a:t>I begin with Paper 1 because later reliance and responsibility already depend on a belief base that AI may have reshaped.</a:t>
            </a:r>
            <a:endParaRPr sz="12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a:spLocks noGrp="1"/>
          </p:cNvSpPr>
          <p:nvPr/>
        </p:nvSpPr>
        <p:spPr>
          <a:xfrm>
            <a:off x="0" y="0"/>
            <a:ext cx="12192000" cy="6858000"/>
          </a:xfrm>
          <a:prstGeom prst="rect">
            <a:avLst/>
          </a:prstGeom>
          <a:solidFill>
            <a:srgbClr val="1F2A44"/>
          </a:solidFill>
          <a:ln w="0">
            <a:solidFill>
              <a:srgbClr val="1F2A44"/>
            </a:solidFill>
            <a:prstDash val="solid"/>
          </a:ln>
        </p:spPr>
        <p:txBody>
          <a:bodyPr/>
          <a:lstStyle/>
          <a:p/>
        </p:txBody>
      </p:sp>
      <p:sp>
        <p:nvSpPr>
          <p:cNvPr id="17" name="椭圆 16"/>
          <p:cNvSpPr>
            <a:spLocks noGrp="1"/>
          </p:cNvSpPr>
          <p:nvPr/>
        </p:nvSpPr>
        <p:spPr>
          <a:xfrm>
            <a:off x="8715375" y="-1524000"/>
            <a:ext cx="4191000" cy="4191000"/>
          </a:xfrm>
          <a:prstGeom prst="ellipse">
            <a:avLst/>
          </a:prstGeom>
          <a:solidFill>
            <a:srgbClr val="30384A"/>
          </a:solidFill>
          <a:ln w="0">
            <a:solidFill>
              <a:srgbClr val="30384A"/>
            </a:solidFill>
            <a:prstDash val="solid"/>
          </a:ln>
        </p:spPr>
      </p:sp>
      <p:sp>
        <p:nvSpPr>
          <p:cNvPr id="2" name="椭圆 1"/>
          <p:cNvSpPr>
            <a:spLocks noGrp="1"/>
          </p:cNvSpPr>
          <p:nvPr/>
        </p:nvSpPr>
        <p:spPr>
          <a:xfrm>
            <a:off x="-1047750" y="4476750"/>
            <a:ext cx="2857500" cy="2857500"/>
          </a:xfrm>
          <a:prstGeom prst="ellipse">
            <a:avLst/>
          </a:prstGeom>
          <a:solidFill>
            <a:srgbClr val="2B3241"/>
          </a:solidFill>
          <a:ln w="0">
            <a:solidFill>
              <a:srgbClr val="2B3241"/>
            </a:solidFill>
            <a:prstDash val="solid"/>
          </a:ln>
        </p:spPr>
      </p:sp>
      <p:sp>
        <p:nvSpPr>
          <p:cNvPr id="3" name="矩形 2"/>
          <p:cNvSpPr>
            <a:spLocks noGrp="1"/>
          </p:cNvSpPr>
          <p:nvPr/>
        </p:nvSpPr>
        <p:spPr>
          <a:xfrm>
            <a:off x="819150" y="819150"/>
            <a:ext cx="228600" cy="228600"/>
          </a:xfrm>
          <a:prstGeom prst="rect">
            <a:avLst/>
          </a:prstGeom>
          <a:solidFill>
            <a:srgbClr val="B45A3C"/>
          </a:solidFill>
          <a:ln w="0">
            <a:solidFill>
              <a:srgbClr val="B45A3C"/>
            </a:solidFill>
            <a:prstDash val="solid"/>
          </a:ln>
        </p:spPr>
      </p:sp>
      <p:sp>
        <p:nvSpPr>
          <p:cNvPr id="4" name="矩形 3"/>
          <p:cNvSpPr>
            <a:spLocks noGrp="1"/>
          </p:cNvSpPr>
          <p:nvPr/>
        </p:nvSpPr>
        <p:spPr>
          <a:xfrm>
            <a:off x="800100" y="5962650"/>
            <a:ext cx="10591800" cy="9525"/>
          </a:xfrm>
          <a:prstGeom prst="rect">
            <a:avLst/>
          </a:prstGeom>
          <a:solidFill>
            <a:srgbClr val="465067"/>
          </a:solidFill>
          <a:ln w="0">
            <a:solidFill>
              <a:srgbClr val="465067"/>
            </a:solidFill>
            <a:prstDash val="solid"/>
          </a:ln>
        </p:spPr>
      </p:sp>
      <p:sp>
        <p:nvSpPr>
          <p:cNvPr id="5" name="矩形 4"/>
          <p:cNvSpPr>
            <a:spLocks noGrp="1"/>
          </p:cNvSpPr>
          <p:nvPr/>
        </p:nvSpPr>
        <p:spPr>
          <a:xfrm>
            <a:off x="1219200" y="781050"/>
            <a:ext cx="2476500" cy="228600"/>
          </a:xfrm>
          <a:prstGeom prst="rect">
            <a:avLst/>
          </a:prstGeom>
          <a:noFill/>
          <a:ln w="0">
            <a:noFill/>
            <a:prstDash val="solid"/>
          </a:ln>
        </p:spPr>
        <p:txBody>
          <a:bodyPr/>
          <a:lstStyle/>
          <a:p>
            <a:pPr algn="l">
              <a:buNone/>
              <a:defRPr sz="1125" b="1" i="0">
                <a:solidFill>
                  <a:srgbClr val="D7A792"/>
                </a:solidFill>
                <a:latin typeface="Times New Roman" panose="02020603050405020304"/>
                <a:ea typeface="Times New Roman" panose="02020603050405020304"/>
                <a:cs typeface="Times New Roman" panose="02020603050405020304"/>
              </a:defRPr>
            </a:pPr>
            <a:r>
              <a:rPr sz="1125" b="1" i="0">
                <a:solidFill>
                  <a:srgbClr val="D7A792"/>
                </a:solidFill>
                <a:latin typeface="Times New Roman" panose="02020603050405020304" pitchFamily="18" charset="0"/>
                <a:ea typeface="Times New Roman" panose="02020603050405020304"/>
                <a:cs typeface="Times New Roman" panose="02020603050405020304"/>
              </a:rPr>
              <a:t>PAPER 1</a:t>
            </a:r>
            <a:endParaRPr sz="1125" b="1" i="0">
              <a:solidFill>
                <a:srgbClr val="D7A792"/>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1219200" y="1371600"/>
            <a:ext cx="9334500" cy="723900"/>
          </a:xfrm>
          <a:prstGeom prst="rect">
            <a:avLst/>
          </a:prstGeom>
          <a:noFill/>
          <a:ln w="0">
            <a:noFill/>
            <a:prstDash val="solid"/>
          </a:ln>
        </p:spPr>
        <p:txBody>
          <a:bodyPr/>
          <a:lstStyle/>
          <a:p>
            <a:pPr algn="l">
              <a:buNone/>
              <a:defRPr sz="3000" b="1" i="0">
                <a:solidFill>
                  <a:srgbClr val="F8F2E9"/>
                </a:solidFill>
                <a:latin typeface="Times New Roman" panose="02020603050405020304"/>
                <a:ea typeface="Times New Roman" panose="02020603050405020304"/>
                <a:cs typeface="Times New Roman" panose="02020603050405020304"/>
              </a:defRPr>
            </a:pPr>
            <a:r>
              <a:rPr sz="3000" b="1" i="0">
                <a:solidFill>
                  <a:srgbClr val="F8F2E9"/>
                </a:solidFill>
                <a:latin typeface="Times New Roman" panose="02020603050405020304" pitchFamily="18" charset="0"/>
                <a:ea typeface="Times New Roman" panose="02020603050405020304"/>
                <a:cs typeface="Times New Roman" panose="02020603050405020304"/>
              </a:rPr>
              <a:t>Algorithmic Authority and Information Calibration</a:t>
            </a:r>
            <a:endParaRPr sz="3000" b="1" i="0">
              <a:solidFill>
                <a:srgbClr val="F8F2E9"/>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1219200" y="2190750"/>
            <a:ext cx="8191500" cy="533400"/>
          </a:xfrm>
          <a:prstGeom prst="rect">
            <a:avLst/>
          </a:prstGeom>
          <a:noFill/>
          <a:ln w="0">
            <a:noFill/>
            <a:prstDash val="solid"/>
          </a:ln>
        </p:spPr>
        <p:txBody>
          <a:bodyPr/>
          <a:lstStyle/>
          <a:p>
            <a:pPr algn="l">
              <a:buNone/>
              <a:defRPr sz="1650" b="0" i="0">
                <a:solidFill>
                  <a:srgbClr val="D8DCE6"/>
                </a:solidFill>
                <a:latin typeface="Times New Roman" panose="02020603050405020304"/>
                <a:ea typeface="Times New Roman" panose="02020603050405020304"/>
                <a:cs typeface="Times New Roman" panose="02020603050405020304"/>
              </a:defRPr>
            </a:pPr>
            <a:r>
              <a:rPr sz="1650" b="0" i="0">
                <a:solidFill>
                  <a:srgbClr val="D8DCE6"/>
                </a:solidFill>
                <a:latin typeface="Times New Roman" panose="02020603050405020304" pitchFamily="18" charset="0"/>
                <a:ea typeface="Times New Roman" panose="02020603050405020304"/>
                <a:cs typeface="Times New Roman" panose="02020603050405020304"/>
              </a:rPr>
              <a:t>How generative AI changes additional search and belief updating under uncertainty</a:t>
            </a:r>
            <a:endParaRPr sz="1650" b="0" i="0">
              <a:solidFill>
                <a:srgbClr val="D8DCE6"/>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1219200" y="3390900"/>
            <a:ext cx="4038600" cy="1371600"/>
          </a:xfrm>
          <a:prstGeom prst="roundRect">
            <a:avLst>
              <a:gd name="adj" fmla="val 5556"/>
            </a:avLst>
          </a:prstGeom>
          <a:solidFill>
            <a:srgbClr val="2E3648"/>
          </a:solidFill>
          <a:ln w="9525">
            <a:solidFill>
              <a:srgbClr val="E8DCCB"/>
            </a:solidFill>
            <a:prstDash val="solid"/>
          </a:ln>
        </p:spPr>
      </p:sp>
      <p:sp>
        <p:nvSpPr>
          <p:cNvPr id="9" name="矩形 8"/>
          <p:cNvSpPr>
            <a:spLocks noGrp="1"/>
          </p:cNvSpPr>
          <p:nvPr/>
        </p:nvSpPr>
        <p:spPr>
          <a:xfrm>
            <a:off x="1219200" y="3390900"/>
            <a:ext cx="57150" cy="1371600"/>
          </a:xfrm>
          <a:prstGeom prst="rect">
            <a:avLst/>
          </a:prstGeom>
          <a:solidFill>
            <a:srgbClr val="B45A3C"/>
          </a:solidFill>
          <a:ln w="0">
            <a:solidFill>
              <a:srgbClr val="B45A3C"/>
            </a:solidFill>
            <a:prstDash val="solid"/>
          </a:ln>
        </p:spPr>
      </p:sp>
      <p:sp>
        <p:nvSpPr>
          <p:cNvPr id="10" name="矩形 9"/>
          <p:cNvSpPr>
            <a:spLocks noGrp="1"/>
          </p:cNvSpPr>
          <p:nvPr/>
        </p:nvSpPr>
        <p:spPr>
          <a:xfrm>
            <a:off x="1390650" y="3505200"/>
            <a:ext cx="37528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Problem shift</a:t>
            </a:r>
            <a:endParaRPr sz="1650" b="1" i="0">
              <a:solidFill>
                <a:srgbClr val="F8F2E9"/>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390650" y="3848100"/>
            <a:ext cx="37528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The question is not only what answer AI gives. The question is whether AI changes when people feel ready to stop looking for more evidence.</a:t>
            </a:r>
            <a:endParaRPr sz="1275" b="0" i="0">
              <a:solidFill>
                <a:srgbClr val="D8DCE6"/>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5543550" y="3390900"/>
            <a:ext cx="5486400" cy="1371600"/>
          </a:xfrm>
          <a:prstGeom prst="roundRect">
            <a:avLst>
              <a:gd name="adj" fmla="val 5556"/>
            </a:avLst>
          </a:prstGeom>
          <a:solidFill>
            <a:srgbClr val="2E3648"/>
          </a:solidFill>
          <a:ln w="9525">
            <a:solidFill>
              <a:srgbClr val="E8DCCB"/>
            </a:solidFill>
            <a:prstDash val="solid"/>
          </a:ln>
        </p:spPr>
      </p:sp>
      <p:sp>
        <p:nvSpPr>
          <p:cNvPr id="13" name="矩形 12"/>
          <p:cNvSpPr>
            <a:spLocks noGrp="1"/>
          </p:cNvSpPr>
          <p:nvPr/>
        </p:nvSpPr>
        <p:spPr>
          <a:xfrm>
            <a:off x="5543550" y="3390900"/>
            <a:ext cx="57150" cy="1371600"/>
          </a:xfrm>
          <a:prstGeom prst="rect">
            <a:avLst/>
          </a:prstGeom>
          <a:solidFill>
            <a:srgbClr val="C89B4A"/>
          </a:solidFill>
          <a:ln w="0">
            <a:solidFill>
              <a:srgbClr val="C89B4A"/>
            </a:solidFill>
            <a:prstDash val="solid"/>
          </a:ln>
        </p:spPr>
      </p:sp>
      <p:sp>
        <p:nvSpPr>
          <p:cNvPr id="14" name="矩形 13"/>
          <p:cNvSpPr>
            <a:spLocks noGrp="1"/>
          </p:cNvSpPr>
          <p:nvPr/>
        </p:nvSpPr>
        <p:spPr>
          <a:xfrm>
            <a:off x="5715000" y="3505200"/>
            <a:ext cx="52006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Dissertation position</a:t>
            </a:r>
            <a:endParaRPr sz="1650" b="1" i="0">
              <a:solidFill>
                <a:srgbClr val="F8F2E9"/>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5715000" y="3848100"/>
            <a:ext cx="52006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Paper 1 studies the first link in the broader chain: how AI reshapes the move from evidence to belief.</a:t>
            </a:r>
            <a:endParaRPr sz="1275" b="0" i="0">
              <a:solidFill>
                <a:srgbClr val="D8DCE6"/>
              </a:solidFill>
              <a:latin typeface="Times New Roman" panose="02020603050405020304" pitchFamily="18" charset="0"/>
              <a:ea typeface="Times New Roman" panose="02020603050405020304"/>
              <a:cs typeface="Times New Roman" panose="02020603050405020304"/>
            </a:endParaRPr>
          </a:p>
        </p:txBody>
      </p:sp>
      <p:sp>
        <p:nvSpPr>
          <p:cNvPr id="16" name="矩形 15"/>
          <p:cNvSpPr>
            <a:spLocks noGrp="1"/>
          </p:cNvSpPr>
          <p:nvPr/>
        </p:nvSpPr>
        <p:spPr>
          <a:xfrm>
            <a:off x="1257300" y="6153150"/>
            <a:ext cx="9334500" cy="171450"/>
          </a:xfrm>
          <a:prstGeom prst="rect">
            <a:avLst/>
          </a:prstGeom>
          <a:noFill/>
          <a:ln w="0">
            <a:noFill/>
            <a:prstDash val="solid"/>
          </a:ln>
        </p:spPr>
        <p:txBody>
          <a:bodyPr/>
          <a:lstStyle/>
          <a:p>
            <a:pPr algn="l">
              <a:buNone/>
              <a:defRPr sz="1125" b="0" i="1">
                <a:solidFill>
                  <a:srgbClr val="D8DCE6"/>
                </a:solidFill>
                <a:latin typeface="Times New Roman" panose="02020603050405020304"/>
                <a:ea typeface="Times New Roman" panose="02020603050405020304"/>
                <a:cs typeface="Times New Roman" panose="02020603050405020304"/>
              </a:defRPr>
            </a:pPr>
            <a:r>
              <a:rPr sz="1125" b="0" i="1">
                <a:solidFill>
                  <a:srgbClr val="D8DCE6"/>
                </a:solidFill>
                <a:latin typeface="Times New Roman" panose="02020603050405020304" pitchFamily="18" charset="0"/>
                <a:ea typeface="Times New Roman" panose="02020603050405020304"/>
                <a:cs typeface="Times New Roman" panose="02020603050405020304"/>
              </a:rPr>
              <a:t>Belief formation -&gt; reliance calibration -&gt; responsibility</a:t>
            </a:r>
            <a:endParaRPr sz="1125" b="0" i="1">
              <a:solidFill>
                <a:srgbClr val="D8DCE6"/>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椭圆 16"/>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18" name="矩形 17"/>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CONCRETE EXAMPLE</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10287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Search engines ask for evidence first, but AI assistants answer first</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basic reversal is not only about speed. It changes the user's sense of whether more search is still worth doing.</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190750"/>
            <a:ext cx="4762500" cy="3048000"/>
          </a:xfrm>
          <a:prstGeom prst="roundRect">
            <a:avLst>
              <a:gd name="adj" fmla="val 2500"/>
            </a:avLst>
          </a:prstGeom>
          <a:solidFill>
            <a:srgbClr val="FFF9F0"/>
          </a:solidFill>
          <a:ln w="9525">
            <a:solidFill>
              <a:srgbClr val="E8DCCB"/>
            </a:solidFill>
            <a:prstDash val="solid"/>
          </a:ln>
        </p:spPr>
      </p:sp>
      <p:sp>
        <p:nvSpPr>
          <p:cNvPr id="9" name="矩形 8"/>
          <p:cNvSpPr>
            <a:spLocks noGrp="1"/>
          </p:cNvSpPr>
          <p:nvPr/>
        </p:nvSpPr>
        <p:spPr>
          <a:xfrm>
            <a:off x="914400" y="2190750"/>
            <a:ext cx="57150" cy="3048000"/>
          </a:xfrm>
          <a:prstGeom prst="rect">
            <a:avLst/>
          </a:prstGeom>
          <a:solidFill>
            <a:srgbClr val="78836A"/>
          </a:solidFill>
          <a:ln w="0">
            <a:solidFill>
              <a:srgbClr val="78836A"/>
            </a:solidFill>
            <a:prstDash val="solid"/>
          </a:ln>
        </p:spPr>
      </p:sp>
      <p:sp>
        <p:nvSpPr>
          <p:cNvPr id="10" name="矩形 9"/>
          <p:cNvSpPr>
            <a:spLocks noGrp="1"/>
          </p:cNvSpPr>
          <p:nvPr/>
        </p:nvSpPr>
        <p:spPr>
          <a:xfrm>
            <a:off x="1085850" y="2305050"/>
            <a:ext cx="44767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Search engine logic</a:t>
            </a:r>
            <a:endParaRPr sz="21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647950"/>
            <a:ext cx="4476750" cy="247650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1</a:t>
            </a:r>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2</a:t>
            </a:r>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3</a:t>
            </a:r>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4</a:t>
            </a:r>
            <a:endParaRPr sz="1425" b="0" i="0">
              <a:solidFill>
                <a:srgbClr val="5E6675"/>
              </a:solidFill>
              <a:latin typeface="Times New Roman" panose="02020603050405020304" pitchFamily="18" charset="0"/>
              <a:ea typeface="Times New Roman" panose="02020603050405020304"/>
              <a:cs typeface="Times New Roman" panose="02020603050405020304"/>
            </a:endParaRP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user opens links, compares sources, notices conflict, and then forms a judgment.</a:t>
            </a:r>
            <a:endParaRPr sz="1425" b="0" i="0">
              <a:solidFill>
                <a:srgbClr val="5E6675"/>
              </a:solidFill>
              <a:latin typeface="Times New Roman" panose="02020603050405020304" pitchFamily="18" charset="0"/>
              <a:ea typeface="Times New Roman" panose="02020603050405020304"/>
              <a:cs typeface="Times New Roman" panose="02020603050405020304"/>
            </a:endParaRP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Evidence first -&gt; interpretation later</a:t>
            </a:r>
            <a:endParaRPr sz="14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77000" y="2190750"/>
            <a:ext cx="4724400" cy="3048000"/>
          </a:xfrm>
          <a:prstGeom prst="roundRect">
            <a:avLst>
              <a:gd name="adj" fmla="val 2500"/>
            </a:avLst>
          </a:prstGeom>
          <a:solidFill>
            <a:srgbClr val="FFF9F0"/>
          </a:solidFill>
          <a:ln w="9525">
            <a:solidFill>
              <a:srgbClr val="E8DCCB"/>
            </a:solidFill>
            <a:prstDash val="solid"/>
          </a:ln>
        </p:spPr>
      </p:sp>
      <p:sp>
        <p:nvSpPr>
          <p:cNvPr id="13" name="矩形 12"/>
          <p:cNvSpPr>
            <a:spLocks noGrp="1"/>
          </p:cNvSpPr>
          <p:nvPr/>
        </p:nvSpPr>
        <p:spPr>
          <a:xfrm>
            <a:off x="6477000" y="2190750"/>
            <a:ext cx="57150" cy="304800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05050"/>
            <a:ext cx="44386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AI assistant logic</a:t>
            </a:r>
            <a:endParaRPr sz="21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48450" y="2647950"/>
            <a:ext cx="4438650" cy="24765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summarized definition</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coherent explanation</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worked example</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ready-made conclusion</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user first receives an interpreted answer and only later decides whether to verify it.</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Interpreted answer first -&gt; optional verification later</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15"/>
          <p:cNvSpPr>
            <a:spLocks noGrp="1"/>
          </p:cNvSpPr>
          <p:nvPr/>
        </p:nvSpPr>
        <p:spPr>
          <a:xfrm>
            <a:off x="1200150" y="5638800"/>
            <a:ext cx="9791700" cy="247650"/>
          </a:xfrm>
          <a:prstGeom prst="rect">
            <a:avLst/>
          </a:prstGeom>
          <a:noFill/>
          <a:ln w="0">
            <a:noFill/>
            <a:prstDash val="solid"/>
          </a:ln>
        </p:spPr>
        <p:txBody>
          <a:bodyPr/>
          <a:lstStyle/>
          <a:p>
            <a:pPr algn="ctr">
              <a:buNone/>
              <a:defRPr sz="1425" b="0" i="1">
                <a:solidFill>
                  <a:srgbClr val="5E6675"/>
                </a:solidFill>
                <a:latin typeface="Times New Roman" panose="02020603050405020304"/>
                <a:ea typeface="Times New Roman" panose="02020603050405020304"/>
                <a:cs typeface="Times New Roman" panose="02020603050405020304"/>
              </a:defRPr>
            </a:pPr>
            <a:r>
              <a:rPr sz="1425" b="0" i="1">
                <a:solidFill>
                  <a:srgbClr val="5E6675"/>
                </a:solidFill>
                <a:latin typeface="Times New Roman" panose="02020603050405020304" pitchFamily="18" charset="0"/>
                <a:ea typeface="Times New Roman" panose="02020603050405020304"/>
                <a:cs typeface="Times New Roman" panose="02020603050405020304"/>
              </a:rPr>
              <a:t>The reversal matters because the user may now judge the value of additional evidence through the AI's summary rather than through raw search alone.</a:t>
            </a:r>
            <a:endParaRPr sz="1425" b="0" i="1">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1" name="椭圆 2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CORE PROBLEM</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144000" cy="704850"/>
          </a:xfrm>
          <a:prstGeom prst="rect">
            <a:avLst/>
          </a:prstGeom>
          <a:noFill/>
          <a:ln w="0">
            <a:noFill/>
            <a:prstDash val="solid"/>
          </a:ln>
        </p:spPr>
        <p:txBody>
          <a:bodyPr/>
          <a:lstStyle/>
          <a:p>
            <a:pPr algn="l">
              <a:buNone/>
              <a:defRPr sz="2625" b="1" i="0">
                <a:solidFill>
                  <a:srgbClr val="1E2433"/>
                </a:solidFill>
                <a:latin typeface="Times New Roman" panose="02020603050405020304"/>
                <a:ea typeface="Times New Roman" panose="02020603050405020304"/>
                <a:cs typeface="Times New Roman" panose="02020603050405020304"/>
              </a:defRPr>
            </a:pPr>
            <a:r>
              <a:rPr sz="2625" b="1" i="0">
                <a:solidFill>
                  <a:srgbClr val="1E2433"/>
                </a:solidFill>
                <a:latin typeface="Times New Roman" panose="02020603050405020304" pitchFamily="18" charset="0"/>
                <a:ea typeface="Times New Roman" panose="02020603050405020304"/>
                <a:cs typeface="Times New Roman" panose="02020603050405020304"/>
              </a:rPr>
              <a:t>Less search can mean efficiency or harmful under-search</a:t>
            </a:r>
            <a:endParaRPr sz="26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key is not whether search declines. The key is whether judgment quality declines once search declines.</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1485900" y="2362200"/>
            <a:ext cx="4000500" cy="2362200"/>
          </a:xfrm>
          <a:prstGeom prst="roundRect">
            <a:avLst>
              <a:gd name="adj" fmla="val 3226"/>
            </a:avLst>
          </a:prstGeom>
          <a:solidFill>
            <a:srgbClr val="FFF9F0"/>
          </a:solidFill>
          <a:ln w="9525">
            <a:solidFill>
              <a:srgbClr val="E8DCCB"/>
            </a:solidFill>
            <a:prstDash val="solid"/>
          </a:ln>
        </p:spPr>
      </p:sp>
      <p:sp>
        <p:nvSpPr>
          <p:cNvPr id="9" name="矩形 8"/>
          <p:cNvSpPr>
            <a:spLocks noGrp="1"/>
          </p:cNvSpPr>
          <p:nvPr/>
        </p:nvSpPr>
        <p:spPr>
          <a:xfrm>
            <a:off x="1485900" y="2362200"/>
            <a:ext cx="57150" cy="2362200"/>
          </a:xfrm>
          <a:prstGeom prst="rect">
            <a:avLst/>
          </a:prstGeom>
          <a:solidFill>
            <a:srgbClr val="78836A"/>
          </a:solidFill>
          <a:ln w="0">
            <a:solidFill>
              <a:srgbClr val="78836A"/>
            </a:solidFill>
            <a:prstDash val="solid"/>
          </a:ln>
        </p:spPr>
      </p:sp>
      <p:sp>
        <p:nvSpPr>
          <p:cNvPr id="10" name="矩形 9"/>
          <p:cNvSpPr>
            <a:spLocks noGrp="1"/>
          </p:cNvSpPr>
          <p:nvPr/>
        </p:nvSpPr>
        <p:spPr>
          <a:xfrm>
            <a:off x="16573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Efficient compression</a:t>
            </a:r>
            <a:endParaRPr sz="19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6573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 summary has already compressed informative evidence.</a:t>
            </a:r>
            <a:endParaRPr sz="1575" b="0" i="0">
              <a:solidFill>
                <a:srgbClr val="5E6675"/>
              </a:solidFill>
              <a:latin typeface="Times New Roman" panose="02020603050405020304" pitchFamily="18" charset="0"/>
              <a:ea typeface="Times New Roman" panose="02020603050405020304"/>
              <a:cs typeface="Times New Roman" panose="02020603050405020304"/>
            </a:endParaRP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posterior quality does not deteriorate.</a:t>
            </a:r>
            <a:endParaRPr sz="15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705600" y="2362200"/>
            <a:ext cx="4000500" cy="2362200"/>
          </a:xfrm>
          <a:prstGeom prst="roundRect">
            <a:avLst>
              <a:gd name="adj" fmla="val 3226"/>
            </a:avLst>
          </a:prstGeom>
          <a:solidFill>
            <a:srgbClr val="FFF9F0"/>
          </a:solidFill>
          <a:ln w="9525">
            <a:solidFill>
              <a:srgbClr val="E8DCCB"/>
            </a:solidFill>
            <a:prstDash val="solid"/>
          </a:ln>
        </p:spPr>
      </p:sp>
      <p:sp>
        <p:nvSpPr>
          <p:cNvPr id="13" name="矩形 12"/>
          <p:cNvSpPr>
            <a:spLocks noGrp="1"/>
          </p:cNvSpPr>
          <p:nvPr/>
        </p:nvSpPr>
        <p:spPr>
          <a:xfrm>
            <a:off x="6705600" y="2362200"/>
            <a:ext cx="57150" cy="2362200"/>
          </a:xfrm>
          <a:prstGeom prst="rect">
            <a:avLst/>
          </a:prstGeom>
          <a:solidFill>
            <a:srgbClr val="B45A3C"/>
          </a:solidFill>
          <a:ln w="0">
            <a:solidFill>
              <a:srgbClr val="B45A3C"/>
            </a:solidFill>
            <a:prstDash val="solid"/>
          </a:ln>
        </p:spPr>
      </p:sp>
      <p:sp>
        <p:nvSpPr>
          <p:cNvPr id="14" name="矩形 13"/>
          <p:cNvSpPr>
            <a:spLocks noGrp="1"/>
          </p:cNvSpPr>
          <p:nvPr/>
        </p:nvSpPr>
        <p:spPr>
          <a:xfrm>
            <a:off x="68770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Harmful under-search</a:t>
            </a:r>
            <a:endParaRPr sz="19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8770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they overestimate how complete the summary already is.</a:t>
            </a:r>
            <a:endParaRPr sz="1575" b="0" i="0">
              <a:solidFill>
                <a:srgbClr val="5E6675"/>
              </a:solidFill>
              <a:latin typeface="Times New Roman" panose="02020603050405020304" pitchFamily="18" charset="0"/>
              <a:ea typeface="Times New Roman" panose="02020603050405020304"/>
              <a:cs typeface="Times New Roman" panose="02020603050405020304"/>
            </a:endParaRP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judgment moves further away from the full-information benchmark.</a:t>
            </a:r>
            <a:endParaRPr sz="15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15"/>
          <p:cNvSpPr>
            <a:spLocks noGrp="1"/>
          </p:cNvSpPr>
          <p:nvPr/>
        </p:nvSpPr>
        <p:spPr>
          <a:xfrm>
            <a:off x="5734050" y="3333750"/>
            <a:ext cx="762000" cy="247650"/>
          </a:xfrm>
          <a:prstGeom prst="rect">
            <a:avLst/>
          </a:prstGeom>
          <a:noFill/>
          <a:ln w="0">
            <a:noFill/>
            <a:prstDash val="solid"/>
          </a:ln>
        </p:spPr>
        <p:txBody>
          <a:bodyPr/>
          <a:lstStyle/>
          <a:p>
            <a:pPr algn="ctr">
              <a:buNone/>
              <a:defRPr sz="1800" b="1" i="0">
                <a:solidFill>
                  <a:srgbClr val="C89B4A"/>
                </a:solidFill>
                <a:latin typeface="Times New Roman" panose="02020603050405020304"/>
                <a:ea typeface="Times New Roman" panose="02020603050405020304"/>
                <a:cs typeface="Times New Roman" panose="02020603050405020304"/>
              </a:defRPr>
            </a:pPr>
            <a:r>
              <a:rPr sz="1800" b="1" i="0">
                <a:solidFill>
                  <a:srgbClr val="C89B4A"/>
                </a:solidFill>
                <a:latin typeface="Times New Roman" panose="02020603050405020304" pitchFamily="18" charset="0"/>
                <a:ea typeface="Times New Roman" panose="02020603050405020304"/>
                <a:cs typeface="Times New Roman" panose="02020603050405020304"/>
              </a:rPr>
              <a:t>vs</a:t>
            </a:r>
            <a:endParaRPr sz="1800" b="1" i="0">
              <a:solidFill>
                <a:srgbClr val="C89B4A"/>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1885950" y="5334000"/>
            <a:ext cx="8477250" cy="285750"/>
          </a:xfrm>
          <a:prstGeom prst="rect">
            <a:avLst/>
          </a:prstGeom>
          <a:noFill/>
          <a:ln w="0">
            <a:noFill/>
            <a:prstDash val="solid"/>
          </a:ln>
        </p:spPr>
        <p:txBody>
          <a:bodyPr/>
          <a:lstStyle/>
          <a:p>
            <a:pPr algn="l">
              <a:buNone/>
              <a:defRPr sz="1575" b="1" i="0">
                <a:solidFill>
                  <a:srgbClr val="1E2433"/>
                </a:solidFill>
                <a:latin typeface="Times New Roman" panose="02020603050405020304"/>
                <a:ea typeface="Times New Roman" panose="02020603050405020304"/>
                <a:cs typeface="Times New Roman" panose="02020603050405020304"/>
              </a:defRPr>
            </a:pPr>
            <a:endParaRPr sz="1575" b="1" i="0">
              <a:solidFill>
                <a:srgbClr val="1E2433"/>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9" name="椭圆 8"/>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EXISTING WORK</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10096500" cy="704850"/>
          </a:xfrm>
          <a:prstGeom prst="rect">
            <a:avLst/>
          </a:prstGeom>
          <a:noFill/>
          <a:ln w="0">
            <a:noFill/>
            <a:prstDash val="solid"/>
          </a:ln>
        </p:spPr>
        <p:txBody>
          <a:bodyPr/>
          <a:lstStyle/>
          <a:p>
            <a:pPr algn="l">
              <a:buNone/>
              <a:defRPr sz="2250" b="1" i="0">
                <a:solidFill>
                  <a:srgbClr val="1E2433"/>
                </a:solidFill>
                <a:latin typeface="Times New Roman" panose="02020603050405020304"/>
                <a:ea typeface="Times New Roman" panose="02020603050405020304"/>
                <a:cs typeface="Times New Roman" panose="02020603050405020304"/>
              </a:defRPr>
            </a:pPr>
            <a:r>
              <a:rPr sz="2250" b="1" i="0">
                <a:solidFill>
                  <a:srgbClr val="1E2433"/>
                </a:solidFill>
                <a:latin typeface="Times New Roman" panose="02020603050405020304" pitchFamily="18" charset="0"/>
                <a:ea typeface="Times New Roman" panose="02020603050405020304"/>
                <a:cs typeface="Times New Roman" panose="02020603050405020304"/>
              </a:rPr>
              <a:t>The literature gives us reduced search and automation bias, but not a direct account of information calibration</a:t>
            </a:r>
            <a:endParaRPr sz="22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This literature map shows the closest targets and clarifies why the paper must distinguish search behavior from evidentiary sufficiency and posterior quality.</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152650"/>
            <a:ext cx="10287000" cy="4171950"/>
          </a:xfrm>
          <a:prstGeom prst="roundRect">
            <a:avLst>
              <a:gd name="adj" fmla="val 2740"/>
            </a:avLst>
          </a:prstGeom>
          <a:solidFill>
            <a:srgbClr val="FFFDFC"/>
          </a:solidFill>
          <a:ln w="9525">
            <a:solidFill>
              <a:srgbClr val="E8DCCB"/>
            </a:solidFill>
            <a:prstDash val="solid"/>
          </a:ln>
        </p:spPr>
      </p:sp>
      <p:pic>
        <p:nvPicPr>
          <p:cNvPr id="18" name="图片 17"/>
          <p:cNvPicPr>
            <a:picLocks noChangeAspect="1"/>
          </p:cNvPicPr>
          <p:nvPr/>
        </p:nvPicPr>
        <p:blipFill>
          <a:blip r:embed="rId1"/>
          <a:stretch>
            <a:fillRect/>
          </a:stretch>
        </p:blipFill>
        <p:spPr>
          <a:xfrm>
            <a:off x="1445462" y="2286000"/>
            <a:ext cx="9224876" cy="39052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5" name="椭圆 24"/>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CORE QUESTION</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10096500" cy="9525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Core question: How do generative AI answers change users' stopping thresholds, Bayesian posterior quality, and subjective information mastery?</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962150"/>
            <a:ext cx="10096500" cy="51435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does not treat reduced raw-evidence viewing as search laziness. It reevaluates that behavior inside a Bayesian belief-updating framework.</a:t>
            </a:r>
            <a:endParaRPr sz="1350">
              <a:solidFill>
                <a:srgbClr val="667085"/>
              </a:solidFill>
              <a:latin typeface="Times New Roman" panose="02020603050405020304" pitchFamily="18" charset="0"/>
            </a:endParaRPr>
          </a:p>
        </p:txBody>
      </p:sp>
      <p:sp>
        <p:nvSpPr>
          <p:cNvPr id="8" name="矩形: 圆角 7"/>
          <p:cNvSpPr>
            <a:spLocks noGrp="1"/>
          </p:cNvSpPr>
          <p:nvPr/>
        </p:nvSpPr>
        <p:spPr>
          <a:xfrm>
            <a:off x="914400" y="2571750"/>
            <a:ext cx="3810000" cy="2381250"/>
          </a:xfrm>
          <a:prstGeom prst="roundRect">
            <a:avLst>
              <a:gd name="adj" fmla="val 4800"/>
            </a:avLst>
          </a:prstGeom>
          <a:solidFill>
            <a:srgbClr val="FEFCF8"/>
          </a:solidFill>
          <a:ln w="9525">
            <a:solidFill>
              <a:srgbClr val="F0E2D1"/>
            </a:solidFill>
            <a:prstDash val="solid"/>
          </a:ln>
        </p:spPr>
      </p:sp>
      <p:sp>
        <p:nvSpPr>
          <p:cNvPr id="9" name="矩形 8"/>
          <p:cNvSpPr>
            <a:spLocks noGrp="1"/>
          </p:cNvSpPr>
          <p:nvPr/>
        </p:nvSpPr>
        <p:spPr>
          <a:xfrm>
            <a:off x="914400" y="2571750"/>
            <a:ext cx="57150" cy="23812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743200"/>
            <a:ext cx="33528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Framing</a:t>
            </a:r>
            <a:endParaRPr sz="1650" b="1">
              <a:solidFill>
                <a:srgbClr val="232B3A"/>
              </a:solidFill>
              <a:latin typeface="Times New Roman" panose="02020603050405020304" pitchFamily="18" charset="0"/>
            </a:endParaRPr>
          </a:p>
        </p:txBody>
      </p:sp>
      <p:sp>
        <p:nvSpPr>
          <p:cNvPr id="11" name="矩形 10"/>
          <p:cNvSpPr>
            <a:spLocks noGrp="1"/>
          </p:cNvSpPr>
          <p:nvPr/>
        </p:nvSpPr>
        <p:spPr>
          <a:xfrm>
            <a:off x="1181100" y="3124200"/>
            <a:ext cx="3352800" cy="16764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 Reduced raw-evidence viewing is not assumed to be lazy by default.</a:t>
            </a:r>
            <a:endParaRPr sz="1275">
              <a:solidFill>
                <a:srgbClr val="667085"/>
              </a:solidFill>
              <a:latin typeface="Times New Roman" panose="02020603050405020304" pitchFamily="18" charset="0"/>
            </a:endParaRP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The key question is whether AI changes how sufficient the current evidence feels.</a:t>
            </a:r>
            <a:endParaRPr sz="1275">
              <a:solidFill>
                <a:srgbClr val="667085"/>
              </a:solidFill>
              <a:latin typeface="Times New Roman" panose="02020603050405020304" pitchFamily="18" charset="0"/>
            </a:endParaRP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Information calibration asks whether perceived sufficiency stays aligned with the real value of further evidence.</a:t>
            </a:r>
            <a:endParaRPr sz="1275">
              <a:solidFill>
                <a:srgbClr val="667085"/>
              </a:solidFill>
              <a:latin typeface="Times New Roman" panose="02020603050405020304" pitchFamily="18" charset="0"/>
            </a:endParaRPr>
          </a:p>
        </p:txBody>
      </p:sp>
      <p:sp>
        <p:nvSpPr>
          <p:cNvPr id="12" name="矩形: 圆角 11"/>
          <p:cNvSpPr>
            <a:spLocks noGrp="1"/>
          </p:cNvSpPr>
          <p:nvPr/>
        </p:nvSpPr>
        <p:spPr>
          <a:xfrm>
            <a:off x="5048250" y="2571750"/>
            <a:ext cx="6153150" cy="2381250"/>
          </a:xfrm>
          <a:prstGeom prst="roundRect">
            <a:avLst>
              <a:gd name="adj" fmla="val 4800"/>
            </a:avLst>
          </a:prstGeom>
          <a:solidFill>
            <a:srgbClr val="FEFCF8"/>
          </a:solidFill>
          <a:ln w="9525">
            <a:solidFill>
              <a:srgbClr val="F0E2D1"/>
            </a:solidFill>
            <a:prstDash val="solid"/>
          </a:ln>
        </p:spPr>
      </p:sp>
      <p:sp>
        <p:nvSpPr>
          <p:cNvPr id="13" name="矩形 12"/>
          <p:cNvSpPr>
            <a:spLocks noGrp="1"/>
          </p:cNvSpPr>
          <p:nvPr/>
        </p:nvSpPr>
        <p:spPr>
          <a:xfrm>
            <a:off x="5048250" y="2571750"/>
            <a:ext cx="57150" cy="2381250"/>
          </a:xfrm>
          <a:prstGeom prst="rect">
            <a:avLst/>
          </a:prstGeom>
          <a:solidFill>
            <a:srgbClr val="D1A63A"/>
          </a:solidFill>
          <a:ln w="0">
            <a:solidFill>
              <a:srgbClr val="D1A63A"/>
            </a:solidFill>
            <a:prstDash val="solid"/>
          </a:ln>
        </p:spPr>
      </p:sp>
      <p:sp>
        <p:nvSpPr>
          <p:cNvPr id="14" name="矩形 13"/>
          <p:cNvSpPr>
            <a:spLocks noGrp="1"/>
          </p:cNvSpPr>
          <p:nvPr/>
        </p:nvSpPr>
        <p:spPr>
          <a:xfrm>
            <a:off x="5314950" y="2743200"/>
            <a:ext cx="558165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Mechanism in one line</a:t>
            </a:r>
            <a:endParaRPr sz="1650" b="1">
              <a:solidFill>
                <a:srgbClr val="232B3A"/>
              </a:solidFill>
              <a:latin typeface="Times New Roman" panose="02020603050405020304" pitchFamily="18" charset="0"/>
            </a:endParaRPr>
          </a:p>
        </p:txBody>
      </p:sp>
      <p:sp>
        <p:nvSpPr>
          <p:cNvPr id="15" name="矩形 14"/>
          <p:cNvSpPr>
            <a:spLocks noGrp="1"/>
          </p:cNvSpPr>
          <p:nvPr/>
        </p:nvSpPr>
        <p:spPr>
          <a:xfrm>
            <a:off x="5638800" y="3105150"/>
            <a:ext cx="4953000" cy="228600"/>
          </a:xfrm>
          <a:prstGeom prst="rect">
            <a:avLst/>
          </a:prstGeom>
          <a:noFill/>
          <a:ln w="0">
            <a:noFill/>
            <a:prstDash val="solid"/>
          </a:ln>
        </p:spPr>
        <p:txBody>
          <a:bodyPr/>
          <a:lstStyle/>
          <a:p>
            <a:pPr algn="ctr">
              <a:defRPr sz="1275" b="1">
                <a:solidFill>
                  <a:srgbClr val="667085"/>
                </a:solidFill>
              </a:defRPr>
            </a:pPr>
            <a:r>
              <a:rPr sz="1275" b="1">
                <a:solidFill>
                  <a:srgbClr val="667085"/>
                </a:solidFill>
                <a:latin typeface="Times New Roman" panose="02020603050405020304" pitchFamily="18" charset="0"/>
              </a:rPr>
              <a:t>AI answer / AI label</a:t>
            </a:r>
            <a:endParaRPr sz="1275" b="1">
              <a:solidFill>
                <a:srgbClr val="667085"/>
              </a:solidFill>
              <a:latin typeface="Times New Roman" panose="02020603050405020304" pitchFamily="18" charset="0"/>
            </a:endParaRPr>
          </a:p>
        </p:txBody>
      </p:sp>
      <p:sp>
        <p:nvSpPr>
          <p:cNvPr id="16" name="矩形 15"/>
          <p:cNvSpPr>
            <a:spLocks noGrp="1"/>
          </p:cNvSpPr>
          <p:nvPr/>
        </p:nvSpPr>
        <p:spPr>
          <a:xfrm>
            <a:off x="7829550" y="32956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endParaRPr sz="1350">
              <a:solidFill>
                <a:srgbClr val="D1A63A"/>
              </a:solidFill>
              <a:latin typeface="Times New Roman" panose="02020603050405020304" pitchFamily="18" charset="0"/>
            </a:endParaRPr>
          </a:p>
        </p:txBody>
      </p:sp>
      <p:sp>
        <p:nvSpPr>
          <p:cNvPr id="17" name="矩形 16"/>
          <p:cNvSpPr>
            <a:spLocks noGrp="1"/>
          </p:cNvSpPr>
          <p:nvPr/>
        </p:nvSpPr>
        <p:spPr>
          <a:xfrm>
            <a:off x="5638800" y="34099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inferred hidden search-and-integration process</a:t>
            </a:r>
            <a:endParaRPr sz="1275" b="0">
              <a:solidFill>
                <a:srgbClr val="667085"/>
              </a:solidFill>
              <a:latin typeface="Times New Roman" panose="02020603050405020304" pitchFamily="18" charset="0"/>
            </a:endParaRPr>
          </a:p>
        </p:txBody>
      </p:sp>
      <p:sp>
        <p:nvSpPr>
          <p:cNvPr id="18" name="矩形 17"/>
          <p:cNvSpPr>
            <a:spLocks noGrp="1"/>
          </p:cNvSpPr>
          <p:nvPr/>
        </p:nvSpPr>
        <p:spPr>
          <a:xfrm>
            <a:off x="7829550" y="36004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endParaRPr sz="1350">
              <a:solidFill>
                <a:srgbClr val="D1A63A"/>
              </a:solidFill>
              <a:latin typeface="Times New Roman" panose="02020603050405020304" pitchFamily="18" charset="0"/>
            </a:endParaRPr>
          </a:p>
        </p:txBody>
      </p:sp>
      <p:sp>
        <p:nvSpPr>
          <p:cNvPr id="19" name="矩形 18"/>
          <p:cNvSpPr>
            <a:spLocks noGrp="1"/>
          </p:cNvSpPr>
          <p:nvPr/>
        </p:nvSpPr>
        <p:spPr>
          <a:xfrm>
            <a:off x="5638800" y="37147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perceived evidentiary sufficiency rises</a:t>
            </a:r>
            <a:endParaRPr sz="1275" b="0">
              <a:solidFill>
                <a:srgbClr val="667085"/>
              </a:solidFill>
              <a:latin typeface="Times New Roman" panose="02020603050405020304" pitchFamily="18" charset="0"/>
            </a:endParaRPr>
          </a:p>
        </p:txBody>
      </p:sp>
      <p:sp>
        <p:nvSpPr>
          <p:cNvPr id="20" name="矩形 19"/>
          <p:cNvSpPr>
            <a:spLocks noGrp="1"/>
          </p:cNvSpPr>
          <p:nvPr/>
        </p:nvSpPr>
        <p:spPr>
          <a:xfrm>
            <a:off x="7829550" y="39052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endParaRPr sz="1350">
              <a:solidFill>
                <a:srgbClr val="D1A63A"/>
              </a:solidFill>
              <a:latin typeface="Times New Roman" panose="02020603050405020304" pitchFamily="18" charset="0"/>
            </a:endParaRPr>
          </a:p>
        </p:txBody>
      </p:sp>
      <p:sp>
        <p:nvSpPr>
          <p:cNvPr id="21" name="矩形 20"/>
          <p:cNvSpPr>
            <a:spLocks noGrp="1"/>
          </p:cNvSpPr>
          <p:nvPr/>
        </p:nvSpPr>
        <p:spPr>
          <a:xfrm>
            <a:off x="5638800" y="40195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the value of additional evidence falls</a:t>
            </a:r>
            <a:endParaRPr sz="1275" b="0">
              <a:solidFill>
                <a:srgbClr val="667085"/>
              </a:solidFill>
              <a:latin typeface="Times New Roman" panose="02020603050405020304" pitchFamily="18" charset="0"/>
            </a:endParaRPr>
          </a:p>
        </p:txBody>
      </p:sp>
      <p:sp>
        <p:nvSpPr>
          <p:cNvPr id="22" name="矩形 21"/>
          <p:cNvSpPr>
            <a:spLocks noGrp="1"/>
          </p:cNvSpPr>
          <p:nvPr/>
        </p:nvSpPr>
        <p:spPr>
          <a:xfrm>
            <a:off x="7829550" y="42100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endParaRPr sz="1350">
              <a:solidFill>
                <a:srgbClr val="D1A63A"/>
              </a:solidFill>
              <a:latin typeface="Times New Roman" panose="02020603050405020304" pitchFamily="18" charset="0"/>
            </a:endParaRPr>
          </a:p>
        </p:txBody>
      </p:sp>
      <p:sp>
        <p:nvSpPr>
          <p:cNvPr id="23" name="矩形 22"/>
          <p:cNvSpPr>
            <a:spLocks noGrp="1"/>
          </p:cNvSpPr>
          <p:nvPr/>
        </p:nvSpPr>
        <p:spPr>
          <a:xfrm>
            <a:off x="5638800" y="4324350"/>
            <a:ext cx="4953000" cy="228600"/>
          </a:xfrm>
          <a:prstGeom prst="rect">
            <a:avLst/>
          </a:prstGeom>
          <a:noFill/>
          <a:ln w="0">
            <a:noFill/>
            <a:prstDash val="solid"/>
          </a:ln>
        </p:spPr>
        <p:txBody>
          <a:bodyPr/>
          <a:lstStyle/>
          <a:p>
            <a:pPr algn="ctr">
              <a:defRPr sz="1350" b="1">
                <a:solidFill>
                  <a:srgbClr val="BE643F"/>
                </a:solidFill>
              </a:defRPr>
            </a:pPr>
            <a:r>
              <a:rPr sz="1350" b="1">
                <a:solidFill>
                  <a:srgbClr val="BE643F"/>
                </a:solidFill>
                <a:latin typeface="Times New Roman" panose="02020603050405020304" pitchFamily="18" charset="0"/>
              </a:rPr>
              <a:t>the stopping threshold shifts forward</a:t>
            </a:r>
            <a:endParaRPr sz="1350" b="1">
              <a:solidFill>
                <a:srgbClr val="BE643F"/>
              </a:solidFill>
              <a:latin typeface="Times New Roman" panose="02020603050405020304" pitchFamily="18" charset="0"/>
            </a:endParaRPr>
          </a:p>
        </p:txBody>
      </p:sp>
      <p:sp>
        <p:nvSpPr>
          <p:cNvPr id="24" name="矩形 23"/>
          <p:cNvSpPr>
            <a:spLocks noGrp="1"/>
          </p:cNvSpPr>
          <p:nvPr/>
        </p:nvSpPr>
        <p:spPr>
          <a:xfrm>
            <a:off x="1676400" y="5429250"/>
            <a:ext cx="8763000" cy="419100"/>
          </a:xfrm>
          <a:prstGeom prst="rect">
            <a:avLst/>
          </a:prstGeom>
          <a:noFill/>
          <a:ln w="0">
            <a:noFill/>
            <a:prstDash val="solid"/>
          </a:ln>
        </p:spPr>
        <p:txBody>
          <a:bodyPr/>
          <a:lstStyle/>
          <a:p>
            <a:pPr algn="ctr">
              <a:defRPr sz="1275" i="1">
                <a:solidFill>
                  <a:srgbClr val="667085"/>
                </a:solidFill>
              </a:defRPr>
            </a:pPr>
            <a:r>
              <a:rPr sz="1275" i="1">
                <a:solidFill>
                  <a:srgbClr val="667085"/>
                </a:solidFill>
                <a:latin typeface="Times New Roman" panose="02020603050405020304" pitchFamily="18" charset="0"/>
              </a:rPr>
              <a:t>The paper therefore studies whether AI shifts the stopping rule by changing perceived evidentiary sufficiency.</a:t>
            </a:r>
            <a:endParaRPr sz="1275" i="1">
              <a:solidFill>
                <a:srgbClr val="667085"/>
              </a:solidFill>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0" name="椭圆 19"/>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RESEARCH QUESTIONS</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8191500" cy="704850"/>
          </a:xfrm>
          <a:prstGeom prst="rect">
            <a:avLst/>
          </a:prstGeom>
          <a:noFill/>
          <a:ln w="0">
            <a:noFill/>
            <a:prstDash val="solid"/>
          </a:ln>
        </p:spPr>
        <p:txBody>
          <a:bodyPr/>
          <a:lstStyle/>
          <a:p>
            <a:pPr algn="l">
              <a:buNone/>
              <a:defRPr sz="2700" b="1" i="0">
                <a:solidFill>
                  <a:srgbClr val="1E2433"/>
                </a:solidFill>
                <a:latin typeface="Times New Roman" panose="02020603050405020304"/>
                <a:ea typeface="Times New Roman" panose="02020603050405020304"/>
                <a:cs typeface="Times New Roman" panose="02020603050405020304"/>
              </a:defRPr>
            </a:pPr>
            <a:r>
              <a:rPr sz="2700" b="1" i="0">
                <a:solidFill>
                  <a:srgbClr val="1E2433"/>
                </a:solidFill>
                <a:latin typeface="Times New Roman" panose="02020603050405020304" pitchFamily="18" charset="0"/>
                <a:ea typeface="Times New Roman" panose="02020603050405020304"/>
                <a:cs typeface="Times New Roman" panose="02020603050405020304"/>
              </a:rPr>
              <a:t>The study asks three linked questions</a:t>
            </a:r>
            <a:endParaRPr sz="27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sequence runs from behavior, to normative evaluation, to metacognitive calibration.</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custDataLst>
              <p:tags r:id="rId1"/>
            </p:custDataLst>
          </p:nvPr>
        </p:nvSpPr>
        <p:spPr>
          <a:xfrm>
            <a:off x="914400" y="2266950"/>
            <a:ext cx="3086100" cy="2819400"/>
          </a:xfrm>
          <a:prstGeom prst="roundRect">
            <a:avLst>
              <a:gd name="adj" fmla="val 2703"/>
            </a:avLst>
          </a:prstGeom>
          <a:solidFill>
            <a:srgbClr val="FFF9F0"/>
          </a:solidFill>
          <a:ln w="9525">
            <a:solidFill>
              <a:srgbClr val="E8DCCB"/>
            </a:solidFill>
            <a:prstDash val="solid"/>
          </a:ln>
        </p:spPr>
      </p:sp>
      <p:sp>
        <p:nvSpPr>
          <p:cNvPr id="9" name="矩形 8"/>
          <p:cNvSpPr>
            <a:spLocks noGrp="1"/>
          </p:cNvSpPr>
          <p:nvPr>
            <p:custDataLst>
              <p:tags r:id="rId2"/>
            </p:custDataLst>
          </p:nvPr>
        </p:nvSpPr>
        <p:spPr>
          <a:xfrm>
            <a:off x="914400" y="2266950"/>
            <a:ext cx="57150" cy="2819400"/>
          </a:xfrm>
          <a:prstGeom prst="rect">
            <a:avLst/>
          </a:prstGeom>
          <a:solidFill>
            <a:srgbClr val="B45A3C"/>
          </a:solidFill>
          <a:ln w="0">
            <a:solidFill>
              <a:srgbClr val="B45A3C"/>
            </a:solidFill>
            <a:prstDash val="solid"/>
          </a:ln>
        </p:spPr>
      </p:sp>
      <p:sp>
        <p:nvSpPr>
          <p:cNvPr id="10" name="矩形 9"/>
          <p:cNvSpPr>
            <a:spLocks noGrp="1"/>
          </p:cNvSpPr>
          <p:nvPr>
            <p:custDataLst>
              <p:tags r:id="rId3"/>
            </p:custDataLst>
          </p:nvPr>
        </p:nvSpPr>
        <p:spPr>
          <a:xfrm>
            <a:off x="108585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RQ1</a:t>
            </a:r>
            <a:endParaRPr sz="21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custDataLst>
              <p:tags r:id="rId4"/>
            </p:custDataLst>
          </p:nvPr>
        </p:nvSpPr>
        <p:spPr>
          <a:xfrm>
            <a:off x="1085850" y="2724150"/>
            <a:ext cx="2800350" cy="2247900"/>
          </a:xfrm>
          <a:prstGeom prst="rect">
            <a:avLst/>
          </a:prstGeom>
          <a:noFill/>
          <a:ln w="0">
            <a:noFill/>
            <a:prstDash val="solid"/>
          </a:ln>
        </p:spPr>
        <p:txBody>
          <a:bodyPr/>
          <a:lstStyle/>
          <a:p>
            <a:pPr algn="l">
              <a:buNone/>
              <a:defRPr sz="1650" b="0" i="0">
                <a:solidFill>
                  <a:srgbClr val="5E6675"/>
                </a:solidFill>
                <a:latin typeface="Times New Roman" panose="02020603050405020304"/>
                <a:ea typeface="Times New Roman" panose="02020603050405020304"/>
                <a:cs typeface="Times New Roman" panose="02020603050405020304"/>
              </a:defRPr>
            </a:pPr>
            <a:r>
              <a:rPr sz="1650" b="0" i="0">
                <a:solidFill>
                  <a:srgbClr val="5E6675"/>
                </a:solidFill>
                <a:latin typeface="Times New Roman" panose="02020603050405020304" pitchFamily="18" charset="0"/>
                <a:ea typeface="Times New Roman" panose="02020603050405020304"/>
                <a:cs typeface="Times New Roman" panose="02020603050405020304"/>
              </a:rPr>
              <a:t>Does an AI-labeled summary lower the stopping threshold for additional search?</a:t>
            </a:r>
            <a:endParaRPr sz="16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custDataLst>
              <p:tags r:id="rId5"/>
            </p:custDataLst>
          </p:nvPr>
        </p:nvSpPr>
        <p:spPr>
          <a:xfrm>
            <a:off x="4552950" y="2266950"/>
            <a:ext cx="3086100" cy="2819400"/>
          </a:xfrm>
          <a:prstGeom prst="roundRect">
            <a:avLst>
              <a:gd name="adj" fmla="val 2703"/>
            </a:avLst>
          </a:prstGeom>
          <a:solidFill>
            <a:srgbClr val="FFF9F0"/>
          </a:solidFill>
          <a:ln w="9525">
            <a:solidFill>
              <a:srgbClr val="E8DCCB"/>
            </a:solidFill>
            <a:prstDash val="solid"/>
          </a:ln>
        </p:spPr>
      </p:sp>
      <p:sp>
        <p:nvSpPr>
          <p:cNvPr id="13" name="矩形 12"/>
          <p:cNvSpPr>
            <a:spLocks noGrp="1"/>
          </p:cNvSpPr>
          <p:nvPr>
            <p:custDataLst>
              <p:tags r:id="rId6"/>
            </p:custDataLst>
          </p:nvPr>
        </p:nvSpPr>
        <p:spPr>
          <a:xfrm>
            <a:off x="4552950" y="2266950"/>
            <a:ext cx="57150" cy="2819400"/>
          </a:xfrm>
          <a:prstGeom prst="rect">
            <a:avLst/>
          </a:prstGeom>
          <a:solidFill>
            <a:srgbClr val="C89B4A"/>
          </a:solidFill>
          <a:ln w="0">
            <a:solidFill>
              <a:srgbClr val="C89B4A"/>
            </a:solidFill>
            <a:prstDash val="solid"/>
          </a:ln>
        </p:spPr>
      </p:sp>
      <p:sp>
        <p:nvSpPr>
          <p:cNvPr id="14" name="矩形 13"/>
          <p:cNvSpPr>
            <a:spLocks noGrp="1"/>
          </p:cNvSpPr>
          <p:nvPr>
            <p:custDataLst>
              <p:tags r:id="rId7"/>
            </p:custDataLst>
          </p:nvPr>
        </p:nvSpPr>
        <p:spPr>
          <a:xfrm>
            <a:off x="472440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RQ2</a:t>
            </a:r>
            <a:endParaRPr sz="21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custDataLst>
              <p:tags r:id="rId8"/>
            </p:custDataLst>
          </p:nvPr>
        </p:nvSpPr>
        <p:spPr>
          <a:xfrm>
            <a:off x="4724400" y="2724150"/>
            <a:ext cx="28003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When search falls, is that rational information compression or harmful information-acquisition deviation?</a:t>
            </a:r>
            <a:endParaRPr sz="15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custDataLst>
              <p:tags r:id="rId9"/>
            </p:custDataLst>
          </p:nvPr>
        </p:nvSpPr>
        <p:spPr>
          <a:xfrm>
            <a:off x="8191500" y="2266950"/>
            <a:ext cx="3009900" cy="2819400"/>
          </a:xfrm>
          <a:prstGeom prst="roundRect">
            <a:avLst>
              <a:gd name="adj" fmla="val 2703"/>
            </a:avLst>
          </a:prstGeom>
          <a:solidFill>
            <a:srgbClr val="FFF9F0"/>
          </a:solidFill>
          <a:ln w="9525">
            <a:solidFill>
              <a:srgbClr val="E8DCCB"/>
            </a:solidFill>
            <a:prstDash val="solid"/>
          </a:ln>
        </p:spPr>
      </p:sp>
      <p:sp>
        <p:nvSpPr>
          <p:cNvPr id="17" name="矩形 16"/>
          <p:cNvSpPr>
            <a:spLocks noGrp="1"/>
          </p:cNvSpPr>
          <p:nvPr>
            <p:custDataLst>
              <p:tags r:id="rId10"/>
            </p:custDataLst>
          </p:nvPr>
        </p:nvSpPr>
        <p:spPr>
          <a:xfrm>
            <a:off x="8191500" y="2266950"/>
            <a:ext cx="57150" cy="2819400"/>
          </a:xfrm>
          <a:prstGeom prst="rect">
            <a:avLst/>
          </a:prstGeom>
          <a:solidFill>
            <a:srgbClr val="78836A"/>
          </a:solidFill>
          <a:ln w="0">
            <a:solidFill>
              <a:srgbClr val="78836A"/>
            </a:solidFill>
            <a:prstDash val="solid"/>
          </a:ln>
        </p:spPr>
      </p:sp>
      <p:sp>
        <p:nvSpPr>
          <p:cNvPr id="18" name="矩形 17"/>
          <p:cNvSpPr>
            <a:spLocks noGrp="1"/>
          </p:cNvSpPr>
          <p:nvPr>
            <p:custDataLst>
              <p:tags r:id="rId11"/>
            </p:custDataLst>
          </p:nvPr>
        </p:nvSpPr>
        <p:spPr>
          <a:xfrm>
            <a:off x="8362950" y="2381250"/>
            <a:ext cx="27241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RQ3</a:t>
            </a:r>
            <a:endParaRPr sz="210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custDataLst>
              <p:tags r:id="rId12"/>
            </p:custDataLst>
          </p:nvPr>
        </p:nvSpPr>
        <p:spPr>
          <a:xfrm>
            <a:off x="8362950" y="2724150"/>
            <a:ext cx="27241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lang="en-US" altLang="zh-CN" sz="1575" b="0" i="0">
                <a:solidFill>
                  <a:srgbClr val="5E6675"/>
                </a:solidFill>
                <a:latin typeface="Times New Roman" panose="02020603050405020304" pitchFamily="18" charset="0"/>
                <a:ea typeface="Times New Roman" panose="02020603050405020304"/>
                <a:cs typeface="Times New Roman" panose="02020603050405020304"/>
              </a:rPr>
              <a:t>Does perceived understanding match actual judgment accuracy?</a:t>
            </a:r>
            <a:endParaRPr lang="en-US" altLang="zh-CN" sz="157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4" name="椭圆 23"/>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lang="en-US" sz="1050" b="1" i="0">
                <a:solidFill>
                  <a:srgbClr val="B45A3C"/>
                </a:solidFill>
                <a:latin typeface="Times New Roman" panose="02020603050405020304" pitchFamily="18" charset="0"/>
                <a:ea typeface="Times New Roman" panose="02020603050405020304"/>
                <a:cs typeface="Times New Roman" panose="02020603050405020304"/>
              </a:rPr>
              <a:t>TASK PROTOTYPE</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525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lang="en-US" sz="2475"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363200" cy="32766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lang="en-US" sz="1350" b="0" i="0">
                <a:solidFill>
                  <a:srgbClr val="5E6675"/>
                </a:solidFill>
                <a:latin typeface="Times New Roman" panose="02020603050405020304" pitchFamily="18" charset="0"/>
                <a:ea typeface="Times New Roman" panose="02020603050405020304"/>
                <a:cs typeface="Times New Roman" panose="02020603050405020304"/>
              </a:rPr>
              <a:t>The task adapts a classic urn-drawing / bookbag-and-poker-chip belief-updating paradigm to a company-risk setting. Participants either enter the full evidence pool directly or begin with a summary-first answer, then decide whether to inspect additional evidence under the same search cost.</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66950"/>
            <a:ext cx="4762500" cy="1409700"/>
          </a:xfrm>
          <a:prstGeom prst="roundRect">
            <a:avLst>
              <a:gd name="adj" fmla="val 5405"/>
            </a:avLst>
          </a:prstGeom>
          <a:solidFill>
            <a:srgbClr val="FFF9F0"/>
          </a:solidFill>
          <a:ln w="9525">
            <a:solidFill>
              <a:srgbClr val="E8DCCB"/>
            </a:solidFill>
            <a:prstDash val="solid"/>
          </a:ln>
        </p:spPr>
      </p:sp>
      <p:sp>
        <p:nvSpPr>
          <p:cNvPr id="9" name="矩形 8"/>
          <p:cNvSpPr>
            <a:spLocks noGrp="1"/>
          </p:cNvSpPr>
          <p:nvPr/>
        </p:nvSpPr>
        <p:spPr>
          <a:xfrm>
            <a:off x="914400" y="2266950"/>
            <a:ext cx="57150" cy="14097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Classical Bayesian prototype</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 fixed evidence environment allows posterior judgments to be benchmarked against a normative updating rule.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38900" y="2266950"/>
            <a:ext cx="4762500" cy="1409700"/>
          </a:xfrm>
          <a:prstGeom prst="roundRect">
            <a:avLst>
              <a:gd name="adj" fmla="val 5405"/>
            </a:avLst>
          </a:prstGeom>
          <a:solidFill>
            <a:srgbClr val="FFF9F0"/>
          </a:solidFill>
          <a:ln w="9525">
            <a:solidFill>
              <a:srgbClr val="E8DCCB"/>
            </a:solidFill>
            <a:prstDash val="solid"/>
          </a:ln>
        </p:spPr>
      </p:sp>
      <p:sp>
        <p:nvSpPr>
          <p:cNvPr id="13" name="矩形 12"/>
          <p:cNvSpPr>
            <a:spLocks noGrp="1"/>
          </p:cNvSpPr>
          <p:nvPr/>
        </p:nvSpPr>
        <p:spPr>
          <a:xfrm>
            <a:off x="6438900" y="2266950"/>
            <a:ext cx="57150" cy="1409700"/>
          </a:xfrm>
          <a:prstGeom prst="rect">
            <a:avLst/>
          </a:prstGeom>
          <a:solidFill>
            <a:srgbClr val="C89B4A"/>
          </a:solidFill>
          <a:ln w="0">
            <a:solidFill>
              <a:srgbClr val="C89B4A"/>
            </a:solidFill>
            <a:prstDash val="solid"/>
          </a:ln>
        </p:spPr>
      </p:sp>
      <p:sp>
        <p:nvSpPr>
          <p:cNvPr id="14" name="矩形 13"/>
          <p:cNvSpPr>
            <a:spLocks noGrp="1"/>
          </p:cNvSpPr>
          <p:nvPr/>
        </p:nvSpPr>
        <p:spPr>
          <a:xfrm>
            <a:off x="66103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Company-risk contextualization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103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The abstract belief-updating task is reframed as judging whether a focal company faces substantial hidden risk.</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914400" y="3943350"/>
            <a:ext cx="4762500" cy="1409700"/>
          </a:xfrm>
          <a:prstGeom prst="roundRect">
            <a:avLst>
              <a:gd name="adj" fmla="val 5405"/>
            </a:avLst>
          </a:prstGeom>
          <a:solidFill>
            <a:srgbClr val="FFF9F0"/>
          </a:solidFill>
          <a:ln w="9525">
            <a:solidFill>
              <a:srgbClr val="E8DCCB"/>
            </a:solidFill>
            <a:prstDash val="solid"/>
          </a:ln>
        </p:spPr>
      </p:sp>
      <p:sp>
        <p:nvSpPr>
          <p:cNvPr id="17" name="矩形 16"/>
          <p:cNvSpPr>
            <a:spLocks noGrp="1"/>
          </p:cNvSpPr>
          <p:nvPr/>
        </p:nvSpPr>
        <p:spPr>
          <a:xfrm>
            <a:off x="914400" y="3943350"/>
            <a:ext cx="57150" cy="1409700"/>
          </a:xfrm>
          <a:prstGeom prst="rect">
            <a:avLst/>
          </a:prstGeom>
          <a:solidFill>
            <a:srgbClr val="B45A3C"/>
          </a:solidFill>
          <a:ln w="0">
            <a:solidFill>
              <a:srgbClr val="B45A3C"/>
            </a:solidFill>
            <a:prstDash val="solid"/>
          </a:ln>
        </p:spPr>
      </p:sp>
      <p:sp>
        <p:nvSpPr>
          <p:cNvPr id="18" name="矩形 17"/>
          <p:cNvSpPr>
            <a:spLocks noGrp="1"/>
          </p:cNvSpPr>
          <p:nvPr/>
        </p:nvSpPr>
        <p:spPr>
          <a:xfrm>
            <a:off x="10858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Summary-first presentation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10858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Some participants receive an initial answer before they see raw evidence, recreating a generative-AI interaction sequence.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0" name="矩形: 圆角 19"/>
          <p:cNvSpPr>
            <a:spLocks noGrp="1"/>
          </p:cNvSpPr>
          <p:nvPr/>
        </p:nvSpPr>
        <p:spPr>
          <a:xfrm>
            <a:off x="6438900" y="3943350"/>
            <a:ext cx="4762500" cy="1409700"/>
          </a:xfrm>
          <a:prstGeom prst="roundRect">
            <a:avLst>
              <a:gd name="adj" fmla="val 5405"/>
            </a:avLst>
          </a:prstGeom>
          <a:solidFill>
            <a:srgbClr val="FFF9F0"/>
          </a:solidFill>
          <a:ln w="9525">
            <a:solidFill>
              <a:srgbClr val="E8DCCB"/>
            </a:solidFill>
            <a:prstDash val="solid"/>
          </a:ln>
        </p:spPr>
      </p:sp>
      <p:sp>
        <p:nvSpPr>
          <p:cNvPr id="21" name="矩形 20"/>
          <p:cNvSpPr>
            <a:spLocks noGrp="1"/>
          </p:cNvSpPr>
          <p:nvPr/>
        </p:nvSpPr>
        <p:spPr>
          <a:xfrm>
            <a:off x="6438900" y="3943350"/>
            <a:ext cx="57150" cy="1409700"/>
          </a:xfrm>
          <a:prstGeom prst="rect">
            <a:avLst/>
          </a:prstGeom>
          <a:solidFill>
            <a:srgbClr val="C89B4A"/>
          </a:solidFill>
          <a:ln w="0">
            <a:solidFill>
              <a:srgbClr val="C89B4A"/>
            </a:solidFill>
            <a:prstDash val="solid"/>
          </a:ln>
        </p:spPr>
      </p:sp>
      <p:sp>
        <p:nvSpPr>
          <p:cNvPr id="22" name="矩形 21"/>
          <p:cNvSpPr>
            <a:spLocks noGrp="1"/>
          </p:cNvSpPr>
          <p:nvPr/>
        </p:nvSpPr>
        <p:spPr>
          <a:xfrm>
            <a:off x="66103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Common follow-on search</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3" name="矩形 22"/>
          <p:cNvSpPr>
            <a:spLocks noGrp="1"/>
          </p:cNvSpPr>
          <p:nvPr/>
        </p:nvSpPr>
        <p:spPr>
          <a:xfrm>
            <a:off x="66103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All groups can inspect additional evidence from the same full pool at the same marginal search cost.</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32" name="椭圆 3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DESIGN</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7155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The experiment has five groups built on one shared evidence pool</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One baseline enters the full evidence pool directly, and four summary groups vary completeness and source label.</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381250"/>
            <a:ext cx="1905000" cy="2038350"/>
          </a:xfrm>
          <a:prstGeom prst="roundRect">
            <a:avLst>
              <a:gd name="adj" fmla="val 4000"/>
            </a:avLst>
          </a:prstGeom>
          <a:solidFill>
            <a:srgbClr val="FFF9F0"/>
          </a:solidFill>
          <a:ln w="9525">
            <a:solidFill>
              <a:srgbClr val="E8DCCB"/>
            </a:solidFill>
            <a:prstDash val="solid"/>
          </a:ln>
        </p:spPr>
      </p:sp>
      <p:sp>
        <p:nvSpPr>
          <p:cNvPr id="9" name="矩形 8"/>
          <p:cNvSpPr>
            <a:spLocks noGrp="1"/>
          </p:cNvSpPr>
          <p:nvPr/>
        </p:nvSpPr>
        <p:spPr>
          <a:xfrm>
            <a:off x="914400" y="2381250"/>
            <a:ext cx="57150" cy="2038350"/>
          </a:xfrm>
          <a:prstGeom prst="rect">
            <a:avLst/>
          </a:prstGeom>
          <a:solidFill>
            <a:srgbClr val="78836A"/>
          </a:solidFill>
          <a:ln w="0">
            <a:solidFill>
              <a:srgbClr val="78836A"/>
            </a:solidFill>
            <a:prstDash val="solid"/>
          </a:ln>
        </p:spPr>
      </p:sp>
      <p:sp>
        <p:nvSpPr>
          <p:cNvPr id="10" name="矩形 9"/>
          <p:cNvSpPr>
            <a:spLocks noGrp="1"/>
          </p:cNvSpPr>
          <p:nvPr/>
        </p:nvSpPr>
        <p:spPr>
          <a:xfrm>
            <a:off x="1085850" y="2495550"/>
            <a:ext cx="1619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Baseline</a:t>
            </a:r>
            <a:endParaRPr sz="16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838450"/>
            <a:ext cx="161925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No summary</a:t>
            </a:r>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Direct entry to the evidence pool</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3048000" y="2381250"/>
            <a:ext cx="203835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3048000" y="2381250"/>
            <a:ext cx="57150" cy="2038350"/>
          </a:xfrm>
          <a:prstGeom prst="rect">
            <a:avLst/>
          </a:prstGeom>
          <a:solidFill>
            <a:srgbClr val="C89B4A"/>
          </a:solidFill>
          <a:ln w="0">
            <a:solidFill>
              <a:srgbClr val="C89B4A"/>
            </a:solidFill>
            <a:prstDash val="solid"/>
          </a:ln>
        </p:spPr>
      </p:sp>
      <p:sp>
        <p:nvSpPr>
          <p:cNvPr id="14" name="矩形 13"/>
          <p:cNvSpPr>
            <a:spLocks noGrp="1"/>
          </p:cNvSpPr>
          <p:nvPr/>
        </p:nvSpPr>
        <p:spPr>
          <a:xfrm>
            <a:off x="32194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endParaRPr sz="1350" b="1" i="0">
              <a:solidFill>
                <a:srgbClr val="1E2433"/>
              </a:solidFill>
              <a:latin typeface="Times New Roman" panose="02020603050405020304" pitchFamily="18" charset="0"/>
              <a:ea typeface="Times New Roman" panose="02020603050405020304"/>
              <a:cs typeface="Times New Roman" panose="02020603050405020304"/>
            </a:endParaRP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No label</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32194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5219700" y="2381250"/>
            <a:ext cx="2038350" cy="2038350"/>
          </a:xfrm>
          <a:prstGeom prst="roundRect">
            <a:avLst>
              <a:gd name="adj" fmla="val 3738"/>
            </a:avLst>
          </a:prstGeom>
          <a:solidFill>
            <a:srgbClr val="FFF9F0"/>
          </a:solidFill>
          <a:ln w="9525">
            <a:solidFill>
              <a:srgbClr val="E8DCCB"/>
            </a:solidFill>
            <a:prstDash val="solid"/>
          </a:ln>
        </p:spPr>
      </p:sp>
      <p:sp>
        <p:nvSpPr>
          <p:cNvPr id="17" name="矩形 16"/>
          <p:cNvSpPr>
            <a:spLocks noGrp="1"/>
          </p:cNvSpPr>
          <p:nvPr/>
        </p:nvSpPr>
        <p:spPr>
          <a:xfrm>
            <a:off x="5219700" y="2381250"/>
            <a:ext cx="57150" cy="2038350"/>
          </a:xfrm>
          <a:prstGeom prst="rect">
            <a:avLst/>
          </a:prstGeom>
          <a:solidFill>
            <a:srgbClr val="B45A3C"/>
          </a:solidFill>
          <a:ln w="0">
            <a:solidFill>
              <a:srgbClr val="B45A3C"/>
            </a:solidFill>
            <a:prstDash val="solid"/>
          </a:ln>
        </p:spPr>
      </p:sp>
      <p:sp>
        <p:nvSpPr>
          <p:cNvPr id="18" name="矩形 17"/>
          <p:cNvSpPr>
            <a:spLocks noGrp="1"/>
          </p:cNvSpPr>
          <p:nvPr/>
        </p:nvSpPr>
        <p:spPr>
          <a:xfrm>
            <a:off x="53911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endParaRPr sz="1350" b="1" i="0">
              <a:solidFill>
                <a:srgbClr val="1E2433"/>
              </a:solidFill>
              <a:latin typeface="Times New Roman" panose="02020603050405020304" pitchFamily="18" charset="0"/>
              <a:ea typeface="Times New Roman" panose="02020603050405020304"/>
              <a:cs typeface="Times New Roman" panose="02020603050405020304"/>
            </a:endParaRP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53911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0" name="矩形: 圆角 19"/>
          <p:cNvSpPr>
            <a:spLocks noGrp="1"/>
          </p:cNvSpPr>
          <p:nvPr/>
        </p:nvSpPr>
        <p:spPr>
          <a:xfrm>
            <a:off x="7391400" y="2381250"/>
            <a:ext cx="2038350" cy="2038350"/>
          </a:xfrm>
          <a:prstGeom prst="roundRect">
            <a:avLst>
              <a:gd name="adj" fmla="val 3738"/>
            </a:avLst>
          </a:prstGeom>
          <a:solidFill>
            <a:srgbClr val="FFF9F0"/>
          </a:solidFill>
          <a:ln w="9525">
            <a:solidFill>
              <a:srgbClr val="E8DCCB"/>
            </a:solidFill>
            <a:prstDash val="solid"/>
          </a:ln>
        </p:spPr>
        <p:txBody>
          <a:bodyPr/>
          <a:p>
            <a:endParaRPr lang="zh-CN" altLang="en-US"/>
          </a:p>
        </p:txBody>
      </p:sp>
      <p:sp>
        <p:nvSpPr>
          <p:cNvPr id="21" name="矩形 20"/>
          <p:cNvSpPr>
            <a:spLocks noGrp="1"/>
          </p:cNvSpPr>
          <p:nvPr/>
        </p:nvSpPr>
        <p:spPr>
          <a:xfrm>
            <a:off x="7391400" y="2381250"/>
            <a:ext cx="57150" cy="2038350"/>
          </a:xfrm>
          <a:prstGeom prst="rect">
            <a:avLst/>
          </a:prstGeom>
          <a:solidFill>
            <a:srgbClr val="C89B4A"/>
          </a:solidFill>
          <a:ln w="0">
            <a:solidFill>
              <a:srgbClr val="C89B4A"/>
            </a:solidFill>
            <a:prstDash val="solid"/>
          </a:ln>
        </p:spPr>
      </p:sp>
      <p:sp>
        <p:nvSpPr>
          <p:cNvPr id="22" name="矩形 21"/>
          <p:cNvSpPr>
            <a:spLocks noGrp="1"/>
          </p:cNvSpPr>
          <p:nvPr/>
        </p:nvSpPr>
        <p:spPr>
          <a:xfrm>
            <a:off x="753618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lang="en-US" altLang="zh-CN" sz="1350" b="1" i="0">
                <a:solidFill>
                  <a:srgbClr val="1E2433"/>
                </a:solidFill>
                <a:latin typeface="Times New Roman" panose="02020603050405020304" pitchFamily="18" charset="0"/>
                <a:ea typeface="Times New Roman" panose="02020603050405020304"/>
                <a:cs typeface="Times New Roman" panose="02020603050405020304"/>
              </a:rPr>
              <a:t>Incomplete summary</a:t>
            </a:r>
            <a:endParaRPr lang="en-US" altLang="zh-CN" sz="1350" b="1" i="0">
              <a:solidFill>
                <a:srgbClr val="1E2433"/>
              </a:solidFill>
              <a:latin typeface="Times New Roman" panose="02020603050405020304" pitchFamily="18" charset="0"/>
              <a:ea typeface="Times New Roman" panose="02020603050405020304"/>
              <a:cs typeface="Times New Roman" panose="02020603050405020304"/>
            </a:endParaRPr>
          </a:p>
          <a:p>
            <a:pPr algn="l">
              <a:buNone/>
              <a:defRPr sz="1350" b="1" i="0">
                <a:solidFill>
                  <a:srgbClr val="1E2433"/>
                </a:solidFill>
                <a:latin typeface="Times New Roman" panose="02020603050405020304"/>
                <a:ea typeface="Times New Roman" panose="02020603050405020304"/>
                <a:cs typeface="Times New Roman" panose="02020603050405020304"/>
              </a:defRPr>
            </a:pPr>
            <a:r>
              <a:rPr lang="en-US" altLang="zh-CN" sz="1350" b="1" i="0">
                <a:solidFill>
                  <a:srgbClr val="1E2433"/>
                </a:solidFill>
                <a:latin typeface="Times New Roman" panose="02020603050405020304" pitchFamily="18" charset="0"/>
                <a:ea typeface="Times New Roman" panose="02020603050405020304"/>
                <a:cs typeface="Times New Roman" panose="02020603050405020304"/>
              </a:rPr>
              <a:t>No label</a:t>
            </a:r>
            <a:endParaRPr lang="en-US" altLang="zh-CN"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3" name="矩形 22"/>
          <p:cNvSpPr>
            <a:spLocks noGrp="1"/>
          </p:cNvSpPr>
          <p:nvPr/>
        </p:nvSpPr>
        <p:spPr>
          <a:xfrm>
            <a:off x="7320280" y="2905760"/>
            <a:ext cx="1752600" cy="218694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4" name="矩形: 圆角 23"/>
          <p:cNvSpPr>
            <a:spLocks noGrp="1"/>
          </p:cNvSpPr>
          <p:nvPr/>
        </p:nvSpPr>
        <p:spPr>
          <a:xfrm>
            <a:off x="9563100" y="2381250"/>
            <a:ext cx="2038350" cy="2038350"/>
          </a:xfrm>
          <a:prstGeom prst="roundRect">
            <a:avLst>
              <a:gd name="adj" fmla="val 3738"/>
            </a:avLst>
          </a:prstGeom>
          <a:solidFill>
            <a:srgbClr val="FFF9F0"/>
          </a:solidFill>
          <a:ln w="9525">
            <a:solidFill>
              <a:srgbClr val="E8DCCB"/>
            </a:solidFill>
            <a:prstDash val="solid"/>
          </a:ln>
        </p:spPr>
      </p:sp>
      <p:sp>
        <p:nvSpPr>
          <p:cNvPr id="25" name="矩形 24"/>
          <p:cNvSpPr>
            <a:spLocks noGrp="1"/>
          </p:cNvSpPr>
          <p:nvPr/>
        </p:nvSpPr>
        <p:spPr>
          <a:xfrm>
            <a:off x="9563100" y="2381250"/>
            <a:ext cx="57150" cy="2038350"/>
          </a:xfrm>
          <a:prstGeom prst="rect">
            <a:avLst/>
          </a:prstGeom>
          <a:solidFill>
            <a:srgbClr val="B45A3C"/>
          </a:solidFill>
          <a:ln w="0">
            <a:solidFill>
              <a:srgbClr val="B45A3C"/>
            </a:solidFill>
            <a:prstDash val="solid"/>
          </a:ln>
        </p:spPr>
      </p:sp>
      <p:sp>
        <p:nvSpPr>
          <p:cNvPr id="26" name="矩形 25"/>
          <p:cNvSpPr>
            <a:spLocks noGrp="1"/>
          </p:cNvSpPr>
          <p:nvPr/>
        </p:nvSpPr>
        <p:spPr>
          <a:xfrm>
            <a:off x="97345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Incomplete</a:t>
            </a:r>
            <a:endParaRPr sz="1350" b="1" i="0">
              <a:solidFill>
                <a:srgbClr val="1E2433"/>
              </a:solidFill>
              <a:latin typeface="Times New Roman" panose="02020603050405020304" pitchFamily="18" charset="0"/>
              <a:ea typeface="Times New Roman" panose="02020603050405020304"/>
              <a:cs typeface="Times New Roman" panose="02020603050405020304"/>
            </a:endParaRP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7" name="矩形 26"/>
          <p:cNvSpPr>
            <a:spLocks noGrp="1"/>
          </p:cNvSpPr>
          <p:nvPr/>
        </p:nvSpPr>
        <p:spPr>
          <a:xfrm>
            <a:off x="97345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lang="en-US" altLang="zh-CN" sz="1350" b="0" i="0">
                <a:solidFill>
                  <a:srgbClr val="5E6675"/>
                </a:solidFill>
                <a:latin typeface="Times New Roman" panose="02020603050405020304" pitchFamily="18" charset="0"/>
                <a:ea typeface="Times New Roman" panose="02020603050405020304"/>
                <a:cs typeface="Times New Roman" panose="02020603050405020304"/>
              </a:rPr>
              <a:t>Summary omits key counterevidence</a:t>
            </a:r>
            <a:endParaRPr lang="en-US" altLang="zh-CN"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endParaRPr lang="en-US" altLang="zh-CN"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8" name="矩形: 圆角 27"/>
          <p:cNvSpPr>
            <a:spLocks noGrp="1"/>
          </p:cNvSpPr>
          <p:nvPr/>
        </p:nvSpPr>
        <p:spPr>
          <a:xfrm>
            <a:off x="1714500" y="4953000"/>
            <a:ext cx="8763000" cy="876300"/>
          </a:xfrm>
          <a:prstGeom prst="roundRect">
            <a:avLst>
              <a:gd name="adj" fmla="val 8696"/>
            </a:avLst>
          </a:prstGeom>
          <a:solidFill>
            <a:srgbClr val="FFF9F0"/>
          </a:solidFill>
          <a:ln w="9525">
            <a:solidFill>
              <a:srgbClr val="E8DCCB"/>
            </a:solidFill>
            <a:prstDash val="solid"/>
          </a:ln>
        </p:spPr>
      </p:sp>
      <p:sp>
        <p:nvSpPr>
          <p:cNvPr id="29" name="矩形 28"/>
          <p:cNvSpPr>
            <a:spLocks noGrp="1"/>
          </p:cNvSpPr>
          <p:nvPr/>
        </p:nvSpPr>
        <p:spPr>
          <a:xfrm>
            <a:off x="1714500" y="4953000"/>
            <a:ext cx="57150" cy="876300"/>
          </a:xfrm>
          <a:prstGeom prst="rect">
            <a:avLst/>
          </a:prstGeom>
          <a:solidFill>
            <a:srgbClr val="B45A3C"/>
          </a:solidFill>
          <a:ln w="0">
            <a:solidFill>
              <a:srgbClr val="B45A3C"/>
            </a:solidFill>
            <a:prstDash val="solid"/>
          </a:ln>
        </p:spPr>
      </p:sp>
      <p:sp>
        <p:nvSpPr>
          <p:cNvPr id="30" name="矩形 29"/>
          <p:cNvSpPr>
            <a:spLocks noGrp="1"/>
          </p:cNvSpPr>
          <p:nvPr/>
        </p:nvSpPr>
        <p:spPr>
          <a:xfrm>
            <a:off x="1885950" y="5067300"/>
            <a:ext cx="8477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Why five groups instead of a full six-cell matrix</a:t>
            </a:r>
            <a:endParaRPr sz="16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31" name="矩形 30"/>
          <p:cNvSpPr>
            <a:spLocks noGrp="1"/>
          </p:cNvSpPr>
          <p:nvPr/>
        </p:nvSpPr>
        <p:spPr>
          <a:xfrm>
            <a:off x="1885950" y="5410200"/>
            <a:ext cx="8477250" cy="3048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no-summary baseline does not need a representative versus incomplete split because everyone in that condition enters the same full evidence pool directly.</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34" name="矩形 33"/>
          <p:cNvSpPr>
            <a:spLocks noGrp="1"/>
          </p:cNvSpPr>
          <p:nvPr/>
        </p:nvSpPr>
        <p:spPr>
          <a:xfrm>
            <a:off x="7477125" y="29527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lang="en-US" altLang="zh-CN" sz="1350" b="0" i="0">
                <a:solidFill>
                  <a:srgbClr val="5E6675"/>
                </a:solidFill>
                <a:latin typeface="Times New Roman" panose="02020603050405020304" pitchFamily="18" charset="0"/>
                <a:ea typeface="Times New Roman" panose="02020603050405020304"/>
                <a:cs typeface="Times New Roman" panose="02020603050405020304"/>
              </a:rPr>
              <a:t>Summary omits key counterevidence</a:t>
            </a:r>
            <a:endParaRPr lang="en-US" altLang="zh-CN"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endParaRPr lang="en-US" altLang="zh-CN" sz="1350"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41" name="椭圆 4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IDENTIFICATION</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334500" cy="704850"/>
          </a:xfrm>
          <a:prstGeom prst="rect">
            <a:avLst/>
          </a:prstGeom>
          <a:noFill/>
          <a:ln w="0">
            <a:noFill/>
            <a:prstDash val="solid"/>
          </a:ln>
        </p:spPr>
        <p:txBody>
          <a:bodyPr/>
          <a:lstStyle/>
          <a:p>
            <a:pPr algn="l">
              <a:buNone/>
              <a:defRPr sz="2550" b="1" i="0">
                <a:solidFill>
                  <a:srgbClr val="1E2433"/>
                </a:solidFill>
                <a:latin typeface="Times New Roman" panose="02020603050405020304"/>
                <a:ea typeface="Times New Roman" panose="02020603050405020304"/>
                <a:cs typeface="Times New Roman" panose="02020603050405020304"/>
              </a:defRPr>
            </a:pPr>
            <a:r>
              <a:rPr sz="2550" b="1" i="0">
                <a:solidFill>
                  <a:srgbClr val="1E2433"/>
                </a:solidFill>
                <a:latin typeface="Times New Roman" panose="02020603050405020304" pitchFamily="18" charset="0"/>
                <a:ea typeface="Times New Roman" panose="02020603050405020304"/>
                <a:cs typeface="Times New Roman" panose="02020603050405020304"/>
              </a:rPr>
              <a:t>The same summary text isolates the AI label effect</a:t>
            </a:r>
            <a:endParaRPr sz="25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content stays the same while the label changes, and every participant then moves through the same additional-search sequence.</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47900"/>
            <a:ext cx="4762500" cy="2038350"/>
          </a:xfrm>
          <a:prstGeom prst="roundRect">
            <a:avLst>
              <a:gd name="adj" fmla="val 3738"/>
            </a:avLst>
          </a:prstGeom>
          <a:solidFill>
            <a:srgbClr val="FFF9F0"/>
          </a:solidFill>
          <a:ln w="9525">
            <a:solidFill>
              <a:srgbClr val="E8DCCB"/>
            </a:solidFill>
            <a:prstDash val="solid"/>
          </a:ln>
        </p:spPr>
      </p:sp>
      <p:sp>
        <p:nvSpPr>
          <p:cNvPr id="9" name="矩形 8"/>
          <p:cNvSpPr>
            <a:spLocks noGrp="1"/>
          </p:cNvSpPr>
          <p:nvPr/>
        </p:nvSpPr>
        <p:spPr>
          <a:xfrm>
            <a:off x="914400" y="2247900"/>
            <a:ext cx="57150" cy="2038350"/>
          </a:xfrm>
          <a:prstGeom prst="rect">
            <a:avLst/>
          </a:prstGeom>
          <a:solidFill>
            <a:srgbClr val="C89B4A"/>
          </a:solidFill>
          <a:ln w="0">
            <a:solidFill>
              <a:srgbClr val="C89B4A"/>
            </a:solidFill>
            <a:prstDash val="solid"/>
          </a:ln>
        </p:spPr>
      </p:sp>
      <p:sp>
        <p:nvSpPr>
          <p:cNvPr id="10" name="矩形 9"/>
          <p:cNvSpPr>
            <a:spLocks noGrp="1"/>
          </p:cNvSpPr>
          <p:nvPr/>
        </p:nvSpPr>
        <p:spPr>
          <a:xfrm>
            <a:off x="1085850" y="2362200"/>
            <a:ext cx="44767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Unlabeled summary</a:t>
            </a:r>
            <a:endParaRPr sz="18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05100"/>
            <a:ext cx="44767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a summary of the exact same initial evidence, but the source is not identified as AI.</a:t>
            </a:r>
            <a:endParaRPr sz="14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77000" y="2247900"/>
            <a:ext cx="472440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6477000" y="2247900"/>
            <a:ext cx="57150" cy="203835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62200"/>
            <a:ext cx="44386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AI-labeled summary</a:t>
            </a:r>
            <a:endParaRPr sz="18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48450" y="2705100"/>
            <a:ext cx="44386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the very same summary text, but now the system explicitly says the summary was generated by AI.</a:t>
            </a:r>
            <a:endParaRPr sz="14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15"/>
          <p:cNvSpPr>
            <a:spLocks noGrp="1"/>
          </p:cNvSpPr>
          <p:nvPr/>
        </p:nvSpPr>
        <p:spPr>
          <a:xfrm>
            <a:off x="914400" y="4629150"/>
            <a:ext cx="2476500" cy="228600"/>
          </a:xfrm>
          <a:prstGeom prst="rect">
            <a:avLst/>
          </a:prstGeom>
          <a:noFill/>
          <a:ln w="0">
            <a:noFill/>
            <a:prstDash val="solid"/>
          </a:ln>
        </p:spPr>
        <p:txBody>
          <a:bodyPr/>
          <a:lstStyle/>
          <a:p>
            <a:pPr algn="l">
              <a:buNone/>
              <a:defRPr sz="1575" b="1" i="0">
                <a:solidFill>
                  <a:srgbClr val="B45A3C"/>
                </a:solidFill>
                <a:latin typeface="Times New Roman" panose="02020603050405020304"/>
                <a:ea typeface="Times New Roman" panose="02020603050405020304"/>
                <a:cs typeface="Times New Roman" panose="02020603050405020304"/>
              </a:defRPr>
            </a:pPr>
            <a:r>
              <a:rPr sz="1575" b="1" i="0">
                <a:solidFill>
                  <a:srgbClr val="B45A3C"/>
                </a:solidFill>
                <a:latin typeface="Times New Roman" panose="02020603050405020304" pitchFamily="18" charset="0"/>
                <a:ea typeface="Times New Roman" panose="02020603050405020304"/>
                <a:cs typeface="Times New Roman" panose="02020603050405020304"/>
              </a:rPr>
              <a:t>Participant sequence</a:t>
            </a:r>
            <a:endParaRPr sz="1575"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17" name="矩形: 圆角 16"/>
          <p:cNvSpPr>
            <a:spLocks noGrp="1"/>
          </p:cNvSpPr>
          <p:nvPr/>
        </p:nvSpPr>
        <p:spPr>
          <a:xfrm>
            <a:off x="914400" y="4991100"/>
            <a:ext cx="1790700" cy="1028700"/>
          </a:xfrm>
          <a:prstGeom prst="roundRect">
            <a:avLst>
              <a:gd name="adj" fmla="val 7407"/>
            </a:avLst>
          </a:prstGeom>
          <a:solidFill>
            <a:srgbClr val="FFF9F0"/>
          </a:solidFill>
          <a:ln w="9525">
            <a:solidFill>
              <a:srgbClr val="E8DCCB"/>
            </a:solidFill>
            <a:prstDash val="solid"/>
          </a:ln>
        </p:spPr>
      </p:sp>
      <p:sp>
        <p:nvSpPr>
          <p:cNvPr id="18" name="矩形 17"/>
          <p:cNvSpPr>
            <a:spLocks noGrp="1"/>
          </p:cNvSpPr>
          <p:nvPr/>
        </p:nvSpPr>
        <p:spPr>
          <a:xfrm>
            <a:off x="914400" y="4991100"/>
            <a:ext cx="57150" cy="1028700"/>
          </a:xfrm>
          <a:prstGeom prst="rect">
            <a:avLst/>
          </a:prstGeom>
          <a:solidFill>
            <a:srgbClr val="B45A3C"/>
          </a:solidFill>
          <a:ln w="0">
            <a:solidFill>
              <a:srgbClr val="B45A3C"/>
            </a:solidFill>
            <a:prstDash val="solid"/>
          </a:ln>
        </p:spPr>
      </p:sp>
      <p:sp>
        <p:nvSpPr>
          <p:cNvPr id="19" name="矩形 18"/>
          <p:cNvSpPr>
            <a:spLocks noGrp="1"/>
          </p:cNvSpPr>
          <p:nvPr/>
        </p:nvSpPr>
        <p:spPr>
          <a:xfrm>
            <a:off x="10858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See prior</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0" name="矩形 19"/>
          <p:cNvSpPr>
            <a:spLocks noGrp="1"/>
          </p:cNvSpPr>
          <p:nvPr/>
        </p:nvSpPr>
        <p:spPr>
          <a:xfrm>
            <a:off x="10858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Start from the same prior</a:t>
            </a:r>
            <a:endParaRPr sz="11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1" name="矩形 20"/>
          <p:cNvSpPr>
            <a:spLocks noGrp="1"/>
          </p:cNvSpPr>
          <p:nvPr/>
        </p:nvSpPr>
        <p:spPr>
          <a:xfrm>
            <a:off x="2762250" y="5505450"/>
            <a:ext cx="171450" cy="19050"/>
          </a:xfrm>
          <a:prstGeom prst="rect">
            <a:avLst/>
          </a:prstGeom>
          <a:solidFill>
            <a:srgbClr val="B45A3C"/>
          </a:solidFill>
          <a:ln w="0">
            <a:solidFill>
              <a:srgbClr val="B45A3C"/>
            </a:solidFill>
            <a:prstDash val="solid"/>
          </a:ln>
        </p:spPr>
      </p:sp>
      <p:sp>
        <p:nvSpPr>
          <p:cNvPr id="22" name="矩形: 圆角 21"/>
          <p:cNvSpPr>
            <a:spLocks noGrp="1"/>
          </p:cNvSpPr>
          <p:nvPr/>
        </p:nvSpPr>
        <p:spPr>
          <a:xfrm>
            <a:off x="2971800" y="4991100"/>
            <a:ext cx="1790700" cy="1028700"/>
          </a:xfrm>
          <a:prstGeom prst="roundRect">
            <a:avLst>
              <a:gd name="adj" fmla="val 7407"/>
            </a:avLst>
          </a:prstGeom>
          <a:solidFill>
            <a:srgbClr val="FFF9F0"/>
          </a:solidFill>
          <a:ln w="9525">
            <a:solidFill>
              <a:srgbClr val="E8DCCB"/>
            </a:solidFill>
            <a:prstDash val="solid"/>
          </a:ln>
        </p:spPr>
      </p:sp>
      <p:sp>
        <p:nvSpPr>
          <p:cNvPr id="23" name="矩形 22"/>
          <p:cNvSpPr>
            <a:spLocks noGrp="1"/>
          </p:cNvSpPr>
          <p:nvPr/>
        </p:nvSpPr>
        <p:spPr>
          <a:xfrm>
            <a:off x="2971800" y="4991100"/>
            <a:ext cx="57150" cy="1028700"/>
          </a:xfrm>
          <a:prstGeom prst="rect">
            <a:avLst/>
          </a:prstGeom>
          <a:solidFill>
            <a:srgbClr val="B45A3C"/>
          </a:solidFill>
          <a:ln w="0">
            <a:solidFill>
              <a:srgbClr val="B45A3C"/>
            </a:solidFill>
            <a:prstDash val="solid"/>
          </a:ln>
        </p:spPr>
      </p:sp>
      <p:sp>
        <p:nvSpPr>
          <p:cNvPr id="24" name="矩形 23"/>
          <p:cNvSpPr>
            <a:spLocks noGrp="1"/>
          </p:cNvSpPr>
          <p:nvPr/>
        </p:nvSpPr>
        <p:spPr>
          <a:xfrm>
            <a:off x="31432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Read summary</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5" name="矩形 24"/>
          <p:cNvSpPr>
            <a:spLocks noGrp="1"/>
          </p:cNvSpPr>
          <p:nvPr/>
        </p:nvSpPr>
        <p:spPr>
          <a:xfrm>
            <a:off x="31432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Or skip summary in baseline</a:t>
            </a:r>
            <a:endParaRPr sz="11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6" name="矩形 25"/>
          <p:cNvSpPr>
            <a:spLocks noGrp="1"/>
          </p:cNvSpPr>
          <p:nvPr/>
        </p:nvSpPr>
        <p:spPr>
          <a:xfrm>
            <a:off x="4819650" y="5505450"/>
            <a:ext cx="171450" cy="19050"/>
          </a:xfrm>
          <a:prstGeom prst="rect">
            <a:avLst/>
          </a:prstGeom>
          <a:solidFill>
            <a:srgbClr val="B45A3C"/>
          </a:solidFill>
          <a:ln w="0">
            <a:solidFill>
              <a:srgbClr val="B45A3C"/>
            </a:solidFill>
            <a:prstDash val="solid"/>
          </a:ln>
        </p:spPr>
      </p:sp>
      <p:sp>
        <p:nvSpPr>
          <p:cNvPr id="27" name="矩形: 圆角 26"/>
          <p:cNvSpPr>
            <a:spLocks noGrp="1"/>
          </p:cNvSpPr>
          <p:nvPr/>
        </p:nvSpPr>
        <p:spPr>
          <a:xfrm>
            <a:off x="5029200" y="4991100"/>
            <a:ext cx="1790700" cy="1028700"/>
          </a:xfrm>
          <a:prstGeom prst="roundRect">
            <a:avLst>
              <a:gd name="adj" fmla="val 7407"/>
            </a:avLst>
          </a:prstGeom>
          <a:solidFill>
            <a:srgbClr val="FFF9F0"/>
          </a:solidFill>
          <a:ln w="9525">
            <a:solidFill>
              <a:srgbClr val="E8DCCB"/>
            </a:solidFill>
            <a:prstDash val="solid"/>
          </a:ln>
        </p:spPr>
      </p:sp>
      <p:sp>
        <p:nvSpPr>
          <p:cNvPr id="28" name="矩形 27"/>
          <p:cNvSpPr>
            <a:spLocks noGrp="1"/>
          </p:cNvSpPr>
          <p:nvPr/>
        </p:nvSpPr>
        <p:spPr>
          <a:xfrm>
            <a:off x="5029200" y="4991100"/>
            <a:ext cx="57150" cy="1028700"/>
          </a:xfrm>
          <a:prstGeom prst="rect">
            <a:avLst/>
          </a:prstGeom>
          <a:solidFill>
            <a:srgbClr val="C89B4A"/>
          </a:solidFill>
          <a:ln w="0">
            <a:solidFill>
              <a:srgbClr val="C89B4A"/>
            </a:solidFill>
            <a:prstDash val="solid"/>
          </a:ln>
        </p:spPr>
      </p:sp>
      <p:sp>
        <p:nvSpPr>
          <p:cNvPr id="29" name="矩形 28"/>
          <p:cNvSpPr>
            <a:spLocks noGrp="1"/>
          </p:cNvSpPr>
          <p:nvPr/>
        </p:nvSpPr>
        <p:spPr>
          <a:xfrm>
            <a:off x="52006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Choose search</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30" name="矩形 29"/>
          <p:cNvSpPr>
            <a:spLocks noGrp="1"/>
          </p:cNvSpPr>
          <p:nvPr/>
        </p:nvSpPr>
        <p:spPr>
          <a:xfrm>
            <a:off x="52006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Open more evidence or stop</a:t>
            </a:r>
            <a:endParaRPr sz="11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31" name="矩形 30"/>
          <p:cNvSpPr>
            <a:spLocks noGrp="1"/>
          </p:cNvSpPr>
          <p:nvPr/>
        </p:nvSpPr>
        <p:spPr>
          <a:xfrm>
            <a:off x="6877050" y="5505450"/>
            <a:ext cx="171450" cy="19050"/>
          </a:xfrm>
          <a:prstGeom prst="rect">
            <a:avLst/>
          </a:prstGeom>
          <a:solidFill>
            <a:srgbClr val="B45A3C"/>
          </a:solidFill>
          <a:ln w="0">
            <a:solidFill>
              <a:srgbClr val="B45A3C"/>
            </a:solidFill>
            <a:prstDash val="solid"/>
          </a:ln>
        </p:spPr>
      </p:sp>
      <p:sp>
        <p:nvSpPr>
          <p:cNvPr id="32" name="矩形: 圆角 31"/>
          <p:cNvSpPr>
            <a:spLocks noGrp="1"/>
          </p:cNvSpPr>
          <p:nvPr/>
        </p:nvSpPr>
        <p:spPr>
          <a:xfrm>
            <a:off x="7086600" y="4991100"/>
            <a:ext cx="1790700" cy="1028700"/>
          </a:xfrm>
          <a:prstGeom prst="roundRect">
            <a:avLst>
              <a:gd name="adj" fmla="val 7407"/>
            </a:avLst>
          </a:prstGeom>
          <a:solidFill>
            <a:srgbClr val="FFF9F0"/>
          </a:solidFill>
          <a:ln w="9525">
            <a:solidFill>
              <a:srgbClr val="E8DCCB"/>
            </a:solidFill>
            <a:prstDash val="solid"/>
          </a:ln>
        </p:spPr>
      </p:sp>
      <p:sp>
        <p:nvSpPr>
          <p:cNvPr id="33" name="矩形 32"/>
          <p:cNvSpPr>
            <a:spLocks noGrp="1"/>
          </p:cNvSpPr>
          <p:nvPr/>
        </p:nvSpPr>
        <p:spPr>
          <a:xfrm>
            <a:off x="7086600" y="4991100"/>
            <a:ext cx="57150" cy="1028700"/>
          </a:xfrm>
          <a:prstGeom prst="rect">
            <a:avLst/>
          </a:prstGeom>
          <a:solidFill>
            <a:srgbClr val="B45A3C"/>
          </a:solidFill>
          <a:ln w="0">
            <a:solidFill>
              <a:srgbClr val="B45A3C"/>
            </a:solidFill>
            <a:prstDash val="solid"/>
          </a:ln>
        </p:spPr>
      </p:sp>
      <p:sp>
        <p:nvSpPr>
          <p:cNvPr id="34" name="矩形 33"/>
          <p:cNvSpPr>
            <a:spLocks noGrp="1"/>
          </p:cNvSpPr>
          <p:nvPr/>
        </p:nvSpPr>
        <p:spPr>
          <a:xfrm>
            <a:off x="72580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Report posterior</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35" name="矩形 34"/>
          <p:cNvSpPr>
            <a:spLocks noGrp="1"/>
          </p:cNvSpPr>
          <p:nvPr/>
        </p:nvSpPr>
        <p:spPr>
          <a:xfrm>
            <a:off x="72580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Give the final probability</a:t>
            </a:r>
            <a:endParaRPr sz="112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36" name="矩形 35"/>
          <p:cNvSpPr>
            <a:spLocks noGrp="1"/>
          </p:cNvSpPr>
          <p:nvPr/>
        </p:nvSpPr>
        <p:spPr>
          <a:xfrm>
            <a:off x="8934450" y="5505450"/>
            <a:ext cx="171450" cy="19050"/>
          </a:xfrm>
          <a:prstGeom prst="rect">
            <a:avLst/>
          </a:prstGeom>
          <a:solidFill>
            <a:srgbClr val="B45A3C"/>
          </a:solidFill>
          <a:ln w="0">
            <a:solidFill>
              <a:srgbClr val="B45A3C"/>
            </a:solidFill>
            <a:prstDash val="solid"/>
          </a:ln>
        </p:spPr>
      </p:sp>
      <p:sp>
        <p:nvSpPr>
          <p:cNvPr id="37" name="矩形: 圆角 36"/>
          <p:cNvSpPr>
            <a:spLocks noGrp="1"/>
          </p:cNvSpPr>
          <p:nvPr/>
        </p:nvSpPr>
        <p:spPr>
          <a:xfrm>
            <a:off x="9144000" y="4991100"/>
            <a:ext cx="1790700" cy="1028700"/>
          </a:xfrm>
          <a:prstGeom prst="roundRect">
            <a:avLst>
              <a:gd name="adj" fmla="val 7407"/>
            </a:avLst>
          </a:prstGeom>
          <a:solidFill>
            <a:srgbClr val="FFF9F0"/>
          </a:solidFill>
          <a:ln w="9525">
            <a:solidFill>
              <a:srgbClr val="E8DCCB"/>
            </a:solidFill>
            <a:prstDash val="solid"/>
          </a:ln>
        </p:spPr>
      </p:sp>
      <p:sp>
        <p:nvSpPr>
          <p:cNvPr id="38" name="矩形 37"/>
          <p:cNvSpPr>
            <a:spLocks noGrp="1"/>
          </p:cNvSpPr>
          <p:nvPr/>
        </p:nvSpPr>
        <p:spPr>
          <a:xfrm>
            <a:off x="9144000" y="4991100"/>
            <a:ext cx="57150" cy="1028700"/>
          </a:xfrm>
          <a:prstGeom prst="rect">
            <a:avLst/>
          </a:prstGeom>
          <a:solidFill>
            <a:srgbClr val="B45A3C"/>
          </a:solidFill>
          <a:ln w="0">
            <a:solidFill>
              <a:srgbClr val="B45A3C"/>
            </a:solidFill>
            <a:prstDash val="solid"/>
          </a:ln>
        </p:spPr>
      </p:sp>
      <p:sp>
        <p:nvSpPr>
          <p:cNvPr id="39" name="矩形 38"/>
          <p:cNvSpPr>
            <a:spLocks noGrp="1"/>
          </p:cNvSpPr>
          <p:nvPr/>
        </p:nvSpPr>
        <p:spPr>
          <a:xfrm>
            <a:off x="93154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Rate mastery</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40" name="矩形 39"/>
          <p:cNvSpPr>
            <a:spLocks noGrp="1"/>
          </p:cNvSpPr>
          <p:nvPr/>
        </p:nvSpPr>
        <p:spPr>
          <a:xfrm>
            <a:off x="93154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Report confidence and ownership</a:t>
            </a:r>
            <a:endParaRPr sz="112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lang="en-US" sz="975" b="1">
                <a:solidFill>
                  <a:srgbClr val="BE643F"/>
                </a:solidFill>
                <a:latin typeface="Times New Roman" panose="02020603050405020304" pitchFamily="18" charset="0"/>
              </a:rPr>
              <a:t>BAYESIAN BENCHMARK</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lang="en-US" sz="2325" b="1">
                <a:solidFill>
                  <a:srgbClr val="232B3A"/>
                </a:solidFill>
                <a:latin typeface="Times New Roman" panose="02020603050405020304" pitchFamily="18" charset="0"/>
              </a:rPr>
              <a:t>Bayesian updating provides the normative benchmark</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lang="en-US" sz="1350">
                <a:solidFill>
                  <a:srgbClr val="667085"/>
                </a:solidFill>
                <a:latin typeface="Times New Roman" panose="02020603050405020304" pitchFamily="18" charset="0"/>
              </a:rPr>
              <a:t>The design can distinguish under-search from under-updating because each posterior report can be compared with a calculable benchmark.</a:t>
            </a:r>
            <a:endParaRPr sz="1350">
              <a:solidFill>
                <a:srgbClr val="667085"/>
              </a:solidFill>
              <a:latin typeface="Times New Roman" panose="02020603050405020304" pitchFamily="18" charset="0"/>
            </a:endParaRP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Classical updating rule</a:t>
            </a:r>
            <a:endParaRPr sz="1650" b="1">
              <a:solidFill>
                <a:srgbClr val="232B3A"/>
              </a:solidFill>
              <a:latin typeface="Times New Roman" panose="02020603050405020304" pitchFamily="18" charset="0"/>
            </a:endParaRP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logit(p_Bayes) = logit(p_prior) + sum log(LR_j)</a:t>
            </a:r>
            <a:endParaRPr lang="en-US" sz="1275">
              <a:solidFill>
                <a:srgbClr val="667085"/>
              </a:solidFill>
              <a:latin typeface="Times New Roman" panose="02020603050405020304" pitchFamily="18" charset="0"/>
            </a:endParaRP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Each evidence item contributes its directional likelihood ratio to the posterior benchmark.</a:t>
            </a:r>
            <a:endParaRPr sz="1275">
              <a:solidFill>
                <a:srgbClr val="667085"/>
              </a:solidFill>
              <a:latin typeface="Times New Roman" panose="02020603050405020304" pitchFamily="18" charset="0"/>
            </a:endParaRP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Observed information set</a:t>
            </a:r>
            <a:endParaRPr sz="1650" b="1">
              <a:solidFill>
                <a:srgbClr val="232B3A"/>
              </a:solidFill>
              <a:latin typeface="Times New Roman" panose="02020603050405020304" pitchFamily="18" charset="0"/>
            </a:endParaRP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Summary-mentioned evidence and later clicked evidence both enter the participant's observed information set.</a:t>
            </a:r>
            <a:endParaRPr sz="1275">
              <a:solidFill>
                <a:srgbClr val="667085"/>
              </a:solidFill>
              <a:latin typeface="Times New Roman" panose="02020603050405020304" pitchFamily="18" charset="0"/>
            </a:endParaRP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Conditional Bayesian deviation</a:t>
            </a:r>
            <a:endParaRPr sz="1650" b="1">
              <a:solidFill>
                <a:srgbClr val="232B3A"/>
              </a:solidFill>
              <a:latin typeface="Times New Roman" panose="02020603050405020304" pitchFamily="18" charset="0"/>
            </a:endParaRP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abs(logit(p_reported) - logit(p_Bayes observed))</a:t>
            </a:r>
            <a:endParaRPr lang="en-US" sz="1275">
              <a:solidFill>
                <a:srgbClr val="667085"/>
              </a:solidFill>
              <a:latin typeface="Times New Roman" panose="02020603050405020304" pitchFamily="18" charset="0"/>
            </a:endParaRP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Did the participant use the evidence actually seen correctly?</a:t>
            </a:r>
            <a:endParaRPr sz="1275">
              <a:solidFill>
                <a:srgbClr val="667085"/>
              </a:solidFill>
              <a:latin typeface="Times New Roman" panose="02020603050405020304" pitchFamily="18" charset="0"/>
            </a:endParaRP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Full-information deviation</a:t>
            </a:r>
            <a:endParaRPr sz="1650" b="1">
              <a:solidFill>
                <a:srgbClr val="232B3A"/>
              </a:solidFill>
              <a:latin typeface="Times New Roman" panose="02020603050405020304" pitchFamily="18" charset="0"/>
            </a:endParaRP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abs(logit(p_reported) - logit(p_Bayes full))</a:t>
            </a:r>
            <a:endParaRPr lang="en-US" sz="1275">
              <a:solidFill>
                <a:srgbClr val="667085"/>
              </a:solidFill>
              <a:latin typeface="Times New Roman" panose="02020603050405020304" pitchFamily="18" charset="0"/>
            </a:endParaRP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How far is the final judgment from the full-evidence benchmark?</a:t>
            </a:r>
            <a:endParaRPr sz="1275">
              <a:solidFill>
                <a:srgbClr val="667085"/>
              </a:solidFill>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RESULT PATTERNS</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Different result patterns would support different hypotheses</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Once the experiment is in place, the key issue is how the observed result pattern maps onto the three research questions.</a:t>
            </a:r>
            <a:endParaRPr sz="1350">
              <a:solidFill>
                <a:srgbClr val="667085"/>
              </a:solidFill>
              <a:latin typeface="Times New Roman" panose="02020603050405020304" pitchFamily="18" charset="0"/>
            </a:endParaRPr>
          </a:p>
        </p:txBody>
      </p:sp>
      <p:sp>
        <p:nvSpPr>
          <p:cNvPr id="8" name="矩形: 圆角 7"/>
          <p:cNvSpPr>
            <a:spLocks noGrp="1"/>
          </p:cNvSpPr>
          <p:nvPr>
            <p:custDataLst>
              <p:tags r:id="rId1"/>
            </p:custDataLst>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custDataLst>
              <p:tags r:id="rId2"/>
            </p:custDataLst>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custDataLst>
              <p:tags r:id="rId3"/>
            </p:custDataLst>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RQ1: stopping-threshold effect</a:t>
            </a:r>
            <a:endParaRPr sz="1650" b="1">
              <a:solidFill>
                <a:srgbClr val="232B3A"/>
              </a:solidFill>
              <a:latin typeface="Times New Roman" panose="02020603050405020304" pitchFamily="18" charset="0"/>
            </a:endParaRPr>
          </a:p>
        </p:txBody>
      </p:sp>
      <p:sp>
        <p:nvSpPr>
          <p:cNvPr id="11" name="矩形 10"/>
          <p:cNvSpPr>
            <a:spLocks noGrp="1"/>
          </p:cNvSpPr>
          <p:nvPr>
            <p:custDataLst>
              <p:tags r:id="rId4"/>
            </p:custDataLst>
          </p:nvPr>
        </p:nvSpPr>
        <p:spPr>
          <a:xfrm>
            <a:off x="11811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the AI-labeled summary group searches less, stops earlier, or is willing to pay less for extra evidence than the unlabeled-summary group, that supports the claim that the AI label shifts the search stopping threshold.</a:t>
            </a:r>
            <a:endParaRPr sz="1275">
              <a:solidFill>
                <a:srgbClr val="667085"/>
              </a:solidFill>
              <a:latin typeface="Times New Roman" panose="02020603050405020304" pitchFamily="18" charset="0"/>
            </a:endParaRPr>
          </a:p>
        </p:txBody>
      </p:sp>
      <p:sp>
        <p:nvSpPr>
          <p:cNvPr id="12" name="矩形: 圆角 11"/>
          <p:cNvSpPr>
            <a:spLocks noGrp="1"/>
          </p:cNvSpPr>
          <p:nvPr>
            <p:custDataLst>
              <p:tags r:id="rId5"/>
            </p:custDataLst>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custDataLst>
              <p:tags r:id="rId6"/>
            </p:custDataLst>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custDataLst>
              <p:tags r:id="rId7"/>
            </p:custDataLst>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efficient compression</a:t>
            </a:r>
            <a:endParaRPr sz="1650" b="1">
              <a:solidFill>
                <a:srgbClr val="232B3A"/>
              </a:solidFill>
              <a:latin typeface="Times New Roman" panose="02020603050405020304" pitchFamily="18" charset="0"/>
            </a:endParaRPr>
          </a:p>
        </p:txBody>
      </p:sp>
      <p:sp>
        <p:nvSpPr>
          <p:cNvPr id="15" name="矩形 14"/>
          <p:cNvSpPr>
            <a:spLocks noGrp="1"/>
          </p:cNvSpPr>
          <p:nvPr>
            <p:custDataLst>
              <p:tags r:id="rId8"/>
            </p:custDataLst>
          </p:nvPr>
        </p:nvSpPr>
        <p:spPr>
          <a:xfrm>
            <a:off x="67056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falls under representative summaries without worse full-information performance, the reduction in search is consistent with efficient information compression rather than harmful under-search.</a:t>
            </a:r>
            <a:endParaRPr sz="1275">
              <a:solidFill>
                <a:srgbClr val="667085"/>
              </a:solidFill>
              <a:latin typeface="Times New Roman" panose="02020603050405020304" pitchFamily="18" charset="0"/>
            </a:endParaRPr>
          </a:p>
        </p:txBody>
      </p:sp>
      <p:sp>
        <p:nvSpPr>
          <p:cNvPr id="16" name="矩形: 圆角 15"/>
          <p:cNvSpPr>
            <a:spLocks noGrp="1"/>
          </p:cNvSpPr>
          <p:nvPr>
            <p:custDataLst>
              <p:tags r:id="rId9"/>
            </p:custDataLst>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custDataLst>
              <p:tags r:id="rId10"/>
            </p:custDataLst>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custDataLst>
              <p:tags r:id="rId11"/>
            </p:custDataLst>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harmful under-search</a:t>
            </a:r>
            <a:endParaRPr sz="1650" b="1">
              <a:solidFill>
                <a:srgbClr val="232B3A"/>
              </a:solidFill>
              <a:latin typeface="Times New Roman" panose="02020603050405020304" pitchFamily="18" charset="0"/>
            </a:endParaRPr>
          </a:p>
        </p:txBody>
      </p:sp>
      <p:sp>
        <p:nvSpPr>
          <p:cNvPr id="19" name="矩形 18"/>
          <p:cNvSpPr>
            <a:spLocks noGrp="1"/>
          </p:cNvSpPr>
          <p:nvPr>
            <p:custDataLst>
              <p:tags r:id="rId12"/>
            </p:custDataLst>
          </p:nvPr>
        </p:nvSpPr>
        <p:spPr>
          <a:xfrm>
            <a:off x="11811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still falls under incomplete summaries and full-information deviation grows, the result supports harmful information-acquisition deviation caused by overestimated sufficiency.</a:t>
            </a:r>
            <a:endParaRPr sz="1275">
              <a:solidFill>
                <a:srgbClr val="667085"/>
              </a:solidFill>
              <a:latin typeface="Times New Roman" panose="02020603050405020304" pitchFamily="18" charset="0"/>
            </a:endParaRPr>
          </a:p>
        </p:txBody>
      </p:sp>
      <p:sp>
        <p:nvSpPr>
          <p:cNvPr id="20" name="矩形: 圆角 19"/>
          <p:cNvSpPr>
            <a:spLocks noGrp="1"/>
          </p:cNvSpPr>
          <p:nvPr>
            <p:custDataLst>
              <p:tags r:id="rId13"/>
            </p:custDataLst>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custDataLst>
              <p:tags r:id="rId14"/>
            </p:custDataLst>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custDataLst>
              <p:tags r:id="rId15"/>
            </p:custDataLst>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RQ3: calibration mismatch</a:t>
            </a:r>
            <a:endParaRPr sz="1650" b="1">
              <a:solidFill>
                <a:srgbClr val="232B3A"/>
              </a:solidFill>
              <a:latin typeface="Times New Roman" panose="02020603050405020304" pitchFamily="18" charset="0"/>
            </a:endParaRPr>
          </a:p>
        </p:txBody>
      </p:sp>
      <p:sp>
        <p:nvSpPr>
          <p:cNvPr id="23" name="矩形 22"/>
          <p:cNvSpPr>
            <a:spLocks noGrp="1"/>
          </p:cNvSpPr>
          <p:nvPr>
            <p:custDataLst>
              <p:tags r:id="rId16"/>
            </p:custDataLst>
          </p:nvPr>
        </p:nvSpPr>
        <p:spPr>
          <a:xfrm>
            <a:off x="67056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AI-summary users show better posterior quality but lower subjective mastery or epistemic ownership, the result supports a mismatch between objective updating quality and subjective information mastery.</a:t>
            </a:r>
            <a:endParaRPr sz="1275">
              <a:solidFill>
                <a:srgbClr val="667085"/>
              </a:solidFill>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3" name="椭圆 22"/>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EXPECTED CONTRIBUTIONS</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9144000" cy="6858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Expected contributions</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contributes by identifying where AI changes additional search, posterior updating, and subjective information mastery.</a:t>
            </a:r>
            <a:endParaRPr sz="1350">
              <a:solidFill>
                <a:srgbClr val="667085"/>
              </a:solidFill>
              <a:latin typeface="Times New Roman" panose="02020603050405020304" pitchFamily="18" charset="0"/>
            </a:endParaRPr>
          </a:p>
        </p:txBody>
      </p:sp>
      <p:sp>
        <p:nvSpPr>
          <p:cNvPr id="8" name="矩形: 圆角 7"/>
          <p:cNvSpPr>
            <a:spLocks noGrp="1"/>
          </p:cNvSpPr>
          <p:nvPr/>
        </p:nvSpPr>
        <p:spPr>
          <a:xfrm>
            <a:off x="914400" y="2400300"/>
            <a:ext cx="3238500" cy="2533650"/>
          </a:xfrm>
          <a:prstGeom prst="roundRect">
            <a:avLst>
              <a:gd name="adj" fmla="val 4511"/>
            </a:avLst>
          </a:prstGeom>
          <a:solidFill>
            <a:srgbClr val="FEFCF8"/>
          </a:solidFill>
          <a:ln w="9525">
            <a:solidFill>
              <a:srgbClr val="F0E2D1"/>
            </a:solidFill>
            <a:prstDash val="solid"/>
          </a:ln>
        </p:spPr>
      </p:sp>
      <p:sp>
        <p:nvSpPr>
          <p:cNvPr id="9" name="矩形 8"/>
          <p:cNvSpPr>
            <a:spLocks noGrp="1"/>
          </p:cNvSpPr>
          <p:nvPr/>
        </p:nvSpPr>
        <p:spPr>
          <a:xfrm>
            <a:off x="914400" y="2400300"/>
            <a:ext cx="57150" cy="25336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Theoretical move</a:t>
            </a:r>
            <a:endParaRPr sz="1650" b="1">
              <a:solidFill>
                <a:srgbClr val="232B3A"/>
              </a:solidFill>
              <a:latin typeface="Times New Roman" panose="02020603050405020304" pitchFamily="18" charset="0"/>
            </a:endParaRPr>
          </a:p>
        </p:txBody>
      </p:sp>
      <p:sp>
        <p:nvSpPr>
          <p:cNvPr id="11" name="矩形 10"/>
          <p:cNvSpPr>
            <a:spLocks noGrp="1"/>
          </p:cNvSpPr>
          <p:nvPr/>
        </p:nvSpPr>
        <p:spPr>
          <a:xfrm>
            <a:off x="118110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shifts the focus from generic trust and automation bias to an evidence-to-belief mechanism: how AI changes users' judgments of evidentiary sufficiency and the stopping rule for further search.</a:t>
            </a:r>
            <a:endParaRPr sz="1275">
              <a:solidFill>
                <a:srgbClr val="667085"/>
              </a:solidFill>
              <a:latin typeface="Times New Roman" panose="02020603050405020304" pitchFamily="18" charset="0"/>
            </a:endParaRPr>
          </a:p>
        </p:txBody>
      </p:sp>
      <p:sp>
        <p:nvSpPr>
          <p:cNvPr id="12" name="矩形: 圆角 11"/>
          <p:cNvSpPr>
            <a:spLocks noGrp="1"/>
          </p:cNvSpPr>
          <p:nvPr/>
        </p:nvSpPr>
        <p:spPr>
          <a:xfrm>
            <a:off x="4476750" y="2400300"/>
            <a:ext cx="3238500" cy="2533650"/>
          </a:xfrm>
          <a:prstGeom prst="roundRect">
            <a:avLst>
              <a:gd name="adj" fmla="val 4511"/>
            </a:avLst>
          </a:prstGeom>
          <a:solidFill>
            <a:srgbClr val="FEFCF8"/>
          </a:solidFill>
          <a:ln w="9525">
            <a:solidFill>
              <a:srgbClr val="F0E2D1"/>
            </a:solidFill>
            <a:prstDash val="solid"/>
          </a:ln>
        </p:spPr>
      </p:sp>
      <p:sp>
        <p:nvSpPr>
          <p:cNvPr id="13" name="矩形 12"/>
          <p:cNvSpPr>
            <a:spLocks noGrp="1"/>
          </p:cNvSpPr>
          <p:nvPr/>
        </p:nvSpPr>
        <p:spPr>
          <a:xfrm>
            <a:off x="4476750" y="2400300"/>
            <a:ext cx="57150" cy="2533650"/>
          </a:xfrm>
          <a:prstGeom prst="rect">
            <a:avLst/>
          </a:prstGeom>
          <a:solidFill>
            <a:srgbClr val="D1A63A"/>
          </a:solidFill>
          <a:ln w="0">
            <a:solidFill>
              <a:srgbClr val="D1A63A"/>
            </a:solidFill>
            <a:prstDash val="solid"/>
          </a:ln>
        </p:spPr>
      </p:sp>
      <p:sp>
        <p:nvSpPr>
          <p:cNvPr id="14" name="矩形 13"/>
          <p:cNvSpPr>
            <a:spLocks noGrp="1"/>
          </p:cNvSpPr>
          <p:nvPr/>
        </p:nvSpPr>
        <p:spPr>
          <a:xfrm>
            <a:off x="474345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Method contribution</a:t>
            </a:r>
            <a:endParaRPr sz="1650" b="1">
              <a:solidFill>
                <a:srgbClr val="232B3A"/>
              </a:solidFill>
              <a:latin typeface="Times New Roman" panose="02020603050405020304" pitchFamily="18" charset="0"/>
            </a:endParaRPr>
          </a:p>
        </p:txBody>
      </p:sp>
      <p:sp>
        <p:nvSpPr>
          <p:cNvPr id="15" name="矩形 14"/>
          <p:cNvSpPr>
            <a:spLocks noGrp="1"/>
          </p:cNvSpPr>
          <p:nvPr/>
        </p:nvSpPr>
        <p:spPr>
          <a:xfrm>
            <a:off x="474345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It extends a classic Bayesian belief-updating paradigm into a company-risk task with summary-first presentation, follow-on evidence search, and same-summary source-label identification.</a:t>
            </a:r>
            <a:endParaRPr sz="1275">
              <a:solidFill>
                <a:srgbClr val="667085"/>
              </a:solidFill>
              <a:latin typeface="Times New Roman" panose="02020603050405020304" pitchFamily="18" charset="0"/>
            </a:endParaRPr>
          </a:p>
        </p:txBody>
      </p:sp>
      <p:sp>
        <p:nvSpPr>
          <p:cNvPr id="16" name="矩形: 圆角 15"/>
          <p:cNvSpPr>
            <a:spLocks noGrp="1"/>
          </p:cNvSpPr>
          <p:nvPr/>
        </p:nvSpPr>
        <p:spPr>
          <a:xfrm>
            <a:off x="8039100" y="2400300"/>
            <a:ext cx="3162300" cy="2533650"/>
          </a:xfrm>
          <a:prstGeom prst="roundRect">
            <a:avLst>
              <a:gd name="adj" fmla="val 4511"/>
            </a:avLst>
          </a:prstGeom>
          <a:solidFill>
            <a:srgbClr val="FEFCF8"/>
          </a:solidFill>
          <a:ln w="9525">
            <a:solidFill>
              <a:srgbClr val="F0E2D1"/>
            </a:solidFill>
            <a:prstDash val="solid"/>
          </a:ln>
        </p:spPr>
      </p:sp>
      <p:sp>
        <p:nvSpPr>
          <p:cNvPr id="17" name="矩形 16"/>
          <p:cNvSpPr>
            <a:spLocks noGrp="1"/>
          </p:cNvSpPr>
          <p:nvPr/>
        </p:nvSpPr>
        <p:spPr>
          <a:xfrm>
            <a:off x="8039100" y="2400300"/>
            <a:ext cx="57150" cy="2533650"/>
          </a:xfrm>
          <a:prstGeom prst="rect">
            <a:avLst/>
          </a:prstGeom>
          <a:solidFill>
            <a:srgbClr val="7A8A68"/>
          </a:solidFill>
          <a:ln w="0">
            <a:solidFill>
              <a:srgbClr val="7A8A68"/>
            </a:solidFill>
            <a:prstDash val="solid"/>
          </a:ln>
        </p:spPr>
      </p:sp>
      <p:sp>
        <p:nvSpPr>
          <p:cNvPr id="18" name="矩形 17"/>
          <p:cNvSpPr>
            <a:spLocks noGrp="1"/>
          </p:cNvSpPr>
          <p:nvPr/>
        </p:nvSpPr>
        <p:spPr>
          <a:xfrm>
            <a:off x="8305800" y="2571750"/>
            <a:ext cx="27051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Substantive contribution</a:t>
            </a:r>
            <a:endParaRPr sz="1650" b="1">
              <a:solidFill>
                <a:srgbClr val="232B3A"/>
              </a:solidFill>
              <a:latin typeface="Times New Roman" panose="02020603050405020304" pitchFamily="18" charset="0"/>
            </a:endParaRPr>
          </a:p>
        </p:txBody>
      </p:sp>
      <p:sp>
        <p:nvSpPr>
          <p:cNvPr id="19" name="矩形 18"/>
          <p:cNvSpPr>
            <a:spLocks noGrp="1"/>
          </p:cNvSpPr>
          <p:nvPr/>
        </p:nvSpPr>
        <p:spPr>
          <a:xfrm>
            <a:off x="8305800" y="2952750"/>
            <a:ext cx="27051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distinguishes efficient compression from harmful under-search and shows how objective posterior quality can separate from subjective mastery and epistemic ownership.</a:t>
            </a:r>
            <a:endParaRPr sz="1275">
              <a:solidFill>
                <a:srgbClr val="667085"/>
              </a:solidFill>
              <a:latin typeface="Times New Roman" panose="02020603050405020304" pitchFamily="18" charset="0"/>
            </a:endParaRPr>
          </a:p>
        </p:txBody>
      </p:sp>
      <p:sp>
        <p:nvSpPr>
          <p:cNvPr id="20" name="矩形: 圆角 19"/>
          <p:cNvSpPr>
            <a:spLocks noGrp="1"/>
          </p:cNvSpPr>
          <p:nvPr/>
        </p:nvSpPr>
        <p:spPr>
          <a:xfrm>
            <a:off x="1638300" y="5276850"/>
            <a:ext cx="8839200" cy="704850"/>
          </a:xfrm>
          <a:prstGeom prst="roundRect">
            <a:avLst>
              <a:gd name="adj" fmla="val 16216"/>
            </a:avLst>
          </a:prstGeom>
          <a:solidFill>
            <a:srgbClr val="FCFAF6"/>
          </a:solidFill>
          <a:ln w="9525">
            <a:solidFill>
              <a:srgbClr val="F0E2D1"/>
            </a:solidFill>
            <a:prstDash val="solid"/>
          </a:ln>
        </p:spPr>
      </p:sp>
      <p:sp>
        <p:nvSpPr>
          <p:cNvPr id="21" name="矩形 20"/>
          <p:cNvSpPr>
            <a:spLocks noGrp="1"/>
          </p:cNvSpPr>
          <p:nvPr/>
        </p:nvSpPr>
        <p:spPr>
          <a:xfrm>
            <a:off x="1638300" y="5276850"/>
            <a:ext cx="57150" cy="704850"/>
          </a:xfrm>
          <a:prstGeom prst="rect">
            <a:avLst/>
          </a:prstGeom>
          <a:solidFill>
            <a:srgbClr val="BE643F"/>
          </a:solidFill>
          <a:ln w="0">
            <a:solidFill>
              <a:srgbClr val="BE643F"/>
            </a:solidFill>
            <a:prstDash val="solid"/>
          </a:ln>
        </p:spPr>
      </p:sp>
      <p:sp>
        <p:nvSpPr>
          <p:cNvPr id="22" name="矩形 21"/>
          <p:cNvSpPr>
            <a:spLocks noGrp="1"/>
          </p:cNvSpPr>
          <p:nvPr/>
        </p:nvSpPr>
        <p:spPr>
          <a:xfrm>
            <a:off x="1924050" y="5448300"/>
            <a:ext cx="8286750" cy="342900"/>
          </a:xfrm>
          <a:prstGeom prst="rect">
            <a:avLst/>
          </a:prstGeom>
          <a:noFill/>
          <a:ln w="0">
            <a:noFill/>
            <a:prstDash val="solid"/>
          </a:ln>
        </p:spPr>
        <p:txBody>
          <a:bodyPr/>
          <a:lstStyle/>
          <a:p>
            <a:pPr algn="ctr">
              <a:defRPr sz="1350" i="1">
                <a:solidFill>
                  <a:srgbClr val="667085"/>
                </a:solidFill>
              </a:defRPr>
            </a:pPr>
            <a:r>
              <a:rPr sz="1350" i="1">
                <a:solidFill>
                  <a:srgbClr val="667085"/>
                </a:solidFill>
                <a:latin typeface="Times New Roman" panose="02020603050405020304" pitchFamily="18" charset="0"/>
              </a:rPr>
              <a:t>Taken together, the paper asks not only whether AI reduces search, but whether it changes when users feel they have already seen enough.</a:t>
            </a:r>
            <a:endParaRPr sz="1350" i="1">
              <a:solidFill>
                <a:srgbClr val="667085"/>
              </a:solidFill>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a:spLocks noGrp="1"/>
          </p:cNvSpPr>
          <p:nvPr/>
        </p:nvSpPr>
        <p:spPr>
          <a:xfrm>
            <a:off x="0" y="0"/>
            <a:ext cx="12192000" cy="6858000"/>
          </a:xfrm>
          <a:prstGeom prst="rect">
            <a:avLst/>
          </a:prstGeom>
          <a:solidFill>
            <a:srgbClr val="1F2A44"/>
          </a:solidFill>
          <a:ln w="0">
            <a:solidFill>
              <a:srgbClr val="1F2A44"/>
            </a:solidFill>
            <a:prstDash val="solid"/>
          </a:ln>
        </p:spPr>
        <p:txBody>
          <a:bodyPr/>
          <a:lstStyle/>
          <a:p/>
        </p:txBody>
      </p:sp>
      <p:sp>
        <p:nvSpPr>
          <p:cNvPr id="2" name="椭圆 1"/>
          <p:cNvSpPr>
            <a:spLocks noGrp="1"/>
          </p:cNvSpPr>
          <p:nvPr/>
        </p:nvSpPr>
        <p:spPr>
          <a:xfrm>
            <a:off x="8858250" y="-1047750"/>
            <a:ext cx="3429000" cy="3429000"/>
          </a:xfrm>
          <a:prstGeom prst="ellipse">
            <a:avLst/>
          </a:prstGeom>
          <a:solidFill>
            <a:srgbClr val="223239"/>
          </a:solidFill>
          <a:ln w="9525">
            <a:solidFill>
              <a:srgbClr val="223239"/>
            </a:solidFill>
            <a:prstDash val="solid"/>
          </a:ln>
        </p:spPr>
      </p:sp>
      <p:sp>
        <p:nvSpPr>
          <p:cNvPr id="3" name="椭圆 2"/>
          <p:cNvSpPr>
            <a:spLocks noGrp="1"/>
          </p:cNvSpPr>
          <p:nvPr/>
        </p:nvSpPr>
        <p:spPr>
          <a:xfrm>
            <a:off x="-952500" y="5143500"/>
            <a:ext cx="2286000" cy="2286000"/>
          </a:xfrm>
          <a:prstGeom prst="ellipse">
            <a:avLst/>
          </a:prstGeom>
          <a:solidFill>
            <a:srgbClr val="223239"/>
          </a:solidFill>
          <a:ln w="9525">
            <a:solidFill>
              <a:srgbClr val="223239"/>
            </a:solidFill>
            <a:prstDash val="solid"/>
          </a:ln>
        </p:spPr>
      </p:sp>
      <p:sp>
        <p:nvSpPr>
          <p:cNvPr id="4" name="矩形 3"/>
          <p:cNvSpPr>
            <a:spLocks noGrp="1"/>
          </p:cNvSpPr>
          <p:nvPr/>
        </p:nvSpPr>
        <p:spPr>
          <a:xfrm>
            <a:off x="838200" y="838200"/>
            <a:ext cx="2095500" cy="20955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E7D4C3"/>
                </a:solidFill>
                <a:latin typeface="Times New Roman" panose="02020603050405020304"/>
                <a:ea typeface="Times New Roman" panose="02020603050405020304"/>
                <a:cs typeface="Times New Roman" panose="02020603050405020304"/>
              </a:defRPr>
            </a:pPr>
            <a:r>
              <a:rPr sz="1125" b="1" i="0">
                <a:solidFill>
                  <a:srgbClr val="E7D4C3"/>
                </a:solidFill>
                <a:latin typeface="Times New Roman" panose="02020603050405020304"/>
                <a:ea typeface="Times New Roman" panose="02020603050405020304"/>
                <a:cs typeface="Times New Roman" panose="02020603050405020304"/>
              </a:rPr>
              <a:t>PAPER 2</a:t>
            </a:r>
            <a:endParaRPr sz="1125" b="1" i="0">
              <a:solidFill>
                <a:srgbClr val="E7D4C3"/>
              </a:solidFill>
              <a:latin typeface="Times New Roman" panose="02020603050405020304"/>
              <a:ea typeface="Times New Roman" panose="02020603050405020304"/>
              <a:cs typeface="Times New Roman" panose="02020603050405020304"/>
            </a:endParaRPr>
          </a:p>
        </p:txBody>
      </p:sp>
      <p:sp>
        <p:nvSpPr>
          <p:cNvPr id="5" name="直接连接符 4"/>
          <p:cNvSpPr>
            <a:spLocks noGrp="1"/>
          </p:cNvSpPr>
          <p:nvPr/>
        </p:nvSpPr>
        <p:spPr>
          <a:xfrm>
            <a:off x="800100" y="5962650"/>
            <a:ext cx="10591800" cy="9525"/>
          </a:xfrm>
          <a:prstGeom prst="line">
            <a:avLst/>
          </a:prstGeom>
          <a:ln w="9525">
            <a:solidFill>
              <a:srgbClr val="C9BAA8"/>
            </a:solidFill>
            <a:prstDash val="solid"/>
          </a:ln>
        </p:spPr>
      </p:sp>
      <p:sp>
        <p:nvSpPr>
          <p:cNvPr id="6" name="矩形 5"/>
          <p:cNvSpPr>
            <a:spLocks noGrp="1"/>
          </p:cNvSpPr>
          <p:nvPr/>
        </p:nvSpPr>
        <p:spPr>
          <a:xfrm>
            <a:off x="1200150" y="1733550"/>
            <a:ext cx="7239000" cy="1066800"/>
          </a:xfrm>
          <a:prstGeom prst="rect">
            <a:avLst/>
          </a:prstGeom>
          <a:noFill/>
          <a:ln w="0">
            <a:noFill/>
            <a:prstDash val="solid"/>
          </a:ln>
        </p:spPr>
        <p:txBody>
          <a:bodyPr wrap="square" lIns="0" tIns="0" rIns="0" bIns="0" anchor="t">
            <a:normAutofit/>
          </a:bodyPr>
          <a:lstStyle/>
          <a:p>
            <a:pPr algn="l">
              <a:lnSpc>
                <a:spcPct val="100000"/>
              </a:lnSpc>
              <a:buNone/>
              <a:defRPr sz="2550" b="1" i="0">
                <a:solidFill>
                  <a:srgbClr val="FFFFFF"/>
                </a:solidFill>
                <a:latin typeface="Times New Roman" panose="02020603050405020304"/>
                <a:ea typeface="Times New Roman" panose="02020603050405020304"/>
                <a:cs typeface="Times New Roman" panose="02020603050405020304"/>
              </a:defRPr>
            </a:pPr>
            <a:r>
              <a:rPr sz="2550" b="1" i="0">
                <a:solidFill>
                  <a:srgbClr val="FFFFFF"/>
                </a:solidFill>
                <a:latin typeface="Times New Roman" panose="02020603050405020304"/>
                <a:ea typeface="Times New Roman" panose="02020603050405020304"/>
                <a:cs typeface="Times New Roman" panose="02020603050405020304"/>
              </a:rPr>
              <a:t>AI Error Shocks and Dynamic Reliance</a:t>
            </a:r>
            <a:endParaRPr sz="2550" b="1" i="0">
              <a:solidFill>
                <a:srgbClr val="FFFFFF"/>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1200150" y="2952750"/>
            <a:ext cx="7239000" cy="685800"/>
          </a:xfrm>
          <a:prstGeom prst="rect">
            <a:avLst/>
          </a:prstGeom>
          <a:noFill/>
          <a:ln w="0">
            <a:noFill/>
            <a:prstDash val="solid"/>
          </a:ln>
        </p:spPr>
        <p:txBody>
          <a:bodyPr wrap="square" lIns="0" tIns="0" rIns="0" bIns="0" anchor="t">
            <a:normAutofit/>
          </a:bodyPr>
          <a:lstStyle/>
          <a:p>
            <a:pPr algn="l">
              <a:lnSpc>
                <a:spcPct val="108000"/>
              </a:lnSpc>
              <a:buNone/>
              <a:defRPr sz="1425" b="0" i="0">
                <a:solidFill>
                  <a:srgbClr val="D8CDC1"/>
                </a:solidFill>
                <a:latin typeface="Times New Roman" panose="02020603050405020304"/>
                <a:ea typeface="Times New Roman" panose="02020603050405020304"/>
                <a:cs typeface="Times New Roman" panose="02020603050405020304"/>
              </a:defRPr>
            </a:pPr>
            <a:r>
              <a:rPr sz="1425" b="0" i="0">
                <a:solidFill>
                  <a:srgbClr val="D8CDC1"/>
                </a:solidFill>
                <a:latin typeface="Times New Roman" panose="02020603050405020304"/>
                <a:ea typeface="Times New Roman" panose="02020603050405020304"/>
                <a:cs typeface="Times New Roman" panose="02020603050405020304"/>
              </a:rPr>
              <a:t>Repeated feedback, matched performance, and path-dependent under-reliance</a:t>
            </a:r>
            <a:endParaRPr sz="1425" b="0" i="0">
              <a:solidFill>
                <a:srgbClr val="D8CDC1"/>
              </a:solidFill>
              <a:latin typeface="Times New Roman" panose="02020603050405020304"/>
              <a:ea typeface="Times New Roman" panose="02020603050405020304"/>
              <a:cs typeface="Times New Roman" panose="02020603050405020304"/>
            </a:endParaRPr>
          </a:p>
        </p:txBody>
      </p:sp>
      <p:sp>
        <p:nvSpPr>
          <p:cNvPr id="8" name="圆角矩形 7"/>
          <p:cNvSpPr>
            <a:spLocks noGrp="1"/>
          </p:cNvSpPr>
          <p:nvPr/>
        </p:nvSpPr>
        <p:spPr>
          <a:xfrm>
            <a:off x="1200150" y="3981450"/>
            <a:ext cx="3962400" cy="1104900"/>
          </a:xfrm>
          <a:prstGeom prst="roundRect">
            <a:avLst>
              <a:gd name="adj" fmla="val 10345"/>
            </a:avLst>
          </a:prstGeom>
          <a:solidFill>
            <a:srgbClr val="F3EBDD"/>
          </a:solidFill>
          <a:ln w="9525">
            <a:solidFill>
              <a:srgbClr val="F3EBDD"/>
            </a:solidFill>
            <a:prstDash val="solid"/>
          </a:ln>
        </p:spPr>
      </p:sp>
      <p:sp>
        <p:nvSpPr>
          <p:cNvPr id="9" name="圆角矩形 8"/>
          <p:cNvSpPr>
            <a:spLocks noGrp="1"/>
          </p:cNvSpPr>
          <p:nvPr/>
        </p:nvSpPr>
        <p:spPr>
          <a:xfrm>
            <a:off x="1200150" y="3981450"/>
            <a:ext cx="57150" cy="1104900"/>
          </a:xfrm>
          <a:prstGeom prst="roundRect">
            <a:avLst>
              <a:gd name="adj" fmla="val 33333"/>
            </a:avLst>
          </a:prstGeom>
          <a:solidFill>
            <a:srgbClr val="B77845"/>
          </a:solidFill>
          <a:ln w="9525">
            <a:solidFill>
              <a:srgbClr val="B77845"/>
            </a:solidFill>
            <a:prstDash val="solid"/>
          </a:ln>
        </p:spPr>
      </p:sp>
      <p:sp>
        <p:nvSpPr>
          <p:cNvPr id="10" name="矩形 9"/>
          <p:cNvSpPr>
            <a:spLocks noGrp="1"/>
          </p:cNvSpPr>
          <p:nvPr/>
        </p:nvSpPr>
        <p:spPr>
          <a:xfrm>
            <a:off x="1428750" y="4171950"/>
            <a:ext cx="3390900" cy="22860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B77845"/>
                </a:solidFill>
                <a:latin typeface="Times New Roman" panose="02020603050405020304"/>
                <a:ea typeface="Times New Roman" panose="02020603050405020304"/>
                <a:cs typeface="Times New Roman" panose="02020603050405020304"/>
              </a:defRPr>
            </a:pPr>
            <a:r>
              <a:rPr sz="1125" b="1" i="0">
                <a:solidFill>
                  <a:srgbClr val="B77845"/>
                </a:solidFill>
                <a:latin typeface="Times New Roman" panose="02020603050405020304"/>
                <a:ea typeface="Times New Roman" panose="02020603050405020304"/>
                <a:cs typeface="Times New Roman" panose="02020603050405020304"/>
              </a:rPr>
              <a:t>Dissertation link</a:t>
            </a:r>
            <a:endParaRPr sz="1125" b="1" i="0">
              <a:solidFill>
                <a:srgbClr val="B77845"/>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1428750" y="4476750"/>
            <a:ext cx="3390900" cy="514350"/>
          </a:xfrm>
          <a:prstGeom prst="rect">
            <a:avLst/>
          </a:prstGeom>
          <a:noFill/>
          <a:ln w="0">
            <a:noFill/>
            <a:prstDash val="solid"/>
          </a:ln>
        </p:spPr>
        <p:txBody>
          <a:bodyPr wrap="square" lIns="0" tIns="0" rIns="0" bIns="0" anchor="t">
            <a:normAutofit/>
          </a:bodyPr>
          <a:lstStyle/>
          <a:p>
            <a:pPr algn="l">
              <a:lnSpc>
                <a:spcPct val="108000"/>
              </a:lnSpc>
              <a:buNone/>
              <a:defRPr sz="1350" b="0" i="0">
                <a:solidFill>
                  <a:srgbClr val="231D17"/>
                </a:solidFill>
                <a:latin typeface="Times New Roman" panose="02020603050405020304"/>
                <a:ea typeface="Times New Roman" panose="02020603050405020304"/>
                <a:cs typeface="Times New Roman" panose="02020603050405020304"/>
              </a:defRPr>
            </a:pPr>
            <a:r>
              <a:rPr sz="1350" b="0" i="0">
                <a:solidFill>
                  <a:srgbClr val="231D17"/>
                </a:solidFill>
                <a:latin typeface="Times New Roman" panose="02020603050405020304"/>
                <a:ea typeface="Times New Roman" panose="02020603050405020304"/>
                <a:cs typeface="Times New Roman" panose="02020603050405020304"/>
              </a:rPr>
              <a:t>This paper studies how feedback reshapes reliance calibration after local AI failures.</a:t>
            </a:r>
            <a:endParaRPr sz="1350" b="0" i="0">
              <a:solidFill>
                <a:srgbClr val="231D17"/>
              </a:solidFill>
              <a:latin typeface="Times New Roman" panose="02020603050405020304"/>
              <a:ea typeface="Times New Roman" panose="02020603050405020304"/>
              <a:cs typeface="Times New Roman" panose="02020603050405020304"/>
            </a:endParaRPr>
          </a:p>
        </p:txBody>
      </p:sp>
      <p:sp>
        <p:nvSpPr>
          <p:cNvPr id="12" name="圆角矩形 11"/>
          <p:cNvSpPr>
            <a:spLocks noGrp="1"/>
          </p:cNvSpPr>
          <p:nvPr/>
        </p:nvSpPr>
        <p:spPr>
          <a:xfrm>
            <a:off x="5391150" y="3981450"/>
            <a:ext cx="5143500" cy="1104900"/>
          </a:xfrm>
          <a:prstGeom prst="roundRect">
            <a:avLst>
              <a:gd name="adj" fmla="val 10345"/>
            </a:avLst>
          </a:prstGeom>
          <a:solidFill>
            <a:srgbClr val="F3EBDD"/>
          </a:solidFill>
          <a:ln w="9525">
            <a:solidFill>
              <a:srgbClr val="F3EBDD"/>
            </a:solidFill>
            <a:prstDash val="solid"/>
          </a:ln>
        </p:spPr>
      </p:sp>
      <p:sp>
        <p:nvSpPr>
          <p:cNvPr id="13" name="圆角矩形 12"/>
          <p:cNvSpPr>
            <a:spLocks noGrp="1"/>
          </p:cNvSpPr>
          <p:nvPr/>
        </p:nvSpPr>
        <p:spPr>
          <a:xfrm>
            <a:off x="5391150" y="3981450"/>
            <a:ext cx="57150" cy="1104900"/>
          </a:xfrm>
          <a:prstGeom prst="roundRect">
            <a:avLst>
              <a:gd name="adj" fmla="val 33333"/>
            </a:avLst>
          </a:prstGeom>
          <a:solidFill>
            <a:srgbClr val="818A68"/>
          </a:solidFill>
          <a:ln w="9525">
            <a:solidFill>
              <a:srgbClr val="818A68"/>
            </a:solidFill>
            <a:prstDash val="solid"/>
          </a:ln>
        </p:spPr>
      </p:sp>
      <p:sp>
        <p:nvSpPr>
          <p:cNvPr id="14" name="矩形 13"/>
          <p:cNvSpPr>
            <a:spLocks noGrp="1"/>
          </p:cNvSpPr>
          <p:nvPr/>
        </p:nvSpPr>
        <p:spPr>
          <a:xfrm>
            <a:off x="5619750" y="4171950"/>
            <a:ext cx="4572000" cy="22860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818A68"/>
                </a:solidFill>
                <a:latin typeface="Times New Roman" panose="02020603050405020304"/>
                <a:ea typeface="Times New Roman" panose="02020603050405020304"/>
                <a:cs typeface="Times New Roman" panose="02020603050405020304"/>
              </a:defRPr>
            </a:pPr>
            <a:r>
              <a:rPr sz="1125" b="1" i="0">
                <a:solidFill>
                  <a:srgbClr val="818A68"/>
                </a:solidFill>
                <a:latin typeface="Times New Roman" panose="02020603050405020304"/>
                <a:ea typeface="Times New Roman" panose="02020603050405020304"/>
                <a:cs typeface="Times New Roman" panose="02020603050405020304"/>
              </a:rPr>
              <a:t>Decision-process position</a:t>
            </a:r>
            <a:endParaRPr sz="1125" b="1" i="0">
              <a:solidFill>
                <a:srgbClr val="818A68"/>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5619750" y="4476750"/>
            <a:ext cx="4572000" cy="514350"/>
          </a:xfrm>
          <a:prstGeom prst="rect">
            <a:avLst/>
          </a:prstGeom>
          <a:noFill/>
          <a:ln w="0">
            <a:noFill/>
            <a:prstDash val="solid"/>
          </a:ln>
        </p:spPr>
        <p:txBody>
          <a:bodyPr wrap="square" lIns="0" tIns="0" rIns="0" bIns="0" anchor="t">
            <a:normAutofit/>
          </a:bodyPr>
          <a:lstStyle/>
          <a:p>
            <a:pPr algn="l">
              <a:lnSpc>
                <a:spcPct val="108000"/>
              </a:lnSpc>
              <a:buNone/>
              <a:defRPr sz="1350" b="0" i="0">
                <a:solidFill>
                  <a:srgbClr val="231D17"/>
                </a:solidFill>
                <a:latin typeface="Times New Roman" panose="02020603050405020304"/>
                <a:ea typeface="Times New Roman" panose="02020603050405020304"/>
                <a:cs typeface="Times New Roman" panose="02020603050405020304"/>
              </a:defRPr>
            </a:pPr>
            <a:r>
              <a:rPr sz="1350" b="0" i="0">
                <a:solidFill>
                  <a:srgbClr val="231D17"/>
                </a:solidFill>
                <a:latin typeface="Times New Roman" panose="02020603050405020304"/>
                <a:ea typeface="Times New Roman" panose="02020603050405020304"/>
                <a:cs typeface="Times New Roman" panose="02020603050405020304"/>
              </a:rPr>
              <a:t>Belief and feedback  -&gt;  reliance calibration  -&gt;  later action thresholds</a:t>
            </a:r>
            <a:endParaRPr sz="1350" b="0" i="0">
              <a:solidFill>
                <a:srgbClr val="231D17"/>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838200" y="6096000"/>
            <a:ext cx="5334000" cy="190500"/>
          </a:xfrm>
          <a:prstGeom prst="rect">
            <a:avLst/>
          </a:prstGeom>
          <a:noFill/>
          <a:ln w="0">
            <a:noFill/>
            <a:prstDash val="solid"/>
          </a:ln>
        </p:spPr>
        <p:txBody>
          <a:bodyPr wrap="square" lIns="0" tIns="0" rIns="0" bIns="0" anchor="t">
            <a:normAutofit/>
          </a:bodyPr>
          <a:lstStyle/>
          <a:p>
            <a:pPr algn="l">
              <a:lnSpc>
                <a:spcPct val="108000"/>
              </a:lnSpc>
              <a:buNone/>
              <a:defRPr sz="900" b="0" i="0">
                <a:solidFill>
                  <a:srgbClr val="C9BAA8"/>
                </a:solidFill>
                <a:latin typeface="Times New Roman" panose="02020603050405020304"/>
                <a:ea typeface="Times New Roman" panose="02020603050405020304"/>
                <a:cs typeface="Times New Roman" panose="02020603050405020304"/>
              </a:defRPr>
            </a:pPr>
            <a:r>
              <a:rPr sz="900" b="0" i="0">
                <a:solidFill>
                  <a:srgbClr val="C9BAA8"/>
                </a:solidFill>
                <a:latin typeface="Times New Roman" panose="02020603050405020304"/>
                <a:ea typeface="Times New Roman" panose="02020603050405020304"/>
                <a:cs typeface="Times New Roman" panose="02020603050405020304"/>
              </a:rPr>
              <a:t>Section deck for dissertation defense</a:t>
            </a:r>
            <a:endParaRPr sz="900" b="0" i="0">
              <a:solidFill>
                <a:srgbClr val="C9BAA8"/>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CONCRETE ENTRY POINT</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8322"/>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puzzle is not whether people dislike errors, but how later reliance recovers</a:t>
            </a:r>
            <a:endParaRPr sz="2175" b="1" i="0">
              <a:solidFill>
                <a:srgbClr val="231D17"/>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A single miss can matter differently when it is read as a problem of source quality rather than a temporary local mistake.</a:t>
            </a:r>
            <a:endParaRPr sz="1200"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custDataLst>
              <p:tags r:id="rId1"/>
            </p:custDataLst>
          </p:nvPr>
        </p:nvSpPr>
        <p:spPr>
          <a:xfrm>
            <a:off x="914400" y="2190750"/>
            <a:ext cx="4876800" cy="2724150"/>
          </a:xfrm>
          <a:prstGeom prst="roundRect">
            <a:avLst>
              <a:gd name="adj" fmla="val 4196"/>
            </a:avLst>
          </a:prstGeom>
          <a:solidFill>
            <a:srgbClr val="FFFFFF"/>
          </a:solidFill>
          <a:ln w="9525">
            <a:solidFill>
              <a:srgbClr val="D8CCBB"/>
            </a:solidFill>
            <a:prstDash val="solid"/>
          </a:ln>
        </p:spPr>
      </p:sp>
      <p:sp>
        <p:nvSpPr>
          <p:cNvPr id="8" name="圆角矩形 7"/>
          <p:cNvSpPr>
            <a:spLocks noGrp="1"/>
          </p:cNvSpPr>
          <p:nvPr>
            <p:custDataLst>
              <p:tags r:id="rId2"/>
            </p:custDataLst>
          </p:nvPr>
        </p:nvSpPr>
        <p:spPr>
          <a:xfrm>
            <a:off x="914400" y="2190750"/>
            <a:ext cx="57150" cy="2724150"/>
          </a:xfrm>
          <a:prstGeom prst="roundRect">
            <a:avLst>
              <a:gd name="adj" fmla="val 33333"/>
            </a:avLst>
          </a:prstGeom>
          <a:solidFill>
            <a:srgbClr val="3E4C5A"/>
          </a:solidFill>
          <a:ln w="9525">
            <a:solidFill>
              <a:srgbClr val="3E4C5A"/>
            </a:solidFill>
            <a:prstDash val="solid"/>
          </a:ln>
        </p:spPr>
      </p:sp>
      <p:sp>
        <p:nvSpPr>
          <p:cNvPr id="9" name="矩形 8"/>
          <p:cNvSpPr>
            <a:spLocks noGrp="1"/>
          </p:cNvSpPr>
          <p:nvPr>
            <p:custDataLst>
              <p:tags r:id="rId3"/>
            </p:custDataLst>
          </p:nvPr>
        </p:nvSpPr>
        <p:spPr>
          <a:xfrm>
            <a:off x="1199515" y="2348865"/>
            <a:ext cx="2040255" cy="228600"/>
          </a:xfrm>
          <a:prstGeom prst="rect">
            <a:avLst/>
          </a:prstGeom>
          <a:noFill/>
          <a:ln w="0">
            <a:noFill/>
            <a:prstDash val="solid"/>
          </a:ln>
        </p:spPr>
        <p:txBody>
          <a:bodyPr wrap="square" lIns="0" tIns="0" rIns="0" bIns="0" anchor="t">
            <a:normAutofit fontScale="90000"/>
          </a:bodyPr>
          <a:lstStyle/>
          <a:p>
            <a:pPr algn="l">
              <a:lnSpc>
                <a:spcPct val="108000"/>
              </a:lnSpc>
              <a:buNone/>
              <a:defRPr sz="1275" b="1" i="0">
                <a:solidFill>
                  <a:srgbClr val="3E4C5A"/>
                </a:solidFill>
                <a:latin typeface="Times New Roman" panose="02020603050405020304"/>
                <a:ea typeface="Times New Roman" panose="02020603050405020304"/>
                <a:cs typeface="Times New Roman" panose="02020603050405020304"/>
              </a:defRPr>
            </a:pPr>
            <a:r>
              <a:rPr lang="en-US" altLang="zh-CN" sz="1275" b="1" i="0">
                <a:solidFill>
                  <a:srgbClr val="3E4C5A"/>
                </a:solidFill>
                <a:latin typeface="Times New Roman" panose="02020603050405020304"/>
                <a:ea typeface="Times New Roman" panose="02020603050405020304"/>
                <a:cs typeface="Times New Roman" panose="02020603050405020304"/>
              </a:rPr>
              <a:t>Asymmetric Reliance Dynamics</a:t>
            </a:r>
            <a:endParaRPr lang="en-US" altLang="zh-CN" sz="1275" b="1" i="0">
              <a:solidFill>
                <a:srgbClr val="3E4C5A"/>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custDataLst>
              <p:tags r:id="rId4"/>
            </p:custDataLst>
          </p:nvPr>
        </p:nvSpPr>
        <p:spPr>
          <a:xfrm>
            <a:off x="1143000" y="2781300"/>
            <a:ext cx="4248150" cy="16192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75" b="0" i="0">
                <a:solidFill>
                  <a:srgbClr val="231D17"/>
                </a:solidFill>
                <a:latin typeface="Times New Roman" panose="02020603050405020304"/>
                <a:ea typeface="Times New Roman" panose="02020603050405020304"/>
                <a:cs typeface="Times New Roman" panose="02020603050405020304"/>
              </a:rPr>
              <a:t>when using the same AI system, such as Doubao or ChatGPT, our level of trust changes depending on the task. We may fully trust AI to help write emails, but become much more cautious when asking for medical advice, investment recommendations, or research support. In other words, trust in AI is not static—it continuously evolves according to task risk, AI performance, and users' previous experiences.</a:t>
            </a:r>
            <a:endParaRPr lang="en-US" altLang="zh-CN" sz="1275" b="0" i="0">
              <a:solidFill>
                <a:srgbClr val="231D17"/>
              </a:solidFill>
              <a:latin typeface="Times New Roman" panose="02020603050405020304"/>
              <a:ea typeface="Times New Roman" panose="02020603050405020304"/>
              <a:cs typeface="Times New Roman" panose="02020603050405020304"/>
            </a:endParaRPr>
          </a:p>
        </p:txBody>
      </p:sp>
      <p:sp>
        <p:nvSpPr>
          <p:cNvPr id="11" name="圆角矩形 10"/>
          <p:cNvSpPr>
            <a:spLocks noGrp="1"/>
          </p:cNvSpPr>
          <p:nvPr>
            <p:custDataLst>
              <p:tags r:id="rId5"/>
            </p:custDataLst>
          </p:nvPr>
        </p:nvSpPr>
        <p:spPr>
          <a:xfrm>
            <a:off x="6362700" y="2190750"/>
            <a:ext cx="4876800" cy="2724150"/>
          </a:xfrm>
          <a:prstGeom prst="roundRect">
            <a:avLst>
              <a:gd name="adj" fmla="val 4196"/>
            </a:avLst>
          </a:prstGeom>
          <a:solidFill>
            <a:srgbClr val="FFFFFF"/>
          </a:solidFill>
          <a:ln w="9525">
            <a:solidFill>
              <a:srgbClr val="D8CCBB"/>
            </a:solidFill>
            <a:prstDash val="solid"/>
          </a:ln>
        </p:spPr>
        <p:txBody>
          <a:bodyPr/>
          <a:lstStyle/>
          <a:p>
            <a:endParaRPr lang="zh-CN" altLang="en-US"/>
          </a:p>
        </p:txBody>
      </p:sp>
      <p:sp>
        <p:nvSpPr>
          <p:cNvPr id="12" name="圆角矩形 11"/>
          <p:cNvSpPr>
            <a:spLocks noGrp="1"/>
          </p:cNvSpPr>
          <p:nvPr>
            <p:custDataLst>
              <p:tags r:id="rId6"/>
            </p:custDataLst>
          </p:nvPr>
        </p:nvSpPr>
        <p:spPr>
          <a:xfrm>
            <a:off x="6362700" y="2190750"/>
            <a:ext cx="57150" cy="2724150"/>
          </a:xfrm>
          <a:prstGeom prst="roundRect">
            <a:avLst>
              <a:gd name="adj" fmla="val 33333"/>
            </a:avLst>
          </a:prstGeom>
          <a:solidFill>
            <a:srgbClr val="B77845"/>
          </a:solidFill>
          <a:ln w="9525">
            <a:solidFill>
              <a:srgbClr val="B77845"/>
            </a:solidFill>
            <a:prstDash val="solid"/>
          </a:ln>
        </p:spPr>
      </p:sp>
      <p:sp>
        <p:nvSpPr>
          <p:cNvPr id="13" name="矩形 12"/>
          <p:cNvSpPr>
            <a:spLocks noGrp="1"/>
          </p:cNvSpPr>
          <p:nvPr>
            <p:custDataLst>
              <p:tags r:id="rId7"/>
            </p:custDataLst>
          </p:nvPr>
        </p:nvSpPr>
        <p:spPr>
          <a:xfrm>
            <a:off x="6591300" y="2400300"/>
            <a:ext cx="20955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Why AI may be different</a:t>
            </a:r>
            <a:endParaRPr sz="1275" b="1" i="0">
              <a:solidFill>
                <a:srgbClr val="B77845"/>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custDataLst>
              <p:tags r:id="rId8"/>
            </p:custDataLst>
          </p:nvPr>
        </p:nvSpPr>
        <p:spPr>
          <a:xfrm>
            <a:off x="6591300" y="2781300"/>
            <a:ext cx="4356735" cy="1850390"/>
          </a:xfrm>
          <a:prstGeom prst="rect">
            <a:avLst/>
          </a:prstGeom>
          <a:noFill/>
          <a:ln w="0">
            <a:noFill/>
            <a:prstDash val="solid"/>
          </a:ln>
        </p:spPr>
        <p:txBody>
          <a:bodyPr wrap="square" lIns="0" tIns="0" rIns="0" bIns="0" anchor="t"/>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A single AI mistake may not feel like just one mistake. People may start to think the AI itself is unreliable.</a:t>
            </a:r>
            <a:endParaRPr lang="en-US" altLang="zh-CN" sz="120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And once that impression is formed, it can carry over to later rounds. Even if the AI performs well afterward, people may still remember the earlier failure.</a:t>
            </a:r>
            <a:endParaRPr lang="en-US" altLang="zh-CN" sz="120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So the key question is not simply whether people dislike AI errors. is how people's trust in AI changes over time during repeated interactions.</a:t>
            </a:r>
            <a:endParaRPr lang="en-US" altLang="zh-CN" sz="120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endParaRPr lang="en-US" altLang="zh-CN" sz="1200" b="0" i="0">
              <a:solidFill>
                <a:srgbClr val="231D17"/>
              </a:solidFill>
              <a:latin typeface="Times New Roman" panose="02020603050405020304"/>
              <a:ea typeface="Times New Roman" panose="02020603050405020304"/>
              <a:cs typeface="Times New Roman" panose="02020603050405020304"/>
            </a:endParaRPr>
          </a:p>
        </p:txBody>
      </p:sp>
      <p:sp>
        <p:nvSpPr>
          <p:cNvPr id="15" name="直接连接符 14"/>
          <p:cNvSpPr>
            <a:spLocks noGrp="1"/>
          </p:cNvSpPr>
          <p:nvPr/>
        </p:nvSpPr>
        <p:spPr>
          <a:xfrm>
            <a:off x="914400" y="5219700"/>
            <a:ext cx="10287000" cy="9525"/>
          </a:xfrm>
          <a:prstGeom prst="line">
            <a:avLst/>
          </a:prstGeom>
          <a:ln w="9525">
            <a:solidFill>
              <a:srgbClr val="D8CCBB"/>
            </a:solidFill>
            <a:prstDash val="solid"/>
          </a:ln>
        </p:spPr>
      </p:sp>
      <p:sp>
        <p:nvSpPr>
          <p:cNvPr id="16" name="矩形 15"/>
          <p:cNvSpPr>
            <a:spLocks noGrp="1"/>
          </p:cNvSpPr>
          <p:nvPr/>
        </p:nvSpPr>
        <p:spPr>
          <a:xfrm>
            <a:off x="914400" y="5429250"/>
            <a:ext cx="10287000" cy="4191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Puzzle: when later performance is matched again, does reliance return symmetrically, or does an early AI miss leave a longer shadow?</a:t>
            </a:r>
            <a:endParaRPr sz="1350" b="1"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EXISTING WORK</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矩形 4"/>
          <p:cNvSpPr>
            <a:spLocks noGrp="1"/>
          </p:cNvSpPr>
          <p:nvPr/>
        </p:nvSpPr>
        <p:spPr>
          <a:xfrm>
            <a:off x="914400" y="952500"/>
            <a:ext cx="9144000" cy="438150"/>
          </a:xfrm>
          <a:prstGeom prst="rect">
            <a:avLst/>
          </a:prstGeom>
          <a:noFill/>
          <a:ln w="0">
            <a:noFill/>
            <a:prstDash val="solid"/>
          </a:ln>
        </p:spPr>
        <p:txBody>
          <a:bodyPr wrap="square" lIns="0" tIns="0" rIns="0" bIns="0" anchor="t">
            <a:normAutofit/>
          </a:bodyPr>
          <a:lstStyle/>
          <a:p>
            <a:pPr algn="l">
              <a:lnSpc>
                <a:spcPct val="96000"/>
              </a:lnSpc>
              <a:buNone/>
              <a:defRPr sz="2625" b="1" i="0">
                <a:solidFill>
                  <a:srgbClr val="231D17"/>
                </a:solidFill>
                <a:latin typeface="Times New Roman" panose="02020603050405020304"/>
                <a:ea typeface="Times New Roman" panose="02020603050405020304"/>
                <a:cs typeface="Times New Roman" panose="02020603050405020304"/>
              </a:defRPr>
            </a:pPr>
            <a:r>
              <a:rPr sz="2625" b="1" i="0">
                <a:solidFill>
                  <a:srgbClr val="231D17"/>
                </a:solidFill>
                <a:latin typeface="Times New Roman" panose="02020603050405020304"/>
                <a:ea typeface="Times New Roman" panose="02020603050405020304"/>
                <a:cs typeface="Times New Roman" panose="02020603050405020304"/>
              </a:rPr>
              <a:t>Existing Work Explains Adoption Better Than Reliance Paths</a:t>
            </a:r>
            <a:endParaRPr sz="2625" b="1" i="0">
              <a:solidFill>
                <a:srgbClr val="231D17"/>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nvSpPr>
        <p:spPr>
          <a:xfrm>
            <a:off x="914400" y="1466850"/>
            <a:ext cx="9906000" cy="361950"/>
          </a:xfrm>
          <a:prstGeom prst="rect">
            <a:avLst/>
          </a:prstGeom>
          <a:noFill/>
          <a:ln w="0">
            <a:noFill/>
            <a:prstDash val="solid"/>
          </a:ln>
        </p:spPr>
        <p:txBody>
          <a:bodyPr wrap="square" lIns="0" tIns="0" rIns="0" bIns="0" anchor="t">
            <a:normAutofit fontScale="89329" lnSpcReduction="10000"/>
          </a:bodyPr>
          <a:lstStyle/>
          <a:p>
            <a:pPr algn="l">
              <a:lnSpc>
                <a:spcPct val="105000"/>
              </a:lnSpc>
              <a:buNone/>
              <a:defRPr sz="1315" b="0" i="0">
                <a:solidFill>
                  <a:srgbClr val="6F665C"/>
                </a:solidFill>
                <a:latin typeface="Times New Roman" panose="02020603050405020304"/>
                <a:ea typeface="Times New Roman" panose="02020603050405020304"/>
                <a:cs typeface="Times New Roman" panose="02020603050405020304"/>
              </a:defRPr>
            </a:pPr>
            <a:r>
              <a:rPr sz="1315" b="0" i="0">
                <a:solidFill>
                  <a:srgbClr val="6F665C"/>
                </a:solidFill>
                <a:latin typeface="Times New Roman" panose="02020603050405020304"/>
                <a:ea typeface="Times New Roman" panose="02020603050405020304"/>
                <a:cs typeface="Times New Roman" panose="02020603050405020304"/>
              </a:rPr>
              <a:t>The literature already explains trust, advice use, and algorithm error reactions. The unresolved question is how feedback history reshapes later self-versus-AI reliance.</a:t>
            </a:r>
            <a:endParaRPr sz="1315"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nvSpPr>
        <p:spPr>
          <a:xfrm>
            <a:off x="914400" y="2114550"/>
            <a:ext cx="3143250" cy="1200150"/>
          </a:xfrm>
          <a:prstGeom prst="roundRect">
            <a:avLst>
              <a:gd name="adj" fmla="val 6349"/>
            </a:avLst>
          </a:prstGeom>
          <a:solidFill>
            <a:srgbClr val="FFFFFF"/>
          </a:solidFill>
          <a:ln w="9525">
            <a:solidFill>
              <a:srgbClr val="D8CCBB"/>
            </a:solidFill>
            <a:prstDash val="solid"/>
          </a:ln>
        </p:spPr>
      </p:sp>
      <p:sp>
        <p:nvSpPr>
          <p:cNvPr id="8" name="圆角矩形 7"/>
          <p:cNvSpPr>
            <a:spLocks noGrp="1"/>
          </p:cNvSpPr>
          <p:nvPr/>
        </p:nvSpPr>
        <p:spPr>
          <a:xfrm>
            <a:off x="914400" y="2114550"/>
            <a:ext cx="47625" cy="1200150"/>
          </a:xfrm>
          <a:prstGeom prst="roundRect">
            <a:avLst>
              <a:gd name="adj" fmla="val 40000"/>
            </a:avLst>
          </a:prstGeom>
          <a:solidFill>
            <a:srgbClr val="B77845"/>
          </a:solidFill>
          <a:ln w="9525">
            <a:solidFill>
              <a:srgbClr val="B77845"/>
            </a:solidFill>
            <a:prstDash val="solid"/>
          </a:ln>
        </p:spPr>
      </p:sp>
      <p:sp>
        <p:nvSpPr>
          <p:cNvPr id="9" name="矩形 8"/>
          <p:cNvSpPr>
            <a:spLocks noGrp="1"/>
          </p:cNvSpPr>
          <p:nvPr/>
        </p:nvSpPr>
        <p:spPr>
          <a:xfrm>
            <a:off x="1123950" y="2247900"/>
            <a:ext cx="2724150" cy="323850"/>
          </a:xfrm>
          <a:prstGeom prst="rect">
            <a:avLst/>
          </a:prstGeom>
          <a:noFill/>
          <a:ln w="0">
            <a:noFill/>
            <a:prstDash val="solid"/>
          </a:ln>
        </p:spPr>
        <p:txBody>
          <a:bodyPr wrap="square" lIns="0" tIns="0" rIns="0" bIns="0" anchor="t">
            <a:normAutofit fontScale="92232" lnSpcReduction="20000"/>
          </a:bodyPr>
          <a:lstStyle/>
          <a:p>
            <a:pPr algn="l">
              <a:lnSpc>
                <a:spcPct val="9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Automation trust and appropriate reliance</a:t>
            </a:r>
            <a:endParaRPr sz="1275" b="1" i="0">
              <a:solidFill>
                <a:srgbClr val="B77845"/>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123950" y="2647950"/>
            <a:ext cx="2724150" cy="361950"/>
          </a:xfrm>
          <a:prstGeom prst="rect">
            <a:avLst/>
          </a:prstGeom>
          <a:noFill/>
          <a:ln w="0">
            <a:noFill/>
            <a:prstDash val="solid"/>
          </a:ln>
        </p:spPr>
        <p:txBody>
          <a:bodyPr wrap="square" lIns="0" tIns="0" rIns="0" bIns="0" anchor="t">
            <a:normAutofit fontScale="87293"/>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The key issue is not blind trust, but calibrated reliance on automation when its capabilities and limits are understood.</a:t>
            </a:r>
            <a:endParaRPr sz="1045" b="0" i="0">
              <a:solidFill>
                <a:srgbClr val="231D17"/>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1123950" y="31051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(Lee &amp; See, 2004)</a:t>
            </a:r>
            <a:endParaRPr sz="915" b="0" i="1">
              <a:solidFill>
                <a:srgbClr val="6F665C"/>
              </a:solidFill>
              <a:latin typeface="Times New Roman" panose="02020603050405020304"/>
              <a:ea typeface="Times New Roman" panose="02020603050405020304"/>
              <a:cs typeface="Times New Roman" panose="02020603050405020304"/>
            </a:endParaRPr>
          </a:p>
        </p:txBody>
      </p:sp>
      <p:sp>
        <p:nvSpPr>
          <p:cNvPr id="12" name="圆角矩形 11"/>
          <p:cNvSpPr>
            <a:spLocks noGrp="1"/>
          </p:cNvSpPr>
          <p:nvPr/>
        </p:nvSpPr>
        <p:spPr>
          <a:xfrm>
            <a:off x="4343400" y="2114550"/>
            <a:ext cx="3143250" cy="1200150"/>
          </a:xfrm>
          <a:prstGeom prst="roundRect">
            <a:avLst>
              <a:gd name="adj" fmla="val 6349"/>
            </a:avLst>
          </a:prstGeom>
          <a:solidFill>
            <a:srgbClr val="FFFFFF"/>
          </a:solidFill>
          <a:ln w="9525">
            <a:solidFill>
              <a:srgbClr val="D8CCBB"/>
            </a:solidFill>
            <a:prstDash val="solid"/>
          </a:ln>
        </p:spPr>
      </p:sp>
      <p:sp>
        <p:nvSpPr>
          <p:cNvPr id="13" name="圆角矩形 12"/>
          <p:cNvSpPr>
            <a:spLocks noGrp="1"/>
          </p:cNvSpPr>
          <p:nvPr/>
        </p:nvSpPr>
        <p:spPr>
          <a:xfrm>
            <a:off x="4343400" y="2114550"/>
            <a:ext cx="47625" cy="1200150"/>
          </a:xfrm>
          <a:prstGeom prst="roundRect">
            <a:avLst>
              <a:gd name="adj" fmla="val 40000"/>
            </a:avLst>
          </a:prstGeom>
          <a:solidFill>
            <a:srgbClr val="818A68"/>
          </a:solidFill>
          <a:ln w="9525">
            <a:solidFill>
              <a:srgbClr val="818A68"/>
            </a:solidFill>
            <a:prstDash val="solid"/>
          </a:ln>
        </p:spPr>
      </p:sp>
      <p:sp>
        <p:nvSpPr>
          <p:cNvPr id="14" name="矩形 13"/>
          <p:cNvSpPr>
            <a:spLocks noGrp="1"/>
          </p:cNvSpPr>
          <p:nvPr/>
        </p:nvSpPr>
        <p:spPr>
          <a:xfrm>
            <a:off x="4552950" y="2247900"/>
            <a:ext cx="2724150" cy="323850"/>
          </a:xfrm>
          <a:prstGeom prst="rect">
            <a:avLst/>
          </a:prstGeom>
          <a:noFill/>
          <a:ln w="0">
            <a:noFill/>
            <a:prstDash val="solid"/>
          </a:ln>
        </p:spPr>
        <p:txBody>
          <a:bodyPr wrap="square" lIns="0" tIns="0" rIns="0" bIns="0" anchor="t">
            <a:normAutofit fontScale="95521"/>
          </a:bodyPr>
          <a:lstStyle/>
          <a:p>
            <a:pPr algn="l">
              <a:lnSpc>
                <a:spcPct val="98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Advice taking and egocentric discounting</a:t>
            </a:r>
            <a:endParaRPr sz="1275" b="1" i="0">
              <a:solidFill>
                <a:srgbClr val="818A68"/>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4552950" y="2647950"/>
            <a:ext cx="2724150" cy="361950"/>
          </a:xfrm>
          <a:prstGeom prst="rect">
            <a:avLst/>
          </a:prstGeom>
          <a:noFill/>
          <a:ln w="0">
            <a:noFill/>
            <a:prstDash val="solid"/>
          </a:ln>
        </p:spPr>
        <p:txBody>
          <a:bodyPr wrap="square" lIns="0" tIns="0" rIns="0" bIns="0" anchor="t">
            <a:normAutofit fontScale="86811"/>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People often discount external advice and overweight their own judgment, even when advice could improve decisions.</a:t>
            </a:r>
            <a:endParaRPr sz="1045" b="0" i="0">
              <a:solidFill>
                <a:srgbClr val="231D17"/>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4552950" y="31051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(Yaniv &amp; Kleinberger, 2000; Bonaccio &amp; Dalal, 2006)</a:t>
            </a:r>
            <a:endParaRPr sz="915" b="0" i="1">
              <a:solidFill>
                <a:srgbClr val="6F665C"/>
              </a:solidFill>
              <a:latin typeface="Times New Roman" panose="02020603050405020304"/>
              <a:ea typeface="Times New Roman" panose="02020603050405020304"/>
              <a:cs typeface="Times New Roman" panose="02020603050405020304"/>
            </a:endParaRPr>
          </a:p>
        </p:txBody>
      </p:sp>
      <p:sp>
        <p:nvSpPr>
          <p:cNvPr id="17" name="圆角矩形 16"/>
          <p:cNvSpPr>
            <a:spLocks noGrp="1"/>
          </p:cNvSpPr>
          <p:nvPr/>
        </p:nvSpPr>
        <p:spPr>
          <a:xfrm>
            <a:off x="914400" y="3486150"/>
            <a:ext cx="3143250" cy="1200150"/>
          </a:xfrm>
          <a:prstGeom prst="roundRect">
            <a:avLst>
              <a:gd name="adj" fmla="val 6349"/>
            </a:avLst>
          </a:prstGeom>
          <a:solidFill>
            <a:srgbClr val="FFFFFF"/>
          </a:solidFill>
          <a:ln w="9525">
            <a:solidFill>
              <a:srgbClr val="D8CCBB"/>
            </a:solidFill>
            <a:prstDash val="solid"/>
          </a:ln>
        </p:spPr>
      </p:sp>
      <p:sp>
        <p:nvSpPr>
          <p:cNvPr id="18" name="圆角矩形 17"/>
          <p:cNvSpPr>
            <a:spLocks noGrp="1"/>
          </p:cNvSpPr>
          <p:nvPr/>
        </p:nvSpPr>
        <p:spPr>
          <a:xfrm>
            <a:off x="914400" y="3486150"/>
            <a:ext cx="47625" cy="1200150"/>
          </a:xfrm>
          <a:prstGeom prst="roundRect">
            <a:avLst>
              <a:gd name="adj" fmla="val 40000"/>
            </a:avLst>
          </a:prstGeom>
          <a:solidFill>
            <a:srgbClr val="23384A"/>
          </a:solidFill>
          <a:ln w="9525">
            <a:solidFill>
              <a:srgbClr val="23384A"/>
            </a:solidFill>
            <a:prstDash val="solid"/>
          </a:ln>
        </p:spPr>
      </p:sp>
      <p:sp>
        <p:nvSpPr>
          <p:cNvPr id="19" name="矩形 18"/>
          <p:cNvSpPr>
            <a:spLocks noGrp="1"/>
          </p:cNvSpPr>
          <p:nvPr/>
        </p:nvSpPr>
        <p:spPr>
          <a:xfrm>
            <a:off x="1123950" y="3619500"/>
            <a:ext cx="2724150" cy="323850"/>
          </a:xfrm>
          <a:prstGeom prst="rect">
            <a:avLst/>
          </a:prstGeom>
          <a:noFill/>
          <a:ln w="0">
            <a:noFill/>
            <a:prstDash val="solid"/>
          </a:ln>
        </p:spPr>
        <p:txBody>
          <a:bodyPr wrap="square" lIns="0" tIns="0" rIns="0" bIns="0" anchor="t">
            <a:normAutofit/>
          </a:bodyPr>
          <a:lstStyle/>
          <a:p>
            <a:pPr algn="l">
              <a:lnSpc>
                <a:spcPct val="98000"/>
              </a:lnSpc>
              <a:buNone/>
              <a:defRPr sz="1275" b="1" i="0">
                <a:solidFill>
                  <a:srgbClr val="23384A"/>
                </a:solidFill>
                <a:latin typeface="Times New Roman" panose="02020603050405020304"/>
                <a:ea typeface="Times New Roman" panose="02020603050405020304"/>
                <a:cs typeface="Times New Roman" panose="02020603050405020304"/>
              </a:defRPr>
            </a:pPr>
            <a:r>
              <a:rPr sz="1275" b="1" i="0">
                <a:solidFill>
                  <a:srgbClr val="23384A"/>
                </a:solidFill>
                <a:latin typeface="Times New Roman" panose="02020603050405020304"/>
                <a:ea typeface="Times New Roman" panose="02020603050405020304"/>
                <a:cs typeface="Times New Roman" panose="02020603050405020304"/>
              </a:rPr>
              <a:t>Algorithm aversion and appreciation</a:t>
            </a:r>
            <a:endParaRPr sz="1275" b="1" i="0">
              <a:solidFill>
                <a:srgbClr val="23384A"/>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1123950" y="4019550"/>
            <a:ext cx="2724150" cy="361950"/>
          </a:xfrm>
          <a:prstGeom prst="rect">
            <a:avLst/>
          </a:prstGeom>
          <a:noFill/>
          <a:ln w="0">
            <a:noFill/>
            <a:prstDash val="solid"/>
          </a:ln>
        </p:spPr>
        <p:txBody>
          <a:bodyPr wrap="square" lIns="0" tIns="0" rIns="0" bIns="0" anchor="t">
            <a:normAutofit fontScale="79131"/>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Algorithmic sources can be punished after visible errors, but algorithmic advice can also be preferred in some judgment tasks.</a:t>
            </a:r>
            <a:endParaRPr sz="1045" b="0" i="0">
              <a:solidFill>
                <a:srgbClr val="231D17"/>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1123950" y="44767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(Dietvorst et al., 2015; Logg et al., 2019)</a:t>
            </a:r>
            <a:endParaRPr sz="915" b="0" i="1">
              <a:solidFill>
                <a:srgbClr val="6F665C"/>
              </a:solidFill>
              <a:latin typeface="Times New Roman" panose="02020603050405020304"/>
              <a:ea typeface="Times New Roman" panose="02020603050405020304"/>
              <a:cs typeface="Times New Roman" panose="02020603050405020304"/>
            </a:endParaRPr>
          </a:p>
        </p:txBody>
      </p:sp>
      <p:sp>
        <p:nvSpPr>
          <p:cNvPr id="22" name="圆角矩形 21"/>
          <p:cNvSpPr>
            <a:spLocks noGrp="1"/>
          </p:cNvSpPr>
          <p:nvPr/>
        </p:nvSpPr>
        <p:spPr>
          <a:xfrm>
            <a:off x="4343400" y="3486150"/>
            <a:ext cx="3143250" cy="1200150"/>
          </a:xfrm>
          <a:prstGeom prst="roundRect">
            <a:avLst>
              <a:gd name="adj" fmla="val 6349"/>
            </a:avLst>
          </a:prstGeom>
          <a:solidFill>
            <a:srgbClr val="FFFFFF"/>
          </a:solidFill>
          <a:ln w="9525">
            <a:solidFill>
              <a:srgbClr val="D8CCBB"/>
            </a:solidFill>
            <a:prstDash val="solid"/>
          </a:ln>
        </p:spPr>
      </p:sp>
      <p:sp>
        <p:nvSpPr>
          <p:cNvPr id="23" name="圆角矩形 22"/>
          <p:cNvSpPr>
            <a:spLocks noGrp="1"/>
          </p:cNvSpPr>
          <p:nvPr/>
        </p:nvSpPr>
        <p:spPr>
          <a:xfrm>
            <a:off x="4343400" y="3486150"/>
            <a:ext cx="47625" cy="1200150"/>
          </a:xfrm>
          <a:prstGeom prst="roundRect">
            <a:avLst>
              <a:gd name="adj" fmla="val 40000"/>
            </a:avLst>
          </a:prstGeom>
          <a:solidFill>
            <a:srgbClr val="B77845"/>
          </a:solidFill>
          <a:ln w="9525">
            <a:solidFill>
              <a:srgbClr val="B77845"/>
            </a:solidFill>
            <a:prstDash val="solid"/>
          </a:ln>
        </p:spPr>
      </p:sp>
      <p:sp>
        <p:nvSpPr>
          <p:cNvPr id="24" name="矩形 23"/>
          <p:cNvSpPr>
            <a:spLocks noGrp="1"/>
          </p:cNvSpPr>
          <p:nvPr/>
        </p:nvSpPr>
        <p:spPr>
          <a:xfrm>
            <a:off x="4552950" y="3619500"/>
            <a:ext cx="2724150" cy="323850"/>
          </a:xfrm>
          <a:prstGeom prst="rect">
            <a:avLst/>
          </a:prstGeom>
          <a:noFill/>
          <a:ln w="0">
            <a:noFill/>
            <a:prstDash val="solid"/>
          </a:ln>
        </p:spPr>
        <p:txBody>
          <a:bodyPr wrap="square" lIns="0" tIns="0" rIns="0" bIns="0" anchor="t">
            <a:normAutofit fontScale="90932" lnSpcReduction="20000"/>
          </a:bodyPr>
          <a:lstStyle/>
          <a:p>
            <a:pPr algn="l">
              <a:lnSpc>
                <a:spcPct val="9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Repeated feedback and attraction updating</a:t>
            </a:r>
            <a:endParaRPr sz="1275" b="1" i="0">
              <a:solidFill>
                <a:srgbClr val="B77845"/>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nvSpPr>
        <p:spPr>
          <a:xfrm>
            <a:off x="4552950" y="4019550"/>
            <a:ext cx="2724150" cy="361950"/>
          </a:xfrm>
          <a:prstGeom prst="rect">
            <a:avLst/>
          </a:prstGeom>
          <a:noFill/>
          <a:ln w="0">
            <a:noFill/>
            <a:prstDash val="solid"/>
          </a:ln>
        </p:spPr>
        <p:txBody>
          <a:bodyPr wrap="square" lIns="0" tIns="0" rIns="0" bIns="0" anchor="t">
            <a:normAutofit/>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EWA gives a language for repeated choices: past feedback changes the attraction of later options.</a:t>
            </a:r>
            <a:endParaRPr sz="1045" b="0" i="0">
              <a:solidFill>
                <a:srgbClr val="231D17"/>
              </a:solidFill>
              <a:latin typeface="Times New Roman" panose="02020603050405020304"/>
              <a:ea typeface="Times New Roman" panose="02020603050405020304"/>
              <a:cs typeface="Times New Roman" panose="02020603050405020304"/>
            </a:endParaRPr>
          </a:p>
        </p:txBody>
      </p:sp>
      <p:sp>
        <p:nvSpPr>
          <p:cNvPr id="26" name="矩形 25"/>
          <p:cNvSpPr>
            <a:spLocks noGrp="1"/>
          </p:cNvSpPr>
          <p:nvPr/>
        </p:nvSpPr>
        <p:spPr>
          <a:xfrm>
            <a:off x="4552950" y="44767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(Camerer &amp; Ho, 1999)</a:t>
            </a:r>
            <a:endParaRPr sz="915" b="0" i="1">
              <a:solidFill>
                <a:srgbClr val="6F665C"/>
              </a:solidFill>
              <a:latin typeface="Times New Roman" panose="02020603050405020304"/>
              <a:ea typeface="Times New Roman" panose="02020603050405020304"/>
              <a:cs typeface="Times New Roman" panose="02020603050405020304"/>
            </a:endParaRPr>
          </a:p>
        </p:txBody>
      </p:sp>
      <p:sp>
        <p:nvSpPr>
          <p:cNvPr id="27" name="圆角矩形 26"/>
          <p:cNvSpPr>
            <a:spLocks noGrp="1"/>
          </p:cNvSpPr>
          <p:nvPr/>
        </p:nvSpPr>
        <p:spPr>
          <a:xfrm>
            <a:off x="7810500" y="2114550"/>
            <a:ext cx="3429000" cy="2381250"/>
          </a:xfrm>
          <a:prstGeom prst="roundRect">
            <a:avLst>
              <a:gd name="adj" fmla="val 4800"/>
            </a:avLst>
          </a:prstGeom>
          <a:solidFill>
            <a:srgbClr val="FBF7F0"/>
          </a:solidFill>
          <a:ln w="9525">
            <a:solidFill>
              <a:srgbClr val="D8CCBB"/>
            </a:solidFill>
            <a:prstDash val="solid"/>
          </a:ln>
        </p:spPr>
      </p:sp>
      <p:sp>
        <p:nvSpPr>
          <p:cNvPr id="28" name="矩形 27"/>
          <p:cNvSpPr>
            <a:spLocks noGrp="1"/>
          </p:cNvSpPr>
          <p:nvPr/>
        </p:nvSpPr>
        <p:spPr>
          <a:xfrm>
            <a:off x="8077200" y="2343150"/>
            <a:ext cx="2667000" cy="285750"/>
          </a:xfrm>
          <a:prstGeom prst="rect">
            <a:avLst/>
          </a:prstGeom>
          <a:noFill/>
          <a:ln w="0">
            <a:noFill/>
            <a:prstDash val="solid"/>
          </a:ln>
        </p:spPr>
        <p:txBody>
          <a:bodyPr wrap="square" lIns="0" tIns="0" rIns="0" bIns="0" anchor="t">
            <a:normAutofit fontScale="95238" lnSpcReduction="10000"/>
          </a:bodyPr>
          <a:lstStyle/>
          <a:p>
            <a:pPr algn="l">
              <a:lnSpc>
                <a:spcPct val="105000"/>
              </a:lnSpc>
              <a:buNone/>
              <a:defRPr sz="1875" b="1" i="0">
                <a:solidFill>
                  <a:srgbClr val="231D17"/>
                </a:solidFill>
                <a:latin typeface="Times New Roman" panose="02020603050405020304"/>
                <a:ea typeface="Times New Roman" panose="02020603050405020304"/>
                <a:cs typeface="Times New Roman" panose="02020603050405020304"/>
              </a:defRPr>
            </a:pPr>
            <a:r>
              <a:rPr sz="1875" b="1" i="0">
                <a:solidFill>
                  <a:srgbClr val="231D17"/>
                </a:solidFill>
                <a:latin typeface="Times New Roman" panose="02020603050405020304"/>
                <a:ea typeface="Times New Roman" panose="02020603050405020304"/>
                <a:cs typeface="Times New Roman" panose="02020603050405020304"/>
              </a:rPr>
              <a:t>What remains missing</a:t>
            </a:r>
            <a:endParaRPr sz="1875" b="1" i="0">
              <a:solidFill>
                <a:srgbClr val="231D17"/>
              </a:solidFill>
              <a:latin typeface="Times New Roman" panose="02020603050405020304"/>
              <a:ea typeface="Times New Roman" panose="02020603050405020304"/>
              <a:cs typeface="Times New Roman" panose="02020603050405020304"/>
            </a:endParaRPr>
          </a:p>
        </p:txBody>
      </p:sp>
      <p:sp>
        <p:nvSpPr>
          <p:cNvPr id="29" name="椭圆 28"/>
          <p:cNvSpPr>
            <a:spLocks noGrp="1"/>
          </p:cNvSpPr>
          <p:nvPr/>
        </p:nvSpPr>
        <p:spPr>
          <a:xfrm>
            <a:off x="7943850" y="2857500"/>
            <a:ext cx="400050" cy="400050"/>
          </a:xfrm>
          <a:prstGeom prst="ellipse">
            <a:avLst/>
          </a:prstGeom>
          <a:solidFill>
            <a:srgbClr val="23384A"/>
          </a:solidFill>
          <a:ln w="9525">
            <a:solidFill>
              <a:srgbClr val="23384A"/>
            </a:solidFill>
            <a:prstDash val="solid"/>
          </a:ln>
        </p:spPr>
      </p:sp>
      <p:sp>
        <p:nvSpPr>
          <p:cNvPr id="30" name="矩形 29"/>
          <p:cNvSpPr>
            <a:spLocks noGrp="1"/>
          </p:cNvSpPr>
          <p:nvPr/>
        </p:nvSpPr>
        <p:spPr>
          <a:xfrm>
            <a:off x="8077200" y="2962275"/>
            <a:ext cx="133350" cy="152400"/>
          </a:xfrm>
          <a:prstGeom prst="rect">
            <a:avLst/>
          </a:prstGeom>
          <a:noFill/>
          <a:ln w="0">
            <a:noFill/>
            <a:prstDash val="solid"/>
          </a:ln>
        </p:spPr>
        <p:txBody>
          <a:bodyPr wrap="square" lIns="0" tIns="0" rIns="0" bIns="0" anchor="t">
            <a:normAutofit fontScale="74656"/>
          </a:bodyPr>
          <a:lstStyle/>
          <a:p>
            <a:pPr algn="ctr">
              <a:lnSpc>
                <a:spcPct val="105000"/>
              </a:lnSpc>
              <a:buNone/>
              <a:defRPr sz="1125" b="1" i="0">
                <a:solidFill>
                  <a:srgbClr val="F5F0E6"/>
                </a:solidFill>
                <a:latin typeface="Times New Roman" panose="02020603050405020304"/>
                <a:ea typeface="Times New Roman" panose="02020603050405020304"/>
                <a:cs typeface="Times New Roman" panose="02020603050405020304"/>
              </a:defRPr>
            </a:pPr>
            <a:r>
              <a:rPr sz="1125" b="1" i="0">
                <a:solidFill>
                  <a:srgbClr val="F5F0E6"/>
                </a:solidFill>
                <a:latin typeface="Times New Roman" panose="02020603050405020304"/>
                <a:ea typeface="Times New Roman" panose="02020603050405020304"/>
                <a:cs typeface="Times New Roman" panose="02020603050405020304"/>
              </a:rPr>
              <a:t>1</a:t>
            </a:r>
            <a:endParaRPr sz="1125" b="1" i="0">
              <a:solidFill>
                <a:srgbClr val="F5F0E6"/>
              </a:solidFill>
              <a:latin typeface="Times New Roman" panose="02020603050405020304"/>
              <a:ea typeface="Times New Roman" panose="02020603050405020304"/>
              <a:cs typeface="Times New Roman" panose="02020603050405020304"/>
            </a:endParaRPr>
          </a:p>
        </p:txBody>
      </p:sp>
      <p:sp>
        <p:nvSpPr>
          <p:cNvPr id="31" name="矩形 30"/>
          <p:cNvSpPr>
            <a:spLocks noGrp="1"/>
          </p:cNvSpPr>
          <p:nvPr/>
        </p:nvSpPr>
        <p:spPr>
          <a:xfrm>
            <a:off x="8515350" y="2838450"/>
            <a:ext cx="2381250" cy="2286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Multi-round learning</a:t>
            </a:r>
            <a:endParaRPr sz="1350" b="1" i="0">
              <a:solidFill>
                <a:srgbClr val="231D17"/>
              </a:solidFill>
              <a:latin typeface="Times New Roman" panose="02020603050405020304"/>
              <a:ea typeface="Times New Roman" panose="02020603050405020304"/>
              <a:cs typeface="Times New Roman" panose="02020603050405020304"/>
            </a:endParaRPr>
          </a:p>
        </p:txBody>
      </p:sp>
      <p:sp>
        <p:nvSpPr>
          <p:cNvPr id="32" name="矩形 31"/>
          <p:cNvSpPr>
            <a:spLocks noGrp="1"/>
          </p:cNvSpPr>
          <p:nvPr/>
        </p:nvSpPr>
        <p:spPr>
          <a:xfrm>
            <a:off x="8515350" y="3124200"/>
            <a:ext cx="2381250" cy="419100"/>
          </a:xfrm>
          <a:prstGeom prst="rect">
            <a:avLst/>
          </a:prstGeom>
          <a:noFill/>
          <a:ln w="0">
            <a:noFill/>
            <a:prstDash val="solid"/>
          </a:ln>
        </p:spPr>
        <p:txBody>
          <a:bodyPr wrap="square" lIns="0" tIns="0" rIns="0" bIns="0" anchor="t">
            <a:normAutofit/>
          </a:bodyPr>
          <a:lstStyle/>
          <a:p>
            <a:pPr algn="l">
              <a:lnSpc>
                <a:spcPct val="105000"/>
              </a:lnSpc>
              <a:buNone/>
              <a:defRPr sz="1065" b="0" i="0">
                <a:solidFill>
                  <a:srgbClr val="6F665C"/>
                </a:solidFill>
                <a:latin typeface="Times New Roman" panose="02020603050405020304"/>
                <a:ea typeface="Times New Roman" panose="02020603050405020304"/>
                <a:cs typeface="Times New Roman" panose="02020603050405020304"/>
              </a:defRPr>
            </a:pPr>
            <a:r>
              <a:rPr sz="1065" b="0" i="0">
                <a:solidFill>
                  <a:srgbClr val="6F665C"/>
                </a:solidFill>
                <a:latin typeface="Times New Roman" panose="02020603050405020304"/>
                <a:ea typeface="Times New Roman" panose="02020603050405020304"/>
                <a:cs typeface="Times New Roman" panose="02020603050405020304"/>
              </a:rPr>
              <a:t>Most evidence is still closer to one-shot adoption or short-term calibration.</a:t>
            </a:r>
            <a:endParaRPr sz="1065" b="0" i="0">
              <a:solidFill>
                <a:srgbClr val="6F665C"/>
              </a:solidFill>
              <a:latin typeface="Times New Roman" panose="02020603050405020304"/>
              <a:ea typeface="Times New Roman" panose="02020603050405020304"/>
              <a:cs typeface="Times New Roman" panose="02020603050405020304"/>
            </a:endParaRPr>
          </a:p>
        </p:txBody>
      </p:sp>
      <p:sp>
        <p:nvSpPr>
          <p:cNvPr id="33" name="椭圆 32"/>
          <p:cNvSpPr>
            <a:spLocks noGrp="1"/>
          </p:cNvSpPr>
          <p:nvPr/>
        </p:nvSpPr>
        <p:spPr>
          <a:xfrm>
            <a:off x="7943850" y="3676650"/>
            <a:ext cx="400050" cy="400050"/>
          </a:xfrm>
          <a:prstGeom prst="ellipse">
            <a:avLst/>
          </a:prstGeom>
          <a:solidFill>
            <a:srgbClr val="23384A"/>
          </a:solidFill>
          <a:ln w="9525">
            <a:solidFill>
              <a:srgbClr val="23384A"/>
            </a:solidFill>
            <a:prstDash val="solid"/>
          </a:ln>
        </p:spPr>
      </p:sp>
      <p:sp>
        <p:nvSpPr>
          <p:cNvPr id="34" name="矩形 33"/>
          <p:cNvSpPr>
            <a:spLocks noGrp="1"/>
          </p:cNvSpPr>
          <p:nvPr/>
        </p:nvSpPr>
        <p:spPr>
          <a:xfrm>
            <a:off x="8077200" y="3781425"/>
            <a:ext cx="133350" cy="152400"/>
          </a:xfrm>
          <a:prstGeom prst="rect">
            <a:avLst/>
          </a:prstGeom>
          <a:noFill/>
          <a:ln w="0">
            <a:noFill/>
            <a:prstDash val="solid"/>
          </a:ln>
        </p:spPr>
        <p:txBody>
          <a:bodyPr wrap="square" lIns="0" tIns="0" rIns="0" bIns="0" anchor="t">
            <a:normAutofit fontScale="74656"/>
          </a:bodyPr>
          <a:lstStyle/>
          <a:p>
            <a:pPr algn="ctr">
              <a:lnSpc>
                <a:spcPct val="105000"/>
              </a:lnSpc>
              <a:buNone/>
              <a:defRPr sz="1125" b="1" i="0">
                <a:solidFill>
                  <a:srgbClr val="F5F0E6"/>
                </a:solidFill>
                <a:latin typeface="Times New Roman" panose="02020603050405020304"/>
                <a:ea typeface="Times New Roman" panose="02020603050405020304"/>
                <a:cs typeface="Times New Roman" panose="02020603050405020304"/>
              </a:defRPr>
            </a:pPr>
            <a:r>
              <a:rPr sz="1125" b="1" i="0">
                <a:solidFill>
                  <a:srgbClr val="F5F0E6"/>
                </a:solidFill>
                <a:latin typeface="Times New Roman" panose="02020603050405020304"/>
                <a:ea typeface="Times New Roman" panose="02020603050405020304"/>
                <a:cs typeface="Times New Roman" panose="02020603050405020304"/>
              </a:rPr>
              <a:t>2</a:t>
            </a:r>
            <a:endParaRPr sz="1125" b="1" i="0">
              <a:solidFill>
                <a:srgbClr val="F5F0E6"/>
              </a:solidFill>
              <a:latin typeface="Times New Roman" panose="02020603050405020304"/>
              <a:ea typeface="Times New Roman" panose="02020603050405020304"/>
              <a:cs typeface="Times New Roman" panose="02020603050405020304"/>
            </a:endParaRPr>
          </a:p>
        </p:txBody>
      </p:sp>
      <p:sp>
        <p:nvSpPr>
          <p:cNvPr id="35" name="矩形 34"/>
          <p:cNvSpPr>
            <a:spLocks noGrp="1"/>
          </p:cNvSpPr>
          <p:nvPr/>
        </p:nvSpPr>
        <p:spPr>
          <a:xfrm>
            <a:off x="8515350" y="3657600"/>
            <a:ext cx="2381250" cy="2286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Source-specific shock</a:t>
            </a:r>
            <a:endParaRPr sz="1350" b="1" i="0">
              <a:solidFill>
                <a:srgbClr val="231D17"/>
              </a:solidFill>
              <a:latin typeface="Times New Roman" panose="02020603050405020304"/>
              <a:ea typeface="Times New Roman" panose="02020603050405020304"/>
              <a:cs typeface="Times New Roman" panose="02020603050405020304"/>
            </a:endParaRPr>
          </a:p>
        </p:txBody>
      </p:sp>
      <p:sp>
        <p:nvSpPr>
          <p:cNvPr id="36" name="矩形 35"/>
          <p:cNvSpPr>
            <a:spLocks noGrp="1"/>
          </p:cNvSpPr>
          <p:nvPr/>
        </p:nvSpPr>
        <p:spPr>
          <a:xfrm>
            <a:off x="8515350" y="3943350"/>
            <a:ext cx="2381250" cy="419100"/>
          </a:xfrm>
          <a:prstGeom prst="rect">
            <a:avLst/>
          </a:prstGeom>
          <a:noFill/>
          <a:ln w="0">
            <a:noFill/>
            <a:prstDash val="solid"/>
          </a:ln>
        </p:spPr>
        <p:txBody>
          <a:bodyPr wrap="square" lIns="0" tIns="0" rIns="0" bIns="0" anchor="t">
            <a:normAutofit/>
          </a:bodyPr>
          <a:lstStyle/>
          <a:p>
            <a:pPr algn="l">
              <a:lnSpc>
                <a:spcPct val="105000"/>
              </a:lnSpc>
              <a:buNone/>
              <a:defRPr sz="1065" b="0" i="0">
                <a:solidFill>
                  <a:srgbClr val="6F665C"/>
                </a:solidFill>
                <a:latin typeface="Times New Roman" panose="02020603050405020304"/>
                <a:ea typeface="Times New Roman" panose="02020603050405020304"/>
                <a:cs typeface="Times New Roman" panose="02020603050405020304"/>
              </a:defRPr>
            </a:pPr>
            <a:r>
              <a:rPr sz="1065" b="0" i="0">
                <a:solidFill>
                  <a:srgbClr val="6F665C"/>
                </a:solidFill>
                <a:latin typeface="Times New Roman" panose="02020603050405020304"/>
                <a:ea typeface="Times New Roman" panose="02020603050405020304"/>
                <a:cs typeface="Times New Roman" panose="02020603050405020304"/>
              </a:rPr>
              <a:t>Less is known about whether comparable AI errors carry extra diagnostic weight.</a:t>
            </a:r>
            <a:endParaRPr sz="1065" b="0" i="0">
              <a:solidFill>
                <a:srgbClr val="6F665C"/>
              </a:solidFill>
              <a:latin typeface="Times New Roman" panose="02020603050405020304"/>
              <a:ea typeface="Times New Roman" panose="02020603050405020304"/>
              <a:cs typeface="Times New Roman" panose="02020603050405020304"/>
            </a:endParaRPr>
          </a:p>
        </p:txBody>
      </p:sp>
      <p:sp>
        <p:nvSpPr>
          <p:cNvPr id="37" name="圆角矩形 36"/>
          <p:cNvSpPr>
            <a:spLocks noGrp="1"/>
          </p:cNvSpPr>
          <p:nvPr/>
        </p:nvSpPr>
        <p:spPr>
          <a:xfrm>
            <a:off x="7810500" y="4743450"/>
            <a:ext cx="3429000" cy="819150"/>
          </a:xfrm>
          <a:prstGeom prst="roundRect">
            <a:avLst>
              <a:gd name="adj" fmla="val 13953"/>
            </a:avLst>
          </a:prstGeom>
          <a:solidFill>
            <a:srgbClr val="23384A"/>
          </a:solidFill>
          <a:ln w="9525">
            <a:solidFill>
              <a:srgbClr val="23384A"/>
            </a:solidFill>
            <a:prstDash val="solid"/>
          </a:ln>
        </p:spPr>
      </p:sp>
      <p:sp>
        <p:nvSpPr>
          <p:cNvPr id="38" name="矩形 37"/>
          <p:cNvSpPr>
            <a:spLocks noGrp="1"/>
          </p:cNvSpPr>
          <p:nvPr/>
        </p:nvSpPr>
        <p:spPr>
          <a:xfrm>
            <a:off x="8077200" y="4914900"/>
            <a:ext cx="2857500" cy="457200"/>
          </a:xfrm>
          <a:prstGeom prst="rect">
            <a:avLst/>
          </a:prstGeom>
          <a:noFill/>
          <a:ln w="0">
            <a:noFill/>
            <a:prstDash val="solid"/>
          </a:ln>
        </p:spPr>
        <p:txBody>
          <a:bodyPr wrap="square" lIns="0" tIns="0" rIns="0" bIns="0" anchor="t">
            <a:normAutofit fontScale="74781"/>
          </a:bodyPr>
          <a:lstStyle/>
          <a:p>
            <a:pPr algn="ctr">
              <a:lnSpc>
                <a:spcPct val="108000"/>
              </a:lnSpc>
              <a:buNone/>
              <a:defRPr sz="1350" b="1" i="0">
                <a:solidFill>
                  <a:srgbClr val="F5F0E6"/>
                </a:solidFill>
                <a:latin typeface="Times New Roman" panose="02020603050405020304"/>
                <a:ea typeface="Times New Roman" panose="02020603050405020304"/>
                <a:cs typeface="Times New Roman" panose="02020603050405020304"/>
              </a:defRPr>
            </a:pPr>
            <a:r>
              <a:rPr sz="1350" b="1" i="0">
                <a:solidFill>
                  <a:srgbClr val="F5F0E6"/>
                </a:solidFill>
                <a:latin typeface="Times New Roman" panose="02020603050405020304"/>
                <a:ea typeface="Times New Roman" panose="02020603050405020304"/>
                <a:cs typeface="Times New Roman" panose="02020603050405020304"/>
              </a:rPr>
              <a:t>Paper 2 therefore studies dynamic reliance after localized AI error shocks under performance parity.</a:t>
            </a:r>
            <a:endParaRPr sz="1350" b="1" i="0">
              <a:solidFill>
                <a:srgbClr val="F5F0E6"/>
              </a:solidFill>
              <a:latin typeface="Times New Roman" panose="02020603050405020304"/>
              <a:ea typeface="Times New Roman" panose="02020603050405020304"/>
              <a:cs typeface="Times New Roman" panose="02020603050405020304"/>
            </a:endParaRPr>
          </a:p>
        </p:txBody>
      </p:sp>
      <p:sp>
        <p:nvSpPr>
          <p:cNvPr id="39" name="圆角矩形 38"/>
          <p:cNvSpPr>
            <a:spLocks noGrp="1"/>
          </p:cNvSpPr>
          <p:nvPr/>
        </p:nvSpPr>
        <p:spPr>
          <a:xfrm>
            <a:off x="914400" y="5810250"/>
            <a:ext cx="10325100" cy="419100"/>
          </a:xfrm>
          <a:prstGeom prst="roundRect">
            <a:avLst>
              <a:gd name="adj" fmla="val 18182"/>
            </a:avLst>
          </a:prstGeom>
          <a:solidFill>
            <a:srgbClr val="EFE6D8"/>
          </a:solidFill>
          <a:ln w="9525">
            <a:solidFill>
              <a:srgbClr val="D8CCBB"/>
            </a:solidFill>
            <a:prstDash val="solid"/>
          </a:ln>
        </p:spPr>
      </p:sp>
      <p:sp>
        <p:nvSpPr>
          <p:cNvPr id="40" name="矩形 39"/>
          <p:cNvSpPr>
            <a:spLocks noGrp="1"/>
          </p:cNvSpPr>
          <p:nvPr/>
        </p:nvSpPr>
        <p:spPr>
          <a:xfrm>
            <a:off x="1200150" y="5924550"/>
            <a:ext cx="9753600" cy="171450"/>
          </a:xfrm>
          <a:prstGeom prst="rect">
            <a:avLst/>
          </a:prstGeom>
          <a:noFill/>
          <a:ln w="0">
            <a:noFill/>
            <a:prstDash val="solid"/>
          </a:ln>
        </p:spPr>
        <p:txBody>
          <a:bodyPr wrap="square" lIns="0" tIns="0" rIns="0" bIns="0" anchor="t">
            <a:normAutofit fontScale="89286" lnSpcReduction="10000"/>
          </a:bodyPr>
          <a:lstStyle/>
          <a:p>
            <a:pPr algn="ctr">
              <a:lnSpc>
                <a:spcPct val="105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the gap is not that AI trust is unstudied; it is that error reactions are rarely tracked as path-dependent reliance updating.</a:t>
            </a:r>
            <a:endParaRPr sz="1200" b="1"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GAP</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gap has two parts: most work is not multi-round, and most work does not isolate AI-specific diagnostic asymmetry</a:t>
            </a:r>
            <a:endParaRPr sz="2175" b="1" i="0">
              <a:solidFill>
                <a:srgbClr val="231D17"/>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paper therefore targets a dynamic asymmetry problem under repeated feedback rather than a broad statement about distrust.</a:t>
            </a:r>
            <a:endParaRPr sz="1200"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nvSpPr>
        <p:spPr>
          <a:xfrm>
            <a:off x="914400" y="2286000"/>
            <a:ext cx="10287000" cy="990600"/>
          </a:xfrm>
          <a:prstGeom prst="roundRect">
            <a:avLst>
              <a:gd name="adj" fmla="val 11538"/>
            </a:avLst>
          </a:prstGeom>
          <a:solidFill>
            <a:srgbClr val="FFFFFF"/>
          </a:solidFill>
          <a:ln w="9525">
            <a:solidFill>
              <a:srgbClr val="D8CCBB"/>
            </a:solidFill>
            <a:prstDash val="solid"/>
          </a:ln>
        </p:spPr>
      </p:sp>
      <p:sp>
        <p:nvSpPr>
          <p:cNvPr id="8" name="圆角矩形 7"/>
          <p:cNvSpPr>
            <a:spLocks noGrp="1"/>
          </p:cNvSpPr>
          <p:nvPr/>
        </p:nvSpPr>
        <p:spPr>
          <a:xfrm>
            <a:off x="914400" y="2286000"/>
            <a:ext cx="57150" cy="9906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62050" y="2457450"/>
            <a:ext cx="2286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Gap 1: multi-round updating</a:t>
            </a:r>
            <a:endParaRPr sz="1350" b="1" i="0">
              <a:solidFill>
                <a:srgbClr val="B77845"/>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162050" y="2743200"/>
            <a:ext cx="9620250" cy="361950"/>
          </a:xfrm>
          <a:prstGeom prst="rect">
            <a:avLst/>
          </a:prstGeom>
          <a:noFill/>
          <a:ln w="0">
            <a:noFill/>
            <a:prstDash val="solid"/>
          </a:ln>
        </p:spPr>
        <p:txBody>
          <a:bodyPr wrap="square" lIns="0" tIns="0" rIns="0" bIns="0" anchor="t">
            <a:normAutofit lnSpcReduction="20000"/>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75" b="0" i="0">
                <a:solidFill>
                  <a:srgbClr val="231D17"/>
                </a:solidFill>
                <a:latin typeface="Times New Roman" panose="02020603050405020304"/>
                <a:ea typeface="Times New Roman" panose="02020603050405020304"/>
                <a:cs typeface="Times New Roman" panose="02020603050405020304"/>
              </a:rPr>
              <a:t>In the real world, people rarely interact with AI only once. Human–AI collaboration is an ongoing process. However, most previous studies have relied on one-shot experiments to measure trust and collaboration between humans and AI.</a:t>
            </a:r>
            <a:endParaRPr lang="en-US" altLang="zh-CN" sz="1275" b="0" i="0">
              <a:solidFill>
                <a:srgbClr val="231D17"/>
              </a:solidFill>
              <a:latin typeface="Times New Roman" panose="02020603050405020304"/>
              <a:ea typeface="Times New Roman" panose="02020603050405020304"/>
              <a:cs typeface="Times New Roman" panose="02020603050405020304"/>
            </a:endParaRPr>
          </a:p>
        </p:txBody>
      </p:sp>
      <p:sp>
        <p:nvSpPr>
          <p:cNvPr id="11" name="圆角矩形 10"/>
          <p:cNvSpPr>
            <a:spLocks noGrp="1"/>
          </p:cNvSpPr>
          <p:nvPr/>
        </p:nvSpPr>
        <p:spPr>
          <a:xfrm>
            <a:off x="914400" y="3581400"/>
            <a:ext cx="10287000" cy="990600"/>
          </a:xfrm>
          <a:prstGeom prst="roundRect">
            <a:avLst>
              <a:gd name="adj" fmla="val 11538"/>
            </a:avLst>
          </a:prstGeom>
          <a:solidFill>
            <a:srgbClr val="FFFFFF"/>
          </a:solidFill>
          <a:ln w="9525">
            <a:solidFill>
              <a:srgbClr val="D8CCBB"/>
            </a:solidFill>
            <a:prstDash val="solid"/>
          </a:ln>
        </p:spPr>
        <p:txBody>
          <a:bodyPr/>
          <a:lstStyle/>
          <a:p>
            <a:endParaRPr lang="zh-CN" altLang="en-US"/>
          </a:p>
        </p:txBody>
      </p:sp>
      <p:sp>
        <p:nvSpPr>
          <p:cNvPr id="12" name="圆角矩形 11"/>
          <p:cNvSpPr>
            <a:spLocks noGrp="1"/>
          </p:cNvSpPr>
          <p:nvPr/>
        </p:nvSpPr>
        <p:spPr>
          <a:xfrm>
            <a:off x="914400" y="3581400"/>
            <a:ext cx="57150" cy="990600"/>
          </a:xfrm>
          <a:prstGeom prst="roundRect">
            <a:avLst>
              <a:gd name="adj" fmla="val 33333"/>
            </a:avLst>
          </a:prstGeom>
          <a:solidFill>
            <a:srgbClr val="818A68"/>
          </a:solidFill>
          <a:ln w="9525">
            <a:solidFill>
              <a:srgbClr val="818A68"/>
            </a:solidFill>
            <a:prstDash val="solid"/>
          </a:ln>
        </p:spPr>
      </p:sp>
      <p:sp>
        <p:nvSpPr>
          <p:cNvPr id="13" name="矩形 12"/>
          <p:cNvSpPr>
            <a:spLocks noGrp="1"/>
          </p:cNvSpPr>
          <p:nvPr/>
        </p:nvSpPr>
        <p:spPr>
          <a:xfrm>
            <a:off x="1162050" y="3709670"/>
            <a:ext cx="2816860" cy="271780"/>
          </a:xfrm>
          <a:prstGeom prst="rect">
            <a:avLst/>
          </a:prstGeom>
          <a:noFill/>
          <a:ln w="0">
            <a:noFill/>
            <a:prstDash val="solid"/>
          </a:ln>
        </p:spPr>
        <p:txBody>
          <a:bodyPr wrap="square" lIns="0" tIns="0" rIns="0" bIns="0" anchor="t"/>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400" b="1" i="0">
                <a:solidFill>
                  <a:srgbClr val="818A68"/>
                </a:solidFill>
                <a:latin typeface="Times New Roman" panose="02020603050405020304"/>
                <a:ea typeface="Times New Roman" panose="02020603050405020304"/>
                <a:cs typeface="Times New Roman" panose="02020603050405020304"/>
              </a:rPr>
              <a:t>Gap 2: source-specific asymmetry</a:t>
            </a:r>
            <a:endParaRPr sz="1400" b="1" i="0">
              <a:solidFill>
                <a:srgbClr val="818A68"/>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nvSpPr>
        <p:spPr>
          <a:xfrm>
            <a:off x="1162050" y="4038600"/>
            <a:ext cx="9620250" cy="361950"/>
          </a:xfrm>
          <a:prstGeom prst="rect">
            <a:avLst/>
          </a:prstGeom>
          <a:noFill/>
          <a:ln w="0">
            <a:noFill/>
            <a:prstDash val="solid"/>
          </a:ln>
        </p:spPr>
        <p:txBody>
          <a:bodyPr wrap="square" lIns="0" tIns="0" rIns="0" bIns="0" anchor="t">
            <a:normAutofit/>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Without matched-performance comparisons, we cannot tell whether AI misses are treated as more diagnostic than comparable non-AI misses.</a:t>
            </a:r>
            <a:endParaRPr sz="1275" b="0" i="0">
              <a:solidFill>
                <a:srgbClr val="231D17"/>
              </a:solidFill>
              <a:latin typeface="Times New Roman" panose="02020603050405020304"/>
              <a:ea typeface="Times New Roman" panose="02020603050405020304"/>
              <a:cs typeface="Times New Roman" panose="02020603050405020304"/>
            </a:endParaRPr>
          </a:p>
        </p:txBody>
      </p:sp>
      <p:sp>
        <p:nvSpPr>
          <p:cNvPr id="15" name="圆角矩形 14"/>
          <p:cNvSpPr>
            <a:spLocks noGrp="1"/>
          </p:cNvSpPr>
          <p:nvPr/>
        </p:nvSpPr>
        <p:spPr>
          <a:xfrm>
            <a:off x="914400" y="4876800"/>
            <a:ext cx="10287000" cy="990600"/>
          </a:xfrm>
          <a:prstGeom prst="roundRect">
            <a:avLst>
              <a:gd name="adj" fmla="val 11538"/>
            </a:avLst>
          </a:prstGeom>
          <a:solidFill>
            <a:srgbClr val="FFFFFF"/>
          </a:solidFill>
          <a:ln w="9525">
            <a:solidFill>
              <a:srgbClr val="D8CCBB"/>
            </a:solidFill>
            <a:prstDash val="solid"/>
          </a:ln>
        </p:spPr>
      </p:sp>
      <p:sp>
        <p:nvSpPr>
          <p:cNvPr id="16" name="圆角矩形 15"/>
          <p:cNvSpPr>
            <a:spLocks noGrp="1"/>
          </p:cNvSpPr>
          <p:nvPr/>
        </p:nvSpPr>
        <p:spPr>
          <a:xfrm>
            <a:off x="914400" y="4876800"/>
            <a:ext cx="57150" cy="990600"/>
          </a:xfrm>
          <a:prstGeom prst="roundRect">
            <a:avLst>
              <a:gd name="adj" fmla="val 33333"/>
            </a:avLst>
          </a:prstGeom>
          <a:solidFill>
            <a:srgbClr val="3E4C5A"/>
          </a:solidFill>
          <a:ln w="9525">
            <a:solidFill>
              <a:srgbClr val="3E4C5A"/>
            </a:solidFill>
            <a:prstDash val="solid"/>
          </a:ln>
        </p:spPr>
      </p:sp>
      <p:sp>
        <p:nvSpPr>
          <p:cNvPr id="17" name="矩形 16"/>
          <p:cNvSpPr>
            <a:spLocks noGrp="1"/>
          </p:cNvSpPr>
          <p:nvPr/>
        </p:nvSpPr>
        <p:spPr>
          <a:xfrm>
            <a:off x="1162050" y="5048250"/>
            <a:ext cx="2286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3E4C5A"/>
                </a:solidFill>
                <a:latin typeface="Times New Roman" panose="02020603050405020304"/>
                <a:ea typeface="Times New Roman" panose="02020603050405020304"/>
                <a:cs typeface="Times New Roman" panose="02020603050405020304"/>
              </a:defRPr>
            </a:pPr>
            <a:r>
              <a:rPr sz="1350" b="1" i="0">
                <a:solidFill>
                  <a:srgbClr val="3E4C5A"/>
                </a:solidFill>
                <a:latin typeface="Times New Roman" panose="02020603050405020304"/>
                <a:ea typeface="Times New Roman" panose="02020603050405020304"/>
                <a:cs typeface="Times New Roman" panose="02020603050405020304"/>
              </a:rPr>
              <a:t>Punchline</a:t>
            </a:r>
            <a:endParaRPr sz="1350" b="1" i="0">
              <a:solidFill>
                <a:srgbClr val="3E4C5A"/>
              </a:solidFill>
              <a:latin typeface="Times New Roman" panose="02020603050405020304"/>
              <a:ea typeface="Times New Roman" panose="02020603050405020304"/>
              <a:cs typeface="Times New Roman" panose="02020603050405020304"/>
            </a:endParaRPr>
          </a:p>
        </p:txBody>
      </p:sp>
      <p:sp>
        <p:nvSpPr>
          <p:cNvPr id="18" name="矩形 17"/>
          <p:cNvSpPr>
            <a:spLocks noGrp="1"/>
          </p:cNvSpPr>
          <p:nvPr/>
        </p:nvSpPr>
        <p:spPr>
          <a:xfrm>
            <a:off x="1162050" y="5334000"/>
            <a:ext cx="9620250" cy="361950"/>
          </a:xfrm>
          <a:prstGeom prst="rect">
            <a:avLst/>
          </a:prstGeom>
          <a:noFill/>
          <a:ln w="0">
            <a:noFill/>
            <a:prstDash val="solid"/>
          </a:ln>
        </p:spPr>
        <p:txBody>
          <a:bodyPr wrap="square" lIns="0" tIns="0" rIns="0" bIns="0" anchor="t"/>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Dennis, A. R., et al. (2023) and Turel &amp; Kalhan (2023) in MIS Quarterly explicitly argues that prior research on algorithm aversion has been too static. In real work settings, humans do not simply remain either averse to or appreciative of algorithms; rather, they dynamically alternate between algorithm aversion and algorithm appreciation over time.</a:t>
            </a:r>
            <a:endParaRPr lang="en-US" altLang="zh-CN" sz="1200" b="0"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RQ AND FRAMING</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These gaps lead to one framing: dynamic reliance after source-specific error shocks</a:t>
            </a:r>
            <a:endParaRPr sz="2175" b="1" i="0">
              <a:solidFill>
                <a:srgbClr val="231D17"/>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paper asks how local AI failures alter search-free learning about whether AI should be relied on later.</a:t>
            </a:r>
            <a:endParaRPr sz="1200"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custDataLst>
              <p:tags r:id="rId1"/>
            </p:custDataLst>
          </p:nvPr>
        </p:nvSpPr>
        <p:spPr>
          <a:xfrm>
            <a:off x="914400" y="2133600"/>
            <a:ext cx="4953000" cy="3219450"/>
          </a:xfrm>
          <a:prstGeom prst="roundRect">
            <a:avLst>
              <a:gd name="adj" fmla="val 3550"/>
            </a:avLst>
          </a:prstGeom>
          <a:solidFill>
            <a:srgbClr val="FFFFFF"/>
          </a:solidFill>
          <a:ln w="9525">
            <a:solidFill>
              <a:srgbClr val="D8CCBB"/>
            </a:solidFill>
            <a:prstDash val="solid"/>
          </a:ln>
        </p:spPr>
      </p:sp>
      <p:sp>
        <p:nvSpPr>
          <p:cNvPr id="8" name="圆角矩形 7"/>
          <p:cNvSpPr>
            <a:spLocks noGrp="1"/>
          </p:cNvSpPr>
          <p:nvPr>
            <p:custDataLst>
              <p:tags r:id="rId2"/>
            </p:custDataLst>
          </p:nvPr>
        </p:nvSpPr>
        <p:spPr>
          <a:xfrm>
            <a:off x="914400" y="2133600"/>
            <a:ext cx="57150" cy="321945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custDataLst>
              <p:tags r:id="rId3"/>
            </p:custDataLst>
          </p:nvPr>
        </p:nvSpPr>
        <p:spPr>
          <a:xfrm>
            <a:off x="1143000" y="236220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Research questions</a:t>
            </a:r>
            <a:endParaRPr sz="1350" b="1" i="0">
              <a:solidFill>
                <a:srgbClr val="B77845"/>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custDataLst>
              <p:tags r:id="rId4"/>
            </p:custDataLst>
          </p:nvPr>
        </p:nvSpPr>
        <p:spPr>
          <a:xfrm>
            <a:off x="1143000" y="2781300"/>
            <a:ext cx="4343400" cy="2152650"/>
          </a:xfrm>
          <a:prstGeom prst="rect">
            <a:avLst/>
          </a:prstGeom>
          <a:noFill/>
          <a:ln w="0">
            <a:noFill/>
            <a:prstDash val="solid"/>
          </a:ln>
        </p:spPr>
        <p:txBody>
          <a:bodyPr wrap="square" lIns="0" tIns="0" rIns="0" bIns="0" anchor="t">
            <a:normAutofit/>
          </a:bodyPr>
          <a:lstStyle/>
          <a:p>
            <a:pPr algn="l">
              <a:defRPr sz="1500" b="0" i="0">
                <a:solidFill>
                  <a:srgbClr val="18231C"/>
                </a:solidFill>
                <a:latin typeface="Times New Roman" panose="02020603050405020304"/>
                <a:ea typeface="Times New Roman" panose="02020603050405020304"/>
                <a:cs typeface="Times New Roman" panose="02020603050405020304"/>
              </a:defRPr>
            </a:pPr>
            <a:r>
              <a:rPr sz="1350">
                <a:solidFill>
                  <a:srgbClr val="18231C"/>
                </a:solidFill>
                <a:sym typeface="+mn-ea"/>
              </a:rPr>
              <a:t>How do participants dynamically calibrate reliance on self vs. AI in repeated human-AI decisions, and how does a localized AI error shock reshape that reliance path?</a:t>
            </a:r>
            <a:endParaRPr lang="en-US" altLang="zh-CN" sz="1350" b="0" i="0">
              <a:solidFill>
                <a:srgbClr val="231D17"/>
              </a:solidFill>
              <a:latin typeface="Times New Roman" panose="02020603050405020304"/>
              <a:ea typeface="Times New Roman" panose="02020603050405020304"/>
              <a:cs typeface="Times New Roman" panose="02020603050405020304"/>
            </a:endParaRPr>
          </a:p>
        </p:txBody>
      </p:sp>
      <p:sp>
        <p:nvSpPr>
          <p:cNvPr id="11" name="圆角矩形 10"/>
          <p:cNvSpPr>
            <a:spLocks noGrp="1"/>
          </p:cNvSpPr>
          <p:nvPr>
            <p:custDataLst>
              <p:tags r:id="rId5"/>
            </p:custDataLst>
          </p:nvPr>
        </p:nvSpPr>
        <p:spPr>
          <a:xfrm>
            <a:off x="6362700" y="2133600"/>
            <a:ext cx="4876800" cy="3219450"/>
          </a:xfrm>
          <a:prstGeom prst="roundRect">
            <a:avLst>
              <a:gd name="adj" fmla="val 3550"/>
            </a:avLst>
          </a:prstGeom>
          <a:solidFill>
            <a:srgbClr val="FFFFFF"/>
          </a:solidFill>
          <a:ln w="9525">
            <a:solidFill>
              <a:srgbClr val="D8CCBB"/>
            </a:solidFill>
            <a:prstDash val="solid"/>
          </a:ln>
        </p:spPr>
      </p:sp>
      <p:sp>
        <p:nvSpPr>
          <p:cNvPr id="12" name="圆角矩形 11"/>
          <p:cNvSpPr>
            <a:spLocks noGrp="1"/>
          </p:cNvSpPr>
          <p:nvPr>
            <p:custDataLst>
              <p:tags r:id="rId6"/>
            </p:custDataLst>
          </p:nvPr>
        </p:nvSpPr>
        <p:spPr>
          <a:xfrm>
            <a:off x="6362700" y="2133600"/>
            <a:ext cx="57150" cy="3219450"/>
          </a:xfrm>
          <a:prstGeom prst="roundRect">
            <a:avLst>
              <a:gd name="adj" fmla="val 33333"/>
            </a:avLst>
          </a:prstGeom>
          <a:solidFill>
            <a:srgbClr val="818A68"/>
          </a:solidFill>
          <a:ln w="9525">
            <a:solidFill>
              <a:srgbClr val="818A68"/>
            </a:solidFill>
            <a:prstDash val="solid"/>
          </a:ln>
        </p:spPr>
      </p:sp>
      <p:sp>
        <p:nvSpPr>
          <p:cNvPr id="13" name="矩形 12"/>
          <p:cNvSpPr>
            <a:spLocks noGrp="1"/>
          </p:cNvSpPr>
          <p:nvPr>
            <p:custDataLst>
              <p:tags r:id="rId7"/>
            </p:custDataLst>
          </p:nvPr>
        </p:nvSpPr>
        <p:spPr>
          <a:xfrm>
            <a:off x="6591300" y="236220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Analytical framing</a:t>
            </a:r>
            <a:endParaRPr sz="1350" b="1" i="0">
              <a:solidFill>
                <a:srgbClr val="818A68"/>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custDataLst>
              <p:tags r:id="rId8"/>
            </p:custDataLst>
          </p:nvPr>
        </p:nvSpPr>
        <p:spPr>
          <a:xfrm>
            <a:off x="6591300" y="2781300"/>
            <a:ext cx="4248150" cy="1962150"/>
          </a:xfrm>
          <a:prstGeom prst="rect">
            <a:avLst/>
          </a:prstGeom>
          <a:noFill/>
          <a:ln w="0">
            <a:noFill/>
            <a:prstDash val="solid"/>
          </a:ln>
        </p:spPr>
        <p:txBody>
          <a:bodyPr wrap="square" lIns="0" tIns="0" rIns="0" bIns="0" anchor="t">
            <a:normAutofit fontScale="90000" lnSpcReduction="20000"/>
          </a:bodyPr>
          <a:lstStyle/>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Reliance is learned over repeated feedback,</a:t>
            </a: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not fixed after one AI suggestion.</a:t>
            </a: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AI errors are treated as calibration shocks,</a:t>
            </a: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not simply as lower accuracy.</a:t>
            </a: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Performance parity makes the comparison identifiable:</a:t>
            </a: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the AI and the human/self baseline are equally capable.</a:t>
            </a: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We first identify path-level reliance changes,</a:t>
            </a: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then use an EWA-inspired model to interpret the updating mechanism.</a:t>
            </a:r>
            <a:endParaRPr lang="en-US" altLang="zh-CN" sz="1350" b="0" i="0">
              <a:solidFill>
                <a:srgbClr val="231D17"/>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914400" y="5581650"/>
            <a:ext cx="10287000" cy="32385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Framing sentence: the dependent object is the reliance path, not the first post-error attitude.</a:t>
            </a:r>
            <a:endParaRPr sz="1350" b="1"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left-rail"/>
          <p:cNvSpPr>
            <a:spLocks noGrp="1"/>
          </p:cNvSpPr>
          <p:nvPr/>
        </p:nvSpPr>
        <p:spPr>
          <a:xfrm>
            <a:off x="552450" y="457200"/>
            <a:ext cx="19050" cy="5943600"/>
          </a:xfrm>
          <a:prstGeom prst="rect">
            <a:avLst/>
          </a:prstGeom>
          <a:solidFill>
            <a:srgbClr val="777F5D"/>
          </a:solidFill>
          <a:ln w="9525">
            <a:solidFill>
              <a:srgbClr val="777F5D"/>
            </a:solidFill>
            <a:prstDash val="solid"/>
          </a:ln>
        </p:spPr>
      </p:sp>
      <p:sp>
        <p:nvSpPr>
          <p:cNvPr id="3" name="eyebrow"/>
          <p:cNvSpPr>
            <a:spLocks noGrp="1"/>
          </p:cNvSpPr>
          <p:nvPr/>
        </p:nvSpPr>
        <p:spPr>
          <a:xfrm>
            <a:off x="914400" y="590550"/>
            <a:ext cx="3429000" cy="228600"/>
          </a:xfrm>
          <a:prstGeom prst="rect">
            <a:avLst/>
          </a:prstGeom>
          <a:noFill/>
          <a:ln w="0">
            <a:noFill/>
            <a:prstDash val="solid"/>
          </a:ln>
        </p:spPr>
        <p:txBody>
          <a:bodyPr/>
          <a:lstStyle/>
          <a:p>
            <a:pPr algn="l">
              <a:defRPr sz="975" b="1" i="0">
                <a:solidFill>
                  <a:srgbClr val="4B563E"/>
                </a:solidFill>
                <a:latin typeface="Times New Roman" panose="02020603050405020304"/>
                <a:ea typeface="Times New Roman" panose="02020603050405020304"/>
                <a:cs typeface="Times New Roman" panose="02020603050405020304"/>
              </a:defRPr>
            </a:pPr>
            <a:r>
              <a:rPr sz="975" b="1" i="0">
                <a:solidFill>
                  <a:srgbClr val="4B563E"/>
                </a:solidFill>
                <a:latin typeface="Times New Roman" panose="02020603050405020304"/>
                <a:ea typeface="Times New Roman" panose="02020603050405020304"/>
                <a:cs typeface="Times New Roman" panose="02020603050405020304"/>
              </a:rPr>
              <a:t>PAPER 2 · REPLACEMENT SLIDE</a:t>
            </a:r>
            <a:endParaRPr sz="975" b="1" i="0">
              <a:solidFill>
                <a:srgbClr val="4B563E"/>
              </a:solidFill>
              <a:latin typeface="Times New Roman" panose="02020603050405020304"/>
              <a:ea typeface="Times New Roman" panose="02020603050405020304"/>
              <a:cs typeface="Times New Roman" panose="02020603050405020304"/>
            </a:endParaRPr>
          </a:p>
        </p:txBody>
      </p:sp>
      <p:sp>
        <p:nvSpPr>
          <p:cNvPr id="4" name="title"/>
          <p:cNvSpPr>
            <a:spLocks noGrp="1"/>
          </p:cNvSpPr>
          <p:nvPr/>
        </p:nvSpPr>
        <p:spPr>
          <a:xfrm>
            <a:off x="914400" y="914400"/>
            <a:ext cx="7429500" cy="514350"/>
          </a:xfrm>
          <a:prstGeom prst="rect">
            <a:avLst/>
          </a:prstGeom>
          <a:noFill/>
          <a:ln w="0">
            <a:noFill/>
            <a:prstDash val="solid"/>
          </a:ln>
        </p:spPr>
        <p:txBody>
          <a:bodyPr/>
          <a:lstStyle/>
          <a:p>
            <a:pPr algn="l">
              <a:defRPr sz="2700" b="1" i="0">
                <a:solidFill>
                  <a:srgbClr val="18231C"/>
                </a:solidFill>
                <a:latin typeface="Times New Roman" panose="02020603050405020304"/>
                <a:ea typeface="Times New Roman" panose="02020603050405020304"/>
                <a:cs typeface="Times New Roman" panose="02020603050405020304"/>
              </a:defRPr>
            </a:pPr>
            <a:r>
              <a:rPr sz="2700" b="1" i="0">
                <a:solidFill>
                  <a:srgbClr val="18231C"/>
                </a:solidFill>
                <a:latin typeface="Times New Roman" panose="02020603050405020304"/>
                <a:ea typeface="Times New Roman" panose="02020603050405020304"/>
                <a:cs typeface="Times New Roman" panose="02020603050405020304"/>
              </a:rPr>
              <a:t>Research Questions and Hypotheses</a:t>
            </a:r>
            <a:endParaRPr sz="2700" b="1" i="0">
              <a:solidFill>
                <a:srgbClr val="18231C"/>
              </a:solidFill>
              <a:latin typeface="Times New Roman" panose="02020603050405020304"/>
              <a:ea typeface="Times New Roman" panose="02020603050405020304"/>
              <a:cs typeface="Times New Roman" panose="02020603050405020304"/>
            </a:endParaRPr>
          </a:p>
        </p:txBody>
      </p:sp>
      <p:sp>
        <p:nvSpPr>
          <p:cNvPr id="5" name="subtitle"/>
          <p:cNvSpPr>
            <a:spLocks noGrp="1"/>
          </p:cNvSpPr>
          <p:nvPr/>
        </p:nvSpPr>
        <p:spPr>
          <a:xfrm>
            <a:off x="914400" y="1352550"/>
            <a:ext cx="9620250" cy="323850"/>
          </a:xfrm>
          <a:prstGeom prst="rect">
            <a:avLst/>
          </a:prstGeom>
          <a:noFill/>
          <a:ln w="0">
            <a:noFill/>
            <a:prstDash val="solid"/>
          </a:ln>
        </p:spPr>
        <p:txBody>
          <a:bodyPr/>
          <a:lstStyle/>
          <a:p>
            <a:pPr algn="l">
              <a:defRPr sz="1350" b="0" i="0">
                <a:solidFill>
                  <a:srgbClr val="5E6556"/>
                </a:solidFill>
                <a:latin typeface="Times New Roman" panose="02020603050405020304"/>
                <a:ea typeface="Times New Roman" panose="02020603050405020304"/>
                <a:cs typeface="Times New Roman" panose="02020603050405020304"/>
              </a:defRPr>
            </a:pPr>
            <a:r>
              <a:rPr sz="1350" b="0" i="0">
                <a:solidFill>
                  <a:srgbClr val="5E6556"/>
                </a:solidFill>
                <a:latin typeface="Times New Roman" panose="02020603050405020304"/>
                <a:ea typeface="Times New Roman" panose="02020603050405020304"/>
                <a:cs typeface="Times New Roman" panose="02020603050405020304"/>
              </a:rPr>
              <a:t>The design compares how reliance changes after matched feedback, local AI shocks, and later recovery.</a:t>
            </a:r>
            <a:endParaRPr sz="1350" b="0" i="0">
              <a:solidFill>
                <a:srgbClr val="5E6556"/>
              </a:solidFill>
              <a:latin typeface="Times New Roman" panose="02020603050405020304"/>
              <a:ea typeface="Times New Roman" panose="02020603050405020304"/>
              <a:cs typeface="Times New Roman" panose="02020603050405020304"/>
            </a:endParaRPr>
          </a:p>
        </p:txBody>
      </p:sp>
      <p:sp>
        <p:nvSpPr>
          <p:cNvPr id="6" name="rq-card"/>
          <p:cNvSpPr>
            <a:spLocks noGrp="1"/>
          </p:cNvSpPr>
          <p:nvPr/>
        </p:nvSpPr>
        <p:spPr>
          <a:xfrm>
            <a:off x="914400" y="1790700"/>
            <a:ext cx="10287000" cy="819150"/>
          </a:xfrm>
          <a:prstGeom prst="roundRect">
            <a:avLst>
              <a:gd name="adj" fmla="val 13953"/>
            </a:avLst>
          </a:prstGeom>
          <a:solidFill>
            <a:srgbClr val="FFFDF6"/>
          </a:solidFill>
          <a:ln w="9525">
            <a:solidFill>
              <a:srgbClr val="D8CEBD"/>
            </a:solidFill>
            <a:prstDash val="solid"/>
          </a:ln>
        </p:spPr>
      </p:sp>
      <p:sp>
        <p:nvSpPr>
          <p:cNvPr id="7" name="rq-accent"/>
          <p:cNvSpPr>
            <a:spLocks noGrp="1"/>
          </p:cNvSpPr>
          <p:nvPr/>
        </p:nvSpPr>
        <p:spPr>
          <a:xfrm>
            <a:off x="914400" y="1790700"/>
            <a:ext cx="76200" cy="819150"/>
          </a:xfrm>
          <a:prstGeom prst="rect">
            <a:avLst/>
          </a:prstGeom>
          <a:solidFill>
            <a:srgbClr val="A9653B"/>
          </a:solidFill>
          <a:ln w="9525">
            <a:solidFill>
              <a:srgbClr val="A9653B"/>
            </a:solidFill>
            <a:prstDash val="solid"/>
          </a:ln>
        </p:spPr>
      </p:sp>
      <p:sp>
        <p:nvSpPr>
          <p:cNvPr id="8" name="rq-label"/>
          <p:cNvSpPr>
            <a:spLocks noGrp="1"/>
          </p:cNvSpPr>
          <p:nvPr/>
        </p:nvSpPr>
        <p:spPr>
          <a:xfrm>
            <a:off x="1143000" y="1952625"/>
            <a:ext cx="1524000" cy="228600"/>
          </a:xfrm>
          <a:prstGeom prst="rect">
            <a:avLst/>
          </a:prstGeom>
          <a:noFill/>
          <a:ln w="0">
            <a:noFill/>
            <a:prstDash val="solid"/>
          </a:ln>
        </p:spPr>
        <p:txBody>
          <a:bodyPr/>
          <a:lstStyle/>
          <a:p>
            <a:pPr algn="l">
              <a:defRPr sz="1350" b="1" i="0">
                <a:solidFill>
                  <a:srgbClr val="A9653B"/>
                </a:solidFill>
                <a:latin typeface="Times New Roman" panose="02020603050405020304"/>
                <a:ea typeface="Times New Roman" panose="02020603050405020304"/>
                <a:cs typeface="Times New Roman" panose="02020603050405020304"/>
              </a:defRPr>
            </a:pPr>
            <a:r>
              <a:rPr sz="1350" b="1" i="0">
                <a:solidFill>
                  <a:srgbClr val="A9653B"/>
                </a:solidFill>
                <a:latin typeface="Times New Roman" panose="02020603050405020304"/>
                <a:ea typeface="Times New Roman" panose="02020603050405020304"/>
                <a:cs typeface="Times New Roman" panose="02020603050405020304"/>
              </a:rPr>
              <a:t>Overall RQ</a:t>
            </a:r>
            <a:endParaRPr sz="1350" b="1" i="0">
              <a:solidFill>
                <a:srgbClr val="A9653B"/>
              </a:solidFill>
              <a:latin typeface="Times New Roman" panose="02020603050405020304"/>
              <a:ea typeface="Times New Roman" panose="02020603050405020304"/>
              <a:cs typeface="Times New Roman" panose="02020603050405020304"/>
            </a:endParaRPr>
          </a:p>
        </p:txBody>
      </p:sp>
      <p:sp>
        <p:nvSpPr>
          <p:cNvPr id="9" name="rq-text"/>
          <p:cNvSpPr>
            <a:spLocks noGrp="1"/>
          </p:cNvSpPr>
          <p:nvPr/>
        </p:nvSpPr>
        <p:spPr>
          <a:xfrm>
            <a:off x="2857500" y="1905000"/>
            <a:ext cx="7810500" cy="552450"/>
          </a:xfrm>
          <a:prstGeom prst="rect">
            <a:avLst/>
          </a:prstGeom>
          <a:noFill/>
          <a:ln w="0">
            <a:noFill/>
            <a:prstDash val="solid"/>
          </a:ln>
        </p:spPr>
        <p:txBody>
          <a:bodyPr/>
          <a:lstStyle/>
          <a:p>
            <a:pPr algn="l">
              <a:defRPr sz="1500" b="0" i="0">
                <a:solidFill>
                  <a:srgbClr val="18231C"/>
                </a:solidFill>
                <a:latin typeface="Times New Roman" panose="02020603050405020304"/>
                <a:ea typeface="Times New Roman" panose="02020603050405020304"/>
                <a:cs typeface="Times New Roman" panose="02020603050405020304"/>
              </a:defRPr>
            </a:pPr>
            <a:r>
              <a:rPr sz="1500" b="0" i="0">
                <a:solidFill>
                  <a:srgbClr val="18231C"/>
                </a:solidFill>
                <a:latin typeface="Times New Roman" panose="02020603050405020304"/>
                <a:ea typeface="Times New Roman" panose="02020603050405020304"/>
                <a:cs typeface="Times New Roman" panose="02020603050405020304"/>
              </a:rPr>
              <a:t>How do participants dynamically calibrate reliance on self vs. AI in repeated human-AI decisions, and how does a localized AI error shock reshape that reliance path?</a:t>
            </a:r>
            <a:endParaRPr sz="1500" b="0" i="0">
              <a:solidFill>
                <a:srgbClr val="18231C"/>
              </a:solidFill>
              <a:latin typeface="Times New Roman" panose="02020603050405020304"/>
              <a:ea typeface="Times New Roman" panose="02020603050405020304"/>
              <a:cs typeface="Times New Roman" panose="02020603050405020304"/>
            </a:endParaRPr>
          </a:p>
        </p:txBody>
      </p:sp>
      <p:sp>
        <p:nvSpPr>
          <p:cNvPr id="10" name="H1-card"/>
          <p:cNvSpPr>
            <a:spLocks noGrp="1"/>
          </p:cNvSpPr>
          <p:nvPr/>
        </p:nvSpPr>
        <p:spPr>
          <a:xfrm>
            <a:off x="914400" y="2876550"/>
            <a:ext cx="3200400" cy="1123950"/>
          </a:xfrm>
          <a:prstGeom prst="roundRect">
            <a:avLst>
              <a:gd name="adj" fmla="val 10169"/>
            </a:avLst>
          </a:prstGeom>
          <a:solidFill>
            <a:srgbClr val="FFFDF6"/>
          </a:solidFill>
          <a:ln w="9525">
            <a:solidFill>
              <a:srgbClr val="D8CEBD"/>
            </a:solidFill>
            <a:prstDash val="solid"/>
          </a:ln>
        </p:spPr>
      </p:sp>
      <p:sp>
        <p:nvSpPr>
          <p:cNvPr id="11" name="H1-stripe"/>
          <p:cNvSpPr>
            <a:spLocks noGrp="1"/>
          </p:cNvSpPr>
          <p:nvPr/>
        </p:nvSpPr>
        <p:spPr>
          <a:xfrm>
            <a:off x="914400" y="2876550"/>
            <a:ext cx="57150" cy="1123950"/>
          </a:xfrm>
          <a:prstGeom prst="rect">
            <a:avLst/>
          </a:prstGeom>
          <a:solidFill>
            <a:srgbClr val="777F5D"/>
          </a:solidFill>
          <a:ln w="9525">
            <a:solidFill>
              <a:srgbClr val="777F5D"/>
            </a:solidFill>
            <a:prstDash val="solid"/>
          </a:ln>
        </p:spPr>
      </p:sp>
      <p:sp>
        <p:nvSpPr>
          <p:cNvPr id="12" name="H1-label"/>
          <p:cNvSpPr>
            <a:spLocks noGrp="1"/>
          </p:cNvSpPr>
          <p:nvPr/>
        </p:nvSpPr>
        <p:spPr>
          <a:xfrm>
            <a:off x="1085850" y="301942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H1</a:t>
            </a:r>
            <a:endParaRPr sz="975" b="1" i="0">
              <a:solidFill>
                <a:srgbClr val="777F5D"/>
              </a:solidFill>
              <a:latin typeface="Times New Roman" panose="02020603050405020304"/>
              <a:ea typeface="Times New Roman" panose="02020603050405020304"/>
              <a:cs typeface="Times New Roman" panose="02020603050405020304"/>
            </a:endParaRPr>
          </a:p>
        </p:txBody>
      </p:sp>
      <p:sp>
        <p:nvSpPr>
          <p:cNvPr id="13" name="H1-title"/>
          <p:cNvSpPr>
            <a:spLocks noGrp="1"/>
          </p:cNvSpPr>
          <p:nvPr/>
        </p:nvSpPr>
        <p:spPr>
          <a:xfrm>
            <a:off x="16383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Dynamic calibration</a:t>
            </a:r>
            <a:endParaRPr sz="1500" b="1" i="0">
              <a:solidFill>
                <a:srgbClr val="18231C"/>
              </a:solidFill>
              <a:latin typeface="Times New Roman" panose="02020603050405020304"/>
              <a:ea typeface="Times New Roman" panose="02020603050405020304"/>
              <a:cs typeface="Times New Roman" panose="02020603050405020304"/>
            </a:endParaRPr>
          </a:p>
        </p:txBody>
      </p:sp>
      <p:sp>
        <p:nvSpPr>
          <p:cNvPr id="14" name="H1-body"/>
          <p:cNvSpPr>
            <a:spLocks noGrp="1"/>
          </p:cNvSpPr>
          <p:nvPr/>
        </p:nvSpPr>
        <p:spPr>
          <a:xfrm>
            <a:off x="10858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Reliance should follow repeated feedback about relative self-AI performance.</a:t>
            </a:r>
            <a:endParaRPr sz="1200" b="0" i="0">
              <a:solidFill>
                <a:srgbClr val="5E6556"/>
              </a:solidFill>
              <a:latin typeface="Times New Roman" panose="02020603050405020304"/>
              <a:ea typeface="Times New Roman" panose="02020603050405020304"/>
              <a:cs typeface="Times New Roman" panose="02020603050405020304"/>
            </a:endParaRPr>
          </a:p>
        </p:txBody>
      </p:sp>
      <p:sp>
        <p:nvSpPr>
          <p:cNvPr id="15" name="H2-card"/>
          <p:cNvSpPr>
            <a:spLocks noGrp="1"/>
          </p:cNvSpPr>
          <p:nvPr/>
        </p:nvSpPr>
        <p:spPr>
          <a:xfrm>
            <a:off x="4381500" y="2876550"/>
            <a:ext cx="3200400" cy="1123950"/>
          </a:xfrm>
          <a:prstGeom prst="roundRect">
            <a:avLst>
              <a:gd name="adj" fmla="val 10169"/>
            </a:avLst>
          </a:prstGeom>
          <a:solidFill>
            <a:srgbClr val="FFFDF6"/>
          </a:solidFill>
          <a:ln w="9525">
            <a:solidFill>
              <a:srgbClr val="D8CEBD"/>
            </a:solidFill>
            <a:prstDash val="solid"/>
          </a:ln>
        </p:spPr>
      </p:sp>
      <p:sp>
        <p:nvSpPr>
          <p:cNvPr id="16" name="H2-stripe"/>
          <p:cNvSpPr>
            <a:spLocks noGrp="1"/>
          </p:cNvSpPr>
          <p:nvPr/>
        </p:nvSpPr>
        <p:spPr>
          <a:xfrm>
            <a:off x="4381500" y="2876550"/>
            <a:ext cx="57150" cy="1123950"/>
          </a:xfrm>
          <a:prstGeom prst="rect">
            <a:avLst/>
          </a:prstGeom>
          <a:solidFill>
            <a:srgbClr val="A9653B"/>
          </a:solidFill>
          <a:ln w="9525">
            <a:solidFill>
              <a:srgbClr val="A9653B"/>
            </a:solidFill>
            <a:prstDash val="solid"/>
          </a:ln>
        </p:spPr>
      </p:sp>
      <p:sp>
        <p:nvSpPr>
          <p:cNvPr id="17" name="H2-label"/>
          <p:cNvSpPr>
            <a:spLocks noGrp="1"/>
          </p:cNvSpPr>
          <p:nvPr/>
        </p:nvSpPr>
        <p:spPr>
          <a:xfrm>
            <a:off x="4552950" y="3019425"/>
            <a:ext cx="495300" cy="190500"/>
          </a:xfrm>
          <a:prstGeom prst="rect">
            <a:avLst/>
          </a:prstGeom>
          <a:noFill/>
          <a:ln w="0">
            <a:noFill/>
            <a:prstDash val="solid"/>
          </a:ln>
        </p:spPr>
        <p:txBody>
          <a:bodyPr/>
          <a:lstStyle/>
          <a:p>
            <a:pPr algn="l">
              <a:defRPr sz="975" b="1" i="0">
                <a:solidFill>
                  <a:srgbClr val="A9653B"/>
                </a:solidFill>
                <a:latin typeface="Times New Roman" panose="02020603050405020304"/>
                <a:ea typeface="Times New Roman" panose="02020603050405020304"/>
                <a:cs typeface="Times New Roman" panose="02020603050405020304"/>
              </a:defRPr>
            </a:pPr>
            <a:r>
              <a:rPr sz="975" b="1" i="0">
                <a:solidFill>
                  <a:srgbClr val="A9653B"/>
                </a:solidFill>
                <a:latin typeface="Times New Roman" panose="02020603050405020304"/>
                <a:ea typeface="Times New Roman" panose="02020603050405020304"/>
                <a:cs typeface="Times New Roman" panose="02020603050405020304"/>
              </a:rPr>
              <a:t>H2</a:t>
            </a:r>
            <a:endParaRPr sz="975" b="1" i="0">
              <a:solidFill>
                <a:srgbClr val="A9653B"/>
              </a:solidFill>
              <a:latin typeface="Times New Roman" panose="02020603050405020304"/>
              <a:ea typeface="Times New Roman" panose="02020603050405020304"/>
              <a:cs typeface="Times New Roman" panose="02020603050405020304"/>
            </a:endParaRPr>
          </a:p>
        </p:txBody>
      </p:sp>
      <p:sp>
        <p:nvSpPr>
          <p:cNvPr id="18" name="H2-title"/>
          <p:cNvSpPr>
            <a:spLocks noGrp="1"/>
          </p:cNvSpPr>
          <p:nvPr/>
        </p:nvSpPr>
        <p:spPr>
          <a:xfrm>
            <a:off x="51054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AI shock penalty</a:t>
            </a:r>
            <a:endParaRPr sz="1500" b="1" i="0">
              <a:solidFill>
                <a:srgbClr val="18231C"/>
              </a:solidFill>
              <a:latin typeface="Times New Roman" panose="02020603050405020304"/>
              <a:ea typeface="Times New Roman" panose="02020603050405020304"/>
              <a:cs typeface="Times New Roman" panose="02020603050405020304"/>
            </a:endParaRPr>
          </a:p>
        </p:txBody>
      </p:sp>
      <p:sp>
        <p:nvSpPr>
          <p:cNvPr id="19" name="H2-body"/>
          <p:cNvSpPr>
            <a:spLocks noGrp="1"/>
          </p:cNvSpPr>
          <p:nvPr/>
        </p:nvSpPr>
        <p:spPr>
          <a:xfrm>
            <a:off x="45529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Concentrated AI errors should reduce later AI adoption compared with balanced errors.</a:t>
            </a:r>
            <a:endParaRPr sz="1200" b="0" i="0">
              <a:solidFill>
                <a:srgbClr val="5E6556"/>
              </a:solidFill>
              <a:latin typeface="Times New Roman" panose="02020603050405020304"/>
              <a:ea typeface="Times New Roman" panose="02020603050405020304"/>
              <a:cs typeface="Times New Roman" panose="02020603050405020304"/>
            </a:endParaRPr>
          </a:p>
        </p:txBody>
      </p:sp>
      <p:sp>
        <p:nvSpPr>
          <p:cNvPr id="20" name="H3-card"/>
          <p:cNvSpPr>
            <a:spLocks noGrp="1"/>
          </p:cNvSpPr>
          <p:nvPr/>
        </p:nvSpPr>
        <p:spPr>
          <a:xfrm>
            <a:off x="7848600" y="2876550"/>
            <a:ext cx="3200400" cy="1123950"/>
          </a:xfrm>
          <a:prstGeom prst="roundRect">
            <a:avLst>
              <a:gd name="adj" fmla="val 10169"/>
            </a:avLst>
          </a:prstGeom>
          <a:solidFill>
            <a:srgbClr val="FFFDF6"/>
          </a:solidFill>
          <a:ln w="9525">
            <a:solidFill>
              <a:srgbClr val="D8CEBD"/>
            </a:solidFill>
            <a:prstDash val="solid"/>
          </a:ln>
        </p:spPr>
      </p:sp>
      <p:sp>
        <p:nvSpPr>
          <p:cNvPr id="21" name="H3-stripe"/>
          <p:cNvSpPr>
            <a:spLocks noGrp="1"/>
          </p:cNvSpPr>
          <p:nvPr/>
        </p:nvSpPr>
        <p:spPr>
          <a:xfrm>
            <a:off x="7848600" y="2876550"/>
            <a:ext cx="57150" cy="1123950"/>
          </a:xfrm>
          <a:prstGeom prst="rect">
            <a:avLst/>
          </a:prstGeom>
          <a:solidFill>
            <a:srgbClr val="777F5D"/>
          </a:solidFill>
          <a:ln w="9525">
            <a:solidFill>
              <a:srgbClr val="777F5D"/>
            </a:solidFill>
            <a:prstDash val="solid"/>
          </a:ln>
        </p:spPr>
      </p:sp>
      <p:sp>
        <p:nvSpPr>
          <p:cNvPr id="22" name="H3-label"/>
          <p:cNvSpPr>
            <a:spLocks noGrp="1"/>
          </p:cNvSpPr>
          <p:nvPr/>
        </p:nvSpPr>
        <p:spPr>
          <a:xfrm>
            <a:off x="8020050" y="301942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H3</a:t>
            </a:r>
            <a:endParaRPr sz="975" b="1" i="0">
              <a:solidFill>
                <a:srgbClr val="777F5D"/>
              </a:solidFill>
              <a:latin typeface="Times New Roman" panose="02020603050405020304"/>
              <a:ea typeface="Times New Roman" panose="02020603050405020304"/>
              <a:cs typeface="Times New Roman" panose="02020603050405020304"/>
            </a:endParaRPr>
          </a:p>
        </p:txBody>
      </p:sp>
      <p:sp>
        <p:nvSpPr>
          <p:cNvPr id="23" name="H3-title"/>
          <p:cNvSpPr>
            <a:spLocks noGrp="1"/>
          </p:cNvSpPr>
          <p:nvPr/>
        </p:nvSpPr>
        <p:spPr>
          <a:xfrm>
            <a:off x="85725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Post-shock recovery</a:t>
            </a:r>
            <a:endParaRPr sz="1500" b="1" i="0">
              <a:solidFill>
                <a:srgbClr val="18231C"/>
              </a:solidFill>
              <a:latin typeface="Times New Roman" panose="02020603050405020304"/>
              <a:ea typeface="Times New Roman" panose="02020603050405020304"/>
              <a:cs typeface="Times New Roman" panose="02020603050405020304"/>
            </a:endParaRPr>
          </a:p>
        </p:txBody>
      </p:sp>
      <p:sp>
        <p:nvSpPr>
          <p:cNvPr id="24" name="H3-body"/>
          <p:cNvSpPr>
            <a:spLocks noGrp="1"/>
          </p:cNvSpPr>
          <p:nvPr/>
        </p:nvSpPr>
        <p:spPr>
          <a:xfrm>
            <a:off x="80200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After AI performance recovers, reliance may rebound or remain persistently low.</a:t>
            </a:r>
            <a:endParaRPr sz="1200" b="0" i="0">
              <a:solidFill>
                <a:srgbClr val="5E6556"/>
              </a:solidFill>
              <a:latin typeface="Times New Roman" panose="02020603050405020304"/>
              <a:ea typeface="Times New Roman" panose="02020603050405020304"/>
              <a:cs typeface="Times New Roman" panose="02020603050405020304"/>
            </a:endParaRPr>
          </a:p>
        </p:txBody>
      </p:sp>
      <p:sp>
        <p:nvSpPr>
          <p:cNvPr id="25" name="H4-card"/>
          <p:cNvSpPr>
            <a:spLocks noGrp="1"/>
          </p:cNvSpPr>
          <p:nvPr/>
        </p:nvSpPr>
        <p:spPr>
          <a:xfrm>
            <a:off x="914400" y="4267200"/>
            <a:ext cx="4953000" cy="1123950"/>
          </a:xfrm>
          <a:prstGeom prst="roundRect">
            <a:avLst>
              <a:gd name="adj" fmla="val 10169"/>
            </a:avLst>
          </a:prstGeom>
          <a:solidFill>
            <a:srgbClr val="FFFDF6"/>
          </a:solidFill>
          <a:ln w="9525">
            <a:solidFill>
              <a:srgbClr val="D8CEBD"/>
            </a:solidFill>
            <a:prstDash val="solid"/>
          </a:ln>
        </p:spPr>
      </p:sp>
      <p:sp>
        <p:nvSpPr>
          <p:cNvPr id="26" name="H4-stripe"/>
          <p:cNvSpPr>
            <a:spLocks noGrp="1"/>
          </p:cNvSpPr>
          <p:nvPr/>
        </p:nvSpPr>
        <p:spPr>
          <a:xfrm>
            <a:off x="914400" y="4267200"/>
            <a:ext cx="57150" cy="1123950"/>
          </a:xfrm>
          <a:prstGeom prst="rect">
            <a:avLst/>
          </a:prstGeom>
          <a:solidFill>
            <a:srgbClr val="777F5D"/>
          </a:solidFill>
          <a:ln w="9525">
            <a:solidFill>
              <a:srgbClr val="777F5D"/>
            </a:solidFill>
            <a:prstDash val="solid"/>
          </a:ln>
        </p:spPr>
      </p:sp>
      <p:sp>
        <p:nvSpPr>
          <p:cNvPr id="27" name="H4-label"/>
          <p:cNvSpPr>
            <a:spLocks noGrp="1"/>
          </p:cNvSpPr>
          <p:nvPr/>
        </p:nvSpPr>
        <p:spPr>
          <a:xfrm>
            <a:off x="1085850" y="441007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H4</a:t>
            </a:r>
            <a:endParaRPr sz="975" b="1" i="0">
              <a:solidFill>
                <a:srgbClr val="777F5D"/>
              </a:solidFill>
              <a:latin typeface="Times New Roman" panose="02020603050405020304"/>
              <a:ea typeface="Times New Roman" panose="02020603050405020304"/>
              <a:cs typeface="Times New Roman" panose="02020603050405020304"/>
            </a:endParaRPr>
          </a:p>
        </p:txBody>
      </p:sp>
      <p:sp>
        <p:nvSpPr>
          <p:cNvPr id="28" name="H4-title"/>
          <p:cNvSpPr>
            <a:spLocks noGrp="1"/>
          </p:cNvSpPr>
          <p:nvPr/>
        </p:nvSpPr>
        <p:spPr>
          <a:xfrm>
            <a:off x="1638300" y="4381500"/>
            <a:ext cx="40386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Shock timing heterogeneity</a:t>
            </a:r>
            <a:endParaRPr sz="1500" b="1" i="0">
              <a:solidFill>
                <a:srgbClr val="18231C"/>
              </a:solidFill>
              <a:latin typeface="Times New Roman" panose="02020603050405020304"/>
              <a:ea typeface="Times New Roman" panose="02020603050405020304"/>
              <a:cs typeface="Times New Roman" panose="02020603050405020304"/>
            </a:endParaRPr>
          </a:p>
        </p:txBody>
      </p:sp>
      <p:sp>
        <p:nvSpPr>
          <p:cNvPr id="29" name="H4-body"/>
          <p:cNvSpPr>
            <a:spLocks noGrp="1"/>
          </p:cNvSpPr>
          <p:nvPr/>
        </p:nvSpPr>
        <p:spPr>
          <a:xfrm>
            <a:off x="1085850" y="4724400"/>
            <a:ext cx="46291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Early shocks affect initial calibration; mid shocks disrupt reliance after experience has formed.</a:t>
            </a:r>
            <a:endParaRPr sz="1200" b="0" i="0">
              <a:solidFill>
                <a:srgbClr val="5E6556"/>
              </a:solidFill>
              <a:latin typeface="Times New Roman" panose="02020603050405020304"/>
              <a:ea typeface="Times New Roman" panose="02020603050405020304"/>
              <a:cs typeface="Times New Roman" panose="02020603050405020304"/>
            </a:endParaRPr>
          </a:p>
        </p:txBody>
      </p:sp>
      <p:sp>
        <p:nvSpPr>
          <p:cNvPr id="30" name="H5-card"/>
          <p:cNvSpPr>
            <a:spLocks noGrp="1"/>
          </p:cNvSpPr>
          <p:nvPr/>
        </p:nvSpPr>
        <p:spPr>
          <a:xfrm>
            <a:off x="6248400" y="4267200"/>
            <a:ext cx="4953000" cy="1123950"/>
          </a:xfrm>
          <a:prstGeom prst="roundRect">
            <a:avLst>
              <a:gd name="adj" fmla="val 10169"/>
            </a:avLst>
          </a:prstGeom>
          <a:solidFill>
            <a:srgbClr val="F8EFE4"/>
          </a:solidFill>
          <a:ln w="9525">
            <a:solidFill>
              <a:srgbClr val="D8CEBD"/>
            </a:solidFill>
            <a:prstDash val="solid"/>
          </a:ln>
        </p:spPr>
      </p:sp>
      <p:sp>
        <p:nvSpPr>
          <p:cNvPr id="31" name="H5-stripe"/>
          <p:cNvSpPr>
            <a:spLocks noGrp="1"/>
          </p:cNvSpPr>
          <p:nvPr/>
        </p:nvSpPr>
        <p:spPr>
          <a:xfrm>
            <a:off x="6248400" y="4267200"/>
            <a:ext cx="57150" cy="1123950"/>
          </a:xfrm>
          <a:prstGeom prst="rect">
            <a:avLst/>
          </a:prstGeom>
          <a:solidFill>
            <a:srgbClr val="A9653B"/>
          </a:solidFill>
          <a:ln w="9525">
            <a:solidFill>
              <a:srgbClr val="A9653B"/>
            </a:solidFill>
            <a:prstDash val="solid"/>
          </a:ln>
        </p:spPr>
      </p:sp>
      <p:sp>
        <p:nvSpPr>
          <p:cNvPr id="32" name="H5-label"/>
          <p:cNvSpPr>
            <a:spLocks noGrp="1"/>
          </p:cNvSpPr>
          <p:nvPr/>
        </p:nvSpPr>
        <p:spPr>
          <a:xfrm>
            <a:off x="6419850" y="4410075"/>
            <a:ext cx="495300" cy="190500"/>
          </a:xfrm>
          <a:prstGeom prst="rect">
            <a:avLst/>
          </a:prstGeom>
          <a:noFill/>
          <a:ln w="0">
            <a:noFill/>
            <a:prstDash val="solid"/>
          </a:ln>
        </p:spPr>
        <p:txBody>
          <a:bodyPr/>
          <a:lstStyle/>
          <a:p>
            <a:pPr algn="l">
              <a:defRPr sz="975" b="1" i="0">
                <a:solidFill>
                  <a:srgbClr val="A9653B"/>
                </a:solidFill>
                <a:latin typeface="Times New Roman" panose="02020603050405020304"/>
                <a:ea typeface="Times New Roman" panose="02020603050405020304"/>
                <a:cs typeface="Times New Roman" panose="02020603050405020304"/>
              </a:defRPr>
            </a:pPr>
            <a:r>
              <a:rPr sz="975" b="1" i="0">
                <a:solidFill>
                  <a:srgbClr val="A9653B"/>
                </a:solidFill>
                <a:latin typeface="Times New Roman" panose="02020603050405020304"/>
                <a:ea typeface="Times New Roman" panose="02020603050405020304"/>
                <a:cs typeface="Times New Roman" panose="02020603050405020304"/>
              </a:rPr>
              <a:t>H5</a:t>
            </a:r>
            <a:endParaRPr sz="975" b="1" i="0">
              <a:solidFill>
                <a:srgbClr val="A9653B"/>
              </a:solidFill>
              <a:latin typeface="Times New Roman" panose="02020603050405020304"/>
              <a:ea typeface="Times New Roman" panose="02020603050405020304"/>
              <a:cs typeface="Times New Roman" panose="02020603050405020304"/>
            </a:endParaRPr>
          </a:p>
        </p:txBody>
      </p:sp>
      <p:sp>
        <p:nvSpPr>
          <p:cNvPr id="33" name="H5-title"/>
          <p:cNvSpPr>
            <a:spLocks noGrp="1"/>
          </p:cNvSpPr>
          <p:nvPr/>
        </p:nvSpPr>
        <p:spPr>
          <a:xfrm>
            <a:off x="6972300" y="4381500"/>
            <a:ext cx="40386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AI-self asymmetric recovery</a:t>
            </a:r>
            <a:endParaRPr sz="1500" b="1" i="0">
              <a:solidFill>
                <a:srgbClr val="18231C"/>
              </a:solidFill>
              <a:latin typeface="Times New Roman" panose="02020603050405020304"/>
              <a:ea typeface="Times New Roman" panose="02020603050405020304"/>
              <a:cs typeface="Times New Roman" panose="02020603050405020304"/>
            </a:endParaRPr>
          </a:p>
        </p:txBody>
      </p:sp>
      <p:sp>
        <p:nvSpPr>
          <p:cNvPr id="34" name="H5-body"/>
          <p:cNvSpPr>
            <a:spLocks noGrp="1"/>
          </p:cNvSpPr>
          <p:nvPr/>
        </p:nvSpPr>
        <p:spPr>
          <a:xfrm>
            <a:off x="6419850" y="4724400"/>
            <a:ext cx="46291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After comparable errors, AI reliance recovers more slowly than self reliance: AI is forgiven more slowly than self.</a:t>
            </a:r>
            <a:endParaRPr sz="1200" b="0" i="0">
              <a:solidFill>
                <a:srgbClr val="5E6556"/>
              </a:solidFill>
              <a:latin typeface="Times New Roman" panose="02020603050405020304"/>
              <a:ea typeface="Times New Roman" panose="02020603050405020304"/>
              <a:cs typeface="Times New Roman" panose="02020603050405020304"/>
            </a:endParaRPr>
          </a:p>
        </p:txBody>
      </p:sp>
      <p:sp>
        <p:nvSpPr>
          <p:cNvPr id="35" name="bottom-band"/>
          <p:cNvSpPr>
            <a:spLocks noGrp="1"/>
          </p:cNvSpPr>
          <p:nvPr/>
        </p:nvSpPr>
        <p:spPr>
          <a:xfrm>
            <a:off x="914400" y="5676900"/>
            <a:ext cx="10287000" cy="514350"/>
          </a:xfrm>
          <a:prstGeom prst="roundRect">
            <a:avLst>
              <a:gd name="adj" fmla="val 22222"/>
            </a:avLst>
          </a:prstGeom>
          <a:solidFill>
            <a:srgbClr val="EDE4D4"/>
          </a:solidFill>
          <a:ln w="9525">
            <a:solidFill>
              <a:srgbClr val="D8CEBD"/>
            </a:solidFill>
            <a:prstDash val="solid"/>
          </a:ln>
        </p:spPr>
      </p:sp>
      <p:sp>
        <p:nvSpPr>
          <p:cNvPr id="36" name="central-label"/>
          <p:cNvSpPr>
            <a:spLocks noGrp="1"/>
          </p:cNvSpPr>
          <p:nvPr/>
        </p:nvSpPr>
        <p:spPr>
          <a:xfrm>
            <a:off x="1143000" y="5829300"/>
            <a:ext cx="1524000" cy="228600"/>
          </a:xfrm>
          <a:prstGeom prst="rect">
            <a:avLst/>
          </a:prstGeom>
          <a:noFill/>
          <a:ln w="0">
            <a:noFill/>
            <a:prstDash val="solid"/>
          </a:ln>
        </p:spPr>
        <p:txBody>
          <a:bodyPr/>
          <a:lstStyle/>
          <a:p>
            <a:pPr algn="l">
              <a:defRPr sz="1350" b="1" i="0">
                <a:solidFill>
                  <a:srgbClr val="A9653B"/>
                </a:solidFill>
                <a:latin typeface="Times New Roman" panose="02020603050405020304"/>
                <a:ea typeface="Times New Roman" panose="02020603050405020304"/>
                <a:cs typeface="Times New Roman" panose="02020603050405020304"/>
              </a:defRPr>
            </a:pPr>
            <a:r>
              <a:rPr sz="1350" b="1" i="0">
                <a:solidFill>
                  <a:srgbClr val="A9653B"/>
                </a:solidFill>
                <a:latin typeface="Times New Roman" panose="02020603050405020304"/>
                <a:ea typeface="Times New Roman" panose="02020603050405020304"/>
                <a:cs typeface="Times New Roman" panose="02020603050405020304"/>
              </a:rPr>
              <a:t>Central test</a:t>
            </a:r>
            <a:endParaRPr sz="1350" b="1" i="0">
              <a:solidFill>
                <a:srgbClr val="A9653B"/>
              </a:solidFill>
              <a:latin typeface="Times New Roman" panose="02020603050405020304"/>
              <a:ea typeface="Times New Roman" panose="02020603050405020304"/>
              <a:cs typeface="Times New Roman" panose="02020603050405020304"/>
            </a:endParaRPr>
          </a:p>
        </p:txBody>
      </p:sp>
      <p:sp>
        <p:nvSpPr>
          <p:cNvPr id="37" name="central-text"/>
          <p:cNvSpPr>
            <a:spLocks noGrp="1"/>
          </p:cNvSpPr>
          <p:nvPr/>
        </p:nvSpPr>
        <p:spPr>
          <a:xfrm>
            <a:off x="2781300" y="5810250"/>
            <a:ext cx="790575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Do equal performance histories produce equal reliance recovery, or do AI errors leave a longer shadow?</a:t>
            </a:r>
            <a:endParaRPr sz="1500" b="1" i="0">
              <a:solidFill>
                <a:srgbClr val="18231C"/>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PROTOTYPE</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95933" lnSpcReduction="10000"/>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experimental prototype must satisfy five identification requirements</a:t>
            </a:r>
            <a:endParaRPr sz="2175" b="1" i="0">
              <a:solidFill>
                <a:srgbClr val="231D17"/>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design has to isolate path updating rather than domain labels, fixed expertise priors, or simple quality differences.</a:t>
            </a:r>
            <a:endParaRPr sz="1200"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nvSpPr>
        <p:spPr>
          <a:xfrm>
            <a:off x="914400" y="2114550"/>
            <a:ext cx="3162300" cy="1257300"/>
          </a:xfrm>
          <a:prstGeom prst="roundRect">
            <a:avLst>
              <a:gd name="adj" fmla="val 9091"/>
            </a:avLst>
          </a:prstGeom>
          <a:solidFill>
            <a:srgbClr val="FFFFFF"/>
          </a:solidFill>
          <a:ln w="9525">
            <a:solidFill>
              <a:srgbClr val="D8CCBB"/>
            </a:solidFill>
            <a:prstDash val="solid"/>
          </a:ln>
        </p:spPr>
      </p:sp>
      <p:sp>
        <p:nvSpPr>
          <p:cNvPr id="8" name="圆角矩形 7"/>
          <p:cNvSpPr>
            <a:spLocks noGrp="1"/>
          </p:cNvSpPr>
          <p:nvPr/>
        </p:nvSpPr>
        <p:spPr>
          <a:xfrm>
            <a:off x="914400" y="2114550"/>
            <a:ext cx="57150" cy="12573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0490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1. Multi-round learning</a:t>
            </a:r>
            <a:endParaRPr sz="1275" b="1" i="0">
              <a:solidFill>
                <a:srgbClr val="B77845"/>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104900" y="2628900"/>
            <a:ext cx="2781300" cy="514350"/>
          </a:xfrm>
          <a:prstGeom prst="rect">
            <a:avLst/>
          </a:prstGeom>
          <a:noFill/>
          <a:ln w="0">
            <a:noFill/>
            <a:prstDash val="solid"/>
          </a:ln>
        </p:spPr>
        <p:txBody>
          <a:bodyPr wrap="square" lIns="0" tIns="0" rIns="0" bIns="0" anchor="t">
            <a:normAutofit fontScale="99122" lnSpcReduction="20000"/>
          </a:bodyPr>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sz="1200" b="0" i="0">
                <a:solidFill>
                  <a:srgbClr val="231D17"/>
                </a:solidFill>
                <a:latin typeface="Times New Roman" panose="02020603050405020304"/>
                <a:ea typeface="Times New Roman" panose="02020603050405020304"/>
                <a:cs typeface="Times New Roman" panose="02020603050405020304"/>
              </a:rPr>
              <a:t>The task must generate repeated opportunities to update reliance after local errors.</a:t>
            </a:r>
            <a:endParaRPr sz="1200" b="0" i="0">
              <a:solidFill>
                <a:srgbClr val="231D17"/>
              </a:solidFill>
              <a:latin typeface="Times New Roman" panose="02020603050405020304"/>
              <a:ea typeface="Times New Roman" panose="02020603050405020304"/>
              <a:cs typeface="Times New Roman" panose="02020603050405020304"/>
            </a:endParaRPr>
          </a:p>
        </p:txBody>
      </p:sp>
      <p:sp>
        <p:nvSpPr>
          <p:cNvPr id="11" name="圆角矩形 10"/>
          <p:cNvSpPr>
            <a:spLocks noGrp="1"/>
          </p:cNvSpPr>
          <p:nvPr/>
        </p:nvSpPr>
        <p:spPr>
          <a:xfrm>
            <a:off x="4476750" y="2114550"/>
            <a:ext cx="3162300" cy="1257300"/>
          </a:xfrm>
          <a:prstGeom prst="roundRect">
            <a:avLst>
              <a:gd name="adj" fmla="val 9091"/>
            </a:avLst>
          </a:prstGeom>
          <a:solidFill>
            <a:srgbClr val="FFFFFF"/>
          </a:solidFill>
          <a:ln w="9525">
            <a:solidFill>
              <a:srgbClr val="D8CCBB"/>
            </a:solidFill>
            <a:prstDash val="solid"/>
          </a:ln>
        </p:spPr>
      </p:sp>
      <p:sp>
        <p:nvSpPr>
          <p:cNvPr id="12" name="圆角矩形 11"/>
          <p:cNvSpPr>
            <a:spLocks noGrp="1"/>
          </p:cNvSpPr>
          <p:nvPr/>
        </p:nvSpPr>
        <p:spPr>
          <a:xfrm>
            <a:off x="4476750" y="2114550"/>
            <a:ext cx="57150" cy="1257300"/>
          </a:xfrm>
          <a:prstGeom prst="roundRect">
            <a:avLst>
              <a:gd name="adj" fmla="val 33333"/>
            </a:avLst>
          </a:prstGeom>
          <a:solidFill>
            <a:srgbClr val="B77845"/>
          </a:solidFill>
          <a:ln w="9525">
            <a:solidFill>
              <a:srgbClr val="B77845"/>
            </a:solidFill>
            <a:prstDash val="solid"/>
          </a:ln>
        </p:spPr>
      </p:sp>
      <p:sp>
        <p:nvSpPr>
          <p:cNvPr id="13" name="矩形 12"/>
          <p:cNvSpPr>
            <a:spLocks noGrp="1"/>
          </p:cNvSpPr>
          <p:nvPr/>
        </p:nvSpPr>
        <p:spPr>
          <a:xfrm>
            <a:off x="466725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2. </a:t>
            </a:r>
            <a:r>
              <a:rPr lang="en-US" altLang="zh-CN" sz="1275" b="1" i="0">
                <a:solidFill>
                  <a:srgbClr val="B77845"/>
                </a:solidFill>
                <a:latin typeface="Times New Roman" panose="02020603050405020304"/>
                <a:ea typeface="Times New Roman" panose="02020603050405020304"/>
                <a:cs typeface="Times New Roman" panose="02020603050405020304"/>
              </a:rPr>
              <a:t>Learning that stays alive</a:t>
            </a:r>
            <a:endParaRPr lang="en-US" altLang="zh-CN" sz="1275" b="1" i="0">
              <a:solidFill>
                <a:srgbClr val="B77845"/>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nvSpPr>
        <p:spPr>
          <a:xfrm>
            <a:off x="4667250" y="2564765"/>
            <a:ext cx="2957195" cy="514350"/>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The task should require learning, but should not be solved after a few rounds.</a:t>
            </a:r>
            <a:endParaRPr lang="en-US" altLang="zh-CN" b="0" i="0">
              <a:solidFill>
                <a:srgbClr val="231D17"/>
              </a:solidFill>
              <a:latin typeface="Times New Roman" panose="02020603050405020304"/>
              <a:ea typeface="Times New Roman" panose="02020603050405020304"/>
              <a:cs typeface="Times New Roman" panose="02020603050405020304"/>
            </a:endParaRP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Each round should feel similar, but the environment should keep changing.</a:t>
            </a:r>
            <a:endParaRPr lang="en-US" altLang="zh-CN" b="0" i="0">
              <a:solidFill>
                <a:srgbClr val="231D17"/>
              </a:solidFill>
              <a:latin typeface="Times New Roman" panose="02020603050405020304"/>
              <a:ea typeface="Times New Roman" panose="02020603050405020304"/>
              <a:cs typeface="Times New Roman" panose="02020603050405020304"/>
            </a:endParaRPr>
          </a:p>
        </p:txBody>
      </p:sp>
      <p:sp>
        <p:nvSpPr>
          <p:cNvPr id="15" name="圆角矩形 14"/>
          <p:cNvSpPr>
            <a:spLocks noGrp="1"/>
          </p:cNvSpPr>
          <p:nvPr/>
        </p:nvSpPr>
        <p:spPr>
          <a:xfrm>
            <a:off x="8039100" y="2114550"/>
            <a:ext cx="3162300" cy="1257300"/>
          </a:xfrm>
          <a:prstGeom prst="roundRect">
            <a:avLst>
              <a:gd name="adj" fmla="val 9091"/>
            </a:avLst>
          </a:prstGeom>
          <a:solidFill>
            <a:srgbClr val="FFFFFF"/>
          </a:solidFill>
          <a:ln w="9525">
            <a:solidFill>
              <a:srgbClr val="D8CCBB"/>
            </a:solidFill>
            <a:prstDash val="solid"/>
          </a:ln>
        </p:spPr>
      </p:sp>
      <p:sp>
        <p:nvSpPr>
          <p:cNvPr id="16" name="圆角矩形 15"/>
          <p:cNvSpPr>
            <a:spLocks noGrp="1"/>
          </p:cNvSpPr>
          <p:nvPr/>
        </p:nvSpPr>
        <p:spPr>
          <a:xfrm>
            <a:off x="8039100" y="2114550"/>
            <a:ext cx="57150" cy="1257300"/>
          </a:xfrm>
          <a:prstGeom prst="roundRect">
            <a:avLst>
              <a:gd name="adj" fmla="val 33333"/>
            </a:avLst>
          </a:prstGeom>
          <a:solidFill>
            <a:srgbClr val="818A68"/>
          </a:solidFill>
          <a:ln w="9525">
            <a:solidFill>
              <a:srgbClr val="818A68"/>
            </a:solidFill>
            <a:prstDash val="solid"/>
          </a:ln>
        </p:spPr>
      </p:sp>
      <p:sp>
        <p:nvSpPr>
          <p:cNvPr id="17" name="矩形 16"/>
          <p:cNvSpPr>
            <a:spLocks noGrp="1"/>
          </p:cNvSpPr>
          <p:nvPr/>
        </p:nvSpPr>
        <p:spPr>
          <a:xfrm>
            <a:off x="822960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3.</a:t>
            </a:r>
            <a:r>
              <a:rPr lang="en-US" altLang="zh-CN" sz="1275" b="1" i="0">
                <a:solidFill>
                  <a:srgbClr val="818A68"/>
                </a:solidFill>
                <a:latin typeface="Times New Roman" panose="02020603050405020304"/>
                <a:ea typeface="Times New Roman" panose="02020603050405020304"/>
                <a:cs typeface="Times New Roman" panose="02020603050405020304"/>
              </a:rPr>
              <a:t>Meaningful AI use</a:t>
            </a:r>
            <a:endParaRPr lang="en-US" altLang="zh-CN" sz="1275" b="1" i="0">
              <a:solidFill>
                <a:srgbClr val="818A68"/>
              </a:solidFill>
              <a:latin typeface="Times New Roman" panose="02020603050405020304"/>
              <a:ea typeface="Times New Roman" panose="02020603050405020304"/>
              <a:cs typeface="Times New Roman" panose="02020603050405020304"/>
            </a:endParaRPr>
          </a:p>
        </p:txBody>
      </p:sp>
      <p:sp>
        <p:nvSpPr>
          <p:cNvPr id="18" name="矩形 17"/>
          <p:cNvSpPr>
            <a:spLocks noGrp="1"/>
          </p:cNvSpPr>
          <p:nvPr/>
        </p:nvSpPr>
        <p:spPr>
          <a:xfrm>
            <a:off x="8270240" y="2517140"/>
            <a:ext cx="2781300" cy="634365"/>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Participants should feel that AI can actually help.</a:t>
            </a:r>
            <a:endParaRPr lang="en-US" altLang="zh-CN" b="0" i="0">
              <a:solidFill>
                <a:srgbClr val="231D17"/>
              </a:solidFill>
              <a:latin typeface="Times New Roman" panose="02020603050405020304"/>
              <a:ea typeface="Times New Roman" panose="02020603050405020304"/>
              <a:cs typeface="Times New Roman" panose="02020603050405020304"/>
            </a:endParaRP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The AI should not feel like a simple rule or ordinary calculator.</a:t>
            </a:r>
            <a:endParaRPr lang="en-US" altLang="zh-CN" b="0" i="0">
              <a:solidFill>
                <a:srgbClr val="231D17"/>
              </a:solidFill>
              <a:latin typeface="Times New Roman" panose="02020603050405020304"/>
              <a:ea typeface="Times New Roman" panose="02020603050405020304"/>
              <a:cs typeface="Times New Roman" panose="02020603050405020304"/>
            </a:endParaRPr>
          </a:p>
        </p:txBody>
      </p:sp>
      <p:sp>
        <p:nvSpPr>
          <p:cNvPr id="19" name="圆角矩形 18"/>
          <p:cNvSpPr>
            <a:spLocks noGrp="1"/>
          </p:cNvSpPr>
          <p:nvPr/>
        </p:nvSpPr>
        <p:spPr>
          <a:xfrm>
            <a:off x="914400" y="3638550"/>
            <a:ext cx="4514215" cy="1257300"/>
          </a:xfrm>
          <a:prstGeom prst="roundRect">
            <a:avLst>
              <a:gd name="adj" fmla="val 9091"/>
            </a:avLst>
          </a:prstGeom>
          <a:solidFill>
            <a:srgbClr val="FFFFFF"/>
          </a:solidFill>
          <a:ln w="9525">
            <a:solidFill>
              <a:srgbClr val="D8CCBB"/>
            </a:solidFill>
            <a:prstDash val="solid"/>
          </a:ln>
        </p:spPr>
      </p:sp>
      <p:sp>
        <p:nvSpPr>
          <p:cNvPr id="20" name="圆角矩形 19"/>
          <p:cNvSpPr>
            <a:spLocks noGrp="1"/>
          </p:cNvSpPr>
          <p:nvPr/>
        </p:nvSpPr>
        <p:spPr>
          <a:xfrm>
            <a:off x="914400" y="3638550"/>
            <a:ext cx="57150" cy="1257300"/>
          </a:xfrm>
          <a:prstGeom prst="roundRect">
            <a:avLst>
              <a:gd name="adj" fmla="val 33333"/>
            </a:avLst>
          </a:prstGeom>
          <a:solidFill>
            <a:srgbClr val="B77845"/>
          </a:solidFill>
          <a:ln w="9525">
            <a:solidFill>
              <a:srgbClr val="B77845"/>
            </a:solidFill>
            <a:prstDash val="solid"/>
          </a:ln>
        </p:spPr>
      </p:sp>
      <p:sp>
        <p:nvSpPr>
          <p:cNvPr id="21" name="矩形 20"/>
          <p:cNvSpPr>
            <a:spLocks noGrp="1"/>
          </p:cNvSpPr>
          <p:nvPr/>
        </p:nvSpPr>
        <p:spPr>
          <a:xfrm>
            <a:off x="1104900" y="3810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4. </a:t>
            </a:r>
            <a:r>
              <a:rPr lang="en-US" altLang="zh-CN" sz="1275" b="1" i="0">
                <a:solidFill>
                  <a:srgbClr val="B77845"/>
                </a:solidFill>
                <a:latin typeface="Times New Roman" panose="02020603050405020304"/>
                <a:ea typeface="Times New Roman" panose="02020603050405020304"/>
                <a:cs typeface="Times New Roman" panose="02020603050405020304"/>
              </a:rPr>
              <a:t>Clean individual setting</a:t>
            </a:r>
            <a:endParaRPr lang="en-US" altLang="zh-CN" sz="1275" b="1" i="0">
              <a:solidFill>
                <a:srgbClr val="B77845"/>
              </a:solidFill>
              <a:latin typeface="Times New Roman" panose="02020603050405020304"/>
              <a:ea typeface="Times New Roman" panose="02020603050405020304"/>
              <a:cs typeface="Times New Roman" panose="02020603050405020304"/>
            </a:endParaRPr>
          </a:p>
        </p:txBody>
      </p:sp>
      <p:sp>
        <p:nvSpPr>
          <p:cNvPr id="22" name="矩形 21"/>
          <p:cNvSpPr>
            <a:spLocks noGrp="1"/>
          </p:cNvSpPr>
          <p:nvPr/>
        </p:nvSpPr>
        <p:spPr>
          <a:xfrm>
            <a:off x="1085850" y="4004945"/>
            <a:ext cx="4517390" cy="514350"/>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400" b="0" i="0">
                <a:solidFill>
                  <a:srgbClr val="231D17"/>
                </a:solidFill>
                <a:latin typeface="Times New Roman" panose="02020603050405020304"/>
                <a:ea typeface="Times New Roman" panose="02020603050405020304"/>
                <a:cs typeface="Times New Roman" panose="02020603050405020304"/>
              </a:rPr>
              <a:t>Each participant should face the same standardized environment.</a:t>
            </a:r>
            <a:endParaRPr lang="en-US" altLang="zh-CN" sz="1400" b="0" i="0">
              <a:solidFill>
                <a:srgbClr val="231D17"/>
              </a:solidFill>
              <a:latin typeface="Times New Roman" panose="02020603050405020304"/>
              <a:ea typeface="Times New Roman" panose="02020603050405020304"/>
              <a:cs typeface="Times New Roman" panose="02020603050405020304"/>
            </a:endParaRP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400" b="0" i="0">
                <a:solidFill>
                  <a:srgbClr val="231D17"/>
                </a:solidFill>
                <a:latin typeface="Times New Roman" panose="02020603050405020304"/>
                <a:ea typeface="Times New Roman" panose="02020603050405020304"/>
                <a:cs typeface="Times New Roman" panose="02020603050405020304"/>
              </a:rPr>
              <a:t>The opponent agent is only used to control difficulty, win rate, and AI error timing.</a:t>
            </a:r>
            <a:endParaRPr lang="en-US" altLang="zh-CN" sz="1400" b="0" i="0">
              <a:solidFill>
                <a:srgbClr val="231D17"/>
              </a:solidFill>
              <a:latin typeface="Times New Roman" panose="02020603050405020304"/>
              <a:ea typeface="Times New Roman" panose="02020603050405020304"/>
              <a:cs typeface="Times New Roman" panose="02020603050405020304"/>
            </a:endParaRPr>
          </a:p>
        </p:txBody>
      </p:sp>
      <p:sp>
        <p:nvSpPr>
          <p:cNvPr id="23" name="圆角矩形 22"/>
          <p:cNvSpPr>
            <a:spLocks noGrp="1"/>
          </p:cNvSpPr>
          <p:nvPr/>
        </p:nvSpPr>
        <p:spPr>
          <a:xfrm>
            <a:off x="6286500" y="3638550"/>
            <a:ext cx="4914900" cy="1257300"/>
          </a:xfrm>
          <a:prstGeom prst="roundRect">
            <a:avLst>
              <a:gd name="adj" fmla="val 9091"/>
            </a:avLst>
          </a:prstGeom>
          <a:solidFill>
            <a:srgbClr val="FFFFFF"/>
          </a:solidFill>
          <a:ln w="9525">
            <a:solidFill>
              <a:srgbClr val="D8CCBB"/>
            </a:solidFill>
            <a:prstDash val="solid"/>
          </a:ln>
        </p:spPr>
      </p:sp>
      <p:sp>
        <p:nvSpPr>
          <p:cNvPr id="24" name="圆角矩形 23"/>
          <p:cNvSpPr>
            <a:spLocks noGrp="1"/>
          </p:cNvSpPr>
          <p:nvPr/>
        </p:nvSpPr>
        <p:spPr>
          <a:xfrm>
            <a:off x="6286500" y="3638550"/>
            <a:ext cx="57150" cy="1257300"/>
          </a:xfrm>
          <a:prstGeom prst="roundRect">
            <a:avLst>
              <a:gd name="adj" fmla="val 33333"/>
            </a:avLst>
          </a:prstGeom>
          <a:solidFill>
            <a:srgbClr val="B77845"/>
          </a:solidFill>
          <a:ln w="9525">
            <a:solidFill>
              <a:srgbClr val="B77845"/>
            </a:solidFill>
            <a:prstDash val="solid"/>
          </a:ln>
        </p:spPr>
      </p:sp>
      <p:sp>
        <p:nvSpPr>
          <p:cNvPr id="25" name="矩形 24"/>
          <p:cNvSpPr>
            <a:spLocks noGrp="1"/>
          </p:cNvSpPr>
          <p:nvPr/>
        </p:nvSpPr>
        <p:spPr>
          <a:xfrm>
            <a:off x="6477000" y="3810000"/>
            <a:ext cx="45339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5.</a:t>
            </a:r>
            <a:r>
              <a:rPr lang="en-US" altLang="zh-CN" sz="1275" b="1" i="0">
                <a:solidFill>
                  <a:srgbClr val="B77845"/>
                </a:solidFill>
                <a:latin typeface="Times New Roman" panose="02020603050405020304"/>
                <a:ea typeface="Times New Roman" panose="02020603050405020304"/>
                <a:cs typeface="Times New Roman" panose="02020603050405020304"/>
              </a:rPr>
              <a:t>Self–AI counterfactual feedback</a:t>
            </a:r>
            <a:endParaRPr lang="en-US" altLang="zh-CN" sz="1275" b="1" i="0">
              <a:solidFill>
                <a:srgbClr val="B77845"/>
              </a:solidFill>
              <a:latin typeface="Times New Roman" panose="02020603050405020304"/>
              <a:ea typeface="Times New Roman" panose="02020603050405020304"/>
              <a:cs typeface="Times New Roman" panose="02020603050405020304"/>
            </a:endParaRPr>
          </a:p>
        </p:txBody>
      </p:sp>
      <p:sp>
        <p:nvSpPr>
          <p:cNvPr id="26" name="矩形 25"/>
          <p:cNvSpPr>
            <a:spLocks noGrp="1"/>
          </p:cNvSpPr>
          <p:nvPr/>
        </p:nvSpPr>
        <p:spPr>
          <a:xfrm>
            <a:off x="6477000" y="4152900"/>
            <a:ext cx="4533900" cy="514350"/>
          </a:xfrm>
          <a:prstGeom prst="rect">
            <a:avLst/>
          </a:prstGeom>
          <a:noFill/>
          <a:ln w="0">
            <a:noFill/>
            <a:prstDash val="solid"/>
          </a:ln>
        </p:spPr>
        <p:txBody>
          <a:bodyPr wrap="square" lIns="0" tIns="0" rIns="0" bIns="0" anchor="t">
            <a:normAutofit lnSpcReduction="20000"/>
          </a:bodyPr>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Participants must see both outcomes:</a:t>
            </a:r>
            <a:endParaRPr lang="en-US" altLang="zh-CN" sz="1200" b="0" i="0">
              <a:solidFill>
                <a:srgbClr val="231D17"/>
              </a:solidFill>
              <a:latin typeface="Times New Roman" panose="02020603050405020304"/>
              <a:ea typeface="Times New Roman" panose="02020603050405020304"/>
              <a:cs typeface="Times New Roman" panose="02020603050405020304"/>
            </a:endParaRP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what happened if they followed themselves, and what would have happened if they followed AI.</a:t>
            </a:r>
            <a:endParaRPr lang="en-US" altLang="zh-CN" sz="1200" b="0" i="0">
              <a:solidFill>
                <a:srgbClr val="231D17"/>
              </a:solidFill>
              <a:latin typeface="Times New Roman" panose="02020603050405020304"/>
              <a:ea typeface="Times New Roman" panose="02020603050405020304"/>
              <a:cs typeface="Times New Roman" panose="02020603050405020304"/>
            </a:endParaRPr>
          </a:p>
        </p:txBody>
      </p:sp>
      <p:sp>
        <p:nvSpPr>
          <p:cNvPr id="27" name="矩形 26"/>
          <p:cNvSpPr>
            <a:spLocks noGrp="1"/>
          </p:cNvSpPr>
          <p:nvPr/>
        </p:nvSpPr>
        <p:spPr>
          <a:xfrm>
            <a:off x="914400" y="5467350"/>
            <a:ext cx="10287000" cy="361950"/>
          </a:xfrm>
          <a:prstGeom prst="rect">
            <a:avLst/>
          </a:prstGeom>
          <a:noFill/>
          <a:ln w="0">
            <a:noFill/>
            <a:prstDash val="solid"/>
          </a:ln>
        </p:spPr>
        <p:txBody>
          <a:bodyPr wrap="square" lIns="0" tIns="0" rIns="0" bIns="0" anchor="t">
            <a:normAutofit fontScale="98225"/>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Prototype summary: repeated decisions + full feedback + matched average quality let us study path effects rather than fixed source stereotypes.</a:t>
            </a:r>
            <a:endParaRPr sz="1350" b="1"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4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TASK</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矩形 4"/>
          <p:cNvSpPr>
            <a:spLocks noGrp="1"/>
          </p:cNvSpPr>
          <p:nvPr/>
        </p:nvSpPr>
        <p:spPr>
          <a:xfrm>
            <a:off x="914400" y="952500"/>
            <a:ext cx="8572500" cy="438150"/>
          </a:xfrm>
          <a:prstGeom prst="rect">
            <a:avLst/>
          </a:prstGeom>
          <a:noFill/>
          <a:ln w="0">
            <a:noFill/>
            <a:prstDash val="solid"/>
          </a:ln>
        </p:spPr>
        <p:txBody>
          <a:bodyPr wrap="square" lIns="0" tIns="0" rIns="0" bIns="0" anchor="t">
            <a:normAutofit/>
          </a:bodyPr>
          <a:lstStyle/>
          <a:p>
            <a:pPr algn="l">
              <a:lnSpc>
                <a:spcPct val="96000"/>
              </a:lnSpc>
              <a:buNone/>
              <a:defRPr sz="2850" b="1" i="0">
                <a:solidFill>
                  <a:srgbClr val="231D17"/>
                </a:solidFill>
                <a:latin typeface="Times New Roman" panose="02020603050405020304"/>
                <a:ea typeface="Times New Roman" panose="02020603050405020304"/>
                <a:cs typeface="Times New Roman" panose="02020603050405020304"/>
              </a:defRPr>
            </a:pPr>
            <a:r>
              <a:rPr sz="2850" b="1" i="0">
                <a:solidFill>
                  <a:srgbClr val="231D17"/>
                </a:solidFill>
                <a:latin typeface="Times New Roman" panose="02020603050405020304"/>
                <a:ea typeface="Times New Roman" panose="02020603050405020304"/>
                <a:cs typeface="Times New Roman" panose="02020603050405020304"/>
              </a:rPr>
              <a:t>A Slot-Machine-Like Allocation Task</a:t>
            </a:r>
            <a:endParaRPr sz="2850" b="1" i="0">
              <a:solidFill>
                <a:srgbClr val="231D17"/>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nvSpPr>
        <p:spPr>
          <a:xfrm>
            <a:off x="914400" y="1466850"/>
            <a:ext cx="9715500" cy="400050"/>
          </a:xfrm>
          <a:prstGeom prst="rect">
            <a:avLst/>
          </a:prstGeom>
          <a:noFill/>
          <a:ln w="0">
            <a:noFill/>
            <a:prstDash val="solid"/>
          </a:ln>
        </p:spPr>
        <p:txBody>
          <a:bodyPr wrap="square" lIns="0" tIns="0" rIns="0" bIns="0" anchor="t">
            <a:normAutofit/>
          </a:bodyPr>
          <a:lstStyle/>
          <a:p>
            <a:pPr algn="l">
              <a:lnSpc>
                <a:spcPct val="104000"/>
              </a:lnSpc>
              <a:buNone/>
              <a:defRPr sz="1350" b="0" i="0">
                <a:solidFill>
                  <a:srgbClr val="6F665C"/>
                </a:solidFill>
                <a:latin typeface="Times New Roman" panose="02020603050405020304"/>
                <a:ea typeface="Times New Roman" panose="02020603050405020304"/>
                <a:cs typeface="Times New Roman" panose="02020603050405020304"/>
              </a:defRPr>
            </a:pPr>
            <a:r>
              <a:rPr sz="1350" b="0" i="0">
                <a:solidFill>
                  <a:srgbClr val="6F665C"/>
                </a:solidFill>
                <a:latin typeface="Times New Roman" panose="02020603050405020304"/>
                <a:ea typeface="Times New Roman" panose="02020603050405020304"/>
                <a:cs typeface="Times New Roman" panose="02020603050405020304"/>
              </a:rPr>
              <a:t>Participants repeatedly allocate 100 points across three abstract channels, then choose between their own allocation and Agent-AI's allocation.</a:t>
            </a:r>
            <a:endParaRPr sz="1350"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nvSpPr>
        <p:spPr>
          <a:xfrm>
            <a:off x="914400" y="2057400"/>
            <a:ext cx="6858000" cy="3714750"/>
          </a:xfrm>
          <a:prstGeom prst="roundRect">
            <a:avLst>
              <a:gd name="adj" fmla="val 3077"/>
            </a:avLst>
          </a:prstGeom>
          <a:solidFill>
            <a:srgbClr val="FBF7F0"/>
          </a:solidFill>
          <a:ln w="9525">
            <a:solidFill>
              <a:srgbClr val="D8CCBB"/>
            </a:solidFill>
            <a:prstDash val="solid"/>
          </a:ln>
        </p:spPr>
      </p:sp>
      <p:sp>
        <p:nvSpPr>
          <p:cNvPr id="8" name="矩形 7"/>
          <p:cNvSpPr>
            <a:spLocks noGrp="1"/>
          </p:cNvSpPr>
          <p:nvPr/>
        </p:nvSpPr>
        <p:spPr>
          <a:xfrm>
            <a:off x="1181100" y="2247900"/>
            <a:ext cx="3333750" cy="266700"/>
          </a:xfrm>
          <a:prstGeom prst="rect">
            <a:avLst/>
          </a:prstGeom>
          <a:noFill/>
          <a:ln w="0">
            <a:noFill/>
            <a:prstDash val="solid"/>
          </a:ln>
        </p:spPr>
        <p:txBody>
          <a:bodyPr wrap="square" lIns="0" tIns="0" rIns="0" bIns="0" anchor="t">
            <a:normAutofit fontScale="97547" lnSpcReduction="10000"/>
          </a:bodyPr>
          <a:lstStyle/>
          <a:p>
            <a:pPr algn="l">
              <a:lnSpc>
                <a:spcPct val="104000"/>
              </a:lnSpc>
              <a:buNone/>
              <a:defRPr sz="1725" b="1" i="0">
                <a:solidFill>
                  <a:srgbClr val="B77845"/>
                </a:solidFill>
                <a:latin typeface="Times New Roman" panose="02020603050405020304"/>
                <a:ea typeface="Times New Roman" panose="02020603050405020304"/>
                <a:cs typeface="Times New Roman" panose="02020603050405020304"/>
              </a:defRPr>
            </a:pPr>
            <a:r>
              <a:rPr sz="1725" b="1" i="0">
                <a:solidFill>
                  <a:srgbClr val="B77845"/>
                </a:solidFill>
                <a:latin typeface="Times New Roman" panose="02020603050405020304"/>
                <a:ea typeface="Times New Roman" panose="02020603050405020304"/>
                <a:cs typeface="Times New Roman" panose="02020603050405020304"/>
              </a:rPr>
              <a:t>Mock participant screen: Round t</a:t>
            </a:r>
            <a:endParaRPr sz="1725" b="1" i="0">
              <a:solidFill>
                <a:srgbClr val="B77845"/>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5314950" y="2286000"/>
            <a:ext cx="2000250" cy="190500"/>
          </a:xfrm>
          <a:prstGeom prst="rect">
            <a:avLst/>
          </a:prstGeom>
          <a:noFill/>
          <a:ln w="0">
            <a:noFill/>
            <a:prstDash val="solid"/>
          </a:ln>
        </p:spPr>
        <p:txBody>
          <a:bodyPr wrap="square" lIns="0" tIns="0" rIns="0" bIns="0" anchor="t">
            <a:normAutofit/>
          </a:bodyPr>
          <a:lstStyle/>
          <a:p>
            <a:pPr algn="r">
              <a:lnSpc>
                <a:spcPct val="104000"/>
              </a:lnSpc>
              <a:buNone/>
              <a:defRPr sz="1050" b="1" i="0">
                <a:solidFill>
                  <a:srgbClr val="23384A"/>
                </a:solidFill>
                <a:latin typeface="Times New Roman" panose="02020603050405020304"/>
                <a:ea typeface="Times New Roman" panose="02020603050405020304"/>
                <a:cs typeface="Times New Roman" panose="02020603050405020304"/>
              </a:defRPr>
            </a:pPr>
            <a:r>
              <a:rPr sz="1050" b="1" i="0">
                <a:solidFill>
                  <a:srgbClr val="23384A"/>
                </a:solidFill>
                <a:latin typeface="Times New Roman" panose="02020603050405020304"/>
                <a:ea typeface="Times New Roman" panose="02020603050405020304"/>
                <a:cs typeface="Times New Roman" panose="02020603050405020304"/>
              </a:rPr>
              <a:t>No real-world label</a:t>
            </a:r>
            <a:endParaRPr sz="1050" b="1" i="0">
              <a:solidFill>
                <a:srgbClr val="23384A"/>
              </a:solidFill>
              <a:latin typeface="Times New Roman" panose="02020603050405020304"/>
              <a:ea typeface="Times New Roman" panose="02020603050405020304"/>
              <a:cs typeface="Times New Roman" panose="02020603050405020304"/>
            </a:endParaRPr>
          </a:p>
        </p:txBody>
      </p:sp>
      <p:sp>
        <p:nvSpPr>
          <p:cNvPr id="10" name="圆角矩形 9"/>
          <p:cNvSpPr>
            <a:spLocks noGrp="1"/>
          </p:cNvSpPr>
          <p:nvPr/>
        </p:nvSpPr>
        <p:spPr>
          <a:xfrm>
            <a:off x="1200150" y="2686050"/>
            <a:ext cx="1485900" cy="1123950"/>
          </a:xfrm>
          <a:prstGeom prst="roundRect">
            <a:avLst>
              <a:gd name="adj" fmla="val 6780"/>
            </a:avLst>
          </a:prstGeom>
          <a:solidFill>
            <a:srgbClr val="FFFFFF"/>
          </a:solidFill>
          <a:ln w="9525">
            <a:solidFill>
              <a:srgbClr val="D8CCBB"/>
            </a:solidFill>
            <a:prstDash val="solid"/>
          </a:ln>
        </p:spPr>
      </p:sp>
      <p:sp>
        <p:nvSpPr>
          <p:cNvPr id="11" name="矩形 10"/>
          <p:cNvSpPr>
            <a:spLocks noGrp="1"/>
          </p:cNvSpPr>
          <p:nvPr/>
        </p:nvSpPr>
        <p:spPr>
          <a:xfrm>
            <a:off x="13335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α</a:t>
            </a:r>
            <a:endParaRPr sz="1650" b="1" i="0">
              <a:solidFill>
                <a:srgbClr val="B77845"/>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8669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endParaRPr sz="825" b="0" i="0">
              <a:solidFill>
                <a:srgbClr val="6F665C"/>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nvSpPr>
        <p:spPr>
          <a:xfrm>
            <a:off x="1371600" y="3226320"/>
            <a:ext cx="76200" cy="259830"/>
          </a:xfrm>
          <a:prstGeom prst="rect">
            <a:avLst/>
          </a:prstGeom>
          <a:solidFill>
            <a:srgbClr val="B77845"/>
          </a:solidFill>
          <a:ln w="0">
            <a:solidFill>
              <a:srgbClr val="B77845"/>
            </a:solidFill>
            <a:prstDash val="solid"/>
          </a:ln>
        </p:spPr>
      </p:sp>
      <p:sp>
        <p:nvSpPr>
          <p:cNvPr id="14" name="矩形 13"/>
          <p:cNvSpPr>
            <a:spLocks noGrp="1"/>
          </p:cNvSpPr>
          <p:nvPr/>
        </p:nvSpPr>
        <p:spPr>
          <a:xfrm>
            <a:off x="1495425" y="3204460"/>
            <a:ext cx="76200" cy="281690"/>
          </a:xfrm>
          <a:prstGeom prst="rect">
            <a:avLst/>
          </a:prstGeom>
          <a:solidFill>
            <a:srgbClr val="B77845"/>
          </a:solidFill>
          <a:ln w="0">
            <a:solidFill>
              <a:srgbClr val="B77845"/>
            </a:solidFill>
            <a:prstDash val="solid"/>
          </a:ln>
        </p:spPr>
      </p:sp>
      <p:sp>
        <p:nvSpPr>
          <p:cNvPr id="15" name="矩形 14"/>
          <p:cNvSpPr>
            <a:spLocks noGrp="1"/>
          </p:cNvSpPr>
          <p:nvPr/>
        </p:nvSpPr>
        <p:spPr>
          <a:xfrm>
            <a:off x="1619250" y="3178227"/>
            <a:ext cx="76200" cy="307923"/>
          </a:xfrm>
          <a:prstGeom prst="rect">
            <a:avLst/>
          </a:prstGeom>
          <a:solidFill>
            <a:srgbClr val="B77845"/>
          </a:solidFill>
          <a:ln w="0">
            <a:solidFill>
              <a:srgbClr val="B77845"/>
            </a:solidFill>
            <a:prstDash val="solid"/>
          </a:ln>
        </p:spPr>
      </p:sp>
      <p:sp>
        <p:nvSpPr>
          <p:cNvPr id="16" name="矩形 15"/>
          <p:cNvSpPr>
            <a:spLocks noGrp="1"/>
          </p:cNvSpPr>
          <p:nvPr/>
        </p:nvSpPr>
        <p:spPr>
          <a:xfrm>
            <a:off x="1743075" y="3160739"/>
            <a:ext cx="76200" cy="325411"/>
          </a:xfrm>
          <a:prstGeom prst="rect">
            <a:avLst/>
          </a:prstGeom>
          <a:solidFill>
            <a:srgbClr val="B77845"/>
          </a:solidFill>
          <a:ln w="0">
            <a:solidFill>
              <a:srgbClr val="B77845"/>
            </a:solidFill>
            <a:prstDash val="solid"/>
          </a:ln>
        </p:spPr>
      </p:sp>
      <p:sp>
        <p:nvSpPr>
          <p:cNvPr id="17" name="矩形 16"/>
          <p:cNvSpPr>
            <a:spLocks noGrp="1"/>
          </p:cNvSpPr>
          <p:nvPr/>
        </p:nvSpPr>
        <p:spPr>
          <a:xfrm>
            <a:off x="1866900" y="3143250"/>
            <a:ext cx="76200" cy="342900"/>
          </a:xfrm>
          <a:prstGeom prst="rect">
            <a:avLst/>
          </a:prstGeom>
          <a:solidFill>
            <a:srgbClr val="B77845"/>
          </a:solidFill>
          <a:ln w="0">
            <a:solidFill>
              <a:srgbClr val="B77845"/>
            </a:solidFill>
            <a:prstDash val="solid"/>
          </a:ln>
        </p:spPr>
      </p:sp>
      <p:sp>
        <p:nvSpPr>
          <p:cNvPr id="18" name="圆角矩形 17"/>
          <p:cNvSpPr>
            <a:spLocks noGrp="1"/>
          </p:cNvSpPr>
          <p:nvPr/>
        </p:nvSpPr>
        <p:spPr>
          <a:xfrm>
            <a:off x="1371600" y="3467100"/>
            <a:ext cx="1143000" cy="114300"/>
          </a:xfrm>
          <a:prstGeom prst="roundRect">
            <a:avLst>
              <a:gd name="adj" fmla="val 16667"/>
            </a:avLst>
          </a:prstGeom>
          <a:solidFill>
            <a:srgbClr val="EFE6D8"/>
          </a:solidFill>
          <a:ln w="0">
            <a:solidFill>
              <a:srgbClr val="EFE6D8"/>
            </a:solidFill>
            <a:prstDash val="solid"/>
          </a:ln>
        </p:spPr>
      </p:sp>
      <p:sp>
        <p:nvSpPr>
          <p:cNvPr id="19" name="圆角矩形 18"/>
          <p:cNvSpPr>
            <a:spLocks noGrp="1"/>
          </p:cNvSpPr>
          <p:nvPr/>
        </p:nvSpPr>
        <p:spPr>
          <a:xfrm>
            <a:off x="1371600" y="3467100"/>
            <a:ext cx="457200" cy="114300"/>
          </a:xfrm>
          <a:prstGeom prst="roundRect">
            <a:avLst>
              <a:gd name="adj" fmla="val 16667"/>
            </a:avLst>
          </a:prstGeom>
          <a:solidFill>
            <a:srgbClr val="B77845"/>
          </a:solidFill>
          <a:ln w="0">
            <a:solidFill>
              <a:srgbClr val="B77845"/>
            </a:solidFill>
            <a:prstDash val="solid"/>
          </a:ln>
        </p:spPr>
      </p:sp>
      <p:sp>
        <p:nvSpPr>
          <p:cNvPr id="20" name="矩形 19"/>
          <p:cNvSpPr>
            <a:spLocks noGrp="1"/>
          </p:cNvSpPr>
          <p:nvPr/>
        </p:nvSpPr>
        <p:spPr>
          <a:xfrm>
            <a:off x="13716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40 points</a:t>
            </a:r>
            <a:endParaRPr sz="900" b="1" i="0">
              <a:solidFill>
                <a:srgbClr val="231D17"/>
              </a:solidFill>
              <a:latin typeface="Times New Roman" panose="02020603050405020304"/>
              <a:ea typeface="Times New Roman" panose="02020603050405020304"/>
              <a:cs typeface="Times New Roman" panose="02020603050405020304"/>
            </a:endParaRPr>
          </a:p>
        </p:txBody>
      </p:sp>
      <p:sp>
        <p:nvSpPr>
          <p:cNvPr id="21" name="圆角矩形 20"/>
          <p:cNvSpPr>
            <a:spLocks noGrp="1"/>
          </p:cNvSpPr>
          <p:nvPr/>
        </p:nvSpPr>
        <p:spPr>
          <a:xfrm>
            <a:off x="2876550" y="2686050"/>
            <a:ext cx="1485900" cy="1123950"/>
          </a:xfrm>
          <a:prstGeom prst="roundRect">
            <a:avLst>
              <a:gd name="adj" fmla="val 6780"/>
            </a:avLst>
          </a:prstGeom>
          <a:solidFill>
            <a:srgbClr val="FFFFFF"/>
          </a:solidFill>
          <a:ln w="9525">
            <a:solidFill>
              <a:srgbClr val="D8CCBB"/>
            </a:solidFill>
            <a:prstDash val="solid"/>
          </a:ln>
        </p:spPr>
      </p:sp>
      <p:sp>
        <p:nvSpPr>
          <p:cNvPr id="22" name="矩形 21"/>
          <p:cNvSpPr>
            <a:spLocks noGrp="1"/>
          </p:cNvSpPr>
          <p:nvPr/>
        </p:nvSpPr>
        <p:spPr>
          <a:xfrm>
            <a:off x="30099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818A68"/>
                </a:solidFill>
                <a:latin typeface="Times New Roman" panose="02020603050405020304"/>
                <a:ea typeface="Times New Roman" panose="02020603050405020304"/>
                <a:cs typeface="Times New Roman" panose="02020603050405020304"/>
              </a:defRPr>
            </a:pPr>
            <a:r>
              <a:rPr sz="1650" b="1" i="0">
                <a:solidFill>
                  <a:srgbClr val="818A68"/>
                </a:solidFill>
                <a:latin typeface="Times New Roman" panose="02020603050405020304"/>
                <a:ea typeface="Times New Roman" panose="02020603050405020304"/>
                <a:cs typeface="Times New Roman" panose="02020603050405020304"/>
              </a:rPr>
              <a:t>β</a:t>
            </a:r>
            <a:endParaRPr sz="1650" b="1" i="0">
              <a:solidFill>
                <a:srgbClr val="818A68"/>
              </a:solidFill>
              <a:latin typeface="Times New Roman" panose="02020603050405020304"/>
              <a:ea typeface="Times New Roman" panose="02020603050405020304"/>
              <a:cs typeface="Times New Roman" panose="02020603050405020304"/>
            </a:endParaRPr>
          </a:p>
        </p:txBody>
      </p:sp>
      <p:sp>
        <p:nvSpPr>
          <p:cNvPr id="23" name="矩形 22"/>
          <p:cNvSpPr>
            <a:spLocks noGrp="1"/>
          </p:cNvSpPr>
          <p:nvPr/>
        </p:nvSpPr>
        <p:spPr>
          <a:xfrm>
            <a:off x="35433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endParaRPr sz="825" b="0" i="0">
              <a:solidFill>
                <a:srgbClr val="6F665C"/>
              </a:solidFill>
              <a:latin typeface="Times New Roman" panose="02020603050405020304"/>
              <a:ea typeface="Times New Roman" panose="02020603050405020304"/>
              <a:cs typeface="Times New Roman" panose="02020603050405020304"/>
            </a:endParaRPr>
          </a:p>
        </p:txBody>
      </p:sp>
      <p:sp>
        <p:nvSpPr>
          <p:cNvPr id="24" name="矩形 23"/>
          <p:cNvSpPr>
            <a:spLocks noGrp="1"/>
          </p:cNvSpPr>
          <p:nvPr/>
        </p:nvSpPr>
        <p:spPr>
          <a:xfrm>
            <a:off x="3048000" y="3143250"/>
            <a:ext cx="76200" cy="342900"/>
          </a:xfrm>
          <a:prstGeom prst="rect">
            <a:avLst/>
          </a:prstGeom>
          <a:solidFill>
            <a:srgbClr val="818A68"/>
          </a:solidFill>
          <a:ln w="0">
            <a:solidFill>
              <a:srgbClr val="818A68"/>
            </a:solidFill>
            <a:prstDash val="solid"/>
          </a:ln>
        </p:spPr>
      </p:sp>
      <p:sp>
        <p:nvSpPr>
          <p:cNvPr id="25" name="矩形 24"/>
          <p:cNvSpPr>
            <a:spLocks noGrp="1"/>
          </p:cNvSpPr>
          <p:nvPr/>
        </p:nvSpPr>
        <p:spPr>
          <a:xfrm>
            <a:off x="3171825" y="3153918"/>
            <a:ext cx="76200" cy="332232"/>
          </a:xfrm>
          <a:prstGeom prst="rect">
            <a:avLst/>
          </a:prstGeom>
          <a:solidFill>
            <a:srgbClr val="818A68"/>
          </a:solidFill>
          <a:ln w="0">
            <a:solidFill>
              <a:srgbClr val="818A68"/>
            </a:solidFill>
            <a:prstDash val="solid"/>
          </a:ln>
        </p:spPr>
      </p:sp>
      <p:sp>
        <p:nvSpPr>
          <p:cNvPr id="26" name="矩形 25"/>
          <p:cNvSpPr>
            <a:spLocks noGrp="1"/>
          </p:cNvSpPr>
          <p:nvPr/>
        </p:nvSpPr>
        <p:spPr>
          <a:xfrm>
            <a:off x="3295650" y="3168142"/>
            <a:ext cx="76200" cy="318008"/>
          </a:xfrm>
          <a:prstGeom prst="rect">
            <a:avLst/>
          </a:prstGeom>
          <a:solidFill>
            <a:srgbClr val="818A68"/>
          </a:solidFill>
          <a:ln w="0">
            <a:solidFill>
              <a:srgbClr val="818A68"/>
            </a:solidFill>
            <a:prstDash val="solid"/>
          </a:ln>
        </p:spPr>
      </p:sp>
      <p:sp>
        <p:nvSpPr>
          <p:cNvPr id="27" name="矩形 26"/>
          <p:cNvSpPr>
            <a:spLocks noGrp="1"/>
          </p:cNvSpPr>
          <p:nvPr/>
        </p:nvSpPr>
        <p:spPr>
          <a:xfrm>
            <a:off x="3419475" y="3185922"/>
            <a:ext cx="76200" cy="300228"/>
          </a:xfrm>
          <a:prstGeom prst="rect">
            <a:avLst/>
          </a:prstGeom>
          <a:solidFill>
            <a:srgbClr val="818A68"/>
          </a:solidFill>
          <a:ln w="0">
            <a:solidFill>
              <a:srgbClr val="818A68"/>
            </a:solidFill>
            <a:prstDash val="solid"/>
          </a:ln>
        </p:spPr>
      </p:sp>
      <p:sp>
        <p:nvSpPr>
          <p:cNvPr id="28" name="矩形 27"/>
          <p:cNvSpPr>
            <a:spLocks noGrp="1"/>
          </p:cNvSpPr>
          <p:nvPr/>
        </p:nvSpPr>
        <p:spPr>
          <a:xfrm>
            <a:off x="3543300" y="3200146"/>
            <a:ext cx="76200" cy="286004"/>
          </a:xfrm>
          <a:prstGeom prst="rect">
            <a:avLst/>
          </a:prstGeom>
          <a:solidFill>
            <a:srgbClr val="818A68"/>
          </a:solidFill>
          <a:ln w="0">
            <a:solidFill>
              <a:srgbClr val="818A68"/>
            </a:solidFill>
            <a:prstDash val="solid"/>
          </a:ln>
        </p:spPr>
      </p:sp>
      <p:sp>
        <p:nvSpPr>
          <p:cNvPr id="29" name="圆角矩形 28"/>
          <p:cNvSpPr>
            <a:spLocks noGrp="1"/>
          </p:cNvSpPr>
          <p:nvPr/>
        </p:nvSpPr>
        <p:spPr>
          <a:xfrm>
            <a:off x="3048000" y="3467100"/>
            <a:ext cx="1143000" cy="114300"/>
          </a:xfrm>
          <a:prstGeom prst="roundRect">
            <a:avLst>
              <a:gd name="adj" fmla="val 16667"/>
            </a:avLst>
          </a:prstGeom>
          <a:solidFill>
            <a:srgbClr val="EFE6D8"/>
          </a:solidFill>
          <a:ln w="0">
            <a:solidFill>
              <a:srgbClr val="EFE6D8"/>
            </a:solidFill>
            <a:prstDash val="solid"/>
          </a:ln>
        </p:spPr>
      </p:sp>
      <p:sp>
        <p:nvSpPr>
          <p:cNvPr id="30" name="圆角矩形 29"/>
          <p:cNvSpPr>
            <a:spLocks noGrp="1"/>
          </p:cNvSpPr>
          <p:nvPr/>
        </p:nvSpPr>
        <p:spPr>
          <a:xfrm>
            <a:off x="3048000" y="3467100"/>
            <a:ext cx="400050" cy="114300"/>
          </a:xfrm>
          <a:prstGeom prst="roundRect">
            <a:avLst>
              <a:gd name="adj" fmla="val 16667"/>
            </a:avLst>
          </a:prstGeom>
          <a:solidFill>
            <a:srgbClr val="818A68"/>
          </a:solidFill>
          <a:ln w="0">
            <a:solidFill>
              <a:srgbClr val="818A68"/>
            </a:solidFill>
            <a:prstDash val="solid"/>
          </a:ln>
        </p:spPr>
      </p:sp>
      <p:sp>
        <p:nvSpPr>
          <p:cNvPr id="31" name="矩形 30"/>
          <p:cNvSpPr>
            <a:spLocks noGrp="1"/>
          </p:cNvSpPr>
          <p:nvPr/>
        </p:nvSpPr>
        <p:spPr>
          <a:xfrm>
            <a:off x="30480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35 points</a:t>
            </a:r>
            <a:endParaRPr sz="900" b="1" i="0">
              <a:solidFill>
                <a:srgbClr val="231D17"/>
              </a:solidFill>
              <a:latin typeface="Times New Roman" panose="02020603050405020304"/>
              <a:ea typeface="Times New Roman" panose="02020603050405020304"/>
              <a:cs typeface="Times New Roman" panose="02020603050405020304"/>
            </a:endParaRPr>
          </a:p>
        </p:txBody>
      </p:sp>
      <p:sp>
        <p:nvSpPr>
          <p:cNvPr id="32" name="圆角矩形 31"/>
          <p:cNvSpPr>
            <a:spLocks noGrp="1"/>
          </p:cNvSpPr>
          <p:nvPr/>
        </p:nvSpPr>
        <p:spPr>
          <a:xfrm>
            <a:off x="4552950" y="2686050"/>
            <a:ext cx="1485900" cy="1123950"/>
          </a:xfrm>
          <a:prstGeom prst="roundRect">
            <a:avLst>
              <a:gd name="adj" fmla="val 6780"/>
            </a:avLst>
          </a:prstGeom>
          <a:solidFill>
            <a:srgbClr val="FFFFFF"/>
          </a:solidFill>
          <a:ln w="9525">
            <a:solidFill>
              <a:srgbClr val="D8CCBB"/>
            </a:solidFill>
            <a:prstDash val="solid"/>
          </a:ln>
        </p:spPr>
      </p:sp>
      <p:sp>
        <p:nvSpPr>
          <p:cNvPr id="33" name="矩形 32"/>
          <p:cNvSpPr>
            <a:spLocks noGrp="1"/>
          </p:cNvSpPr>
          <p:nvPr/>
        </p:nvSpPr>
        <p:spPr>
          <a:xfrm>
            <a:off x="46863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23384A"/>
                </a:solidFill>
                <a:latin typeface="Times New Roman" panose="02020603050405020304"/>
                <a:ea typeface="Times New Roman" panose="02020603050405020304"/>
                <a:cs typeface="Times New Roman" panose="02020603050405020304"/>
              </a:defRPr>
            </a:pPr>
            <a:r>
              <a:rPr sz="1650" b="1" i="0">
                <a:solidFill>
                  <a:srgbClr val="23384A"/>
                </a:solidFill>
                <a:latin typeface="Times New Roman" panose="02020603050405020304"/>
                <a:ea typeface="Times New Roman" panose="02020603050405020304"/>
                <a:cs typeface="Times New Roman" panose="02020603050405020304"/>
              </a:rPr>
              <a:t>γ</a:t>
            </a:r>
            <a:endParaRPr sz="1650" b="1" i="0">
              <a:solidFill>
                <a:srgbClr val="23384A"/>
              </a:solidFill>
              <a:latin typeface="Times New Roman" panose="02020603050405020304"/>
              <a:ea typeface="Times New Roman" panose="02020603050405020304"/>
              <a:cs typeface="Times New Roman" panose="02020603050405020304"/>
            </a:endParaRPr>
          </a:p>
        </p:txBody>
      </p:sp>
      <p:sp>
        <p:nvSpPr>
          <p:cNvPr id="34" name="矩形 33"/>
          <p:cNvSpPr>
            <a:spLocks noGrp="1"/>
          </p:cNvSpPr>
          <p:nvPr/>
        </p:nvSpPr>
        <p:spPr>
          <a:xfrm>
            <a:off x="52197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endParaRPr sz="825" b="0" i="0">
              <a:solidFill>
                <a:srgbClr val="6F665C"/>
              </a:solidFill>
              <a:latin typeface="Times New Roman" panose="02020603050405020304"/>
              <a:ea typeface="Times New Roman" panose="02020603050405020304"/>
              <a:cs typeface="Times New Roman" panose="02020603050405020304"/>
            </a:endParaRPr>
          </a:p>
        </p:txBody>
      </p:sp>
      <p:sp>
        <p:nvSpPr>
          <p:cNvPr id="35" name="矩形 34"/>
          <p:cNvSpPr>
            <a:spLocks noGrp="1"/>
          </p:cNvSpPr>
          <p:nvPr/>
        </p:nvSpPr>
        <p:spPr>
          <a:xfrm>
            <a:off x="4724400" y="3259628"/>
            <a:ext cx="76200" cy="226522"/>
          </a:xfrm>
          <a:prstGeom prst="rect">
            <a:avLst/>
          </a:prstGeom>
          <a:solidFill>
            <a:srgbClr val="23384A"/>
          </a:solidFill>
          <a:ln w="0">
            <a:solidFill>
              <a:srgbClr val="23384A"/>
            </a:solidFill>
            <a:prstDash val="solid"/>
          </a:ln>
        </p:spPr>
      </p:sp>
      <p:sp>
        <p:nvSpPr>
          <p:cNvPr id="36" name="矩形 35"/>
          <p:cNvSpPr>
            <a:spLocks noGrp="1"/>
          </p:cNvSpPr>
          <p:nvPr/>
        </p:nvSpPr>
        <p:spPr>
          <a:xfrm>
            <a:off x="4848225" y="3225685"/>
            <a:ext cx="76200" cy="260465"/>
          </a:xfrm>
          <a:prstGeom prst="rect">
            <a:avLst/>
          </a:prstGeom>
          <a:solidFill>
            <a:srgbClr val="23384A"/>
          </a:solidFill>
          <a:ln w="0">
            <a:solidFill>
              <a:srgbClr val="23384A"/>
            </a:solidFill>
            <a:prstDash val="solid"/>
          </a:ln>
        </p:spPr>
      </p:sp>
      <p:sp>
        <p:nvSpPr>
          <p:cNvPr id="37" name="矩形 36"/>
          <p:cNvSpPr>
            <a:spLocks noGrp="1"/>
          </p:cNvSpPr>
          <p:nvPr/>
        </p:nvSpPr>
        <p:spPr>
          <a:xfrm>
            <a:off x="4972050" y="3196590"/>
            <a:ext cx="76200" cy="289560"/>
          </a:xfrm>
          <a:prstGeom prst="rect">
            <a:avLst/>
          </a:prstGeom>
          <a:solidFill>
            <a:srgbClr val="23384A"/>
          </a:solidFill>
          <a:ln w="0">
            <a:solidFill>
              <a:srgbClr val="23384A"/>
            </a:solidFill>
            <a:prstDash val="solid"/>
          </a:ln>
        </p:spPr>
      </p:sp>
      <p:sp>
        <p:nvSpPr>
          <p:cNvPr id="38" name="矩形 37"/>
          <p:cNvSpPr>
            <a:spLocks noGrp="1"/>
          </p:cNvSpPr>
          <p:nvPr/>
        </p:nvSpPr>
        <p:spPr>
          <a:xfrm>
            <a:off x="5095875" y="3172345"/>
            <a:ext cx="76200" cy="313805"/>
          </a:xfrm>
          <a:prstGeom prst="rect">
            <a:avLst/>
          </a:prstGeom>
          <a:solidFill>
            <a:srgbClr val="23384A"/>
          </a:solidFill>
          <a:ln w="0">
            <a:solidFill>
              <a:srgbClr val="23384A"/>
            </a:solidFill>
            <a:prstDash val="solid"/>
          </a:ln>
        </p:spPr>
      </p:sp>
      <p:sp>
        <p:nvSpPr>
          <p:cNvPr id="39" name="矩形 38"/>
          <p:cNvSpPr>
            <a:spLocks noGrp="1"/>
          </p:cNvSpPr>
          <p:nvPr/>
        </p:nvSpPr>
        <p:spPr>
          <a:xfrm>
            <a:off x="5219700" y="3143250"/>
            <a:ext cx="76200" cy="342900"/>
          </a:xfrm>
          <a:prstGeom prst="rect">
            <a:avLst/>
          </a:prstGeom>
          <a:solidFill>
            <a:srgbClr val="23384A"/>
          </a:solidFill>
          <a:ln w="0">
            <a:solidFill>
              <a:srgbClr val="23384A"/>
            </a:solidFill>
            <a:prstDash val="solid"/>
          </a:ln>
        </p:spPr>
      </p:sp>
      <p:sp>
        <p:nvSpPr>
          <p:cNvPr id="40" name="圆角矩形 39"/>
          <p:cNvSpPr>
            <a:spLocks noGrp="1"/>
          </p:cNvSpPr>
          <p:nvPr/>
        </p:nvSpPr>
        <p:spPr>
          <a:xfrm>
            <a:off x="4724400" y="3467100"/>
            <a:ext cx="1143000" cy="114300"/>
          </a:xfrm>
          <a:prstGeom prst="roundRect">
            <a:avLst>
              <a:gd name="adj" fmla="val 16667"/>
            </a:avLst>
          </a:prstGeom>
          <a:solidFill>
            <a:srgbClr val="EFE6D8"/>
          </a:solidFill>
          <a:ln w="0">
            <a:solidFill>
              <a:srgbClr val="EFE6D8"/>
            </a:solidFill>
            <a:prstDash val="solid"/>
          </a:ln>
        </p:spPr>
      </p:sp>
      <p:sp>
        <p:nvSpPr>
          <p:cNvPr id="41" name="圆角矩形 40"/>
          <p:cNvSpPr>
            <a:spLocks noGrp="1"/>
          </p:cNvSpPr>
          <p:nvPr/>
        </p:nvSpPr>
        <p:spPr>
          <a:xfrm>
            <a:off x="4724400" y="3467100"/>
            <a:ext cx="285750" cy="114300"/>
          </a:xfrm>
          <a:prstGeom prst="roundRect">
            <a:avLst>
              <a:gd name="adj" fmla="val 16667"/>
            </a:avLst>
          </a:prstGeom>
          <a:solidFill>
            <a:srgbClr val="23384A"/>
          </a:solidFill>
          <a:ln w="0">
            <a:solidFill>
              <a:srgbClr val="23384A"/>
            </a:solidFill>
            <a:prstDash val="solid"/>
          </a:ln>
        </p:spPr>
      </p:sp>
      <p:sp>
        <p:nvSpPr>
          <p:cNvPr id="42" name="矩形 41"/>
          <p:cNvSpPr>
            <a:spLocks noGrp="1"/>
          </p:cNvSpPr>
          <p:nvPr/>
        </p:nvSpPr>
        <p:spPr>
          <a:xfrm>
            <a:off x="47244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25 points</a:t>
            </a:r>
            <a:endParaRPr sz="900" b="1" i="0">
              <a:solidFill>
                <a:srgbClr val="231D17"/>
              </a:solidFill>
              <a:latin typeface="Times New Roman" panose="02020603050405020304"/>
              <a:ea typeface="Times New Roman" panose="02020603050405020304"/>
              <a:cs typeface="Times New Roman" panose="02020603050405020304"/>
            </a:endParaRPr>
          </a:p>
        </p:txBody>
      </p:sp>
      <p:sp>
        <p:nvSpPr>
          <p:cNvPr id="43" name="矩形 42"/>
          <p:cNvSpPr>
            <a:spLocks noGrp="1"/>
          </p:cNvSpPr>
          <p:nvPr/>
        </p:nvSpPr>
        <p:spPr>
          <a:xfrm>
            <a:off x="1200150" y="3943350"/>
            <a:ext cx="2095500" cy="209550"/>
          </a:xfrm>
          <a:prstGeom prst="rect">
            <a:avLst/>
          </a:prstGeom>
          <a:noFill/>
          <a:ln w="0">
            <a:noFill/>
            <a:prstDash val="solid"/>
          </a:ln>
        </p:spPr>
        <p:txBody>
          <a:bodyPr wrap="square" lIns="0" tIns="0" rIns="0" bIns="0" anchor="t">
            <a:normAutofit/>
          </a:bodyPr>
          <a:lstStyle/>
          <a:p>
            <a:pPr algn="l">
              <a:lnSpc>
                <a:spcPct val="104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Self allocation</a:t>
            </a:r>
            <a:endParaRPr sz="1275" b="1" i="0">
              <a:solidFill>
                <a:srgbClr val="231D17"/>
              </a:solidFill>
              <a:latin typeface="Times New Roman" panose="02020603050405020304"/>
              <a:ea typeface="Times New Roman" panose="02020603050405020304"/>
              <a:cs typeface="Times New Roman" panose="02020603050405020304"/>
            </a:endParaRPr>
          </a:p>
        </p:txBody>
      </p:sp>
      <p:sp>
        <p:nvSpPr>
          <p:cNvPr id="44" name="矩形 43"/>
          <p:cNvSpPr>
            <a:spLocks noGrp="1"/>
          </p:cNvSpPr>
          <p:nvPr/>
        </p:nvSpPr>
        <p:spPr>
          <a:xfrm>
            <a:off x="2876550" y="3943350"/>
            <a:ext cx="2952750" cy="209550"/>
          </a:xfrm>
          <a:prstGeom prst="rect">
            <a:avLst/>
          </a:prstGeom>
          <a:noFill/>
          <a:ln w="0">
            <a:noFill/>
            <a:prstDash val="solid"/>
          </a:ln>
        </p:spPr>
        <p:txBody>
          <a:bodyPr wrap="square" lIns="0" tIns="0" rIns="0" bIns="0" anchor="t">
            <a:normAutofit/>
          </a:bodyPr>
          <a:lstStyle/>
          <a:p>
            <a:pPr algn="l">
              <a:lnSpc>
                <a:spcPct val="104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Agent-AI recommendation</a:t>
            </a:r>
            <a:endParaRPr sz="1275" b="1" i="0">
              <a:solidFill>
                <a:srgbClr val="231D17"/>
              </a:solidFill>
              <a:latin typeface="Times New Roman" panose="02020603050405020304"/>
              <a:ea typeface="Times New Roman" panose="02020603050405020304"/>
              <a:cs typeface="Times New Roman" panose="02020603050405020304"/>
            </a:endParaRPr>
          </a:p>
        </p:txBody>
      </p:sp>
      <p:sp>
        <p:nvSpPr>
          <p:cNvPr id="45" name="圆角矩形 44"/>
          <p:cNvSpPr>
            <a:spLocks noGrp="1"/>
          </p:cNvSpPr>
          <p:nvPr/>
        </p:nvSpPr>
        <p:spPr>
          <a:xfrm>
            <a:off x="1200150" y="4248150"/>
            <a:ext cx="2114550" cy="400050"/>
          </a:xfrm>
          <a:prstGeom prst="roundRect">
            <a:avLst>
              <a:gd name="adj" fmla="val 19048"/>
            </a:avLst>
          </a:prstGeom>
          <a:solidFill>
            <a:srgbClr val="FFFFFF"/>
          </a:solidFill>
          <a:ln w="9525">
            <a:solidFill>
              <a:srgbClr val="D8CCBB"/>
            </a:solidFill>
            <a:prstDash val="solid"/>
          </a:ln>
        </p:spPr>
      </p:sp>
      <p:sp>
        <p:nvSpPr>
          <p:cNvPr id="46" name="矩形 45"/>
          <p:cNvSpPr>
            <a:spLocks noGrp="1"/>
          </p:cNvSpPr>
          <p:nvPr/>
        </p:nvSpPr>
        <p:spPr>
          <a:xfrm>
            <a:off x="1381125" y="4362450"/>
            <a:ext cx="1752600" cy="171450"/>
          </a:xfrm>
          <a:prstGeom prst="rect">
            <a:avLst/>
          </a:prstGeom>
          <a:noFill/>
          <a:ln w="0">
            <a:noFill/>
            <a:prstDash val="solid"/>
          </a:ln>
        </p:spPr>
        <p:txBody>
          <a:bodyPr wrap="square" lIns="0" tIns="0" rIns="0" bIns="0" anchor="t">
            <a:normAutofit fontScale="90144" lnSpcReduction="10000"/>
          </a:bodyPr>
          <a:lstStyle/>
          <a:p>
            <a:pPr algn="ctr">
              <a:lnSpc>
                <a:spcPct val="104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Self: 40 / 35 / 25</a:t>
            </a:r>
            <a:endParaRPr sz="1200" b="1" i="0">
              <a:solidFill>
                <a:srgbClr val="231D17"/>
              </a:solidFill>
              <a:latin typeface="Times New Roman" panose="02020603050405020304"/>
              <a:ea typeface="Times New Roman" panose="02020603050405020304"/>
              <a:cs typeface="Times New Roman" panose="02020603050405020304"/>
            </a:endParaRPr>
          </a:p>
        </p:txBody>
      </p:sp>
      <p:sp>
        <p:nvSpPr>
          <p:cNvPr id="47" name="圆角矩形 46"/>
          <p:cNvSpPr>
            <a:spLocks noGrp="1"/>
          </p:cNvSpPr>
          <p:nvPr/>
        </p:nvSpPr>
        <p:spPr>
          <a:xfrm>
            <a:off x="3657600" y="4248150"/>
            <a:ext cx="2114550" cy="400050"/>
          </a:xfrm>
          <a:prstGeom prst="roundRect">
            <a:avLst>
              <a:gd name="adj" fmla="val 19048"/>
            </a:avLst>
          </a:prstGeom>
          <a:solidFill>
            <a:srgbClr val="F0E2D4"/>
          </a:solidFill>
          <a:ln w="9525">
            <a:solidFill>
              <a:srgbClr val="E7D4C3"/>
            </a:solidFill>
            <a:prstDash val="solid"/>
          </a:ln>
        </p:spPr>
      </p:sp>
      <p:sp>
        <p:nvSpPr>
          <p:cNvPr id="48" name="矩形 47"/>
          <p:cNvSpPr>
            <a:spLocks noGrp="1"/>
          </p:cNvSpPr>
          <p:nvPr/>
        </p:nvSpPr>
        <p:spPr>
          <a:xfrm>
            <a:off x="3838575" y="4362450"/>
            <a:ext cx="1752600" cy="171450"/>
          </a:xfrm>
          <a:prstGeom prst="rect">
            <a:avLst/>
          </a:prstGeom>
          <a:noFill/>
          <a:ln w="0">
            <a:noFill/>
            <a:prstDash val="solid"/>
          </a:ln>
        </p:spPr>
        <p:txBody>
          <a:bodyPr wrap="square" lIns="0" tIns="0" rIns="0" bIns="0" anchor="t">
            <a:normAutofit fontScale="90144" lnSpcReduction="10000"/>
          </a:bodyPr>
          <a:lstStyle/>
          <a:p>
            <a:pPr algn="ctr">
              <a:lnSpc>
                <a:spcPct val="104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AI: 25 / 50 / 25</a:t>
            </a:r>
            <a:endParaRPr sz="1200" b="1" i="0">
              <a:solidFill>
                <a:srgbClr val="231D17"/>
              </a:solidFill>
              <a:latin typeface="Times New Roman" panose="02020603050405020304"/>
              <a:ea typeface="Times New Roman" panose="02020603050405020304"/>
              <a:cs typeface="Times New Roman" panose="02020603050405020304"/>
            </a:endParaRPr>
          </a:p>
        </p:txBody>
      </p:sp>
      <p:sp>
        <p:nvSpPr>
          <p:cNvPr id="49" name="直接连接符 48"/>
          <p:cNvSpPr>
            <a:spLocks noGrp="1"/>
          </p:cNvSpPr>
          <p:nvPr/>
        </p:nvSpPr>
        <p:spPr>
          <a:xfrm>
            <a:off x="3333750" y="4448175"/>
            <a:ext cx="304800" cy="0"/>
          </a:xfrm>
          <a:prstGeom prst="line">
            <a:avLst/>
          </a:prstGeom>
          <a:ln w="14288">
            <a:solidFill>
              <a:srgbClr val="B77845"/>
            </a:solidFill>
            <a:prstDash val="solid"/>
          </a:ln>
        </p:spPr>
      </p:sp>
      <p:sp>
        <p:nvSpPr>
          <p:cNvPr id="50" name="圆角矩形 49"/>
          <p:cNvSpPr>
            <a:spLocks noGrp="1"/>
          </p:cNvSpPr>
          <p:nvPr/>
        </p:nvSpPr>
        <p:spPr>
          <a:xfrm>
            <a:off x="1200150" y="4895850"/>
            <a:ext cx="2095500" cy="476250"/>
          </a:xfrm>
          <a:prstGeom prst="roundRect">
            <a:avLst>
              <a:gd name="adj" fmla="val 16000"/>
            </a:avLst>
          </a:prstGeom>
          <a:solidFill>
            <a:srgbClr val="23384A"/>
          </a:solidFill>
          <a:ln w="9525">
            <a:solidFill>
              <a:srgbClr val="23384A"/>
            </a:solidFill>
            <a:prstDash val="solid"/>
          </a:ln>
        </p:spPr>
      </p:sp>
      <p:sp>
        <p:nvSpPr>
          <p:cNvPr id="51" name="矩形 50"/>
          <p:cNvSpPr>
            <a:spLocks noGrp="1"/>
          </p:cNvSpPr>
          <p:nvPr/>
        </p:nvSpPr>
        <p:spPr>
          <a:xfrm>
            <a:off x="1371600" y="5038725"/>
            <a:ext cx="1752600" cy="171450"/>
          </a:xfrm>
          <a:prstGeom prst="rect">
            <a:avLst/>
          </a:prstGeom>
          <a:noFill/>
          <a:ln w="0">
            <a:noFill/>
            <a:prstDash val="solid"/>
          </a:ln>
        </p:spPr>
        <p:txBody>
          <a:bodyPr wrap="square" lIns="0" tIns="0" rIns="0" bIns="0" anchor="t">
            <a:normAutofit fontScale="90144" lnSpcReduction="10000"/>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Submit self plan</a:t>
            </a:r>
            <a:endParaRPr sz="1200" b="1" i="0">
              <a:solidFill>
                <a:srgbClr val="F5F0E6"/>
              </a:solidFill>
              <a:latin typeface="Times New Roman" panose="02020603050405020304"/>
              <a:ea typeface="Times New Roman" panose="02020603050405020304"/>
              <a:cs typeface="Times New Roman" panose="02020603050405020304"/>
            </a:endParaRPr>
          </a:p>
        </p:txBody>
      </p:sp>
      <p:sp>
        <p:nvSpPr>
          <p:cNvPr id="52" name="圆角矩形 51"/>
          <p:cNvSpPr>
            <a:spLocks noGrp="1"/>
          </p:cNvSpPr>
          <p:nvPr/>
        </p:nvSpPr>
        <p:spPr>
          <a:xfrm>
            <a:off x="3676650" y="4895850"/>
            <a:ext cx="2095500" cy="476250"/>
          </a:xfrm>
          <a:prstGeom prst="roundRect">
            <a:avLst>
              <a:gd name="adj" fmla="val 16000"/>
            </a:avLst>
          </a:prstGeom>
          <a:solidFill>
            <a:srgbClr val="B77845"/>
          </a:solidFill>
          <a:ln w="9525">
            <a:solidFill>
              <a:srgbClr val="B77845"/>
            </a:solidFill>
            <a:prstDash val="solid"/>
          </a:ln>
        </p:spPr>
      </p:sp>
      <p:sp>
        <p:nvSpPr>
          <p:cNvPr id="53" name="矩形 52"/>
          <p:cNvSpPr>
            <a:spLocks noGrp="1"/>
          </p:cNvSpPr>
          <p:nvPr/>
        </p:nvSpPr>
        <p:spPr>
          <a:xfrm>
            <a:off x="3848100" y="5038725"/>
            <a:ext cx="1752600" cy="171450"/>
          </a:xfrm>
          <a:prstGeom prst="rect">
            <a:avLst/>
          </a:prstGeom>
          <a:noFill/>
          <a:ln w="0">
            <a:noFill/>
            <a:prstDash val="solid"/>
          </a:ln>
        </p:spPr>
        <p:txBody>
          <a:bodyPr wrap="square" lIns="0" tIns="0" rIns="0" bIns="0" anchor="t">
            <a:normAutofit fontScale="90144" lnSpcReduction="10000"/>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Submit AI plan</a:t>
            </a:r>
            <a:endParaRPr sz="1200" b="1" i="0">
              <a:solidFill>
                <a:srgbClr val="F5F0E6"/>
              </a:solidFill>
              <a:latin typeface="Times New Roman" panose="02020603050405020304"/>
              <a:ea typeface="Times New Roman" panose="02020603050405020304"/>
              <a:cs typeface="Times New Roman" panose="02020603050405020304"/>
            </a:endParaRPr>
          </a:p>
        </p:txBody>
      </p:sp>
      <p:sp>
        <p:nvSpPr>
          <p:cNvPr id="54" name="圆角矩形 53"/>
          <p:cNvSpPr>
            <a:spLocks noGrp="1"/>
          </p:cNvSpPr>
          <p:nvPr/>
        </p:nvSpPr>
        <p:spPr>
          <a:xfrm>
            <a:off x="5962650" y="4248150"/>
            <a:ext cx="1466850" cy="1123950"/>
          </a:xfrm>
          <a:prstGeom prst="roundRect">
            <a:avLst>
              <a:gd name="adj" fmla="val 6780"/>
            </a:avLst>
          </a:prstGeom>
          <a:solidFill>
            <a:srgbClr val="FFFFFF"/>
          </a:solidFill>
          <a:ln w="9525">
            <a:solidFill>
              <a:srgbClr val="D8CCBB"/>
            </a:solidFill>
            <a:prstDash val="solid"/>
          </a:ln>
        </p:spPr>
      </p:sp>
      <p:sp>
        <p:nvSpPr>
          <p:cNvPr id="55" name="矩形 54"/>
          <p:cNvSpPr>
            <a:spLocks noGrp="1"/>
          </p:cNvSpPr>
          <p:nvPr/>
        </p:nvSpPr>
        <p:spPr>
          <a:xfrm>
            <a:off x="6153150" y="4400550"/>
            <a:ext cx="1085850" cy="190500"/>
          </a:xfrm>
          <a:prstGeom prst="rect">
            <a:avLst/>
          </a:prstGeom>
          <a:noFill/>
          <a:ln w="0">
            <a:noFill/>
            <a:prstDash val="solid"/>
          </a:ln>
        </p:spPr>
        <p:txBody>
          <a:bodyPr wrap="square" lIns="0" tIns="0" rIns="0" bIns="0" anchor="t">
            <a:normAutofit fontScale="94268"/>
          </a:bodyPr>
          <a:lstStyle/>
          <a:p>
            <a:pPr algn="ctr">
              <a:lnSpc>
                <a:spcPct val="104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Full feedback</a:t>
            </a:r>
            <a:endParaRPr sz="1275" b="1" i="0">
              <a:solidFill>
                <a:srgbClr val="818A68"/>
              </a:solidFill>
              <a:latin typeface="Times New Roman" panose="02020603050405020304"/>
              <a:ea typeface="Times New Roman" panose="02020603050405020304"/>
              <a:cs typeface="Times New Roman" panose="02020603050405020304"/>
            </a:endParaRPr>
          </a:p>
        </p:txBody>
      </p:sp>
      <p:sp>
        <p:nvSpPr>
          <p:cNvPr id="56" name="矩形 55"/>
          <p:cNvSpPr>
            <a:spLocks noGrp="1"/>
          </p:cNvSpPr>
          <p:nvPr/>
        </p:nvSpPr>
        <p:spPr>
          <a:xfrm>
            <a:off x="6153150" y="4705350"/>
            <a:ext cx="1085850" cy="457200"/>
          </a:xfrm>
          <a:prstGeom prst="rect">
            <a:avLst/>
          </a:prstGeom>
          <a:noFill/>
          <a:ln w="0">
            <a:noFill/>
            <a:prstDash val="solid"/>
          </a:ln>
        </p:spPr>
        <p:txBody>
          <a:bodyPr wrap="square" lIns="0" tIns="0" rIns="0" bIns="0" anchor="t">
            <a:normAutofit fontScale="92699"/>
          </a:bodyPr>
          <a:lstStyle/>
          <a:p>
            <a:pPr algn="ctr">
              <a:lnSpc>
                <a:spcPct val="105000"/>
              </a:lnSpc>
              <a:buNone/>
              <a:defRPr sz="960" b="0" i="0">
                <a:solidFill>
                  <a:srgbClr val="6F665C"/>
                </a:solidFill>
                <a:latin typeface="Times New Roman" panose="02020603050405020304"/>
                <a:ea typeface="Times New Roman" panose="02020603050405020304"/>
                <a:cs typeface="Times New Roman" panose="02020603050405020304"/>
              </a:defRPr>
            </a:pPr>
            <a:r>
              <a:rPr sz="960" b="0" i="0">
                <a:solidFill>
                  <a:srgbClr val="6F665C"/>
                </a:solidFill>
                <a:latin typeface="Times New Roman" panose="02020603050405020304"/>
                <a:ea typeface="Times New Roman" panose="02020603050405020304"/>
                <a:cs typeface="Times New Roman" panose="02020603050405020304"/>
              </a:rPr>
              <a:t>Both chosen and unchosen payoffs are shown after each round.</a:t>
            </a:r>
            <a:endParaRPr sz="960" b="0" i="0">
              <a:solidFill>
                <a:srgbClr val="6F665C"/>
              </a:solidFill>
              <a:latin typeface="Times New Roman" panose="02020603050405020304"/>
              <a:ea typeface="Times New Roman" panose="02020603050405020304"/>
              <a:cs typeface="Times New Roman" panose="02020603050405020304"/>
            </a:endParaRPr>
          </a:p>
        </p:txBody>
      </p:sp>
      <p:sp>
        <p:nvSpPr>
          <p:cNvPr id="57" name="圆角矩形 56"/>
          <p:cNvSpPr>
            <a:spLocks noGrp="1"/>
          </p:cNvSpPr>
          <p:nvPr/>
        </p:nvSpPr>
        <p:spPr>
          <a:xfrm>
            <a:off x="8096250" y="2152650"/>
            <a:ext cx="3143250" cy="1104900"/>
          </a:xfrm>
          <a:prstGeom prst="roundRect">
            <a:avLst>
              <a:gd name="adj" fmla="val 6897"/>
            </a:avLst>
          </a:prstGeom>
          <a:solidFill>
            <a:srgbClr val="FFFFFF"/>
          </a:solidFill>
          <a:ln w="9525">
            <a:solidFill>
              <a:srgbClr val="D8CCBB"/>
            </a:solidFill>
            <a:prstDash val="solid"/>
          </a:ln>
        </p:spPr>
      </p:sp>
      <p:sp>
        <p:nvSpPr>
          <p:cNvPr id="58" name="圆角矩形 57"/>
          <p:cNvSpPr>
            <a:spLocks noGrp="1"/>
          </p:cNvSpPr>
          <p:nvPr/>
        </p:nvSpPr>
        <p:spPr>
          <a:xfrm>
            <a:off x="8096250" y="2152650"/>
            <a:ext cx="47625" cy="1104900"/>
          </a:xfrm>
          <a:prstGeom prst="roundRect">
            <a:avLst>
              <a:gd name="adj" fmla="val 40000"/>
            </a:avLst>
          </a:prstGeom>
          <a:solidFill>
            <a:srgbClr val="B77845"/>
          </a:solidFill>
          <a:ln w="9525">
            <a:solidFill>
              <a:srgbClr val="B77845"/>
            </a:solidFill>
            <a:prstDash val="solid"/>
          </a:ln>
        </p:spPr>
      </p:sp>
      <p:sp>
        <p:nvSpPr>
          <p:cNvPr id="59" name="矩形 58"/>
          <p:cNvSpPr>
            <a:spLocks noGrp="1"/>
          </p:cNvSpPr>
          <p:nvPr/>
        </p:nvSpPr>
        <p:spPr>
          <a:xfrm>
            <a:off x="8305800" y="23050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What the task is</a:t>
            </a:r>
            <a:endParaRPr sz="1350" b="1" i="0">
              <a:solidFill>
                <a:srgbClr val="B77845"/>
              </a:solidFill>
              <a:latin typeface="Times New Roman" panose="02020603050405020304"/>
              <a:ea typeface="Times New Roman" panose="02020603050405020304"/>
              <a:cs typeface="Times New Roman" panose="02020603050405020304"/>
            </a:endParaRPr>
          </a:p>
        </p:txBody>
      </p:sp>
      <p:sp>
        <p:nvSpPr>
          <p:cNvPr id="60" name="矩形 59"/>
          <p:cNvSpPr>
            <a:spLocks noGrp="1"/>
          </p:cNvSpPr>
          <p:nvPr/>
        </p:nvSpPr>
        <p:spPr>
          <a:xfrm>
            <a:off x="8305800" y="26098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A repeated, abstract, slot-machine-like allocation problem with three channels: alpha, beta, and gamma.</a:t>
            </a:r>
            <a:endParaRPr sz="1050" b="0" i="0">
              <a:solidFill>
                <a:srgbClr val="6F665C"/>
              </a:solidFill>
              <a:latin typeface="Times New Roman" panose="02020603050405020304"/>
              <a:ea typeface="Times New Roman" panose="02020603050405020304"/>
              <a:cs typeface="Times New Roman" panose="02020603050405020304"/>
            </a:endParaRPr>
          </a:p>
        </p:txBody>
      </p:sp>
      <p:sp>
        <p:nvSpPr>
          <p:cNvPr id="61" name="圆角矩形 60"/>
          <p:cNvSpPr>
            <a:spLocks noGrp="1"/>
          </p:cNvSpPr>
          <p:nvPr/>
        </p:nvSpPr>
        <p:spPr>
          <a:xfrm>
            <a:off x="8096250" y="3448050"/>
            <a:ext cx="3143250" cy="1104900"/>
          </a:xfrm>
          <a:prstGeom prst="roundRect">
            <a:avLst>
              <a:gd name="adj" fmla="val 6897"/>
            </a:avLst>
          </a:prstGeom>
          <a:solidFill>
            <a:srgbClr val="FFFFFF"/>
          </a:solidFill>
          <a:ln w="9525">
            <a:solidFill>
              <a:srgbClr val="D8CCBB"/>
            </a:solidFill>
            <a:prstDash val="solid"/>
          </a:ln>
        </p:spPr>
      </p:sp>
      <p:sp>
        <p:nvSpPr>
          <p:cNvPr id="62" name="圆角矩形 61"/>
          <p:cNvSpPr>
            <a:spLocks noGrp="1"/>
          </p:cNvSpPr>
          <p:nvPr/>
        </p:nvSpPr>
        <p:spPr>
          <a:xfrm>
            <a:off x="8096250" y="3448050"/>
            <a:ext cx="47625" cy="1104900"/>
          </a:xfrm>
          <a:prstGeom prst="roundRect">
            <a:avLst>
              <a:gd name="adj" fmla="val 40000"/>
            </a:avLst>
          </a:prstGeom>
          <a:solidFill>
            <a:srgbClr val="818A68"/>
          </a:solidFill>
          <a:ln w="9525">
            <a:solidFill>
              <a:srgbClr val="818A68"/>
            </a:solidFill>
            <a:prstDash val="solid"/>
          </a:ln>
        </p:spPr>
      </p:sp>
      <p:sp>
        <p:nvSpPr>
          <p:cNvPr id="63" name="矩形 62"/>
          <p:cNvSpPr>
            <a:spLocks noGrp="1"/>
          </p:cNvSpPr>
          <p:nvPr/>
        </p:nvSpPr>
        <p:spPr>
          <a:xfrm>
            <a:off x="8305800" y="36004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Why history matters</a:t>
            </a:r>
            <a:endParaRPr sz="1350" b="1" i="0">
              <a:solidFill>
                <a:srgbClr val="818A68"/>
              </a:solidFill>
              <a:latin typeface="Times New Roman" panose="02020603050405020304"/>
              <a:ea typeface="Times New Roman" panose="02020603050405020304"/>
              <a:cs typeface="Times New Roman" panose="02020603050405020304"/>
            </a:endParaRPr>
          </a:p>
        </p:txBody>
      </p:sp>
      <p:sp>
        <p:nvSpPr>
          <p:cNvPr id="64" name="矩形 63"/>
          <p:cNvSpPr>
            <a:spLocks noGrp="1"/>
          </p:cNvSpPr>
          <p:nvPr/>
        </p:nvSpPr>
        <p:spPr>
          <a:xfrm>
            <a:off x="8305800" y="39052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Payoffs are noisy but structured: short trends, state shifts, mean reversion, and random shocks all matter.</a:t>
            </a:r>
            <a:endParaRPr sz="1050" b="0" i="0">
              <a:solidFill>
                <a:srgbClr val="6F665C"/>
              </a:solidFill>
              <a:latin typeface="Times New Roman" panose="02020603050405020304"/>
              <a:ea typeface="Times New Roman" panose="02020603050405020304"/>
              <a:cs typeface="Times New Roman" panose="02020603050405020304"/>
            </a:endParaRPr>
          </a:p>
        </p:txBody>
      </p:sp>
      <p:sp>
        <p:nvSpPr>
          <p:cNvPr id="65" name="圆角矩形 64"/>
          <p:cNvSpPr>
            <a:spLocks noGrp="1"/>
          </p:cNvSpPr>
          <p:nvPr/>
        </p:nvSpPr>
        <p:spPr>
          <a:xfrm>
            <a:off x="8096250" y="4743450"/>
            <a:ext cx="3143250" cy="1104900"/>
          </a:xfrm>
          <a:prstGeom prst="roundRect">
            <a:avLst>
              <a:gd name="adj" fmla="val 6897"/>
            </a:avLst>
          </a:prstGeom>
          <a:solidFill>
            <a:srgbClr val="FFFFFF"/>
          </a:solidFill>
          <a:ln w="9525">
            <a:solidFill>
              <a:srgbClr val="D8CCBB"/>
            </a:solidFill>
            <a:prstDash val="solid"/>
          </a:ln>
        </p:spPr>
      </p:sp>
      <p:sp>
        <p:nvSpPr>
          <p:cNvPr id="66" name="圆角矩形 65"/>
          <p:cNvSpPr>
            <a:spLocks noGrp="1"/>
          </p:cNvSpPr>
          <p:nvPr/>
        </p:nvSpPr>
        <p:spPr>
          <a:xfrm>
            <a:off x="8096250" y="4743450"/>
            <a:ext cx="47625" cy="1104900"/>
          </a:xfrm>
          <a:prstGeom prst="roundRect">
            <a:avLst>
              <a:gd name="adj" fmla="val 40000"/>
            </a:avLst>
          </a:prstGeom>
          <a:solidFill>
            <a:srgbClr val="23384A"/>
          </a:solidFill>
          <a:ln w="9525">
            <a:solidFill>
              <a:srgbClr val="23384A"/>
            </a:solidFill>
            <a:prstDash val="solid"/>
          </a:ln>
        </p:spPr>
      </p:sp>
      <p:sp>
        <p:nvSpPr>
          <p:cNvPr id="67" name="矩形 66"/>
          <p:cNvSpPr>
            <a:spLocks noGrp="1"/>
          </p:cNvSpPr>
          <p:nvPr/>
        </p:nvSpPr>
        <p:spPr>
          <a:xfrm>
            <a:off x="8305800" y="48958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23384A"/>
                </a:solidFill>
                <a:latin typeface="Times New Roman" panose="02020603050405020304"/>
                <a:ea typeface="Times New Roman" panose="02020603050405020304"/>
                <a:cs typeface="Times New Roman" panose="02020603050405020304"/>
              </a:defRPr>
            </a:pPr>
            <a:r>
              <a:rPr sz="1350" b="1" i="0">
                <a:solidFill>
                  <a:srgbClr val="23384A"/>
                </a:solidFill>
                <a:latin typeface="Times New Roman" panose="02020603050405020304"/>
                <a:ea typeface="Times New Roman" panose="02020603050405020304"/>
                <a:cs typeface="Times New Roman" panose="02020603050405020304"/>
              </a:rPr>
              <a:t>What is manipulated</a:t>
            </a:r>
            <a:endParaRPr sz="1350" b="1" i="0">
              <a:solidFill>
                <a:srgbClr val="23384A"/>
              </a:solidFill>
              <a:latin typeface="Times New Roman" panose="02020603050405020304"/>
              <a:ea typeface="Times New Roman" panose="02020603050405020304"/>
              <a:cs typeface="Times New Roman" panose="02020603050405020304"/>
            </a:endParaRPr>
          </a:p>
        </p:txBody>
      </p:sp>
      <p:sp>
        <p:nvSpPr>
          <p:cNvPr id="68" name="矩形 67"/>
          <p:cNvSpPr>
            <a:spLocks noGrp="1"/>
          </p:cNvSpPr>
          <p:nvPr/>
        </p:nvSpPr>
        <p:spPr>
          <a:xfrm>
            <a:off x="8305800" y="52006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The interface stays the same. Treatments change when AI errors cluster and whether performance later recovers.</a:t>
            </a:r>
            <a:endParaRPr sz="1050" b="0" i="0">
              <a:solidFill>
                <a:srgbClr val="6F665C"/>
              </a:solidFill>
              <a:latin typeface="Times New Roman" panose="02020603050405020304"/>
              <a:ea typeface="Times New Roman" panose="02020603050405020304"/>
              <a:cs typeface="Times New Roman" panose="02020603050405020304"/>
            </a:endParaRPr>
          </a:p>
        </p:txBody>
      </p:sp>
      <p:sp>
        <p:nvSpPr>
          <p:cNvPr id="69" name="圆角矩形 68"/>
          <p:cNvSpPr>
            <a:spLocks noGrp="1"/>
          </p:cNvSpPr>
          <p:nvPr/>
        </p:nvSpPr>
        <p:spPr>
          <a:xfrm>
            <a:off x="914400" y="6076950"/>
            <a:ext cx="10325100" cy="419100"/>
          </a:xfrm>
          <a:prstGeom prst="roundRect">
            <a:avLst>
              <a:gd name="adj" fmla="val 18182"/>
            </a:avLst>
          </a:prstGeom>
          <a:solidFill>
            <a:srgbClr val="23384A"/>
          </a:solidFill>
          <a:ln w="9525">
            <a:solidFill>
              <a:srgbClr val="23384A"/>
            </a:solidFill>
            <a:prstDash val="solid"/>
          </a:ln>
        </p:spPr>
      </p:sp>
      <p:sp>
        <p:nvSpPr>
          <p:cNvPr id="70" name="矩形 69"/>
          <p:cNvSpPr>
            <a:spLocks noGrp="1"/>
          </p:cNvSpPr>
          <p:nvPr/>
        </p:nvSpPr>
        <p:spPr>
          <a:xfrm>
            <a:off x="1219200" y="6191250"/>
            <a:ext cx="9696450" cy="171450"/>
          </a:xfrm>
          <a:prstGeom prst="rect">
            <a:avLst/>
          </a:prstGeom>
          <a:noFill/>
          <a:ln w="0">
            <a:noFill/>
            <a:prstDash val="solid"/>
          </a:ln>
        </p:spPr>
        <p:txBody>
          <a:bodyPr wrap="square" lIns="0" tIns="0" rIns="0" bIns="0" anchor="t">
            <a:normAutofit fontScale="90144" lnSpcReduction="10000"/>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Repeated loop: history -&gt; self allocation -&gt; AI recommendation -&gt; final choice -&gt; full feedback -&gt; next-round reliance.</a:t>
            </a:r>
            <a:endParaRPr sz="1200" b="1" i="0">
              <a:solidFill>
                <a:srgbClr val="F5F0E6"/>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矩形 83"/>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DESIGN AND FLOW</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Now the design becomes simple: vary timing, match performance, observe later reliance</a:t>
            </a:r>
            <a:endParaRPr sz="2175" b="1" i="0">
              <a:solidFill>
                <a:srgbClr val="231D17"/>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top layer shows condition logic; the bottom layer shows what one participant actually experiences inside each round.</a:t>
            </a:r>
            <a:endParaRPr sz="1200" b="0" i="0">
              <a:solidFill>
                <a:srgbClr val="6F665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1866900"/>
            <a:ext cx="2476500" cy="209550"/>
          </a:xfrm>
          <a:prstGeom prst="rect">
            <a:avLst/>
          </a:prstGeom>
          <a:noFill/>
          <a:ln w="0">
            <a:noFill/>
            <a:prstDash val="solid"/>
          </a:ln>
        </p:spPr>
        <p:txBody>
          <a:bodyPr wrap="square" lIns="0" tIns="0" rIns="0" bIns="0" anchor="t">
            <a:normAutofit fontScale="99855" lnSpcReduction="10000"/>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Condition logic</a:t>
            </a:r>
            <a:endParaRPr sz="1275" b="1" i="0">
              <a:solidFill>
                <a:srgbClr val="231D17"/>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224790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Balanced Error</a:t>
            </a:r>
            <a:endParaRPr sz="1200" b="1" i="0">
              <a:solidFill>
                <a:srgbClr val="231D17"/>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2324100" y="2247900"/>
            <a:ext cx="838200" cy="266700"/>
          </a:xfrm>
          <a:prstGeom prst="roundRect">
            <a:avLst>
              <a:gd name="adj" fmla="val 21429"/>
            </a:avLst>
          </a:prstGeom>
          <a:solidFill>
            <a:srgbClr val="FFFFFF"/>
          </a:solidFill>
          <a:ln w="9525">
            <a:solidFill>
              <a:srgbClr val="D8CCBB"/>
            </a:solidFill>
            <a:prstDash val="solid"/>
          </a:ln>
        </p:spPr>
      </p:sp>
      <p:sp>
        <p:nvSpPr>
          <p:cNvPr id="10" name="矩形 9"/>
          <p:cNvSpPr>
            <a:spLocks noGrp="1"/>
          </p:cNvSpPr>
          <p:nvPr/>
        </p:nvSpPr>
        <p:spPr>
          <a:xfrm>
            <a:off x="23241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B1</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11" name="圆角矩形 10"/>
          <p:cNvSpPr>
            <a:spLocks noGrp="1"/>
          </p:cNvSpPr>
          <p:nvPr/>
        </p:nvSpPr>
        <p:spPr>
          <a:xfrm>
            <a:off x="3238500" y="2247900"/>
            <a:ext cx="838200" cy="266700"/>
          </a:xfrm>
          <a:prstGeom prst="roundRect">
            <a:avLst>
              <a:gd name="adj" fmla="val 21429"/>
            </a:avLst>
          </a:prstGeom>
          <a:solidFill>
            <a:srgbClr val="A1503F"/>
          </a:solidFill>
          <a:ln w="9525">
            <a:solidFill>
              <a:srgbClr val="A1503F"/>
            </a:solidFill>
            <a:prstDash val="solid"/>
          </a:ln>
        </p:spPr>
      </p:sp>
      <p:sp>
        <p:nvSpPr>
          <p:cNvPr id="12" name="矩形 11"/>
          <p:cNvSpPr>
            <a:spLocks noGrp="1"/>
          </p:cNvSpPr>
          <p:nvPr/>
        </p:nvSpPr>
        <p:spPr>
          <a:xfrm>
            <a:off x="32385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B2</a:t>
            </a:r>
            <a:endParaRPr sz="900" b="1" i="0">
              <a:solidFill>
                <a:srgbClr val="FFFFFF"/>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4152900" y="2247900"/>
            <a:ext cx="838200" cy="266700"/>
          </a:xfrm>
          <a:prstGeom prst="roundRect">
            <a:avLst>
              <a:gd name="adj" fmla="val 21429"/>
            </a:avLst>
          </a:prstGeom>
          <a:solidFill>
            <a:srgbClr val="FFFFFF"/>
          </a:solidFill>
          <a:ln w="9525">
            <a:solidFill>
              <a:srgbClr val="D8CCBB"/>
            </a:solidFill>
            <a:prstDash val="solid"/>
          </a:ln>
        </p:spPr>
      </p:sp>
      <p:sp>
        <p:nvSpPr>
          <p:cNvPr id="14" name="矩形 13"/>
          <p:cNvSpPr>
            <a:spLocks noGrp="1"/>
          </p:cNvSpPr>
          <p:nvPr/>
        </p:nvSpPr>
        <p:spPr>
          <a:xfrm>
            <a:off x="41529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B3</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15" name="圆角矩形 14"/>
          <p:cNvSpPr>
            <a:spLocks noGrp="1"/>
          </p:cNvSpPr>
          <p:nvPr/>
        </p:nvSpPr>
        <p:spPr>
          <a:xfrm>
            <a:off x="5067300" y="2247900"/>
            <a:ext cx="838200" cy="266700"/>
          </a:xfrm>
          <a:prstGeom prst="roundRect">
            <a:avLst>
              <a:gd name="adj" fmla="val 21429"/>
            </a:avLst>
          </a:prstGeom>
          <a:solidFill>
            <a:srgbClr val="A1503F"/>
          </a:solidFill>
          <a:ln w="9525">
            <a:solidFill>
              <a:srgbClr val="A1503F"/>
            </a:solidFill>
            <a:prstDash val="solid"/>
          </a:ln>
        </p:spPr>
      </p:sp>
      <p:sp>
        <p:nvSpPr>
          <p:cNvPr id="16" name="矩形 15"/>
          <p:cNvSpPr>
            <a:spLocks noGrp="1"/>
          </p:cNvSpPr>
          <p:nvPr/>
        </p:nvSpPr>
        <p:spPr>
          <a:xfrm>
            <a:off x="50673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B4</a:t>
            </a:r>
            <a:endParaRPr sz="900" b="1" i="0">
              <a:solidFill>
                <a:srgbClr val="FFFFFF"/>
              </a:solidFill>
              <a:latin typeface="Times New Roman" panose="02020603050405020304"/>
              <a:ea typeface="Times New Roman" panose="02020603050405020304"/>
              <a:cs typeface="Times New Roman" panose="02020603050405020304"/>
            </a:endParaRPr>
          </a:p>
        </p:txBody>
      </p:sp>
      <p:sp>
        <p:nvSpPr>
          <p:cNvPr id="17" name="圆角矩形 16"/>
          <p:cNvSpPr>
            <a:spLocks noGrp="1"/>
          </p:cNvSpPr>
          <p:nvPr/>
        </p:nvSpPr>
        <p:spPr>
          <a:xfrm>
            <a:off x="5981700" y="2247900"/>
            <a:ext cx="838200" cy="266700"/>
          </a:xfrm>
          <a:prstGeom prst="roundRect">
            <a:avLst>
              <a:gd name="adj" fmla="val 21429"/>
            </a:avLst>
          </a:prstGeom>
          <a:solidFill>
            <a:srgbClr val="FFFFFF"/>
          </a:solidFill>
          <a:ln w="9525">
            <a:solidFill>
              <a:srgbClr val="D8CCBB"/>
            </a:solidFill>
            <a:prstDash val="solid"/>
          </a:ln>
        </p:spPr>
      </p:sp>
      <p:sp>
        <p:nvSpPr>
          <p:cNvPr id="18" name="矩形 17"/>
          <p:cNvSpPr>
            <a:spLocks noGrp="1"/>
          </p:cNvSpPr>
          <p:nvPr/>
        </p:nvSpPr>
        <p:spPr>
          <a:xfrm>
            <a:off x="59817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19" name="圆角矩形 18"/>
          <p:cNvSpPr>
            <a:spLocks noGrp="1"/>
          </p:cNvSpPr>
          <p:nvPr/>
        </p:nvSpPr>
        <p:spPr>
          <a:xfrm>
            <a:off x="6896100" y="2247900"/>
            <a:ext cx="838200" cy="266700"/>
          </a:xfrm>
          <a:prstGeom prst="roundRect">
            <a:avLst>
              <a:gd name="adj" fmla="val 21429"/>
            </a:avLst>
          </a:prstGeom>
          <a:solidFill>
            <a:srgbClr val="DCE1D0"/>
          </a:solidFill>
          <a:ln w="9525">
            <a:solidFill>
              <a:srgbClr val="818A68"/>
            </a:solidFill>
            <a:prstDash val="solid"/>
          </a:ln>
        </p:spPr>
      </p:sp>
      <p:sp>
        <p:nvSpPr>
          <p:cNvPr id="20" name="矩形 19"/>
          <p:cNvSpPr>
            <a:spLocks noGrp="1"/>
          </p:cNvSpPr>
          <p:nvPr/>
        </p:nvSpPr>
        <p:spPr>
          <a:xfrm>
            <a:off x="68961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914400" y="272415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Early Shock</a:t>
            </a:r>
            <a:endParaRPr sz="1200" b="1" i="0">
              <a:solidFill>
                <a:srgbClr val="231D17"/>
              </a:solidFill>
              <a:latin typeface="Times New Roman" panose="02020603050405020304"/>
              <a:ea typeface="Times New Roman" panose="02020603050405020304"/>
              <a:cs typeface="Times New Roman" panose="02020603050405020304"/>
            </a:endParaRPr>
          </a:p>
        </p:txBody>
      </p:sp>
      <p:sp>
        <p:nvSpPr>
          <p:cNvPr id="22" name="圆角矩形 21"/>
          <p:cNvSpPr>
            <a:spLocks noGrp="1"/>
          </p:cNvSpPr>
          <p:nvPr/>
        </p:nvSpPr>
        <p:spPr>
          <a:xfrm>
            <a:off x="2324100" y="2724150"/>
            <a:ext cx="838200" cy="266700"/>
          </a:xfrm>
          <a:prstGeom prst="roundRect">
            <a:avLst>
              <a:gd name="adj" fmla="val 21429"/>
            </a:avLst>
          </a:prstGeom>
          <a:solidFill>
            <a:srgbClr val="A1503F"/>
          </a:solidFill>
          <a:ln w="9525">
            <a:solidFill>
              <a:srgbClr val="A1503F"/>
            </a:solidFill>
            <a:prstDash val="solid"/>
          </a:ln>
        </p:spPr>
      </p:sp>
      <p:sp>
        <p:nvSpPr>
          <p:cNvPr id="23" name="矩形 22"/>
          <p:cNvSpPr>
            <a:spLocks noGrp="1"/>
          </p:cNvSpPr>
          <p:nvPr/>
        </p:nvSpPr>
        <p:spPr>
          <a:xfrm>
            <a:off x="23241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B1</a:t>
            </a:r>
            <a:endParaRPr sz="900" b="1" i="0">
              <a:solidFill>
                <a:srgbClr val="FFFFFF"/>
              </a:solidFill>
              <a:latin typeface="Times New Roman" panose="02020603050405020304"/>
              <a:ea typeface="Times New Roman" panose="02020603050405020304"/>
              <a:cs typeface="Times New Roman" panose="02020603050405020304"/>
            </a:endParaRPr>
          </a:p>
        </p:txBody>
      </p:sp>
      <p:sp>
        <p:nvSpPr>
          <p:cNvPr id="24" name="圆角矩形 23"/>
          <p:cNvSpPr>
            <a:spLocks noGrp="1"/>
          </p:cNvSpPr>
          <p:nvPr/>
        </p:nvSpPr>
        <p:spPr>
          <a:xfrm>
            <a:off x="3238500" y="2724150"/>
            <a:ext cx="838200" cy="266700"/>
          </a:xfrm>
          <a:prstGeom prst="roundRect">
            <a:avLst>
              <a:gd name="adj" fmla="val 21429"/>
            </a:avLst>
          </a:prstGeom>
          <a:solidFill>
            <a:srgbClr val="A1503F"/>
          </a:solidFill>
          <a:ln w="9525">
            <a:solidFill>
              <a:srgbClr val="A1503F"/>
            </a:solidFill>
            <a:prstDash val="solid"/>
          </a:ln>
        </p:spPr>
      </p:sp>
      <p:sp>
        <p:nvSpPr>
          <p:cNvPr id="25" name="矩形 24"/>
          <p:cNvSpPr>
            <a:spLocks noGrp="1"/>
          </p:cNvSpPr>
          <p:nvPr/>
        </p:nvSpPr>
        <p:spPr>
          <a:xfrm>
            <a:off x="32385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B2</a:t>
            </a:r>
            <a:endParaRPr sz="900" b="1" i="0">
              <a:solidFill>
                <a:srgbClr val="FFFFFF"/>
              </a:solidFill>
              <a:latin typeface="Times New Roman" panose="02020603050405020304"/>
              <a:ea typeface="Times New Roman" panose="02020603050405020304"/>
              <a:cs typeface="Times New Roman" panose="02020603050405020304"/>
            </a:endParaRPr>
          </a:p>
        </p:txBody>
      </p:sp>
      <p:sp>
        <p:nvSpPr>
          <p:cNvPr id="26" name="圆角矩形 25"/>
          <p:cNvSpPr>
            <a:spLocks noGrp="1"/>
          </p:cNvSpPr>
          <p:nvPr/>
        </p:nvSpPr>
        <p:spPr>
          <a:xfrm>
            <a:off x="4152900" y="2724150"/>
            <a:ext cx="838200" cy="266700"/>
          </a:xfrm>
          <a:prstGeom prst="roundRect">
            <a:avLst>
              <a:gd name="adj" fmla="val 21429"/>
            </a:avLst>
          </a:prstGeom>
          <a:solidFill>
            <a:srgbClr val="FFFFFF"/>
          </a:solidFill>
          <a:ln w="9525">
            <a:solidFill>
              <a:srgbClr val="D8CCBB"/>
            </a:solidFill>
            <a:prstDash val="solid"/>
          </a:ln>
        </p:spPr>
      </p:sp>
      <p:sp>
        <p:nvSpPr>
          <p:cNvPr id="27" name="矩形 26"/>
          <p:cNvSpPr>
            <a:spLocks noGrp="1"/>
          </p:cNvSpPr>
          <p:nvPr/>
        </p:nvSpPr>
        <p:spPr>
          <a:xfrm>
            <a:off x="41529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B3</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28" name="圆角矩形 27"/>
          <p:cNvSpPr>
            <a:spLocks noGrp="1"/>
          </p:cNvSpPr>
          <p:nvPr/>
        </p:nvSpPr>
        <p:spPr>
          <a:xfrm>
            <a:off x="5067300" y="2724150"/>
            <a:ext cx="838200" cy="266700"/>
          </a:xfrm>
          <a:prstGeom prst="roundRect">
            <a:avLst>
              <a:gd name="adj" fmla="val 21429"/>
            </a:avLst>
          </a:prstGeom>
          <a:solidFill>
            <a:srgbClr val="FFFFFF"/>
          </a:solidFill>
          <a:ln w="9525">
            <a:solidFill>
              <a:srgbClr val="D8CCBB"/>
            </a:solidFill>
            <a:prstDash val="solid"/>
          </a:ln>
        </p:spPr>
      </p:sp>
      <p:sp>
        <p:nvSpPr>
          <p:cNvPr id="29" name="矩形 28"/>
          <p:cNvSpPr>
            <a:spLocks noGrp="1"/>
          </p:cNvSpPr>
          <p:nvPr/>
        </p:nvSpPr>
        <p:spPr>
          <a:xfrm>
            <a:off x="50673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B4</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30" name="圆角矩形 29"/>
          <p:cNvSpPr>
            <a:spLocks noGrp="1"/>
          </p:cNvSpPr>
          <p:nvPr/>
        </p:nvSpPr>
        <p:spPr>
          <a:xfrm>
            <a:off x="5981700" y="2724150"/>
            <a:ext cx="838200" cy="266700"/>
          </a:xfrm>
          <a:prstGeom prst="roundRect">
            <a:avLst>
              <a:gd name="adj" fmla="val 21429"/>
            </a:avLst>
          </a:prstGeom>
          <a:solidFill>
            <a:srgbClr val="FFFFFF"/>
          </a:solidFill>
          <a:ln w="9525">
            <a:solidFill>
              <a:srgbClr val="D8CCBB"/>
            </a:solidFill>
            <a:prstDash val="solid"/>
          </a:ln>
        </p:spPr>
      </p:sp>
      <p:sp>
        <p:nvSpPr>
          <p:cNvPr id="31" name="矩形 30"/>
          <p:cNvSpPr>
            <a:spLocks noGrp="1"/>
          </p:cNvSpPr>
          <p:nvPr/>
        </p:nvSpPr>
        <p:spPr>
          <a:xfrm>
            <a:off x="59817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32" name="圆角矩形 31"/>
          <p:cNvSpPr>
            <a:spLocks noGrp="1"/>
          </p:cNvSpPr>
          <p:nvPr/>
        </p:nvSpPr>
        <p:spPr>
          <a:xfrm>
            <a:off x="6896100" y="2724150"/>
            <a:ext cx="838200" cy="266700"/>
          </a:xfrm>
          <a:prstGeom prst="roundRect">
            <a:avLst>
              <a:gd name="adj" fmla="val 21429"/>
            </a:avLst>
          </a:prstGeom>
          <a:solidFill>
            <a:srgbClr val="DCE1D0"/>
          </a:solidFill>
          <a:ln w="9525">
            <a:solidFill>
              <a:srgbClr val="818A68"/>
            </a:solidFill>
            <a:prstDash val="solid"/>
          </a:ln>
        </p:spPr>
      </p:sp>
      <p:sp>
        <p:nvSpPr>
          <p:cNvPr id="33" name="矩形 32"/>
          <p:cNvSpPr>
            <a:spLocks noGrp="1"/>
          </p:cNvSpPr>
          <p:nvPr/>
        </p:nvSpPr>
        <p:spPr>
          <a:xfrm>
            <a:off x="68961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34" name="矩形 33"/>
          <p:cNvSpPr>
            <a:spLocks noGrp="1"/>
          </p:cNvSpPr>
          <p:nvPr/>
        </p:nvSpPr>
        <p:spPr>
          <a:xfrm>
            <a:off x="914400" y="320040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Mid Shock</a:t>
            </a:r>
            <a:endParaRPr sz="1200" b="1" i="0">
              <a:solidFill>
                <a:srgbClr val="231D17"/>
              </a:solidFill>
              <a:latin typeface="Times New Roman" panose="02020603050405020304"/>
              <a:ea typeface="Times New Roman" panose="02020603050405020304"/>
              <a:cs typeface="Times New Roman" panose="02020603050405020304"/>
            </a:endParaRPr>
          </a:p>
        </p:txBody>
      </p:sp>
      <p:sp>
        <p:nvSpPr>
          <p:cNvPr id="35" name="圆角矩形 34"/>
          <p:cNvSpPr>
            <a:spLocks noGrp="1"/>
          </p:cNvSpPr>
          <p:nvPr/>
        </p:nvSpPr>
        <p:spPr>
          <a:xfrm>
            <a:off x="2324100" y="3200400"/>
            <a:ext cx="838200" cy="266700"/>
          </a:xfrm>
          <a:prstGeom prst="roundRect">
            <a:avLst>
              <a:gd name="adj" fmla="val 21429"/>
            </a:avLst>
          </a:prstGeom>
          <a:solidFill>
            <a:srgbClr val="FFFFFF"/>
          </a:solidFill>
          <a:ln w="9525">
            <a:solidFill>
              <a:srgbClr val="D8CCBB"/>
            </a:solidFill>
            <a:prstDash val="solid"/>
          </a:ln>
        </p:spPr>
      </p:sp>
      <p:sp>
        <p:nvSpPr>
          <p:cNvPr id="36" name="矩形 35"/>
          <p:cNvSpPr>
            <a:spLocks noGrp="1"/>
          </p:cNvSpPr>
          <p:nvPr/>
        </p:nvSpPr>
        <p:spPr>
          <a:xfrm>
            <a:off x="23241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B1</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37" name="圆角矩形 36"/>
          <p:cNvSpPr>
            <a:spLocks noGrp="1"/>
          </p:cNvSpPr>
          <p:nvPr/>
        </p:nvSpPr>
        <p:spPr>
          <a:xfrm>
            <a:off x="3238500" y="3200400"/>
            <a:ext cx="838200" cy="266700"/>
          </a:xfrm>
          <a:prstGeom prst="roundRect">
            <a:avLst>
              <a:gd name="adj" fmla="val 21429"/>
            </a:avLst>
          </a:prstGeom>
          <a:solidFill>
            <a:srgbClr val="FFFFFF"/>
          </a:solidFill>
          <a:ln w="9525">
            <a:solidFill>
              <a:srgbClr val="D8CCBB"/>
            </a:solidFill>
            <a:prstDash val="solid"/>
          </a:ln>
        </p:spPr>
      </p:sp>
      <p:sp>
        <p:nvSpPr>
          <p:cNvPr id="38" name="矩形 37"/>
          <p:cNvSpPr>
            <a:spLocks noGrp="1"/>
          </p:cNvSpPr>
          <p:nvPr/>
        </p:nvSpPr>
        <p:spPr>
          <a:xfrm>
            <a:off x="32385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B2</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39" name="圆角矩形 38"/>
          <p:cNvSpPr>
            <a:spLocks noGrp="1"/>
          </p:cNvSpPr>
          <p:nvPr/>
        </p:nvSpPr>
        <p:spPr>
          <a:xfrm>
            <a:off x="4152900" y="3200400"/>
            <a:ext cx="838200" cy="266700"/>
          </a:xfrm>
          <a:prstGeom prst="roundRect">
            <a:avLst>
              <a:gd name="adj" fmla="val 21429"/>
            </a:avLst>
          </a:prstGeom>
          <a:solidFill>
            <a:srgbClr val="A1503F"/>
          </a:solidFill>
          <a:ln w="9525">
            <a:solidFill>
              <a:srgbClr val="A1503F"/>
            </a:solidFill>
            <a:prstDash val="solid"/>
          </a:ln>
        </p:spPr>
      </p:sp>
      <p:sp>
        <p:nvSpPr>
          <p:cNvPr id="40" name="矩形 39"/>
          <p:cNvSpPr>
            <a:spLocks noGrp="1"/>
          </p:cNvSpPr>
          <p:nvPr/>
        </p:nvSpPr>
        <p:spPr>
          <a:xfrm>
            <a:off x="41529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B3</a:t>
            </a:r>
            <a:endParaRPr sz="900" b="1" i="0">
              <a:solidFill>
                <a:srgbClr val="FFFFFF"/>
              </a:solidFill>
              <a:latin typeface="Times New Roman" panose="02020603050405020304"/>
              <a:ea typeface="Times New Roman" panose="02020603050405020304"/>
              <a:cs typeface="Times New Roman" panose="02020603050405020304"/>
            </a:endParaRPr>
          </a:p>
        </p:txBody>
      </p:sp>
      <p:sp>
        <p:nvSpPr>
          <p:cNvPr id="41" name="圆角矩形 40"/>
          <p:cNvSpPr>
            <a:spLocks noGrp="1"/>
          </p:cNvSpPr>
          <p:nvPr/>
        </p:nvSpPr>
        <p:spPr>
          <a:xfrm>
            <a:off x="5067300" y="3200400"/>
            <a:ext cx="838200" cy="266700"/>
          </a:xfrm>
          <a:prstGeom prst="roundRect">
            <a:avLst>
              <a:gd name="adj" fmla="val 21429"/>
            </a:avLst>
          </a:prstGeom>
          <a:solidFill>
            <a:srgbClr val="A1503F"/>
          </a:solidFill>
          <a:ln w="9525">
            <a:solidFill>
              <a:srgbClr val="A1503F"/>
            </a:solidFill>
            <a:prstDash val="solid"/>
          </a:ln>
        </p:spPr>
      </p:sp>
      <p:sp>
        <p:nvSpPr>
          <p:cNvPr id="42" name="矩形 41"/>
          <p:cNvSpPr>
            <a:spLocks noGrp="1"/>
          </p:cNvSpPr>
          <p:nvPr/>
        </p:nvSpPr>
        <p:spPr>
          <a:xfrm>
            <a:off x="50673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B4</a:t>
            </a:r>
            <a:endParaRPr sz="900" b="1" i="0">
              <a:solidFill>
                <a:srgbClr val="FFFFFF"/>
              </a:solidFill>
              <a:latin typeface="Times New Roman" panose="02020603050405020304"/>
              <a:ea typeface="Times New Roman" panose="02020603050405020304"/>
              <a:cs typeface="Times New Roman" panose="02020603050405020304"/>
            </a:endParaRPr>
          </a:p>
        </p:txBody>
      </p:sp>
      <p:sp>
        <p:nvSpPr>
          <p:cNvPr id="43" name="圆角矩形 42"/>
          <p:cNvSpPr>
            <a:spLocks noGrp="1"/>
          </p:cNvSpPr>
          <p:nvPr/>
        </p:nvSpPr>
        <p:spPr>
          <a:xfrm>
            <a:off x="5981700" y="3200400"/>
            <a:ext cx="838200" cy="266700"/>
          </a:xfrm>
          <a:prstGeom prst="roundRect">
            <a:avLst>
              <a:gd name="adj" fmla="val 21429"/>
            </a:avLst>
          </a:prstGeom>
          <a:solidFill>
            <a:srgbClr val="FFFFFF"/>
          </a:solidFill>
          <a:ln w="9525">
            <a:solidFill>
              <a:srgbClr val="D8CCBB"/>
            </a:solidFill>
            <a:prstDash val="solid"/>
          </a:ln>
        </p:spPr>
      </p:sp>
      <p:sp>
        <p:nvSpPr>
          <p:cNvPr id="44" name="矩形 43"/>
          <p:cNvSpPr>
            <a:spLocks noGrp="1"/>
          </p:cNvSpPr>
          <p:nvPr/>
        </p:nvSpPr>
        <p:spPr>
          <a:xfrm>
            <a:off x="59817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45" name="圆角矩形 44"/>
          <p:cNvSpPr>
            <a:spLocks noGrp="1"/>
          </p:cNvSpPr>
          <p:nvPr/>
        </p:nvSpPr>
        <p:spPr>
          <a:xfrm>
            <a:off x="6896100" y="3200400"/>
            <a:ext cx="838200" cy="266700"/>
          </a:xfrm>
          <a:prstGeom prst="roundRect">
            <a:avLst>
              <a:gd name="adj" fmla="val 21429"/>
            </a:avLst>
          </a:prstGeom>
          <a:solidFill>
            <a:srgbClr val="DCE1D0"/>
          </a:solidFill>
          <a:ln w="9525">
            <a:solidFill>
              <a:srgbClr val="818A68"/>
            </a:solidFill>
            <a:prstDash val="solid"/>
          </a:ln>
        </p:spPr>
      </p:sp>
      <p:sp>
        <p:nvSpPr>
          <p:cNvPr id="46" name="矩形 45"/>
          <p:cNvSpPr>
            <a:spLocks noGrp="1"/>
          </p:cNvSpPr>
          <p:nvPr/>
        </p:nvSpPr>
        <p:spPr>
          <a:xfrm>
            <a:off x="68961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endParaRPr sz="900" b="0" i="0">
              <a:solidFill>
                <a:srgbClr val="6F665C"/>
              </a:solidFill>
              <a:latin typeface="Times New Roman" panose="02020603050405020304"/>
              <a:ea typeface="Times New Roman" panose="02020603050405020304"/>
              <a:cs typeface="Times New Roman" panose="02020603050405020304"/>
            </a:endParaRPr>
          </a:p>
        </p:txBody>
      </p:sp>
      <p:sp>
        <p:nvSpPr>
          <p:cNvPr id="47" name="圆角矩形 46"/>
          <p:cNvSpPr>
            <a:spLocks noGrp="1"/>
          </p:cNvSpPr>
          <p:nvPr/>
        </p:nvSpPr>
        <p:spPr>
          <a:xfrm>
            <a:off x="7448550" y="1866900"/>
            <a:ext cx="1104900" cy="247650"/>
          </a:xfrm>
          <a:prstGeom prst="roundRect">
            <a:avLst>
              <a:gd name="adj" fmla="val 50000"/>
            </a:avLst>
          </a:prstGeom>
          <a:solidFill>
            <a:srgbClr val="E8C8BF"/>
          </a:solidFill>
          <a:ln w="9525">
            <a:solidFill>
              <a:srgbClr val="A1503F"/>
            </a:solidFill>
            <a:prstDash val="solid"/>
          </a:ln>
        </p:spPr>
      </p:sp>
      <p:sp>
        <p:nvSpPr>
          <p:cNvPr id="48" name="矩形 47"/>
          <p:cNvSpPr>
            <a:spLocks noGrp="1"/>
          </p:cNvSpPr>
          <p:nvPr/>
        </p:nvSpPr>
        <p:spPr>
          <a:xfrm>
            <a:off x="7543800" y="1914525"/>
            <a:ext cx="91440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error cluster</a:t>
            </a:r>
            <a:endParaRPr sz="975" b="1" i="0">
              <a:solidFill>
                <a:srgbClr val="231D17"/>
              </a:solidFill>
              <a:latin typeface="Times New Roman" panose="02020603050405020304"/>
              <a:ea typeface="Times New Roman" panose="02020603050405020304"/>
              <a:cs typeface="Times New Roman" panose="02020603050405020304"/>
            </a:endParaRPr>
          </a:p>
        </p:txBody>
      </p:sp>
      <p:sp>
        <p:nvSpPr>
          <p:cNvPr id="49" name="圆角矩形 48"/>
          <p:cNvSpPr>
            <a:spLocks noGrp="1"/>
          </p:cNvSpPr>
          <p:nvPr/>
        </p:nvSpPr>
        <p:spPr>
          <a:xfrm>
            <a:off x="8705850" y="1866900"/>
            <a:ext cx="1200150" cy="247650"/>
          </a:xfrm>
          <a:prstGeom prst="roundRect">
            <a:avLst>
              <a:gd name="adj" fmla="val 50000"/>
            </a:avLst>
          </a:prstGeom>
          <a:solidFill>
            <a:srgbClr val="DCE1D0"/>
          </a:solidFill>
          <a:ln w="9525">
            <a:solidFill>
              <a:srgbClr val="818A68"/>
            </a:solidFill>
            <a:prstDash val="solid"/>
          </a:ln>
        </p:spPr>
      </p:sp>
      <p:sp>
        <p:nvSpPr>
          <p:cNvPr id="50" name="矩形 49"/>
          <p:cNvSpPr>
            <a:spLocks noGrp="1"/>
          </p:cNvSpPr>
          <p:nvPr/>
        </p:nvSpPr>
        <p:spPr>
          <a:xfrm>
            <a:off x="8801100" y="1914525"/>
            <a:ext cx="100965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recovery block</a:t>
            </a:r>
            <a:endParaRPr sz="975" b="1" i="0">
              <a:solidFill>
                <a:srgbClr val="231D17"/>
              </a:solidFill>
              <a:latin typeface="Times New Roman" panose="02020603050405020304"/>
              <a:ea typeface="Times New Roman" panose="02020603050405020304"/>
              <a:cs typeface="Times New Roman" panose="02020603050405020304"/>
            </a:endParaRPr>
          </a:p>
        </p:txBody>
      </p:sp>
      <p:sp>
        <p:nvSpPr>
          <p:cNvPr id="51" name="圆角矩形 50"/>
          <p:cNvSpPr>
            <a:spLocks noGrp="1"/>
          </p:cNvSpPr>
          <p:nvPr/>
        </p:nvSpPr>
        <p:spPr>
          <a:xfrm>
            <a:off x="10058400" y="1866900"/>
            <a:ext cx="1143000" cy="247650"/>
          </a:xfrm>
          <a:prstGeom prst="roundRect">
            <a:avLst>
              <a:gd name="adj" fmla="val 50000"/>
            </a:avLst>
          </a:prstGeom>
          <a:solidFill>
            <a:srgbClr val="FFFFFF"/>
          </a:solidFill>
          <a:ln w="9525">
            <a:solidFill>
              <a:srgbClr val="D8CCBB"/>
            </a:solidFill>
            <a:prstDash val="solid"/>
          </a:ln>
        </p:spPr>
      </p:sp>
      <p:sp>
        <p:nvSpPr>
          <p:cNvPr id="52" name="矩形 51"/>
          <p:cNvSpPr>
            <a:spLocks noGrp="1"/>
          </p:cNvSpPr>
          <p:nvPr/>
        </p:nvSpPr>
        <p:spPr>
          <a:xfrm>
            <a:off x="10153650" y="1914525"/>
            <a:ext cx="95250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matched block</a:t>
            </a:r>
            <a:endParaRPr sz="975" b="1" i="0">
              <a:solidFill>
                <a:srgbClr val="231D17"/>
              </a:solidFill>
              <a:latin typeface="Times New Roman" panose="02020603050405020304"/>
              <a:ea typeface="Times New Roman" panose="02020603050405020304"/>
              <a:cs typeface="Times New Roman" panose="02020603050405020304"/>
            </a:endParaRPr>
          </a:p>
        </p:txBody>
      </p:sp>
      <p:sp>
        <p:nvSpPr>
          <p:cNvPr id="53" name="矩形 52"/>
          <p:cNvSpPr>
            <a:spLocks noGrp="1"/>
          </p:cNvSpPr>
          <p:nvPr/>
        </p:nvSpPr>
        <p:spPr>
          <a:xfrm>
            <a:off x="914400" y="3771900"/>
            <a:ext cx="1714500" cy="209550"/>
          </a:xfrm>
          <a:prstGeom prst="rect">
            <a:avLst/>
          </a:prstGeom>
          <a:noFill/>
          <a:ln w="0">
            <a:noFill/>
            <a:prstDash val="solid"/>
          </a:ln>
        </p:spPr>
        <p:txBody>
          <a:bodyPr wrap="square" lIns="0" tIns="0" rIns="0" bIns="0" anchor="t">
            <a:normAutofit fontScale="99855" lnSpcReduction="10000"/>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Performance parity</a:t>
            </a:r>
            <a:endParaRPr sz="1275" b="1" i="0">
              <a:solidFill>
                <a:srgbClr val="231D17"/>
              </a:solidFill>
              <a:latin typeface="Times New Roman" panose="02020603050405020304"/>
              <a:ea typeface="Times New Roman" panose="02020603050405020304"/>
              <a:cs typeface="Times New Roman" panose="02020603050405020304"/>
            </a:endParaRPr>
          </a:p>
        </p:txBody>
      </p:sp>
      <p:sp>
        <p:nvSpPr>
          <p:cNvPr id="54" name="圆角矩形 53"/>
          <p:cNvSpPr>
            <a:spLocks noGrp="1"/>
          </p:cNvSpPr>
          <p:nvPr/>
        </p:nvSpPr>
        <p:spPr>
          <a:xfrm>
            <a:off x="914400" y="4095750"/>
            <a:ext cx="2381250" cy="590550"/>
          </a:xfrm>
          <a:prstGeom prst="roundRect">
            <a:avLst>
              <a:gd name="adj" fmla="val 19355"/>
            </a:avLst>
          </a:prstGeom>
          <a:solidFill>
            <a:srgbClr val="FFFFFF"/>
          </a:solidFill>
          <a:ln w="9525">
            <a:solidFill>
              <a:srgbClr val="D8CCBB"/>
            </a:solidFill>
            <a:prstDash val="solid"/>
          </a:ln>
        </p:spPr>
      </p:sp>
      <p:sp>
        <p:nvSpPr>
          <p:cNvPr id="55" name="圆角矩形 54"/>
          <p:cNvSpPr>
            <a:spLocks noGrp="1"/>
          </p:cNvSpPr>
          <p:nvPr/>
        </p:nvSpPr>
        <p:spPr>
          <a:xfrm>
            <a:off x="914400" y="4095750"/>
            <a:ext cx="57150" cy="590550"/>
          </a:xfrm>
          <a:prstGeom prst="roundRect">
            <a:avLst>
              <a:gd name="adj" fmla="val 33333"/>
            </a:avLst>
          </a:prstGeom>
          <a:solidFill>
            <a:srgbClr val="B77845"/>
          </a:solidFill>
          <a:ln w="9525">
            <a:solidFill>
              <a:srgbClr val="B77845"/>
            </a:solidFill>
            <a:prstDash val="solid"/>
          </a:ln>
        </p:spPr>
      </p:sp>
      <p:sp>
        <p:nvSpPr>
          <p:cNvPr id="56" name="矩形 55"/>
          <p:cNvSpPr>
            <a:spLocks noGrp="1"/>
          </p:cNvSpPr>
          <p:nvPr/>
        </p:nvSpPr>
        <p:spPr>
          <a:xfrm>
            <a:off x="106680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total payoff</a:t>
            </a:r>
            <a:endParaRPr sz="1125" b="1" i="0">
              <a:solidFill>
                <a:srgbClr val="231D17"/>
              </a:solidFill>
              <a:latin typeface="Times New Roman" panose="02020603050405020304"/>
              <a:ea typeface="Times New Roman" panose="02020603050405020304"/>
              <a:cs typeface="Times New Roman" panose="02020603050405020304"/>
            </a:endParaRPr>
          </a:p>
        </p:txBody>
      </p:sp>
      <p:sp>
        <p:nvSpPr>
          <p:cNvPr id="57" name="圆角矩形 56"/>
          <p:cNvSpPr>
            <a:spLocks noGrp="1"/>
          </p:cNvSpPr>
          <p:nvPr/>
        </p:nvSpPr>
        <p:spPr>
          <a:xfrm>
            <a:off x="3486150" y="4095750"/>
            <a:ext cx="2381250" cy="590550"/>
          </a:xfrm>
          <a:prstGeom prst="roundRect">
            <a:avLst>
              <a:gd name="adj" fmla="val 19355"/>
            </a:avLst>
          </a:prstGeom>
          <a:solidFill>
            <a:srgbClr val="FFFFFF"/>
          </a:solidFill>
          <a:ln w="9525">
            <a:solidFill>
              <a:srgbClr val="D8CCBB"/>
            </a:solidFill>
            <a:prstDash val="solid"/>
          </a:ln>
        </p:spPr>
      </p:sp>
      <p:sp>
        <p:nvSpPr>
          <p:cNvPr id="58" name="圆角矩形 57"/>
          <p:cNvSpPr>
            <a:spLocks noGrp="1"/>
          </p:cNvSpPr>
          <p:nvPr/>
        </p:nvSpPr>
        <p:spPr>
          <a:xfrm>
            <a:off x="3486150" y="4095750"/>
            <a:ext cx="57150" cy="590550"/>
          </a:xfrm>
          <a:prstGeom prst="roundRect">
            <a:avLst>
              <a:gd name="adj" fmla="val 33333"/>
            </a:avLst>
          </a:prstGeom>
          <a:solidFill>
            <a:srgbClr val="818A68"/>
          </a:solidFill>
          <a:ln w="9525">
            <a:solidFill>
              <a:srgbClr val="818A68"/>
            </a:solidFill>
            <a:prstDash val="solid"/>
          </a:ln>
        </p:spPr>
      </p:sp>
      <p:sp>
        <p:nvSpPr>
          <p:cNvPr id="59" name="矩形 58"/>
          <p:cNvSpPr>
            <a:spLocks noGrp="1"/>
          </p:cNvSpPr>
          <p:nvPr/>
        </p:nvSpPr>
        <p:spPr>
          <a:xfrm>
            <a:off x="363855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error count</a:t>
            </a:r>
            <a:endParaRPr sz="1125" b="1" i="0">
              <a:solidFill>
                <a:srgbClr val="231D17"/>
              </a:solidFill>
              <a:latin typeface="Times New Roman" panose="02020603050405020304"/>
              <a:ea typeface="Times New Roman" panose="02020603050405020304"/>
              <a:cs typeface="Times New Roman" panose="02020603050405020304"/>
            </a:endParaRPr>
          </a:p>
        </p:txBody>
      </p:sp>
      <p:sp>
        <p:nvSpPr>
          <p:cNvPr id="60" name="圆角矩形 59"/>
          <p:cNvSpPr>
            <a:spLocks noGrp="1"/>
          </p:cNvSpPr>
          <p:nvPr/>
        </p:nvSpPr>
        <p:spPr>
          <a:xfrm>
            <a:off x="6057900" y="4095750"/>
            <a:ext cx="2381250" cy="590550"/>
          </a:xfrm>
          <a:prstGeom prst="roundRect">
            <a:avLst>
              <a:gd name="adj" fmla="val 19355"/>
            </a:avLst>
          </a:prstGeom>
          <a:solidFill>
            <a:srgbClr val="FFFFFF"/>
          </a:solidFill>
          <a:ln w="9525">
            <a:solidFill>
              <a:srgbClr val="D8CCBB"/>
            </a:solidFill>
            <a:prstDash val="solid"/>
          </a:ln>
        </p:spPr>
      </p:sp>
      <p:sp>
        <p:nvSpPr>
          <p:cNvPr id="61" name="圆角矩形 60"/>
          <p:cNvSpPr>
            <a:spLocks noGrp="1"/>
          </p:cNvSpPr>
          <p:nvPr/>
        </p:nvSpPr>
        <p:spPr>
          <a:xfrm>
            <a:off x="6057900" y="4095750"/>
            <a:ext cx="57150" cy="590550"/>
          </a:xfrm>
          <a:prstGeom prst="roundRect">
            <a:avLst>
              <a:gd name="adj" fmla="val 33333"/>
            </a:avLst>
          </a:prstGeom>
          <a:solidFill>
            <a:srgbClr val="B77845"/>
          </a:solidFill>
          <a:ln w="9525">
            <a:solidFill>
              <a:srgbClr val="B77845"/>
            </a:solidFill>
            <a:prstDash val="solid"/>
          </a:ln>
        </p:spPr>
      </p:sp>
      <p:sp>
        <p:nvSpPr>
          <p:cNvPr id="62" name="矩形 61"/>
          <p:cNvSpPr>
            <a:spLocks noGrp="1"/>
          </p:cNvSpPr>
          <p:nvPr/>
        </p:nvSpPr>
        <p:spPr>
          <a:xfrm>
            <a:off x="621030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average AI quality</a:t>
            </a:r>
            <a:endParaRPr sz="1125" b="1" i="0">
              <a:solidFill>
                <a:srgbClr val="231D17"/>
              </a:solidFill>
              <a:latin typeface="Times New Roman" panose="02020603050405020304"/>
              <a:ea typeface="Times New Roman" panose="02020603050405020304"/>
              <a:cs typeface="Times New Roman" panose="02020603050405020304"/>
            </a:endParaRPr>
          </a:p>
        </p:txBody>
      </p:sp>
      <p:sp>
        <p:nvSpPr>
          <p:cNvPr id="63" name="圆角矩形 62"/>
          <p:cNvSpPr>
            <a:spLocks noGrp="1"/>
          </p:cNvSpPr>
          <p:nvPr/>
        </p:nvSpPr>
        <p:spPr>
          <a:xfrm>
            <a:off x="8629650" y="4095750"/>
            <a:ext cx="2381250" cy="590550"/>
          </a:xfrm>
          <a:prstGeom prst="roundRect">
            <a:avLst>
              <a:gd name="adj" fmla="val 19355"/>
            </a:avLst>
          </a:prstGeom>
          <a:solidFill>
            <a:srgbClr val="FFFFFF"/>
          </a:solidFill>
          <a:ln w="9525">
            <a:solidFill>
              <a:srgbClr val="D8CCBB"/>
            </a:solidFill>
            <a:prstDash val="solid"/>
          </a:ln>
        </p:spPr>
      </p:sp>
      <p:sp>
        <p:nvSpPr>
          <p:cNvPr id="64" name="圆角矩形 63"/>
          <p:cNvSpPr>
            <a:spLocks noGrp="1"/>
          </p:cNvSpPr>
          <p:nvPr/>
        </p:nvSpPr>
        <p:spPr>
          <a:xfrm>
            <a:off x="8629650" y="4095750"/>
            <a:ext cx="57150" cy="590550"/>
          </a:xfrm>
          <a:prstGeom prst="roundRect">
            <a:avLst>
              <a:gd name="adj" fmla="val 33333"/>
            </a:avLst>
          </a:prstGeom>
          <a:solidFill>
            <a:srgbClr val="818A68"/>
          </a:solidFill>
          <a:ln w="9525">
            <a:solidFill>
              <a:srgbClr val="818A68"/>
            </a:solidFill>
            <a:prstDash val="solid"/>
          </a:ln>
        </p:spPr>
      </p:sp>
      <p:sp>
        <p:nvSpPr>
          <p:cNvPr id="65" name="矩形 64"/>
          <p:cNvSpPr>
            <a:spLocks noGrp="1"/>
          </p:cNvSpPr>
          <p:nvPr/>
        </p:nvSpPr>
        <p:spPr>
          <a:xfrm>
            <a:off x="878205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recovery level</a:t>
            </a:r>
            <a:endParaRPr sz="1125" b="1" i="0">
              <a:solidFill>
                <a:srgbClr val="231D17"/>
              </a:solidFill>
              <a:latin typeface="Times New Roman" panose="02020603050405020304"/>
              <a:ea typeface="Times New Roman" panose="02020603050405020304"/>
              <a:cs typeface="Times New Roman" panose="02020603050405020304"/>
            </a:endParaRPr>
          </a:p>
        </p:txBody>
      </p:sp>
      <p:sp>
        <p:nvSpPr>
          <p:cNvPr id="66" name="矩形 65"/>
          <p:cNvSpPr>
            <a:spLocks noGrp="1"/>
          </p:cNvSpPr>
          <p:nvPr/>
        </p:nvSpPr>
        <p:spPr>
          <a:xfrm>
            <a:off x="914400" y="4914900"/>
            <a:ext cx="2095500" cy="209550"/>
          </a:xfrm>
          <a:prstGeom prst="rect">
            <a:avLst/>
          </a:prstGeom>
          <a:noFill/>
          <a:ln w="0">
            <a:noFill/>
            <a:prstDash val="solid"/>
          </a:ln>
        </p:spPr>
        <p:txBody>
          <a:bodyPr wrap="square" lIns="0" tIns="0" rIns="0" bIns="0" anchor="t">
            <a:normAutofit fontScale="99855" lnSpcReduction="10000"/>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One participant's round</a:t>
            </a:r>
            <a:endParaRPr sz="1275" b="1" i="0">
              <a:solidFill>
                <a:srgbClr val="231D17"/>
              </a:solidFill>
              <a:latin typeface="Times New Roman" panose="02020603050405020304"/>
              <a:ea typeface="Times New Roman" panose="02020603050405020304"/>
              <a:cs typeface="Times New Roman" panose="02020603050405020304"/>
            </a:endParaRPr>
          </a:p>
        </p:txBody>
      </p:sp>
      <p:sp>
        <p:nvSpPr>
          <p:cNvPr id="67" name="圆角矩形 66"/>
          <p:cNvSpPr>
            <a:spLocks noGrp="1"/>
          </p:cNvSpPr>
          <p:nvPr/>
        </p:nvSpPr>
        <p:spPr>
          <a:xfrm>
            <a:off x="914400" y="5257800"/>
            <a:ext cx="1600200" cy="876300"/>
          </a:xfrm>
          <a:prstGeom prst="roundRect">
            <a:avLst>
              <a:gd name="adj" fmla="val 13043"/>
            </a:avLst>
          </a:prstGeom>
          <a:solidFill>
            <a:srgbClr val="FFFFFF"/>
          </a:solidFill>
          <a:ln w="9525">
            <a:solidFill>
              <a:srgbClr val="D8CCBB"/>
            </a:solidFill>
            <a:prstDash val="solid"/>
          </a:ln>
        </p:spPr>
      </p:sp>
      <p:sp>
        <p:nvSpPr>
          <p:cNvPr id="68" name="矩形 67"/>
          <p:cNvSpPr>
            <a:spLocks noGrp="1"/>
          </p:cNvSpPr>
          <p:nvPr/>
        </p:nvSpPr>
        <p:spPr>
          <a:xfrm>
            <a:off x="10287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see task</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69" name="矩形 68"/>
          <p:cNvSpPr>
            <a:spLocks noGrp="1"/>
          </p:cNvSpPr>
          <p:nvPr/>
        </p:nvSpPr>
        <p:spPr>
          <a:xfrm>
            <a:off x="2495550" y="5572125"/>
            <a:ext cx="190500" cy="228600"/>
          </a:xfrm>
          <a:prstGeom prst="rect">
            <a:avLst/>
          </a:prstGeom>
          <a:noFill/>
          <a:ln w="0">
            <a:noFill/>
            <a:prstDash val="solid"/>
          </a:ln>
        </p:spPr>
        <p:txBody>
          <a:bodyPr wrap="square" lIns="0" tIns="0" rIns="0" bIns="0" anchor="ctr">
            <a:normAutofit fontScale="7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endParaRPr sz="1650" b="1" i="0">
              <a:solidFill>
                <a:srgbClr val="B77845"/>
              </a:solidFill>
              <a:latin typeface="Times New Roman" panose="02020603050405020304"/>
              <a:ea typeface="Times New Roman" panose="02020603050405020304"/>
              <a:cs typeface="Times New Roman" panose="02020603050405020304"/>
            </a:endParaRPr>
          </a:p>
        </p:txBody>
      </p:sp>
      <p:sp>
        <p:nvSpPr>
          <p:cNvPr id="70" name="圆角矩形 69"/>
          <p:cNvSpPr>
            <a:spLocks noGrp="1"/>
          </p:cNvSpPr>
          <p:nvPr/>
        </p:nvSpPr>
        <p:spPr>
          <a:xfrm>
            <a:off x="2647950" y="5257800"/>
            <a:ext cx="1600200" cy="876300"/>
          </a:xfrm>
          <a:prstGeom prst="roundRect">
            <a:avLst>
              <a:gd name="adj" fmla="val 13043"/>
            </a:avLst>
          </a:prstGeom>
          <a:solidFill>
            <a:srgbClr val="FFFFFF"/>
          </a:solidFill>
          <a:ln w="9525">
            <a:solidFill>
              <a:srgbClr val="D8CCBB"/>
            </a:solidFill>
            <a:prstDash val="solid"/>
          </a:ln>
        </p:spPr>
      </p:sp>
      <p:sp>
        <p:nvSpPr>
          <p:cNvPr id="71" name="矩形 70"/>
          <p:cNvSpPr>
            <a:spLocks noGrp="1"/>
          </p:cNvSpPr>
          <p:nvPr/>
        </p:nvSpPr>
        <p:spPr>
          <a:xfrm>
            <a:off x="276225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make self judgment</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72" name="矩形 71"/>
          <p:cNvSpPr>
            <a:spLocks noGrp="1"/>
          </p:cNvSpPr>
          <p:nvPr/>
        </p:nvSpPr>
        <p:spPr>
          <a:xfrm>
            <a:off x="4229100" y="5572125"/>
            <a:ext cx="190500" cy="228600"/>
          </a:xfrm>
          <a:prstGeom prst="rect">
            <a:avLst/>
          </a:prstGeom>
          <a:noFill/>
          <a:ln w="0">
            <a:noFill/>
            <a:prstDash val="solid"/>
          </a:ln>
        </p:spPr>
        <p:txBody>
          <a:bodyPr wrap="square" lIns="0" tIns="0" rIns="0" bIns="0" anchor="ctr">
            <a:normAutofit fontScale="7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endParaRPr sz="1650" b="1" i="0">
              <a:solidFill>
                <a:srgbClr val="B77845"/>
              </a:solidFill>
              <a:latin typeface="Times New Roman" panose="02020603050405020304"/>
              <a:ea typeface="Times New Roman" panose="02020603050405020304"/>
              <a:cs typeface="Times New Roman" panose="02020603050405020304"/>
            </a:endParaRPr>
          </a:p>
        </p:txBody>
      </p:sp>
      <p:sp>
        <p:nvSpPr>
          <p:cNvPr id="73" name="圆角矩形 72"/>
          <p:cNvSpPr>
            <a:spLocks noGrp="1"/>
          </p:cNvSpPr>
          <p:nvPr/>
        </p:nvSpPr>
        <p:spPr>
          <a:xfrm>
            <a:off x="4381500" y="5257800"/>
            <a:ext cx="1600200" cy="876300"/>
          </a:xfrm>
          <a:prstGeom prst="roundRect">
            <a:avLst>
              <a:gd name="adj" fmla="val 13043"/>
            </a:avLst>
          </a:prstGeom>
          <a:solidFill>
            <a:srgbClr val="FFFFFF"/>
          </a:solidFill>
          <a:ln w="9525">
            <a:solidFill>
              <a:srgbClr val="D8CCBB"/>
            </a:solidFill>
            <a:prstDash val="solid"/>
          </a:ln>
        </p:spPr>
      </p:sp>
      <p:sp>
        <p:nvSpPr>
          <p:cNvPr id="74" name="矩形 73"/>
          <p:cNvSpPr>
            <a:spLocks noGrp="1"/>
          </p:cNvSpPr>
          <p:nvPr/>
        </p:nvSpPr>
        <p:spPr>
          <a:xfrm>
            <a:off x="44958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observe AI output</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75" name="矩形 74"/>
          <p:cNvSpPr>
            <a:spLocks noGrp="1"/>
          </p:cNvSpPr>
          <p:nvPr/>
        </p:nvSpPr>
        <p:spPr>
          <a:xfrm>
            <a:off x="5962650" y="5572125"/>
            <a:ext cx="190500" cy="228600"/>
          </a:xfrm>
          <a:prstGeom prst="rect">
            <a:avLst/>
          </a:prstGeom>
          <a:noFill/>
          <a:ln w="0">
            <a:noFill/>
            <a:prstDash val="solid"/>
          </a:ln>
        </p:spPr>
        <p:txBody>
          <a:bodyPr wrap="square" lIns="0" tIns="0" rIns="0" bIns="0" anchor="ctr">
            <a:normAutofit fontScale="7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endParaRPr sz="1650" b="1" i="0">
              <a:solidFill>
                <a:srgbClr val="B77845"/>
              </a:solidFill>
              <a:latin typeface="Times New Roman" panose="02020603050405020304"/>
              <a:ea typeface="Times New Roman" panose="02020603050405020304"/>
              <a:cs typeface="Times New Roman" panose="02020603050405020304"/>
            </a:endParaRPr>
          </a:p>
        </p:txBody>
      </p:sp>
      <p:sp>
        <p:nvSpPr>
          <p:cNvPr id="76" name="圆角矩形 75"/>
          <p:cNvSpPr>
            <a:spLocks noGrp="1"/>
          </p:cNvSpPr>
          <p:nvPr/>
        </p:nvSpPr>
        <p:spPr>
          <a:xfrm>
            <a:off x="6115050" y="5257800"/>
            <a:ext cx="1600200" cy="876300"/>
          </a:xfrm>
          <a:prstGeom prst="roundRect">
            <a:avLst>
              <a:gd name="adj" fmla="val 13043"/>
            </a:avLst>
          </a:prstGeom>
          <a:solidFill>
            <a:srgbClr val="FFFFFF"/>
          </a:solidFill>
          <a:ln w="9525">
            <a:solidFill>
              <a:srgbClr val="D8CCBB"/>
            </a:solidFill>
            <a:prstDash val="solid"/>
          </a:ln>
        </p:spPr>
      </p:sp>
      <p:sp>
        <p:nvSpPr>
          <p:cNvPr id="77" name="矩形 76"/>
          <p:cNvSpPr>
            <a:spLocks noGrp="1"/>
          </p:cNvSpPr>
          <p:nvPr/>
        </p:nvSpPr>
        <p:spPr>
          <a:xfrm>
            <a:off x="622935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choose final submission</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78" name="矩形 77"/>
          <p:cNvSpPr>
            <a:spLocks noGrp="1"/>
          </p:cNvSpPr>
          <p:nvPr/>
        </p:nvSpPr>
        <p:spPr>
          <a:xfrm>
            <a:off x="7696200" y="5572125"/>
            <a:ext cx="190500" cy="228600"/>
          </a:xfrm>
          <a:prstGeom prst="rect">
            <a:avLst/>
          </a:prstGeom>
          <a:noFill/>
          <a:ln w="0">
            <a:noFill/>
            <a:prstDash val="solid"/>
          </a:ln>
        </p:spPr>
        <p:txBody>
          <a:bodyPr wrap="square" lIns="0" tIns="0" rIns="0" bIns="0" anchor="ctr">
            <a:normAutofit fontScale="7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endParaRPr sz="1650" b="1" i="0">
              <a:solidFill>
                <a:srgbClr val="B77845"/>
              </a:solidFill>
              <a:latin typeface="Times New Roman" panose="02020603050405020304"/>
              <a:ea typeface="Times New Roman" panose="02020603050405020304"/>
              <a:cs typeface="Times New Roman" panose="02020603050405020304"/>
            </a:endParaRPr>
          </a:p>
        </p:txBody>
      </p:sp>
      <p:sp>
        <p:nvSpPr>
          <p:cNvPr id="79" name="圆角矩形 78"/>
          <p:cNvSpPr>
            <a:spLocks noGrp="1"/>
          </p:cNvSpPr>
          <p:nvPr/>
        </p:nvSpPr>
        <p:spPr>
          <a:xfrm>
            <a:off x="7848600" y="5257800"/>
            <a:ext cx="1600200" cy="876300"/>
          </a:xfrm>
          <a:prstGeom prst="roundRect">
            <a:avLst>
              <a:gd name="adj" fmla="val 13043"/>
            </a:avLst>
          </a:prstGeom>
          <a:solidFill>
            <a:srgbClr val="F7EADC"/>
          </a:solidFill>
          <a:ln w="9525">
            <a:solidFill>
              <a:srgbClr val="B77845"/>
            </a:solidFill>
            <a:prstDash val="solid"/>
          </a:ln>
        </p:spPr>
      </p:sp>
      <p:sp>
        <p:nvSpPr>
          <p:cNvPr id="80" name="矩形 79"/>
          <p:cNvSpPr>
            <a:spLocks noGrp="1"/>
          </p:cNvSpPr>
          <p:nvPr/>
        </p:nvSpPr>
        <p:spPr>
          <a:xfrm>
            <a:off x="79629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receive full feedback</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81" name="矩形 80"/>
          <p:cNvSpPr>
            <a:spLocks noGrp="1"/>
          </p:cNvSpPr>
          <p:nvPr/>
        </p:nvSpPr>
        <p:spPr>
          <a:xfrm>
            <a:off x="9429750" y="5572125"/>
            <a:ext cx="190500" cy="228600"/>
          </a:xfrm>
          <a:prstGeom prst="rect">
            <a:avLst/>
          </a:prstGeom>
          <a:noFill/>
          <a:ln w="0">
            <a:noFill/>
            <a:prstDash val="solid"/>
          </a:ln>
        </p:spPr>
        <p:txBody>
          <a:bodyPr wrap="square" lIns="0" tIns="0" rIns="0" bIns="0" anchor="ctr">
            <a:normAutofit fontScale="7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endParaRPr sz="1650" b="1" i="0">
              <a:solidFill>
                <a:srgbClr val="B77845"/>
              </a:solidFill>
              <a:latin typeface="Times New Roman" panose="02020603050405020304"/>
              <a:ea typeface="Times New Roman" panose="02020603050405020304"/>
              <a:cs typeface="Times New Roman" panose="02020603050405020304"/>
            </a:endParaRPr>
          </a:p>
        </p:txBody>
      </p:sp>
      <p:sp>
        <p:nvSpPr>
          <p:cNvPr id="82" name="圆角矩形 81"/>
          <p:cNvSpPr>
            <a:spLocks noGrp="1"/>
          </p:cNvSpPr>
          <p:nvPr/>
        </p:nvSpPr>
        <p:spPr>
          <a:xfrm>
            <a:off x="9582150" y="5257800"/>
            <a:ext cx="1600200" cy="876300"/>
          </a:xfrm>
          <a:prstGeom prst="roundRect">
            <a:avLst>
              <a:gd name="adj" fmla="val 13043"/>
            </a:avLst>
          </a:prstGeom>
          <a:solidFill>
            <a:srgbClr val="FFFFFF"/>
          </a:solidFill>
          <a:ln w="9525">
            <a:solidFill>
              <a:srgbClr val="D8CCBB"/>
            </a:solidFill>
            <a:prstDash val="solid"/>
          </a:ln>
        </p:spPr>
      </p:sp>
      <p:sp>
        <p:nvSpPr>
          <p:cNvPr id="83" name="矩形 82"/>
          <p:cNvSpPr>
            <a:spLocks noGrp="1"/>
          </p:cNvSpPr>
          <p:nvPr/>
        </p:nvSpPr>
        <p:spPr>
          <a:xfrm>
            <a:off x="9696450" y="5562600"/>
            <a:ext cx="1371600" cy="247650"/>
          </a:xfrm>
          <a:prstGeom prst="rect">
            <a:avLst/>
          </a:prstGeom>
          <a:noFill/>
          <a:ln w="0">
            <a:noFill/>
            <a:prstDash val="solid"/>
          </a:ln>
        </p:spPr>
        <p:txBody>
          <a:bodyPr wrap="square" lIns="0" tIns="0" rIns="0" bIns="0" anchor="ctr">
            <a:normAutofit fontScale="95996"/>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update next-round reliance</a:t>
            </a:r>
            <a:endParaRPr sz="1050" b="0"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矩形 66"/>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RQ TABLE</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91391" lnSpcReduction="10000"/>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Hypotheses, manipulations, comparisons, and parity standards align cleanly</a:t>
            </a:r>
            <a:endParaRPr sz="2175" b="1" i="0">
              <a:solidFill>
                <a:srgbClr val="231D17"/>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This is the identification map of the paper: each row ties one question to one manipulation, one comparison, and one parity condition.</a:t>
            </a:r>
            <a:endParaRPr sz="1200" b="0" i="0">
              <a:solidFill>
                <a:srgbClr val="6F665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1962150"/>
            <a:ext cx="1619250" cy="476250"/>
          </a:xfrm>
          <a:prstGeom prst="rect">
            <a:avLst/>
          </a:prstGeom>
          <a:solidFill>
            <a:srgbClr val="EDE5D8"/>
          </a:solidFill>
          <a:ln w="9525">
            <a:solidFill>
              <a:srgbClr val="D8CCBB"/>
            </a:solidFill>
            <a:prstDash val="solid"/>
          </a:ln>
        </p:spPr>
      </p:sp>
      <p:sp>
        <p:nvSpPr>
          <p:cNvPr id="8" name="矩形 7"/>
          <p:cNvSpPr>
            <a:spLocks noGrp="1"/>
          </p:cNvSpPr>
          <p:nvPr/>
        </p:nvSpPr>
        <p:spPr>
          <a:xfrm>
            <a:off x="990600" y="2085975"/>
            <a:ext cx="146685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RQ / H</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2533650" y="1962150"/>
            <a:ext cx="2286000" cy="476250"/>
          </a:xfrm>
          <a:prstGeom prst="rect">
            <a:avLst/>
          </a:prstGeom>
          <a:solidFill>
            <a:srgbClr val="EDE5D8"/>
          </a:solidFill>
          <a:ln w="9525">
            <a:solidFill>
              <a:srgbClr val="D8CCBB"/>
            </a:solidFill>
            <a:prstDash val="solid"/>
          </a:ln>
        </p:spPr>
      </p:sp>
      <p:sp>
        <p:nvSpPr>
          <p:cNvPr id="10" name="矩形 9"/>
          <p:cNvSpPr>
            <a:spLocks noGrp="1"/>
          </p:cNvSpPr>
          <p:nvPr/>
        </p:nvSpPr>
        <p:spPr>
          <a:xfrm>
            <a:off x="2609850" y="2085975"/>
            <a:ext cx="21336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Experimental Manipulation</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4819650" y="1962150"/>
            <a:ext cx="1981200" cy="476250"/>
          </a:xfrm>
          <a:prstGeom prst="rect">
            <a:avLst/>
          </a:prstGeom>
          <a:solidFill>
            <a:srgbClr val="EDE5D8"/>
          </a:solidFill>
          <a:ln w="9525">
            <a:solidFill>
              <a:srgbClr val="D8CCBB"/>
            </a:solidFill>
            <a:prstDash val="solid"/>
          </a:ln>
        </p:spPr>
      </p:sp>
      <p:sp>
        <p:nvSpPr>
          <p:cNvPr id="12" name="矩形 11"/>
          <p:cNvSpPr>
            <a:spLocks noGrp="1"/>
          </p:cNvSpPr>
          <p:nvPr/>
        </p:nvSpPr>
        <p:spPr>
          <a:xfrm>
            <a:off x="4895850" y="2085975"/>
            <a:ext cx="18288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Key Comparison</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nvSpPr>
        <p:spPr>
          <a:xfrm>
            <a:off x="6800850" y="1962150"/>
            <a:ext cx="2000250" cy="476250"/>
          </a:xfrm>
          <a:prstGeom prst="rect">
            <a:avLst/>
          </a:prstGeom>
          <a:solidFill>
            <a:srgbClr val="EDE5D8"/>
          </a:solidFill>
          <a:ln w="9525">
            <a:solidFill>
              <a:srgbClr val="D8CCBB"/>
            </a:solidFill>
            <a:prstDash val="solid"/>
          </a:ln>
        </p:spPr>
      </p:sp>
      <p:sp>
        <p:nvSpPr>
          <p:cNvPr id="14" name="矩形 13"/>
          <p:cNvSpPr>
            <a:spLocks noGrp="1"/>
          </p:cNvSpPr>
          <p:nvPr/>
        </p:nvSpPr>
        <p:spPr>
          <a:xfrm>
            <a:off x="6877050" y="2085975"/>
            <a:ext cx="184785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Parity Standard</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8801100" y="1962150"/>
            <a:ext cx="2476500" cy="476250"/>
          </a:xfrm>
          <a:prstGeom prst="rect">
            <a:avLst/>
          </a:prstGeom>
          <a:solidFill>
            <a:srgbClr val="EDE5D8"/>
          </a:solidFill>
          <a:ln w="9525">
            <a:solidFill>
              <a:srgbClr val="D8CCBB"/>
            </a:solidFill>
            <a:prstDash val="solid"/>
          </a:ln>
        </p:spPr>
      </p:sp>
      <p:sp>
        <p:nvSpPr>
          <p:cNvPr id="16" name="矩形 15"/>
          <p:cNvSpPr>
            <a:spLocks noGrp="1"/>
          </p:cNvSpPr>
          <p:nvPr/>
        </p:nvSpPr>
        <p:spPr>
          <a:xfrm>
            <a:off x="8877300" y="2085975"/>
            <a:ext cx="23241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What It Identifies</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914400" y="2438400"/>
            <a:ext cx="1619250" cy="895350"/>
          </a:xfrm>
          <a:prstGeom prst="rect">
            <a:avLst/>
          </a:prstGeom>
          <a:solidFill>
            <a:srgbClr val="FFFFFF"/>
          </a:solidFill>
          <a:ln w="9525">
            <a:solidFill>
              <a:srgbClr val="D8CCBB"/>
            </a:solidFill>
            <a:prstDash val="solid"/>
          </a:ln>
        </p:spPr>
      </p:sp>
      <p:sp>
        <p:nvSpPr>
          <p:cNvPr id="18" name="矩形 17"/>
          <p:cNvSpPr>
            <a:spLocks noGrp="1"/>
          </p:cNvSpPr>
          <p:nvPr/>
        </p:nvSpPr>
        <p:spPr>
          <a:xfrm>
            <a:off x="1009650" y="253365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H1</a:t>
            </a:r>
            <a:endParaRPr sz="975" b="1" i="0">
              <a:solidFill>
                <a:srgbClr val="231D17"/>
              </a:solidFill>
              <a:latin typeface="Times New Roman" panose="02020603050405020304"/>
              <a:ea typeface="Times New Roman" panose="02020603050405020304"/>
              <a:cs typeface="Times New Roman" panose="02020603050405020304"/>
            </a:endParaRP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Dynamic updating</a:t>
            </a:r>
            <a:endParaRPr sz="975" b="1" i="0">
              <a:solidFill>
                <a:srgbClr val="231D17"/>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2533650" y="2438400"/>
            <a:ext cx="2286000" cy="895350"/>
          </a:xfrm>
          <a:prstGeom prst="rect">
            <a:avLst/>
          </a:prstGeom>
          <a:solidFill>
            <a:srgbClr val="FFFFFF"/>
          </a:solidFill>
          <a:ln w="9525">
            <a:solidFill>
              <a:srgbClr val="D8CCBB"/>
            </a:solidFill>
            <a:prstDash val="solid"/>
          </a:ln>
        </p:spPr>
      </p:sp>
      <p:sp>
        <p:nvSpPr>
          <p:cNvPr id="20" name="矩形 19"/>
          <p:cNvSpPr>
            <a:spLocks noGrp="1"/>
          </p:cNvSpPr>
          <p:nvPr/>
        </p:nvSpPr>
        <p:spPr>
          <a:xfrm>
            <a:off x="2628900" y="253365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Show both self and AI payoffs after each round</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4819650" y="2438400"/>
            <a:ext cx="1981200" cy="895350"/>
          </a:xfrm>
          <a:prstGeom prst="rect">
            <a:avLst/>
          </a:prstGeom>
          <a:solidFill>
            <a:srgbClr val="FFFFFF"/>
          </a:solidFill>
          <a:ln w="9525">
            <a:solidFill>
              <a:srgbClr val="D8CCBB"/>
            </a:solidFill>
            <a:prstDash val="solid"/>
          </a:ln>
        </p:spPr>
      </p:sp>
      <p:sp>
        <p:nvSpPr>
          <p:cNvPr id="22" name="矩形 21"/>
          <p:cNvSpPr>
            <a:spLocks noGrp="1"/>
          </p:cNvSpPr>
          <p:nvPr/>
        </p:nvSpPr>
        <p:spPr>
          <a:xfrm>
            <a:off x="4914900" y="253365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adoption after AI outperforms self vs after self outperforms AI</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23" name="矩形 22"/>
          <p:cNvSpPr>
            <a:spLocks noGrp="1"/>
          </p:cNvSpPr>
          <p:nvPr/>
        </p:nvSpPr>
        <p:spPr>
          <a:xfrm>
            <a:off x="6800850" y="2438400"/>
            <a:ext cx="2000250" cy="895350"/>
          </a:xfrm>
          <a:prstGeom prst="rect">
            <a:avLst/>
          </a:prstGeom>
          <a:solidFill>
            <a:srgbClr val="FFFFFF"/>
          </a:solidFill>
          <a:ln w="9525">
            <a:solidFill>
              <a:srgbClr val="D8CCBB"/>
            </a:solidFill>
            <a:prstDash val="solid"/>
          </a:ln>
        </p:spPr>
      </p:sp>
      <p:sp>
        <p:nvSpPr>
          <p:cNvPr id="24" name="矩形 23"/>
          <p:cNvSpPr>
            <a:spLocks noGrp="1"/>
          </p:cNvSpPr>
          <p:nvPr/>
        </p:nvSpPr>
        <p:spPr>
          <a:xfrm>
            <a:off x="6896100" y="253365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information within round</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nvSpPr>
        <p:spPr>
          <a:xfrm>
            <a:off x="8801100" y="2438400"/>
            <a:ext cx="2476500" cy="895350"/>
          </a:xfrm>
          <a:prstGeom prst="rect">
            <a:avLst/>
          </a:prstGeom>
          <a:solidFill>
            <a:srgbClr val="FFFFFF"/>
          </a:solidFill>
          <a:ln w="9525">
            <a:solidFill>
              <a:srgbClr val="D8CCBB"/>
            </a:solidFill>
            <a:prstDash val="solid"/>
          </a:ln>
        </p:spPr>
      </p:sp>
      <p:sp>
        <p:nvSpPr>
          <p:cNvPr id="26" name="矩形 25"/>
          <p:cNvSpPr>
            <a:spLocks noGrp="1"/>
          </p:cNvSpPr>
          <p:nvPr/>
        </p:nvSpPr>
        <p:spPr>
          <a:xfrm>
            <a:off x="8896350" y="253365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reliance responds to relative performance</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27" name="矩形 26"/>
          <p:cNvSpPr>
            <a:spLocks noGrp="1"/>
          </p:cNvSpPr>
          <p:nvPr/>
        </p:nvSpPr>
        <p:spPr>
          <a:xfrm>
            <a:off x="914400" y="3333750"/>
            <a:ext cx="1619250" cy="1009650"/>
          </a:xfrm>
          <a:prstGeom prst="rect">
            <a:avLst/>
          </a:prstGeom>
          <a:solidFill>
            <a:srgbClr val="FFFFFF"/>
          </a:solidFill>
          <a:ln w="9525">
            <a:solidFill>
              <a:srgbClr val="D8CCBB"/>
            </a:solidFill>
            <a:prstDash val="solid"/>
          </a:ln>
        </p:spPr>
      </p:sp>
      <p:sp>
        <p:nvSpPr>
          <p:cNvPr id="28" name="矩形 27"/>
          <p:cNvSpPr>
            <a:spLocks noGrp="1"/>
          </p:cNvSpPr>
          <p:nvPr/>
        </p:nvSpPr>
        <p:spPr>
          <a:xfrm>
            <a:off x="1009650" y="3429000"/>
            <a:ext cx="1428750" cy="8191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H2</a:t>
            </a:r>
            <a:endParaRPr sz="975" b="1" i="0">
              <a:solidFill>
                <a:srgbClr val="231D17"/>
              </a:solidFill>
              <a:latin typeface="Times New Roman" panose="02020603050405020304"/>
              <a:ea typeface="Times New Roman" panose="02020603050405020304"/>
              <a:cs typeface="Times New Roman" panose="02020603050405020304"/>
            </a:endParaRP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Shock penalty</a:t>
            </a:r>
            <a:endParaRPr sz="975" b="1" i="0">
              <a:solidFill>
                <a:srgbClr val="231D17"/>
              </a:solidFill>
              <a:latin typeface="Times New Roman" panose="02020603050405020304"/>
              <a:ea typeface="Times New Roman" panose="02020603050405020304"/>
              <a:cs typeface="Times New Roman" panose="02020603050405020304"/>
            </a:endParaRPr>
          </a:p>
        </p:txBody>
      </p:sp>
      <p:sp>
        <p:nvSpPr>
          <p:cNvPr id="29" name="矩形 28"/>
          <p:cNvSpPr>
            <a:spLocks noGrp="1"/>
          </p:cNvSpPr>
          <p:nvPr/>
        </p:nvSpPr>
        <p:spPr>
          <a:xfrm>
            <a:off x="2533650" y="3333750"/>
            <a:ext cx="2286000" cy="1009650"/>
          </a:xfrm>
          <a:prstGeom prst="rect">
            <a:avLst/>
          </a:prstGeom>
          <a:solidFill>
            <a:srgbClr val="FFFFFF"/>
          </a:solidFill>
          <a:ln w="9525">
            <a:solidFill>
              <a:srgbClr val="D8CCBB"/>
            </a:solidFill>
            <a:prstDash val="solid"/>
          </a:ln>
        </p:spPr>
      </p:sp>
      <p:sp>
        <p:nvSpPr>
          <p:cNvPr id="30" name="矩形 29"/>
          <p:cNvSpPr>
            <a:spLocks noGrp="1"/>
          </p:cNvSpPr>
          <p:nvPr/>
        </p:nvSpPr>
        <p:spPr>
          <a:xfrm>
            <a:off x="2628900" y="3429000"/>
            <a:ext cx="20955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Place the same number of AI errors either in one concentrated block or across the task</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31" name="矩形 30"/>
          <p:cNvSpPr>
            <a:spLocks noGrp="1"/>
          </p:cNvSpPr>
          <p:nvPr/>
        </p:nvSpPr>
        <p:spPr>
          <a:xfrm>
            <a:off x="4819650" y="3333750"/>
            <a:ext cx="1981200" cy="1009650"/>
          </a:xfrm>
          <a:prstGeom prst="rect">
            <a:avLst/>
          </a:prstGeom>
          <a:solidFill>
            <a:srgbClr val="FFFFFF"/>
          </a:solidFill>
          <a:ln w="9525">
            <a:solidFill>
              <a:srgbClr val="D8CCBB"/>
            </a:solidFill>
            <a:prstDash val="solid"/>
          </a:ln>
        </p:spPr>
      </p:sp>
      <p:sp>
        <p:nvSpPr>
          <p:cNvPr id="32" name="矩形 31"/>
          <p:cNvSpPr>
            <a:spLocks noGrp="1"/>
          </p:cNvSpPr>
          <p:nvPr/>
        </p:nvSpPr>
        <p:spPr>
          <a:xfrm>
            <a:off x="4914900" y="3429000"/>
            <a:ext cx="17907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Later AI adoption after clustered AI errors vs after spread-out AI errors</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33" name="矩形 32"/>
          <p:cNvSpPr>
            <a:spLocks noGrp="1"/>
          </p:cNvSpPr>
          <p:nvPr/>
        </p:nvSpPr>
        <p:spPr>
          <a:xfrm>
            <a:off x="6800850" y="3333750"/>
            <a:ext cx="2000250" cy="1009650"/>
          </a:xfrm>
          <a:prstGeom prst="rect">
            <a:avLst/>
          </a:prstGeom>
          <a:solidFill>
            <a:srgbClr val="FFFFFF"/>
          </a:solidFill>
          <a:ln w="9525">
            <a:solidFill>
              <a:srgbClr val="D8CCBB"/>
            </a:solidFill>
            <a:prstDash val="solid"/>
          </a:ln>
        </p:spPr>
      </p:sp>
      <p:sp>
        <p:nvSpPr>
          <p:cNvPr id="34" name="矩形 33"/>
          <p:cNvSpPr>
            <a:spLocks noGrp="1"/>
          </p:cNvSpPr>
          <p:nvPr/>
        </p:nvSpPr>
        <p:spPr>
          <a:xfrm>
            <a:off x="6896100" y="3429000"/>
            <a:ext cx="180975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total AI payoff; same error count</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35" name="矩形 34"/>
          <p:cNvSpPr>
            <a:spLocks noGrp="1"/>
          </p:cNvSpPr>
          <p:nvPr/>
        </p:nvSpPr>
        <p:spPr>
          <a:xfrm>
            <a:off x="8801100" y="3333750"/>
            <a:ext cx="2476500" cy="1009650"/>
          </a:xfrm>
          <a:prstGeom prst="rect">
            <a:avLst/>
          </a:prstGeom>
          <a:solidFill>
            <a:srgbClr val="FFFFFF"/>
          </a:solidFill>
          <a:ln w="9525">
            <a:solidFill>
              <a:srgbClr val="D8CCBB"/>
            </a:solidFill>
            <a:prstDash val="solid"/>
          </a:ln>
        </p:spPr>
      </p:sp>
      <p:sp>
        <p:nvSpPr>
          <p:cNvPr id="36" name="矩形 35"/>
          <p:cNvSpPr>
            <a:spLocks noGrp="1"/>
          </p:cNvSpPr>
          <p:nvPr/>
        </p:nvSpPr>
        <p:spPr>
          <a:xfrm>
            <a:off x="8896350" y="3429000"/>
            <a:ext cx="22860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local AI failures push reliance below a matched benchmark</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37" name="矩形 36"/>
          <p:cNvSpPr>
            <a:spLocks noGrp="1"/>
          </p:cNvSpPr>
          <p:nvPr/>
        </p:nvSpPr>
        <p:spPr>
          <a:xfrm>
            <a:off x="914400" y="4343400"/>
            <a:ext cx="1619250" cy="895350"/>
          </a:xfrm>
          <a:prstGeom prst="rect">
            <a:avLst/>
          </a:prstGeom>
          <a:solidFill>
            <a:srgbClr val="FFFFFF"/>
          </a:solidFill>
          <a:ln w="9525">
            <a:solidFill>
              <a:srgbClr val="D8CCBB"/>
            </a:solidFill>
            <a:prstDash val="solid"/>
          </a:ln>
        </p:spPr>
      </p:sp>
      <p:sp>
        <p:nvSpPr>
          <p:cNvPr id="38" name="矩形 37"/>
          <p:cNvSpPr>
            <a:spLocks noGrp="1"/>
          </p:cNvSpPr>
          <p:nvPr/>
        </p:nvSpPr>
        <p:spPr>
          <a:xfrm>
            <a:off x="1009650" y="443865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H3</a:t>
            </a:r>
            <a:endParaRPr sz="975" b="1" i="0">
              <a:solidFill>
                <a:srgbClr val="231D17"/>
              </a:solidFill>
              <a:latin typeface="Times New Roman" panose="02020603050405020304"/>
              <a:ea typeface="Times New Roman" panose="02020603050405020304"/>
              <a:cs typeface="Times New Roman" panose="02020603050405020304"/>
            </a:endParaRP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Incomplete recovery</a:t>
            </a:r>
            <a:endParaRPr sz="975" b="1" i="0">
              <a:solidFill>
                <a:srgbClr val="231D17"/>
              </a:solidFill>
              <a:latin typeface="Times New Roman" panose="02020603050405020304"/>
              <a:ea typeface="Times New Roman" panose="02020603050405020304"/>
              <a:cs typeface="Times New Roman" panose="02020603050405020304"/>
            </a:endParaRPr>
          </a:p>
        </p:txBody>
      </p:sp>
      <p:sp>
        <p:nvSpPr>
          <p:cNvPr id="39" name="矩形 38"/>
          <p:cNvSpPr>
            <a:spLocks noGrp="1"/>
          </p:cNvSpPr>
          <p:nvPr/>
        </p:nvSpPr>
        <p:spPr>
          <a:xfrm>
            <a:off x="2533650" y="4343400"/>
            <a:ext cx="2286000" cy="895350"/>
          </a:xfrm>
          <a:prstGeom prst="rect">
            <a:avLst/>
          </a:prstGeom>
          <a:solidFill>
            <a:srgbClr val="FFFFFF"/>
          </a:solidFill>
          <a:ln w="9525">
            <a:solidFill>
              <a:srgbClr val="D8CCBB"/>
            </a:solidFill>
            <a:prstDash val="solid"/>
          </a:ln>
        </p:spPr>
      </p:sp>
      <p:sp>
        <p:nvSpPr>
          <p:cNvPr id="40" name="矩形 39"/>
          <p:cNvSpPr>
            <a:spLocks noGrp="1"/>
          </p:cNvSpPr>
          <p:nvPr/>
        </p:nvSpPr>
        <p:spPr>
          <a:xfrm>
            <a:off x="2628900" y="443865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Let AI performance return to the matched level after the shock block</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41" name="矩形 40"/>
          <p:cNvSpPr>
            <a:spLocks noGrp="1"/>
          </p:cNvSpPr>
          <p:nvPr/>
        </p:nvSpPr>
        <p:spPr>
          <a:xfrm>
            <a:off x="4819650" y="4343400"/>
            <a:ext cx="1981200" cy="895350"/>
          </a:xfrm>
          <a:prstGeom prst="rect">
            <a:avLst/>
          </a:prstGeom>
          <a:solidFill>
            <a:srgbClr val="FFFFFF"/>
          </a:solidFill>
          <a:ln w="9525">
            <a:solidFill>
              <a:srgbClr val="D8CCBB"/>
            </a:solidFill>
            <a:prstDash val="solid"/>
          </a:ln>
        </p:spPr>
      </p:sp>
      <p:sp>
        <p:nvSpPr>
          <p:cNvPr id="42" name="矩形 41"/>
          <p:cNvSpPr>
            <a:spLocks noGrp="1"/>
          </p:cNvSpPr>
          <p:nvPr/>
        </p:nvSpPr>
        <p:spPr>
          <a:xfrm>
            <a:off x="4914900" y="443865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adoption during recovery rounds in Shock vs Balanced Error conditions</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43" name="矩形 42"/>
          <p:cNvSpPr>
            <a:spLocks noGrp="1"/>
          </p:cNvSpPr>
          <p:nvPr/>
        </p:nvSpPr>
        <p:spPr>
          <a:xfrm>
            <a:off x="6800850" y="4343400"/>
            <a:ext cx="2000250" cy="895350"/>
          </a:xfrm>
          <a:prstGeom prst="rect">
            <a:avLst/>
          </a:prstGeom>
          <a:solidFill>
            <a:srgbClr val="FFFFFF"/>
          </a:solidFill>
          <a:ln w="9525">
            <a:solidFill>
              <a:srgbClr val="D8CCBB"/>
            </a:solidFill>
            <a:prstDash val="solid"/>
          </a:ln>
        </p:spPr>
      </p:sp>
      <p:sp>
        <p:nvSpPr>
          <p:cNvPr id="44" name="矩形 43"/>
          <p:cNvSpPr>
            <a:spLocks noGrp="1"/>
          </p:cNvSpPr>
          <p:nvPr/>
        </p:nvSpPr>
        <p:spPr>
          <a:xfrm>
            <a:off x="6896100" y="443865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later recovery quality</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45" name="矩形 44"/>
          <p:cNvSpPr>
            <a:spLocks noGrp="1"/>
          </p:cNvSpPr>
          <p:nvPr/>
        </p:nvSpPr>
        <p:spPr>
          <a:xfrm>
            <a:off x="8801100" y="4343400"/>
            <a:ext cx="2476500" cy="895350"/>
          </a:xfrm>
          <a:prstGeom prst="rect">
            <a:avLst/>
          </a:prstGeom>
          <a:solidFill>
            <a:srgbClr val="FFFFFF"/>
          </a:solidFill>
          <a:ln w="9525">
            <a:solidFill>
              <a:srgbClr val="D8CCBB"/>
            </a:solidFill>
            <a:prstDash val="solid"/>
          </a:ln>
        </p:spPr>
      </p:sp>
      <p:sp>
        <p:nvSpPr>
          <p:cNvPr id="46" name="矩形 45"/>
          <p:cNvSpPr>
            <a:spLocks noGrp="1"/>
          </p:cNvSpPr>
          <p:nvPr/>
        </p:nvSpPr>
        <p:spPr>
          <a:xfrm>
            <a:off x="8896350" y="443865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under-reliance persists after performance normalizes</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47" name="矩形 46"/>
          <p:cNvSpPr>
            <a:spLocks noGrp="1"/>
          </p:cNvSpPr>
          <p:nvPr/>
        </p:nvSpPr>
        <p:spPr>
          <a:xfrm>
            <a:off x="914400" y="5238750"/>
            <a:ext cx="1619250" cy="895350"/>
          </a:xfrm>
          <a:prstGeom prst="rect">
            <a:avLst/>
          </a:prstGeom>
          <a:solidFill>
            <a:srgbClr val="FFFFFF"/>
          </a:solidFill>
          <a:ln w="9525">
            <a:solidFill>
              <a:srgbClr val="D8CCBB"/>
            </a:solidFill>
            <a:prstDash val="solid"/>
          </a:ln>
        </p:spPr>
      </p:sp>
      <p:sp>
        <p:nvSpPr>
          <p:cNvPr id="48" name="矩形 47"/>
          <p:cNvSpPr>
            <a:spLocks noGrp="1"/>
          </p:cNvSpPr>
          <p:nvPr/>
        </p:nvSpPr>
        <p:spPr>
          <a:xfrm>
            <a:off x="1009650" y="533400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H4</a:t>
            </a:r>
            <a:endParaRPr sz="975" b="1" i="0">
              <a:solidFill>
                <a:srgbClr val="231D17"/>
              </a:solidFill>
              <a:latin typeface="Times New Roman" panose="02020603050405020304"/>
              <a:ea typeface="Times New Roman" panose="02020603050405020304"/>
              <a:cs typeface="Times New Roman" panose="02020603050405020304"/>
            </a:endParaRP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Timing heterogeneity</a:t>
            </a:r>
            <a:endParaRPr sz="975" b="1" i="0">
              <a:solidFill>
                <a:srgbClr val="231D17"/>
              </a:solidFill>
              <a:latin typeface="Times New Roman" panose="02020603050405020304"/>
              <a:ea typeface="Times New Roman" panose="02020603050405020304"/>
              <a:cs typeface="Times New Roman" panose="02020603050405020304"/>
            </a:endParaRPr>
          </a:p>
        </p:txBody>
      </p:sp>
      <p:sp>
        <p:nvSpPr>
          <p:cNvPr id="49" name="矩形 48"/>
          <p:cNvSpPr>
            <a:spLocks noGrp="1"/>
          </p:cNvSpPr>
          <p:nvPr/>
        </p:nvSpPr>
        <p:spPr>
          <a:xfrm>
            <a:off x="2533650" y="5238750"/>
            <a:ext cx="2286000" cy="895350"/>
          </a:xfrm>
          <a:prstGeom prst="rect">
            <a:avLst/>
          </a:prstGeom>
          <a:solidFill>
            <a:srgbClr val="FFFFFF"/>
          </a:solidFill>
          <a:ln w="9525">
            <a:solidFill>
              <a:srgbClr val="D8CCBB"/>
            </a:solidFill>
            <a:prstDash val="solid"/>
          </a:ln>
        </p:spPr>
      </p:sp>
      <p:sp>
        <p:nvSpPr>
          <p:cNvPr id="50" name="矩形 49"/>
          <p:cNvSpPr>
            <a:spLocks noGrp="1"/>
          </p:cNvSpPr>
          <p:nvPr/>
        </p:nvSpPr>
        <p:spPr>
          <a:xfrm>
            <a:off x="2628900" y="533400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Place the same AI error shock either early or midway through the task</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51" name="矩形 50"/>
          <p:cNvSpPr>
            <a:spLocks noGrp="1"/>
          </p:cNvSpPr>
          <p:nvPr/>
        </p:nvSpPr>
        <p:spPr>
          <a:xfrm>
            <a:off x="4819650" y="5238750"/>
            <a:ext cx="1981200" cy="895350"/>
          </a:xfrm>
          <a:prstGeom prst="rect">
            <a:avLst/>
          </a:prstGeom>
          <a:solidFill>
            <a:srgbClr val="FFFFFF"/>
          </a:solidFill>
          <a:ln w="9525">
            <a:solidFill>
              <a:srgbClr val="D8CCBB"/>
            </a:solidFill>
            <a:prstDash val="solid"/>
          </a:ln>
        </p:spPr>
      </p:sp>
      <p:sp>
        <p:nvSpPr>
          <p:cNvPr id="52" name="矩形 51"/>
          <p:cNvSpPr>
            <a:spLocks noGrp="1"/>
          </p:cNvSpPr>
          <p:nvPr/>
        </p:nvSpPr>
        <p:spPr>
          <a:xfrm>
            <a:off x="4914900" y="533400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Later AI adoption after early AI shock vs after mid-task AI shock</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53" name="矩形 52"/>
          <p:cNvSpPr>
            <a:spLocks noGrp="1"/>
          </p:cNvSpPr>
          <p:nvPr/>
        </p:nvSpPr>
        <p:spPr>
          <a:xfrm>
            <a:off x="6800850" y="5238750"/>
            <a:ext cx="2000250" cy="895350"/>
          </a:xfrm>
          <a:prstGeom prst="rect">
            <a:avLst/>
          </a:prstGeom>
          <a:solidFill>
            <a:srgbClr val="FFFFFF"/>
          </a:solidFill>
          <a:ln w="9525">
            <a:solidFill>
              <a:srgbClr val="D8CCBB"/>
            </a:solidFill>
            <a:prstDash val="solid"/>
          </a:ln>
        </p:spPr>
      </p:sp>
      <p:sp>
        <p:nvSpPr>
          <p:cNvPr id="54" name="矩形 53"/>
          <p:cNvSpPr>
            <a:spLocks noGrp="1"/>
          </p:cNvSpPr>
          <p:nvPr/>
        </p:nvSpPr>
        <p:spPr>
          <a:xfrm>
            <a:off x="6896100" y="533400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shock size; same overall AI quality</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55" name="矩形 54"/>
          <p:cNvSpPr>
            <a:spLocks noGrp="1"/>
          </p:cNvSpPr>
          <p:nvPr/>
        </p:nvSpPr>
        <p:spPr>
          <a:xfrm>
            <a:off x="8801100" y="5238750"/>
            <a:ext cx="2476500" cy="895350"/>
          </a:xfrm>
          <a:prstGeom prst="rect">
            <a:avLst/>
          </a:prstGeom>
          <a:solidFill>
            <a:srgbClr val="FFFFFF"/>
          </a:solidFill>
          <a:ln w="9525">
            <a:solidFill>
              <a:srgbClr val="D8CCBB"/>
            </a:solidFill>
            <a:prstDash val="solid"/>
          </a:ln>
        </p:spPr>
      </p:sp>
      <p:sp>
        <p:nvSpPr>
          <p:cNvPr id="56" name="矩形 55"/>
          <p:cNvSpPr>
            <a:spLocks noGrp="1"/>
          </p:cNvSpPr>
          <p:nvPr/>
        </p:nvSpPr>
        <p:spPr>
          <a:xfrm>
            <a:off x="8896350" y="533400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early misses carry more path-setting weight</a:t>
            </a:r>
            <a:endParaRPr sz="900" b="0" i="0">
              <a:solidFill>
                <a:srgbClr val="231D17"/>
              </a:solidFill>
              <a:latin typeface="Times New Roman" panose="02020603050405020304"/>
              <a:ea typeface="Times New Roman" panose="02020603050405020304"/>
              <a:cs typeface="Times New Roman" panose="02020603050405020304"/>
            </a:endParaRPr>
          </a:p>
        </p:txBody>
      </p:sp>
      <p:sp>
        <p:nvSpPr>
          <p:cNvPr id="57" name="矩形 56"/>
          <p:cNvSpPr>
            <a:spLocks noGrp="1"/>
          </p:cNvSpPr>
          <p:nvPr/>
        </p:nvSpPr>
        <p:spPr>
          <a:xfrm>
            <a:off x="914400" y="6134100"/>
            <a:ext cx="1619250" cy="552450"/>
          </a:xfrm>
          <a:prstGeom prst="rect">
            <a:avLst/>
          </a:prstGeom>
          <a:solidFill>
            <a:srgbClr val="FFFFFF"/>
          </a:solidFill>
          <a:ln w="9525">
            <a:solidFill>
              <a:srgbClr val="D8CCBB"/>
            </a:solidFill>
            <a:prstDash val="solid"/>
          </a:ln>
        </p:spPr>
      </p:sp>
      <p:sp>
        <p:nvSpPr>
          <p:cNvPr id="58" name="矩形 57"/>
          <p:cNvSpPr>
            <a:spLocks noGrp="1"/>
          </p:cNvSpPr>
          <p:nvPr/>
        </p:nvSpPr>
        <p:spPr>
          <a:xfrm>
            <a:off x="1009650" y="6229350"/>
            <a:ext cx="1428750" cy="361950"/>
          </a:xfrm>
          <a:prstGeom prst="rect">
            <a:avLst/>
          </a:prstGeom>
          <a:noFill/>
          <a:ln w="0">
            <a:noFill/>
            <a:prstDash val="solid"/>
          </a:ln>
        </p:spPr>
        <p:txBody>
          <a:bodyPr wrap="square" lIns="0" tIns="0" rIns="0" bIns="0" anchor="ctr">
            <a:normAutofit fontScale="90000"/>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H5</a:t>
            </a:r>
            <a:endParaRPr sz="975" b="1" i="0">
              <a:solidFill>
                <a:srgbClr val="231D17"/>
              </a:solidFill>
              <a:latin typeface="Times New Roman" panose="02020603050405020304"/>
              <a:ea typeface="Times New Roman" panose="02020603050405020304"/>
              <a:cs typeface="Times New Roman" panose="02020603050405020304"/>
            </a:endParaRP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lang="en-US" altLang="zh-CN" sz="975" b="1" i="0">
                <a:solidFill>
                  <a:srgbClr val="231D17"/>
                </a:solidFill>
                <a:latin typeface="Times New Roman" panose="02020603050405020304"/>
                <a:ea typeface="Times New Roman" panose="02020603050405020304"/>
                <a:cs typeface="Times New Roman" panose="02020603050405020304"/>
              </a:rPr>
              <a:t>AI-self asymmetric recovery</a:t>
            </a:r>
            <a:endParaRPr lang="en-US" altLang="zh-CN" sz="975" b="1" i="0">
              <a:solidFill>
                <a:srgbClr val="231D17"/>
              </a:solidFill>
              <a:latin typeface="Times New Roman" panose="02020603050405020304"/>
              <a:ea typeface="Times New Roman" panose="02020603050405020304"/>
              <a:cs typeface="Times New Roman" panose="02020603050405020304"/>
            </a:endParaRPr>
          </a:p>
        </p:txBody>
      </p:sp>
      <p:sp>
        <p:nvSpPr>
          <p:cNvPr id="59" name="矩形 58"/>
          <p:cNvSpPr>
            <a:spLocks noGrp="1"/>
          </p:cNvSpPr>
          <p:nvPr/>
        </p:nvSpPr>
        <p:spPr>
          <a:xfrm>
            <a:off x="2533650" y="6134100"/>
            <a:ext cx="2286000" cy="552450"/>
          </a:xfrm>
          <a:prstGeom prst="rect">
            <a:avLst/>
          </a:prstGeom>
          <a:solidFill>
            <a:srgbClr val="FFFFFF"/>
          </a:solidFill>
          <a:ln w="9525">
            <a:solidFill>
              <a:srgbClr val="D8CCBB"/>
            </a:solidFill>
            <a:prstDash val="solid"/>
          </a:ln>
        </p:spPr>
      </p:sp>
      <p:sp>
        <p:nvSpPr>
          <p:cNvPr id="60" name="矩形 59"/>
          <p:cNvSpPr>
            <a:spLocks noGrp="1"/>
          </p:cNvSpPr>
          <p:nvPr/>
        </p:nvSpPr>
        <p:spPr>
          <a:xfrm>
            <a:off x="2628900" y="6229350"/>
            <a:ext cx="20955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Compare recovery after AI errors with recovery after self errors</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61" name="矩形 60"/>
          <p:cNvSpPr>
            <a:spLocks noGrp="1"/>
          </p:cNvSpPr>
          <p:nvPr/>
        </p:nvSpPr>
        <p:spPr>
          <a:xfrm>
            <a:off x="4819650" y="6134100"/>
            <a:ext cx="1981200" cy="552450"/>
          </a:xfrm>
          <a:prstGeom prst="rect">
            <a:avLst/>
          </a:prstGeom>
          <a:solidFill>
            <a:srgbClr val="FFFFFF"/>
          </a:solidFill>
          <a:ln w="9525">
            <a:solidFill>
              <a:srgbClr val="D8CCBB"/>
            </a:solidFill>
            <a:prstDash val="solid"/>
          </a:ln>
        </p:spPr>
      </p:sp>
      <p:sp>
        <p:nvSpPr>
          <p:cNvPr id="62" name="矩形 61"/>
          <p:cNvSpPr>
            <a:spLocks noGrp="1"/>
          </p:cNvSpPr>
          <p:nvPr/>
        </p:nvSpPr>
        <p:spPr>
          <a:xfrm>
            <a:off x="4914900" y="6229350"/>
            <a:ext cx="17907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reliance recovery after AI errors vs self reliance recovery after self errors</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63" name="矩形 62"/>
          <p:cNvSpPr>
            <a:spLocks noGrp="1"/>
          </p:cNvSpPr>
          <p:nvPr/>
        </p:nvSpPr>
        <p:spPr>
          <a:xfrm>
            <a:off x="6800850" y="6134100"/>
            <a:ext cx="2000250" cy="552450"/>
          </a:xfrm>
          <a:prstGeom prst="rect">
            <a:avLst/>
          </a:prstGeom>
          <a:solidFill>
            <a:srgbClr val="FFFFFF"/>
          </a:solidFill>
          <a:ln w="9525">
            <a:solidFill>
              <a:srgbClr val="D8CCBB"/>
            </a:solidFill>
            <a:prstDash val="solid"/>
          </a:ln>
        </p:spPr>
      </p:sp>
      <p:sp>
        <p:nvSpPr>
          <p:cNvPr id="64" name="矩形 63"/>
          <p:cNvSpPr>
            <a:spLocks noGrp="1"/>
          </p:cNvSpPr>
          <p:nvPr/>
        </p:nvSpPr>
        <p:spPr>
          <a:xfrm>
            <a:off x="6896100" y="6229350"/>
            <a:ext cx="1809750" cy="361950"/>
          </a:xfrm>
          <a:prstGeom prst="rect">
            <a:avLst/>
          </a:prstGeom>
          <a:noFill/>
          <a:ln w="0">
            <a:noFill/>
            <a:prstDash val="solid"/>
          </a:ln>
        </p:spPr>
        <p:txBody>
          <a:bodyPr wrap="square" lIns="0" tIns="0" rIns="0" bIns="0" anchor="ctr">
            <a:normAutofit fontScale="90000"/>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Matched error magnitude; same feedback frame; comparable later performance</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
        <p:nvSpPr>
          <p:cNvPr id="65" name="矩形 64"/>
          <p:cNvSpPr>
            <a:spLocks noGrp="1"/>
          </p:cNvSpPr>
          <p:nvPr/>
        </p:nvSpPr>
        <p:spPr>
          <a:xfrm>
            <a:off x="8801100" y="6134100"/>
            <a:ext cx="2476500" cy="552450"/>
          </a:xfrm>
          <a:prstGeom prst="rect">
            <a:avLst/>
          </a:prstGeom>
          <a:solidFill>
            <a:srgbClr val="FFFFFF"/>
          </a:solidFill>
          <a:ln w="9525">
            <a:solidFill>
              <a:srgbClr val="D8CCBB"/>
            </a:solidFill>
            <a:prstDash val="solid"/>
          </a:ln>
        </p:spPr>
      </p:sp>
      <p:sp>
        <p:nvSpPr>
          <p:cNvPr id="66" name="矩形 65"/>
          <p:cNvSpPr>
            <a:spLocks noGrp="1"/>
          </p:cNvSpPr>
          <p:nvPr/>
        </p:nvSpPr>
        <p:spPr>
          <a:xfrm>
            <a:off x="8896350" y="6229350"/>
            <a:ext cx="22860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Whether AI is forgiven more slowly than self</a:t>
            </a:r>
            <a:endParaRPr lang="en-US" altLang="zh-CN" sz="900" b="0"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6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EWA MECHANISM</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矩形 4"/>
          <p:cNvSpPr>
            <a:spLocks noGrp="1"/>
          </p:cNvSpPr>
          <p:nvPr/>
        </p:nvSpPr>
        <p:spPr>
          <a:xfrm>
            <a:off x="914400" y="952500"/>
            <a:ext cx="8763000" cy="495300"/>
          </a:xfrm>
          <a:prstGeom prst="rect">
            <a:avLst/>
          </a:prstGeom>
          <a:noFill/>
          <a:ln w="0">
            <a:noFill/>
            <a:prstDash val="solid"/>
          </a:ln>
        </p:spPr>
        <p:txBody>
          <a:bodyPr wrap="square" lIns="0" tIns="0" rIns="0" bIns="0" anchor="t">
            <a:normAutofit fontScale="90000"/>
          </a:bodyPr>
          <a:lstStyle/>
          <a:p>
            <a:pPr algn="l">
              <a:lnSpc>
                <a:spcPct val="98000"/>
              </a:lnSpc>
              <a:buNone/>
              <a:defRPr sz="2625" b="1" i="0">
                <a:solidFill>
                  <a:srgbClr val="231D17"/>
                </a:solidFill>
                <a:latin typeface="Times New Roman" panose="02020603050405020304"/>
                <a:ea typeface="Times New Roman" panose="02020603050405020304"/>
                <a:cs typeface="Times New Roman" panose="02020603050405020304"/>
              </a:defRPr>
            </a:pPr>
            <a:r>
              <a:rPr sz="2625" b="1" i="0">
                <a:solidFill>
                  <a:srgbClr val="231D17"/>
                </a:solidFill>
                <a:latin typeface="Times New Roman" panose="02020603050405020304"/>
                <a:ea typeface="Times New Roman" panose="02020603050405020304"/>
                <a:cs typeface="Times New Roman" panose="02020603050405020304"/>
              </a:rPr>
              <a:t>Why an </a:t>
            </a:r>
            <a:r>
              <a:rPr lang="en-US" altLang="zh-CN" sz="2625" b="1" i="0">
                <a:solidFill>
                  <a:srgbClr val="231D17"/>
                </a:solidFill>
                <a:latin typeface="Times New Roman" panose="02020603050405020304"/>
                <a:ea typeface="Times New Roman" panose="02020603050405020304"/>
                <a:cs typeface="Times New Roman" panose="02020603050405020304"/>
              </a:rPr>
              <a:t>Experience-Weighted-Attraction </a:t>
            </a:r>
            <a:r>
              <a:rPr sz="2625" b="1" i="0">
                <a:solidFill>
                  <a:srgbClr val="231D17"/>
                </a:solidFill>
                <a:latin typeface="Times New Roman" panose="02020603050405020304"/>
                <a:ea typeface="Times New Roman" panose="02020603050405020304"/>
                <a:cs typeface="Times New Roman" panose="02020603050405020304"/>
              </a:rPr>
              <a:t>Model Fits This Study</a:t>
            </a:r>
            <a:endParaRPr sz="2625" b="1" i="0">
              <a:solidFill>
                <a:srgbClr val="231D17"/>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nvSpPr>
        <p:spPr>
          <a:xfrm>
            <a:off x="914400" y="1504950"/>
            <a:ext cx="9810750" cy="361950"/>
          </a:xfrm>
          <a:prstGeom prst="rect">
            <a:avLst/>
          </a:prstGeom>
          <a:noFill/>
          <a:ln w="0">
            <a:noFill/>
            <a:prstDash val="solid"/>
          </a:ln>
        </p:spPr>
        <p:txBody>
          <a:bodyPr wrap="square" lIns="0" tIns="0" rIns="0" bIns="0" anchor="t">
            <a:normAutofit/>
          </a:bodyPr>
          <a:lstStyle/>
          <a:p>
            <a:pPr algn="l">
              <a:lnSpc>
                <a:spcPct val="106000"/>
              </a:lnSpc>
              <a:buNone/>
              <a:defRPr sz="1350" b="0" i="0">
                <a:solidFill>
                  <a:srgbClr val="6F665C"/>
                </a:solidFill>
                <a:latin typeface="Times New Roman" panose="02020603050405020304"/>
                <a:ea typeface="Times New Roman" panose="02020603050405020304"/>
                <a:cs typeface="Times New Roman" panose="02020603050405020304"/>
              </a:defRPr>
            </a:pPr>
            <a:r>
              <a:rPr lang="en-US" altLang="zh-CN" sz="1350" b="0" i="0">
                <a:solidFill>
                  <a:srgbClr val="6F665C"/>
                </a:solidFill>
                <a:latin typeface="Times New Roman" panose="02020603050405020304"/>
                <a:ea typeface="Times New Roman" panose="02020603050405020304"/>
                <a:cs typeface="Times New Roman" panose="02020603050405020304"/>
              </a:rPr>
              <a:t>EWA basically predicts what you'll do next by looking at your actual results and your "what-if" regrets from past choices.</a:t>
            </a:r>
            <a:endParaRPr lang="en-US" altLang="zh-CN" sz="1350"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nvSpPr>
        <p:spPr>
          <a:xfrm>
            <a:off x="914400" y="2076450"/>
            <a:ext cx="4057650" cy="2819400"/>
          </a:xfrm>
          <a:prstGeom prst="roundRect">
            <a:avLst>
              <a:gd name="adj" fmla="val 4054"/>
            </a:avLst>
          </a:prstGeom>
          <a:solidFill>
            <a:srgbClr val="FFFFFF"/>
          </a:solidFill>
          <a:ln w="9525">
            <a:solidFill>
              <a:srgbClr val="D8CCBB"/>
            </a:solidFill>
            <a:prstDash val="solid"/>
          </a:ln>
        </p:spPr>
      </p:sp>
      <p:sp>
        <p:nvSpPr>
          <p:cNvPr id="8" name="圆角矩形 7"/>
          <p:cNvSpPr>
            <a:spLocks noGrp="1"/>
          </p:cNvSpPr>
          <p:nvPr/>
        </p:nvSpPr>
        <p:spPr>
          <a:xfrm>
            <a:off x="914400" y="2076450"/>
            <a:ext cx="57150" cy="28194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81100" y="2286000"/>
            <a:ext cx="3429000" cy="266700"/>
          </a:xfrm>
          <a:prstGeom prst="rect">
            <a:avLst/>
          </a:prstGeom>
          <a:noFill/>
          <a:ln w="0">
            <a:noFill/>
            <a:prstDash val="solid"/>
          </a:ln>
        </p:spPr>
        <p:txBody>
          <a:bodyPr wrap="square" lIns="0" tIns="0" rIns="0" bIns="0" anchor="t">
            <a:normAutofit fontScale="91719" lnSpcReduction="10000"/>
          </a:bodyPr>
          <a:lstStyle/>
          <a:p>
            <a:pPr algn="l">
              <a:lnSpc>
                <a:spcPct val="106000"/>
              </a:lnSpc>
              <a:buNone/>
              <a:defRPr sz="1800" b="1" i="0">
                <a:solidFill>
                  <a:srgbClr val="B77845"/>
                </a:solidFill>
                <a:latin typeface="Times New Roman" panose="02020603050405020304"/>
                <a:ea typeface="Times New Roman" panose="02020603050405020304"/>
                <a:cs typeface="Times New Roman" panose="02020603050405020304"/>
              </a:defRPr>
            </a:pPr>
            <a:r>
              <a:rPr sz="1800" b="1" i="0">
                <a:solidFill>
                  <a:srgbClr val="B77845"/>
                </a:solidFill>
                <a:latin typeface="Times New Roman" panose="02020603050405020304"/>
                <a:ea typeface="Times New Roman" panose="02020603050405020304"/>
                <a:cs typeface="Times New Roman" panose="02020603050405020304"/>
              </a:rPr>
              <a:t>What EWA captures</a:t>
            </a:r>
            <a:endParaRPr sz="1800" b="1" i="0">
              <a:solidFill>
                <a:srgbClr val="B77845"/>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181100" y="2724150"/>
            <a:ext cx="3371850" cy="1600200"/>
          </a:xfrm>
          <a:prstGeom prst="rect">
            <a:avLst/>
          </a:prstGeom>
          <a:noFill/>
          <a:ln w="0">
            <a:noFill/>
            <a:prstDash val="solid"/>
          </a:ln>
        </p:spPr>
        <p:txBody>
          <a:bodyPr wrap="square" lIns="0" tIns="0" rIns="0" bIns="0" anchor="t">
            <a:normAutofit/>
          </a:bodyPr>
          <a:lstStyle/>
          <a:p>
            <a:pPr marL="0" indent="0" algn="l">
              <a:lnSpc>
                <a:spcPct val="106000"/>
              </a:lnSpc>
              <a:spcAft>
                <a:spcPts val="5"/>
              </a:spcAft>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The importance of EWA in this paper lies in its role as a dynamic updating framework: it allows us to translate AI errors, self-errors, successful feedback, and initial AI preference into changes in attraction, thereby explaining how participants adjust their reliance on AI and their preferred decision architecture across repeated feedback.</a:t>
            </a:r>
            <a:endParaRPr lang="en-US" altLang="zh-CN" sz="1200" b="0" i="0">
              <a:solidFill>
                <a:srgbClr val="231D17"/>
              </a:solidFill>
              <a:latin typeface="Times New Roman" panose="02020603050405020304"/>
              <a:ea typeface="Times New Roman" panose="02020603050405020304"/>
              <a:cs typeface="Times New Roman" panose="02020603050405020304"/>
            </a:endParaRPr>
          </a:p>
        </p:txBody>
      </p:sp>
      <p:sp>
        <p:nvSpPr>
          <p:cNvPr id="11" name="圆角矩形 10"/>
          <p:cNvSpPr>
            <a:spLocks noGrp="1"/>
          </p:cNvSpPr>
          <p:nvPr/>
        </p:nvSpPr>
        <p:spPr>
          <a:xfrm>
            <a:off x="1181100" y="4400550"/>
            <a:ext cx="3352800" cy="323850"/>
          </a:xfrm>
          <a:prstGeom prst="roundRect">
            <a:avLst>
              <a:gd name="adj" fmla="val 17647"/>
            </a:avLst>
          </a:prstGeom>
          <a:solidFill>
            <a:srgbClr val="F1E8DA"/>
          </a:solidFill>
          <a:ln w="9525">
            <a:solidFill>
              <a:srgbClr val="E7D4C3"/>
            </a:solidFill>
            <a:prstDash val="solid"/>
          </a:ln>
        </p:spPr>
      </p:sp>
      <p:sp>
        <p:nvSpPr>
          <p:cNvPr id="12" name="矩形 11"/>
          <p:cNvSpPr>
            <a:spLocks noGrp="1"/>
          </p:cNvSpPr>
          <p:nvPr/>
        </p:nvSpPr>
        <p:spPr>
          <a:xfrm>
            <a:off x="1314450" y="4476750"/>
            <a:ext cx="3086100" cy="171450"/>
          </a:xfrm>
          <a:prstGeom prst="rect">
            <a:avLst/>
          </a:prstGeom>
          <a:noFill/>
          <a:ln w="0">
            <a:noFill/>
            <a:prstDash val="solid"/>
          </a:ln>
        </p:spPr>
        <p:txBody>
          <a:bodyPr wrap="square" lIns="0" tIns="0" rIns="0" bIns="0" anchor="t">
            <a:normAutofit fontScale="64461"/>
          </a:bodyPr>
          <a:lstStyle/>
          <a:p>
            <a:pPr algn="ctr">
              <a:lnSpc>
                <a:spcPct val="106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Use EWA to model learning, not to replace the experimental comparison.</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5238750" y="2076450"/>
            <a:ext cx="6000750" cy="2819400"/>
          </a:xfrm>
          <a:prstGeom prst="roundRect">
            <a:avLst>
              <a:gd name="adj" fmla="val 4054"/>
            </a:avLst>
          </a:prstGeom>
          <a:solidFill>
            <a:srgbClr val="FFFFFF"/>
          </a:solidFill>
          <a:ln w="9525">
            <a:solidFill>
              <a:srgbClr val="D8CCBB"/>
            </a:solidFill>
            <a:prstDash val="solid"/>
          </a:ln>
        </p:spPr>
      </p:sp>
      <p:sp>
        <p:nvSpPr>
          <p:cNvPr id="14" name="矩形 13"/>
          <p:cNvSpPr>
            <a:spLocks noGrp="1"/>
          </p:cNvSpPr>
          <p:nvPr/>
        </p:nvSpPr>
        <p:spPr>
          <a:xfrm>
            <a:off x="5486400" y="2286000"/>
            <a:ext cx="4000500" cy="266700"/>
          </a:xfrm>
          <a:prstGeom prst="rect">
            <a:avLst/>
          </a:prstGeom>
          <a:noFill/>
          <a:ln w="0">
            <a:noFill/>
            <a:prstDash val="solid"/>
          </a:ln>
        </p:spPr>
        <p:txBody>
          <a:bodyPr wrap="square" lIns="0" tIns="0" rIns="0" bIns="0" anchor="t">
            <a:normAutofit fontScale="91719" lnSpcReduction="10000"/>
          </a:bodyPr>
          <a:lstStyle/>
          <a:p>
            <a:pPr algn="l">
              <a:lnSpc>
                <a:spcPct val="106000"/>
              </a:lnSpc>
              <a:buNone/>
              <a:defRPr sz="1800" b="1" i="0">
                <a:solidFill>
                  <a:srgbClr val="818A68"/>
                </a:solidFill>
                <a:latin typeface="Times New Roman" panose="02020603050405020304"/>
                <a:ea typeface="Times New Roman" panose="02020603050405020304"/>
                <a:cs typeface="Times New Roman" panose="02020603050405020304"/>
              </a:defRPr>
            </a:pPr>
            <a:r>
              <a:rPr sz="1800" b="1" i="0">
                <a:solidFill>
                  <a:srgbClr val="818A68"/>
                </a:solidFill>
                <a:latin typeface="Times New Roman" panose="02020603050405020304"/>
                <a:ea typeface="Times New Roman" panose="02020603050405020304"/>
                <a:cs typeface="Times New Roman" panose="02020603050405020304"/>
              </a:rPr>
              <a:t>Which RQ/H can EWA help test?</a:t>
            </a:r>
            <a:endParaRPr sz="1800" b="1" i="0">
              <a:solidFill>
                <a:srgbClr val="818A68"/>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5486400" y="2724150"/>
            <a:ext cx="1695450" cy="323850"/>
          </a:xfrm>
          <a:prstGeom prst="rect">
            <a:avLst/>
          </a:prstGeom>
          <a:solidFill>
            <a:srgbClr val="EDE5D8"/>
          </a:solidFill>
          <a:ln w="9525">
            <a:solidFill>
              <a:srgbClr val="D8CCBB"/>
            </a:solidFill>
            <a:prstDash val="solid"/>
          </a:ln>
        </p:spPr>
      </p:sp>
      <p:sp>
        <p:nvSpPr>
          <p:cNvPr id="16" name="矩形 15"/>
          <p:cNvSpPr>
            <a:spLocks noGrp="1"/>
          </p:cNvSpPr>
          <p:nvPr/>
        </p:nvSpPr>
        <p:spPr>
          <a:xfrm>
            <a:off x="5581650" y="2800350"/>
            <a:ext cx="1504950" cy="171450"/>
          </a:xfrm>
          <a:prstGeom prst="rect">
            <a:avLst/>
          </a:prstGeom>
          <a:noFill/>
          <a:ln w="0">
            <a:noFill/>
            <a:prstDash val="solid"/>
          </a:ln>
        </p:spPr>
        <p:txBody>
          <a:bodyPr wrap="square" lIns="0" tIns="0" rIns="0" bIns="0" anchor="ctr">
            <a:normAutofit fontScale="97087" lnSpcReduction="10000"/>
          </a:bodyPr>
          <a:lstStyle/>
          <a:p>
            <a:pPr algn="ctr">
              <a:lnSpc>
                <a:spcPct val="103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Paper 2 RQ / H</a:t>
            </a:r>
            <a:endParaRPr sz="1125" b="1" i="0">
              <a:solidFill>
                <a:srgbClr val="231D17"/>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7181850" y="2724150"/>
            <a:ext cx="3600450" cy="323850"/>
          </a:xfrm>
          <a:prstGeom prst="rect">
            <a:avLst/>
          </a:prstGeom>
          <a:solidFill>
            <a:srgbClr val="EDE5D8"/>
          </a:solidFill>
          <a:ln w="9525">
            <a:solidFill>
              <a:srgbClr val="D8CCBB"/>
            </a:solidFill>
            <a:prstDash val="solid"/>
          </a:ln>
        </p:spPr>
      </p:sp>
      <p:sp>
        <p:nvSpPr>
          <p:cNvPr id="18" name="矩形 17"/>
          <p:cNvSpPr>
            <a:spLocks noGrp="1"/>
          </p:cNvSpPr>
          <p:nvPr/>
        </p:nvSpPr>
        <p:spPr>
          <a:xfrm>
            <a:off x="7277100" y="2800350"/>
            <a:ext cx="3409950" cy="171450"/>
          </a:xfrm>
          <a:prstGeom prst="rect">
            <a:avLst/>
          </a:prstGeom>
          <a:noFill/>
          <a:ln w="0">
            <a:noFill/>
            <a:prstDash val="solid"/>
          </a:ln>
        </p:spPr>
        <p:txBody>
          <a:bodyPr wrap="square" lIns="0" tIns="0" rIns="0" bIns="0" anchor="ctr">
            <a:normAutofit fontScale="97087" lnSpcReduction="10000"/>
          </a:bodyPr>
          <a:lstStyle/>
          <a:p>
            <a:pPr algn="ctr">
              <a:lnSpc>
                <a:spcPct val="103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EWA model readout</a:t>
            </a:r>
            <a:endParaRPr sz="1125" b="1" i="0">
              <a:solidFill>
                <a:srgbClr val="231D17"/>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5486400" y="3048000"/>
            <a:ext cx="1695450" cy="361950"/>
          </a:xfrm>
          <a:prstGeom prst="rect">
            <a:avLst/>
          </a:prstGeom>
          <a:solidFill>
            <a:srgbClr val="FFFFFF"/>
          </a:solidFill>
          <a:ln w="9525">
            <a:solidFill>
              <a:srgbClr val="D8CCBB"/>
            </a:solidFill>
            <a:prstDash val="solid"/>
          </a:ln>
        </p:spPr>
      </p:sp>
      <p:sp>
        <p:nvSpPr>
          <p:cNvPr id="20" name="矩形 19"/>
          <p:cNvSpPr>
            <a:spLocks noGrp="1"/>
          </p:cNvSpPr>
          <p:nvPr/>
        </p:nvSpPr>
        <p:spPr>
          <a:xfrm>
            <a:off x="5581650" y="31242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H1 Dynamic updating</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7181850" y="3048000"/>
            <a:ext cx="3600450" cy="361950"/>
          </a:xfrm>
          <a:prstGeom prst="rect">
            <a:avLst/>
          </a:prstGeom>
          <a:solidFill>
            <a:srgbClr val="FFFFFF"/>
          </a:solidFill>
          <a:ln w="9525">
            <a:solidFill>
              <a:srgbClr val="D8CCBB"/>
            </a:solidFill>
            <a:prstDash val="solid"/>
          </a:ln>
        </p:spPr>
      </p:sp>
      <p:sp>
        <p:nvSpPr>
          <p:cNvPr id="22" name="矩形 21"/>
          <p:cNvSpPr>
            <a:spLocks noGrp="1"/>
          </p:cNvSpPr>
          <p:nvPr/>
        </p:nvSpPr>
        <p:spPr>
          <a:xfrm>
            <a:off x="7277100" y="31242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 AI and self attractions track relative performance?</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23" name="矩形 22"/>
          <p:cNvSpPr>
            <a:spLocks noGrp="1"/>
          </p:cNvSpPr>
          <p:nvPr/>
        </p:nvSpPr>
        <p:spPr>
          <a:xfrm>
            <a:off x="5486400" y="3409950"/>
            <a:ext cx="1695450" cy="361950"/>
          </a:xfrm>
          <a:prstGeom prst="rect">
            <a:avLst/>
          </a:prstGeom>
          <a:solidFill>
            <a:srgbClr val="FAF6EF"/>
          </a:solidFill>
          <a:ln w="9525">
            <a:solidFill>
              <a:srgbClr val="D8CCBB"/>
            </a:solidFill>
            <a:prstDash val="solid"/>
          </a:ln>
        </p:spPr>
      </p:sp>
      <p:sp>
        <p:nvSpPr>
          <p:cNvPr id="24" name="矩形 23"/>
          <p:cNvSpPr>
            <a:spLocks noGrp="1"/>
          </p:cNvSpPr>
          <p:nvPr/>
        </p:nvSpPr>
        <p:spPr>
          <a:xfrm>
            <a:off x="5581650" y="348615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H2 Shock penalty</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25" name="矩形 24"/>
          <p:cNvSpPr>
            <a:spLocks noGrp="1"/>
          </p:cNvSpPr>
          <p:nvPr/>
        </p:nvSpPr>
        <p:spPr>
          <a:xfrm>
            <a:off x="7181850" y="3409950"/>
            <a:ext cx="3600450" cy="361950"/>
          </a:xfrm>
          <a:prstGeom prst="rect">
            <a:avLst/>
          </a:prstGeom>
          <a:solidFill>
            <a:srgbClr val="FAF6EF"/>
          </a:solidFill>
          <a:ln w="9525">
            <a:solidFill>
              <a:srgbClr val="D8CCBB"/>
            </a:solidFill>
            <a:prstDash val="solid"/>
          </a:ln>
        </p:spPr>
      </p:sp>
      <p:sp>
        <p:nvSpPr>
          <p:cNvPr id="26" name="矩形 25"/>
          <p:cNvSpPr>
            <a:spLocks noGrp="1"/>
          </p:cNvSpPr>
          <p:nvPr/>
        </p:nvSpPr>
        <p:spPr>
          <a:xfrm>
            <a:off x="7277100" y="348615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Does clustered AI failure create extra AI-attraction loss?</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27" name="矩形 26"/>
          <p:cNvSpPr>
            <a:spLocks noGrp="1"/>
          </p:cNvSpPr>
          <p:nvPr/>
        </p:nvSpPr>
        <p:spPr>
          <a:xfrm>
            <a:off x="5486400" y="3771900"/>
            <a:ext cx="1695450" cy="361950"/>
          </a:xfrm>
          <a:prstGeom prst="rect">
            <a:avLst/>
          </a:prstGeom>
          <a:solidFill>
            <a:srgbClr val="FFFFFF"/>
          </a:solidFill>
          <a:ln w="9525">
            <a:solidFill>
              <a:srgbClr val="D8CCBB"/>
            </a:solidFill>
            <a:prstDash val="solid"/>
          </a:ln>
        </p:spPr>
      </p:sp>
      <p:sp>
        <p:nvSpPr>
          <p:cNvPr id="28" name="矩形 27"/>
          <p:cNvSpPr>
            <a:spLocks noGrp="1"/>
          </p:cNvSpPr>
          <p:nvPr/>
        </p:nvSpPr>
        <p:spPr>
          <a:xfrm>
            <a:off x="5581650" y="38481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H3 Recovery</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29" name="矩形 28"/>
          <p:cNvSpPr>
            <a:spLocks noGrp="1"/>
          </p:cNvSpPr>
          <p:nvPr/>
        </p:nvSpPr>
        <p:spPr>
          <a:xfrm>
            <a:off x="7181850" y="3771900"/>
            <a:ext cx="3600450" cy="361950"/>
          </a:xfrm>
          <a:prstGeom prst="rect">
            <a:avLst/>
          </a:prstGeom>
          <a:solidFill>
            <a:srgbClr val="FFFFFF"/>
          </a:solidFill>
          <a:ln w="9525">
            <a:solidFill>
              <a:srgbClr val="D8CCBB"/>
            </a:solidFill>
            <a:prstDash val="solid"/>
          </a:ln>
        </p:spPr>
      </p:sp>
      <p:sp>
        <p:nvSpPr>
          <p:cNvPr id="30" name="矩形 29"/>
          <p:cNvSpPr>
            <a:spLocks noGrp="1"/>
          </p:cNvSpPr>
          <p:nvPr/>
        </p:nvSpPr>
        <p:spPr>
          <a:xfrm>
            <a:off x="7277100" y="38481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Does attraction remain below the balanced path after recovery?</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31" name="矩形 30"/>
          <p:cNvSpPr>
            <a:spLocks noGrp="1"/>
          </p:cNvSpPr>
          <p:nvPr/>
        </p:nvSpPr>
        <p:spPr>
          <a:xfrm>
            <a:off x="5486400" y="4133850"/>
            <a:ext cx="1695450" cy="361950"/>
          </a:xfrm>
          <a:prstGeom prst="rect">
            <a:avLst/>
          </a:prstGeom>
          <a:solidFill>
            <a:srgbClr val="FAF6EF"/>
          </a:solidFill>
          <a:ln w="9525">
            <a:solidFill>
              <a:srgbClr val="D8CCBB"/>
            </a:solidFill>
            <a:prstDash val="solid"/>
          </a:ln>
        </p:spPr>
      </p:sp>
      <p:sp>
        <p:nvSpPr>
          <p:cNvPr id="32" name="矩形 31"/>
          <p:cNvSpPr>
            <a:spLocks noGrp="1"/>
          </p:cNvSpPr>
          <p:nvPr/>
        </p:nvSpPr>
        <p:spPr>
          <a:xfrm>
            <a:off x="5581650" y="421005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H4 Timing</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33" name="矩形 32"/>
          <p:cNvSpPr>
            <a:spLocks noGrp="1"/>
          </p:cNvSpPr>
          <p:nvPr/>
        </p:nvSpPr>
        <p:spPr>
          <a:xfrm>
            <a:off x="7181850" y="4133850"/>
            <a:ext cx="3600450" cy="361950"/>
          </a:xfrm>
          <a:prstGeom prst="rect">
            <a:avLst/>
          </a:prstGeom>
          <a:solidFill>
            <a:srgbClr val="FAF6EF"/>
          </a:solidFill>
          <a:ln w="9525">
            <a:solidFill>
              <a:srgbClr val="D8CCBB"/>
            </a:solidFill>
            <a:prstDash val="solid"/>
          </a:ln>
        </p:spPr>
      </p:sp>
      <p:sp>
        <p:nvSpPr>
          <p:cNvPr id="34" name="矩形 33"/>
          <p:cNvSpPr>
            <a:spLocks noGrp="1"/>
          </p:cNvSpPr>
          <p:nvPr/>
        </p:nvSpPr>
        <p:spPr>
          <a:xfrm>
            <a:off x="7277100" y="421005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Is early shock harder to repair than mid shock?</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35" name="矩形 34"/>
          <p:cNvSpPr>
            <a:spLocks noGrp="1"/>
          </p:cNvSpPr>
          <p:nvPr/>
        </p:nvSpPr>
        <p:spPr>
          <a:xfrm>
            <a:off x="5486400" y="4495800"/>
            <a:ext cx="1695450" cy="361950"/>
          </a:xfrm>
          <a:prstGeom prst="rect">
            <a:avLst/>
          </a:prstGeom>
          <a:solidFill>
            <a:srgbClr val="FFFFFF"/>
          </a:solidFill>
          <a:ln w="9525">
            <a:solidFill>
              <a:srgbClr val="D8CCBB"/>
            </a:solidFill>
            <a:prstDash val="solid"/>
          </a:ln>
        </p:spPr>
      </p:sp>
      <p:sp>
        <p:nvSpPr>
          <p:cNvPr id="36" name="矩形 35"/>
          <p:cNvSpPr>
            <a:spLocks noGrp="1"/>
          </p:cNvSpPr>
          <p:nvPr/>
        </p:nvSpPr>
        <p:spPr>
          <a:xfrm>
            <a:off x="5581650" y="45720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H5 Source asymmetry</a:t>
            </a:r>
            <a:endParaRPr sz="1050" b="1" i="0">
              <a:solidFill>
                <a:srgbClr val="231D17"/>
              </a:solidFill>
              <a:latin typeface="Times New Roman" panose="02020603050405020304"/>
              <a:ea typeface="Times New Roman" panose="02020603050405020304"/>
              <a:cs typeface="Times New Roman" panose="02020603050405020304"/>
            </a:endParaRPr>
          </a:p>
        </p:txBody>
      </p:sp>
      <p:sp>
        <p:nvSpPr>
          <p:cNvPr id="37" name="矩形 36"/>
          <p:cNvSpPr>
            <a:spLocks noGrp="1"/>
          </p:cNvSpPr>
          <p:nvPr/>
        </p:nvSpPr>
        <p:spPr>
          <a:xfrm>
            <a:off x="7181850" y="4495800"/>
            <a:ext cx="3600450" cy="361950"/>
          </a:xfrm>
          <a:prstGeom prst="rect">
            <a:avLst/>
          </a:prstGeom>
          <a:solidFill>
            <a:srgbClr val="FFFFFF"/>
          </a:solidFill>
          <a:ln w="9525">
            <a:solidFill>
              <a:srgbClr val="D8CCBB"/>
            </a:solidFill>
            <a:prstDash val="solid"/>
          </a:ln>
        </p:spPr>
      </p:sp>
      <p:sp>
        <p:nvSpPr>
          <p:cNvPr id="38" name="矩形 37"/>
          <p:cNvSpPr>
            <a:spLocks noGrp="1"/>
          </p:cNvSpPr>
          <p:nvPr/>
        </p:nvSpPr>
        <p:spPr>
          <a:xfrm>
            <a:off x="7277100" y="45720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Is negative updating stronger after AI misses than self misses?</a:t>
            </a:r>
            <a:endParaRPr sz="1050" b="0" i="0">
              <a:solidFill>
                <a:srgbClr val="231D17"/>
              </a:solidFill>
              <a:latin typeface="Times New Roman" panose="02020603050405020304"/>
              <a:ea typeface="Times New Roman" panose="02020603050405020304"/>
              <a:cs typeface="Times New Roman" panose="02020603050405020304"/>
            </a:endParaRPr>
          </a:p>
        </p:txBody>
      </p:sp>
      <p:sp>
        <p:nvSpPr>
          <p:cNvPr id="39" name="圆角矩形 38"/>
          <p:cNvSpPr>
            <a:spLocks noGrp="1"/>
          </p:cNvSpPr>
          <p:nvPr/>
        </p:nvSpPr>
        <p:spPr>
          <a:xfrm>
            <a:off x="914400" y="5143500"/>
            <a:ext cx="10325100" cy="838200"/>
          </a:xfrm>
          <a:prstGeom prst="roundRect">
            <a:avLst>
              <a:gd name="adj" fmla="val 13636"/>
            </a:avLst>
          </a:prstGeom>
          <a:solidFill>
            <a:srgbClr val="23384A"/>
          </a:solidFill>
          <a:ln w="9525">
            <a:solidFill>
              <a:srgbClr val="23384A"/>
            </a:solidFill>
            <a:prstDash val="solid"/>
          </a:ln>
        </p:spPr>
      </p:sp>
      <p:sp>
        <p:nvSpPr>
          <p:cNvPr id="40" name="矩形 39"/>
          <p:cNvSpPr>
            <a:spLocks noGrp="1"/>
          </p:cNvSpPr>
          <p:nvPr/>
        </p:nvSpPr>
        <p:spPr>
          <a:xfrm>
            <a:off x="1219200" y="5334000"/>
            <a:ext cx="3143250" cy="190500"/>
          </a:xfrm>
          <a:prstGeom prst="rect">
            <a:avLst/>
          </a:prstGeom>
          <a:noFill/>
          <a:ln w="0">
            <a:noFill/>
            <a:prstDash val="solid"/>
          </a:ln>
        </p:spPr>
        <p:txBody>
          <a:bodyPr wrap="square" lIns="0" tIns="0" rIns="0" bIns="0" anchor="t">
            <a:normAutofit fontScale="92490" lnSpcReduction="10000"/>
          </a:bodyPr>
          <a:lstStyle/>
          <a:p>
            <a:pPr algn="l">
              <a:lnSpc>
                <a:spcPct val="106000"/>
              </a:lnSpc>
              <a:buNone/>
              <a:defRPr sz="1275" b="1" i="0">
                <a:solidFill>
                  <a:srgbClr val="E7D4C3"/>
                </a:solidFill>
                <a:latin typeface="Times New Roman" panose="02020603050405020304"/>
                <a:ea typeface="Times New Roman" panose="02020603050405020304"/>
                <a:cs typeface="Times New Roman" panose="02020603050405020304"/>
              </a:defRPr>
            </a:pPr>
            <a:r>
              <a:rPr sz="1275" b="1" i="0">
                <a:solidFill>
                  <a:srgbClr val="E7D4C3"/>
                </a:solidFill>
                <a:latin typeface="Times New Roman" panose="02020603050405020304"/>
                <a:ea typeface="Times New Roman" panose="02020603050405020304"/>
                <a:cs typeface="Times New Roman" panose="02020603050405020304"/>
              </a:rPr>
              <a:t>Minimal model intuition</a:t>
            </a:r>
            <a:endParaRPr sz="1275" b="1" i="0">
              <a:solidFill>
                <a:srgbClr val="E7D4C3"/>
              </a:solidFill>
              <a:latin typeface="Times New Roman" panose="02020603050405020304"/>
              <a:ea typeface="Times New Roman" panose="02020603050405020304"/>
              <a:cs typeface="Times New Roman" panose="02020603050405020304"/>
            </a:endParaRPr>
          </a:p>
        </p:txBody>
      </p:sp>
      <p:sp>
        <p:nvSpPr>
          <p:cNvPr id="41" name="矩形 40"/>
          <p:cNvSpPr>
            <a:spLocks noGrp="1"/>
          </p:cNvSpPr>
          <p:nvPr/>
        </p:nvSpPr>
        <p:spPr>
          <a:xfrm>
            <a:off x="1219200" y="5600700"/>
            <a:ext cx="4000500" cy="247650"/>
          </a:xfrm>
          <a:prstGeom prst="rect">
            <a:avLst/>
          </a:prstGeom>
          <a:noFill/>
          <a:ln w="0">
            <a:noFill/>
            <a:prstDash val="solid"/>
          </a:ln>
        </p:spPr>
        <p:txBody>
          <a:bodyPr wrap="square" lIns="0" tIns="0" rIns="0" bIns="0" anchor="t">
            <a:normAutofit/>
          </a:bodyPr>
          <a:lstStyle/>
          <a:p>
            <a:pPr algn="l">
              <a:lnSpc>
                <a:spcPct val="106000"/>
              </a:lnSpc>
              <a:buNone/>
              <a:defRPr sz="1275" b="1" i="0">
                <a:solidFill>
                  <a:srgbClr val="F5F0E6"/>
                </a:solidFill>
                <a:latin typeface="Times New Roman" panose="02020603050405020304"/>
                <a:ea typeface="Times New Roman" panose="02020603050405020304"/>
                <a:cs typeface="Times New Roman" panose="02020603050405020304"/>
              </a:defRPr>
            </a:pPr>
            <a:r>
              <a:rPr sz="1275" b="1" i="0">
                <a:solidFill>
                  <a:srgbClr val="F5F0E6"/>
                </a:solidFill>
                <a:latin typeface="Times New Roman" panose="02020603050405020304"/>
                <a:ea typeface="Times New Roman" panose="02020603050405020304"/>
                <a:cs typeface="Times New Roman" panose="02020603050405020304"/>
              </a:rPr>
              <a:t>P(choose AI)t = f(AI attractiont - Self attractiont)</a:t>
            </a:r>
            <a:endParaRPr sz="1275" b="1" i="0">
              <a:solidFill>
                <a:srgbClr val="F5F0E6"/>
              </a:solidFill>
              <a:latin typeface="Times New Roman" panose="02020603050405020304"/>
              <a:ea typeface="Times New Roman" panose="02020603050405020304"/>
              <a:cs typeface="Times New Roman" panose="02020603050405020304"/>
            </a:endParaRPr>
          </a:p>
        </p:txBody>
      </p:sp>
      <p:sp>
        <p:nvSpPr>
          <p:cNvPr id="42" name="矩形 41"/>
          <p:cNvSpPr>
            <a:spLocks noGrp="1"/>
          </p:cNvSpPr>
          <p:nvPr/>
        </p:nvSpPr>
        <p:spPr>
          <a:xfrm>
            <a:off x="5715000" y="5334000"/>
            <a:ext cx="5105400" cy="495300"/>
          </a:xfrm>
          <a:prstGeom prst="rect">
            <a:avLst/>
          </a:prstGeom>
          <a:noFill/>
          <a:ln w="0">
            <a:noFill/>
            <a:prstDash val="solid"/>
          </a:ln>
        </p:spPr>
        <p:txBody>
          <a:bodyPr wrap="square" lIns="0" tIns="0" rIns="0" bIns="0" anchor="t">
            <a:normAutofit fontScale="88262"/>
          </a:bodyPr>
          <a:lstStyle/>
          <a:p>
            <a:pPr algn="l">
              <a:lnSpc>
                <a:spcPct val="108000"/>
              </a:lnSpc>
              <a:buNone/>
              <a:defRPr sz="1275" b="0" i="0">
                <a:solidFill>
                  <a:srgbClr val="F5F0E6"/>
                </a:solidFill>
                <a:latin typeface="Times New Roman" panose="02020603050405020304"/>
                <a:ea typeface="Times New Roman" panose="02020603050405020304"/>
                <a:cs typeface="Times New Roman" panose="02020603050405020304"/>
              </a:defRPr>
            </a:pPr>
            <a:r>
              <a:rPr sz="1275" b="0" i="0">
                <a:solidFill>
                  <a:srgbClr val="F5F0E6"/>
                </a:solidFill>
                <a:latin typeface="Times New Roman" panose="02020603050405020304"/>
                <a:ea typeface="Times New Roman" panose="02020603050405020304"/>
                <a:cs typeface="Times New Roman" panose="02020603050405020304"/>
              </a:rPr>
              <a:t>Reduced-form comparisons show whether reliance paths differ. EWA-inspired estimation tests whether the difference comes from asymmetric updating of source attraction.</a:t>
            </a:r>
            <a:endParaRPr sz="1275" b="0" i="0">
              <a:solidFill>
                <a:srgbClr val="F5F0E6"/>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fontScale="86304"/>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EXPECTED RESULTS AND CONTRIBUTION</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We first expect a visible path effect and then explain why it persists</a:t>
            </a:r>
            <a:endParaRPr sz="2175" b="1" i="0">
              <a:solidFill>
                <a:srgbClr val="231D17"/>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expected contribution is to identify path-dependent under-reliance after AI errors under matched average quality.</a:t>
            </a:r>
            <a:endParaRPr sz="1200"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nvSpPr>
        <p:spPr>
          <a:xfrm>
            <a:off x="914400" y="2057400"/>
            <a:ext cx="5829300" cy="2990850"/>
          </a:xfrm>
          <a:prstGeom prst="roundRect">
            <a:avLst>
              <a:gd name="adj" fmla="val 3822"/>
            </a:avLst>
          </a:prstGeom>
          <a:solidFill>
            <a:srgbClr val="FFFFFF"/>
          </a:solidFill>
          <a:ln w="9525">
            <a:solidFill>
              <a:srgbClr val="D8CCBB"/>
            </a:solidFill>
            <a:prstDash val="solid"/>
          </a:ln>
        </p:spPr>
      </p:sp>
      <p:sp>
        <p:nvSpPr>
          <p:cNvPr id="8" name="矩形 7"/>
          <p:cNvSpPr>
            <a:spLocks noGrp="1"/>
          </p:cNvSpPr>
          <p:nvPr/>
        </p:nvSpPr>
        <p:spPr>
          <a:xfrm>
            <a:off x="1123950" y="226695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Expected reliance path</a:t>
            </a:r>
            <a:endParaRPr sz="1350" b="1" i="0">
              <a:solidFill>
                <a:srgbClr val="B77845"/>
              </a:solidFill>
              <a:latin typeface="Times New Roman" panose="02020603050405020304"/>
              <a:ea typeface="Times New Roman" panose="02020603050405020304"/>
              <a:cs typeface="Times New Roman" panose="02020603050405020304"/>
            </a:endParaRPr>
          </a:p>
        </p:txBody>
      </p:sp>
      <p:graphicFrame>
        <p:nvGraphicFramePr>
          <p:cNvPr id="22" name="Chart"/>
          <p:cNvGraphicFramePr/>
          <p:nvPr/>
        </p:nvGraphicFramePr>
        <p:xfrm>
          <a:off x="1257300" y="2667000"/>
          <a:ext cx="5219700" cy="1962150"/>
        </p:xfrm>
        <a:graphic>
          <a:graphicData uri="http://schemas.openxmlformats.org/drawingml/2006/chart">
            <c:chart xmlns:c="http://schemas.openxmlformats.org/drawingml/2006/chart" xmlns:r="http://schemas.openxmlformats.org/officeDocument/2006/relationships" r:id="rId1"/>
          </a:graphicData>
        </a:graphic>
      </p:graphicFrame>
      <p:sp>
        <p:nvSpPr>
          <p:cNvPr id="9" name="圆角矩形 8"/>
          <p:cNvSpPr>
            <a:spLocks noGrp="1"/>
          </p:cNvSpPr>
          <p:nvPr/>
        </p:nvSpPr>
        <p:spPr>
          <a:xfrm>
            <a:off x="7239000" y="2057400"/>
            <a:ext cx="3962400" cy="2990850"/>
          </a:xfrm>
          <a:prstGeom prst="roundRect">
            <a:avLst>
              <a:gd name="adj" fmla="val 3822"/>
            </a:avLst>
          </a:prstGeom>
          <a:solidFill>
            <a:srgbClr val="FFFFFF"/>
          </a:solidFill>
          <a:ln w="9525">
            <a:solidFill>
              <a:srgbClr val="D8CCBB"/>
            </a:solidFill>
            <a:prstDash val="solid"/>
          </a:ln>
        </p:spPr>
      </p:sp>
      <p:sp>
        <p:nvSpPr>
          <p:cNvPr id="10" name="矩形 9"/>
          <p:cNvSpPr>
            <a:spLocks noGrp="1"/>
          </p:cNvSpPr>
          <p:nvPr/>
        </p:nvSpPr>
        <p:spPr>
          <a:xfrm>
            <a:off x="7448550" y="2266950"/>
            <a:ext cx="3048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Contribution</a:t>
            </a:r>
            <a:endParaRPr sz="1350" b="1" i="0">
              <a:solidFill>
                <a:srgbClr val="818A68"/>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7448550" y="2686050"/>
            <a:ext cx="3295650" cy="17335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Moves beyond one-shot algorithm aversion toward repeated dynamic reliance.</a:t>
            </a:r>
            <a:endParaRPr sz="1275"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Uses timing variation plus parity control to identify path effects rather than simple quality differences.</a:t>
            </a:r>
            <a:endParaRPr sz="1275"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Links visible path divergence to asymmetric learning without letting the EWA layer dominate the story.</a:t>
            </a:r>
            <a:endParaRPr sz="1275" b="0" i="0">
              <a:solidFill>
                <a:srgbClr val="231D17"/>
              </a:solidFill>
              <a:latin typeface="Times New Roman" panose="02020603050405020304"/>
              <a:ea typeface="Times New Roman" panose="02020603050405020304"/>
              <a:cs typeface="Times New Roman" panose="02020603050405020304"/>
            </a:endParaRPr>
          </a:p>
        </p:txBody>
      </p:sp>
      <p:sp>
        <p:nvSpPr>
          <p:cNvPr id="12" name="圆角矩形 11"/>
          <p:cNvSpPr>
            <a:spLocks noGrp="1"/>
          </p:cNvSpPr>
          <p:nvPr/>
        </p:nvSpPr>
        <p:spPr>
          <a:xfrm>
            <a:off x="914400" y="5372100"/>
            <a:ext cx="10287000" cy="704850"/>
          </a:xfrm>
          <a:prstGeom prst="roundRect">
            <a:avLst>
              <a:gd name="adj" fmla="val 16216"/>
            </a:avLst>
          </a:prstGeom>
          <a:solidFill>
            <a:srgbClr val="F1E8DA"/>
          </a:solidFill>
          <a:ln w="9525">
            <a:solidFill>
              <a:srgbClr val="E7D4C3"/>
            </a:solidFill>
            <a:prstDash val="solid"/>
          </a:ln>
        </p:spPr>
      </p:sp>
      <p:sp>
        <p:nvSpPr>
          <p:cNvPr id="13" name="圆角矩形 12"/>
          <p:cNvSpPr>
            <a:spLocks noGrp="1"/>
          </p:cNvSpPr>
          <p:nvPr/>
        </p:nvSpPr>
        <p:spPr>
          <a:xfrm>
            <a:off x="914400" y="5372100"/>
            <a:ext cx="57150" cy="704850"/>
          </a:xfrm>
          <a:prstGeom prst="roundRect">
            <a:avLst>
              <a:gd name="adj" fmla="val 33333"/>
            </a:avLst>
          </a:prstGeom>
          <a:solidFill>
            <a:srgbClr val="B77845"/>
          </a:solidFill>
          <a:ln w="9525">
            <a:solidFill>
              <a:srgbClr val="B77845"/>
            </a:solidFill>
            <a:prstDash val="solid"/>
          </a:ln>
        </p:spPr>
      </p:sp>
      <p:sp>
        <p:nvSpPr>
          <p:cNvPr id="14" name="矩形 13"/>
          <p:cNvSpPr>
            <a:spLocks noGrp="1"/>
          </p:cNvSpPr>
          <p:nvPr/>
        </p:nvSpPr>
        <p:spPr>
          <a:xfrm>
            <a:off x="1162050" y="5581650"/>
            <a:ext cx="9715500" cy="266700"/>
          </a:xfrm>
          <a:prstGeom prst="rect">
            <a:avLst/>
          </a:prstGeom>
          <a:noFill/>
          <a:ln w="0">
            <a:noFill/>
            <a:prstDash val="solid"/>
          </a:ln>
        </p:spPr>
        <p:txBody>
          <a:bodyPr wrap="square" lIns="0" tIns="0" rIns="0" bIns="0" anchor="t">
            <a:normAutofit fontScale="84155"/>
          </a:bodyPr>
          <a:lstStyle/>
          <a:p>
            <a:pPr algn="ctr">
              <a:lnSpc>
                <a:spcPct val="108000"/>
              </a:lnSpc>
              <a:buNone/>
              <a:defRPr sz="1425" b="1" i="0">
                <a:solidFill>
                  <a:srgbClr val="231D17"/>
                </a:solidFill>
                <a:latin typeface="Times New Roman" panose="02020603050405020304"/>
                <a:ea typeface="Times New Roman" panose="02020603050405020304"/>
                <a:cs typeface="Times New Roman" panose="02020603050405020304"/>
              </a:defRPr>
            </a:pPr>
            <a:r>
              <a:rPr sz="1425" b="1" i="0">
                <a:solidFill>
                  <a:srgbClr val="231D17"/>
                </a:solidFill>
                <a:latin typeface="Times New Roman" panose="02020603050405020304"/>
                <a:ea typeface="Times New Roman" panose="02020603050405020304"/>
                <a:cs typeface="Times New Roman" panose="02020603050405020304"/>
              </a:rPr>
              <a:t>Takeaway: under matched average performance, early AI misses may generate a more persistent under-reliance path than later or distributed misses.</a:t>
            </a:r>
            <a:endParaRPr sz="1425" b="1" i="0">
              <a:solidFill>
                <a:srgbClr val="231D17"/>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3364A"/>
        </a:solidFill>
        <a:effectLst/>
      </p:bgPr>
    </p:bg>
    <p:spTree>
      <p:nvGrpSpPr>
        <p:cNvPr id="1" name=""/>
        <p:cNvGrpSpPr/>
        <p:nvPr/>
      </p:nvGrpSpPr>
      <p:grpSpPr>
        <a:xfrm>
          <a:off x="0" y="0"/>
          <a:ext cx="0" cy="0"/>
          <a:chOff x="0" y="0"/>
          <a:chExt cx="0" cy="0"/>
        </a:xfrm>
      </p:grpSpPr>
      <p:sp>
        <p:nvSpPr>
          <p:cNvPr id="2" name="矩形 1"/>
          <p:cNvSpPr>
            <a:spLocks noGrp="1"/>
          </p:cNvSpPr>
          <p:nvPr/>
        </p:nvSpPr>
        <p:spPr>
          <a:xfrm>
            <a:off x="781050" y="800100"/>
            <a:ext cx="10287000" cy="2667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E7D4C3"/>
                </a:solidFill>
                <a:latin typeface="Times New Roman" panose="02020603050405020304"/>
                <a:ea typeface="Times New Roman" panose="02020603050405020304"/>
                <a:cs typeface="Times New Roman" panose="02020603050405020304"/>
              </a:defRPr>
            </a:pPr>
            <a:r>
              <a:rPr sz="900" b="1" i="0">
                <a:solidFill>
                  <a:srgbClr val="E7D4C3"/>
                </a:solidFill>
                <a:latin typeface="Times New Roman" panose="02020603050405020304"/>
                <a:ea typeface="Times New Roman" panose="02020603050405020304"/>
                <a:cs typeface="Times New Roman" panose="02020603050405020304"/>
              </a:rPr>
              <a:t>PAPER 3</a:t>
            </a:r>
            <a:endParaRPr sz="900" b="1" i="0">
              <a:solidFill>
                <a:srgbClr val="E7D4C3"/>
              </a:solidFill>
              <a:latin typeface="Times New Roman" panose="02020603050405020304"/>
              <a:ea typeface="Times New Roman" panose="02020603050405020304"/>
              <a:cs typeface="Times New Roman" panose="02020603050405020304"/>
            </a:endParaRPr>
          </a:p>
        </p:txBody>
      </p:sp>
      <p:sp>
        <p:nvSpPr>
          <p:cNvPr id="3" name="矩形 2"/>
          <p:cNvSpPr>
            <a:spLocks noGrp="1"/>
          </p:cNvSpPr>
          <p:nvPr/>
        </p:nvSpPr>
        <p:spPr>
          <a:xfrm>
            <a:off x="781050" y="1390650"/>
            <a:ext cx="9525000" cy="1143000"/>
          </a:xfrm>
          <a:prstGeom prst="rect">
            <a:avLst/>
          </a:prstGeom>
          <a:noFill/>
          <a:ln w="0">
            <a:noFill/>
            <a:prstDash val="solid"/>
          </a:ln>
        </p:spPr>
        <p:txBody>
          <a:bodyPr wrap="square" lIns="0" tIns="0" rIns="0" bIns="0" anchor="t">
            <a:normAutofit/>
          </a:bodyPr>
          <a:lstStyle/>
          <a:p>
            <a:pPr algn="l">
              <a:lnSpc>
                <a:spcPct val="98000"/>
              </a:lnSpc>
              <a:buNone/>
              <a:defRPr sz="3450" b="1" i="0">
                <a:solidFill>
                  <a:srgbClr val="F5F0E6"/>
                </a:solidFill>
                <a:latin typeface="Times New Roman" panose="02020603050405020304"/>
                <a:ea typeface="Times New Roman" panose="02020603050405020304"/>
                <a:cs typeface="Times New Roman" panose="02020603050405020304"/>
              </a:defRPr>
            </a:pPr>
            <a:r>
              <a:rPr sz="3450" b="1" i="0">
                <a:solidFill>
                  <a:srgbClr val="F5F0E6"/>
                </a:solidFill>
                <a:latin typeface="Times New Roman" panose="02020603050405020304"/>
                <a:ea typeface="Times New Roman" panose="02020603050405020304"/>
                <a:cs typeface="Times New Roman" panose="02020603050405020304"/>
              </a:rPr>
              <a:t>Paper 3: AI Responsibility Design and Escalatory Risk</a:t>
            </a:r>
            <a:endParaRPr sz="3450" b="1" i="0">
              <a:solidFill>
                <a:srgbClr val="F5F0E6"/>
              </a:solidFill>
              <a:latin typeface="Times New Roman" panose="02020603050405020304"/>
              <a:ea typeface="Times New Roman" panose="02020603050405020304"/>
              <a:cs typeface="Times New Roman" panose="02020603050405020304"/>
            </a:endParaRPr>
          </a:p>
        </p:txBody>
      </p:sp>
      <p:sp>
        <p:nvSpPr>
          <p:cNvPr id="4" name="矩形 3"/>
          <p:cNvSpPr>
            <a:spLocks noGrp="1"/>
          </p:cNvSpPr>
          <p:nvPr/>
        </p:nvSpPr>
        <p:spPr>
          <a:xfrm>
            <a:off x="781050" y="2724150"/>
            <a:ext cx="8858250" cy="704850"/>
          </a:xfrm>
          <a:prstGeom prst="rect">
            <a:avLst/>
          </a:prstGeom>
          <a:noFill/>
          <a:ln w="0">
            <a:noFill/>
            <a:prstDash val="solid"/>
          </a:ln>
        </p:spPr>
        <p:txBody>
          <a:bodyPr wrap="square" lIns="0" tIns="0" rIns="0" bIns="0" anchor="t">
            <a:normAutofit/>
          </a:bodyPr>
          <a:lstStyle/>
          <a:p>
            <a:pPr algn="l">
              <a:lnSpc>
                <a:spcPct val="106000"/>
              </a:lnSpc>
              <a:buNone/>
              <a:defRPr sz="1650" b="0" i="0">
                <a:solidFill>
                  <a:srgbClr val="D8CDC1"/>
                </a:solidFill>
                <a:latin typeface="Times New Roman" panose="02020603050405020304"/>
                <a:ea typeface="Times New Roman" panose="02020603050405020304"/>
                <a:cs typeface="Times New Roman" panose="02020603050405020304"/>
              </a:defRPr>
            </a:pPr>
            <a:r>
              <a:rPr sz="1650" b="0" i="0">
                <a:solidFill>
                  <a:srgbClr val="D8CDC1"/>
                </a:solidFill>
                <a:latin typeface="Times New Roman" panose="02020603050405020304"/>
                <a:ea typeface="Times New Roman" panose="02020603050405020304"/>
                <a:cs typeface="Times New Roman" panose="02020603050405020304"/>
              </a:rPr>
              <a:t>AI-supported decisions can change not only what people know, but whether they still feel accountable for the final move.</a:t>
            </a:r>
            <a:endParaRPr sz="1650" b="0" i="0">
              <a:solidFill>
                <a:srgbClr val="D8CDC1"/>
              </a:solidFill>
              <a:latin typeface="Times New Roman" panose="02020603050405020304"/>
              <a:ea typeface="Times New Roman" panose="02020603050405020304"/>
              <a:cs typeface="Times New Roman" panose="02020603050405020304"/>
            </a:endParaRPr>
          </a:p>
        </p:txBody>
      </p:sp>
      <p:sp>
        <p:nvSpPr>
          <p:cNvPr id="5" name="矩形 4"/>
          <p:cNvSpPr>
            <a:spLocks noGrp="1"/>
          </p:cNvSpPr>
          <p:nvPr/>
        </p:nvSpPr>
        <p:spPr>
          <a:xfrm>
            <a:off x="781050" y="3771900"/>
            <a:ext cx="9144000" cy="11430"/>
          </a:xfrm>
          <a:prstGeom prst="rect">
            <a:avLst/>
          </a:prstGeom>
          <a:solidFill>
            <a:srgbClr val="A99384"/>
          </a:solidFill>
          <a:ln w="0">
            <a:solidFill>
              <a:srgbClr val="A99384"/>
            </a:solidFill>
            <a:prstDash val="solid"/>
          </a:ln>
        </p:spPr>
      </p:sp>
      <p:sp>
        <p:nvSpPr>
          <p:cNvPr id="6" name="矩形 5"/>
          <p:cNvSpPr>
            <a:spLocks noGrp="1"/>
          </p:cNvSpPr>
          <p:nvPr/>
        </p:nvSpPr>
        <p:spPr>
          <a:xfrm>
            <a:off x="7810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Belief formation</a:t>
            </a:r>
            <a:endParaRPr sz="1350">
              <a:solidFill>
                <a:srgbClr val="E8E2D8"/>
              </a:solidFill>
            </a:endParaRPr>
          </a:p>
        </p:txBody>
      </p:sp>
      <p:sp>
        <p:nvSpPr>
          <p:cNvPr id="7" name="矩形 6"/>
          <p:cNvSpPr>
            <a:spLocks noGrp="1"/>
          </p:cNvSpPr>
          <p:nvPr/>
        </p:nvSpPr>
        <p:spPr>
          <a:xfrm>
            <a:off x="7810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1</a:t>
            </a:r>
            <a:endParaRPr sz="1200" b="1">
              <a:solidFill>
                <a:srgbClr val="C8A98D"/>
              </a:solidFill>
            </a:endParaRPr>
          </a:p>
        </p:txBody>
      </p:sp>
      <p:sp>
        <p:nvSpPr>
          <p:cNvPr id="8" name="矩形 7"/>
          <p:cNvSpPr>
            <a:spLocks noGrp="1"/>
          </p:cNvSpPr>
          <p:nvPr/>
        </p:nvSpPr>
        <p:spPr>
          <a:xfrm>
            <a:off x="39433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Reliance calibration</a:t>
            </a:r>
            <a:endParaRPr sz="1350">
              <a:solidFill>
                <a:srgbClr val="E8E2D8"/>
              </a:solidFill>
            </a:endParaRPr>
          </a:p>
        </p:txBody>
      </p:sp>
      <p:sp>
        <p:nvSpPr>
          <p:cNvPr id="9" name="矩形 8"/>
          <p:cNvSpPr>
            <a:spLocks noGrp="1"/>
          </p:cNvSpPr>
          <p:nvPr/>
        </p:nvSpPr>
        <p:spPr>
          <a:xfrm>
            <a:off x="39433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2</a:t>
            </a:r>
            <a:endParaRPr sz="1200" b="1">
              <a:solidFill>
                <a:srgbClr val="C8A98D"/>
              </a:solidFill>
            </a:endParaRPr>
          </a:p>
        </p:txBody>
      </p:sp>
      <p:sp>
        <p:nvSpPr>
          <p:cNvPr id="10" name="矩形 9"/>
          <p:cNvSpPr>
            <a:spLocks noGrp="1"/>
          </p:cNvSpPr>
          <p:nvPr/>
        </p:nvSpPr>
        <p:spPr>
          <a:xfrm>
            <a:off x="71056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Responsibility design</a:t>
            </a:r>
            <a:endParaRPr sz="1350">
              <a:solidFill>
                <a:srgbClr val="E8E2D8"/>
              </a:solidFill>
            </a:endParaRPr>
          </a:p>
        </p:txBody>
      </p:sp>
      <p:sp>
        <p:nvSpPr>
          <p:cNvPr id="11" name="矩形 10"/>
          <p:cNvSpPr>
            <a:spLocks noGrp="1"/>
          </p:cNvSpPr>
          <p:nvPr/>
        </p:nvSpPr>
        <p:spPr>
          <a:xfrm>
            <a:off x="71056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3</a:t>
            </a:r>
            <a:endParaRPr sz="1200" b="1">
              <a:solidFill>
                <a:srgbClr val="C8A98D"/>
              </a:solidFill>
            </a:endParaRPr>
          </a:p>
        </p:txBody>
      </p:sp>
      <p:sp>
        <p:nvSpPr>
          <p:cNvPr id="12" name="矩形 11"/>
          <p:cNvSpPr>
            <a:spLocks noGrp="1"/>
          </p:cNvSpPr>
          <p:nvPr/>
        </p:nvSpPr>
        <p:spPr>
          <a:xfrm>
            <a:off x="781050" y="5981700"/>
            <a:ext cx="2857500" cy="171450"/>
          </a:xfrm>
          <a:prstGeom prst="rect">
            <a:avLst/>
          </a:prstGeom>
          <a:noFill/>
          <a:ln w="0">
            <a:noFill/>
            <a:prstDash val="solid"/>
          </a:ln>
        </p:spPr>
        <p:txBody>
          <a:bodyPr/>
          <a:lstStyle/>
          <a:p>
            <a:pPr>
              <a:buNone/>
              <a:defRPr sz="1050" i="1">
                <a:solidFill>
                  <a:srgbClr val="D7D4CE"/>
                </a:solidFill>
              </a:defRPr>
            </a:pPr>
            <a:r>
              <a:rPr sz="1050" i="1">
                <a:solidFill>
                  <a:srgbClr val="D7D4CE"/>
                </a:solidFill>
              </a:rPr>
              <a:t>Action → responsibility</a:t>
            </a:r>
            <a:endParaRPr sz="1050" i="1">
              <a:solidFill>
                <a:srgbClr val="D7D4CE"/>
              </a:solidFill>
            </a:endParaRPr>
          </a:p>
        </p:txBody>
      </p:sp>
      <p:sp>
        <p:nvSpPr>
          <p:cNvPr id="13" name="矩形 12"/>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4" name="矩形 13"/>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endParaRPr sz="900" b="1">
              <a:solidFill>
                <a:srgbClr val="5F6875"/>
              </a:solidFill>
            </a:endParaRPr>
          </a:p>
        </p:txBody>
      </p:sp>
      <p:sp>
        <p:nvSpPr>
          <p:cNvPr id="15" name="矩形 14"/>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1</a:t>
            </a:r>
            <a:endParaRPr sz="900">
              <a:solidFill>
                <a:srgbClr val="5F6875"/>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243747"/>
        </a:solidFill>
        <a:effectLst/>
      </p:bgPr>
    </p:bg>
    <p:spTree>
      <p:nvGrpSpPr>
        <p:cNvPr id="1" name=""/>
        <p:cNvGrpSpPr/>
        <p:nvPr/>
      </p:nvGrpSpPr>
      <p:grpSpPr>
        <a:xfrm>
          <a:off x="0" y="0"/>
          <a:ext cx="0" cy="0"/>
          <a:chOff x="0" y="0"/>
          <a:chExt cx="0" cy="0"/>
        </a:xfrm>
      </p:grpSpPr>
      <p:sp>
        <p:nvSpPr>
          <p:cNvPr id="2" name="left-accent-rule"/>
          <p:cNvSpPr>
            <a:spLocks noGrp="1"/>
          </p:cNvSpPr>
          <p:nvPr/>
        </p:nvSpPr>
        <p:spPr>
          <a:xfrm>
            <a:off x="685800" y="628650"/>
            <a:ext cx="19050" cy="5619750"/>
          </a:xfrm>
          <a:prstGeom prst="rect">
            <a:avLst/>
          </a:prstGeom>
          <a:solidFill>
            <a:srgbClr val="BE7A46"/>
          </a:solidFill>
          <a:ln w="0">
            <a:noFill/>
            <a:prstDash val="solid"/>
          </a:ln>
        </p:spPr>
      </p:sp>
      <p:sp>
        <p:nvSpPr>
          <p:cNvPr id="3" name="bottom-rule"/>
          <p:cNvSpPr>
            <a:spLocks noGrp="1"/>
          </p:cNvSpPr>
          <p:nvPr/>
        </p:nvSpPr>
        <p:spPr>
          <a:xfrm>
            <a:off x="685800" y="6172200"/>
            <a:ext cx="10820400" cy="11430"/>
          </a:xfrm>
          <a:prstGeom prst="rect">
            <a:avLst/>
          </a:prstGeom>
          <a:solidFill>
            <a:srgbClr val="D9C7AA"/>
          </a:solidFill>
          <a:ln w="0">
            <a:noFill/>
            <a:prstDash val="solid"/>
          </a:ln>
        </p:spPr>
      </p:sp>
      <p:sp>
        <p:nvSpPr>
          <p:cNvPr id="4" name="eyebrow"/>
          <p:cNvSpPr>
            <a:spLocks noGrp="1"/>
          </p:cNvSpPr>
          <p:nvPr/>
        </p:nvSpPr>
        <p:spPr>
          <a:xfrm>
            <a:off x="895350" y="742950"/>
            <a:ext cx="4381500" cy="266700"/>
          </a:xfrm>
          <a:prstGeom prst="rect">
            <a:avLst/>
          </a:prstGeom>
          <a:noFill/>
          <a:ln w="0">
            <a:noFill/>
            <a:prstDash val="solid"/>
          </a:ln>
        </p:spPr>
        <p:txBody>
          <a:bodyPr wrap="none" lIns="0" tIns="0" rIns="0" bIns="0"/>
          <a:lstStyle/>
          <a:p>
            <a:pPr>
              <a:defRPr sz="1125" b="1">
                <a:solidFill>
                  <a:srgbClr val="D6A06F"/>
                </a:solidFill>
                <a:latin typeface="Times New Roman" panose="02020603050405020304"/>
                <a:ea typeface="Times New Roman" panose="02020603050405020304"/>
                <a:cs typeface="Times New Roman" panose="02020603050405020304"/>
              </a:defRPr>
            </a:pPr>
            <a:r>
              <a:rPr sz="1125" b="1">
                <a:solidFill>
                  <a:srgbClr val="D6A06F"/>
                </a:solidFill>
                <a:latin typeface="Times New Roman" panose="02020603050405020304"/>
                <a:ea typeface="Times New Roman" panose="02020603050405020304"/>
                <a:cs typeface="Times New Roman" panose="02020603050405020304"/>
              </a:rPr>
              <a:t>PAPER 3  ·  CONCRETE ENTRY POINT</a:t>
            </a:r>
            <a:endParaRPr sz="1125" b="1">
              <a:solidFill>
                <a:srgbClr val="D6A06F"/>
              </a:solidFill>
              <a:latin typeface="Times New Roman" panose="02020603050405020304"/>
              <a:ea typeface="Times New Roman" panose="02020603050405020304"/>
              <a:cs typeface="Times New Roman" panose="02020603050405020304"/>
            </a:endParaRPr>
          </a:p>
        </p:txBody>
      </p:sp>
      <p:sp>
        <p:nvSpPr>
          <p:cNvPr id="5" name="title"/>
          <p:cNvSpPr>
            <a:spLocks noGrp="1"/>
          </p:cNvSpPr>
          <p:nvPr/>
        </p:nvSpPr>
        <p:spPr>
          <a:xfrm>
            <a:off x="895350" y="1200150"/>
            <a:ext cx="5143500" cy="1695450"/>
          </a:xfrm>
          <a:prstGeom prst="rect">
            <a:avLst/>
          </a:prstGeom>
          <a:noFill/>
          <a:ln w="0">
            <a:noFill/>
            <a:prstDash val="solid"/>
          </a:ln>
        </p:spPr>
        <p:txBody>
          <a:bodyPr lIns="0" tIns="0" rIns="0" bIns="0"/>
          <a:lstStyle/>
          <a:p>
            <a:pPr>
              <a:lnSpc>
                <a:spcPct val="90000"/>
              </a:lnSpc>
              <a:buNone/>
              <a:defRPr sz="3525" b="1">
                <a:solidFill>
                  <a:srgbClr val="F3EBDD"/>
                </a:solidFill>
                <a:latin typeface="Times New Roman" panose="02020603050405020304"/>
                <a:ea typeface="Times New Roman" panose="02020603050405020304"/>
                <a:cs typeface="Times New Roman" panose="02020603050405020304"/>
              </a:defRPr>
            </a:pPr>
            <a:r>
              <a:rPr lang="en-US" altLang="zh-CN" sz="3525" b="1">
                <a:solidFill>
                  <a:srgbClr val="F3EBDD"/>
                </a:solidFill>
                <a:latin typeface="Times New Roman" panose="02020603050405020304"/>
                <a:ea typeface="Times New Roman" panose="02020603050405020304"/>
                <a:cs typeface="Times New Roman" panose="02020603050405020304"/>
              </a:rPr>
              <a:t>Claude has reportedly been used in U.S. military operations related to Iran.</a:t>
            </a:r>
            <a:endParaRPr lang="en-US" altLang="zh-CN" sz="3525" b="1">
              <a:solidFill>
                <a:srgbClr val="F3EBDD"/>
              </a:solidFill>
              <a:latin typeface="Times New Roman" panose="02020603050405020304"/>
              <a:ea typeface="Times New Roman" panose="02020603050405020304"/>
              <a:cs typeface="Times New Roman" panose="02020603050405020304"/>
            </a:endParaRPr>
          </a:p>
          <a:p>
            <a:pPr>
              <a:lnSpc>
                <a:spcPct val="90000"/>
              </a:lnSpc>
              <a:buNone/>
              <a:defRPr sz="3525" b="1">
                <a:solidFill>
                  <a:srgbClr val="F3EBDD"/>
                </a:solidFill>
                <a:latin typeface="Times New Roman" panose="02020603050405020304"/>
                <a:ea typeface="Times New Roman" panose="02020603050405020304"/>
                <a:cs typeface="Times New Roman" panose="02020603050405020304"/>
              </a:defRPr>
            </a:pPr>
            <a:endParaRPr lang="en-US" altLang="zh-CN" sz="3525" b="1">
              <a:solidFill>
                <a:srgbClr val="F3EBDD"/>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895350" y="3105150"/>
            <a:ext cx="5191125" cy="914400"/>
          </a:xfrm>
          <a:prstGeom prst="rect">
            <a:avLst/>
          </a:prstGeom>
          <a:noFill/>
          <a:ln w="0">
            <a:noFill/>
            <a:prstDash val="solid"/>
          </a:ln>
        </p:spPr>
        <p:txBody>
          <a:bodyPr lIns="0" tIns="0" rIns="0" bIns="0"/>
          <a:lstStyle/>
          <a:p>
            <a:pPr>
              <a:lnSpc>
                <a:spcPct val="114000"/>
              </a:lnSpc>
              <a:buNone/>
              <a:defRPr sz="1725">
                <a:solidFill>
                  <a:srgbClr val="E7DDCD"/>
                </a:solidFill>
                <a:latin typeface="Times New Roman" panose="02020603050405020304"/>
                <a:ea typeface="Times New Roman" panose="02020603050405020304"/>
                <a:cs typeface="Times New Roman" panose="02020603050405020304"/>
              </a:defRPr>
            </a:pPr>
            <a:r>
              <a:rPr sz="1725">
                <a:solidFill>
                  <a:srgbClr val="E7DDCD"/>
                </a:solidFill>
                <a:latin typeface="Times New Roman" panose="02020603050405020304"/>
                <a:ea typeface="Times New Roman" panose="02020603050405020304"/>
                <a:cs typeface="Times New Roman" panose="02020603050405020304"/>
              </a:rPr>
              <a:t>AI may not choose the final action. It can still analyze intelligence, simulate options, and structure what a human sees as actionable.</a:t>
            </a:r>
            <a:endParaRPr sz="1725">
              <a:solidFill>
                <a:srgbClr val="E7DDCD"/>
              </a:solidFill>
              <a:latin typeface="Times New Roman" panose="02020603050405020304"/>
              <a:ea typeface="Times New Roman" panose="02020603050405020304"/>
              <a:cs typeface="Times New Roman" panose="02020603050405020304"/>
            </a:endParaRPr>
          </a:p>
        </p:txBody>
      </p:sp>
      <p:sp>
        <p:nvSpPr>
          <p:cNvPr id="7" name="workflow-step-1"/>
          <p:cNvSpPr>
            <a:spLocks noGrp="1"/>
          </p:cNvSpPr>
          <p:nvPr/>
        </p:nvSpPr>
        <p:spPr>
          <a:xfrm>
            <a:off x="895350" y="4343400"/>
            <a:ext cx="1543050" cy="876300"/>
          </a:xfrm>
          <a:prstGeom prst="roundRect">
            <a:avLst>
              <a:gd name="adj" fmla="val 8696"/>
            </a:avLst>
          </a:prstGeom>
          <a:solidFill>
            <a:srgbClr val="182A38"/>
          </a:solidFill>
          <a:ln w="9525">
            <a:solidFill>
              <a:srgbClr val="7F8B77"/>
            </a:solidFill>
            <a:prstDash val="solid"/>
          </a:ln>
        </p:spPr>
      </p:sp>
      <p:sp>
        <p:nvSpPr>
          <p:cNvPr id="8" name="workflow-step-1-head"/>
          <p:cNvSpPr>
            <a:spLocks noGrp="1"/>
          </p:cNvSpPr>
          <p:nvPr/>
        </p:nvSpPr>
        <p:spPr>
          <a:xfrm>
            <a:off x="10477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AI analyzes</a:t>
            </a:r>
            <a:endParaRPr sz="1350" b="1">
              <a:solidFill>
                <a:srgbClr val="F3EBDD"/>
              </a:solidFill>
              <a:latin typeface="Times New Roman" panose="02020603050405020304"/>
              <a:ea typeface="Times New Roman" panose="02020603050405020304"/>
              <a:cs typeface="Times New Roman" panose="02020603050405020304"/>
            </a:endParaRPr>
          </a:p>
        </p:txBody>
      </p:sp>
      <p:sp>
        <p:nvSpPr>
          <p:cNvPr id="9" name="workflow-step-1-body"/>
          <p:cNvSpPr>
            <a:spLocks noGrp="1"/>
          </p:cNvSpPr>
          <p:nvPr/>
        </p:nvSpPr>
        <p:spPr>
          <a:xfrm>
            <a:off x="10477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intelligence</a:t>
            </a:r>
            <a:endParaRPr sz="1110">
              <a:solidFill>
                <a:srgbClr val="CFC5B6"/>
              </a:solidFill>
              <a:latin typeface="Times New Roman" panose="02020603050405020304"/>
              <a:ea typeface="Times New Roman" panose="02020603050405020304"/>
              <a:cs typeface="Times New Roman" panose="02020603050405020304"/>
            </a:endParaRP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simulation</a:t>
            </a:r>
            <a:endParaRPr sz="1110">
              <a:solidFill>
                <a:srgbClr val="CFC5B6"/>
              </a:solidFill>
              <a:latin typeface="Times New Roman" panose="02020603050405020304"/>
              <a:ea typeface="Times New Roman" panose="02020603050405020304"/>
              <a:cs typeface="Times New Roman" panose="02020603050405020304"/>
            </a:endParaRPr>
          </a:p>
        </p:txBody>
      </p:sp>
      <p:sp>
        <p:nvSpPr>
          <p:cNvPr id="10" name="workflow-arrow-1"/>
          <p:cNvSpPr>
            <a:spLocks noGrp="1"/>
          </p:cNvSpPr>
          <p:nvPr/>
        </p:nvSpPr>
        <p:spPr>
          <a:xfrm>
            <a:off x="2486025" y="4629150"/>
            <a:ext cx="247650" cy="266700"/>
          </a:xfrm>
          <a:prstGeom prst="rect">
            <a:avLst/>
          </a:prstGeom>
          <a:noFill/>
          <a:ln w="0">
            <a:noFill/>
            <a:prstDash val="solid"/>
          </a:ln>
        </p:spPr>
        <p:txBody>
          <a:bodyPr wrap="none" lIns="0" tIns="0" rIns="0" bIns="0"/>
          <a:lstStyle/>
          <a:p>
            <a:pPr algn="ctr">
              <a:defRPr sz="1800">
                <a:solidFill>
                  <a:srgbClr val="D6A06F"/>
                </a:solidFill>
                <a:latin typeface="Times New Roman" panose="02020603050405020304"/>
                <a:ea typeface="Times New Roman" panose="02020603050405020304"/>
                <a:cs typeface="Times New Roman" panose="02020603050405020304"/>
              </a:defRPr>
            </a:pPr>
            <a:r>
              <a:rPr sz="1800">
                <a:solidFill>
                  <a:srgbClr val="D6A06F"/>
                </a:solidFill>
                <a:latin typeface="Times New Roman" panose="02020603050405020304"/>
                <a:ea typeface="Times New Roman" panose="02020603050405020304"/>
                <a:cs typeface="Times New Roman" panose="02020603050405020304"/>
              </a:rPr>
              <a:t>→</a:t>
            </a:r>
            <a:endParaRPr sz="1800">
              <a:solidFill>
                <a:srgbClr val="D6A06F"/>
              </a:solidFill>
              <a:latin typeface="Times New Roman" panose="02020603050405020304"/>
              <a:ea typeface="Times New Roman" panose="02020603050405020304"/>
              <a:cs typeface="Times New Roman" panose="02020603050405020304"/>
            </a:endParaRPr>
          </a:p>
        </p:txBody>
      </p:sp>
      <p:sp>
        <p:nvSpPr>
          <p:cNvPr id="11" name="workflow-step-2"/>
          <p:cNvSpPr>
            <a:spLocks noGrp="1"/>
          </p:cNvSpPr>
          <p:nvPr/>
        </p:nvSpPr>
        <p:spPr>
          <a:xfrm>
            <a:off x="2647950" y="4343400"/>
            <a:ext cx="1543050" cy="876300"/>
          </a:xfrm>
          <a:prstGeom prst="roundRect">
            <a:avLst>
              <a:gd name="adj" fmla="val 8696"/>
            </a:avLst>
          </a:prstGeom>
          <a:noFill/>
          <a:ln w="9525">
            <a:solidFill>
              <a:srgbClr val="7F8B77"/>
            </a:solidFill>
            <a:prstDash val="solid"/>
          </a:ln>
        </p:spPr>
      </p:sp>
      <p:sp>
        <p:nvSpPr>
          <p:cNvPr id="12" name="workflow-step-2-head"/>
          <p:cNvSpPr>
            <a:spLocks noGrp="1"/>
          </p:cNvSpPr>
          <p:nvPr/>
        </p:nvSpPr>
        <p:spPr>
          <a:xfrm>
            <a:off x="28003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Human approves</a:t>
            </a:r>
            <a:endParaRPr sz="1350" b="1">
              <a:solidFill>
                <a:srgbClr val="F3EBDD"/>
              </a:solidFill>
              <a:latin typeface="Times New Roman" panose="02020603050405020304"/>
              <a:ea typeface="Times New Roman" panose="02020603050405020304"/>
              <a:cs typeface="Times New Roman" panose="02020603050405020304"/>
            </a:endParaRPr>
          </a:p>
        </p:txBody>
      </p:sp>
      <p:sp>
        <p:nvSpPr>
          <p:cNvPr id="13" name="workflow-step-2-body"/>
          <p:cNvSpPr>
            <a:spLocks noGrp="1"/>
          </p:cNvSpPr>
          <p:nvPr/>
        </p:nvSpPr>
        <p:spPr>
          <a:xfrm>
            <a:off x="28003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verify</a:t>
            </a:r>
            <a:endParaRPr sz="1110">
              <a:solidFill>
                <a:srgbClr val="CFC5B6"/>
              </a:solidFill>
              <a:latin typeface="Times New Roman" panose="02020603050405020304"/>
              <a:ea typeface="Times New Roman" panose="02020603050405020304"/>
              <a:cs typeface="Times New Roman" panose="02020603050405020304"/>
            </a:endParaRP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reject</a:t>
            </a:r>
            <a:endParaRPr sz="1110">
              <a:solidFill>
                <a:srgbClr val="CFC5B6"/>
              </a:solidFill>
              <a:latin typeface="Times New Roman" panose="02020603050405020304"/>
              <a:ea typeface="Times New Roman" panose="02020603050405020304"/>
              <a:cs typeface="Times New Roman" panose="02020603050405020304"/>
            </a:endParaRPr>
          </a:p>
        </p:txBody>
      </p:sp>
      <p:sp>
        <p:nvSpPr>
          <p:cNvPr id="14" name="workflow-arrow-2"/>
          <p:cNvSpPr>
            <a:spLocks noGrp="1"/>
          </p:cNvSpPr>
          <p:nvPr/>
        </p:nvSpPr>
        <p:spPr>
          <a:xfrm>
            <a:off x="4238625" y="4629150"/>
            <a:ext cx="247650" cy="266700"/>
          </a:xfrm>
          <a:prstGeom prst="rect">
            <a:avLst/>
          </a:prstGeom>
          <a:noFill/>
          <a:ln w="0">
            <a:noFill/>
            <a:prstDash val="solid"/>
          </a:ln>
        </p:spPr>
        <p:txBody>
          <a:bodyPr wrap="none" lIns="0" tIns="0" rIns="0" bIns="0"/>
          <a:lstStyle/>
          <a:p>
            <a:pPr algn="ctr">
              <a:defRPr sz="1800">
                <a:solidFill>
                  <a:srgbClr val="D6A06F"/>
                </a:solidFill>
                <a:latin typeface="Times New Roman" panose="02020603050405020304"/>
                <a:ea typeface="Times New Roman" panose="02020603050405020304"/>
                <a:cs typeface="Times New Roman" panose="02020603050405020304"/>
              </a:defRPr>
            </a:pPr>
            <a:r>
              <a:rPr sz="1800">
                <a:solidFill>
                  <a:srgbClr val="D6A06F"/>
                </a:solidFill>
                <a:latin typeface="Times New Roman" panose="02020603050405020304"/>
                <a:ea typeface="Times New Roman" panose="02020603050405020304"/>
                <a:cs typeface="Times New Roman" panose="02020603050405020304"/>
              </a:rPr>
              <a:t>→</a:t>
            </a:r>
            <a:endParaRPr sz="1800">
              <a:solidFill>
                <a:srgbClr val="D6A06F"/>
              </a:solidFill>
              <a:latin typeface="Times New Roman" panose="02020603050405020304"/>
              <a:ea typeface="Times New Roman" panose="02020603050405020304"/>
              <a:cs typeface="Times New Roman" panose="02020603050405020304"/>
            </a:endParaRPr>
          </a:p>
        </p:txBody>
      </p:sp>
      <p:sp>
        <p:nvSpPr>
          <p:cNvPr id="15" name="workflow-step-3"/>
          <p:cNvSpPr>
            <a:spLocks noGrp="1"/>
          </p:cNvSpPr>
          <p:nvPr/>
        </p:nvSpPr>
        <p:spPr>
          <a:xfrm>
            <a:off x="4400550" y="4343400"/>
            <a:ext cx="1543050" cy="876300"/>
          </a:xfrm>
          <a:prstGeom prst="roundRect">
            <a:avLst>
              <a:gd name="adj" fmla="val 8696"/>
            </a:avLst>
          </a:prstGeom>
          <a:noFill/>
          <a:ln w="9525">
            <a:solidFill>
              <a:srgbClr val="BE7A46"/>
            </a:solidFill>
            <a:prstDash val="solid"/>
          </a:ln>
        </p:spPr>
      </p:sp>
      <p:sp>
        <p:nvSpPr>
          <p:cNvPr id="16" name="workflow-step-3-head"/>
          <p:cNvSpPr>
            <a:spLocks noGrp="1"/>
          </p:cNvSpPr>
          <p:nvPr/>
        </p:nvSpPr>
        <p:spPr>
          <a:xfrm>
            <a:off x="45529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Ownership shifts</a:t>
            </a:r>
            <a:endParaRPr sz="1350" b="1">
              <a:solidFill>
                <a:srgbClr val="F3EBDD"/>
              </a:solidFill>
              <a:latin typeface="Times New Roman" panose="02020603050405020304"/>
              <a:ea typeface="Times New Roman" panose="02020603050405020304"/>
              <a:cs typeface="Times New Roman" panose="02020603050405020304"/>
            </a:endParaRPr>
          </a:p>
        </p:txBody>
      </p:sp>
      <p:sp>
        <p:nvSpPr>
          <p:cNvPr id="17" name="workflow-step-3-body"/>
          <p:cNvSpPr>
            <a:spLocks noGrp="1"/>
          </p:cNvSpPr>
          <p:nvPr/>
        </p:nvSpPr>
        <p:spPr>
          <a:xfrm>
            <a:off x="45529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feels</a:t>
            </a:r>
            <a:endParaRPr sz="1110">
              <a:solidFill>
                <a:srgbClr val="CFC5B6"/>
              </a:solidFill>
              <a:latin typeface="Times New Roman" panose="02020603050405020304"/>
              <a:ea typeface="Times New Roman" panose="02020603050405020304"/>
              <a:cs typeface="Times New Roman" panose="02020603050405020304"/>
            </a:endParaRP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shared</a:t>
            </a:r>
            <a:endParaRPr sz="1110">
              <a:solidFill>
                <a:srgbClr val="CFC5B6"/>
              </a:solidFill>
              <a:latin typeface="Times New Roman" panose="02020603050405020304"/>
              <a:ea typeface="Times New Roman" panose="02020603050405020304"/>
              <a:cs typeface="Times New Roman" panose="02020603050405020304"/>
            </a:endParaRPr>
          </a:p>
        </p:txBody>
      </p:sp>
      <p:sp>
        <p:nvSpPr>
          <p:cNvPr id="18" name="image-frame"/>
          <p:cNvSpPr>
            <a:spLocks noGrp="1"/>
          </p:cNvSpPr>
          <p:nvPr/>
        </p:nvSpPr>
        <p:spPr>
          <a:xfrm>
            <a:off x="6524625" y="876300"/>
            <a:ext cx="5010150" cy="2838450"/>
          </a:xfrm>
          <a:prstGeom prst="roundRect">
            <a:avLst>
              <a:gd name="adj" fmla="val 2685"/>
            </a:avLst>
          </a:prstGeom>
          <a:solidFill>
            <a:srgbClr val="0E1114"/>
          </a:solidFill>
          <a:ln w="9525">
            <a:solidFill>
              <a:srgbClr val="D9C7AA"/>
            </a:solidFill>
            <a:prstDash val="solid"/>
          </a:ln>
        </p:spPr>
      </p:sp>
      <p:pic>
        <p:nvPicPr>
          <p:cNvPr id="43" name="图片 42"/>
          <p:cNvPicPr>
            <a:picLocks noChangeAspect="1"/>
          </p:cNvPicPr>
          <p:nvPr/>
        </p:nvPicPr>
        <p:blipFill>
          <a:blip r:embed="rId1"/>
          <a:stretch>
            <a:fillRect/>
          </a:stretch>
        </p:blipFill>
        <p:spPr>
          <a:xfrm>
            <a:off x="6630449" y="933450"/>
            <a:ext cx="4798503" cy="2724150"/>
          </a:xfrm>
          <a:prstGeom prst="roundRect">
            <a:avLst>
              <a:gd name="adj" fmla="val 2797"/>
            </a:avLst>
          </a:prstGeom>
        </p:spPr>
      </p:pic>
      <p:sp>
        <p:nvSpPr>
          <p:cNvPr id="19" name="case-card"/>
          <p:cNvSpPr>
            <a:spLocks noGrp="1"/>
          </p:cNvSpPr>
          <p:nvPr/>
        </p:nvSpPr>
        <p:spPr>
          <a:xfrm>
            <a:off x="6524625" y="3943350"/>
            <a:ext cx="5010150" cy="1352550"/>
          </a:xfrm>
          <a:prstGeom prst="roundRect">
            <a:avLst>
              <a:gd name="adj" fmla="val 5634"/>
            </a:avLst>
          </a:prstGeom>
          <a:solidFill>
            <a:srgbClr val="F3EBDD"/>
          </a:solidFill>
          <a:ln w="9525">
            <a:solidFill>
              <a:srgbClr val="D9C7AA"/>
            </a:solidFill>
            <a:prstDash val="solid"/>
          </a:ln>
        </p:spPr>
      </p:sp>
      <p:sp>
        <p:nvSpPr>
          <p:cNvPr id="20" name="case-label"/>
          <p:cNvSpPr>
            <a:spLocks noGrp="1"/>
          </p:cNvSpPr>
          <p:nvPr/>
        </p:nvSpPr>
        <p:spPr>
          <a:xfrm>
            <a:off x="6791325" y="4133850"/>
            <a:ext cx="1714500" cy="209550"/>
          </a:xfrm>
          <a:prstGeom prst="rect">
            <a:avLst/>
          </a:prstGeom>
          <a:noFill/>
          <a:ln w="0">
            <a:noFill/>
            <a:prstDash val="solid"/>
          </a:ln>
        </p:spPr>
        <p:txBody>
          <a:bodyPr wrap="none" lIns="0" tIns="0" rIns="0" bIns="0"/>
          <a:lstStyle/>
          <a:p>
            <a:pPr>
              <a:defRPr sz="1050" b="1">
                <a:solidFill>
                  <a:srgbClr val="BE7A46"/>
                </a:solidFill>
                <a:latin typeface="Times New Roman" panose="02020603050405020304"/>
                <a:ea typeface="Times New Roman" panose="02020603050405020304"/>
                <a:cs typeface="Times New Roman" panose="02020603050405020304"/>
              </a:defRPr>
            </a:pPr>
            <a:r>
              <a:rPr sz="1050" b="1">
                <a:solidFill>
                  <a:srgbClr val="BE7A46"/>
                </a:solidFill>
                <a:latin typeface="Times New Roman" panose="02020603050405020304"/>
                <a:ea typeface="Times New Roman" panose="02020603050405020304"/>
                <a:cs typeface="Times New Roman" panose="02020603050405020304"/>
              </a:rPr>
              <a:t>REPORTED CASE</a:t>
            </a:r>
            <a:endParaRPr sz="1050" b="1">
              <a:solidFill>
                <a:srgbClr val="BE7A46"/>
              </a:solidFill>
              <a:latin typeface="Times New Roman" panose="02020603050405020304"/>
              <a:ea typeface="Times New Roman" panose="02020603050405020304"/>
              <a:cs typeface="Times New Roman" panose="02020603050405020304"/>
            </a:endParaRPr>
          </a:p>
        </p:txBody>
      </p:sp>
      <p:sp>
        <p:nvSpPr>
          <p:cNvPr id="21" name="case-copy"/>
          <p:cNvSpPr>
            <a:spLocks noGrp="1"/>
          </p:cNvSpPr>
          <p:nvPr/>
        </p:nvSpPr>
        <p:spPr>
          <a:xfrm>
            <a:off x="6791325" y="4400550"/>
            <a:ext cx="4400550" cy="838200"/>
          </a:xfrm>
          <a:prstGeom prst="rect">
            <a:avLst/>
          </a:prstGeom>
          <a:noFill/>
          <a:ln w="0">
            <a:noFill/>
            <a:prstDash val="solid"/>
          </a:ln>
        </p:spPr>
        <p:txBody>
          <a:bodyPr lIns="0" tIns="0" rIns="0" bIns="0"/>
          <a:lstStyle/>
          <a:p>
            <a:pPr>
              <a:lnSpc>
                <a:spcPct val="102000"/>
              </a:lnSpc>
              <a:buNone/>
              <a:defRPr sz="1260">
                <a:solidFill>
                  <a:srgbClr val="1F2F3A"/>
                </a:solidFill>
                <a:latin typeface="Times New Roman" panose="02020603050405020304"/>
                <a:ea typeface="Times New Roman" panose="02020603050405020304"/>
                <a:cs typeface="Times New Roman" panose="02020603050405020304"/>
              </a:defRPr>
            </a:pPr>
            <a:r>
              <a:rPr sz="1260">
                <a:solidFill>
                  <a:srgbClr val="1F2F3A"/>
                </a:solidFill>
                <a:latin typeface="Times New Roman" panose="02020603050405020304"/>
                <a:ea typeface="Times New Roman" panose="02020603050405020304"/>
                <a:cs typeface="Times New Roman" panose="02020603050405020304"/>
              </a:rPr>
              <a:t>CBS: Claude was reportedly used during the Iran operation; the exact role was not publicly disclosed.</a:t>
            </a:r>
            <a:endParaRPr sz="1260">
              <a:solidFill>
                <a:srgbClr val="1F2F3A"/>
              </a:solidFill>
              <a:latin typeface="Times New Roman" panose="02020603050405020304"/>
              <a:ea typeface="Times New Roman" panose="02020603050405020304"/>
              <a:cs typeface="Times New Roman" panose="02020603050405020304"/>
            </a:endParaRPr>
          </a:p>
          <a:p>
            <a:pPr>
              <a:lnSpc>
                <a:spcPct val="102000"/>
              </a:lnSpc>
              <a:buNone/>
              <a:defRPr sz="1260">
                <a:solidFill>
                  <a:srgbClr val="1F2F3A"/>
                </a:solidFill>
                <a:latin typeface="Times New Roman" panose="02020603050405020304"/>
                <a:ea typeface="Times New Roman" panose="02020603050405020304"/>
                <a:cs typeface="Times New Roman" panose="02020603050405020304"/>
              </a:defRPr>
            </a:pPr>
            <a:r>
              <a:rPr sz="1260">
                <a:solidFill>
                  <a:srgbClr val="1F2F3A"/>
                </a:solidFill>
                <a:latin typeface="Times New Roman" panose="02020603050405020304"/>
                <a:ea typeface="Times New Roman" panose="02020603050405020304"/>
                <a:cs typeface="Times New Roman" panose="02020603050405020304"/>
              </a:rPr>
              <a:t>Anthropic: Claude is described in intelligence analysis, simulation, operational planning, and cyber operations.</a:t>
            </a:r>
            <a:endParaRPr sz="1260">
              <a:solidFill>
                <a:srgbClr val="1F2F3A"/>
              </a:solidFill>
              <a:latin typeface="Times New Roman" panose="02020603050405020304"/>
              <a:ea typeface="Times New Roman" panose="02020603050405020304"/>
              <a:cs typeface="Times New Roman" panose="02020603050405020304"/>
            </a:endParaRPr>
          </a:p>
        </p:txBody>
      </p:sp>
      <p:sp>
        <p:nvSpPr>
          <p:cNvPr id="22" name="paper3-question"/>
          <p:cNvSpPr>
            <a:spLocks noGrp="1"/>
          </p:cNvSpPr>
          <p:nvPr/>
        </p:nvSpPr>
        <p:spPr>
          <a:xfrm>
            <a:off x="895350" y="5772150"/>
            <a:ext cx="10429875" cy="304800"/>
          </a:xfrm>
          <a:prstGeom prst="rect">
            <a:avLst/>
          </a:prstGeom>
          <a:noFill/>
          <a:ln w="0">
            <a:noFill/>
            <a:prstDash val="solid"/>
          </a:ln>
        </p:spPr>
        <p:txBody>
          <a:bodyPr wrap="none" lIns="0" tIns="0" rIns="0" bIns="0"/>
          <a:lstStyle/>
          <a:p>
            <a:pPr>
              <a:defRPr sz="1725" i="1">
                <a:solidFill>
                  <a:srgbClr val="F3EBDD"/>
                </a:solidFill>
                <a:latin typeface="Times New Roman" panose="02020603050405020304"/>
                <a:ea typeface="Times New Roman" panose="02020603050405020304"/>
                <a:cs typeface="Times New Roman" panose="02020603050405020304"/>
              </a:defRPr>
            </a:pPr>
            <a:r>
              <a:rPr sz="1725" i="1">
                <a:solidFill>
                  <a:srgbClr val="F3EBDD"/>
                </a:solidFill>
                <a:latin typeface="Times New Roman" panose="02020603050405020304"/>
                <a:ea typeface="Times New Roman" panose="02020603050405020304"/>
                <a:cs typeface="Times New Roman" panose="02020603050405020304"/>
              </a:rPr>
              <a:t>Paper 3 asks whether AI role proximity changes decisional ownership and felt accountability before a high-risk action is taken.</a:t>
            </a:r>
            <a:endParaRPr sz="1725" i="1">
              <a:solidFill>
                <a:srgbClr val="F3EBDD"/>
              </a:solidFill>
              <a:latin typeface="Times New Roman" panose="02020603050405020304"/>
              <a:ea typeface="Times New Roman" panose="02020603050405020304"/>
              <a:cs typeface="Times New Roman" panose="02020603050405020304"/>
            </a:endParaRPr>
          </a:p>
        </p:txBody>
      </p:sp>
      <p:sp>
        <p:nvSpPr>
          <p:cNvPr id="23" name="source-note"/>
          <p:cNvSpPr>
            <a:spLocks noGrp="1"/>
          </p:cNvSpPr>
          <p:nvPr/>
        </p:nvSpPr>
        <p:spPr>
          <a:xfrm>
            <a:off x="895350" y="6381750"/>
            <a:ext cx="10191750" cy="171450"/>
          </a:xfrm>
          <a:prstGeom prst="rect">
            <a:avLst/>
          </a:prstGeom>
          <a:noFill/>
          <a:ln w="0">
            <a:noFill/>
            <a:prstDash val="solid"/>
          </a:ln>
        </p:spPr>
        <p:txBody>
          <a:bodyPr wrap="none" lIns="0" tIns="0" rIns="0" bIns="0"/>
          <a:lstStyle/>
          <a:p>
            <a:pPr>
              <a:defRPr sz="865">
                <a:solidFill>
                  <a:srgbClr val="AAB2B7"/>
                </a:solidFill>
                <a:latin typeface="Times New Roman" panose="02020603050405020304"/>
                <a:ea typeface="Times New Roman" panose="02020603050405020304"/>
                <a:cs typeface="Times New Roman" panose="02020603050405020304"/>
              </a:defRPr>
            </a:pPr>
            <a:r>
              <a:rPr sz="865">
                <a:solidFill>
                  <a:srgbClr val="AAB2B7"/>
                </a:solidFill>
                <a:latin typeface="Times New Roman" panose="02020603050405020304"/>
                <a:ea typeface="Times New Roman" panose="02020603050405020304"/>
                <a:cs typeface="Times New Roman" panose="02020603050405020304"/>
              </a:rPr>
              <a:t>Sources: CBS News; Anthropic public statements and DoD agreement. Image: user-provided Maven Smart System illustration; visual entry point only.</a:t>
            </a:r>
            <a:endParaRPr sz="865">
              <a:solidFill>
                <a:srgbClr val="AAB2B7"/>
              </a:solidFill>
              <a:latin typeface="Times New Roman" panose="02020603050405020304"/>
              <a:ea typeface="Times New Roman" panose="02020603050405020304"/>
              <a:cs typeface="Times New Roman" panose="02020603050405020304"/>
            </a:endParaRPr>
          </a:p>
        </p:txBody>
      </p:sp>
      <p:sp>
        <p:nvSpPr>
          <p:cNvPr id="24" name="footer-left"/>
          <p:cNvSpPr>
            <a:spLocks noGrp="1"/>
          </p:cNvSpPr>
          <p:nvPr/>
        </p:nvSpPr>
        <p:spPr>
          <a:xfrm>
            <a:off x="895350" y="6610350"/>
            <a:ext cx="1143000" cy="152400"/>
          </a:xfrm>
          <a:prstGeom prst="rect">
            <a:avLst/>
          </a:prstGeom>
          <a:noFill/>
          <a:ln w="0">
            <a:noFill/>
            <a:prstDash val="solid"/>
          </a:ln>
        </p:spPr>
        <p:txBody>
          <a:bodyPr wrap="none" lIns="0" tIns="0" rIns="0" bIns="0"/>
          <a:lstStyle/>
          <a:p>
            <a:pPr>
              <a:defRPr sz="825" b="1">
                <a:solidFill>
                  <a:srgbClr val="91A0A9"/>
                </a:solidFill>
                <a:latin typeface="Times New Roman" panose="02020603050405020304"/>
                <a:ea typeface="Times New Roman" panose="02020603050405020304"/>
                <a:cs typeface="Times New Roman" panose="02020603050405020304"/>
              </a:defRPr>
            </a:pPr>
            <a:r>
              <a:rPr sz="825" b="1">
                <a:solidFill>
                  <a:srgbClr val="91A0A9"/>
                </a:solidFill>
                <a:latin typeface="Times New Roman" panose="02020603050405020304"/>
                <a:ea typeface="Times New Roman" panose="02020603050405020304"/>
                <a:cs typeface="Times New Roman" panose="02020603050405020304"/>
              </a:rPr>
              <a:t>PAPER 3</a:t>
            </a:r>
            <a:endParaRPr sz="825" b="1">
              <a:solidFill>
                <a:srgbClr val="91A0A9"/>
              </a:solidFill>
              <a:latin typeface="Times New Roman" panose="02020603050405020304"/>
              <a:ea typeface="Times New Roman" panose="02020603050405020304"/>
              <a:cs typeface="Times New Roman" panose="02020603050405020304"/>
            </a:endParaRPr>
          </a:p>
        </p:txBody>
      </p:sp>
      <p:sp>
        <p:nvSpPr>
          <p:cNvPr id="25" name="footer-right"/>
          <p:cNvSpPr>
            <a:spLocks noGrp="1"/>
          </p:cNvSpPr>
          <p:nvPr/>
        </p:nvSpPr>
        <p:spPr>
          <a:xfrm>
            <a:off x="11258550" y="6610350"/>
            <a:ext cx="266700" cy="152400"/>
          </a:xfrm>
          <a:prstGeom prst="rect">
            <a:avLst/>
          </a:prstGeom>
          <a:noFill/>
          <a:ln w="0">
            <a:noFill/>
            <a:prstDash val="solid"/>
          </a:ln>
        </p:spPr>
        <p:txBody>
          <a:bodyPr wrap="none" lIns="0" tIns="0" rIns="0" bIns="0"/>
          <a:lstStyle/>
          <a:p>
            <a:pPr algn="r">
              <a:defRPr sz="825">
                <a:solidFill>
                  <a:srgbClr val="91A0A9"/>
                </a:solidFill>
                <a:latin typeface="Times New Roman" panose="02020603050405020304"/>
                <a:ea typeface="Times New Roman" panose="02020603050405020304"/>
                <a:cs typeface="Times New Roman" panose="02020603050405020304"/>
              </a:defRPr>
            </a:pPr>
            <a:r>
              <a:rPr sz="825">
                <a:solidFill>
                  <a:srgbClr val="91A0A9"/>
                </a:solidFill>
                <a:latin typeface="Times New Roman" panose="02020603050405020304"/>
                <a:ea typeface="Times New Roman" panose="02020603050405020304"/>
                <a:cs typeface="Times New Roman" panose="02020603050405020304"/>
              </a:rPr>
              <a:t>2</a:t>
            </a:r>
            <a:endParaRPr sz="825">
              <a:solidFill>
                <a:srgbClr val="91A0A9"/>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EXISTING WORK</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5" name="矩形 4"/>
          <p:cNvSpPr>
            <a:spLocks noGrp="1"/>
          </p:cNvSpPr>
          <p:nvPr/>
        </p:nvSpPr>
        <p:spPr>
          <a:xfrm>
            <a:off x="914400" y="952500"/>
            <a:ext cx="9715500" cy="438150"/>
          </a:xfrm>
          <a:prstGeom prst="rect">
            <a:avLst/>
          </a:prstGeom>
          <a:noFill/>
          <a:ln w="0">
            <a:noFill/>
            <a:prstDash val="solid"/>
          </a:ln>
        </p:spPr>
        <p:txBody>
          <a:bodyPr wrap="square" lIns="0" tIns="0" rIns="0" bIns="0" anchor="t">
            <a:normAutofit/>
          </a:bodyPr>
          <a:lstStyle/>
          <a:p>
            <a:pPr algn="l">
              <a:lnSpc>
                <a:spcPct val="96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Responsibility Depends on How AI Enters the Decision Process</a:t>
            </a:r>
            <a:endParaRPr sz="2550" b="1" i="0">
              <a:solidFill>
                <a:srgbClr val="231D17"/>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nvSpPr>
        <p:spPr>
          <a:xfrm>
            <a:off x="914400" y="1466850"/>
            <a:ext cx="10096500" cy="400050"/>
          </a:xfrm>
          <a:prstGeom prst="rect">
            <a:avLst/>
          </a:prstGeom>
          <a:noFill/>
          <a:ln w="0">
            <a:noFill/>
            <a:prstDash val="solid"/>
          </a:ln>
        </p:spPr>
        <p:txBody>
          <a:bodyPr wrap="square" lIns="0" tIns="0" rIns="0" bIns="0" anchor="t">
            <a:normAutofit fontScale="96899" lnSpcReduction="10000"/>
          </a:bodyPr>
          <a:lstStyle/>
          <a:p>
            <a:pPr algn="l">
              <a:lnSpc>
                <a:spcPct val="105000"/>
              </a:lnSpc>
              <a:buNone/>
              <a:defRPr sz="1290" b="0" i="0">
                <a:solidFill>
                  <a:srgbClr val="6F665C"/>
                </a:solidFill>
                <a:latin typeface="Times New Roman" panose="02020603050405020304"/>
                <a:ea typeface="Times New Roman" panose="02020603050405020304"/>
                <a:cs typeface="Times New Roman" panose="02020603050405020304"/>
              </a:defRPr>
            </a:pPr>
            <a:r>
              <a:rPr sz="1290" b="0" i="0">
                <a:solidFill>
                  <a:srgbClr val="6F665C"/>
                </a:solidFill>
                <a:latin typeface="Times New Roman" panose="02020603050405020304"/>
                <a:ea typeface="Times New Roman" panose="02020603050405020304"/>
                <a:cs typeface="Times New Roman" panose="02020603050405020304"/>
              </a:rPr>
              <a:t>Three literatures motivate Paper 3: AI workflow design, delegation as responsibility management, and the gap between external accountability and felt accountability.</a:t>
            </a:r>
            <a:endParaRPr sz="1290" b="0" i="0">
              <a:solidFill>
                <a:srgbClr val="6F665C"/>
              </a:solidFill>
              <a:latin typeface="Times New Roman" panose="02020603050405020304"/>
              <a:ea typeface="Times New Roman" panose="02020603050405020304"/>
              <a:cs typeface="Times New Roman" panose="02020603050405020304"/>
            </a:endParaRPr>
          </a:p>
        </p:txBody>
      </p:sp>
      <p:sp>
        <p:nvSpPr>
          <p:cNvPr id="7" name="圆角矩形 6"/>
          <p:cNvSpPr>
            <a:spLocks noGrp="1"/>
          </p:cNvSpPr>
          <p:nvPr/>
        </p:nvSpPr>
        <p:spPr>
          <a:xfrm>
            <a:off x="914400" y="2114550"/>
            <a:ext cx="3257550" cy="3028950"/>
          </a:xfrm>
          <a:prstGeom prst="roundRect">
            <a:avLst>
              <a:gd name="adj" fmla="val 3774"/>
            </a:avLst>
          </a:prstGeom>
          <a:solidFill>
            <a:srgbClr val="FFFFFF"/>
          </a:solidFill>
          <a:ln w="9525">
            <a:solidFill>
              <a:srgbClr val="D8CCBB"/>
            </a:solidFill>
            <a:prstDash val="solid"/>
          </a:ln>
        </p:spPr>
      </p:sp>
      <p:sp>
        <p:nvSpPr>
          <p:cNvPr id="8" name="矩形 7"/>
          <p:cNvSpPr>
            <a:spLocks noGrp="1"/>
          </p:cNvSpPr>
          <p:nvPr/>
        </p:nvSpPr>
        <p:spPr>
          <a:xfrm>
            <a:off x="914400" y="2114550"/>
            <a:ext cx="3257550" cy="76200"/>
          </a:xfrm>
          <a:prstGeom prst="rect">
            <a:avLst/>
          </a:prstGeom>
          <a:solidFill>
            <a:srgbClr val="B77845"/>
          </a:solidFill>
          <a:ln w="0">
            <a:solidFill>
              <a:srgbClr val="B77845"/>
            </a:solidFill>
            <a:prstDash val="solid"/>
          </a:ln>
        </p:spPr>
      </p:sp>
      <p:sp>
        <p:nvSpPr>
          <p:cNvPr id="9" name="椭圆 8"/>
          <p:cNvSpPr>
            <a:spLocks noGrp="1"/>
          </p:cNvSpPr>
          <p:nvPr/>
        </p:nvSpPr>
        <p:spPr>
          <a:xfrm>
            <a:off x="1123950" y="2381250"/>
            <a:ext cx="323850" cy="323850"/>
          </a:xfrm>
          <a:prstGeom prst="ellipse">
            <a:avLst/>
          </a:prstGeom>
          <a:solidFill>
            <a:srgbClr val="B77845"/>
          </a:solidFill>
          <a:ln w="9525">
            <a:solidFill>
              <a:srgbClr val="B77845"/>
            </a:solidFill>
            <a:prstDash val="solid"/>
          </a:ln>
        </p:spPr>
      </p:sp>
      <p:sp>
        <p:nvSpPr>
          <p:cNvPr id="10" name="矩形 9"/>
          <p:cNvSpPr>
            <a:spLocks noGrp="1"/>
          </p:cNvSpPr>
          <p:nvPr/>
        </p:nvSpPr>
        <p:spPr>
          <a:xfrm>
            <a:off x="12287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1</a:t>
            </a:r>
            <a:endParaRPr sz="1050" b="1" i="0">
              <a:solidFill>
                <a:srgbClr val="F5F0E6"/>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16002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AI workflow position is a design variable</a:t>
            </a:r>
            <a:endParaRPr sz="1500" b="1" i="0">
              <a:solidFill>
                <a:srgbClr val="231D17"/>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1430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AI does not merely improve or replace prediction. It can enter before, during, or after human judgment, changing roles, authority, and process control.</a:t>
            </a:r>
            <a:endParaRPr sz="1135" b="0" i="0">
              <a:solidFill>
                <a:srgbClr val="231D17"/>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nvSpPr>
        <p:spPr>
          <a:xfrm>
            <a:off x="11430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(Shrestha et al., 2019; Raisch &amp; Krakowski, 2021; Yin et al., 2025; Krakowski et al., 2026)</a:t>
            </a:r>
            <a:endParaRPr sz="930" b="0" i="1">
              <a:solidFill>
                <a:srgbClr val="6F665C"/>
              </a:solidFill>
              <a:latin typeface="Times New Roman" panose="02020603050405020304"/>
              <a:ea typeface="Times New Roman" panose="02020603050405020304"/>
              <a:cs typeface="Times New Roman" panose="02020603050405020304"/>
            </a:endParaRPr>
          </a:p>
        </p:txBody>
      </p:sp>
      <p:sp>
        <p:nvSpPr>
          <p:cNvPr id="14" name="圆角矩形 13"/>
          <p:cNvSpPr>
            <a:spLocks noGrp="1"/>
          </p:cNvSpPr>
          <p:nvPr/>
        </p:nvSpPr>
        <p:spPr>
          <a:xfrm>
            <a:off x="1123950" y="4362450"/>
            <a:ext cx="2838450" cy="552450"/>
          </a:xfrm>
          <a:prstGeom prst="roundRect">
            <a:avLst>
              <a:gd name="adj" fmla="val 10345"/>
            </a:avLst>
          </a:prstGeom>
          <a:solidFill>
            <a:srgbClr val="F3EBDD"/>
          </a:solidFill>
          <a:ln w="9525">
            <a:solidFill>
              <a:srgbClr val="E4D5C2"/>
            </a:solidFill>
            <a:prstDash val="solid"/>
          </a:ln>
        </p:spPr>
      </p:sp>
      <p:sp>
        <p:nvSpPr>
          <p:cNvPr id="15" name="矩形 14"/>
          <p:cNvSpPr>
            <a:spLocks noGrp="1"/>
          </p:cNvSpPr>
          <p:nvPr/>
        </p:nvSpPr>
        <p:spPr>
          <a:xfrm>
            <a:off x="12954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Paper 3 treats AI role position as responsibility architecture.</a:t>
            </a:r>
            <a:endParaRPr sz="1015" b="1" i="0">
              <a:solidFill>
                <a:srgbClr val="231D17"/>
              </a:solidFill>
              <a:latin typeface="Times New Roman" panose="02020603050405020304"/>
              <a:ea typeface="Times New Roman" panose="02020603050405020304"/>
              <a:cs typeface="Times New Roman" panose="02020603050405020304"/>
            </a:endParaRPr>
          </a:p>
        </p:txBody>
      </p:sp>
      <p:sp>
        <p:nvSpPr>
          <p:cNvPr id="16" name="圆角矩形 15"/>
          <p:cNvSpPr>
            <a:spLocks noGrp="1"/>
          </p:cNvSpPr>
          <p:nvPr/>
        </p:nvSpPr>
        <p:spPr>
          <a:xfrm>
            <a:off x="4457700" y="2114550"/>
            <a:ext cx="3257550" cy="3028950"/>
          </a:xfrm>
          <a:prstGeom prst="roundRect">
            <a:avLst>
              <a:gd name="adj" fmla="val 3774"/>
            </a:avLst>
          </a:prstGeom>
          <a:solidFill>
            <a:srgbClr val="FFFFFF"/>
          </a:solidFill>
          <a:ln w="9525">
            <a:solidFill>
              <a:srgbClr val="D8CCBB"/>
            </a:solidFill>
            <a:prstDash val="solid"/>
          </a:ln>
        </p:spPr>
      </p:sp>
      <p:sp>
        <p:nvSpPr>
          <p:cNvPr id="17" name="矩形 16"/>
          <p:cNvSpPr>
            <a:spLocks noGrp="1"/>
          </p:cNvSpPr>
          <p:nvPr/>
        </p:nvSpPr>
        <p:spPr>
          <a:xfrm>
            <a:off x="4457700" y="2114550"/>
            <a:ext cx="3257550" cy="76200"/>
          </a:xfrm>
          <a:prstGeom prst="rect">
            <a:avLst/>
          </a:prstGeom>
          <a:solidFill>
            <a:srgbClr val="818A68"/>
          </a:solidFill>
          <a:ln w="0">
            <a:solidFill>
              <a:srgbClr val="818A68"/>
            </a:solidFill>
            <a:prstDash val="solid"/>
          </a:ln>
        </p:spPr>
      </p:sp>
      <p:sp>
        <p:nvSpPr>
          <p:cNvPr id="18" name="椭圆 17"/>
          <p:cNvSpPr>
            <a:spLocks noGrp="1"/>
          </p:cNvSpPr>
          <p:nvPr/>
        </p:nvSpPr>
        <p:spPr>
          <a:xfrm>
            <a:off x="4667250" y="2381250"/>
            <a:ext cx="323850" cy="323850"/>
          </a:xfrm>
          <a:prstGeom prst="ellipse">
            <a:avLst/>
          </a:prstGeom>
          <a:solidFill>
            <a:srgbClr val="818A68"/>
          </a:solidFill>
          <a:ln w="9525">
            <a:solidFill>
              <a:srgbClr val="818A68"/>
            </a:solidFill>
            <a:prstDash val="solid"/>
          </a:ln>
        </p:spPr>
      </p:sp>
      <p:sp>
        <p:nvSpPr>
          <p:cNvPr id="19" name="矩形 18"/>
          <p:cNvSpPr>
            <a:spLocks noGrp="1"/>
          </p:cNvSpPr>
          <p:nvPr/>
        </p:nvSpPr>
        <p:spPr>
          <a:xfrm>
            <a:off x="47720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2</a:t>
            </a:r>
            <a:endParaRPr sz="1050" b="1" i="0">
              <a:solidFill>
                <a:srgbClr val="F5F0E6"/>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51435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Delegation can shift blame and moral cost</a:t>
            </a:r>
            <a:endParaRPr sz="1500" b="1" i="0">
              <a:solidFill>
                <a:srgbClr val="231D17"/>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46863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Delegating difficult choices can reduce personal responsibility and redistribute blame across users, systems, programmers, and machine intermediaries.</a:t>
            </a:r>
            <a:endParaRPr sz="1135" b="0" i="0">
              <a:solidFill>
                <a:srgbClr val="231D17"/>
              </a:solidFill>
              <a:latin typeface="Times New Roman" panose="02020603050405020304"/>
              <a:ea typeface="Times New Roman" panose="02020603050405020304"/>
              <a:cs typeface="Times New Roman" panose="02020603050405020304"/>
            </a:endParaRPr>
          </a:p>
        </p:txBody>
      </p:sp>
      <p:sp>
        <p:nvSpPr>
          <p:cNvPr id="22" name="矩形 21"/>
          <p:cNvSpPr>
            <a:spLocks noGrp="1"/>
          </p:cNvSpPr>
          <p:nvPr/>
        </p:nvSpPr>
        <p:spPr>
          <a:xfrm>
            <a:off x="46863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(Steffel et al., 2016; Kirchkamp &amp; Strobel, 2019; Chevrier &amp; Teixeira, 2024; Kobis et al., 2025)</a:t>
            </a:r>
            <a:endParaRPr sz="930" b="0" i="1">
              <a:solidFill>
                <a:srgbClr val="6F665C"/>
              </a:solidFill>
              <a:latin typeface="Times New Roman" panose="02020603050405020304"/>
              <a:ea typeface="Times New Roman" panose="02020603050405020304"/>
              <a:cs typeface="Times New Roman" panose="02020603050405020304"/>
            </a:endParaRPr>
          </a:p>
        </p:txBody>
      </p:sp>
      <p:sp>
        <p:nvSpPr>
          <p:cNvPr id="23" name="圆角矩形 22"/>
          <p:cNvSpPr>
            <a:spLocks noGrp="1"/>
          </p:cNvSpPr>
          <p:nvPr/>
        </p:nvSpPr>
        <p:spPr>
          <a:xfrm>
            <a:off x="4667250" y="4362450"/>
            <a:ext cx="2838450" cy="552450"/>
          </a:xfrm>
          <a:prstGeom prst="roundRect">
            <a:avLst>
              <a:gd name="adj" fmla="val 10345"/>
            </a:avLst>
          </a:prstGeom>
          <a:solidFill>
            <a:srgbClr val="F3EBDD"/>
          </a:solidFill>
          <a:ln w="9525">
            <a:solidFill>
              <a:srgbClr val="E4D5C2"/>
            </a:solidFill>
            <a:prstDash val="solid"/>
          </a:ln>
        </p:spPr>
      </p:sp>
      <p:sp>
        <p:nvSpPr>
          <p:cNvPr id="24" name="矩形 23"/>
          <p:cNvSpPr>
            <a:spLocks noGrp="1"/>
          </p:cNvSpPr>
          <p:nvPr/>
        </p:nvSpPr>
        <p:spPr>
          <a:xfrm>
            <a:off x="48387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The question is when AI support weakens decision ownership before action.</a:t>
            </a:r>
            <a:endParaRPr sz="1015" b="1" i="0">
              <a:solidFill>
                <a:srgbClr val="231D17"/>
              </a:solidFill>
              <a:latin typeface="Times New Roman" panose="02020603050405020304"/>
              <a:ea typeface="Times New Roman" panose="02020603050405020304"/>
              <a:cs typeface="Times New Roman" panose="02020603050405020304"/>
            </a:endParaRPr>
          </a:p>
        </p:txBody>
      </p:sp>
      <p:sp>
        <p:nvSpPr>
          <p:cNvPr id="25" name="圆角矩形 24"/>
          <p:cNvSpPr>
            <a:spLocks noGrp="1"/>
          </p:cNvSpPr>
          <p:nvPr/>
        </p:nvSpPr>
        <p:spPr>
          <a:xfrm>
            <a:off x="8001000" y="2114550"/>
            <a:ext cx="3257550" cy="3028950"/>
          </a:xfrm>
          <a:prstGeom prst="roundRect">
            <a:avLst>
              <a:gd name="adj" fmla="val 3774"/>
            </a:avLst>
          </a:prstGeom>
          <a:solidFill>
            <a:srgbClr val="FFFFFF"/>
          </a:solidFill>
          <a:ln w="9525">
            <a:solidFill>
              <a:srgbClr val="D8CCBB"/>
            </a:solidFill>
            <a:prstDash val="solid"/>
          </a:ln>
        </p:spPr>
      </p:sp>
      <p:sp>
        <p:nvSpPr>
          <p:cNvPr id="26" name="矩形 25"/>
          <p:cNvSpPr>
            <a:spLocks noGrp="1"/>
          </p:cNvSpPr>
          <p:nvPr/>
        </p:nvSpPr>
        <p:spPr>
          <a:xfrm>
            <a:off x="8001000" y="2114550"/>
            <a:ext cx="3257550" cy="76200"/>
          </a:xfrm>
          <a:prstGeom prst="rect">
            <a:avLst/>
          </a:prstGeom>
          <a:solidFill>
            <a:srgbClr val="23384A"/>
          </a:solidFill>
          <a:ln w="0">
            <a:solidFill>
              <a:srgbClr val="23384A"/>
            </a:solidFill>
            <a:prstDash val="solid"/>
          </a:ln>
        </p:spPr>
      </p:sp>
      <p:sp>
        <p:nvSpPr>
          <p:cNvPr id="27" name="椭圆 26"/>
          <p:cNvSpPr>
            <a:spLocks noGrp="1"/>
          </p:cNvSpPr>
          <p:nvPr/>
        </p:nvSpPr>
        <p:spPr>
          <a:xfrm>
            <a:off x="8210550" y="2381250"/>
            <a:ext cx="323850" cy="323850"/>
          </a:xfrm>
          <a:prstGeom prst="ellipse">
            <a:avLst/>
          </a:prstGeom>
          <a:solidFill>
            <a:srgbClr val="23384A"/>
          </a:solidFill>
          <a:ln w="9525">
            <a:solidFill>
              <a:srgbClr val="23384A"/>
            </a:solidFill>
            <a:prstDash val="solid"/>
          </a:ln>
        </p:spPr>
      </p:sp>
      <p:sp>
        <p:nvSpPr>
          <p:cNvPr id="28" name="矩形 27"/>
          <p:cNvSpPr>
            <a:spLocks noGrp="1"/>
          </p:cNvSpPr>
          <p:nvPr/>
        </p:nvSpPr>
        <p:spPr>
          <a:xfrm>
            <a:off x="83153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3</a:t>
            </a:r>
            <a:endParaRPr sz="1050" b="1" i="0">
              <a:solidFill>
                <a:srgbClr val="F5F0E6"/>
              </a:solidFill>
              <a:latin typeface="Times New Roman" panose="02020603050405020304"/>
              <a:ea typeface="Times New Roman" panose="02020603050405020304"/>
              <a:cs typeface="Times New Roman" panose="02020603050405020304"/>
            </a:endParaRPr>
          </a:p>
        </p:txBody>
      </p:sp>
      <p:sp>
        <p:nvSpPr>
          <p:cNvPr id="29" name="矩形 28"/>
          <p:cNvSpPr>
            <a:spLocks noGrp="1"/>
          </p:cNvSpPr>
          <p:nvPr/>
        </p:nvSpPr>
        <p:spPr>
          <a:xfrm>
            <a:off x="86868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Accountability design is not felt accountability</a:t>
            </a:r>
            <a:endParaRPr sz="1500" b="1" i="0">
              <a:solidFill>
                <a:srgbClr val="231D17"/>
              </a:solidFill>
              <a:latin typeface="Times New Roman" panose="02020603050405020304"/>
              <a:ea typeface="Times New Roman" panose="02020603050405020304"/>
              <a:cs typeface="Times New Roman" panose="02020603050405020304"/>
            </a:endParaRPr>
          </a:p>
        </p:txBody>
      </p:sp>
      <p:sp>
        <p:nvSpPr>
          <p:cNvPr id="30" name="矩形 29"/>
          <p:cNvSpPr>
            <a:spLocks noGrp="1"/>
          </p:cNvSpPr>
          <p:nvPr/>
        </p:nvSpPr>
        <p:spPr>
          <a:xfrm>
            <a:off x="82296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Disclosure, approval, audit trails, and justification requirements create external accountability, but they may not automatically make people feel responsible.</a:t>
            </a:r>
            <a:endParaRPr sz="1135" b="0" i="0">
              <a:solidFill>
                <a:srgbClr val="231D17"/>
              </a:solidFill>
              <a:latin typeface="Times New Roman" panose="02020603050405020304"/>
              <a:ea typeface="Times New Roman" panose="02020603050405020304"/>
              <a:cs typeface="Times New Roman" panose="02020603050405020304"/>
            </a:endParaRPr>
          </a:p>
        </p:txBody>
      </p:sp>
      <p:sp>
        <p:nvSpPr>
          <p:cNvPr id="31" name="矩形 30"/>
          <p:cNvSpPr>
            <a:spLocks noGrp="1"/>
          </p:cNvSpPr>
          <p:nvPr/>
        </p:nvSpPr>
        <p:spPr>
          <a:xfrm>
            <a:off x="82296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(Lerner &amp; Tetlock, 1999; Hall et al., 2017; Aleksovska et al., 2019)</a:t>
            </a:r>
            <a:endParaRPr sz="930" b="0" i="1">
              <a:solidFill>
                <a:srgbClr val="6F665C"/>
              </a:solidFill>
              <a:latin typeface="Times New Roman" panose="02020603050405020304"/>
              <a:ea typeface="Times New Roman" panose="02020603050405020304"/>
              <a:cs typeface="Times New Roman" panose="02020603050405020304"/>
            </a:endParaRPr>
          </a:p>
        </p:txBody>
      </p:sp>
      <p:sp>
        <p:nvSpPr>
          <p:cNvPr id="32" name="圆角矩形 31"/>
          <p:cNvSpPr>
            <a:spLocks noGrp="1"/>
          </p:cNvSpPr>
          <p:nvPr/>
        </p:nvSpPr>
        <p:spPr>
          <a:xfrm>
            <a:off x="8210550" y="4362450"/>
            <a:ext cx="2838450" cy="552450"/>
          </a:xfrm>
          <a:prstGeom prst="roundRect">
            <a:avLst>
              <a:gd name="adj" fmla="val 10345"/>
            </a:avLst>
          </a:prstGeom>
          <a:solidFill>
            <a:srgbClr val="F3EBDD"/>
          </a:solidFill>
          <a:ln w="9525">
            <a:solidFill>
              <a:srgbClr val="E4D5C2"/>
            </a:solidFill>
            <a:prstDash val="solid"/>
          </a:ln>
        </p:spPr>
      </p:sp>
      <p:sp>
        <p:nvSpPr>
          <p:cNvPr id="33" name="矩形 32"/>
          <p:cNvSpPr>
            <a:spLocks noGrp="1"/>
          </p:cNvSpPr>
          <p:nvPr/>
        </p:nvSpPr>
        <p:spPr>
          <a:xfrm>
            <a:off x="83820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The experiment asks whether justification re-anchors responsibility to the human.</a:t>
            </a:r>
            <a:endParaRPr sz="1015" b="1" i="0">
              <a:solidFill>
                <a:srgbClr val="231D17"/>
              </a:solidFill>
              <a:latin typeface="Times New Roman" panose="02020603050405020304"/>
              <a:ea typeface="Times New Roman" panose="02020603050405020304"/>
              <a:cs typeface="Times New Roman" panose="02020603050405020304"/>
            </a:endParaRPr>
          </a:p>
        </p:txBody>
      </p:sp>
      <p:sp>
        <p:nvSpPr>
          <p:cNvPr id="34" name="圆角矩形 33"/>
          <p:cNvSpPr>
            <a:spLocks noGrp="1"/>
          </p:cNvSpPr>
          <p:nvPr/>
        </p:nvSpPr>
        <p:spPr>
          <a:xfrm>
            <a:off x="914400" y="5467350"/>
            <a:ext cx="10325100" cy="704850"/>
          </a:xfrm>
          <a:prstGeom prst="roundRect">
            <a:avLst>
              <a:gd name="adj" fmla="val 16216"/>
            </a:avLst>
          </a:prstGeom>
          <a:solidFill>
            <a:srgbClr val="23384A"/>
          </a:solidFill>
          <a:ln w="9525">
            <a:solidFill>
              <a:srgbClr val="23384A"/>
            </a:solidFill>
            <a:prstDash val="solid"/>
          </a:ln>
        </p:spPr>
      </p:sp>
      <p:sp>
        <p:nvSpPr>
          <p:cNvPr id="35" name="矩形 34"/>
          <p:cNvSpPr>
            <a:spLocks noGrp="1"/>
          </p:cNvSpPr>
          <p:nvPr/>
        </p:nvSpPr>
        <p:spPr>
          <a:xfrm>
            <a:off x="1219200" y="5638800"/>
            <a:ext cx="2000250" cy="209550"/>
          </a:xfrm>
          <a:prstGeom prst="rect">
            <a:avLst/>
          </a:prstGeom>
          <a:noFill/>
          <a:ln w="0">
            <a:noFill/>
            <a:prstDash val="solid"/>
          </a:ln>
        </p:spPr>
        <p:txBody>
          <a:bodyPr wrap="square" lIns="0" tIns="0" rIns="0" bIns="0" anchor="t">
            <a:normAutofit fontScale="91896"/>
          </a:bodyPr>
          <a:lstStyle/>
          <a:p>
            <a:pPr algn="l">
              <a:lnSpc>
                <a:spcPct val="105000"/>
              </a:lnSpc>
              <a:buNone/>
              <a:defRPr sz="1425" b="1" i="0">
                <a:solidFill>
                  <a:srgbClr val="E7D4C3"/>
                </a:solidFill>
                <a:latin typeface="Times New Roman" panose="02020603050405020304"/>
                <a:ea typeface="Times New Roman" panose="02020603050405020304"/>
                <a:cs typeface="Times New Roman" panose="02020603050405020304"/>
              </a:defRPr>
            </a:pPr>
            <a:r>
              <a:rPr sz="1425" b="1" i="0">
                <a:solidFill>
                  <a:srgbClr val="E7D4C3"/>
                </a:solidFill>
                <a:latin typeface="Times New Roman" panose="02020603050405020304"/>
                <a:ea typeface="Times New Roman" panose="02020603050405020304"/>
                <a:cs typeface="Times New Roman" panose="02020603050405020304"/>
              </a:rPr>
              <a:t>Paper 3's move</a:t>
            </a:r>
            <a:endParaRPr sz="1425" b="1" i="0">
              <a:solidFill>
                <a:srgbClr val="E7D4C3"/>
              </a:solidFill>
              <a:latin typeface="Times New Roman" panose="02020603050405020304"/>
              <a:ea typeface="Times New Roman" panose="02020603050405020304"/>
              <a:cs typeface="Times New Roman" panose="02020603050405020304"/>
            </a:endParaRPr>
          </a:p>
        </p:txBody>
      </p:sp>
      <p:sp>
        <p:nvSpPr>
          <p:cNvPr id="36" name="矩形 35"/>
          <p:cNvSpPr>
            <a:spLocks noGrp="1"/>
          </p:cNvSpPr>
          <p:nvPr/>
        </p:nvSpPr>
        <p:spPr>
          <a:xfrm>
            <a:off x="3429000" y="5619750"/>
            <a:ext cx="7239000" cy="323850"/>
          </a:xfrm>
          <a:prstGeom prst="rect">
            <a:avLst/>
          </a:prstGeom>
          <a:noFill/>
          <a:ln w="0">
            <a:noFill/>
            <a:prstDash val="solid"/>
          </a:ln>
        </p:spPr>
        <p:txBody>
          <a:bodyPr wrap="square" lIns="0" tIns="0" rIns="0" bIns="0" anchor="t">
            <a:normAutofit fontScale="74249"/>
          </a:bodyPr>
          <a:lstStyle/>
          <a:p>
            <a:pPr algn="ctr">
              <a:lnSpc>
                <a:spcPct val="106000"/>
              </a:lnSpc>
              <a:buNone/>
              <a:defRPr sz="1350" b="1" i="0">
                <a:solidFill>
                  <a:srgbClr val="F5F0E6"/>
                </a:solidFill>
                <a:latin typeface="Times New Roman" panose="02020603050405020304"/>
                <a:ea typeface="Times New Roman" panose="02020603050405020304"/>
                <a:cs typeface="Times New Roman" panose="02020603050405020304"/>
              </a:defRPr>
            </a:pPr>
            <a:r>
              <a:rPr sz="1350" b="1" i="0">
                <a:solidFill>
                  <a:srgbClr val="F5F0E6"/>
                </a:solidFill>
                <a:latin typeface="Times New Roman" panose="02020603050405020304"/>
                <a:ea typeface="Times New Roman" panose="02020603050405020304"/>
                <a:cs typeface="Times New Roman" panose="02020603050405020304"/>
              </a:rPr>
              <a:t>AI role proximity + justification requirement -&gt; decisional ownership, felt accountability, responsibility sharing, and escalatory choice.</a:t>
            </a:r>
            <a:endParaRPr sz="1350" b="1" i="0">
              <a:solidFill>
                <a:srgbClr val="F5F0E6"/>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RESEARCH GAP</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87119"/>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What is still missing: responsibility design inside AI-supported decisions</a:t>
            </a:r>
            <a:endParaRPr sz="2550" b="1" i="0">
              <a:solidFill>
                <a:srgbClr val="231D17"/>
              </a:solidFill>
              <a:latin typeface="Times New Roman" panose="02020603050405020304"/>
              <a:ea typeface="Times New Roman" panose="02020603050405020304"/>
              <a:cs typeface="Times New Roman" panose="02020603050405020304"/>
            </a:endParaRP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pic>
        <p:nvPicPr>
          <p:cNvPr id="13" name="图片 11"/>
          <p:cNvPicPr>
            <a:picLocks noChangeAspect="1"/>
          </p:cNvPicPr>
          <p:nvPr/>
        </p:nvPicPr>
        <p:blipFill>
          <a:blip r:embed="rId1"/>
          <a:stretch>
            <a:fillRect/>
          </a:stretch>
        </p:blipFill>
        <p:spPr>
          <a:xfrm>
            <a:off x="818787" y="1257300"/>
            <a:ext cx="10535376" cy="4762500"/>
          </a:xfrm>
          <a:prstGeom prst="rect">
            <a:avLst/>
          </a:prstGeom>
        </p:spPr>
      </p:pic>
      <p:sp>
        <p:nvSpPr>
          <p:cNvPr id="5" name="矩形 4"/>
          <p:cNvSpPr>
            <a:spLocks noGrp="1"/>
          </p:cNvSpPr>
          <p:nvPr/>
        </p:nvSpPr>
        <p:spPr>
          <a:xfrm>
            <a:off x="819150" y="6076950"/>
            <a:ext cx="8953500" cy="171450"/>
          </a:xfrm>
          <a:prstGeom prst="rect">
            <a:avLst/>
          </a:prstGeom>
          <a:noFill/>
          <a:ln w="0">
            <a:noFill/>
            <a:prstDash val="solid"/>
          </a:ln>
        </p:spPr>
        <p:txBody>
          <a:bodyPr wrap="square" lIns="0" tIns="0" rIns="0" bIns="0" anchor="t">
            <a:normAutofit fontScale="85230"/>
          </a:bodyPr>
          <a:lstStyle/>
          <a:p>
            <a:pPr algn="l">
              <a:lnSpc>
                <a:spcPct val="105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The gap is not simply whether AI affects responsibility. It is how visibility, traceability, attribution, and evaluability shape felt accountability before action.</a:t>
            </a:r>
            <a:endParaRPr sz="1125" b="1" i="0">
              <a:solidFill>
                <a:srgbClr val="231D17"/>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7" name="矩形 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endParaRPr sz="900" b="1">
              <a:solidFill>
                <a:srgbClr val="5F6875"/>
              </a:solidFill>
            </a:endParaRPr>
          </a:p>
        </p:txBody>
      </p:sp>
      <p:sp>
        <p:nvSpPr>
          <p:cNvPr id="8" name="矩形 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5</a:t>
            </a:r>
            <a:endParaRPr sz="900">
              <a:solidFill>
                <a:srgbClr val="5F6875"/>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pitchFamily="18" charset="0"/>
                <a:ea typeface="Times New Roman" panose="02020603050405020304"/>
                <a:cs typeface="Times New Roman" panose="02020603050405020304" pitchFamily="18" charset="0"/>
              </a:rPr>
              <a:t>TRADITIONAL THEORIES</a:t>
            </a:r>
            <a:endParaRPr sz="900" b="1" i="0">
              <a:solidFill>
                <a:srgbClr val="B77845"/>
              </a:solidFill>
              <a:latin typeface="Times New Roman" panose="02020603050405020304" pitchFamily="18" charset="0"/>
              <a:ea typeface="Times New Roman" panose="02020603050405020304"/>
              <a:cs typeface="Times New Roman" panose="02020603050405020304" pitchFamily="18" charset="0"/>
            </a:endParaRP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pitchFamily="18" charset="0"/>
                <a:ea typeface="Times New Roman" panose="02020603050405020304"/>
                <a:cs typeface="Times New Roman" panose="02020603050405020304" pitchFamily="18" charset="0"/>
              </a:rPr>
              <a:t>Traditional theories usually treat responsibility cost as given</a:t>
            </a:r>
            <a:endParaRPr sz="2550" b="1" i="0">
              <a:solidFill>
                <a:srgbClr val="231D17"/>
              </a:solidFill>
              <a:latin typeface="Times New Roman" panose="02020603050405020304" pitchFamily="18" charset="0"/>
              <a:ea typeface="Times New Roman" panose="02020603050405020304"/>
              <a:cs typeface="Times New Roman" panose="02020603050405020304" pitchFamily="18" charset="0"/>
            </a:endParaRP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custDataLst>
              <p:tags r:id="rId1"/>
            </p:custDataLst>
          </p:nvPr>
        </p:nvSpPr>
        <p:spPr>
          <a:xfrm>
            <a:off x="914400" y="1752600"/>
            <a:ext cx="4857750" cy="2171700"/>
          </a:xfrm>
          <a:prstGeom prst="roundRect">
            <a:avLst>
              <a:gd name="adj" fmla="val 5263"/>
            </a:avLst>
          </a:prstGeom>
          <a:solidFill>
            <a:srgbClr val="F9F6F0"/>
          </a:solidFill>
          <a:ln w="9525">
            <a:solidFill>
              <a:srgbClr val="B7ADA0"/>
            </a:solidFill>
            <a:prstDash val="solid"/>
          </a:ln>
        </p:spPr>
      </p:sp>
      <p:sp>
        <p:nvSpPr>
          <p:cNvPr id="6" name="矩形 5"/>
          <p:cNvSpPr>
            <a:spLocks noGrp="1"/>
          </p:cNvSpPr>
          <p:nvPr>
            <p:custDataLst>
              <p:tags r:id="rId2"/>
            </p:custDataLst>
          </p:nvPr>
        </p:nvSpPr>
        <p:spPr>
          <a:xfrm>
            <a:off x="1199515" y="1845310"/>
            <a:ext cx="2571750" cy="228600"/>
          </a:xfrm>
          <a:prstGeom prst="rect">
            <a:avLst/>
          </a:prstGeom>
          <a:noFill/>
          <a:ln w="0">
            <a:noFill/>
            <a:prstDash val="solid"/>
          </a:ln>
        </p:spPr>
        <p:txBody>
          <a:bodyPr/>
          <a:lstStyle/>
          <a:p>
            <a:pPr>
              <a:buNone/>
              <a:defRPr sz="1875" b="1">
                <a:solidFill>
                  <a:srgbClr val="23364A"/>
                </a:solidFill>
              </a:defRPr>
            </a:pPr>
            <a:r>
              <a:rPr sz="1875" b="1">
                <a:solidFill>
                  <a:srgbClr val="23364A"/>
                </a:solidFill>
                <a:latin typeface="Times New Roman" panose="02020603050405020304" pitchFamily="18" charset="0"/>
                <a:cs typeface="Times New Roman" panose="02020603050405020304" pitchFamily="18" charset="0"/>
              </a:rPr>
              <a:t>Rationalist conflict theories</a:t>
            </a:r>
            <a:endParaRPr sz="1875" b="1">
              <a:solidFill>
                <a:srgbClr val="23364A"/>
              </a:solidFill>
              <a:latin typeface="Times New Roman" panose="02020603050405020304" pitchFamily="18" charset="0"/>
              <a:cs typeface="Times New Roman" panose="02020603050405020304" pitchFamily="18" charset="0"/>
            </a:endParaRPr>
          </a:p>
        </p:txBody>
      </p:sp>
      <p:sp>
        <p:nvSpPr>
          <p:cNvPr id="7" name="矩形 6"/>
          <p:cNvSpPr>
            <a:spLocks noGrp="1"/>
          </p:cNvSpPr>
          <p:nvPr>
            <p:custDataLst>
              <p:tags r:id="rId3"/>
            </p:custDataLst>
          </p:nvPr>
        </p:nvSpPr>
        <p:spPr>
          <a:xfrm>
            <a:off x="1162050" y="2400300"/>
            <a:ext cx="4095750" cy="609600"/>
          </a:xfrm>
          <a:prstGeom prst="rect">
            <a:avLst/>
          </a:prstGeom>
          <a:noFill/>
          <a:ln w="0">
            <a:noFill/>
            <a:prstDash val="solid"/>
          </a:ln>
        </p:spPr>
        <p:txBody>
          <a:bodyPr/>
          <a:lstStyle/>
          <a:p>
            <a:pPr>
              <a:buNone/>
              <a:defRPr sz="1425">
                <a:solidFill>
                  <a:srgbClr val="1C2430"/>
                </a:solidFill>
              </a:defRPr>
            </a:pPr>
            <a:r>
              <a:rPr sz="1425">
                <a:solidFill>
                  <a:srgbClr val="1C2430"/>
                </a:solidFill>
                <a:latin typeface="Times New Roman" panose="02020603050405020304" pitchFamily="18" charset="0"/>
                <a:cs typeface="Times New Roman" panose="02020603050405020304" pitchFamily="18" charset="0"/>
              </a:rPr>
              <a:t>• Conflict escalates because of bargaining failure, information asymmetry, or commitment problems.</a:t>
            </a:r>
            <a:endParaRPr sz="1425">
              <a:solidFill>
                <a:srgbClr val="1C2430"/>
              </a:solidFill>
              <a:latin typeface="Times New Roman" panose="02020603050405020304" pitchFamily="18" charset="0"/>
              <a:cs typeface="Times New Roman" panose="02020603050405020304" pitchFamily="18" charset="0"/>
            </a:endParaRPr>
          </a:p>
          <a:p>
            <a:pPr>
              <a:buNone/>
              <a:defRPr sz="1425">
                <a:solidFill>
                  <a:srgbClr val="1C2430"/>
                </a:solidFill>
              </a:defRPr>
            </a:pPr>
            <a:r>
              <a:rPr sz="1425">
                <a:solidFill>
                  <a:srgbClr val="1C2430"/>
                </a:solidFill>
                <a:latin typeface="Times New Roman" panose="02020603050405020304" pitchFamily="18" charset="0"/>
                <a:cs typeface="Times New Roman" panose="02020603050405020304" pitchFamily="18" charset="0"/>
              </a:rPr>
              <a:t>• The decision maker is still assumed to bear the consequences of the choice.</a:t>
            </a:r>
            <a:endParaRPr sz="1425">
              <a:solidFill>
                <a:srgbClr val="1C2430"/>
              </a:solidFill>
              <a:latin typeface="Times New Roman" panose="02020603050405020304" pitchFamily="18" charset="0"/>
              <a:cs typeface="Times New Roman" panose="02020603050405020304" pitchFamily="18" charset="0"/>
            </a:endParaRPr>
          </a:p>
        </p:txBody>
      </p:sp>
      <p:sp>
        <p:nvSpPr>
          <p:cNvPr id="8" name="矩形 7"/>
          <p:cNvSpPr>
            <a:spLocks noGrp="1"/>
          </p:cNvSpPr>
          <p:nvPr>
            <p:custDataLst>
              <p:tags r:id="rId4"/>
            </p:custDataLst>
          </p:nvPr>
        </p:nvSpPr>
        <p:spPr>
          <a:xfrm>
            <a:off x="1162050" y="3429000"/>
            <a:ext cx="3429000" cy="304800"/>
          </a:xfrm>
          <a:prstGeom prst="rect">
            <a:avLst/>
          </a:prstGeom>
          <a:noFill/>
          <a:ln w="0">
            <a:noFill/>
            <a:prstDash val="solid"/>
          </a:ln>
        </p:spPr>
        <p:txBody>
          <a:bodyPr/>
          <a:lstStyle/>
          <a:p>
            <a:pPr>
              <a:buNone/>
              <a:defRPr sz="1125" i="1">
                <a:solidFill>
                  <a:srgbClr val="5F6875"/>
                </a:solidFill>
              </a:defRPr>
            </a:pPr>
            <a:r>
              <a:rPr sz="1125" i="1">
                <a:solidFill>
                  <a:srgbClr val="5F6875"/>
                </a:solidFill>
                <a:latin typeface="Times New Roman" panose="02020603050405020304" pitchFamily="18" charset="0"/>
                <a:cs typeface="Times New Roman" panose="02020603050405020304" pitchFamily="18" charset="0"/>
              </a:rPr>
              <a:t>Fearon (1995); Powell (2006)</a:t>
            </a:r>
            <a:endParaRPr sz="1125" i="1">
              <a:solidFill>
                <a:srgbClr val="5F6875"/>
              </a:solidFill>
              <a:latin typeface="Times New Roman" panose="02020603050405020304" pitchFamily="18" charset="0"/>
              <a:cs typeface="Times New Roman" panose="02020603050405020304" pitchFamily="18" charset="0"/>
            </a:endParaRPr>
          </a:p>
        </p:txBody>
      </p:sp>
      <p:sp>
        <p:nvSpPr>
          <p:cNvPr id="9" name="圆角矩形 8"/>
          <p:cNvSpPr>
            <a:spLocks noGrp="1"/>
          </p:cNvSpPr>
          <p:nvPr>
            <p:custDataLst>
              <p:tags r:id="rId5"/>
            </p:custDataLst>
          </p:nvPr>
        </p:nvSpPr>
        <p:spPr>
          <a:xfrm>
            <a:off x="6400800" y="1752600"/>
            <a:ext cx="4857750" cy="2171700"/>
          </a:xfrm>
          <a:prstGeom prst="roundRect">
            <a:avLst>
              <a:gd name="adj" fmla="val 5263"/>
            </a:avLst>
          </a:prstGeom>
          <a:solidFill>
            <a:srgbClr val="F9F6F0"/>
          </a:solidFill>
          <a:ln w="9525">
            <a:solidFill>
              <a:srgbClr val="B7ADA0"/>
            </a:solidFill>
            <a:prstDash val="solid"/>
          </a:ln>
        </p:spPr>
      </p:sp>
      <p:sp>
        <p:nvSpPr>
          <p:cNvPr id="10" name="矩形 9"/>
          <p:cNvSpPr>
            <a:spLocks noGrp="1"/>
          </p:cNvSpPr>
          <p:nvPr>
            <p:custDataLst>
              <p:tags r:id="rId6"/>
            </p:custDataLst>
          </p:nvPr>
        </p:nvSpPr>
        <p:spPr>
          <a:xfrm>
            <a:off x="6648450" y="2000250"/>
            <a:ext cx="2667000" cy="228600"/>
          </a:xfrm>
          <a:prstGeom prst="rect">
            <a:avLst/>
          </a:prstGeom>
          <a:noFill/>
          <a:ln w="0">
            <a:noFill/>
            <a:prstDash val="solid"/>
          </a:ln>
        </p:spPr>
        <p:txBody>
          <a:bodyPr/>
          <a:lstStyle/>
          <a:p>
            <a:pPr>
              <a:buNone/>
              <a:defRPr sz="1875" b="1">
                <a:solidFill>
                  <a:srgbClr val="23364A"/>
                </a:solidFill>
              </a:defRPr>
            </a:pPr>
            <a:r>
              <a:rPr sz="1875" b="1">
                <a:solidFill>
                  <a:srgbClr val="23364A"/>
                </a:solidFill>
                <a:latin typeface="Times New Roman" panose="02020603050405020304" pitchFamily="18" charset="0"/>
                <a:cs typeface="Times New Roman" panose="02020603050405020304" pitchFamily="18" charset="0"/>
              </a:rPr>
              <a:t>Behavioral risk theories</a:t>
            </a:r>
            <a:endParaRPr sz="1875" b="1">
              <a:solidFill>
                <a:srgbClr val="23364A"/>
              </a:solidFill>
              <a:latin typeface="Times New Roman" panose="02020603050405020304" pitchFamily="18" charset="0"/>
              <a:cs typeface="Times New Roman" panose="02020603050405020304" pitchFamily="18" charset="0"/>
            </a:endParaRPr>
          </a:p>
        </p:txBody>
      </p:sp>
      <p:sp>
        <p:nvSpPr>
          <p:cNvPr id="11" name="矩形 10"/>
          <p:cNvSpPr>
            <a:spLocks noGrp="1"/>
          </p:cNvSpPr>
          <p:nvPr>
            <p:custDataLst>
              <p:tags r:id="rId7"/>
            </p:custDataLst>
          </p:nvPr>
        </p:nvSpPr>
        <p:spPr>
          <a:xfrm>
            <a:off x="6648450" y="2400300"/>
            <a:ext cx="4095750" cy="609600"/>
          </a:xfrm>
          <a:prstGeom prst="rect">
            <a:avLst/>
          </a:prstGeom>
          <a:noFill/>
          <a:ln w="0">
            <a:noFill/>
            <a:prstDash val="solid"/>
          </a:ln>
        </p:spPr>
        <p:txBody>
          <a:bodyPr/>
          <a:lstStyle/>
          <a:p>
            <a:pPr>
              <a:buNone/>
              <a:defRPr sz="1425">
                <a:solidFill>
                  <a:srgbClr val="1C2430"/>
                </a:solidFill>
              </a:defRPr>
            </a:pPr>
            <a:r>
              <a:rPr sz="1425">
                <a:solidFill>
                  <a:srgbClr val="1C2430"/>
                </a:solidFill>
                <a:latin typeface="Times New Roman" panose="02020603050405020304" pitchFamily="18" charset="0"/>
                <a:cs typeface="Times New Roman" panose="02020603050405020304" pitchFamily="18" charset="0"/>
              </a:rPr>
              <a:t>• Loss aversion, framing, and affect can change whether people escalate or restrain.</a:t>
            </a:r>
            <a:endParaRPr sz="1425">
              <a:solidFill>
                <a:srgbClr val="1C2430"/>
              </a:solidFill>
              <a:latin typeface="Times New Roman" panose="02020603050405020304" pitchFamily="18" charset="0"/>
              <a:cs typeface="Times New Roman" panose="02020603050405020304" pitchFamily="18" charset="0"/>
            </a:endParaRPr>
          </a:p>
          <a:p>
            <a:pPr>
              <a:buNone/>
              <a:defRPr sz="1425">
                <a:solidFill>
                  <a:srgbClr val="1C2430"/>
                </a:solidFill>
              </a:defRPr>
            </a:pPr>
            <a:r>
              <a:rPr sz="1425">
                <a:solidFill>
                  <a:srgbClr val="1C2430"/>
                </a:solidFill>
                <a:latin typeface="Times New Roman" panose="02020603050405020304" pitchFamily="18" charset="0"/>
                <a:cs typeface="Times New Roman" panose="02020603050405020304" pitchFamily="18" charset="0"/>
              </a:rPr>
              <a:t>• But responsibility structure itself is rarely modeled as the variable that shifts choice.</a:t>
            </a:r>
            <a:endParaRPr sz="1425">
              <a:solidFill>
                <a:srgbClr val="1C2430"/>
              </a:solidFill>
              <a:latin typeface="Times New Roman" panose="02020603050405020304" pitchFamily="18" charset="0"/>
              <a:cs typeface="Times New Roman" panose="02020603050405020304" pitchFamily="18" charset="0"/>
            </a:endParaRPr>
          </a:p>
        </p:txBody>
      </p:sp>
      <p:sp>
        <p:nvSpPr>
          <p:cNvPr id="12" name="矩形 11"/>
          <p:cNvSpPr>
            <a:spLocks noGrp="1"/>
          </p:cNvSpPr>
          <p:nvPr>
            <p:custDataLst>
              <p:tags r:id="rId8"/>
            </p:custDataLst>
          </p:nvPr>
        </p:nvSpPr>
        <p:spPr>
          <a:xfrm>
            <a:off x="6648450" y="3429000"/>
            <a:ext cx="3429000" cy="304800"/>
          </a:xfrm>
          <a:prstGeom prst="rect">
            <a:avLst/>
          </a:prstGeom>
          <a:noFill/>
          <a:ln w="0">
            <a:noFill/>
            <a:prstDash val="solid"/>
          </a:ln>
        </p:spPr>
        <p:txBody>
          <a:bodyPr/>
          <a:lstStyle/>
          <a:p>
            <a:pPr>
              <a:buNone/>
              <a:defRPr sz="1125" i="1">
                <a:solidFill>
                  <a:srgbClr val="5F6875"/>
                </a:solidFill>
              </a:defRPr>
            </a:pPr>
            <a:r>
              <a:rPr sz="1125" i="1">
                <a:solidFill>
                  <a:srgbClr val="5F6875"/>
                </a:solidFill>
                <a:latin typeface="Times New Roman" panose="02020603050405020304" pitchFamily="18" charset="0"/>
                <a:cs typeface="Times New Roman" panose="02020603050405020304" pitchFamily="18" charset="0"/>
              </a:rPr>
              <a:t>Kahneman &amp; Tversky (1979); Loewenstein et al. (2001)</a:t>
            </a:r>
            <a:endParaRPr sz="1125" i="1">
              <a:solidFill>
                <a:srgbClr val="5F6875"/>
              </a:solidFill>
              <a:latin typeface="Times New Roman" panose="02020603050405020304" pitchFamily="18" charset="0"/>
              <a:cs typeface="Times New Roman" panose="02020603050405020304" pitchFamily="18" charset="0"/>
            </a:endParaRPr>
          </a:p>
        </p:txBody>
      </p:sp>
      <p:sp>
        <p:nvSpPr>
          <p:cNvPr id="13" name="圆角矩形 12"/>
          <p:cNvSpPr>
            <a:spLocks noGrp="1"/>
          </p:cNvSpPr>
          <p:nvPr/>
        </p:nvSpPr>
        <p:spPr>
          <a:xfrm>
            <a:off x="1733550" y="4476750"/>
            <a:ext cx="8724900" cy="1181100"/>
          </a:xfrm>
          <a:prstGeom prst="roundRect">
            <a:avLst>
              <a:gd name="adj" fmla="val 12903"/>
            </a:avLst>
          </a:prstGeom>
          <a:solidFill>
            <a:srgbClr val="23364A"/>
          </a:solidFill>
          <a:ln w="0">
            <a:solidFill>
              <a:srgbClr val="23364A"/>
            </a:solidFill>
            <a:prstDash val="solid"/>
          </a:ln>
        </p:spPr>
      </p:sp>
      <p:sp>
        <p:nvSpPr>
          <p:cNvPr id="14" name="矩形 13"/>
          <p:cNvSpPr>
            <a:spLocks noGrp="1"/>
          </p:cNvSpPr>
          <p:nvPr/>
        </p:nvSpPr>
        <p:spPr>
          <a:xfrm>
            <a:off x="2171700" y="4781550"/>
            <a:ext cx="7810500" cy="590550"/>
          </a:xfrm>
          <a:prstGeom prst="rect">
            <a:avLst/>
          </a:prstGeom>
          <a:noFill/>
          <a:ln w="0">
            <a:noFill/>
            <a:prstDash val="solid"/>
          </a:ln>
        </p:spPr>
        <p:txBody>
          <a:bodyPr wrap="square" lIns="0" tIns="0" rIns="0" bIns="0" anchor="t">
            <a:normAutofit/>
          </a:bodyPr>
          <a:lstStyle/>
          <a:p>
            <a:pPr algn="l">
              <a:lnSpc>
                <a:spcPct val="105000"/>
              </a:lnSpc>
              <a:buNone/>
              <a:defRPr sz="1425" b="1" i="0">
                <a:solidFill>
                  <a:srgbClr val="231D17"/>
                </a:solidFill>
                <a:latin typeface="Times New Roman" panose="02020603050405020304"/>
                <a:ea typeface="Times New Roman" panose="02020603050405020304"/>
                <a:cs typeface="Times New Roman" panose="02020603050405020304"/>
              </a:defRPr>
            </a:pPr>
            <a:r>
              <a:rPr sz="1425" i="0">
                <a:solidFill>
                  <a:schemeClr val="bg1"/>
                </a:solidFill>
                <a:latin typeface="Times New Roman" panose="02020603050405020304" pitchFamily="18" charset="0"/>
                <a:ea typeface="Times New Roman" panose="02020603050405020304"/>
                <a:cs typeface="Times New Roman" panose="02020603050405020304" pitchFamily="18" charset="0"/>
              </a:rPr>
              <a:t>The missing variable is not only belief or payoff perception, but the structure of accountability itself.</a:t>
            </a:r>
            <a:endParaRPr sz="1425" i="0">
              <a:solidFill>
                <a:schemeClr val="bg1"/>
              </a:solidFill>
              <a:latin typeface="Times New Roman" panose="02020603050405020304" pitchFamily="18" charset="0"/>
              <a:ea typeface="Times New Roman" panose="02020603050405020304"/>
              <a:cs typeface="Times New Roman" panose="02020603050405020304" pitchFamily="18" charset="0"/>
            </a:endParaRPr>
          </a:p>
        </p:txBody>
      </p:sp>
      <p:sp>
        <p:nvSpPr>
          <p:cNvPr id="15" name="矩形 14"/>
          <p:cNvSpPr>
            <a:spLocks noGrp="1"/>
          </p:cNvSpPr>
          <p:nvPr/>
        </p:nvSpPr>
        <p:spPr>
          <a:xfrm>
            <a:off x="438150" y="6885305"/>
            <a:ext cx="10820400" cy="11430"/>
          </a:xfrm>
          <a:prstGeom prst="rect">
            <a:avLst/>
          </a:prstGeom>
          <a:solidFill>
            <a:srgbClr val="B7ADA0"/>
          </a:solidFill>
          <a:ln w="0">
            <a:solidFill>
              <a:srgbClr val="B7ADA0"/>
            </a:solidFill>
            <a:prstDash val="solid"/>
          </a:ln>
        </p:spPr>
      </p:sp>
      <p:sp>
        <p:nvSpPr>
          <p:cNvPr id="16" name="矩形 15"/>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latin typeface="Times New Roman" panose="02020603050405020304" pitchFamily="18" charset="0"/>
                <a:cs typeface="Times New Roman" panose="02020603050405020304" pitchFamily="18" charset="0"/>
              </a:rPr>
              <a:t>PAPER 3</a:t>
            </a:r>
            <a:endParaRPr sz="900" b="1">
              <a:solidFill>
                <a:srgbClr val="5F6875"/>
              </a:solidFill>
              <a:latin typeface="Times New Roman" panose="02020603050405020304" pitchFamily="18" charset="0"/>
              <a:cs typeface="Times New Roman" panose="02020603050405020304" pitchFamily="18" charset="0"/>
            </a:endParaRPr>
          </a:p>
        </p:txBody>
      </p:sp>
      <p:sp>
        <p:nvSpPr>
          <p:cNvPr id="17" name="矩形 16"/>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latin typeface="Times New Roman" panose="02020603050405020304" pitchFamily="18" charset="0"/>
                <a:cs typeface="Times New Roman" panose="02020603050405020304" pitchFamily="18" charset="0"/>
              </a:rPr>
              <a:t>4</a:t>
            </a:r>
            <a:endParaRPr sz="900">
              <a:solidFill>
                <a:srgbClr val="5F687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RESEARCH QUESTIONS</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82533"/>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The paper asks how AI intervention and accountability design reshape high-risk choice</a:t>
            </a:r>
            <a:endParaRPr sz="2550" b="1" i="0">
              <a:solidFill>
                <a:srgbClr val="231D17"/>
              </a:solidFill>
              <a:latin typeface="Times New Roman" panose="02020603050405020304"/>
              <a:ea typeface="Times New Roman" panose="02020603050405020304"/>
              <a:cs typeface="Times New Roman" panose="02020603050405020304"/>
            </a:endParaRP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nvSpPr>
        <p:spPr>
          <a:xfrm>
            <a:off x="838200" y="1638300"/>
            <a:ext cx="3009900" cy="3219450"/>
          </a:xfrm>
          <a:prstGeom prst="roundRect">
            <a:avLst>
              <a:gd name="adj" fmla="val 3797"/>
            </a:avLst>
          </a:prstGeom>
          <a:solidFill>
            <a:srgbClr val="23364A"/>
          </a:solidFill>
          <a:ln w="0">
            <a:solidFill>
              <a:srgbClr val="23364A"/>
            </a:solidFill>
            <a:prstDash val="solid"/>
          </a:ln>
        </p:spPr>
      </p:sp>
      <p:sp>
        <p:nvSpPr>
          <p:cNvPr id="6" name="矩形 5"/>
          <p:cNvSpPr>
            <a:spLocks noGrp="1"/>
          </p:cNvSpPr>
          <p:nvPr/>
        </p:nvSpPr>
        <p:spPr>
          <a:xfrm>
            <a:off x="1104900" y="2000250"/>
            <a:ext cx="2438400" cy="11430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F5F0E6"/>
                </a:solidFill>
                <a:latin typeface="Times New Roman" panose="02020603050405020304"/>
                <a:ea typeface="Times New Roman" panose="02020603050405020304"/>
                <a:cs typeface="Times New Roman" panose="02020603050405020304"/>
              </a:defRPr>
            </a:pPr>
            <a:r>
              <a:rPr lang="en-US" altLang="zh-CN" sz="1800" b="1" i="0">
                <a:solidFill>
                  <a:srgbClr val="F5F0E6"/>
                </a:solidFill>
                <a:latin typeface="Times New Roman" panose="02020603050405020304"/>
                <a:ea typeface="Times New Roman" panose="02020603050405020304"/>
                <a:cs typeface="Times New Roman" panose="02020603050405020304"/>
              </a:rPr>
              <a:t>Overall Research Question</a:t>
            </a:r>
            <a:endParaRPr lang="en-US" altLang="zh-CN" sz="1800" b="1" i="0">
              <a:solidFill>
                <a:srgbClr val="F5F0E6"/>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1104900" y="2929255"/>
            <a:ext cx="2286000" cy="1376045"/>
          </a:xfrm>
          <a:prstGeom prst="rect">
            <a:avLst/>
          </a:prstGeom>
          <a:noFill/>
          <a:ln w="0">
            <a:noFill/>
            <a:prstDash val="solid"/>
          </a:ln>
        </p:spPr>
        <p:txBody>
          <a:bodyPr wrap="square" lIns="0" tIns="0" rIns="0" bIns="0" anchor="t">
            <a:normAutofit fontScale="90000"/>
          </a:bodyPr>
          <a:lstStyle/>
          <a:p>
            <a:pPr algn="l">
              <a:lnSpc>
                <a:spcPct val="108000"/>
              </a:lnSpc>
              <a:buNone/>
              <a:defRPr sz="1350" b="0" i="0">
                <a:solidFill>
                  <a:srgbClr val="E7D4C3"/>
                </a:solidFill>
                <a:latin typeface="Times New Roman" panose="02020603050405020304"/>
                <a:ea typeface="Times New Roman" panose="02020603050405020304"/>
                <a:cs typeface="Times New Roman" panose="02020603050405020304"/>
              </a:defRPr>
            </a:pPr>
            <a:r>
              <a:rPr lang="en-US" altLang="zh-CN" sz="1350" b="0" i="0">
                <a:solidFill>
                  <a:srgbClr val="E7D4C3"/>
                </a:solidFill>
                <a:latin typeface="Times New Roman" panose="02020603050405020304"/>
                <a:ea typeface="Times New Roman" panose="02020603050405020304"/>
                <a:cs typeface="Times New Roman" panose="02020603050405020304"/>
              </a:rPr>
              <a:t>How do accountability interventions in AI-supported high-risk strategic decision systems reshape felt accountability, decisional ownership, responsibility attribution, and escalatory choice?</a:t>
            </a:r>
            <a:endParaRPr lang="en-US" altLang="zh-CN" sz="1350" b="0" i="0">
              <a:solidFill>
                <a:srgbClr val="E7D4C3"/>
              </a:solidFill>
              <a:latin typeface="Times New Roman" panose="02020603050405020304"/>
              <a:ea typeface="Times New Roman" panose="02020603050405020304"/>
              <a:cs typeface="Times New Roman" panose="02020603050405020304"/>
            </a:endParaRPr>
          </a:p>
        </p:txBody>
      </p:sp>
      <p:sp>
        <p:nvSpPr>
          <p:cNvPr id="8" name="圆角矩形 7"/>
          <p:cNvSpPr>
            <a:spLocks noGrp="1"/>
          </p:cNvSpPr>
          <p:nvPr/>
        </p:nvSpPr>
        <p:spPr>
          <a:xfrm>
            <a:off x="4229100" y="1619250"/>
            <a:ext cx="7010400" cy="742950"/>
          </a:xfrm>
          <a:prstGeom prst="roundRect">
            <a:avLst>
              <a:gd name="adj" fmla="val 15385"/>
            </a:avLst>
          </a:prstGeom>
          <a:solidFill>
            <a:srgbClr val="F9F6F0"/>
          </a:solidFill>
          <a:ln w="9525">
            <a:solidFill>
              <a:srgbClr val="B7ADA0"/>
            </a:solidFill>
            <a:prstDash val="solid"/>
          </a:ln>
        </p:spPr>
      </p:sp>
      <p:sp>
        <p:nvSpPr>
          <p:cNvPr id="9" name="矩形 8"/>
          <p:cNvSpPr>
            <a:spLocks noGrp="1"/>
          </p:cNvSpPr>
          <p:nvPr/>
        </p:nvSpPr>
        <p:spPr>
          <a:xfrm>
            <a:off x="4495800" y="179070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RQ1. Does AI decision support itself change high-risk strategic choice?</a:t>
            </a:r>
            <a:endParaRPr sz="1275" b="0" i="0">
              <a:solidFill>
                <a:srgbClr val="231D17"/>
              </a:solidFill>
              <a:latin typeface="Times New Roman" panose="02020603050405020304"/>
              <a:ea typeface="Times New Roman" panose="02020603050405020304"/>
              <a:cs typeface="Times New Roman" panose="02020603050405020304"/>
            </a:endParaRPr>
          </a:p>
        </p:txBody>
      </p:sp>
      <p:sp>
        <p:nvSpPr>
          <p:cNvPr id="10" name="圆角矩形 9"/>
          <p:cNvSpPr>
            <a:spLocks noGrp="1"/>
          </p:cNvSpPr>
          <p:nvPr/>
        </p:nvSpPr>
        <p:spPr>
          <a:xfrm>
            <a:off x="4229100" y="2552700"/>
            <a:ext cx="7010400" cy="742950"/>
          </a:xfrm>
          <a:prstGeom prst="roundRect">
            <a:avLst>
              <a:gd name="adj" fmla="val 15385"/>
            </a:avLst>
          </a:prstGeom>
          <a:solidFill>
            <a:srgbClr val="EFE7DD"/>
          </a:solidFill>
          <a:ln w="9525">
            <a:solidFill>
              <a:srgbClr val="B7ADA0"/>
            </a:solidFill>
            <a:prstDash val="solid"/>
          </a:ln>
        </p:spPr>
        <p:txBody>
          <a:bodyPr/>
          <a:lstStyle/>
          <a:p>
            <a:endParaRPr lang="zh-CN" altLang="en-US"/>
          </a:p>
        </p:txBody>
      </p:sp>
      <p:sp>
        <p:nvSpPr>
          <p:cNvPr id="11" name="矩形 10"/>
          <p:cNvSpPr>
            <a:spLocks noGrp="1"/>
          </p:cNvSpPr>
          <p:nvPr/>
        </p:nvSpPr>
        <p:spPr>
          <a:xfrm>
            <a:off x="4495800" y="272415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RQ2.</a:t>
            </a:r>
            <a:r>
              <a:rPr lang="en-US" altLang="zh-CN" sz="1275" b="0" i="0">
                <a:solidFill>
                  <a:srgbClr val="231D17"/>
                </a:solidFill>
                <a:latin typeface="Times New Roman" panose="02020603050405020304"/>
                <a:ea typeface="Times New Roman" panose="02020603050405020304"/>
                <a:cs typeface="Times New Roman" panose="02020603050405020304"/>
              </a:rPr>
              <a:t>Does process confirmation increase ownership and felt accountability?</a:t>
            </a:r>
            <a:endParaRPr lang="en-US" altLang="zh-CN" sz="1275" b="0" i="0">
              <a:solidFill>
                <a:srgbClr val="231D17"/>
              </a:solidFill>
              <a:latin typeface="Times New Roman" panose="02020603050405020304"/>
              <a:ea typeface="Times New Roman" panose="02020603050405020304"/>
              <a:cs typeface="Times New Roman" panose="02020603050405020304"/>
            </a:endParaRPr>
          </a:p>
        </p:txBody>
      </p:sp>
      <p:sp>
        <p:nvSpPr>
          <p:cNvPr id="12" name="圆角矩形 11"/>
          <p:cNvSpPr>
            <a:spLocks noGrp="1"/>
          </p:cNvSpPr>
          <p:nvPr/>
        </p:nvSpPr>
        <p:spPr>
          <a:xfrm>
            <a:off x="4229100" y="3486150"/>
            <a:ext cx="7010400" cy="742950"/>
          </a:xfrm>
          <a:prstGeom prst="roundRect">
            <a:avLst>
              <a:gd name="adj" fmla="val 15385"/>
            </a:avLst>
          </a:prstGeom>
          <a:solidFill>
            <a:srgbClr val="F9F6F0"/>
          </a:solidFill>
          <a:ln w="9525">
            <a:solidFill>
              <a:srgbClr val="B7ADA0"/>
            </a:solidFill>
            <a:prstDash val="solid"/>
          </a:ln>
        </p:spPr>
      </p:sp>
      <p:sp>
        <p:nvSpPr>
          <p:cNvPr id="13" name="矩形 12"/>
          <p:cNvSpPr>
            <a:spLocks noGrp="1"/>
          </p:cNvSpPr>
          <p:nvPr/>
        </p:nvSpPr>
        <p:spPr>
          <a:xfrm>
            <a:off x="4495800" y="365760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RQ3. Can external accountability requirements increase felt accountability and decisional ownership?</a:t>
            </a:r>
            <a:endParaRPr sz="1275" b="0" i="0">
              <a:solidFill>
                <a:srgbClr val="231D17"/>
              </a:solidFill>
              <a:latin typeface="Times New Roman" panose="02020603050405020304"/>
              <a:ea typeface="Times New Roman" panose="02020603050405020304"/>
              <a:cs typeface="Times New Roman" panose="02020603050405020304"/>
            </a:endParaRPr>
          </a:p>
        </p:txBody>
      </p:sp>
      <p:sp>
        <p:nvSpPr>
          <p:cNvPr id="14" name="圆角矩形 13"/>
          <p:cNvSpPr>
            <a:spLocks noGrp="1"/>
          </p:cNvSpPr>
          <p:nvPr/>
        </p:nvSpPr>
        <p:spPr>
          <a:xfrm>
            <a:off x="4229100" y="4419600"/>
            <a:ext cx="7010400" cy="742950"/>
          </a:xfrm>
          <a:prstGeom prst="roundRect">
            <a:avLst>
              <a:gd name="adj" fmla="val 15385"/>
            </a:avLst>
          </a:prstGeom>
          <a:solidFill>
            <a:srgbClr val="EFE7DD"/>
          </a:solidFill>
          <a:ln w="9525">
            <a:solidFill>
              <a:srgbClr val="B7ADA0"/>
            </a:solidFill>
            <a:prstDash val="solid"/>
          </a:ln>
        </p:spPr>
      </p:sp>
      <p:sp>
        <p:nvSpPr>
          <p:cNvPr id="15" name="矩形 14"/>
          <p:cNvSpPr>
            <a:spLocks noGrp="1"/>
          </p:cNvSpPr>
          <p:nvPr/>
        </p:nvSpPr>
        <p:spPr>
          <a:xfrm>
            <a:off x="4495800" y="459105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RQ4. </a:t>
            </a:r>
            <a:r>
              <a:rPr lang="en-US" altLang="zh-CN" sz="1275" b="0" i="0">
                <a:solidFill>
                  <a:srgbClr val="231D17"/>
                </a:solidFill>
                <a:latin typeface="Times New Roman" panose="02020603050405020304"/>
                <a:ea typeface="Times New Roman" panose="02020603050405020304"/>
                <a:cs typeface="Times New Roman" panose="02020603050405020304"/>
              </a:rPr>
              <a:t>Do different accountability designs lead to different patterns of escalation behavior?</a:t>
            </a:r>
            <a:endParaRPr lang="en-US" altLang="zh-CN" sz="1275" b="0" i="0">
              <a:solidFill>
                <a:srgbClr val="231D17"/>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4248150" y="5543550"/>
            <a:ext cx="6667500" cy="381000"/>
          </a:xfrm>
          <a:prstGeom prst="rect">
            <a:avLst/>
          </a:prstGeom>
          <a:noFill/>
          <a:ln w="0">
            <a:noFill/>
            <a:prstDash val="solid"/>
          </a:ln>
        </p:spPr>
        <p:txBody>
          <a:bodyPr wrap="square" lIns="0" tIns="0" rIns="0" bIns="0" anchor="t">
            <a:normAutofit fontScale="73542"/>
          </a:bodyPr>
          <a:lstStyle/>
          <a:p>
            <a:pPr algn="l">
              <a:lnSpc>
                <a:spcPct val="105000"/>
              </a:lnSpc>
              <a:buNone/>
              <a:defRPr sz="1425" b="1" i="0">
                <a:solidFill>
                  <a:srgbClr val="231D17"/>
                </a:solidFill>
                <a:latin typeface="Times New Roman" panose="02020603050405020304"/>
                <a:ea typeface="Times New Roman" panose="02020603050405020304"/>
                <a:cs typeface="Times New Roman" panose="02020603050405020304"/>
              </a:defRPr>
            </a:pPr>
            <a:r>
              <a:rPr sz="1425" b="1" i="0">
                <a:solidFill>
                  <a:srgbClr val="231D17"/>
                </a:solidFill>
                <a:latin typeface="Times New Roman" panose="02020603050405020304"/>
                <a:ea typeface="Times New Roman" panose="02020603050405020304"/>
                <a:cs typeface="Times New Roman" panose="02020603050405020304"/>
              </a:rPr>
              <a:t>The question is not who gets blamed after failure. It is how responsibility design changes choices before the outcome is known.</a:t>
            </a:r>
            <a:endParaRPr sz="1425" b="1" i="0">
              <a:solidFill>
                <a:srgbClr val="231D17"/>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8" name="矩形 17"/>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endParaRPr sz="900" b="1">
              <a:solidFill>
                <a:srgbClr val="5F6875"/>
              </a:solidFill>
            </a:endParaRPr>
          </a:p>
        </p:txBody>
      </p:sp>
      <p:sp>
        <p:nvSpPr>
          <p:cNvPr id="19" name="矩形 18"/>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6</a:t>
            </a:r>
            <a:endParaRPr sz="900">
              <a:solidFill>
                <a:srgbClr val="5F6875"/>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9652000" y="-914400"/>
            <a:ext cx="2921000" cy="2921000"/>
          </a:xfrm>
          <a:prstGeom prst="ellipse">
            <a:avLst/>
          </a:prstGeom>
          <a:solidFill>
            <a:srgbClr val="EADFC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685800" y="546100"/>
            <a:ext cx="15240" cy="5588000"/>
          </a:xfrm>
          <a:prstGeom prst="rect">
            <a:avLst/>
          </a:prstGeom>
          <a:solidFill>
            <a:srgbClr val="D8C9B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889000" y="609600"/>
            <a:ext cx="152400" cy="152400"/>
          </a:xfrm>
          <a:prstGeom prst="rect">
            <a:avLst/>
          </a:prstGeom>
          <a:solidFill>
            <a:srgbClr val="B6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155700" y="584200"/>
            <a:ext cx="2667000" cy="369332"/>
          </a:xfrm>
          <a:prstGeom prst="rect">
            <a:avLst/>
          </a:prstGeom>
          <a:noFill/>
        </p:spPr>
        <p:txBody>
          <a:bodyPr vert="horz" wrap="square" lIns="0" tIns="0" rIns="0" bIns="0" rtlCol="0">
            <a:noAutofit/>
          </a:bodyPr>
          <a:lstStyle/>
          <a:p>
            <a:r>
              <a:rPr lang="en-US" altLang="zh-CN" sz="950" b="1">
                <a:solidFill>
                  <a:srgbClr val="B65A3C"/>
                </a:solidFill>
                <a:latin typeface="Times New Roman" panose="02020603050405020304" pitchFamily="18" charset="0"/>
              </a:rPr>
              <a:t>DESIGN</a:t>
            </a:r>
            <a:endParaRPr lang="zh-CN" altLang="en-US" sz="950" b="1">
              <a:solidFill>
                <a:srgbClr val="B65A3C"/>
              </a:solidFill>
              <a:latin typeface="Times New Roman" panose="02020603050405020304" pitchFamily="18" charset="0"/>
            </a:endParaRPr>
          </a:p>
        </p:txBody>
      </p:sp>
      <p:sp>
        <p:nvSpPr>
          <p:cNvPr id="6" name="文本框 5"/>
          <p:cNvSpPr txBox="1"/>
          <p:nvPr/>
        </p:nvSpPr>
        <p:spPr>
          <a:xfrm>
            <a:off x="889000" y="914400"/>
            <a:ext cx="10223500" cy="369332"/>
          </a:xfrm>
          <a:prstGeom prst="rect">
            <a:avLst/>
          </a:prstGeom>
          <a:noFill/>
        </p:spPr>
        <p:txBody>
          <a:bodyPr vert="horz" wrap="square" lIns="0" tIns="0" rIns="0" bIns="0" rtlCol="0">
            <a:noAutofit/>
          </a:bodyPr>
          <a:lstStyle/>
          <a:p>
            <a:r>
              <a:rPr lang="en-US" altLang="zh-CN" sz="2600" b="1">
                <a:solidFill>
                  <a:srgbClr val="203443"/>
                </a:solidFill>
                <a:latin typeface="Times New Roman" panose="02020603050405020304" pitchFamily="18" charset="0"/>
              </a:rPr>
              <a:t>From Research Questions to Experimental Conditions</a:t>
            </a:r>
            <a:endParaRPr lang="zh-CN" altLang="en-US" sz="2600" b="1">
              <a:solidFill>
                <a:srgbClr val="203443"/>
              </a:solidFill>
              <a:latin typeface="Times New Roman" panose="02020603050405020304" pitchFamily="18" charset="0"/>
            </a:endParaRPr>
          </a:p>
        </p:txBody>
      </p:sp>
      <p:sp>
        <p:nvSpPr>
          <p:cNvPr id="7" name="文本框 6"/>
          <p:cNvSpPr txBox="1"/>
          <p:nvPr/>
        </p:nvSpPr>
        <p:spPr>
          <a:xfrm>
            <a:off x="889000" y="1511300"/>
            <a:ext cx="10287000" cy="369332"/>
          </a:xfrm>
          <a:prstGeom prst="rect">
            <a:avLst/>
          </a:prstGeom>
          <a:noFill/>
        </p:spPr>
        <p:txBody>
          <a:bodyPr vert="horz" wrap="square" lIns="0" tIns="0" rIns="0" bIns="0" rtlCol="0">
            <a:noAutofit/>
          </a:bodyPr>
          <a:lstStyle/>
          <a:p>
            <a:r>
              <a:rPr lang="en-US" altLang="zh-CN" sz="1350">
                <a:solidFill>
                  <a:srgbClr val="5E6663"/>
                </a:solidFill>
                <a:latin typeface="Times New Roman" panose="02020603050405020304" pitchFamily="18" charset="0"/>
              </a:rPr>
              <a:t>The experiment holds the strategic environment and AI analysis constant, while varying the responsibility architecture around AI support.</a:t>
            </a:r>
            <a:endParaRPr lang="zh-CN" altLang="en-US" sz="1350">
              <a:solidFill>
                <a:srgbClr val="5E6663"/>
              </a:solidFill>
              <a:latin typeface="Times New Roman" panose="02020603050405020304" pitchFamily="18" charset="0"/>
            </a:endParaRPr>
          </a:p>
        </p:txBody>
      </p:sp>
      <p:sp>
        <p:nvSpPr>
          <p:cNvPr id="8" name="文本框 7"/>
          <p:cNvSpPr txBox="1"/>
          <p:nvPr/>
        </p:nvSpPr>
        <p:spPr>
          <a:xfrm>
            <a:off x="889000" y="1930400"/>
            <a:ext cx="3556000" cy="369332"/>
          </a:xfrm>
          <a:prstGeom prst="rect">
            <a:avLst/>
          </a:prstGeom>
          <a:noFill/>
        </p:spPr>
        <p:txBody>
          <a:bodyPr vert="horz" wrap="square" lIns="0" tIns="0" rIns="0" bIns="0" rtlCol="0">
            <a:noAutofit/>
          </a:bodyPr>
          <a:lstStyle/>
          <a:p>
            <a:r>
              <a:rPr lang="en-US" altLang="zh-CN" sz="1050" b="1">
                <a:solidFill>
                  <a:srgbClr val="B65A3C"/>
                </a:solidFill>
                <a:latin typeface="Times New Roman" panose="02020603050405020304" pitchFamily="18" charset="0"/>
              </a:rPr>
              <a:t>Four experimental conditions</a:t>
            </a:r>
            <a:endParaRPr lang="zh-CN" altLang="en-US" sz="1050" b="1">
              <a:solidFill>
                <a:srgbClr val="B65A3C"/>
              </a:solidFill>
              <a:latin typeface="Times New Roman" panose="02020603050405020304" pitchFamily="18" charset="0"/>
            </a:endParaRPr>
          </a:p>
        </p:txBody>
      </p:sp>
      <p:sp>
        <p:nvSpPr>
          <p:cNvPr id="9" name="矩形: 圆角 8"/>
          <p:cNvSpPr/>
          <p:nvPr/>
        </p:nvSpPr>
        <p:spPr>
          <a:xfrm>
            <a:off x="889000" y="2260600"/>
            <a:ext cx="2489200" cy="1625600"/>
          </a:xfrm>
          <a:prstGeom prst="roundRect">
            <a:avLst/>
          </a:prstGeom>
          <a:solidFill>
            <a:srgbClr val="FFFDF8"/>
          </a:solidFill>
          <a:ln w="9525">
            <a:solidFill>
              <a:srgbClr val="D8C9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89000" y="2260600"/>
            <a:ext cx="2489200" cy="63500"/>
          </a:xfrm>
          <a:prstGeom prst="rect">
            <a:avLst/>
          </a:prstGeom>
          <a:solidFill>
            <a:srgbClr val="687C6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054100" y="2476500"/>
            <a:ext cx="2159000" cy="369332"/>
          </a:xfrm>
          <a:prstGeom prst="rect">
            <a:avLst/>
          </a:prstGeom>
          <a:noFill/>
        </p:spPr>
        <p:txBody>
          <a:bodyPr vert="horz" wrap="square" lIns="0" tIns="0" rIns="0" bIns="0" rtlCol="0">
            <a:noAutofit/>
          </a:bodyPr>
          <a:lstStyle/>
          <a:p>
            <a:r>
              <a:rPr lang="en-US" altLang="zh-CN" sz="1250" b="1">
                <a:solidFill>
                  <a:srgbClr val="687C63"/>
                </a:solidFill>
                <a:latin typeface="Times New Roman" panose="02020603050405020304" pitchFamily="18" charset="0"/>
              </a:rPr>
              <a:t>1. Human-only</a:t>
            </a:r>
            <a:endParaRPr lang="zh-CN" altLang="en-US" sz="1250" b="1">
              <a:solidFill>
                <a:srgbClr val="687C63"/>
              </a:solidFill>
              <a:latin typeface="Times New Roman" panose="02020603050405020304" pitchFamily="18" charset="0"/>
            </a:endParaRPr>
          </a:p>
        </p:txBody>
      </p:sp>
      <p:sp>
        <p:nvSpPr>
          <p:cNvPr id="12" name="文本框 11"/>
          <p:cNvSpPr txBox="1"/>
          <p:nvPr/>
        </p:nvSpPr>
        <p:spPr>
          <a:xfrm>
            <a:off x="1054100" y="2768600"/>
            <a:ext cx="2159000" cy="369332"/>
          </a:xfrm>
          <a:prstGeom prst="rect">
            <a:avLst/>
          </a:prstGeom>
          <a:noFill/>
        </p:spPr>
        <p:txBody>
          <a:bodyPr vert="horz" wrap="square" lIns="0" tIns="0" rIns="0" bIns="0" rtlCol="0">
            <a:noAutofit/>
          </a:bodyPr>
          <a:lstStyle/>
          <a:p>
            <a:r>
              <a:rPr lang="en-US" altLang="zh-CN" sz="1450" b="1">
                <a:solidFill>
                  <a:srgbClr val="203443"/>
                </a:solidFill>
                <a:latin typeface="Times New Roman" panose="02020603050405020304" pitchFamily="18" charset="0"/>
              </a:rPr>
              <a:t>No AI support</a:t>
            </a:r>
            <a:endParaRPr lang="zh-CN" altLang="en-US" sz="1450" b="1">
              <a:solidFill>
                <a:srgbClr val="203443"/>
              </a:solidFill>
              <a:latin typeface="Times New Roman" panose="02020603050405020304" pitchFamily="18" charset="0"/>
            </a:endParaRPr>
          </a:p>
        </p:txBody>
      </p:sp>
      <p:sp>
        <p:nvSpPr>
          <p:cNvPr id="13" name="文本框 12"/>
          <p:cNvSpPr txBox="1"/>
          <p:nvPr/>
        </p:nvSpPr>
        <p:spPr>
          <a:xfrm>
            <a:off x="1054100" y="3175000"/>
            <a:ext cx="2159000" cy="369332"/>
          </a:xfrm>
          <a:prstGeom prst="rect">
            <a:avLst/>
          </a:prstGeom>
          <a:noFill/>
        </p:spPr>
        <p:txBody>
          <a:bodyPr vert="horz" wrap="square" lIns="0" tIns="0" rIns="0" bIns="0" rtlCol="0">
            <a:noAutofit/>
          </a:bodyPr>
          <a:lstStyle/>
          <a:p>
            <a:r>
              <a:rPr lang="en-US" altLang="zh-CN" sz="1170">
                <a:solidFill>
                  <a:srgbClr val="5E6663"/>
                </a:solidFill>
                <a:latin typeface="Times New Roman" panose="02020603050405020304" pitchFamily="18" charset="0"/>
              </a:rPr>
              <a:t>Participants make the high-risk choice based only on the payoff structure.</a:t>
            </a:r>
            <a:endParaRPr lang="zh-CN" altLang="en-US" sz="1170">
              <a:solidFill>
                <a:srgbClr val="5E6663"/>
              </a:solidFill>
              <a:latin typeface="Times New Roman" panose="02020603050405020304" pitchFamily="18" charset="0"/>
            </a:endParaRPr>
          </a:p>
        </p:txBody>
      </p:sp>
      <p:sp>
        <p:nvSpPr>
          <p:cNvPr id="14" name="矩形: 圆角 13"/>
          <p:cNvSpPr/>
          <p:nvPr/>
        </p:nvSpPr>
        <p:spPr>
          <a:xfrm>
            <a:off x="3606800" y="2260600"/>
            <a:ext cx="2489200" cy="1625600"/>
          </a:xfrm>
          <a:prstGeom prst="roundRect">
            <a:avLst/>
          </a:prstGeom>
          <a:solidFill>
            <a:srgbClr val="F5EFE4"/>
          </a:solidFill>
          <a:ln w="9525">
            <a:solidFill>
              <a:srgbClr val="D8C9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606800" y="2260600"/>
            <a:ext cx="2489200" cy="63500"/>
          </a:xfrm>
          <a:prstGeom prst="rect">
            <a:avLst/>
          </a:prstGeom>
          <a:solidFill>
            <a:srgbClr val="456A7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771900" y="2476500"/>
            <a:ext cx="2159000" cy="369332"/>
          </a:xfrm>
          <a:prstGeom prst="rect">
            <a:avLst/>
          </a:prstGeom>
          <a:noFill/>
        </p:spPr>
        <p:txBody>
          <a:bodyPr vert="horz" wrap="square" lIns="0" tIns="0" rIns="0" bIns="0" rtlCol="0">
            <a:noAutofit/>
          </a:bodyPr>
          <a:lstStyle/>
          <a:p>
            <a:r>
              <a:rPr lang="en-US" altLang="zh-CN" sz="1250" b="1">
                <a:solidFill>
                  <a:srgbClr val="456A78"/>
                </a:solidFill>
                <a:latin typeface="Times New Roman" panose="02020603050405020304" pitchFamily="18" charset="0"/>
              </a:rPr>
              <a:t>2. AI-baseline</a:t>
            </a:r>
            <a:endParaRPr lang="zh-CN" altLang="en-US" sz="1250" b="1">
              <a:solidFill>
                <a:srgbClr val="456A78"/>
              </a:solidFill>
              <a:latin typeface="Times New Roman" panose="02020603050405020304" pitchFamily="18" charset="0"/>
            </a:endParaRPr>
          </a:p>
        </p:txBody>
      </p:sp>
      <p:sp>
        <p:nvSpPr>
          <p:cNvPr id="17" name="文本框 16"/>
          <p:cNvSpPr txBox="1"/>
          <p:nvPr/>
        </p:nvSpPr>
        <p:spPr>
          <a:xfrm>
            <a:off x="3771900" y="2768600"/>
            <a:ext cx="2159000" cy="369332"/>
          </a:xfrm>
          <a:prstGeom prst="rect">
            <a:avLst/>
          </a:prstGeom>
          <a:noFill/>
        </p:spPr>
        <p:txBody>
          <a:bodyPr vert="horz" wrap="square" lIns="0" tIns="0" rIns="0" bIns="0" rtlCol="0">
            <a:noAutofit/>
          </a:bodyPr>
          <a:lstStyle/>
          <a:p>
            <a:r>
              <a:rPr lang="en-US" altLang="zh-CN" sz="1450" b="1">
                <a:solidFill>
                  <a:srgbClr val="203443"/>
                </a:solidFill>
                <a:latin typeface="Times New Roman" panose="02020603050405020304" pitchFamily="18" charset="0"/>
              </a:rPr>
              <a:t>AI analytical support</a:t>
            </a:r>
            <a:endParaRPr lang="zh-CN" altLang="en-US" sz="1450" b="1">
              <a:solidFill>
                <a:srgbClr val="203443"/>
              </a:solidFill>
              <a:latin typeface="Times New Roman" panose="02020603050405020304" pitchFamily="18" charset="0"/>
            </a:endParaRPr>
          </a:p>
        </p:txBody>
      </p:sp>
      <p:sp>
        <p:nvSpPr>
          <p:cNvPr id="64" name="文本框 63"/>
          <p:cNvSpPr txBox="1"/>
          <p:nvPr/>
        </p:nvSpPr>
        <p:spPr>
          <a:xfrm>
            <a:off x="3771900" y="3175000"/>
            <a:ext cx="2159000" cy="369332"/>
          </a:xfrm>
          <a:prstGeom prst="rect">
            <a:avLst/>
          </a:prstGeom>
          <a:noFill/>
        </p:spPr>
        <p:txBody>
          <a:bodyPr vert="horz" wrap="square" lIns="0" tIns="0" rIns="0" bIns="0" rtlCol="0">
            <a:noAutofit/>
          </a:bodyPr>
          <a:lstStyle/>
          <a:p>
            <a:r>
              <a:rPr lang="en-US" altLang="zh-CN" sz="1170">
                <a:solidFill>
                  <a:srgbClr val="5E6663"/>
                </a:solidFill>
                <a:latin typeface="Times New Roman" panose="02020603050405020304" pitchFamily="18" charset="0"/>
              </a:rPr>
              <a:t>Participants see AI-generated analysis before choosing, with no additional accountability intervention.</a:t>
            </a:r>
            <a:endParaRPr lang="zh-CN" altLang="en-US" sz="1170">
              <a:solidFill>
                <a:srgbClr val="5E6663"/>
              </a:solidFill>
              <a:latin typeface="Times New Roman" panose="02020603050405020304" pitchFamily="18" charset="0"/>
            </a:endParaRPr>
          </a:p>
        </p:txBody>
      </p:sp>
      <p:sp>
        <p:nvSpPr>
          <p:cNvPr id="65" name="矩形: 圆角 64"/>
          <p:cNvSpPr/>
          <p:nvPr/>
        </p:nvSpPr>
        <p:spPr>
          <a:xfrm>
            <a:off x="6324600" y="2260600"/>
            <a:ext cx="2489200" cy="1625600"/>
          </a:xfrm>
          <a:prstGeom prst="roundRect">
            <a:avLst/>
          </a:prstGeom>
          <a:solidFill>
            <a:srgbClr val="F1EEE1"/>
          </a:solidFill>
          <a:ln w="9525">
            <a:solidFill>
              <a:srgbClr val="D8C9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6324600" y="2260600"/>
            <a:ext cx="2489200" cy="63500"/>
          </a:xfrm>
          <a:prstGeom prst="rect">
            <a:avLst/>
          </a:prstGeom>
          <a:solidFill>
            <a:srgbClr val="BE8C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p:cNvSpPr txBox="1"/>
          <p:nvPr/>
        </p:nvSpPr>
        <p:spPr>
          <a:xfrm>
            <a:off x="6489700" y="2476500"/>
            <a:ext cx="2159000" cy="369332"/>
          </a:xfrm>
          <a:prstGeom prst="rect">
            <a:avLst/>
          </a:prstGeom>
          <a:noFill/>
        </p:spPr>
        <p:txBody>
          <a:bodyPr vert="horz" wrap="square" lIns="0" tIns="0" rIns="0" bIns="0" rtlCol="0">
            <a:noAutofit/>
          </a:bodyPr>
          <a:lstStyle/>
          <a:p>
            <a:r>
              <a:rPr lang="en-US" altLang="zh-CN" sz="1250" b="1">
                <a:solidFill>
                  <a:srgbClr val="BE8C3F"/>
                </a:solidFill>
                <a:latin typeface="Times New Roman" panose="02020603050405020304" pitchFamily="18" charset="0"/>
              </a:rPr>
              <a:t>3. AI-confirm</a:t>
            </a:r>
            <a:endParaRPr lang="zh-CN" altLang="en-US" sz="1250" b="1">
              <a:solidFill>
                <a:srgbClr val="BE8C3F"/>
              </a:solidFill>
              <a:latin typeface="Times New Roman" panose="02020603050405020304" pitchFamily="18" charset="0"/>
            </a:endParaRPr>
          </a:p>
        </p:txBody>
      </p:sp>
      <p:sp>
        <p:nvSpPr>
          <p:cNvPr id="68" name="文本框 67"/>
          <p:cNvSpPr txBox="1"/>
          <p:nvPr/>
        </p:nvSpPr>
        <p:spPr>
          <a:xfrm>
            <a:off x="6489700" y="2768600"/>
            <a:ext cx="2159000" cy="369332"/>
          </a:xfrm>
          <a:prstGeom prst="rect">
            <a:avLst/>
          </a:prstGeom>
          <a:noFill/>
        </p:spPr>
        <p:txBody>
          <a:bodyPr vert="horz" wrap="square" lIns="0" tIns="0" rIns="0" bIns="0" rtlCol="0">
            <a:noAutofit/>
          </a:bodyPr>
          <a:lstStyle/>
          <a:p>
            <a:r>
              <a:rPr lang="en-US" altLang="zh-CN" sz="1450" b="1">
                <a:solidFill>
                  <a:srgbClr val="203443"/>
                </a:solidFill>
                <a:latin typeface="Times New Roman" panose="02020603050405020304" pitchFamily="18" charset="0"/>
              </a:rPr>
              <a:t>Explicit human passage</a:t>
            </a:r>
            <a:endParaRPr lang="zh-CN" altLang="en-US" sz="1450" b="1">
              <a:solidFill>
                <a:srgbClr val="203443"/>
              </a:solidFill>
              <a:latin typeface="Times New Roman" panose="02020603050405020304" pitchFamily="18" charset="0"/>
            </a:endParaRPr>
          </a:p>
        </p:txBody>
      </p:sp>
      <p:sp>
        <p:nvSpPr>
          <p:cNvPr id="69" name="文本框 68"/>
          <p:cNvSpPr txBox="1"/>
          <p:nvPr/>
        </p:nvSpPr>
        <p:spPr>
          <a:xfrm>
            <a:off x="6489700" y="3175000"/>
            <a:ext cx="2159000" cy="369332"/>
          </a:xfrm>
          <a:prstGeom prst="rect">
            <a:avLst/>
          </a:prstGeom>
          <a:noFill/>
        </p:spPr>
        <p:txBody>
          <a:bodyPr vert="horz" wrap="square" lIns="0" tIns="0" rIns="0" bIns="0" rtlCol="0">
            <a:noAutofit/>
          </a:bodyPr>
          <a:lstStyle/>
          <a:p>
            <a:r>
              <a:rPr lang="en-US" altLang="zh-CN" sz="1170">
                <a:solidFill>
                  <a:srgbClr val="5E6663"/>
                </a:solidFill>
                <a:latin typeface="Times New Roman" panose="02020603050405020304" pitchFamily="18" charset="0"/>
              </a:rPr>
              <a:t>Participants see the same AI analysis and must confirm they have reviewed it before acting.</a:t>
            </a:r>
            <a:endParaRPr lang="zh-CN" altLang="en-US" sz="1170">
              <a:solidFill>
                <a:srgbClr val="5E6663"/>
              </a:solidFill>
              <a:latin typeface="Times New Roman" panose="02020603050405020304" pitchFamily="18" charset="0"/>
            </a:endParaRPr>
          </a:p>
        </p:txBody>
      </p:sp>
      <p:sp>
        <p:nvSpPr>
          <p:cNvPr id="70" name="矩形: 圆角 69"/>
          <p:cNvSpPr/>
          <p:nvPr/>
        </p:nvSpPr>
        <p:spPr>
          <a:xfrm>
            <a:off x="9042400" y="2260600"/>
            <a:ext cx="2489200" cy="1625600"/>
          </a:xfrm>
          <a:prstGeom prst="roundRect">
            <a:avLst/>
          </a:prstGeom>
          <a:solidFill>
            <a:srgbClr val="F3E9E2"/>
          </a:solidFill>
          <a:ln w="9525">
            <a:solidFill>
              <a:srgbClr val="D8C9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9042400" y="2260600"/>
            <a:ext cx="2489200" cy="63500"/>
          </a:xfrm>
          <a:prstGeom prst="rect">
            <a:avLst/>
          </a:prstGeom>
          <a:solidFill>
            <a:srgbClr val="A85B55"/>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9207500" y="2476500"/>
            <a:ext cx="2159000" cy="369332"/>
          </a:xfrm>
          <a:prstGeom prst="rect">
            <a:avLst/>
          </a:prstGeom>
          <a:noFill/>
        </p:spPr>
        <p:txBody>
          <a:bodyPr vert="horz" wrap="square" lIns="0" tIns="0" rIns="0" bIns="0" rtlCol="0">
            <a:noAutofit/>
          </a:bodyPr>
          <a:lstStyle/>
          <a:p>
            <a:r>
              <a:rPr lang="en-US" altLang="zh-CN" sz="1250" b="1">
                <a:solidFill>
                  <a:srgbClr val="A85B55"/>
                </a:solidFill>
                <a:latin typeface="Times New Roman" panose="02020603050405020304" pitchFamily="18" charset="0"/>
              </a:rPr>
              <a:t>4. AI-disclosure</a:t>
            </a:r>
            <a:endParaRPr lang="zh-CN" altLang="en-US" sz="1250" b="1">
              <a:solidFill>
                <a:srgbClr val="A85B55"/>
              </a:solidFill>
              <a:latin typeface="Times New Roman" panose="02020603050405020304" pitchFamily="18" charset="0"/>
            </a:endParaRPr>
          </a:p>
        </p:txBody>
      </p:sp>
      <p:sp>
        <p:nvSpPr>
          <p:cNvPr id="73" name="文本框 72"/>
          <p:cNvSpPr txBox="1"/>
          <p:nvPr/>
        </p:nvSpPr>
        <p:spPr>
          <a:xfrm>
            <a:off x="9207500" y="2768600"/>
            <a:ext cx="2159000" cy="369332"/>
          </a:xfrm>
          <a:prstGeom prst="rect">
            <a:avLst/>
          </a:prstGeom>
          <a:noFill/>
        </p:spPr>
        <p:txBody>
          <a:bodyPr vert="horz" wrap="square" lIns="0" tIns="0" rIns="0" bIns="0" rtlCol="0">
            <a:noAutofit/>
          </a:bodyPr>
          <a:lstStyle/>
          <a:p>
            <a:r>
              <a:rPr lang="en-US" altLang="zh-CN" sz="1450" b="1">
                <a:solidFill>
                  <a:srgbClr val="203443"/>
                </a:solidFill>
                <a:latin typeface="Times New Roman" panose="02020603050405020304" pitchFamily="18" charset="0"/>
              </a:rPr>
              <a:t>Visible AI use</a:t>
            </a:r>
            <a:endParaRPr lang="zh-CN" altLang="en-US" sz="1450" b="1">
              <a:solidFill>
                <a:srgbClr val="203443"/>
              </a:solidFill>
              <a:latin typeface="Times New Roman" panose="02020603050405020304" pitchFamily="18" charset="0"/>
            </a:endParaRPr>
          </a:p>
        </p:txBody>
      </p:sp>
      <p:sp>
        <p:nvSpPr>
          <p:cNvPr id="74" name="文本框 73"/>
          <p:cNvSpPr txBox="1"/>
          <p:nvPr/>
        </p:nvSpPr>
        <p:spPr>
          <a:xfrm>
            <a:off x="9207500" y="3175000"/>
            <a:ext cx="2159000" cy="369332"/>
          </a:xfrm>
          <a:prstGeom prst="rect">
            <a:avLst/>
          </a:prstGeom>
          <a:noFill/>
        </p:spPr>
        <p:txBody>
          <a:bodyPr vert="horz" wrap="square" lIns="0" tIns="0" rIns="0" bIns="0" rtlCol="0">
            <a:noAutofit/>
          </a:bodyPr>
          <a:lstStyle/>
          <a:p>
            <a:r>
              <a:rPr lang="en-US" altLang="zh-CN" sz="1170">
                <a:solidFill>
                  <a:srgbClr val="5E6663"/>
                </a:solidFill>
                <a:latin typeface="Times New Roman" panose="02020603050405020304" pitchFamily="18" charset="0"/>
              </a:rPr>
              <a:t>Participants see the same AI analysis and must disclose AI use and its influence.</a:t>
            </a:r>
            <a:endParaRPr lang="zh-CN" altLang="en-US" sz="1170">
              <a:solidFill>
                <a:srgbClr val="5E6663"/>
              </a:solidFill>
              <a:latin typeface="Times New Roman" panose="02020603050405020304" pitchFamily="18" charset="0"/>
            </a:endParaRPr>
          </a:p>
        </p:txBody>
      </p:sp>
      <p:sp>
        <p:nvSpPr>
          <p:cNvPr id="75" name="文本框 74"/>
          <p:cNvSpPr txBox="1"/>
          <p:nvPr/>
        </p:nvSpPr>
        <p:spPr>
          <a:xfrm>
            <a:off x="889000" y="4089400"/>
            <a:ext cx="3048000" cy="369332"/>
          </a:xfrm>
          <a:prstGeom prst="rect">
            <a:avLst/>
          </a:prstGeom>
          <a:noFill/>
        </p:spPr>
        <p:txBody>
          <a:bodyPr vert="horz" wrap="square" lIns="0" tIns="0" rIns="0" bIns="0" rtlCol="0">
            <a:noAutofit/>
          </a:bodyPr>
          <a:lstStyle/>
          <a:p>
            <a:r>
              <a:rPr lang="en-US" altLang="zh-CN" sz="1050" b="1">
                <a:solidFill>
                  <a:srgbClr val="B65A3C"/>
                </a:solidFill>
                <a:latin typeface="Times New Roman" panose="02020603050405020304" pitchFamily="18" charset="0"/>
              </a:rPr>
              <a:t>Identification logic</a:t>
            </a:r>
            <a:endParaRPr lang="zh-CN" altLang="en-US" sz="1050" b="1">
              <a:solidFill>
                <a:srgbClr val="B65A3C"/>
              </a:solidFill>
              <a:latin typeface="Times New Roman" panose="02020603050405020304" pitchFamily="18" charset="0"/>
            </a:endParaRPr>
          </a:p>
        </p:txBody>
      </p:sp>
      <p:sp>
        <p:nvSpPr>
          <p:cNvPr id="76" name="矩形: 圆角 75"/>
          <p:cNvSpPr/>
          <p:nvPr/>
        </p:nvSpPr>
        <p:spPr>
          <a:xfrm>
            <a:off x="889000" y="4343400"/>
            <a:ext cx="10414000" cy="1422400"/>
          </a:xfrm>
          <a:prstGeom prst="roundRect">
            <a:avLst/>
          </a:prstGeom>
          <a:solidFill>
            <a:srgbClr val="FFFDF8"/>
          </a:solidFill>
          <a:ln w="9525">
            <a:solidFill>
              <a:srgbClr val="D8C9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文本框 76"/>
          <p:cNvSpPr txBox="1"/>
          <p:nvPr/>
        </p:nvSpPr>
        <p:spPr>
          <a:xfrm>
            <a:off x="1143000" y="4495800"/>
            <a:ext cx="3302000" cy="369332"/>
          </a:xfrm>
          <a:prstGeom prst="rect">
            <a:avLst/>
          </a:prstGeom>
          <a:noFill/>
        </p:spPr>
        <p:txBody>
          <a:bodyPr vert="horz" wrap="square" lIns="0" tIns="0" rIns="0" bIns="0" rtlCol="0">
            <a:noAutofit/>
          </a:bodyPr>
          <a:lstStyle/>
          <a:p>
            <a:r>
              <a:rPr lang="en-US" altLang="zh-CN" sz="1120" b="1">
                <a:solidFill>
                  <a:srgbClr val="203443"/>
                </a:solidFill>
                <a:latin typeface="Times New Roman" panose="02020603050405020304" pitchFamily="18" charset="0"/>
              </a:rPr>
              <a:t>Comparison</a:t>
            </a:r>
            <a:endParaRPr lang="zh-CN" altLang="en-US" sz="1120" b="1">
              <a:solidFill>
                <a:srgbClr val="203443"/>
              </a:solidFill>
              <a:latin typeface="Times New Roman" panose="02020603050405020304" pitchFamily="18" charset="0"/>
            </a:endParaRPr>
          </a:p>
        </p:txBody>
      </p:sp>
      <p:sp>
        <p:nvSpPr>
          <p:cNvPr id="78" name="文本框 77"/>
          <p:cNvSpPr txBox="1"/>
          <p:nvPr/>
        </p:nvSpPr>
        <p:spPr>
          <a:xfrm>
            <a:off x="4673600" y="4495800"/>
            <a:ext cx="6096000" cy="369332"/>
          </a:xfrm>
          <a:prstGeom prst="rect">
            <a:avLst/>
          </a:prstGeom>
          <a:noFill/>
        </p:spPr>
        <p:txBody>
          <a:bodyPr vert="horz" wrap="square" lIns="0" tIns="0" rIns="0" bIns="0" rtlCol="0">
            <a:noAutofit/>
          </a:bodyPr>
          <a:lstStyle/>
          <a:p>
            <a:r>
              <a:rPr lang="en-US" altLang="zh-CN" sz="1120" b="1">
                <a:solidFill>
                  <a:srgbClr val="203443"/>
                </a:solidFill>
                <a:latin typeface="Times New Roman" panose="02020603050405020304" pitchFamily="18" charset="0"/>
              </a:rPr>
              <a:t>What it identifies</a:t>
            </a:r>
            <a:endParaRPr lang="zh-CN" altLang="en-US" sz="1120" b="1">
              <a:solidFill>
                <a:srgbClr val="203443"/>
              </a:solidFill>
              <a:latin typeface="Times New Roman" panose="02020603050405020304" pitchFamily="18" charset="0"/>
            </a:endParaRPr>
          </a:p>
        </p:txBody>
      </p:sp>
      <p:sp>
        <p:nvSpPr>
          <p:cNvPr id="79" name="文本框 78"/>
          <p:cNvSpPr txBox="1"/>
          <p:nvPr/>
        </p:nvSpPr>
        <p:spPr>
          <a:xfrm>
            <a:off x="1143000" y="4787900"/>
            <a:ext cx="3175000" cy="369332"/>
          </a:xfrm>
          <a:prstGeom prst="rect">
            <a:avLst/>
          </a:prstGeom>
          <a:noFill/>
        </p:spPr>
        <p:txBody>
          <a:bodyPr vert="horz" wrap="square" lIns="0" tIns="0" rIns="0" bIns="0" rtlCol="0">
            <a:noAutofit/>
          </a:bodyPr>
          <a:lstStyle/>
          <a:p>
            <a:r>
              <a:rPr lang="en-US" altLang="zh-CN" sz="1060" b="1">
                <a:solidFill>
                  <a:srgbClr val="203443"/>
                </a:solidFill>
                <a:latin typeface="Times New Roman" panose="02020603050405020304" pitchFamily="18" charset="0"/>
              </a:rPr>
              <a:t>Human-only vs AI-baseline</a:t>
            </a:r>
            <a:endParaRPr lang="zh-CN" altLang="en-US" sz="1060" b="1">
              <a:solidFill>
                <a:srgbClr val="203443"/>
              </a:solidFill>
              <a:latin typeface="Times New Roman" panose="02020603050405020304" pitchFamily="18" charset="0"/>
            </a:endParaRPr>
          </a:p>
        </p:txBody>
      </p:sp>
      <p:sp>
        <p:nvSpPr>
          <p:cNvPr id="80" name="文本框 79"/>
          <p:cNvSpPr txBox="1"/>
          <p:nvPr/>
        </p:nvSpPr>
        <p:spPr>
          <a:xfrm>
            <a:off x="4673600" y="4787900"/>
            <a:ext cx="6350000" cy="369332"/>
          </a:xfrm>
          <a:prstGeom prst="rect">
            <a:avLst/>
          </a:prstGeom>
          <a:noFill/>
        </p:spPr>
        <p:txBody>
          <a:bodyPr vert="horz" wrap="square" lIns="0" tIns="0" rIns="0" bIns="0" rtlCol="0">
            <a:noAutofit/>
          </a:bodyPr>
          <a:lstStyle/>
          <a:p>
            <a:r>
              <a:rPr lang="en-US" altLang="zh-CN" sz="1060">
                <a:solidFill>
                  <a:srgbClr val="5E6663"/>
                </a:solidFill>
                <a:latin typeface="Times New Roman" panose="02020603050405020304" pitchFamily="18" charset="0"/>
              </a:rPr>
              <a:t>Effect of AI analytical support</a:t>
            </a:r>
            <a:endParaRPr lang="zh-CN" altLang="en-US" sz="1060">
              <a:solidFill>
                <a:srgbClr val="5E6663"/>
              </a:solidFill>
              <a:latin typeface="Times New Roman" panose="02020603050405020304" pitchFamily="18" charset="0"/>
            </a:endParaRPr>
          </a:p>
        </p:txBody>
      </p:sp>
      <p:cxnSp>
        <p:nvCxnSpPr>
          <p:cNvPr id="81" name="直接连接符 80"/>
          <p:cNvCxnSpPr/>
          <p:nvPr/>
        </p:nvCxnSpPr>
        <p:spPr>
          <a:xfrm>
            <a:off x="1117600" y="4965700"/>
            <a:ext cx="9956800" cy="0"/>
          </a:xfrm>
          <a:prstGeom prst="line">
            <a:avLst/>
          </a:prstGeom>
          <a:ln w="6350">
            <a:solidFill>
              <a:srgbClr val="E7DDCE"/>
            </a:solidFill>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1143000" y="5016500"/>
            <a:ext cx="3175000" cy="369332"/>
          </a:xfrm>
          <a:prstGeom prst="rect">
            <a:avLst/>
          </a:prstGeom>
          <a:noFill/>
        </p:spPr>
        <p:txBody>
          <a:bodyPr vert="horz" wrap="square" lIns="0" tIns="0" rIns="0" bIns="0" rtlCol="0">
            <a:noAutofit/>
          </a:bodyPr>
          <a:lstStyle/>
          <a:p>
            <a:r>
              <a:rPr lang="en-US" altLang="zh-CN" sz="1060" b="1">
                <a:solidFill>
                  <a:srgbClr val="203443"/>
                </a:solidFill>
                <a:latin typeface="Times New Roman" panose="02020603050405020304" pitchFamily="18" charset="0"/>
              </a:rPr>
              <a:t>AI-baseline vs AI-confirm</a:t>
            </a:r>
            <a:endParaRPr lang="zh-CN" altLang="en-US" sz="1060" b="1">
              <a:solidFill>
                <a:srgbClr val="203443"/>
              </a:solidFill>
              <a:latin typeface="Times New Roman" panose="02020603050405020304" pitchFamily="18" charset="0"/>
            </a:endParaRPr>
          </a:p>
        </p:txBody>
      </p:sp>
      <p:sp>
        <p:nvSpPr>
          <p:cNvPr id="83" name="文本框 82"/>
          <p:cNvSpPr txBox="1"/>
          <p:nvPr/>
        </p:nvSpPr>
        <p:spPr>
          <a:xfrm>
            <a:off x="4673600" y="5016500"/>
            <a:ext cx="6350000" cy="369332"/>
          </a:xfrm>
          <a:prstGeom prst="rect">
            <a:avLst/>
          </a:prstGeom>
          <a:noFill/>
        </p:spPr>
        <p:txBody>
          <a:bodyPr vert="horz" wrap="square" lIns="0" tIns="0" rIns="0" bIns="0" rtlCol="0">
            <a:noAutofit/>
          </a:bodyPr>
          <a:lstStyle/>
          <a:p>
            <a:r>
              <a:rPr lang="en-US" altLang="zh-CN" sz="1060">
                <a:solidFill>
                  <a:srgbClr val="5E6663"/>
                </a:solidFill>
                <a:latin typeface="Times New Roman" panose="02020603050405020304" pitchFamily="18" charset="0"/>
              </a:rPr>
              <a:t>Effect of explicit human passage and decisional ownership</a:t>
            </a:r>
            <a:endParaRPr lang="zh-CN" altLang="en-US" sz="1060">
              <a:solidFill>
                <a:srgbClr val="5E6663"/>
              </a:solidFill>
              <a:latin typeface="Times New Roman" panose="02020603050405020304" pitchFamily="18" charset="0"/>
            </a:endParaRPr>
          </a:p>
        </p:txBody>
      </p:sp>
      <p:cxnSp>
        <p:nvCxnSpPr>
          <p:cNvPr id="84" name="直接连接符 83"/>
          <p:cNvCxnSpPr/>
          <p:nvPr/>
        </p:nvCxnSpPr>
        <p:spPr>
          <a:xfrm>
            <a:off x="1117600" y="5194300"/>
            <a:ext cx="9956800" cy="0"/>
          </a:xfrm>
          <a:prstGeom prst="line">
            <a:avLst/>
          </a:prstGeom>
          <a:ln w="6350">
            <a:solidFill>
              <a:srgbClr val="E7DDCE"/>
            </a:solidFill>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1143000" y="5245100"/>
            <a:ext cx="3175000" cy="369332"/>
          </a:xfrm>
          <a:prstGeom prst="rect">
            <a:avLst/>
          </a:prstGeom>
          <a:noFill/>
        </p:spPr>
        <p:txBody>
          <a:bodyPr vert="horz" wrap="square" lIns="0" tIns="0" rIns="0" bIns="0" rtlCol="0">
            <a:noAutofit/>
          </a:bodyPr>
          <a:lstStyle/>
          <a:p>
            <a:r>
              <a:rPr lang="en-US" altLang="zh-CN" sz="1060" b="1">
                <a:solidFill>
                  <a:srgbClr val="203443"/>
                </a:solidFill>
                <a:latin typeface="Times New Roman" panose="02020603050405020304" pitchFamily="18" charset="0"/>
              </a:rPr>
              <a:t>AI-baseline vs AI-disclosure</a:t>
            </a:r>
            <a:endParaRPr lang="zh-CN" altLang="en-US" sz="1060" b="1">
              <a:solidFill>
                <a:srgbClr val="203443"/>
              </a:solidFill>
              <a:latin typeface="Times New Roman" panose="02020603050405020304" pitchFamily="18" charset="0"/>
            </a:endParaRPr>
          </a:p>
        </p:txBody>
      </p:sp>
      <p:sp>
        <p:nvSpPr>
          <p:cNvPr id="86" name="文本框 85"/>
          <p:cNvSpPr txBox="1"/>
          <p:nvPr/>
        </p:nvSpPr>
        <p:spPr>
          <a:xfrm>
            <a:off x="4673600" y="5245100"/>
            <a:ext cx="6350000" cy="369332"/>
          </a:xfrm>
          <a:prstGeom prst="rect">
            <a:avLst/>
          </a:prstGeom>
          <a:noFill/>
        </p:spPr>
        <p:txBody>
          <a:bodyPr vert="horz" wrap="square" lIns="0" tIns="0" rIns="0" bIns="0" rtlCol="0">
            <a:noAutofit/>
          </a:bodyPr>
          <a:lstStyle/>
          <a:p>
            <a:r>
              <a:rPr lang="en-US" altLang="zh-CN" sz="1060">
                <a:solidFill>
                  <a:srgbClr val="5E6663"/>
                </a:solidFill>
                <a:latin typeface="Times New Roman" panose="02020603050405020304" pitchFamily="18" charset="0"/>
              </a:rPr>
              <a:t>Effect of AI-use visibility and traceability</a:t>
            </a:r>
            <a:endParaRPr lang="zh-CN" altLang="en-US" sz="1060">
              <a:solidFill>
                <a:srgbClr val="5E6663"/>
              </a:solidFill>
              <a:latin typeface="Times New Roman" panose="02020603050405020304" pitchFamily="18" charset="0"/>
            </a:endParaRPr>
          </a:p>
        </p:txBody>
      </p:sp>
      <p:cxnSp>
        <p:nvCxnSpPr>
          <p:cNvPr id="87" name="直接连接符 86"/>
          <p:cNvCxnSpPr/>
          <p:nvPr/>
        </p:nvCxnSpPr>
        <p:spPr>
          <a:xfrm>
            <a:off x="1117600" y="5422900"/>
            <a:ext cx="9956800" cy="0"/>
          </a:xfrm>
          <a:prstGeom prst="line">
            <a:avLst/>
          </a:prstGeom>
          <a:ln w="6350">
            <a:solidFill>
              <a:srgbClr val="E7DDCE"/>
            </a:solidFill>
          </a:ln>
        </p:spPr>
        <p:style>
          <a:lnRef idx="1">
            <a:schemeClr val="accent1"/>
          </a:lnRef>
          <a:fillRef idx="0">
            <a:schemeClr val="accent1"/>
          </a:fillRef>
          <a:effectRef idx="0">
            <a:schemeClr val="accent1"/>
          </a:effectRef>
          <a:fontRef idx="minor">
            <a:schemeClr val="tx1"/>
          </a:fontRef>
        </p:style>
      </p:cxnSp>
      <p:sp>
        <p:nvSpPr>
          <p:cNvPr id="88" name="文本框 87"/>
          <p:cNvSpPr txBox="1"/>
          <p:nvPr/>
        </p:nvSpPr>
        <p:spPr>
          <a:xfrm>
            <a:off x="1143000" y="5473700"/>
            <a:ext cx="3175000" cy="369332"/>
          </a:xfrm>
          <a:prstGeom prst="rect">
            <a:avLst/>
          </a:prstGeom>
          <a:noFill/>
        </p:spPr>
        <p:txBody>
          <a:bodyPr vert="horz" wrap="square" lIns="0" tIns="0" rIns="0" bIns="0" rtlCol="0">
            <a:noAutofit/>
          </a:bodyPr>
          <a:lstStyle/>
          <a:p>
            <a:r>
              <a:rPr lang="en-US" altLang="zh-CN" sz="1060" b="1">
                <a:solidFill>
                  <a:srgbClr val="203443"/>
                </a:solidFill>
                <a:latin typeface="Times New Roman" panose="02020603050405020304" pitchFamily="18" charset="0"/>
              </a:rPr>
              <a:t>AI-confirm vs AI-disclosure</a:t>
            </a:r>
            <a:endParaRPr lang="zh-CN" altLang="en-US" sz="1060" b="1">
              <a:solidFill>
                <a:srgbClr val="203443"/>
              </a:solidFill>
              <a:latin typeface="Times New Roman" panose="02020603050405020304" pitchFamily="18" charset="0"/>
            </a:endParaRPr>
          </a:p>
        </p:txBody>
      </p:sp>
      <p:sp>
        <p:nvSpPr>
          <p:cNvPr id="89" name="文本框 88"/>
          <p:cNvSpPr txBox="1"/>
          <p:nvPr/>
        </p:nvSpPr>
        <p:spPr>
          <a:xfrm>
            <a:off x="4673600" y="5473700"/>
            <a:ext cx="6350000" cy="369332"/>
          </a:xfrm>
          <a:prstGeom prst="rect">
            <a:avLst/>
          </a:prstGeom>
          <a:noFill/>
        </p:spPr>
        <p:txBody>
          <a:bodyPr vert="horz" wrap="square" lIns="0" tIns="0" rIns="0" bIns="0" rtlCol="0">
            <a:noAutofit/>
          </a:bodyPr>
          <a:lstStyle/>
          <a:p>
            <a:r>
              <a:rPr lang="en-US" altLang="zh-CN" sz="1060">
                <a:solidFill>
                  <a:srgbClr val="5E6663"/>
                </a:solidFill>
                <a:latin typeface="Times New Roman" panose="02020603050405020304" pitchFamily="18" charset="0"/>
              </a:rPr>
              <a:t>Different accountability designs and responsibility mechanisms</a:t>
            </a:r>
            <a:endParaRPr lang="zh-CN" altLang="en-US" sz="1060">
              <a:solidFill>
                <a:srgbClr val="5E6663"/>
              </a:solidFill>
              <a:latin typeface="Times New Roman" panose="02020603050405020304" pitchFamily="18" charset="0"/>
            </a:endParaRPr>
          </a:p>
        </p:txBody>
      </p:sp>
      <p:sp>
        <p:nvSpPr>
          <p:cNvPr id="90" name="矩形: 圆角 89"/>
          <p:cNvSpPr/>
          <p:nvPr/>
        </p:nvSpPr>
        <p:spPr>
          <a:xfrm>
            <a:off x="1676400" y="5918200"/>
            <a:ext cx="8839200" cy="495300"/>
          </a:xfrm>
          <a:prstGeom prst="roundRect">
            <a:avLst/>
          </a:prstGeom>
          <a:solidFill>
            <a:srgbClr val="20344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文本框 90"/>
          <p:cNvSpPr txBox="1"/>
          <p:nvPr/>
        </p:nvSpPr>
        <p:spPr>
          <a:xfrm>
            <a:off x="2032000" y="6057900"/>
            <a:ext cx="8128000" cy="369332"/>
          </a:xfrm>
          <a:prstGeom prst="rect">
            <a:avLst/>
          </a:prstGeom>
          <a:noFill/>
        </p:spPr>
        <p:txBody>
          <a:bodyPr vert="horz" wrap="square" lIns="0" tIns="0" rIns="0" bIns="0" rtlCol="0">
            <a:noAutofit/>
          </a:bodyPr>
          <a:lstStyle/>
          <a:p>
            <a:pPr algn="ctr"/>
            <a:r>
              <a:rPr lang="en-US" altLang="zh-CN" sz="1550" b="1">
                <a:solidFill>
                  <a:srgbClr val="FFFFFF"/>
                </a:solidFill>
                <a:latin typeface="Times New Roman" panose="02020603050405020304" pitchFamily="18" charset="0"/>
              </a:rPr>
              <a:t>Same game. Same AI analysis. Different responsibility architecture.</a:t>
            </a:r>
            <a:endParaRPr lang="zh-CN" altLang="en-US" sz="1550" b="1">
              <a:solidFill>
                <a:srgbClr val="FFFFFF"/>
              </a:solidFill>
              <a:latin typeface="Times New Roman" panose="02020603050405020304" pitchFamily="18" charset="0"/>
            </a:endParaRPr>
          </a:p>
        </p:txBody>
      </p:sp>
      <p:sp>
        <p:nvSpPr>
          <p:cNvPr id="92" name="文本框 91"/>
          <p:cNvSpPr txBox="1"/>
          <p:nvPr/>
        </p:nvSpPr>
        <p:spPr>
          <a:xfrm>
            <a:off x="685800" y="6540500"/>
            <a:ext cx="1143000" cy="369332"/>
          </a:xfrm>
          <a:prstGeom prst="rect">
            <a:avLst/>
          </a:prstGeom>
          <a:noFill/>
        </p:spPr>
        <p:txBody>
          <a:bodyPr vert="horz" wrap="square" lIns="0" tIns="0" rIns="0" bIns="0" rtlCol="0">
            <a:noAutofit/>
          </a:bodyPr>
          <a:lstStyle/>
          <a:p>
            <a:r>
              <a:rPr lang="en-US" altLang="zh-CN" sz="750" b="1">
                <a:solidFill>
                  <a:srgbClr val="203443"/>
                </a:solidFill>
                <a:latin typeface="Times New Roman" panose="02020603050405020304" pitchFamily="18" charset="0"/>
              </a:rPr>
              <a:t>PAPER 3</a:t>
            </a:r>
            <a:endParaRPr lang="zh-CN" altLang="en-US" sz="750" b="1">
              <a:solidFill>
                <a:srgbClr val="203443"/>
              </a:solidFill>
              <a:latin typeface="Times New Roman" panose="02020603050405020304" pitchFamily="18" charset="0"/>
            </a:endParaRPr>
          </a:p>
        </p:txBody>
      </p:sp>
      <p:sp>
        <p:nvSpPr>
          <p:cNvPr id="93" name="文本框 92"/>
          <p:cNvSpPr txBox="1"/>
          <p:nvPr/>
        </p:nvSpPr>
        <p:spPr>
          <a:xfrm>
            <a:off x="10972800" y="6540500"/>
            <a:ext cx="228600" cy="369332"/>
          </a:xfrm>
          <a:prstGeom prst="rect">
            <a:avLst/>
          </a:prstGeom>
          <a:noFill/>
        </p:spPr>
        <p:txBody>
          <a:bodyPr vert="horz" wrap="square" lIns="0" tIns="0" rIns="0" bIns="0" rtlCol="0">
            <a:noAutofit/>
          </a:bodyPr>
          <a:lstStyle/>
          <a:p>
            <a:pPr algn="ctr"/>
            <a:r>
              <a:rPr lang="en-US" altLang="zh-CN" sz="750">
                <a:solidFill>
                  <a:srgbClr val="203443"/>
                </a:solidFill>
                <a:latin typeface="Times New Roman" panose="02020603050405020304" pitchFamily="18" charset="0"/>
              </a:rPr>
              <a:t>7</a:t>
            </a:r>
            <a:endParaRPr lang="zh-CN" altLang="en-US" sz="750">
              <a:solidFill>
                <a:srgbClr val="203443"/>
              </a:solidFill>
              <a:latin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PROTOTYPE</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Why a repeated Hawk-Dove </a:t>
            </a:r>
            <a:r>
              <a:rPr lang="en-US" sz="2550" b="1" i="0">
                <a:solidFill>
                  <a:srgbClr val="231D17"/>
                </a:solidFill>
                <a:latin typeface="Times New Roman" panose="02020603050405020304"/>
                <a:ea typeface="Times New Roman" panose="02020603050405020304"/>
                <a:cs typeface="Times New Roman" panose="02020603050405020304"/>
              </a:rPr>
              <a:t>game </a:t>
            </a:r>
            <a:r>
              <a:rPr sz="2550" b="1" i="0">
                <a:solidFill>
                  <a:srgbClr val="231D17"/>
                </a:solidFill>
                <a:latin typeface="Times New Roman" panose="02020603050405020304"/>
                <a:ea typeface="Times New Roman" panose="02020603050405020304"/>
                <a:cs typeface="Times New Roman" panose="02020603050405020304"/>
              </a:rPr>
              <a:t>is the right prototype</a:t>
            </a:r>
            <a:endParaRPr sz="2550" b="1" i="0">
              <a:solidFill>
                <a:srgbClr val="231D17"/>
              </a:solidFill>
              <a:latin typeface="Times New Roman" panose="02020603050405020304"/>
              <a:ea typeface="Times New Roman" panose="02020603050405020304"/>
              <a:cs typeface="Times New Roman" panose="02020603050405020304"/>
            </a:endParaRP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nvSpPr>
        <p:spPr>
          <a:xfrm>
            <a:off x="838200" y="1581150"/>
            <a:ext cx="3543300" cy="3924300"/>
          </a:xfrm>
          <a:prstGeom prst="roundRect">
            <a:avLst>
              <a:gd name="adj" fmla="val 3226"/>
            </a:avLst>
          </a:prstGeom>
          <a:solidFill>
            <a:srgbClr val="F9F6F0"/>
          </a:solidFill>
          <a:ln w="9525">
            <a:solidFill>
              <a:srgbClr val="B7ADA0"/>
            </a:solidFill>
            <a:prstDash val="solid"/>
          </a:ln>
        </p:spPr>
      </p:sp>
      <p:sp>
        <p:nvSpPr>
          <p:cNvPr id="6" name="矩形 5"/>
          <p:cNvSpPr>
            <a:spLocks noGrp="1"/>
          </p:cNvSpPr>
          <p:nvPr/>
        </p:nvSpPr>
        <p:spPr>
          <a:xfrm>
            <a:off x="1085850" y="1828800"/>
            <a:ext cx="2286000" cy="228600"/>
          </a:xfrm>
          <a:prstGeom prst="rect">
            <a:avLst/>
          </a:prstGeom>
          <a:noFill/>
          <a:ln w="0">
            <a:noFill/>
            <a:prstDash val="solid"/>
          </a:ln>
        </p:spPr>
        <p:txBody>
          <a:bodyPr/>
          <a:lstStyle/>
          <a:p>
            <a:pPr>
              <a:buNone/>
              <a:defRPr sz="1800" b="1">
                <a:solidFill>
                  <a:srgbClr val="23364A"/>
                </a:solidFill>
              </a:defRPr>
            </a:pPr>
            <a:r>
              <a:rPr sz="1800" b="1">
                <a:solidFill>
                  <a:srgbClr val="23364A"/>
                </a:solidFill>
              </a:rPr>
              <a:t>Why this prototype</a:t>
            </a:r>
            <a:endParaRPr sz="1800" b="1">
              <a:solidFill>
                <a:srgbClr val="23364A"/>
              </a:solidFill>
            </a:endParaRPr>
          </a:p>
        </p:txBody>
      </p:sp>
      <p:sp>
        <p:nvSpPr>
          <p:cNvPr id="7" name="矩形 6"/>
          <p:cNvSpPr>
            <a:spLocks noGrp="1"/>
          </p:cNvSpPr>
          <p:nvPr/>
        </p:nvSpPr>
        <p:spPr>
          <a:xfrm>
            <a:off x="1085850" y="2247900"/>
            <a:ext cx="2933700" cy="1085850"/>
          </a:xfrm>
          <a:prstGeom prst="rect">
            <a:avLst/>
          </a:prstGeom>
          <a:noFill/>
          <a:ln w="0">
            <a:noFill/>
            <a:prstDash val="solid"/>
          </a:ln>
        </p:spPr>
        <p:txBody>
          <a:bodyPr/>
          <a:lstStyle/>
          <a:p>
            <a:pPr>
              <a:buNone/>
              <a:defRPr sz="1350">
                <a:solidFill>
                  <a:srgbClr val="1C2430"/>
                </a:solidFill>
              </a:defRPr>
            </a:pPr>
            <a:r>
              <a:rPr sz="1350">
                <a:solidFill>
                  <a:srgbClr val="1C2430"/>
                </a:solidFill>
              </a:rPr>
              <a:t>• Escalation can deliver a unilateral gain.</a:t>
            </a:r>
            <a:endParaRPr sz="1350">
              <a:solidFill>
                <a:srgbClr val="1C2430"/>
              </a:solidFill>
            </a:endParaRPr>
          </a:p>
          <a:p>
            <a:pPr>
              <a:buNone/>
              <a:defRPr sz="1350">
                <a:solidFill>
                  <a:srgbClr val="1C2430"/>
                </a:solidFill>
              </a:defRPr>
            </a:pPr>
            <a:r>
              <a:rPr sz="1350">
                <a:solidFill>
                  <a:srgbClr val="1C2430"/>
                </a:solidFill>
              </a:rPr>
              <a:t>• Mutual escalation generates shared loss.</a:t>
            </a:r>
            <a:endParaRPr sz="1350">
              <a:solidFill>
                <a:srgbClr val="1C2430"/>
              </a:solidFill>
            </a:endParaRPr>
          </a:p>
          <a:p>
            <a:pPr>
              <a:buNone/>
              <a:defRPr sz="1350">
                <a:solidFill>
                  <a:srgbClr val="1C2430"/>
                </a:solidFill>
              </a:defRPr>
            </a:pPr>
            <a:r>
              <a:rPr sz="1350">
                <a:solidFill>
                  <a:srgbClr val="1C2430"/>
                </a:solidFill>
              </a:rPr>
              <a:t>• The choice is both risky and consequential for another party.</a:t>
            </a:r>
            <a:endParaRPr sz="1350">
              <a:solidFill>
                <a:srgbClr val="1C2430"/>
              </a:solidFill>
            </a:endParaRPr>
          </a:p>
          <a:p>
            <a:pPr>
              <a:buNone/>
              <a:defRPr sz="1350">
                <a:solidFill>
                  <a:srgbClr val="1C2430"/>
                </a:solidFill>
              </a:defRPr>
            </a:pPr>
            <a:r>
              <a:rPr sz="1350">
                <a:solidFill>
                  <a:srgbClr val="1C2430"/>
                </a:solidFill>
              </a:rPr>
              <a:t>• That makes responsibility structure behaviorally meaningful.</a:t>
            </a:r>
            <a:endParaRPr sz="1350">
              <a:solidFill>
                <a:srgbClr val="1C2430"/>
              </a:solidFill>
            </a:endParaRPr>
          </a:p>
        </p:txBody>
      </p:sp>
      <p:sp>
        <p:nvSpPr>
          <p:cNvPr id="8" name="矩形 7"/>
          <p:cNvSpPr>
            <a:spLocks noGrp="1"/>
          </p:cNvSpPr>
          <p:nvPr/>
        </p:nvSpPr>
        <p:spPr>
          <a:xfrm>
            <a:off x="1085850" y="4095750"/>
            <a:ext cx="2000250" cy="190500"/>
          </a:xfrm>
          <a:prstGeom prst="rect">
            <a:avLst/>
          </a:prstGeom>
          <a:noFill/>
          <a:ln w="0">
            <a:noFill/>
            <a:prstDash val="solid"/>
          </a:ln>
        </p:spPr>
        <p:txBody>
          <a:bodyPr/>
          <a:lstStyle/>
          <a:p>
            <a:pPr>
              <a:buNone/>
              <a:defRPr sz="1200" i="1">
                <a:solidFill>
                  <a:srgbClr val="5F6875"/>
                </a:solidFill>
              </a:defRPr>
            </a:pPr>
            <a:r>
              <a:rPr sz="1200" i="1">
                <a:solidFill>
                  <a:srgbClr val="5F6875"/>
                </a:solidFill>
              </a:rPr>
              <a:t>Illustrative payoff logic</a:t>
            </a:r>
            <a:endParaRPr sz="1200" i="1">
              <a:solidFill>
                <a:srgbClr val="5F6875"/>
              </a:solidFill>
            </a:endParaRPr>
          </a:p>
        </p:txBody>
      </p:sp>
      <p:sp>
        <p:nvSpPr>
          <p:cNvPr id="9" name="圆角矩形 8"/>
          <p:cNvSpPr>
            <a:spLocks noGrp="1"/>
          </p:cNvSpPr>
          <p:nvPr/>
        </p:nvSpPr>
        <p:spPr>
          <a:xfrm>
            <a:off x="2000250" y="4381500"/>
            <a:ext cx="838200" cy="400050"/>
          </a:xfrm>
          <a:prstGeom prst="roundRect">
            <a:avLst>
              <a:gd name="adj" fmla="val 4762"/>
            </a:avLst>
          </a:prstGeom>
          <a:solidFill>
            <a:srgbClr val="23364A"/>
          </a:solidFill>
          <a:ln w="0">
            <a:solidFill>
              <a:srgbClr val="23364A"/>
            </a:solidFill>
            <a:prstDash val="solid"/>
          </a:ln>
        </p:spPr>
      </p:sp>
      <p:sp>
        <p:nvSpPr>
          <p:cNvPr id="10" name="圆角矩形 9"/>
          <p:cNvSpPr>
            <a:spLocks noGrp="1"/>
          </p:cNvSpPr>
          <p:nvPr/>
        </p:nvSpPr>
        <p:spPr>
          <a:xfrm>
            <a:off x="2838450" y="4381500"/>
            <a:ext cx="838200" cy="400050"/>
          </a:xfrm>
          <a:prstGeom prst="roundRect">
            <a:avLst>
              <a:gd name="adj" fmla="val 4762"/>
            </a:avLst>
          </a:prstGeom>
          <a:solidFill>
            <a:srgbClr val="23364A"/>
          </a:solidFill>
          <a:ln w="0">
            <a:solidFill>
              <a:srgbClr val="23364A"/>
            </a:solidFill>
            <a:prstDash val="solid"/>
          </a:ln>
        </p:spPr>
      </p:sp>
      <p:sp>
        <p:nvSpPr>
          <p:cNvPr id="11" name="矩形 10"/>
          <p:cNvSpPr>
            <a:spLocks noGrp="1"/>
          </p:cNvSpPr>
          <p:nvPr/>
        </p:nvSpPr>
        <p:spPr>
          <a:xfrm>
            <a:off x="2152650" y="4476750"/>
            <a:ext cx="533400" cy="1524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R</a:t>
            </a:r>
            <a:endParaRPr sz="1350" b="1">
              <a:solidFill>
                <a:srgbClr val="FFFFFF"/>
              </a:solidFill>
            </a:endParaRPr>
          </a:p>
        </p:txBody>
      </p:sp>
      <p:sp>
        <p:nvSpPr>
          <p:cNvPr id="12" name="矩形 11"/>
          <p:cNvSpPr>
            <a:spLocks noGrp="1"/>
          </p:cNvSpPr>
          <p:nvPr/>
        </p:nvSpPr>
        <p:spPr>
          <a:xfrm>
            <a:off x="2990850" y="4476750"/>
            <a:ext cx="533400" cy="1524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E</a:t>
            </a:r>
            <a:endParaRPr sz="1350" b="1">
              <a:solidFill>
                <a:srgbClr val="FFFFFF"/>
              </a:solidFill>
            </a:endParaRPr>
          </a:p>
        </p:txBody>
      </p:sp>
      <p:sp>
        <p:nvSpPr>
          <p:cNvPr id="13" name="矩形 12"/>
          <p:cNvSpPr>
            <a:spLocks noGrp="1"/>
          </p:cNvSpPr>
          <p:nvPr/>
        </p:nvSpPr>
        <p:spPr>
          <a:xfrm>
            <a:off x="1487170" y="4838700"/>
            <a:ext cx="552450" cy="171450"/>
          </a:xfrm>
          <a:prstGeom prst="rect">
            <a:avLst/>
          </a:prstGeom>
          <a:noFill/>
          <a:ln w="0">
            <a:noFill/>
            <a:prstDash val="solid"/>
          </a:ln>
        </p:spPr>
        <p:txBody>
          <a:bodyPr/>
          <a:lstStyle/>
          <a:p>
            <a:pPr>
              <a:buNone/>
              <a:defRPr sz="1350" b="1">
                <a:solidFill>
                  <a:srgbClr val="23364A"/>
                </a:solidFill>
              </a:defRPr>
            </a:pPr>
            <a:r>
              <a:rPr sz="1350" b="1">
                <a:solidFill>
                  <a:srgbClr val="23364A"/>
                </a:solidFill>
              </a:rPr>
              <a:t>R</a:t>
            </a:r>
            <a:endParaRPr sz="1350" b="1">
              <a:solidFill>
                <a:srgbClr val="23364A"/>
              </a:solidFill>
            </a:endParaRPr>
          </a:p>
        </p:txBody>
      </p:sp>
      <p:sp>
        <p:nvSpPr>
          <p:cNvPr id="14" name="矩形 13"/>
          <p:cNvSpPr>
            <a:spLocks noGrp="1"/>
          </p:cNvSpPr>
          <p:nvPr/>
        </p:nvSpPr>
        <p:spPr>
          <a:xfrm>
            <a:off x="1487170" y="5334000"/>
            <a:ext cx="552450" cy="171450"/>
          </a:xfrm>
          <a:prstGeom prst="rect">
            <a:avLst/>
          </a:prstGeom>
          <a:noFill/>
          <a:ln w="0">
            <a:noFill/>
            <a:prstDash val="solid"/>
          </a:ln>
        </p:spPr>
        <p:txBody>
          <a:bodyPr/>
          <a:lstStyle/>
          <a:p>
            <a:pPr>
              <a:buNone/>
              <a:defRPr sz="1350" b="1">
                <a:solidFill>
                  <a:srgbClr val="23364A"/>
                </a:solidFill>
              </a:defRPr>
            </a:pPr>
            <a:r>
              <a:rPr sz="1350" b="1">
                <a:solidFill>
                  <a:srgbClr val="23364A"/>
                </a:solidFill>
              </a:rPr>
              <a:t>E</a:t>
            </a:r>
            <a:endParaRPr sz="1350" b="1">
              <a:solidFill>
                <a:srgbClr val="23364A"/>
              </a:solidFill>
            </a:endParaRPr>
          </a:p>
        </p:txBody>
      </p:sp>
      <p:sp>
        <p:nvSpPr>
          <p:cNvPr id="15" name="圆角矩形 14"/>
          <p:cNvSpPr>
            <a:spLocks noGrp="1"/>
          </p:cNvSpPr>
          <p:nvPr/>
        </p:nvSpPr>
        <p:spPr>
          <a:xfrm>
            <a:off x="2000250" y="4838700"/>
            <a:ext cx="838200" cy="400050"/>
          </a:xfrm>
          <a:prstGeom prst="roundRect">
            <a:avLst>
              <a:gd name="adj" fmla="val 4762"/>
            </a:avLst>
          </a:prstGeom>
          <a:solidFill>
            <a:srgbClr val="F4EFE6"/>
          </a:solidFill>
          <a:ln w="9525">
            <a:solidFill>
              <a:srgbClr val="B7ADA0"/>
            </a:solidFill>
            <a:prstDash val="solid"/>
          </a:ln>
        </p:spPr>
      </p:sp>
      <p:sp>
        <p:nvSpPr>
          <p:cNvPr id="16" name="矩形 15"/>
          <p:cNvSpPr>
            <a:spLocks noGrp="1"/>
          </p:cNvSpPr>
          <p:nvPr/>
        </p:nvSpPr>
        <p:spPr>
          <a:xfrm>
            <a:off x="2095500" y="49339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50, 50</a:t>
            </a:r>
            <a:endParaRPr sz="1200">
              <a:solidFill>
                <a:srgbClr val="1C2430"/>
              </a:solidFill>
            </a:endParaRPr>
          </a:p>
        </p:txBody>
      </p:sp>
      <p:sp>
        <p:nvSpPr>
          <p:cNvPr id="17" name="圆角矩形 16"/>
          <p:cNvSpPr>
            <a:spLocks noGrp="1"/>
          </p:cNvSpPr>
          <p:nvPr/>
        </p:nvSpPr>
        <p:spPr>
          <a:xfrm>
            <a:off x="2838450" y="4838700"/>
            <a:ext cx="838200" cy="400050"/>
          </a:xfrm>
          <a:prstGeom prst="roundRect">
            <a:avLst>
              <a:gd name="adj" fmla="val 4762"/>
            </a:avLst>
          </a:prstGeom>
          <a:solidFill>
            <a:srgbClr val="F4EFE6"/>
          </a:solidFill>
          <a:ln w="9525">
            <a:solidFill>
              <a:srgbClr val="B7ADA0"/>
            </a:solidFill>
            <a:prstDash val="solid"/>
          </a:ln>
        </p:spPr>
      </p:sp>
      <p:sp>
        <p:nvSpPr>
          <p:cNvPr id="18" name="矩形 17"/>
          <p:cNvSpPr>
            <a:spLocks noGrp="1"/>
          </p:cNvSpPr>
          <p:nvPr/>
        </p:nvSpPr>
        <p:spPr>
          <a:xfrm>
            <a:off x="2933700" y="49339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20, 80</a:t>
            </a:r>
            <a:endParaRPr sz="1200">
              <a:solidFill>
                <a:srgbClr val="1C2430"/>
              </a:solidFill>
            </a:endParaRPr>
          </a:p>
        </p:txBody>
      </p:sp>
      <p:sp>
        <p:nvSpPr>
          <p:cNvPr id="19" name="圆角矩形 18"/>
          <p:cNvSpPr>
            <a:spLocks noGrp="1"/>
          </p:cNvSpPr>
          <p:nvPr/>
        </p:nvSpPr>
        <p:spPr>
          <a:xfrm>
            <a:off x="2000250" y="5295900"/>
            <a:ext cx="838200" cy="400050"/>
          </a:xfrm>
          <a:prstGeom prst="roundRect">
            <a:avLst>
              <a:gd name="adj" fmla="val 4762"/>
            </a:avLst>
          </a:prstGeom>
          <a:solidFill>
            <a:srgbClr val="F4EFE6"/>
          </a:solidFill>
          <a:ln w="9525">
            <a:solidFill>
              <a:srgbClr val="B7ADA0"/>
            </a:solidFill>
            <a:prstDash val="solid"/>
          </a:ln>
        </p:spPr>
      </p:sp>
      <p:sp>
        <p:nvSpPr>
          <p:cNvPr id="20" name="矩形 19"/>
          <p:cNvSpPr>
            <a:spLocks noGrp="1"/>
          </p:cNvSpPr>
          <p:nvPr/>
        </p:nvSpPr>
        <p:spPr>
          <a:xfrm>
            <a:off x="2095500" y="53911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80, 20</a:t>
            </a:r>
            <a:endParaRPr sz="1200">
              <a:solidFill>
                <a:srgbClr val="1C2430"/>
              </a:solidFill>
            </a:endParaRPr>
          </a:p>
        </p:txBody>
      </p:sp>
      <p:sp>
        <p:nvSpPr>
          <p:cNvPr id="21" name="圆角矩形 20"/>
          <p:cNvSpPr>
            <a:spLocks noGrp="1"/>
          </p:cNvSpPr>
          <p:nvPr/>
        </p:nvSpPr>
        <p:spPr>
          <a:xfrm>
            <a:off x="2838450" y="5295900"/>
            <a:ext cx="838200" cy="400050"/>
          </a:xfrm>
          <a:prstGeom prst="roundRect">
            <a:avLst>
              <a:gd name="adj" fmla="val 4762"/>
            </a:avLst>
          </a:prstGeom>
          <a:solidFill>
            <a:srgbClr val="F4EFE6"/>
          </a:solidFill>
          <a:ln w="9525">
            <a:solidFill>
              <a:srgbClr val="B7ADA0"/>
            </a:solidFill>
            <a:prstDash val="solid"/>
          </a:ln>
        </p:spPr>
      </p:sp>
      <p:sp>
        <p:nvSpPr>
          <p:cNvPr id="22" name="矩形 21"/>
          <p:cNvSpPr>
            <a:spLocks noGrp="1"/>
          </p:cNvSpPr>
          <p:nvPr/>
        </p:nvSpPr>
        <p:spPr>
          <a:xfrm>
            <a:off x="2933700" y="53911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10, 10</a:t>
            </a:r>
            <a:endParaRPr sz="1200">
              <a:solidFill>
                <a:srgbClr val="1C2430"/>
              </a:solidFill>
            </a:endParaRPr>
          </a:p>
        </p:txBody>
      </p:sp>
      <p:sp>
        <p:nvSpPr>
          <p:cNvPr id="23" name="矩形 22"/>
          <p:cNvSpPr>
            <a:spLocks noGrp="1"/>
          </p:cNvSpPr>
          <p:nvPr/>
        </p:nvSpPr>
        <p:spPr>
          <a:xfrm>
            <a:off x="4819650" y="1657350"/>
            <a:ext cx="3619500" cy="209550"/>
          </a:xfrm>
          <a:prstGeom prst="rect">
            <a:avLst/>
          </a:prstGeom>
          <a:noFill/>
          <a:ln w="0">
            <a:noFill/>
            <a:prstDash val="solid"/>
          </a:ln>
        </p:spPr>
        <p:txBody>
          <a:bodyPr/>
          <a:lstStyle/>
          <a:p>
            <a:pPr>
              <a:buNone/>
              <a:defRPr sz="1650" b="1">
                <a:solidFill>
                  <a:srgbClr val="23364A"/>
                </a:solidFill>
              </a:defRPr>
            </a:pPr>
            <a:r>
              <a:rPr sz="1650" b="1">
                <a:solidFill>
                  <a:srgbClr val="23364A"/>
                </a:solidFill>
              </a:rPr>
              <a:t>Condition logic</a:t>
            </a:r>
            <a:endParaRPr sz="1650" b="1">
              <a:solidFill>
                <a:srgbClr val="23364A"/>
              </a:solidFill>
            </a:endParaRPr>
          </a:p>
        </p:txBody>
      </p:sp>
      <p:sp>
        <p:nvSpPr>
          <p:cNvPr id="24" name="圆角矩形 23"/>
          <p:cNvSpPr>
            <a:spLocks noGrp="1"/>
          </p:cNvSpPr>
          <p:nvPr/>
        </p:nvSpPr>
        <p:spPr>
          <a:xfrm>
            <a:off x="4800600" y="2038350"/>
            <a:ext cx="1485900" cy="514350"/>
          </a:xfrm>
          <a:prstGeom prst="roundRect">
            <a:avLst>
              <a:gd name="adj" fmla="val 14815"/>
            </a:avLst>
          </a:prstGeom>
          <a:solidFill>
            <a:srgbClr val="23364A"/>
          </a:solidFill>
          <a:ln w="0">
            <a:solidFill>
              <a:srgbClr val="23364A"/>
            </a:solidFill>
            <a:prstDash val="solid"/>
          </a:ln>
        </p:spPr>
      </p:sp>
      <p:sp>
        <p:nvSpPr>
          <p:cNvPr id="25" name="矩形 24"/>
          <p:cNvSpPr>
            <a:spLocks noGrp="1"/>
          </p:cNvSpPr>
          <p:nvPr/>
        </p:nvSpPr>
        <p:spPr>
          <a:xfrm>
            <a:off x="480060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Human-only</a:t>
            </a:r>
            <a:endParaRPr sz="1350" b="1">
              <a:solidFill>
                <a:srgbClr val="FFFFFF"/>
              </a:solidFill>
            </a:endParaRPr>
          </a:p>
        </p:txBody>
      </p:sp>
      <p:sp>
        <p:nvSpPr>
          <p:cNvPr id="26" name="圆角矩形 25"/>
          <p:cNvSpPr>
            <a:spLocks noGrp="1"/>
          </p:cNvSpPr>
          <p:nvPr/>
        </p:nvSpPr>
        <p:spPr>
          <a:xfrm>
            <a:off x="6419850" y="2038350"/>
            <a:ext cx="1485900" cy="514350"/>
          </a:xfrm>
          <a:prstGeom prst="roundRect">
            <a:avLst>
              <a:gd name="adj" fmla="val 14815"/>
            </a:avLst>
          </a:prstGeom>
          <a:solidFill>
            <a:srgbClr val="A66A4D"/>
          </a:solidFill>
          <a:ln w="0">
            <a:solidFill>
              <a:srgbClr val="A66A4D"/>
            </a:solidFill>
            <a:prstDash val="solid"/>
          </a:ln>
        </p:spPr>
      </p:sp>
      <p:sp>
        <p:nvSpPr>
          <p:cNvPr id="27" name="矩形 26"/>
          <p:cNvSpPr>
            <a:spLocks noGrp="1"/>
          </p:cNvSpPr>
          <p:nvPr/>
        </p:nvSpPr>
        <p:spPr>
          <a:xfrm>
            <a:off x="641985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AI-baseline</a:t>
            </a:r>
            <a:endParaRPr sz="1350" b="1">
              <a:solidFill>
                <a:srgbClr val="FFFFFF"/>
              </a:solidFill>
            </a:endParaRPr>
          </a:p>
        </p:txBody>
      </p:sp>
      <p:sp>
        <p:nvSpPr>
          <p:cNvPr id="28" name="圆角矩形 27"/>
          <p:cNvSpPr>
            <a:spLocks noGrp="1"/>
          </p:cNvSpPr>
          <p:nvPr/>
        </p:nvSpPr>
        <p:spPr>
          <a:xfrm>
            <a:off x="8039100" y="2038350"/>
            <a:ext cx="1485900" cy="514350"/>
          </a:xfrm>
          <a:prstGeom prst="roundRect">
            <a:avLst>
              <a:gd name="adj" fmla="val 14815"/>
            </a:avLst>
          </a:prstGeom>
          <a:solidFill>
            <a:srgbClr val="6F7C60"/>
          </a:solidFill>
          <a:ln w="0">
            <a:solidFill>
              <a:srgbClr val="6F7C60"/>
            </a:solidFill>
            <a:prstDash val="solid"/>
          </a:ln>
        </p:spPr>
      </p:sp>
      <p:sp>
        <p:nvSpPr>
          <p:cNvPr id="29" name="矩形 28"/>
          <p:cNvSpPr>
            <a:spLocks noGrp="1"/>
          </p:cNvSpPr>
          <p:nvPr/>
        </p:nvSpPr>
        <p:spPr>
          <a:xfrm>
            <a:off x="803910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AI-confirm</a:t>
            </a:r>
            <a:endParaRPr sz="1350" b="1">
              <a:solidFill>
                <a:srgbClr val="FFFFFF"/>
              </a:solidFill>
            </a:endParaRPr>
          </a:p>
        </p:txBody>
      </p:sp>
      <p:sp>
        <p:nvSpPr>
          <p:cNvPr id="30" name="圆角矩形 29"/>
          <p:cNvSpPr>
            <a:spLocks noGrp="1"/>
          </p:cNvSpPr>
          <p:nvPr/>
        </p:nvSpPr>
        <p:spPr>
          <a:xfrm>
            <a:off x="9658350" y="2038350"/>
            <a:ext cx="1485900" cy="514350"/>
          </a:xfrm>
          <a:prstGeom prst="roundRect">
            <a:avLst>
              <a:gd name="adj" fmla="val 14815"/>
            </a:avLst>
          </a:prstGeom>
          <a:solidFill>
            <a:srgbClr val="9B5D58"/>
          </a:solidFill>
          <a:ln w="0">
            <a:solidFill>
              <a:srgbClr val="9B5D58"/>
            </a:solidFill>
            <a:prstDash val="solid"/>
          </a:ln>
        </p:spPr>
      </p:sp>
      <p:sp>
        <p:nvSpPr>
          <p:cNvPr id="31" name="矩形 30"/>
          <p:cNvSpPr>
            <a:spLocks noGrp="1"/>
          </p:cNvSpPr>
          <p:nvPr/>
        </p:nvSpPr>
        <p:spPr>
          <a:xfrm>
            <a:off x="965835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AI-disclosure</a:t>
            </a:r>
            <a:endParaRPr sz="1350" b="1">
              <a:solidFill>
                <a:srgbClr val="FFFFFF"/>
              </a:solidFill>
            </a:endParaRPr>
          </a:p>
        </p:txBody>
      </p:sp>
      <p:sp>
        <p:nvSpPr>
          <p:cNvPr id="32" name="矩形 31"/>
          <p:cNvSpPr>
            <a:spLocks noGrp="1"/>
          </p:cNvSpPr>
          <p:nvPr/>
        </p:nvSpPr>
        <p:spPr>
          <a:xfrm>
            <a:off x="4819650" y="3048000"/>
            <a:ext cx="4827270" cy="225425"/>
          </a:xfrm>
          <a:prstGeom prst="rect">
            <a:avLst/>
          </a:prstGeom>
          <a:noFill/>
          <a:ln w="0">
            <a:noFill/>
            <a:prstDash val="solid"/>
          </a:ln>
        </p:spPr>
        <p:txBody>
          <a:bodyPr/>
          <a:lstStyle/>
          <a:p>
            <a:pPr>
              <a:buNone/>
              <a:defRPr sz="1650" b="1">
                <a:solidFill>
                  <a:srgbClr val="23364A"/>
                </a:solidFill>
              </a:defRPr>
            </a:pPr>
            <a:r>
              <a:rPr lang="en-US" sz="1650" b="1">
                <a:solidFill>
                  <a:srgbClr val="23364A"/>
                </a:solidFill>
              </a:rPr>
              <a:t>Two</a:t>
            </a:r>
            <a:r>
              <a:rPr sz="1650" b="1">
                <a:solidFill>
                  <a:srgbClr val="23364A"/>
                </a:solidFill>
              </a:rPr>
              <a:t> participant, </a:t>
            </a:r>
            <a:r>
              <a:rPr lang="en-US" sz="1650" b="1">
                <a:solidFill>
                  <a:srgbClr val="23364A"/>
                </a:solidFill>
              </a:rPr>
              <a:t>mutilple </a:t>
            </a:r>
            <a:r>
              <a:rPr sz="1650" b="1">
                <a:solidFill>
                  <a:srgbClr val="23364A"/>
                </a:solidFill>
              </a:rPr>
              <a:t>round</a:t>
            </a:r>
            <a:endParaRPr sz="1650" b="1">
              <a:solidFill>
                <a:srgbClr val="23364A"/>
              </a:solidFill>
            </a:endParaRPr>
          </a:p>
        </p:txBody>
      </p:sp>
      <p:sp>
        <p:nvSpPr>
          <p:cNvPr id="33" name="圆角矩形 32"/>
          <p:cNvSpPr>
            <a:spLocks noGrp="1"/>
          </p:cNvSpPr>
          <p:nvPr/>
        </p:nvSpPr>
        <p:spPr>
          <a:xfrm>
            <a:off x="4800600" y="3429000"/>
            <a:ext cx="1162050" cy="1123950"/>
          </a:xfrm>
          <a:prstGeom prst="roundRect">
            <a:avLst>
              <a:gd name="adj" fmla="val 6780"/>
            </a:avLst>
          </a:prstGeom>
          <a:solidFill>
            <a:srgbClr val="F9F6F0"/>
          </a:solidFill>
          <a:ln w="9525">
            <a:solidFill>
              <a:srgbClr val="B7ADA0"/>
            </a:solidFill>
            <a:prstDash val="solid"/>
          </a:ln>
        </p:spPr>
      </p:sp>
      <p:sp>
        <p:nvSpPr>
          <p:cNvPr id="34" name="矩形 33"/>
          <p:cNvSpPr>
            <a:spLocks noGrp="1"/>
          </p:cNvSpPr>
          <p:nvPr/>
        </p:nvSpPr>
        <p:spPr>
          <a:xfrm>
            <a:off x="49149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See payoff matrix</a:t>
            </a:r>
            <a:endParaRPr sz="1275">
              <a:solidFill>
                <a:srgbClr val="1C2430"/>
              </a:solidFill>
            </a:endParaRPr>
          </a:p>
        </p:txBody>
      </p:sp>
      <p:sp>
        <p:nvSpPr>
          <p:cNvPr id="35" name="矩形 34"/>
          <p:cNvSpPr>
            <a:spLocks noGrp="1"/>
          </p:cNvSpPr>
          <p:nvPr/>
        </p:nvSpPr>
        <p:spPr>
          <a:xfrm>
            <a:off x="59436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endParaRPr sz="1650" b="1">
              <a:solidFill>
                <a:srgbClr val="5F6875"/>
              </a:solidFill>
            </a:endParaRPr>
          </a:p>
        </p:txBody>
      </p:sp>
      <p:sp>
        <p:nvSpPr>
          <p:cNvPr id="36" name="圆角矩形 35"/>
          <p:cNvSpPr>
            <a:spLocks noGrp="1"/>
          </p:cNvSpPr>
          <p:nvPr/>
        </p:nvSpPr>
        <p:spPr>
          <a:xfrm>
            <a:off x="6096000" y="3429000"/>
            <a:ext cx="1162050" cy="1123950"/>
          </a:xfrm>
          <a:prstGeom prst="roundRect">
            <a:avLst>
              <a:gd name="adj" fmla="val 6780"/>
            </a:avLst>
          </a:prstGeom>
          <a:solidFill>
            <a:srgbClr val="EFE7DD"/>
          </a:solidFill>
          <a:ln w="9525">
            <a:solidFill>
              <a:srgbClr val="B7ADA0"/>
            </a:solidFill>
            <a:prstDash val="solid"/>
          </a:ln>
        </p:spPr>
      </p:sp>
      <p:sp>
        <p:nvSpPr>
          <p:cNvPr id="37" name="矩形 36"/>
          <p:cNvSpPr>
            <a:spLocks noGrp="1"/>
          </p:cNvSpPr>
          <p:nvPr/>
        </p:nvSpPr>
        <p:spPr>
          <a:xfrm>
            <a:off x="62103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See AI analysis if assigned</a:t>
            </a:r>
            <a:endParaRPr sz="1275">
              <a:solidFill>
                <a:srgbClr val="1C2430"/>
              </a:solidFill>
            </a:endParaRPr>
          </a:p>
        </p:txBody>
      </p:sp>
      <p:sp>
        <p:nvSpPr>
          <p:cNvPr id="38" name="矩形 37"/>
          <p:cNvSpPr>
            <a:spLocks noGrp="1"/>
          </p:cNvSpPr>
          <p:nvPr/>
        </p:nvSpPr>
        <p:spPr>
          <a:xfrm>
            <a:off x="72390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endParaRPr sz="1650" b="1">
              <a:solidFill>
                <a:srgbClr val="5F6875"/>
              </a:solidFill>
            </a:endParaRPr>
          </a:p>
        </p:txBody>
      </p:sp>
      <p:sp>
        <p:nvSpPr>
          <p:cNvPr id="39" name="圆角矩形 38"/>
          <p:cNvSpPr>
            <a:spLocks noGrp="1"/>
          </p:cNvSpPr>
          <p:nvPr/>
        </p:nvSpPr>
        <p:spPr>
          <a:xfrm>
            <a:off x="7391400" y="3429000"/>
            <a:ext cx="1162050" cy="1123950"/>
          </a:xfrm>
          <a:prstGeom prst="roundRect">
            <a:avLst>
              <a:gd name="adj" fmla="val 6780"/>
            </a:avLst>
          </a:prstGeom>
          <a:solidFill>
            <a:srgbClr val="F9F6F0"/>
          </a:solidFill>
          <a:ln w="9525">
            <a:solidFill>
              <a:srgbClr val="B7ADA0"/>
            </a:solidFill>
            <a:prstDash val="solid"/>
          </a:ln>
        </p:spPr>
      </p:sp>
      <p:sp>
        <p:nvSpPr>
          <p:cNvPr id="40" name="矩形 39"/>
          <p:cNvSpPr>
            <a:spLocks noGrp="1"/>
          </p:cNvSpPr>
          <p:nvPr/>
        </p:nvSpPr>
        <p:spPr>
          <a:xfrm>
            <a:off x="75057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Confirm or disclose if assigned</a:t>
            </a:r>
            <a:endParaRPr sz="1275">
              <a:solidFill>
                <a:srgbClr val="1C2430"/>
              </a:solidFill>
            </a:endParaRPr>
          </a:p>
        </p:txBody>
      </p:sp>
      <p:sp>
        <p:nvSpPr>
          <p:cNvPr id="41" name="矩形 40"/>
          <p:cNvSpPr>
            <a:spLocks noGrp="1"/>
          </p:cNvSpPr>
          <p:nvPr/>
        </p:nvSpPr>
        <p:spPr>
          <a:xfrm>
            <a:off x="85344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endParaRPr sz="1650" b="1">
              <a:solidFill>
                <a:srgbClr val="5F6875"/>
              </a:solidFill>
            </a:endParaRPr>
          </a:p>
        </p:txBody>
      </p:sp>
      <p:sp>
        <p:nvSpPr>
          <p:cNvPr id="42" name="圆角矩形 41"/>
          <p:cNvSpPr>
            <a:spLocks noGrp="1"/>
          </p:cNvSpPr>
          <p:nvPr/>
        </p:nvSpPr>
        <p:spPr>
          <a:xfrm>
            <a:off x="8686800" y="3429000"/>
            <a:ext cx="1162050" cy="1123950"/>
          </a:xfrm>
          <a:prstGeom prst="roundRect">
            <a:avLst>
              <a:gd name="adj" fmla="val 6780"/>
            </a:avLst>
          </a:prstGeom>
          <a:solidFill>
            <a:srgbClr val="EFE7DD"/>
          </a:solidFill>
          <a:ln w="9525">
            <a:solidFill>
              <a:srgbClr val="B7ADA0"/>
            </a:solidFill>
            <a:prstDash val="solid"/>
          </a:ln>
        </p:spPr>
      </p:sp>
      <p:sp>
        <p:nvSpPr>
          <p:cNvPr id="43" name="矩形 42"/>
          <p:cNvSpPr>
            <a:spLocks noGrp="1"/>
          </p:cNvSpPr>
          <p:nvPr/>
        </p:nvSpPr>
        <p:spPr>
          <a:xfrm>
            <a:off x="88011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Choose escalate or restrain</a:t>
            </a:r>
            <a:endParaRPr sz="1275">
              <a:solidFill>
                <a:srgbClr val="1C2430"/>
              </a:solidFill>
            </a:endParaRPr>
          </a:p>
        </p:txBody>
      </p:sp>
      <p:sp>
        <p:nvSpPr>
          <p:cNvPr id="44" name="矩形 43"/>
          <p:cNvSpPr>
            <a:spLocks noGrp="1"/>
          </p:cNvSpPr>
          <p:nvPr/>
        </p:nvSpPr>
        <p:spPr>
          <a:xfrm>
            <a:off x="98298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endParaRPr sz="1650" b="1">
              <a:solidFill>
                <a:srgbClr val="5F6875"/>
              </a:solidFill>
            </a:endParaRPr>
          </a:p>
        </p:txBody>
      </p:sp>
      <p:sp>
        <p:nvSpPr>
          <p:cNvPr id="45" name="圆角矩形 44"/>
          <p:cNvSpPr>
            <a:spLocks noGrp="1"/>
          </p:cNvSpPr>
          <p:nvPr/>
        </p:nvSpPr>
        <p:spPr>
          <a:xfrm>
            <a:off x="9982200" y="3429000"/>
            <a:ext cx="1162050" cy="1123950"/>
          </a:xfrm>
          <a:prstGeom prst="roundRect">
            <a:avLst>
              <a:gd name="adj" fmla="val 6780"/>
            </a:avLst>
          </a:prstGeom>
          <a:solidFill>
            <a:srgbClr val="F9F6F0"/>
          </a:solidFill>
          <a:ln w="9525">
            <a:solidFill>
              <a:srgbClr val="B7ADA0"/>
            </a:solidFill>
            <a:prstDash val="solid"/>
          </a:ln>
        </p:spPr>
      </p:sp>
      <p:sp>
        <p:nvSpPr>
          <p:cNvPr id="46" name="矩形 45"/>
          <p:cNvSpPr>
            <a:spLocks noGrp="1"/>
          </p:cNvSpPr>
          <p:nvPr/>
        </p:nvSpPr>
        <p:spPr>
          <a:xfrm>
            <a:off x="100965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Observe round outcome</a:t>
            </a:r>
            <a:endParaRPr sz="1275">
              <a:solidFill>
                <a:srgbClr val="1C2430"/>
              </a:solidFill>
            </a:endParaRPr>
          </a:p>
        </p:txBody>
      </p:sp>
      <p:sp>
        <p:nvSpPr>
          <p:cNvPr id="47" name="矩形 46"/>
          <p:cNvSpPr>
            <a:spLocks noGrp="1"/>
          </p:cNvSpPr>
          <p:nvPr/>
        </p:nvSpPr>
        <p:spPr>
          <a:xfrm>
            <a:off x="4819650" y="4953000"/>
            <a:ext cx="6000750" cy="438150"/>
          </a:xfrm>
          <a:prstGeom prst="rect">
            <a:avLst/>
          </a:prstGeom>
          <a:noFill/>
          <a:ln w="0">
            <a:noFill/>
            <a:prstDash val="solid"/>
          </a:ln>
        </p:spPr>
        <p:txBody>
          <a:bodyPr/>
          <a:lstStyle/>
          <a:p>
            <a:pPr>
              <a:buNone/>
              <a:defRPr sz="1425" i="1">
                <a:solidFill>
                  <a:srgbClr val="9B5D58"/>
                </a:solidFill>
              </a:defRPr>
            </a:pPr>
            <a:r>
              <a:rPr sz="1425" i="1">
                <a:solidFill>
                  <a:srgbClr val="9B5D58"/>
                </a:solidFill>
              </a:rPr>
              <a:t>The prototype holds the strategic environment fixed and varies the responsibility architecture inside the same risky choice structure.</a:t>
            </a:r>
            <a:endParaRPr sz="1425" i="1">
              <a:solidFill>
                <a:srgbClr val="9B5D58"/>
              </a:solidFill>
            </a:endParaRPr>
          </a:p>
        </p:txBody>
      </p:sp>
      <p:sp>
        <p:nvSpPr>
          <p:cNvPr id="48" name="矩形 47"/>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49" name="矩形 48"/>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endParaRPr sz="900" b="1">
              <a:solidFill>
                <a:srgbClr val="5F6875"/>
              </a:solidFill>
            </a:endParaRPr>
          </a:p>
        </p:txBody>
      </p:sp>
      <p:sp>
        <p:nvSpPr>
          <p:cNvPr id="50" name="矩形 49"/>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8</a:t>
            </a:r>
            <a:endParaRPr sz="900">
              <a:solidFill>
                <a:srgbClr val="5F6875"/>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METHOD MAP</a:t>
            </a:r>
            <a:endParaRPr sz="900" b="1" i="0">
              <a:solidFill>
                <a:srgbClr val="B77845"/>
              </a:solidFill>
              <a:latin typeface="Times New Roman" panose="02020603050405020304"/>
              <a:ea typeface="Times New Roman" panose="02020603050405020304"/>
              <a:cs typeface="Times New Roman" panose="02020603050405020304"/>
            </a:endParaRP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RQ -&gt; manipulation -&gt; comparison -&gt; what each contrast identifies</a:t>
            </a:r>
            <a:endParaRPr sz="2550" b="1" i="0">
              <a:solidFill>
                <a:srgbClr val="231D17"/>
              </a:solidFill>
              <a:latin typeface="Times New Roman" panose="02020603050405020304"/>
              <a:ea typeface="Times New Roman" panose="02020603050405020304"/>
              <a:cs typeface="Times New Roman" panose="02020603050405020304"/>
            </a:endParaRP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pic>
        <p:nvPicPr>
          <p:cNvPr id="13" name="图片 11"/>
          <p:cNvPicPr>
            <a:picLocks noChangeAspect="1"/>
          </p:cNvPicPr>
          <p:nvPr/>
        </p:nvPicPr>
        <p:blipFill>
          <a:blip r:embed="rId1"/>
          <a:stretch>
            <a:fillRect/>
          </a:stretch>
        </p:blipFill>
        <p:spPr>
          <a:xfrm>
            <a:off x="800100" y="1718265"/>
            <a:ext cx="10591800" cy="3764369"/>
          </a:xfrm>
          <a:prstGeom prst="rect">
            <a:avLst/>
          </a:prstGeom>
        </p:spPr>
      </p:pic>
      <p:sp>
        <p:nvSpPr>
          <p:cNvPr id="5" name="矩形 4"/>
          <p:cNvSpPr>
            <a:spLocks noGrp="1"/>
          </p:cNvSpPr>
          <p:nvPr/>
        </p:nvSpPr>
        <p:spPr>
          <a:xfrm>
            <a:off x="819150" y="6019800"/>
            <a:ext cx="9239250" cy="171450"/>
          </a:xfrm>
          <a:prstGeom prst="rect">
            <a:avLst/>
          </a:prstGeom>
          <a:noFill/>
          <a:ln w="0">
            <a:noFill/>
            <a:prstDash val="solid"/>
          </a:ln>
        </p:spPr>
        <p:txBody>
          <a:bodyPr wrap="square" lIns="0" tIns="0" rIns="0" bIns="0" anchor="t">
            <a:normAutofit fontScale="95238" lnSpcReduction="10000"/>
          </a:bodyPr>
          <a:lstStyle/>
          <a:p>
            <a:pPr algn="l">
              <a:lnSpc>
                <a:spcPct val="105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The method page should make the four conditions readable: Human-only, AI-baseline, AI-confirm, and AI-disclosure.</a:t>
            </a:r>
            <a:endParaRPr sz="1125" b="1" i="0">
              <a:solidFill>
                <a:srgbClr val="231D17"/>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7" name="矩形 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endParaRPr sz="900" b="1">
              <a:solidFill>
                <a:srgbClr val="5F6875"/>
              </a:solidFill>
            </a:endParaRPr>
          </a:p>
        </p:txBody>
      </p:sp>
      <p:sp>
        <p:nvSpPr>
          <p:cNvPr id="8" name="矩形 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9</a:t>
            </a:r>
            <a:endParaRPr sz="900">
              <a:solidFill>
                <a:srgbClr val="5F6875"/>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pitchFamily="18" charset="0"/>
                <a:ea typeface="Times New Roman" panose="02020603050405020304"/>
                <a:cs typeface="Times New Roman" panose="02020603050405020304" pitchFamily="18" charset="0"/>
              </a:rPr>
              <a:t>CONTRIBUTION</a:t>
            </a:r>
            <a:endParaRPr sz="900" b="1" i="0">
              <a:solidFill>
                <a:srgbClr val="B77845"/>
              </a:solidFill>
              <a:latin typeface="Times New Roman" panose="02020603050405020304" pitchFamily="18" charset="0"/>
              <a:ea typeface="Times New Roman" panose="02020603050405020304"/>
              <a:cs typeface="Times New Roman" panose="02020603050405020304" pitchFamily="18" charset="0"/>
            </a:endParaRP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82533"/>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pitchFamily="18" charset="0"/>
                <a:ea typeface="Times New Roman" panose="02020603050405020304"/>
                <a:cs typeface="Times New Roman" panose="02020603050405020304" pitchFamily="18" charset="0"/>
              </a:rPr>
              <a:t>The contribution is to identify where AI changes responsibility before outcomes occur</a:t>
            </a:r>
            <a:endParaRPr sz="2550" b="1" i="0">
              <a:solidFill>
                <a:srgbClr val="231D17"/>
              </a:solidFill>
              <a:latin typeface="Times New Roman" panose="02020603050405020304" pitchFamily="18" charset="0"/>
              <a:ea typeface="Times New Roman" panose="02020603050405020304"/>
              <a:cs typeface="Times New Roman" panose="02020603050405020304" pitchFamily="18" charset="0"/>
            </a:endParaRP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custDataLst>
              <p:tags r:id="rId1"/>
            </p:custDataLst>
          </p:nvPr>
        </p:nvSpPr>
        <p:spPr>
          <a:xfrm>
            <a:off x="838200" y="1714500"/>
            <a:ext cx="3048000" cy="3219450"/>
          </a:xfrm>
          <a:prstGeom prst="roundRect">
            <a:avLst>
              <a:gd name="adj" fmla="val 3750"/>
            </a:avLst>
          </a:prstGeom>
          <a:solidFill>
            <a:srgbClr val="E9EDF1"/>
          </a:solidFill>
          <a:ln w="9525">
            <a:solidFill>
              <a:srgbClr val="B7ADA0"/>
            </a:solidFill>
            <a:prstDash val="solid"/>
          </a:ln>
        </p:spPr>
      </p:sp>
      <p:sp>
        <p:nvSpPr>
          <p:cNvPr id="6" name="矩形 5"/>
          <p:cNvSpPr>
            <a:spLocks noGrp="1"/>
          </p:cNvSpPr>
          <p:nvPr>
            <p:custDataLst>
              <p:tags r:id="rId2"/>
            </p:custDataLst>
          </p:nvPr>
        </p:nvSpPr>
        <p:spPr>
          <a:xfrm>
            <a:off x="1066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pitchFamily="18" charset="0"/>
                <a:cs typeface="Times New Roman" panose="02020603050405020304" pitchFamily="18" charset="0"/>
              </a:rPr>
              <a:t>Expected pattern</a:t>
            </a:r>
            <a:endParaRPr sz="1800" b="1">
              <a:solidFill>
                <a:srgbClr val="23364A"/>
              </a:solidFill>
              <a:latin typeface="Times New Roman" panose="02020603050405020304" pitchFamily="18" charset="0"/>
              <a:cs typeface="Times New Roman" panose="02020603050405020304" pitchFamily="18" charset="0"/>
            </a:endParaRPr>
          </a:p>
        </p:txBody>
      </p:sp>
      <p:sp>
        <p:nvSpPr>
          <p:cNvPr id="7" name="矩形 6"/>
          <p:cNvSpPr>
            <a:spLocks noGrp="1"/>
          </p:cNvSpPr>
          <p:nvPr>
            <p:custDataLst>
              <p:tags r:id="rId3"/>
            </p:custDataLst>
          </p:nvPr>
        </p:nvSpPr>
        <p:spPr>
          <a:xfrm>
            <a:off x="1066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AI support may already shift escalation and responsibility perception.</a:t>
            </a:r>
            <a:endParaRPr sz="1350">
              <a:solidFill>
                <a:srgbClr val="1C2430"/>
              </a:solidFill>
              <a:latin typeface="Times New Roman" panose="02020603050405020304" pitchFamily="18" charset="0"/>
              <a:cs typeface="Times New Roman" panose="02020603050405020304" pitchFamily="18" charset="0"/>
            </a:endParaRP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Confirm may raise ownership by making human passage explicit.</a:t>
            </a:r>
            <a:endParaRPr sz="1350">
              <a:solidFill>
                <a:srgbClr val="1C2430"/>
              </a:solidFill>
              <a:latin typeface="Times New Roman" panose="02020603050405020304" pitchFamily="18" charset="0"/>
              <a:cs typeface="Times New Roman" panose="02020603050405020304" pitchFamily="18" charset="0"/>
            </a:endParaRP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Disclosure may strengthen answerability or normalize responsibility sharing.</a:t>
            </a:r>
            <a:endParaRPr sz="1350">
              <a:solidFill>
                <a:srgbClr val="1C2430"/>
              </a:solidFill>
              <a:latin typeface="Times New Roman" panose="02020603050405020304" pitchFamily="18" charset="0"/>
              <a:cs typeface="Times New Roman" panose="02020603050405020304" pitchFamily="18" charset="0"/>
            </a:endParaRPr>
          </a:p>
        </p:txBody>
      </p:sp>
      <p:sp>
        <p:nvSpPr>
          <p:cNvPr id="8" name="圆角矩形 7"/>
          <p:cNvSpPr>
            <a:spLocks noGrp="1"/>
          </p:cNvSpPr>
          <p:nvPr>
            <p:custDataLst>
              <p:tags r:id="rId4"/>
            </p:custDataLst>
          </p:nvPr>
        </p:nvSpPr>
        <p:spPr>
          <a:xfrm>
            <a:off x="4267200" y="1714500"/>
            <a:ext cx="3048000" cy="3219450"/>
          </a:xfrm>
          <a:prstGeom prst="roundRect">
            <a:avLst>
              <a:gd name="adj" fmla="val 3750"/>
            </a:avLst>
          </a:prstGeom>
          <a:solidFill>
            <a:srgbClr val="E9DED5"/>
          </a:solidFill>
          <a:ln w="9525">
            <a:solidFill>
              <a:srgbClr val="B7ADA0"/>
            </a:solidFill>
            <a:prstDash val="solid"/>
          </a:ln>
        </p:spPr>
      </p:sp>
      <p:sp>
        <p:nvSpPr>
          <p:cNvPr id="9" name="矩形 8"/>
          <p:cNvSpPr>
            <a:spLocks noGrp="1"/>
          </p:cNvSpPr>
          <p:nvPr>
            <p:custDataLst>
              <p:tags r:id="rId5"/>
            </p:custDataLst>
          </p:nvPr>
        </p:nvSpPr>
        <p:spPr>
          <a:xfrm>
            <a:off x="4495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pitchFamily="18" charset="0"/>
                <a:cs typeface="Times New Roman" panose="02020603050405020304" pitchFamily="18" charset="0"/>
              </a:rPr>
              <a:t>Mechanism interpretation</a:t>
            </a:r>
            <a:endParaRPr sz="1800" b="1">
              <a:solidFill>
                <a:srgbClr val="23364A"/>
              </a:solidFill>
              <a:latin typeface="Times New Roman" panose="02020603050405020304" pitchFamily="18" charset="0"/>
              <a:cs typeface="Times New Roman" panose="02020603050405020304" pitchFamily="18" charset="0"/>
            </a:endParaRPr>
          </a:p>
        </p:txBody>
      </p:sp>
      <p:sp>
        <p:nvSpPr>
          <p:cNvPr id="10" name="矩形 9"/>
          <p:cNvSpPr>
            <a:spLocks noGrp="1"/>
          </p:cNvSpPr>
          <p:nvPr>
            <p:custDataLst>
              <p:tags r:id="rId6"/>
            </p:custDataLst>
          </p:nvPr>
        </p:nvSpPr>
        <p:spPr>
          <a:xfrm>
            <a:off x="4495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Structural accountability and felt accountability do not have to move together.</a:t>
            </a:r>
            <a:endParaRPr sz="1350">
              <a:solidFill>
                <a:srgbClr val="1C2430"/>
              </a:solidFill>
              <a:latin typeface="Times New Roman" panose="02020603050405020304" pitchFamily="18" charset="0"/>
              <a:cs typeface="Times New Roman" panose="02020603050405020304" pitchFamily="18" charset="0"/>
            </a:endParaRP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If behavior changes move with ownership and answerability, the responsibility mechanism is more credible.</a:t>
            </a:r>
            <a:endParaRPr sz="1350">
              <a:solidFill>
                <a:srgbClr val="1C2430"/>
              </a:solidFill>
              <a:latin typeface="Times New Roman" panose="02020603050405020304" pitchFamily="18" charset="0"/>
              <a:cs typeface="Times New Roman" panose="02020603050405020304" pitchFamily="18" charset="0"/>
            </a:endParaRP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If not, competing mechanisms remain on the table.</a:t>
            </a:r>
            <a:endParaRPr sz="1350">
              <a:solidFill>
                <a:srgbClr val="1C2430"/>
              </a:solidFill>
              <a:latin typeface="Times New Roman" panose="02020603050405020304" pitchFamily="18" charset="0"/>
              <a:cs typeface="Times New Roman" panose="02020603050405020304" pitchFamily="18" charset="0"/>
            </a:endParaRPr>
          </a:p>
        </p:txBody>
      </p:sp>
      <p:sp>
        <p:nvSpPr>
          <p:cNvPr id="11" name="圆角矩形 10"/>
          <p:cNvSpPr>
            <a:spLocks noGrp="1"/>
          </p:cNvSpPr>
          <p:nvPr>
            <p:custDataLst>
              <p:tags r:id="rId7"/>
            </p:custDataLst>
          </p:nvPr>
        </p:nvSpPr>
        <p:spPr>
          <a:xfrm>
            <a:off x="7696200" y="1714500"/>
            <a:ext cx="3048000" cy="3219450"/>
          </a:xfrm>
          <a:prstGeom prst="roundRect">
            <a:avLst>
              <a:gd name="adj" fmla="val 3750"/>
            </a:avLst>
          </a:prstGeom>
          <a:solidFill>
            <a:srgbClr val="E7E9E0"/>
          </a:solidFill>
          <a:ln w="9525">
            <a:solidFill>
              <a:srgbClr val="B7ADA0"/>
            </a:solidFill>
            <a:prstDash val="solid"/>
          </a:ln>
        </p:spPr>
      </p:sp>
      <p:sp>
        <p:nvSpPr>
          <p:cNvPr id="12" name="矩形 11"/>
          <p:cNvSpPr>
            <a:spLocks noGrp="1"/>
          </p:cNvSpPr>
          <p:nvPr>
            <p:custDataLst>
              <p:tags r:id="rId8"/>
            </p:custDataLst>
          </p:nvPr>
        </p:nvSpPr>
        <p:spPr>
          <a:xfrm>
            <a:off x="7924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pitchFamily="18" charset="0"/>
                <a:cs typeface="Times New Roman" panose="02020603050405020304" pitchFamily="18" charset="0"/>
              </a:rPr>
              <a:t>Dissertation role</a:t>
            </a:r>
            <a:endParaRPr sz="1800" b="1">
              <a:solidFill>
                <a:srgbClr val="23364A"/>
              </a:solidFill>
              <a:latin typeface="Times New Roman" panose="02020603050405020304" pitchFamily="18" charset="0"/>
              <a:cs typeface="Times New Roman" panose="02020603050405020304" pitchFamily="18" charset="0"/>
            </a:endParaRPr>
          </a:p>
        </p:txBody>
      </p:sp>
      <p:sp>
        <p:nvSpPr>
          <p:cNvPr id="13" name="矩形 12"/>
          <p:cNvSpPr>
            <a:spLocks noGrp="1"/>
          </p:cNvSpPr>
          <p:nvPr>
            <p:custDataLst>
              <p:tags r:id="rId9"/>
            </p:custDataLst>
          </p:nvPr>
        </p:nvSpPr>
        <p:spPr>
          <a:xfrm>
            <a:off x="7924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Paper 1 studies how AI changes evidence and belief formation.</a:t>
            </a:r>
            <a:endParaRPr sz="1350">
              <a:solidFill>
                <a:srgbClr val="1C2430"/>
              </a:solidFill>
              <a:latin typeface="Times New Roman" panose="02020603050405020304" pitchFamily="18" charset="0"/>
              <a:cs typeface="Times New Roman" panose="02020603050405020304" pitchFamily="18" charset="0"/>
            </a:endParaRP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Paper 2 studies how repeated feedback reshapes reliance calibration.</a:t>
            </a:r>
            <a:endParaRPr sz="1350">
              <a:solidFill>
                <a:srgbClr val="1C2430"/>
              </a:solidFill>
              <a:latin typeface="Times New Roman" panose="02020603050405020304" pitchFamily="18" charset="0"/>
              <a:cs typeface="Times New Roman" panose="02020603050405020304" pitchFamily="18" charset="0"/>
            </a:endParaRP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Paper 3 studies how AI-supported action reorganizes responsibility.</a:t>
            </a:r>
            <a:endParaRPr sz="1350">
              <a:solidFill>
                <a:srgbClr val="1C2430"/>
              </a:solidFill>
              <a:latin typeface="Times New Roman" panose="02020603050405020304" pitchFamily="18" charset="0"/>
              <a:cs typeface="Times New Roman" panose="02020603050405020304" pitchFamily="18" charset="0"/>
            </a:endParaRPr>
          </a:p>
        </p:txBody>
      </p:sp>
      <p:sp>
        <p:nvSpPr>
          <p:cNvPr id="14" name="圆角矩形 13"/>
          <p:cNvSpPr>
            <a:spLocks noGrp="1"/>
          </p:cNvSpPr>
          <p:nvPr/>
        </p:nvSpPr>
        <p:spPr>
          <a:xfrm>
            <a:off x="1619250" y="5257800"/>
            <a:ext cx="8934450" cy="781050"/>
          </a:xfrm>
          <a:prstGeom prst="roundRect">
            <a:avLst>
              <a:gd name="adj" fmla="val 19512"/>
            </a:avLst>
          </a:prstGeom>
          <a:solidFill>
            <a:srgbClr val="23364A"/>
          </a:solidFill>
          <a:ln w="0">
            <a:solidFill>
              <a:srgbClr val="23364A"/>
            </a:solidFill>
            <a:prstDash val="solid"/>
          </a:ln>
        </p:spPr>
      </p:sp>
      <p:sp>
        <p:nvSpPr>
          <p:cNvPr id="15" name="矩形 14"/>
          <p:cNvSpPr>
            <a:spLocks noGrp="1"/>
          </p:cNvSpPr>
          <p:nvPr/>
        </p:nvSpPr>
        <p:spPr>
          <a:xfrm>
            <a:off x="2019300" y="5448300"/>
            <a:ext cx="8096250" cy="476250"/>
          </a:xfrm>
          <a:prstGeom prst="rect">
            <a:avLst/>
          </a:prstGeom>
          <a:noFill/>
          <a:ln w="0">
            <a:noFill/>
            <a:prstDash val="solid"/>
          </a:ln>
        </p:spPr>
        <p:txBody>
          <a:bodyPr wrap="square" lIns="0" tIns="0" rIns="0" bIns="0" anchor="t">
            <a:normAutofit fontScale="94482" lnSpcReduction="10000"/>
          </a:bodyPr>
          <a:lstStyle/>
          <a:p>
            <a:pPr algn="l">
              <a:lnSpc>
                <a:spcPct val="105000"/>
              </a:lnSpc>
              <a:buNone/>
              <a:defRPr sz="1575" b="1" i="0">
                <a:solidFill>
                  <a:srgbClr val="231D17"/>
                </a:solidFill>
                <a:latin typeface="Times New Roman" panose="02020603050405020304"/>
                <a:ea typeface="Times New Roman" panose="02020603050405020304"/>
                <a:cs typeface="Times New Roman" panose="02020603050405020304"/>
              </a:defRPr>
            </a:pPr>
            <a:r>
              <a:rPr sz="1575" b="1" i="0">
                <a:solidFill>
                  <a:schemeClr val="bg1"/>
                </a:solidFill>
                <a:latin typeface="Times New Roman" panose="02020603050405020304" pitchFamily="18" charset="0"/>
                <a:ea typeface="Times New Roman" panose="02020603050405020304"/>
                <a:cs typeface="Times New Roman" panose="02020603050405020304" pitchFamily="18" charset="0"/>
              </a:rPr>
              <a:t>The key question is not only whether people use AI, but how AI system design reorganizes responsibility before action is taken.</a:t>
            </a:r>
            <a:endParaRPr sz="1575" b="1" i="0">
              <a:solidFill>
                <a:schemeClr val="bg1"/>
              </a:solidFill>
              <a:latin typeface="Times New Roman" panose="02020603050405020304" pitchFamily="18" charset="0"/>
              <a:ea typeface="Times New Roman" panose="02020603050405020304"/>
              <a:cs typeface="Times New Roman" panose="02020603050405020304" pitchFamily="18" charset="0"/>
            </a:endParaRPr>
          </a:p>
        </p:txBody>
      </p:sp>
      <p:sp>
        <p:nvSpPr>
          <p:cNvPr id="16" name="矩形 1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7" name="矩形 1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latin typeface="Times New Roman" panose="02020603050405020304" pitchFamily="18" charset="0"/>
                <a:cs typeface="Times New Roman" panose="02020603050405020304" pitchFamily="18" charset="0"/>
              </a:rPr>
              <a:t>PAPER 3</a:t>
            </a:r>
            <a:endParaRPr sz="900" b="1">
              <a:solidFill>
                <a:srgbClr val="5F6875"/>
              </a:solidFill>
              <a:latin typeface="Times New Roman" panose="02020603050405020304" pitchFamily="18" charset="0"/>
              <a:cs typeface="Times New Roman" panose="02020603050405020304" pitchFamily="18" charset="0"/>
            </a:endParaRPr>
          </a:p>
        </p:txBody>
      </p:sp>
      <p:sp>
        <p:nvSpPr>
          <p:cNvPr id="18" name="矩形 1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latin typeface="Times New Roman" panose="02020603050405020304" pitchFamily="18" charset="0"/>
                <a:cs typeface="Times New Roman" panose="02020603050405020304" pitchFamily="18" charset="0"/>
              </a:rPr>
              <a:t>10</a:t>
            </a:r>
            <a:endParaRPr sz="900">
              <a:solidFill>
                <a:srgbClr val="5F6875"/>
              </a:solidFill>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KSO_WM_DIAGRAM_VIRTUALLY_FRAME" val="{&quot;height&quot;:234,&quot;left&quot;:72,&quot;top&quot;:184.5,&quot;width&quot;:693}"/>
</p:tagLst>
</file>

<file path=ppt/tags/tag2.xml><?xml version="1.0" encoding="utf-8"?>
<p:tagLst xmlns:p="http://schemas.openxmlformats.org/presentationml/2006/main">
  <p:tag name="KSO_WM_DIAGRAM_VIRTUALLY_FRAME" val="{&quot;height&quot;:234,&quot;left&quot;:72,&quot;top&quot;:184.5,&quot;width&quot;:693}"/>
</p:tagLst>
</file>

<file path=ppt/tags/tag3.xml><?xml version="1.0" encoding="utf-8"?>
<p:tagLst xmlns:p="http://schemas.openxmlformats.org/presentationml/2006/main">
  <p:tag name="KSO_WM_DIAGRAM_VIRTUALLY_FRAME" val="{&quot;height&quot;:234,&quot;left&quot;:72,&quot;top&quot;:184.5,&quot;width&quot;:693}"/>
</p:tagLst>
</file>

<file path=ppt/tags/tag4.xml><?xml version="1.0" encoding="utf-8"?>
<p:tagLst xmlns:p="http://schemas.openxmlformats.org/presentationml/2006/main">
  <p:tag name="KSO_WM_DIAGRAM_VIRTUALLY_FRAME" val="{&quot;height&quot;:234,&quot;left&quot;:72,&quot;top&quot;:184.5,&quot;width&quot;:693}"/>
</p:tagLst>
</file>

<file path=ppt/tags/tag5.xml><?xml version="1.0" encoding="utf-8"?>
<p:tagLst xmlns:p="http://schemas.openxmlformats.org/presentationml/2006/main">
  <p:tag name="KSO_WM_DIAGRAM_VIRTUALLY_FRAME" val="{&quot;height&quot;:234,&quot;left&quot;:72,&quot;top&quot;:184.5,&quot;width&quot;:693}"/>
</p:tagLst>
</file>

<file path=ppt/tags/tag6.xml><?xml version="1.0" encoding="utf-8"?>
<p:tagLst xmlns:p="http://schemas.openxmlformats.org/presentationml/2006/main">
  <p:tag name="KSO_WM_DIAGRAM_VIRTUALLY_FRAME" val="{&quot;height&quot;:234,&quot;left&quot;:72,&quot;top&quot;:184.5,&quot;width&quot;:693}"/>
</p:tagLst>
</file>

<file path=ppt/tags/tag7.xml><?xml version="1.0" encoding="utf-8"?>
<p:tagLst xmlns:p="http://schemas.openxmlformats.org/presentationml/2006/main">
  <p:tag name="KSO_WM_DIAGRAM_VIRTUALLY_FRAME" val="{&quot;height&quot;:234,&quot;left&quot;:72,&quot;top&quot;:184.5,&quot;width&quot;:693}"/>
</p:tagLst>
</file>

<file path=ppt/tags/tag8.xml><?xml version="1.0" encoding="utf-8"?>
<p:tagLst xmlns:p="http://schemas.openxmlformats.org/presentationml/2006/main">
  <p:tag name="KSO_WM_DIAGRAM_VIRTUALLY_FRAME" val="{&quot;height&quot;:234,&quot;left&quot;:72,&quot;top&quot;:184.5,&quot;width&quot;:693}"/>
</p:tagLst>
</file>

<file path=ppt/tags/tag9.xml><?xml version="1.0" encoding="utf-8"?>
<p:tagLst xmlns:p="http://schemas.openxmlformats.org/presentationml/2006/main">
  <p:tag name="KSO_WM_DIAGRAM_VIRTUALLY_FRAME" val="{&quot;height&quot;:234,&quot;left&quot;:72,&quot;top&quot;:184.5,&quot;width&quot;:693}"/>
</p:tagLst>
</file>

<file path=ppt/tags/tag10.xml><?xml version="1.0" encoding="utf-8"?>
<p:tagLst xmlns:p="http://schemas.openxmlformats.org/presentationml/2006/main">
  <p:tag name="KSO_WM_DIAGRAM_VIRTUALLY_FRAME" val="{&quot;height&quot;:234,&quot;left&quot;:72,&quot;top&quot;:184.5,&quot;width&quot;:693}"/>
</p:tagLst>
</file>

<file path=ppt/tags/tag11.xml><?xml version="1.0" encoding="utf-8"?>
<p:tagLst xmlns:p="http://schemas.openxmlformats.org/presentationml/2006/main">
  <p:tag name="KSO_WM_DIAGRAM_VIRTUALLY_FRAME" val="{&quot;height&quot;:234,&quot;left&quot;:72,&quot;top&quot;:184.5,&quot;width&quot;:693}"/>
</p:tagLst>
</file>

<file path=ppt/tags/tag12.xml><?xml version="1.0" encoding="utf-8"?>
<p:tagLst xmlns:p="http://schemas.openxmlformats.org/presentationml/2006/main">
  <p:tag name="KSO_WM_DIAGRAM_VIRTUALLY_FRAME" val="{&quot;height&quot;:234,&quot;left&quot;:72,&quot;top&quot;:184.5,&quot;width&quot;:693}"/>
</p:tagLst>
</file>

<file path=ppt/tags/tag13.xml><?xml version="1.0" encoding="utf-8"?>
<p:tagLst xmlns:p="http://schemas.openxmlformats.org/presentationml/2006/main">
  <p:tag name="KSO_WM_DIAGRAM_VIRTUALLY_FRAME" val="{&quot;height&quot;:234,&quot;left&quot;:72,&quot;top&quot;:184.5,&quot;width&quot;:693}"/>
</p:tagLst>
</file>

<file path=ppt/tags/tag14.xml><?xml version="1.0" encoding="utf-8"?>
<p:tagLst xmlns:p="http://schemas.openxmlformats.org/presentationml/2006/main">
  <p:tag name="KSO_WM_DIAGRAM_VIRTUALLY_FRAME" val="{&quot;height&quot;:234,&quot;left&quot;:72,&quot;top&quot;:184.5,&quot;width&quot;:693}"/>
</p:tagLst>
</file>

<file path=ppt/tags/tag15.xml><?xml version="1.0" encoding="utf-8"?>
<p:tagLst xmlns:p="http://schemas.openxmlformats.org/presentationml/2006/main">
  <p:tag name="KSO_WM_DIAGRAM_VIRTUALLY_FRAME" val="{&quot;height&quot;:234,&quot;left&quot;:72,&quot;top&quot;:184.5,&quot;width&quot;:693}"/>
</p:tagLst>
</file>

<file path=ppt/tags/tag16.xml><?xml version="1.0" encoding="utf-8"?>
<p:tagLst xmlns:p="http://schemas.openxmlformats.org/presentationml/2006/main">
  <p:tag name="KSO_WM_DIAGRAM_VIRTUALLY_FRAME" val="{&quot;height&quot;:234,&quot;left&quot;:72,&quot;top&quot;:184.5,&quot;width&quot;:693}"/>
</p:tagLst>
</file>

<file path=ppt/tags/tag17.xml><?xml version="1.0" encoding="utf-8"?>
<p:tagLst xmlns:p="http://schemas.openxmlformats.org/presentationml/2006/main">
  <p:tag name="KSO_WM_DIAGRAM_VIRTUALLY_FRAME" val="{&quot;height&quot;:234,&quot;left&quot;:72,&quot;top&quot;:184.5,&quot;width&quot;:693}"/>
</p:tagLst>
</file>

<file path=ppt/tags/tag18.xml><?xml version="1.0" encoding="utf-8"?>
<p:tagLst xmlns:p="http://schemas.openxmlformats.org/presentationml/2006/main">
  <p:tag name="KSO_WM_DIAGRAM_VIRTUALLY_FRAME" val="{&quot;height&quot;:234,&quot;left&quot;:72,&quot;top&quot;:184.5,&quot;width&quot;:693}"/>
</p:tagLst>
</file>

<file path=ppt/tags/tag19.xml><?xml version="1.0" encoding="utf-8"?>
<p:tagLst xmlns:p="http://schemas.openxmlformats.org/presentationml/2006/main">
  <p:tag name="KSO_WM_DIAGRAM_VIRTUALLY_FRAME" val="{&quot;height&quot;:234,&quot;left&quot;:72,&quot;top&quot;:184.5,&quot;width&quot;:693}"/>
</p:tagLst>
</file>

<file path=ppt/tags/tag20.xml><?xml version="1.0" encoding="utf-8"?>
<p:tagLst xmlns:p="http://schemas.openxmlformats.org/presentationml/2006/main">
  <p:tag name="KSO_WM_DIAGRAM_VIRTUALLY_FRAME" val="{&quot;height&quot;:234,&quot;left&quot;:72,&quot;top&quot;:184.5,&quot;width&quot;:693}"/>
</p:tagLst>
</file>

<file path=ppt/tags/tag21.xml><?xml version="1.0" encoding="utf-8"?>
<p:tagLst xmlns:p="http://schemas.openxmlformats.org/presentationml/2006/main">
  <p:tag name="KSO_WM_DIAGRAM_VIRTUALLY_FRAME" val="{&quot;height&quot;:222,&quot;left&quot;:72,&quot;top&quot;:178.5,&quot;width&quot;:810}"/>
</p:tagLst>
</file>

<file path=ppt/tags/tag22.xml><?xml version="1.0" encoding="utf-8"?>
<p:tagLst xmlns:p="http://schemas.openxmlformats.org/presentationml/2006/main">
  <p:tag name="KSO_WM_DIAGRAM_VIRTUALLY_FRAME" val="{&quot;height&quot;:222,&quot;left&quot;:72,&quot;top&quot;:178.5,&quot;width&quot;:810}"/>
</p:tagLst>
</file>

<file path=ppt/tags/tag23.xml><?xml version="1.0" encoding="utf-8"?>
<p:tagLst xmlns:p="http://schemas.openxmlformats.org/presentationml/2006/main">
  <p:tag name="KSO_WM_DIAGRAM_VIRTUALLY_FRAME" val="{&quot;height&quot;:222,&quot;left&quot;:72,&quot;top&quot;:178.5,&quot;width&quot;:810}"/>
</p:tagLst>
</file>

<file path=ppt/tags/tag24.xml><?xml version="1.0" encoding="utf-8"?>
<p:tagLst xmlns:p="http://schemas.openxmlformats.org/presentationml/2006/main">
  <p:tag name="KSO_WM_DIAGRAM_VIRTUALLY_FRAME" val="{&quot;height&quot;:222,&quot;left&quot;:72,&quot;top&quot;:178.5,&quot;width&quot;:810}"/>
</p:tagLst>
</file>

<file path=ppt/tags/tag25.xml><?xml version="1.0" encoding="utf-8"?>
<p:tagLst xmlns:p="http://schemas.openxmlformats.org/presentationml/2006/main">
  <p:tag name="KSO_WM_DIAGRAM_VIRTUALLY_FRAME" val="{&quot;height&quot;:222,&quot;left&quot;:72,&quot;top&quot;:178.5,&quot;width&quot;:810}"/>
</p:tagLst>
</file>

<file path=ppt/tags/tag26.xml><?xml version="1.0" encoding="utf-8"?>
<p:tagLst xmlns:p="http://schemas.openxmlformats.org/presentationml/2006/main">
  <p:tag name="KSO_WM_DIAGRAM_VIRTUALLY_FRAME" val="{&quot;height&quot;:222,&quot;left&quot;:72,&quot;top&quot;:178.5,&quot;width&quot;:810}"/>
</p:tagLst>
</file>

<file path=ppt/tags/tag27.xml><?xml version="1.0" encoding="utf-8"?>
<p:tagLst xmlns:p="http://schemas.openxmlformats.org/presentationml/2006/main">
  <p:tag name="KSO_WM_DIAGRAM_VIRTUALLY_FRAME" val="{&quot;height&quot;:222,&quot;left&quot;:72,&quot;top&quot;:178.5,&quot;width&quot;:810}"/>
</p:tagLst>
</file>

<file path=ppt/tags/tag28.xml><?xml version="1.0" encoding="utf-8"?>
<p:tagLst xmlns:p="http://schemas.openxmlformats.org/presentationml/2006/main">
  <p:tag name="KSO_WM_DIAGRAM_VIRTUALLY_FRAME" val="{&quot;height&quot;:222,&quot;left&quot;:72,&quot;top&quot;:178.5,&quot;width&quot;:810}"/>
</p:tagLst>
</file>

<file path=ppt/tags/tag29.xml><?xml version="1.0" encoding="utf-8"?>
<p:tagLst xmlns:p="http://schemas.openxmlformats.org/presentationml/2006/main">
  <p:tag name="KSO_WM_DIAGRAM_VIRTUALLY_FRAME" val="{&quot;height&quot;:222,&quot;left&quot;:72,&quot;top&quot;:178.5,&quot;width&quot;:810}"/>
</p:tagLst>
</file>

<file path=ppt/tags/tag30.xml><?xml version="1.0" encoding="utf-8"?>
<p:tagLst xmlns:p="http://schemas.openxmlformats.org/presentationml/2006/main">
  <p:tag name="KSO_WM_DIAGRAM_VIRTUALLY_FRAME" val="{&quot;height&quot;:222,&quot;left&quot;:72,&quot;top&quot;:178.5,&quot;width&quot;:810}"/>
</p:tagLst>
</file>

<file path=ppt/tags/tag31.xml><?xml version="1.0" encoding="utf-8"?>
<p:tagLst xmlns:p="http://schemas.openxmlformats.org/presentationml/2006/main">
  <p:tag name="KSO_WM_DIAGRAM_VIRTUALLY_FRAME" val="{&quot;height&quot;:222,&quot;left&quot;:72,&quot;top&quot;:178.5,&quot;width&quot;:810}"/>
</p:tagLst>
</file>

<file path=ppt/tags/tag32.xml><?xml version="1.0" encoding="utf-8"?>
<p:tagLst xmlns:p="http://schemas.openxmlformats.org/presentationml/2006/main">
  <p:tag name="KSO_WM_DIAGRAM_VIRTUALLY_FRAME" val="{&quot;height&quot;:222,&quot;left&quot;:72,&quot;top&quot;:178.5,&quot;width&quot;:810}"/>
</p:tagLst>
</file>

<file path=ppt/tags/tag33.xml><?xml version="1.0" encoding="utf-8"?>
<p:tagLst xmlns:p="http://schemas.openxmlformats.org/presentationml/2006/main">
  <p:tag name="KSO_WM_DIAGRAM_VIRTUALLY_FRAME" val="{&quot;height&quot;:283.5,&quot;left&quot;:72,&quot;top&quot;:186,&quot;width&quot;:810}"/>
</p:tagLst>
</file>

<file path=ppt/tags/tag34.xml><?xml version="1.0" encoding="utf-8"?>
<p:tagLst xmlns:p="http://schemas.openxmlformats.org/presentationml/2006/main">
  <p:tag name="KSO_WM_DIAGRAM_VIRTUALLY_FRAME" val="{&quot;height&quot;:283.5,&quot;left&quot;:72,&quot;top&quot;:186,&quot;width&quot;:810}"/>
</p:tagLst>
</file>

<file path=ppt/tags/tag35.xml><?xml version="1.0" encoding="utf-8"?>
<p:tagLst xmlns:p="http://schemas.openxmlformats.org/presentationml/2006/main">
  <p:tag name="KSO_WM_DIAGRAM_VIRTUALLY_FRAME" val="{&quot;height&quot;:283.5,&quot;left&quot;:72,&quot;top&quot;:186,&quot;width&quot;:810}"/>
</p:tagLst>
</file>

<file path=ppt/tags/tag36.xml><?xml version="1.0" encoding="utf-8"?>
<p:tagLst xmlns:p="http://schemas.openxmlformats.org/presentationml/2006/main">
  <p:tag name="KSO_WM_DIAGRAM_VIRTUALLY_FRAME" val="{&quot;height&quot;:283.5,&quot;left&quot;:72,&quot;top&quot;:186,&quot;width&quot;:810}"/>
</p:tagLst>
</file>

<file path=ppt/tags/tag37.xml><?xml version="1.0" encoding="utf-8"?>
<p:tagLst xmlns:p="http://schemas.openxmlformats.org/presentationml/2006/main">
  <p:tag name="KSO_WM_DIAGRAM_VIRTUALLY_FRAME" val="{&quot;height&quot;:283.5,&quot;left&quot;:72,&quot;top&quot;:186,&quot;width&quot;:810}"/>
</p:tagLst>
</file>

<file path=ppt/tags/tag38.xml><?xml version="1.0" encoding="utf-8"?>
<p:tagLst xmlns:p="http://schemas.openxmlformats.org/presentationml/2006/main">
  <p:tag name="KSO_WM_DIAGRAM_VIRTUALLY_FRAME" val="{&quot;height&quot;:283.5,&quot;left&quot;:72,&quot;top&quot;:186,&quot;width&quot;:810}"/>
</p:tagLst>
</file>

<file path=ppt/tags/tag39.xml><?xml version="1.0" encoding="utf-8"?>
<p:tagLst xmlns:p="http://schemas.openxmlformats.org/presentationml/2006/main">
  <p:tag name="KSO_WM_DIAGRAM_VIRTUALLY_FRAME" val="{&quot;height&quot;:283.5,&quot;left&quot;:72,&quot;top&quot;:186,&quot;width&quot;:810}"/>
</p:tagLst>
</file>

<file path=ppt/tags/tag40.xml><?xml version="1.0" encoding="utf-8"?>
<p:tagLst xmlns:p="http://schemas.openxmlformats.org/presentationml/2006/main">
  <p:tag name="KSO_WM_DIAGRAM_VIRTUALLY_FRAME" val="{&quot;height&quot;:283.5,&quot;left&quot;:72,&quot;top&quot;:186,&quot;width&quot;:810}"/>
</p:tagLst>
</file>

<file path=ppt/tags/tag41.xml><?xml version="1.0" encoding="utf-8"?>
<p:tagLst xmlns:p="http://schemas.openxmlformats.org/presentationml/2006/main">
  <p:tag name="KSO_WM_DIAGRAM_VIRTUALLY_FRAME" val="{&quot;height&quot;:283.5,&quot;left&quot;:72,&quot;top&quot;:186,&quot;width&quot;:810}"/>
</p:tagLst>
</file>

<file path=ppt/tags/tag42.xml><?xml version="1.0" encoding="utf-8"?>
<p:tagLst xmlns:p="http://schemas.openxmlformats.org/presentationml/2006/main">
  <p:tag name="KSO_WM_DIAGRAM_VIRTUALLY_FRAME" val="{&quot;height&quot;:283.5,&quot;left&quot;:72,&quot;top&quot;:186,&quot;width&quot;:810}"/>
</p:tagLst>
</file>

<file path=ppt/tags/tag43.xml><?xml version="1.0" encoding="utf-8"?>
<p:tagLst xmlns:p="http://schemas.openxmlformats.org/presentationml/2006/main">
  <p:tag name="KSO_WM_DIAGRAM_VIRTUALLY_FRAME" val="{&quot;height&quot;:283.5,&quot;left&quot;:72,&quot;top&quot;:186,&quot;width&quot;:810}"/>
</p:tagLst>
</file>

<file path=ppt/tags/tag44.xml><?xml version="1.0" encoding="utf-8"?>
<p:tagLst xmlns:p="http://schemas.openxmlformats.org/presentationml/2006/main">
  <p:tag name="KSO_WM_DIAGRAM_VIRTUALLY_FRAME" val="{&quot;height&quot;:283.5,&quot;left&quot;:72,&quot;top&quot;:186,&quot;width&quot;:810}"/>
</p:tagLst>
</file>

<file path=ppt/tags/tag45.xml><?xml version="1.0" encoding="utf-8"?>
<p:tagLst xmlns:p="http://schemas.openxmlformats.org/presentationml/2006/main">
  <p:tag name="KSO_WM_DIAGRAM_VIRTUALLY_FRAME" val="{&quot;height&quot;:283.5,&quot;left&quot;:72,&quot;top&quot;:186,&quot;width&quot;:810}"/>
</p:tagLst>
</file>

<file path=ppt/tags/tag46.xml><?xml version="1.0" encoding="utf-8"?>
<p:tagLst xmlns:p="http://schemas.openxmlformats.org/presentationml/2006/main">
  <p:tag name="KSO_WM_DIAGRAM_VIRTUALLY_FRAME" val="{&quot;height&quot;:283.5,&quot;left&quot;:72,&quot;top&quot;:186,&quot;width&quot;:810}"/>
</p:tagLst>
</file>

<file path=ppt/tags/tag47.xml><?xml version="1.0" encoding="utf-8"?>
<p:tagLst xmlns:p="http://schemas.openxmlformats.org/presentationml/2006/main">
  <p:tag name="KSO_WM_DIAGRAM_VIRTUALLY_FRAME" val="{&quot;height&quot;:283.5,&quot;left&quot;:72,&quot;top&quot;:186,&quot;width&quot;:810}"/>
</p:tagLst>
</file>

<file path=ppt/tags/tag48.xml><?xml version="1.0" encoding="utf-8"?>
<p:tagLst xmlns:p="http://schemas.openxmlformats.org/presentationml/2006/main">
  <p:tag name="KSO_WM_DIAGRAM_VIRTUALLY_FRAME" val="{&quot;height&quot;:283.5,&quot;left&quot;:72,&quot;top&quot;:186,&quot;width&quot;:810}"/>
</p:tagLst>
</file>

<file path=ppt/tags/tag49.xml><?xml version="1.0" encoding="utf-8"?>
<p:tagLst xmlns:p="http://schemas.openxmlformats.org/presentationml/2006/main">
  <p:tag name="KSO_WM_DIAGRAM_VIRTUALLY_FRAME" val="{&quot;height&quot;:214.5,&quot;left&quot;:72,&quot;top&quot;:172.5,&quot;width&quot;:813}"/>
</p:tagLst>
</file>

<file path=ppt/tags/tag50.xml><?xml version="1.0" encoding="utf-8"?>
<p:tagLst xmlns:p="http://schemas.openxmlformats.org/presentationml/2006/main">
  <p:tag name="KSO_WM_DIAGRAM_VIRTUALLY_FRAME" val="{&quot;height&quot;:214.5,&quot;left&quot;:72,&quot;top&quot;:172.5,&quot;width&quot;:813}"/>
</p:tagLst>
</file>

<file path=ppt/tags/tag51.xml><?xml version="1.0" encoding="utf-8"?>
<p:tagLst xmlns:p="http://schemas.openxmlformats.org/presentationml/2006/main">
  <p:tag name="KSO_WM_DIAGRAM_VIRTUALLY_FRAME" val="{&quot;height&quot;:214.5,&quot;left&quot;:72,&quot;top&quot;:172.5,&quot;width&quot;:813}"/>
</p:tagLst>
</file>

<file path=ppt/tags/tag52.xml><?xml version="1.0" encoding="utf-8"?>
<p:tagLst xmlns:p="http://schemas.openxmlformats.org/presentationml/2006/main">
  <p:tag name="KSO_WM_DIAGRAM_VIRTUALLY_FRAME" val="{&quot;height&quot;:214.5,&quot;left&quot;:72,&quot;top&quot;:172.5,&quot;width&quot;:813}"/>
</p:tagLst>
</file>

<file path=ppt/tags/tag53.xml><?xml version="1.0" encoding="utf-8"?>
<p:tagLst xmlns:p="http://schemas.openxmlformats.org/presentationml/2006/main">
  <p:tag name="KSO_WM_DIAGRAM_VIRTUALLY_FRAME" val="{&quot;height&quot;:214.5,&quot;left&quot;:72,&quot;top&quot;:172.5,&quot;width&quot;:813}"/>
</p:tagLst>
</file>

<file path=ppt/tags/tag54.xml><?xml version="1.0" encoding="utf-8"?>
<p:tagLst xmlns:p="http://schemas.openxmlformats.org/presentationml/2006/main">
  <p:tag name="KSO_WM_DIAGRAM_VIRTUALLY_FRAME" val="{&quot;height&quot;:214.5,&quot;left&quot;:72,&quot;top&quot;:172.5,&quot;width&quot;:813}"/>
</p:tagLst>
</file>

<file path=ppt/tags/tag55.xml><?xml version="1.0" encoding="utf-8"?>
<p:tagLst xmlns:p="http://schemas.openxmlformats.org/presentationml/2006/main">
  <p:tag name="KSO_WM_DIAGRAM_VIRTUALLY_FRAME" val="{&quot;height&quot;:214.5,&quot;left&quot;:72,&quot;top&quot;:172.5,&quot;width&quot;:813}"/>
</p:tagLst>
</file>

<file path=ppt/tags/tag56.xml><?xml version="1.0" encoding="utf-8"?>
<p:tagLst xmlns:p="http://schemas.openxmlformats.org/presentationml/2006/main">
  <p:tag name="KSO_WM_DIAGRAM_VIRTUALLY_FRAME" val="{&quot;height&quot;:214.5,&quot;left&quot;:72,&quot;top&quot;:172.5,&quot;width&quot;:813}"/>
</p:tagLst>
</file>

<file path=ppt/tags/tag57.xml><?xml version="1.0" encoding="utf-8"?>
<p:tagLst xmlns:p="http://schemas.openxmlformats.org/presentationml/2006/main">
  <p:tag name="KSO_WM_DIAGRAM_VIRTUALLY_FRAME" val="{&quot;height&quot;:276.25,&quot;left&quot;:60.45,&quot;top&quot;:145.25,&quot;width&quot;:824.55}"/>
</p:tagLst>
</file>

<file path=ppt/tags/tag58.xml><?xml version="1.0" encoding="utf-8"?>
<p:tagLst xmlns:p="http://schemas.openxmlformats.org/presentationml/2006/main">
  <p:tag name="KSO_WM_DIAGRAM_VIRTUALLY_FRAME" val="{&quot;height&quot;:276.25,&quot;left&quot;:60.45,&quot;top&quot;:145.25,&quot;width&quot;:824.55}"/>
</p:tagLst>
</file>

<file path=ppt/tags/tag59.xml><?xml version="1.0" encoding="utf-8"?>
<p:tagLst xmlns:p="http://schemas.openxmlformats.org/presentationml/2006/main">
  <p:tag name="KSO_WM_DIAGRAM_VIRTUALLY_FRAME" val="{&quot;height&quot;:276.25,&quot;left&quot;:60.45,&quot;top&quot;:145.25,&quot;width&quot;:824.55}"/>
</p:tagLst>
</file>

<file path=ppt/tags/tag60.xml><?xml version="1.0" encoding="utf-8"?>
<p:tagLst xmlns:p="http://schemas.openxmlformats.org/presentationml/2006/main">
  <p:tag name="KSO_WM_DIAGRAM_VIRTUALLY_FRAME" val="{&quot;height&quot;:276.25,&quot;left&quot;:60.45,&quot;top&quot;:145.25,&quot;width&quot;:824.55}"/>
</p:tagLst>
</file>

<file path=ppt/tags/tag61.xml><?xml version="1.0" encoding="utf-8"?>
<p:tagLst xmlns:p="http://schemas.openxmlformats.org/presentationml/2006/main">
  <p:tag name="KSO_WM_DIAGRAM_VIRTUALLY_FRAME" val="{&quot;height&quot;:276.25,&quot;left&quot;:60.45,&quot;top&quot;:145.25,&quot;width&quot;:824.55}"/>
</p:tagLst>
</file>

<file path=ppt/tags/tag62.xml><?xml version="1.0" encoding="utf-8"?>
<p:tagLst xmlns:p="http://schemas.openxmlformats.org/presentationml/2006/main">
  <p:tag name="KSO_WM_DIAGRAM_VIRTUALLY_FRAME" val="{&quot;height&quot;:276.25,&quot;left&quot;:60.45,&quot;top&quot;:145.25,&quot;width&quot;:824.55}"/>
</p:tagLst>
</file>

<file path=ppt/tags/tag63.xml><?xml version="1.0" encoding="utf-8"?>
<p:tagLst xmlns:p="http://schemas.openxmlformats.org/presentationml/2006/main">
  <p:tag name="KSO_WM_DIAGRAM_VIRTUALLY_FRAME" val="{&quot;height&quot;:276.25,&quot;left&quot;:60.45,&quot;top&quot;:145.25,&quot;width&quot;:824.55}"/>
</p:tagLst>
</file>

<file path=ppt/tags/tag64.xml><?xml version="1.0" encoding="utf-8"?>
<p:tagLst xmlns:p="http://schemas.openxmlformats.org/presentationml/2006/main">
  <p:tag name="KSO_WM_DIAGRAM_VIRTUALLY_FRAME" val="{&quot;height&quot;:276.25,&quot;left&quot;:60.45,&quot;top&quot;:145.25,&quot;width&quot;:824.55}"/>
</p:tagLst>
</file>

<file path=ppt/tags/tag65.xml><?xml version="1.0" encoding="utf-8"?>
<p:tagLst xmlns:p="http://schemas.openxmlformats.org/presentationml/2006/main">
  <p:tag name="KSO_WM_DIAGRAM_VIRTUALLY_FRAME" val="{&quot;height&quot;:171,&quot;left&quot;:72,&quot;top&quot;:138,&quot;width&quot;:814.5}"/>
</p:tagLst>
</file>

<file path=ppt/tags/tag66.xml><?xml version="1.0" encoding="utf-8"?>
<p:tagLst xmlns:p="http://schemas.openxmlformats.org/presentationml/2006/main">
  <p:tag name="KSO_WM_DIAGRAM_VIRTUALLY_FRAME" val="{&quot;height&quot;:171,&quot;left&quot;:72,&quot;top&quot;:138,&quot;width&quot;:814.5}"/>
</p:tagLst>
</file>

<file path=ppt/tags/tag67.xml><?xml version="1.0" encoding="utf-8"?>
<p:tagLst xmlns:p="http://schemas.openxmlformats.org/presentationml/2006/main">
  <p:tag name="KSO_WM_DIAGRAM_VIRTUALLY_FRAME" val="{&quot;height&quot;:171,&quot;left&quot;:72,&quot;top&quot;:138,&quot;width&quot;:814.5}"/>
</p:tagLst>
</file>

<file path=ppt/tags/tag68.xml><?xml version="1.0" encoding="utf-8"?>
<p:tagLst xmlns:p="http://schemas.openxmlformats.org/presentationml/2006/main">
  <p:tag name="KSO_WM_DIAGRAM_VIRTUALLY_FRAME" val="{&quot;height&quot;:171,&quot;left&quot;:72,&quot;top&quot;:138,&quot;width&quot;:814.5}"/>
</p:tagLst>
</file>

<file path=ppt/tags/tag69.xml><?xml version="1.0" encoding="utf-8"?>
<p:tagLst xmlns:p="http://schemas.openxmlformats.org/presentationml/2006/main">
  <p:tag name="KSO_WM_DIAGRAM_VIRTUALLY_FRAME" val="{&quot;height&quot;:171,&quot;left&quot;:72,&quot;top&quot;:138,&quot;width&quot;:814.5}"/>
</p:tagLst>
</file>

<file path=ppt/tags/tag70.xml><?xml version="1.0" encoding="utf-8"?>
<p:tagLst xmlns:p="http://schemas.openxmlformats.org/presentationml/2006/main">
  <p:tag name="KSO_WM_DIAGRAM_VIRTUALLY_FRAME" val="{&quot;height&quot;:171,&quot;left&quot;:72,&quot;top&quot;:138,&quot;width&quot;:814.5}"/>
</p:tagLst>
</file>

<file path=ppt/tags/tag71.xml><?xml version="1.0" encoding="utf-8"?>
<p:tagLst xmlns:p="http://schemas.openxmlformats.org/presentationml/2006/main">
  <p:tag name="KSO_WM_DIAGRAM_VIRTUALLY_FRAME" val="{&quot;height&quot;:171,&quot;left&quot;:72,&quot;top&quot;:138,&quot;width&quot;:814.5}"/>
</p:tagLst>
</file>

<file path=ppt/tags/tag72.xml><?xml version="1.0" encoding="utf-8"?>
<p:tagLst xmlns:p="http://schemas.openxmlformats.org/presentationml/2006/main">
  <p:tag name="KSO_WM_DIAGRAM_VIRTUALLY_FRAME" val="{&quot;height&quot;:171,&quot;left&quot;:72,&quot;top&quot;:138,&quot;width&quot;:814.5}"/>
</p:tagLst>
</file>

<file path=ppt/tags/tag73.xml><?xml version="1.0" encoding="utf-8"?>
<p:tagLst xmlns:p="http://schemas.openxmlformats.org/presentationml/2006/main">
  <p:tag name="KSO_WM_DIAGRAM_VIRTUALLY_FRAME" val="{&quot;height&quot;:253.5,&quot;left&quot;:66,&quot;top&quot;:135,&quot;width&quot;:780}"/>
</p:tagLst>
</file>

<file path=ppt/tags/tag74.xml><?xml version="1.0" encoding="utf-8"?>
<p:tagLst xmlns:p="http://schemas.openxmlformats.org/presentationml/2006/main">
  <p:tag name="KSO_WM_DIAGRAM_VIRTUALLY_FRAME" val="{&quot;height&quot;:253.5,&quot;left&quot;:66,&quot;top&quot;:135,&quot;width&quot;:780}"/>
</p:tagLst>
</file>

<file path=ppt/tags/tag75.xml><?xml version="1.0" encoding="utf-8"?>
<p:tagLst xmlns:p="http://schemas.openxmlformats.org/presentationml/2006/main">
  <p:tag name="KSO_WM_DIAGRAM_VIRTUALLY_FRAME" val="{&quot;height&quot;:253.5,&quot;left&quot;:66,&quot;top&quot;:135,&quot;width&quot;:780}"/>
</p:tagLst>
</file>

<file path=ppt/tags/tag76.xml><?xml version="1.0" encoding="utf-8"?>
<p:tagLst xmlns:p="http://schemas.openxmlformats.org/presentationml/2006/main">
  <p:tag name="KSO_WM_DIAGRAM_VIRTUALLY_FRAME" val="{&quot;height&quot;:253.5,&quot;left&quot;:66,&quot;top&quot;:135,&quot;width&quot;:780}"/>
</p:tagLst>
</file>

<file path=ppt/tags/tag77.xml><?xml version="1.0" encoding="utf-8"?>
<p:tagLst xmlns:p="http://schemas.openxmlformats.org/presentationml/2006/main">
  <p:tag name="KSO_WM_DIAGRAM_VIRTUALLY_FRAME" val="{&quot;height&quot;:253.5,&quot;left&quot;:66,&quot;top&quot;:135,&quot;width&quot;:780}"/>
</p:tagLst>
</file>

<file path=ppt/tags/tag78.xml><?xml version="1.0" encoding="utf-8"?>
<p:tagLst xmlns:p="http://schemas.openxmlformats.org/presentationml/2006/main">
  <p:tag name="KSO_WM_DIAGRAM_VIRTUALLY_FRAME" val="{&quot;height&quot;:253.5,&quot;left&quot;:66,&quot;top&quot;:135,&quot;width&quot;:780}"/>
</p:tagLst>
</file>

<file path=ppt/tags/tag79.xml><?xml version="1.0" encoding="utf-8"?>
<p:tagLst xmlns:p="http://schemas.openxmlformats.org/presentationml/2006/main">
  <p:tag name="KSO_WM_DIAGRAM_VIRTUALLY_FRAME" val="{&quot;height&quot;:253.5,&quot;left&quot;:66,&quot;top&quot;:135,&quot;width&quot;:780}"/>
</p:tagLst>
</file>

<file path=ppt/tags/tag80.xml><?xml version="1.0" encoding="utf-8"?>
<p:tagLst xmlns:p="http://schemas.openxmlformats.org/presentationml/2006/main">
  <p:tag name="KSO_WM_DIAGRAM_VIRTUALLY_FRAME" val="{&quot;height&quot;:253.5,&quot;left&quot;:66,&quot;top&quot;:135,&quot;width&quot;:780}"/>
</p:tagLst>
</file>

<file path=ppt/tags/tag81.xml><?xml version="1.0" encoding="utf-8"?>
<p:tagLst xmlns:p="http://schemas.openxmlformats.org/presentationml/2006/main">
  <p:tag name="KSO_WM_DIAGRAM_VIRTUALLY_FRAME" val="{&quot;height&quot;:253.5,&quot;left&quot;:66,&quot;top&quot;:135,&quot;width&quot;:780}"/>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32889</Words>
  <Application>WPS 演示</Application>
  <PresentationFormat>宽屏</PresentationFormat>
  <Paragraphs>1356</Paragraphs>
  <Slides>41</Slides>
  <Notes>41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41</vt:i4>
      </vt:variant>
    </vt:vector>
  </HeadingPairs>
  <TitlesOfParts>
    <vt:vector size="54" baseType="lpstr">
      <vt:lpstr>Arial</vt:lpstr>
      <vt:lpstr>宋体</vt:lpstr>
      <vt:lpstr>Wingdings</vt:lpstr>
      <vt:lpstr>Times New Roman</vt:lpstr>
      <vt:lpstr>Aptos Mono</vt:lpstr>
      <vt:lpstr>Cascadia Mono SemiLight</vt:lpstr>
      <vt:lpstr>Aptos</vt:lpstr>
      <vt:lpstr>Segoe UI</vt:lpstr>
      <vt:lpstr>Times New Roman</vt:lpstr>
      <vt:lpstr>Calibri</vt:lpstr>
      <vt:lpstr>微软雅黑</vt:lpstr>
      <vt:lpstr>Arial Unicode MS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汉克克克克克克克</cp:lastModifiedBy>
  <cp:revision>48</cp:revision>
  <dcterms:created xsi:type="dcterms:W3CDTF">2026-07-05T17:54:00Z</dcterms:created>
  <dcterms:modified xsi:type="dcterms:W3CDTF">2026-07-07T05:05:30Z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FC4ED24489424AEB9888716CB5877813_12</vt:lpwstr>
  </property>
</Properties>
</file>