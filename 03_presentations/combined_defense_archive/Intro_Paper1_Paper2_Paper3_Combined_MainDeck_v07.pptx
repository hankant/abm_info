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1.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3"/>
  </p:notesMasterIdLst>
  <p:sldIdLst>
    <p:sldId id="256" r:id="rId2"/>
    <p:sldId id="257" r:id="rId3"/>
    <p:sldId id="258" r:id="rId4"/>
    <p:sldId id="259" r:id="rId5"/>
    <p:sldId id="260" r:id="rId6"/>
    <p:sldId id="261" r:id="rId7"/>
    <p:sldId id="263" r:id="rId8"/>
    <p:sldId id="264" r:id="rId9"/>
    <p:sldId id="265" r:id="rId10"/>
    <p:sldId id="266" r:id="rId11"/>
    <p:sldId id="267" r:id="rId12"/>
    <p:sldId id="262"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charts/_rels/chart1.xml.rels><?xml version="1.0" encoding="UTF-8" standalone="yes"?>
<Relationships xmlns="http://schemas.openxmlformats.org/package/2006/relationships"><Relationship Id="rId1" Type="http://schemas.openxmlformats.org/officeDocument/2006/relationships/oleObject" Target="NULL" TargetMode="Externa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lineChart>
        <c:grouping val="standard"/>
        <c:varyColors val="0"/>
        <c:ser>
          <c:idx val="0"/>
          <c:order val="0"/>
          <c:tx>
            <c:strRef>
              <c:f>Balanced</c:f>
              <c:strCache>
                <c:ptCount val="1"/>
                <c:pt idx="0">
                  <c:v>Balanced</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{54,52,55,56}</c:f>
              <c:numCache>
                <c:formatCode>General</c:formatCode>
                <c:ptCount val="4"/>
                <c:pt idx="0">
                  <c:v>54</c:v>
                </c:pt>
                <c:pt idx="1">
                  <c:v>52</c:v>
                </c:pt>
                <c:pt idx="2">
                  <c:v>55</c:v>
                </c:pt>
                <c:pt idx="3">
                  <c:v>56</c:v>
                </c:pt>
              </c:numCache>
            </c:numRef>
          </c:val>
          <c:smooth val="0"/>
          <c:extLst>
            <c:ext xmlns:c16="http://schemas.microsoft.com/office/drawing/2014/chart" uri="{C3380CC4-5D6E-409C-BE32-E72D297353CC}">
              <c16:uniqueId val="{00000000-C359-4167-A9DB-E78517724B17}"/>
            </c:ext>
          </c:extLst>
        </c:ser>
        <c:ser>
          <c:idx val="1"/>
          <c:order val="1"/>
          <c:tx>
            <c:strRef>
              <c:f>Early Shock</c:f>
              <c:strCache>
                <c:ptCount val="1"/>
                <c:pt idx="0">
                  <c:v>Early Shock</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{54,36,40,44}</c:f>
              <c:numCache>
                <c:formatCode>General</c:formatCode>
                <c:ptCount val="4"/>
                <c:pt idx="0">
                  <c:v>54</c:v>
                </c:pt>
                <c:pt idx="1">
                  <c:v>36</c:v>
                </c:pt>
                <c:pt idx="2">
                  <c:v>40</c:v>
                </c:pt>
                <c:pt idx="3">
                  <c:v>44</c:v>
                </c:pt>
              </c:numCache>
            </c:numRef>
          </c:val>
          <c:smooth val="0"/>
          <c:extLst>
            <c:ext xmlns:c16="http://schemas.microsoft.com/office/drawing/2014/chart" uri="{C3380CC4-5D6E-409C-BE32-E72D297353CC}">
              <c16:uniqueId val="{00000001-C359-4167-A9DB-E78517724B17}"/>
            </c:ext>
          </c:extLst>
        </c:ser>
        <c:ser>
          <c:idx val="2"/>
          <c:order val="2"/>
          <c:tx>
            <c:strRef>
              <c:f>Mid Shock</c:f>
              <c:strCache>
                <c:ptCount val="1"/>
                <c:pt idx="0">
                  <c:v>Mid Shock</c:v>
                </c:pt>
              </c:strCache>
            </c:strRef>
          </c:tx>
          <c:marker>
            <c:symbol val="none"/>
          </c:marker>
          <c:dLbls>
            <c:delete val="1"/>
          </c:dLbls>
          <c:cat>
            <c:strRef>
              <c:f>{"pre-shock","shock","early recovery","late recovery"}</c:f>
              <c:strCache>
                <c:ptCount val="4"/>
                <c:pt idx="0">
                  <c:v>pre-shock</c:v>
                </c:pt>
                <c:pt idx="1">
                  <c:v>shock</c:v>
                </c:pt>
                <c:pt idx="2">
                  <c:v>early recovery</c:v>
                </c:pt>
                <c:pt idx="3">
                  <c:v>late recovery</c:v>
                </c:pt>
              </c:strCache>
            </c:strRef>
          </c:cat>
          <c:val>
            <c:numRef>
              <c:f>{54,50,37,42}</c:f>
              <c:numCache>
                <c:formatCode>General</c:formatCode>
                <c:ptCount val="4"/>
                <c:pt idx="0">
                  <c:v>54</c:v>
                </c:pt>
                <c:pt idx="1">
                  <c:v>50</c:v>
                </c:pt>
                <c:pt idx="2">
                  <c:v>37</c:v>
                </c:pt>
                <c:pt idx="3">
                  <c:v>42</c:v>
                </c:pt>
              </c:numCache>
            </c:numRef>
          </c:val>
          <c:smooth val="0"/>
          <c:extLst>
            <c:ext xmlns:c16="http://schemas.microsoft.com/office/drawing/2014/chart" uri="{C3380CC4-5D6E-409C-BE32-E72D297353CC}">
              <c16:uniqueId val="{00000002-C359-4167-A9DB-E78517724B17}"/>
            </c:ext>
          </c:extLst>
        </c:ser>
        <c:dLbls>
          <c:showLegendKey val="1"/>
          <c:showVal val="1"/>
          <c:showCatName val="1"/>
          <c:showSerName val="1"/>
          <c:showPercent val="1"/>
          <c:showBubbleSize val="1"/>
        </c:dLbls>
        <c:smooth val="0"/>
        <c:axId val="48650112"/>
        <c:axId val="48672768"/>
      </c:line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endParaRPr lang="zh-CN"/>
          </a:p>
        </c:txPr>
        <c:crossAx val="48672768"/>
        <c:crosses val="autoZero"/>
        <c:auto val="1"/>
        <c:lblAlgn val="ctr"/>
        <c:lblOffset val="100"/>
        <c:noMultiLvlLbl val="0"/>
      </c:catAx>
      <c:valAx>
        <c:axId val="48672768"/>
        <c:scaling>
          <c:orientation val="minMax"/>
        </c:scaling>
        <c:delete val="0"/>
        <c:axPos val="l"/>
        <c:majorGridlines>
          <c:spPr>
            <a:ln w="9525">
              <a:solidFill>
                <a:srgbClr val="D8CCBB"/>
              </a:solidFill>
              <a:prstDash val="solid"/>
              <a:round/>
            </a:ln>
          </c:spPr>
        </c:majorGridlines>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1000" b="0" i="0" u="none" strike="noStrike" kern="1200" baseline="0">
                <a:solidFill>
                  <a:srgbClr val="666666"/>
                </a:solidFill>
                <a:latin typeface="+mn-lt"/>
                <a:ea typeface="+mn-ea"/>
                <a:cs typeface="+mn-cs"/>
              </a:defRPr>
            </a:pPr>
            <a:endParaRPr lang="zh-CN"/>
          </a:p>
        </c:txPr>
        <c:crossAx val="48650112"/>
        <c:crosses val="autoZero"/>
        <c:crossBetween val="between"/>
      </c:valAx>
    </c:plotArea>
    <c:legend>
      <c:legendPos val="b"/>
      <c:overlay val="0"/>
      <c:txPr>
        <a:bodyPr rot="0" spcFirstLastPara="0" vertOverflow="ellipsis" vert="horz" wrap="square" anchor="ctr" anchorCtr="1"/>
        <a:lstStyle/>
        <a:p>
          <a:pPr>
            <a:defRPr lang="zh-CN" sz="1000" b="0" i="0" u="none" strike="noStrike" kern="1200" baseline="0">
              <a:solidFill>
                <a:schemeClr val="tx1"/>
              </a:solidFill>
              <a:latin typeface="+mn-lt"/>
              <a:ea typeface="+mn-ea"/>
              <a:cs typeface="+mn-cs"/>
            </a:defRPr>
          </a:pPr>
          <a:endParaRPr lang="zh-CN"/>
        </a:p>
      </c:txPr>
    </c:legend>
    <c:plotVisOnly val="1"/>
    <c:dispBlanksAs val="gap"/>
    <c:showDLblsOverMax val="0"/>
    <c:extLst>
      <c:ext uri="{0b15fc19-7d7d-44ad-8c2d-2c3a37ce22c3}">
        <chartProps xmlns="https://web.wps.cn/et/2018/main" chartId="{c89554e0-413e-427c-8165-c5403faf2faa}"/>
      </c:ext>
    </c:extLst>
  </c:chart>
  <c:txPr>
    <a:bodyPr/>
    <a:lstStyle/>
    <a:p>
      <a:pPr>
        <a:defRPr lang="zh-CN"/>
      </a:pPr>
      <a:endParaRPr lang="zh-CN"/>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Good morning, everyone.</a:t>
            </a:r>
          </a:p>
          <a:p>
            <a:r>
              <a:rPr lang="en-US" altLang="zh-CN"/>
              <a:t>Today I'd like to introduce my doctoral research.</a:t>
            </a:r>
          </a:p>
          <a:p>
            <a:r>
              <a:rPr lang="en-US" altLang="zh-CN"/>
              <a:t>Let me begin with a simple observation.</a:t>
            </a:r>
          </a:p>
          <a:p>
            <a:r>
              <a:rPr lang="en-US" altLang="zh-CN"/>
              <a:t>AI is becoming part of many important decisions that we make every day.</a:t>
            </a:r>
          </a:p>
          <a:p>
            <a:r>
              <a:rPr lang="en-US" altLang="zh-CN"/>
              <a:t>We can already see it in healthcare, public administration, organizational governance, financial investment, and many other high-risk settings.</a:t>
            </a:r>
          </a:p>
          <a:p>
            <a:r>
              <a:rPr lang="en-US" altLang="zh-CN"/>
              <a:t>In other words, AI is no longer just a technology in the laboratory.</a:t>
            </a:r>
          </a:p>
          <a:p>
            <a:r>
              <a:rPr lang="en-US" altLang="zh-CN"/>
              <a:t>It is becoming part of real decision-making systems.</a:t>
            </a:r>
          </a:p>
          <a:p>
            <a:r>
              <a:rPr lang="en-US" altLang="zh-CN"/>
              <a:t>Because of this change, AI governance can no longer focus only on model performance or safety.</a:t>
            </a:r>
          </a:p>
          <a:p>
            <a:r>
              <a:rPr lang="en-US" altLang="zh-CN"/>
              <a:t>We also need to understand what happens to people once AI becomes part of the decision process.</a:t>
            </a:r>
          </a:p>
          <a:p>
            <a:r>
              <a:rPr lang="en-US" altLang="zh-CN"/>
              <a:t>This is the starting point of my dissertation.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So what do we already know?</a:t>
            </a:r>
          </a:p>
          <a:p>
            <a:r>
              <a:rPr lang="en-US" altLang="zh-CN"/>
              <a:t>Existing research mainly studies AI from three perspectives.</a:t>
            </a:r>
          </a:p>
          <a:p>
            <a:r>
              <a:rPr lang="en-US" altLang="zh-CN"/>
              <a:t>The first asks whether AI improves human judgment.</a:t>
            </a:r>
          </a:p>
          <a:p>
            <a:r>
              <a:rPr lang="en-US" altLang="zh-CN"/>
              <a:t>The second asks whether people trust and rely on AI.</a:t>
            </a:r>
          </a:p>
          <a:p>
            <a:r>
              <a:rPr lang="en-US" altLang="zh-CN"/>
              <a:t>The third asks who should be responsible after AI-assisted decisions.</a:t>
            </a:r>
          </a:p>
          <a:p>
            <a:r>
              <a:rPr lang="en-US" altLang="zh-CN"/>
              <a:t>These are all important questions.</a:t>
            </a:r>
          </a:p>
          <a:p>
            <a:r>
              <a:rPr lang="en-US" altLang="zh-CN"/>
              <a:t>However, they share one common assumption.</a:t>
            </a:r>
          </a:p>
          <a:p>
            <a:r>
              <a:rPr lang="en-US" altLang="zh-CN"/>
              <a:t>They all treat AI as an external tool.</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summarizes the main research </a:t>
            </a:r>
          </a:p>
          <a:p>
            <a:r>
              <a:rPr lang="en-US" altLang="zh-CN"/>
              <a:t>The existing literature is very important.</a:t>
            </a:r>
          </a:p>
          <a:p>
            <a:r>
              <a:rPr lang="en-US" altLang="zh-CN"/>
              <a:t>One stream studies decision quality and calibration.</a:t>
            </a:r>
          </a:p>
          <a:p>
            <a:r>
              <a:rPr lang="en-US" altLang="zh-CN"/>
              <a:t>It asks whether AI can improve human judgment.</a:t>
            </a:r>
          </a:p>
          <a:p>
            <a:r>
              <a:rPr lang="en-US" altLang="zh-CN"/>
              <a:t>Another stream studies trust and reliance.</a:t>
            </a:r>
          </a:p>
          <a:p>
            <a:r>
              <a:rPr lang="en-US" altLang="zh-CN"/>
              <a:t>It asks whether people accept AI advice, reject it, or rely on it too much.</a:t>
            </a:r>
          </a:p>
          <a:p>
            <a:r>
              <a:rPr lang="en-US" altLang="zh-CN"/>
              <a:t>A third stream studies responsibility and ownership.</a:t>
            </a:r>
          </a:p>
          <a:p>
            <a:r>
              <a:rPr lang="en-US" altLang="zh-CN"/>
              <a:t>It asks who should be responsible after an AI-assisted decision.</a:t>
            </a:r>
          </a:p>
          <a:p>
            <a:r>
              <a:rPr lang="en-US" altLang="zh-CN"/>
              <a:t>Much of this literature still treats AI as a traditional algorithm.</a:t>
            </a:r>
          </a:p>
          <a:p>
            <a:r>
              <a:rPr lang="en-US" altLang="zh-CN"/>
              <a:t>For example, it often explains human-AI interaction through ideas such as algorithm aversion, algorithm appreciation, or advice-taking.</a:t>
            </a:r>
          </a:p>
          <a:p>
            <a:r>
              <a:rPr lang="en-US" altLang="zh-CN"/>
              <a:t>However, it is clear that this cannot explain why people sometimes place excessive trust in AIs while at other times distrust them overly, despite all being artificial intelligence.</a:t>
            </a:r>
          </a:p>
          <a:p>
            <a:r>
              <a:rPr lang="en-US" altLang="zh-CN"/>
              <a:t>Another limitation is that many studies still focus too much on the AI side.</a:t>
            </a:r>
          </a:p>
          <a:p>
            <a:r>
              <a:rPr lang="en-US" altLang="zh-CN"/>
              <a:t>They ask whether AI improves performance, whether the model is accurate,</a:t>
            </a:r>
          </a:p>
          <a:p>
            <a:r>
              <a:rPr lang="en-US" altLang="zh-CN"/>
              <a:t>The more important question is what happens on the human side.</a:t>
            </a:r>
          </a:p>
          <a:p>
            <a:r>
              <a:rPr lang="en-US" altLang="zh-CN"/>
              <a:t>we need a different way to understand AI-assisted decision-making.</a:t>
            </a:r>
          </a:p>
          <a:p>
            <a:r>
              <a:rPr lang="en-US" altLang="zh-CN"/>
              <a:t>We need to move from seeing AI as an external algorithmic tool, to seeing AI as part of the human decision process itself.</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Why is this important?</a:t>
            </a:r>
          </a:p>
          <a:p>
            <a:r>
              <a:rPr lang="en-US" altLang="zh-CN"/>
              <a:t>Because large language models communicate through language rather than simple numerical outputs.</a:t>
            </a:r>
          </a:p>
          <a:p>
            <a:r>
              <a:rPr lang="en-US" altLang="zh-CN"/>
              <a:t>They explain,</a:t>
            </a:r>
          </a:p>
          <a:p>
            <a:r>
              <a:rPr lang="en-US" altLang="zh-CN"/>
              <a:t>summarize,</a:t>
            </a:r>
          </a:p>
          <a:p>
            <a:r>
              <a:rPr lang="en-US" altLang="zh-CN"/>
              <a:t>persuade,</a:t>
            </a:r>
          </a:p>
          <a:p>
            <a:r>
              <a:rPr lang="en-US" altLang="zh-CN"/>
              <a:t>reassure,</a:t>
            </a:r>
          </a:p>
          <a:p>
            <a:r>
              <a:rPr lang="en-US" altLang="zh-CN"/>
              <a:t>and organize information.</a:t>
            </a:r>
          </a:p>
          <a:p>
            <a:r>
              <a:rPr lang="en-US" altLang="zh-CN"/>
              <a:t>As a result,</a:t>
            </a:r>
          </a:p>
          <a:p>
            <a:r>
              <a:rPr lang="en-US" altLang="zh-CN"/>
              <a:t>they influence how people understand problems before making decisions.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a:p>
          <a:p>
            <a:r>
              <a:rPr lang="en-US" altLang="zh-CN"/>
              <a:t>So why do large language models feel different from earlier AI systems?</a:t>
            </a:r>
          </a:p>
          <a:p>
            <a:r>
              <a:rPr lang="en-US" altLang="zh-CN"/>
              <a:t>Large language models are built to work with context.</a:t>
            </a:r>
          </a:p>
          <a:p>
            <a:r>
              <a:rPr lang="en-US" altLang="zh-CN"/>
              <a:t>They can take a question, connect it with surrounding information, and generate a response in natural language.</a:t>
            </a:r>
          </a:p>
          <a:p>
            <a:r>
              <a:rPr lang="en-US" altLang="zh-CN"/>
              <a:t>LLMs give explanations.</a:t>
            </a:r>
          </a:p>
          <a:p>
            <a:r>
              <a:rPr lang="en-US" altLang="zh-CN"/>
              <a:t>They give a narrative.</a:t>
            </a:r>
          </a:p>
          <a:p>
            <a:r>
              <a:rPr lang="en-US" altLang="zh-CN"/>
              <a:t>Because of this, they enter the human decision process in a much more direct way.</a:t>
            </a:r>
          </a:p>
          <a:p>
            <a:r>
              <a:rPr lang="en-US" altLang="zh-CN"/>
              <a:t>And they can make a suggestion sound more convincing.</a:t>
            </a:r>
          </a:p>
          <a:p>
            <a:r>
              <a:rPr lang="en-US" altLang="zh-CN"/>
              <a:t>So users are not only influenced by what the AI says.</a:t>
            </a:r>
          </a:p>
          <a:p>
            <a:r>
              <a:rPr lang="en-US" altLang="zh-CN"/>
              <a:t>They are also influenced by how the AI says it.</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So at this point, I want to move from the background to the core structure of my research.</a:t>
            </a:r>
          </a:p>
          <a:p>
            <a:r>
              <a:rPr lang="en-US" altLang="zh-CN"/>
              <a:t>My argument is that AI does not only affect one single decision.</a:t>
            </a:r>
          </a:p>
          <a:p>
            <a:r>
              <a:rPr lang="en-US" altLang="zh-CN"/>
              <a:t>It affects a whole process.</a:t>
            </a:r>
          </a:p>
          <a:p>
            <a:r>
              <a:rPr lang="en-US" altLang="zh-CN"/>
              <a:t>Before people make a decision, AI may shape how they form beliefs.</a:t>
            </a:r>
          </a:p>
          <a:p>
            <a:r>
              <a:rPr lang="en-US" altLang="zh-CN"/>
              <a:t>Then, after people form a belief, AI may change how they judge risk.</a:t>
            </a:r>
          </a:p>
          <a:p>
            <a:r>
              <a:rPr lang="en-US" altLang="zh-CN"/>
              <a:t>It may also change how much they rely on the system, and when they decide to take action.</a:t>
            </a:r>
          </a:p>
          <a:p>
            <a:r>
              <a:rPr lang="en-US" altLang="zh-CN"/>
              <a:t>Finally, after the action leads to an outcome, AI may also change how responsibility is understood.</a:t>
            </a:r>
          </a:p>
          <a:p>
            <a:r>
              <a:rPr lang="en-US" altLang="zh-CN"/>
              <a:t>So the process is not just:</a:t>
            </a:r>
          </a:p>
          <a:p>
            <a:r>
              <a:rPr lang="en-US" altLang="zh-CN"/>
              <a:t>AI gives advice, and humans accept or reject it.</a:t>
            </a:r>
          </a:p>
          <a:p>
            <a:r>
              <a:rPr lang="en-US" altLang="zh-CN"/>
              <a:t>The process is closer to this:</a:t>
            </a:r>
          </a:p>
          <a:p>
            <a:r>
              <a:rPr lang="en-US" altLang="zh-CN"/>
              <a:t>AI shapes belief formation.</a:t>
            </a:r>
          </a:p>
          <a:p>
            <a:r>
              <a:rPr lang="en-US" altLang="zh-CN"/>
              <a:t>Then it affects reliance and action.</a:t>
            </a:r>
          </a:p>
          <a:p>
            <a:r>
              <a:rPr lang="en-US" altLang="zh-CN"/>
              <a:t>And finally, it influences responsibility attribution.</a:t>
            </a:r>
          </a:p>
          <a:p>
            <a:r>
              <a:rPr lang="en-US" altLang="zh-CN"/>
              <a:t>This is the shared process behind the three papers in my dissertation.</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is the transition from the overall map to Paper 1. The point is sequential. Before people decide whether to rely on AI, and before anyone can attribute responsibility for an action, they first form a belief about the situation. Generative AI changes that first step because it gives an answer before the user has personally inspected the evidence. So Paper 1 asks whether that answer-first interface changes the stopping threshold for search, the quality of posterior belief updating, and the user's subjective sense of information mastery. Once this upstream belief state is shifted, later reliance and responsibility are no longer starting from the same baseline.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Now I will move to the first paper of my dissertation.</a:t>
            </a:r>
          </a:p>
          <a:p>
            <a:r>
              <a:rPr lang="en-US">
                <a:latin typeface="Times New Roman" panose="02020603050405020304" pitchFamily="18" charset="0"/>
              </a:rPr>
              <a:t>This paper focuses how people move from evidence to belief.</a:t>
            </a:r>
          </a:p>
          <a:p>
            <a:r>
              <a:rPr lang="en-US">
                <a:latin typeface="Times New Roman" panose="02020603050405020304" pitchFamily="18" charset="0"/>
              </a:rPr>
              <a:t>The basic idea is simple.</a:t>
            </a:r>
          </a:p>
          <a:p>
            <a:r>
              <a:rPr lang="en-US">
                <a:latin typeface="Times New Roman" panose="02020603050405020304" pitchFamily="18" charset="0"/>
              </a:rPr>
              <a:t>Generative AI does not only give people an answer faster.</a:t>
            </a:r>
          </a:p>
          <a:p>
            <a:r>
              <a:rPr lang="en-US">
                <a:latin typeface="Times New Roman" panose="02020603050405020304" pitchFamily="18" charset="0"/>
              </a:rPr>
              <a:t>It may also change when people feel they have already seen enough evidence.</a:t>
            </a:r>
          </a:p>
          <a:p>
            <a:endParaRPr lang="en-US" altLang="zh-CN">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Let me start with a simple contrast.</a:t>
            </a:r>
          </a:p>
          <a:p>
            <a:r>
              <a:rPr lang="en-US">
                <a:latin typeface="Times New Roman" panose="02020603050405020304" pitchFamily="18" charset="0"/>
              </a:rPr>
              <a:t>When we use a search engine, we usually see evidence first.</a:t>
            </a:r>
          </a:p>
          <a:p>
            <a:r>
              <a:rPr lang="en-US">
                <a:latin typeface="Times New Roman" panose="02020603050405020304" pitchFamily="18" charset="0"/>
              </a:rPr>
              <a:t>We open different links.</a:t>
            </a:r>
          </a:p>
          <a:p>
            <a:r>
              <a:rPr lang="en-US">
                <a:latin typeface="Times New Roman" panose="02020603050405020304" pitchFamily="18" charset="0"/>
              </a:rPr>
              <a:t>We compare sources.</a:t>
            </a:r>
          </a:p>
          <a:p>
            <a:r>
              <a:rPr lang="en-US">
                <a:latin typeface="Times New Roman" panose="02020603050405020304" pitchFamily="18" charset="0"/>
              </a:rPr>
              <a:t>We notice disagreement.</a:t>
            </a:r>
          </a:p>
          <a:p>
            <a:r>
              <a:rPr lang="en-US">
                <a:latin typeface="Times New Roman" panose="02020603050405020304" pitchFamily="18" charset="0"/>
              </a:rPr>
              <a:t>Then we slowly form our own judgment.</a:t>
            </a:r>
          </a:p>
          <a:p>
            <a:r>
              <a:rPr lang="en-US">
                <a:latin typeface="Times New Roman" panose="02020603050405020304" pitchFamily="18" charset="0"/>
              </a:rPr>
              <a:t>But when we use an AI assistant, the order is often reversed.</a:t>
            </a:r>
          </a:p>
          <a:p>
            <a:r>
              <a:rPr lang="en-US">
                <a:latin typeface="Times New Roman" panose="02020603050405020304" pitchFamily="18" charset="0"/>
              </a:rPr>
              <a:t>We first receive a summarized answer.</a:t>
            </a:r>
          </a:p>
          <a:p>
            <a:r>
              <a:rPr lang="en-US">
                <a:latin typeface="Times New Roman" panose="02020603050405020304" pitchFamily="18" charset="0"/>
              </a:rPr>
              <a:t>The answer may already include an explanation, an example, and a conclusion.</a:t>
            </a:r>
          </a:p>
          <a:p>
            <a:r>
              <a:rPr lang="en-US">
                <a:latin typeface="Times New Roman" panose="02020603050405020304" pitchFamily="18" charset="0"/>
              </a:rPr>
              <a:t>Only after that do we decide whether we want to verify it.</a:t>
            </a:r>
          </a:p>
          <a:p>
            <a:r>
              <a:rPr lang="en-US">
                <a:latin typeface="Times New Roman" panose="02020603050405020304" pitchFamily="18" charset="0"/>
              </a:rPr>
              <a:t>So the difference is not only speed.</a:t>
            </a:r>
          </a:p>
          <a:p>
            <a:r>
              <a:rPr lang="en-US">
                <a:latin typeface="Times New Roman" panose="02020603050405020304" pitchFamily="18" charset="0"/>
              </a:rPr>
              <a:t>The deeper difference is the order of the process.</a:t>
            </a:r>
          </a:p>
          <a:p>
            <a:r>
              <a:rPr lang="en-US">
                <a:latin typeface="Times New Roman" panose="02020603050405020304" pitchFamily="18" charset="0"/>
              </a:rPr>
              <a:t>This reversal is the starting intuition of the paper.</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creates an important problem.</a:t>
            </a:r>
          </a:p>
          <a:p>
            <a:r>
              <a:rPr lang="en-US">
                <a:latin typeface="Times New Roman" panose="02020603050405020304" pitchFamily="18" charset="0"/>
              </a:rPr>
              <a:t>If people search less after seeing an AI answer, should we worry?</a:t>
            </a:r>
          </a:p>
          <a:p>
            <a:r>
              <a:rPr lang="en-US">
                <a:latin typeface="Times New Roman" panose="02020603050405020304" pitchFamily="18" charset="0"/>
              </a:rPr>
              <a:t>Not necessarily.</a:t>
            </a:r>
          </a:p>
          <a:p>
            <a:r>
              <a:rPr lang="en-US">
                <a:latin typeface="Times New Roman" panose="02020603050405020304" pitchFamily="18" charset="0"/>
              </a:rPr>
              <a:t>Less search can mean two very different things.</a:t>
            </a:r>
          </a:p>
          <a:p>
            <a:r>
              <a:rPr lang="en-US">
                <a:latin typeface="Times New Roman" panose="02020603050405020304" pitchFamily="18" charset="0"/>
              </a:rPr>
              <a:t>In the first case, AI has already compressed useful evidence well.</a:t>
            </a:r>
          </a:p>
          <a:p>
            <a:r>
              <a:rPr lang="en-US">
                <a:latin typeface="Times New Roman" panose="02020603050405020304" pitchFamily="18" charset="0"/>
              </a:rPr>
              <a:t>Then the user searches less, but the final judgment does not become worse.</a:t>
            </a:r>
          </a:p>
          <a:p>
            <a:r>
              <a:rPr lang="en-US">
                <a:latin typeface="Times New Roman" panose="02020603050405020304" pitchFamily="18" charset="0"/>
              </a:rPr>
              <a:t>But in the second case, the user searches less because the AI answer makes the evidence feel more complete than it really is.</a:t>
            </a:r>
          </a:p>
          <a:p>
            <a:r>
              <a:rPr lang="en-US">
                <a:latin typeface="Times New Roman" panose="02020603050405020304" pitchFamily="18" charset="0"/>
              </a:rPr>
              <a:t>Then the user may stop too early, and the final judgment may become worse.</a:t>
            </a:r>
          </a:p>
          <a:p>
            <a:r>
              <a:rPr lang="en-US">
                <a:latin typeface="Times New Roman" panose="02020603050405020304" pitchFamily="18" charset="0"/>
              </a:rPr>
              <a:t>That is harmful under-search.</a:t>
            </a:r>
          </a:p>
          <a:p>
            <a:r>
              <a:rPr lang="en-US">
                <a:latin typeface="Times New Roman" panose="02020603050405020304" pitchFamily="18" charset="0"/>
              </a:rPr>
              <a:t>we should asks whether reduced search is justified.</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Here I want to anchor the paper in the existing literature more concretely.</a:t>
            </a:r>
          </a:p>
          <a:p>
            <a:r>
              <a:rPr lang="en-US">
                <a:latin typeface="Times New Roman" panose="02020603050405020304" pitchFamily="18" charset="0"/>
              </a:rPr>
              <a:t>The image summarizes the closest literature targets on automation bias, reduced search, and verification. These papers are valuable, but they often move too quickly from less search to worse judgment, or they treat verification intensity as the key mechanism.</a:t>
            </a:r>
          </a:p>
          <a:p>
            <a:r>
              <a:rPr lang="en-US">
                <a:latin typeface="Times New Roman" panose="02020603050405020304" pitchFamily="18" charset="0"/>
              </a:rPr>
              <a:t>So my paper separates three things.</a:t>
            </a:r>
          </a:p>
          <a:p>
            <a:r>
              <a:rPr lang="en-US">
                <a:latin typeface="Times New Roman" panose="02020603050405020304" pitchFamily="18" charset="0"/>
              </a:rPr>
              <a:t>How much people search.</a:t>
            </a:r>
          </a:p>
          <a:p>
            <a:r>
              <a:rPr lang="en-US">
                <a:latin typeface="Times New Roman" panose="02020603050405020304" pitchFamily="18" charset="0"/>
              </a:rPr>
              <a:t>Whether their final belief is close to the evidence.</a:t>
            </a:r>
          </a:p>
          <a:p>
            <a:r>
              <a:rPr lang="en-US">
                <a:latin typeface="Times New Roman" panose="02020603050405020304" pitchFamily="18" charset="0"/>
              </a:rPr>
              <a:t>And how much they feel they understand the issue.</a:t>
            </a:r>
          </a:p>
          <a:p>
            <a:r>
              <a:rPr lang="en-US">
                <a:latin typeface="Times New Roman" panose="02020603050405020304" pitchFamily="18" charset="0"/>
              </a:rPr>
              <a:t>This is why I frame the paper </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latin typeface="Times New Roman" panose="02020603050405020304" pitchFamily="18" charset="0"/>
              </a:rPr>
              <a:t>The core question of this paper is simple.</a:t>
            </a:r>
          </a:p>
          <a:p>
            <a:r>
              <a:rPr lang="en-US" altLang="zh-CN">
                <a:latin typeface="Times New Roman" panose="02020603050405020304" pitchFamily="18" charset="0"/>
              </a:rPr>
              <a:t>After people see an AI answer, do they still want to look for more evidence?</a:t>
            </a:r>
          </a:p>
          <a:p>
            <a:r>
              <a:rPr lang="en-US" altLang="zh-CN">
                <a:latin typeface="Times New Roman" panose="02020603050405020304" pitchFamily="18" charset="0"/>
              </a:rPr>
              <a:t>Or do they feel that the answer is already enough?</a:t>
            </a:r>
          </a:p>
          <a:p>
            <a:r>
              <a:rPr lang="en-US" altLang="zh-CN">
                <a:latin typeface="Times New Roman" panose="02020603050405020304" pitchFamily="18" charset="0"/>
              </a:rPr>
              <a:t>This is not just about trust.</a:t>
            </a:r>
          </a:p>
          <a:p>
            <a:r>
              <a:rPr lang="en-US" altLang="zh-CN">
                <a:latin typeface="Times New Roman" panose="02020603050405020304" pitchFamily="18" charset="0"/>
              </a:rPr>
              <a:t>It is about information calbration.</a:t>
            </a:r>
          </a:p>
          <a:p>
            <a:r>
              <a:rPr lang="en-US" altLang="zh-CN">
                <a:latin typeface="Times New Roman" panose="02020603050405020304" pitchFamily="18" charset="0"/>
              </a:rPr>
              <a:t>Sometimes stopping earlier is fine.</a:t>
            </a:r>
          </a:p>
          <a:p>
            <a:r>
              <a:rPr lang="en-US" altLang="zh-CN">
                <a:latin typeface="Times New Roman" panose="02020603050405020304" pitchFamily="18" charset="0"/>
              </a:rPr>
              <a:t>If the AI summary is complete, it can save search cost.</a:t>
            </a:r>
          </a:p>
          <a:p>
            <a:r>
              <a:rPr lang="en-US" altLang="zh-CN">
                <a:latin typeface="Times New Roman" panose="02020603050405020304" pitchFamily="18" charset="0"/>
              </a:rPr>
              <a:t>But sometimes the summary is incomplete, people may still feel they know enough.</a:t>
            </a:r>
          </a:p>
          <a:p>
            <a:r>
              <a:rPr lang="en-US" altLang="zh-CN">
                <a:latin typeface="Times New Roman" panose="02020603050405020304" pitchFamily="18" charset="0"/>
              </a:rPr>
              <a:t>Because they may assume that AI has already searched, compared, and processed the evidence.</a:t>
            </a:r>
          </a:p>
          <a:p>
            <a:r>
              <a:rPr lang="en-US" altLang="zh-CN">
                <a:latin typeface="Times New Roman" panose="02020603050405020304" pitchFamily="18" charset="0"/>
              </a:rPr>
              <a:t>So the current answer feels more complete than it really is.</a:t>
            </a:r>
          </a:p>
          <a:p>
            <a:r>
              <a:rPr lang="en-US" altLang="zh-CN">
                <a:latin typeface="Times New Roman" panose="02020603050405020304" pitchFamily="18" charset="0"/>
              </a:rPr>
              <a:t>Then the value of further search feels lower.</a:t>
            </a:r>
          </a:p>
          <a:p>
            <a:r>
              <a:rPr lang="en-US" altLang="zh-CN">
                <a:latin typeface="Times New Roman" panose="02020603050405020304" pitchFamily="18" charset="0"/>
              </a:rPr>
              <a:t>And people stop too early.</a:t>
            </a:r>
          </a:p>
          <a:p>
            <a:r>
              <a:rPr lang="en-US" altLang="zh-CN">
                <a:latin typeface="Times New Roman" panose="02020603050405020304" pitchFamily="18" charset="0"/>
              </a:rPr>
              <a:t>That is the mechanism I want to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The three research questions are deliberately ordered.</a:t>
            </a:r>
          </a:p>
          <a:p>
            <a:r>
              <a:rPr lang="en-US">
                <a:latin typeface="Times New Roman" panose="02020603050405020304" pitchFamily="18" charset="0"/>
              </a:rPr>
              <a:t>The first is behavioral: does the AI label change the stopping threshold for additional search? The second is normative: when search declines, is that efficient compression or harmful deviation? The third is metacognitive: do subjective mastery and objective judgment quality separate from each other?</a:t>
            </a:r>
          </a:p>
          <a:p>
            <a:r>
              <a:rPr lang="en-US">
                <a:latin typeface="Times New Roman" panose="02020603050405020304" pitchFamily="18" charset="0"/>
              </a:rPr>
              <a:t>That sequence is what allows the paper to move from what users do, to whether it is justified, to whether they recognize their own informational position correctly.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Before moving to the full design, I want to explain what kind of experiment this is.
Its Bayesian prototype is the classic urn-drawing or bookbag-and-poker-chip belief-updating task.
The innovation is to contextualize that prototype as a company-risk judgment task, introduce summary-first presentation, and then let participants decide whether to inspect additional evidence under a common search cost.</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is an important correction relative to the older six-cell description.</a:t>
            </a:r>
          </a:p>
          <a:p>
            <a:r>
              <a:rPr lang="en-US">
                <a:latin typeface="Times New Roman" panose="02020603050405020304" pitchFamily="18" charset="0"/>
              </a:rPr>
              <a:t>The current design has five groups. There is one no-summary baseline that enters the shared full evidence pool directly, and then four summary groups produced by completeness crossed with source label.</a:t>
            </a:r>
          </a:p>
          <a:p>
            <a:r>
              <a:rPr lang="en-US">
                <a:latin typeface="Times New Roman" panose="02020603050405020304" pitchFamily="18" charset="0"/>
              </a:rPr>
              <a:t>The baseline does not need to be split in two, because the baseline always faces the same full pool rather than a separate summary condition.</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slide captures the cleanest identification logic in the design.</a:t>
            </a:r>
          </a:p>
          <a:p>
            <a:r>
              <a:rPr lang="en-US">
                <a:latin typeface="Times New Roman" panose="02020603050405020304" pitchFamily="18" charset="0"/>
              </a:rPr>
              <a:t>The unlabeled-summary and AI-labeled-summary groups read exactly the same summary text. The only difference is whether the source is explicitly marked as AI.</a:t>
            </a:r>
          </a:p>
          <a:p>
            <a:r>
              <a:rPr lang="en-US">
                <a:latin typeface="Times New Roman" panose="02020603050405020304" pitchFamily="18" charset="0"/>
              </a:rPr>
              <a:t>So if their later search, posterior, or mastery judgments diverge, that difference cannot be attributed to content. It has to come from the source label and the authority inferences it triggers.</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atin typeface="Times New Roman" panose="02020603050405020304" pitchFamily="18" charset="0"/>
              </a:rPr>
              <a:t>This slide explains why the design is not only about how much evidence participants click.
It also lets us evaluate whether their posterior judgments are close to a normative Bayesian benchmark.
We compute the benchmark in log-odds form.
The posterior log-odds equal the prior log-odds plus the sum of the log likelihood ratios of the evidence the participant has actually received.
For summary groups, the evidence explicitly contained in the summary enters the observed information set.
For the later free-search stage, every clicked and read evidence item also enters that information set.
This gives us two different deviation measures.
Conditional Bayesian deviation asks whether the participant updated correctly given the information actually seen.
Full-information deviation asks how far the reported posterior remains from the benchmark implied by the complete evidence pool.
So if conditional deviation is low but full-information deviation is high, the participant processed seen evidence reasonably well but stopped searching too early.
If conditional deviation itself is high, then even with more evidence, the participant is still weighting or updating incorrectly.</a:t>
            </a:r>
            <a:endParaRPr>
              <a:latin typeface="Times New Roman" panose="02020603050405020304" pitchFamily="18" charset="0"/>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This page explains how different result patterns would count as support for different hypotheses.</a:t>
            </a:r>
          </a:p>
          <a:p>
            <a:r>
              <a:rPr>
                <a:latin typeface="Times New Roman" panose="02020603050405020304" pitchFamily="18" charset="0"/>
              </a:rPr>
              <a:t>First, RQ1 is supported if the AI label lowers the stopping threshold relative to the unlabeled summary.</a:t>
            </a:r>
          </a:p>
          <a:p>
            <a:r>
              <a:rPr>
                <a:latin typeface="Times New Roman" panose="02020603050405020304" pitchFamily="18" charset="0"/>
              </a:rPr>
              <a:t>Second, RQ2 splits into two possibilities: representative summaries can reveal efficient compression, while incomplete summaries can reveal harmful under-search.</a:t>
            </a:r>
          </a:p>
          <a:p>
            <a:r>
              <a:rPr>
                <a:latin typeface="Times New Roman" panose="02020603050405020304" pitchFamily="18" charset="0"/>
              </a:rPr>
              <a:t>Third, RQ3 is supported if objective posterior quality and subjective mastery move apart after summary-based interaction.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a:latin typeface="Times New Roman" panose="02020603050405020304" pitchFamily="18" charset="0"/>
              </a:rPr>
              <a:t>I would close the paper by emphasizing three contributions.</a:t>
            </a:r>
          </a:p>
          <a:p>
            <a:r>
              <a:rPr>
                <a:latin typeface="Times New Roman" panose="02020603050405020304" pitchFamily="18" charset="0"/>
              </a:rPr>
              <a:t>The first is theoretical: the move from generic trust to information calibration as an evidence-to-belief mechanism.</a:t>
            </a:r>
          </a:p>
          <a:p>
            <a:r>
              <a:rPr>
                <a:latin typeface="Times New Roman" panose="02020603050405020304" pitchFamily="18" charset="0"/>
              </a:rPr>
              <a:t>The second is methodological: the paper adapts a classical Bayesian updating paradigm and adds summary-first presentation, extra search, and same-summary source-label identification.</a:t>
            </a:r>
          </a:p>
          <a:p>
            <a:r>
              <a:rPr>
                <a:latin typeface="Times New Roman" panose="02020603050405020304" pitchFamily="18" charset="0"/>
              </a:rPr>
              <a:t>The third is substantive: it separates efficient compression, harmful under-search, and subjective-objective calibration mismatch.</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Now I will move to the second paper of my dissertation.</a:t>
            </a:r>
          </a:p>
          <a:p>
            <a:r>
              <a:rPr lang="en-US" altLang="zh-CN"/>
              <a:t>The question here is not whether people trust AI in general.</a:t>
            </a:r>
          </a:p>
          <a:p>
            <a:r>
              <a:rPr lang="en-US" altLang="zh-CN"/>
              <a:t>The question is how their reliance changes over time, especially after they see AI make a mistake.</a:t>
            </a:r>
          </a:p>
          <a:p>
            <a:r>
              <a:rPr lang="en-US" altLang="zh-CN"/>
              <a:t>So this paper studies dynamic reliance.</a:t>
            </a:r>
          </a:p>
          <a:p>
            <a:r>
              <a:rPr lang="en-US" altLang="zh-CN"/>
              <a:t>It asks what happens after a local AI failure enters a repeated decision process.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When we use the same AI system, our trust is not always the same.</a:t>
            </a:r>
          </a:p>
          <a:p>
            <a:r>
              <a:rPr lang="en-US" altLang="zh-CN"/>
              <a:t>For example, we may trust AI to help write an email.</a:t>
            </a:r>
          </a:p>
          <a:p>
            <a:r>
              <a:rPr lang="en-US" altLang="zh-CN"/>
              <a:t>But we may become much more cautious when asking about medical advice, investment decisions, or research support.</a:t>
            </a:r>
          </a:p>
          <a:p>
            <a:r>
              <a:rPr lang="en-US" altLang="zh-CN"/>
              <a:t>So trust in AI is not fixed.</a:t>
            </a:r>
          </a:p>
          <a:p>
            <a:r>
              <a:rPr lang="en-US" altLang="zh-CN"/>
              <a:t>The puzzle in this paper is more specific.</a:t>
            </a:r>
          </a:p>
          <a:p>
            <a:r>
              <a:rPr lang="en-US" altLang="zh-CN"/>
              <a:t>If AI makes an early mistake, and later performs well again, do people come back?</a:t>
            </a:r>
          </a:p>
          <a:p>
            <a:r>
              <a:rPr lang="en-US" altLang="zh-CN"/>
              <a:t>So the key issue is not whether people dislike errors.</a:t>
            </a:r>
          </a:p>
          <a:p>
            <a:r>
              <a:rPr lang="en-US" altLang="zh-CN"/>
              <a:t>The key issue is whether reliance recovers.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Existing research already tells us a lot about AI trust.</a:t>
            </a:r>
          </a:p>
          <a:p>
            <a:r>
              <a:rPr lang="en-US" altLang="zh-CN"/>
              <a:t>But many of them focus on one-shot decisions.</a:t>
            </a:r>
          </a:p>
          <a:p>
            <a:r>
              <a:rPr lang="en-US" altLang="zh-CN"/>
              <a:t>They can explain what people do right after an AI error.</a:t>
            </a:r>
          </a:p>
          <a:p>
            <a:r>
              <a:rPr lang="en-US" altLang="zh-CN"/>
              <a:t>But they tell us less about what happens later.</a:t>
            </a:r>
          </a:p>
          <a:p>
            <a:r>
              <a:rPr lang="en-US" altLang="zh-CN"/>
              <a:t>In real human-AI interaction, people do not use AI only once.</a:t>
            </a:r>
          </a:p>
          <a:p>
            <a:r>
              <a:rPr lang="en-US" altLang="zh-CN"/>
              <a:t>They interact with it repeatedly.</a:t>
            </a:r>
          </a:p>
          <a:p>
            <a:r>
              <a:rPr lang="en-US" altLang="zh-CN"/>
              <a:t>Anothor gap a miss by AI and a miss by oneself will be treated as performance signals.</a:t>
            </a:r>
          </a:p>
          <a:p>
            <a:r>
              <a:rPr lang="en-US" altLang="zh-CN"/>
              <a:t>So this paper asks how reliance evolves across rounds.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gap has two parts.</a:t>
            </a:r>
          </a:p>
          <a:p>
            <a:r>
              <a:rPr lang="en-US" altLang="zh-CN"/>
              <a:t>First, most existing studies are not truly multi-round.</a:t>
            </a:r>
          </a:p>
          <a:p>
            <a:r>
              <a:rPr lang="en-US" altLang="zh-CN"/>
              <a:t>They do not show whether early AI failures change later reliance paths.</a:t>
            </a:r>
          </a:p>
          <a:p>
            <a:r>
              <a:rPr lang="en-US" altLang="zh-CN"/>
              <a:t>Second, many studies do not isolate AI-specific asymmetry.</a:t>
            </a:r>
          </a:p>
          <a:p>
            <a:r>
              <a:rPr lang="en-US" altLang="zh-CN"/>
              <a:t>If AI performs worse, people rely on it less. That is not surprising.</a:t>
            </a:r>
          </a:p>
          <a:p>
            <a:r>
              <a:rPr lang="en-US" altLang="zh-CN"/>
              <a:t>The harder question is different.</a:t>
            </a:r>
          </a:p>
          <a:p>
            <a:r>
              <a:rPr lang="en-US" altLang="zh-CN"/>
              <a:t>When AI and human performance are matched overall, do people still punish AI errors more?</a:t>
            </a:r>
          </a:p>
          <a:p>
            <a:r>
              <a:rPr lang="en-US" altLang="zh-CN"/>
              <a:t>So this paper is not saying simply that people dislike algorithms.</a:t>
            </a:r>
          </a:p>
          <a:p>
            <a:r>
              <a:rPr lang="en-US" altLang="zh-CN"/>
              <a:t>It studies dynamic asymmetry under repeated feedback.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paper asks how people recalibrate reliance in repeated human-AI decisions.</a:t>
            </a:r>
          </a:p>
          <a:p>
            <a:r>
              <a:rPr lang="en-US" altLang="zh-CN"/>
              <a:t>In details, it asks what happens when AI has a local error shock.</a:t>
            </a:r>
          </a:p>
          <a:p>
            <a:r>
              <a:rPr lang="en-US" altLang="zh-CN"/>
              <a:t>Does reliance fall only temporarily?</a:t>
            </a:r>
          </a:p>
          <a:p>
            <a:r>
              <a:rPr lang="en-US" altLang="zh-CN"/>
              <a:t>Or does the error change the later path?</a:t>
            </a:r>
          </a:p>
          <a:p>
            <a:r>
              <a:rPr lang="en-US" altLang="zh-CN"/>
              <a:t>So the main object is the reliance path.</a:t>
            </a:r>
          </a:p>
          <a:p>
            <a:r>
              <a:rPr lang="en-US" altLang="zh-CN"/>
              <a:t>The framing is also important.</a:t>
            </a:r>
          </a:p>
          <a:p>
            <a:r>
              <a:rPr lang="en-US" altLang="zh-CN"/>
              <a:t>This is not static trust.</a:t>
            </a:r>
          </a:p>
          <a:p>
            <a:r>
              <a:rPr lang="en-US" altLang="zh-CN"/>
              <a:t>It is repeated-feedback reliance updating.</a:t>
            </a:r>
          </a:p>
          <a:p>
            <a:r>
              <a:rPr lang="en-US" altLang="zh-CN"/>
              <a:t>A local failure is treated as a calibration shock.</a:t>
            </a:r>
          </a:p>
          <a:p>
            <a:r>
              <a:rPr lang="en-US" altLang="zh-CN"/>
              <a:t>The reduced-form path is the main evidence.</a:t>
            </a:r>
          </a:p>
          <a:p>
            <a:r>
              <a:rPr lang="en-US" altLang="zh-CN"/>
              <a:t>The learning model comes later as a way to interpret the pattern.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Before the treatment design, I want to state the main questions.</a:t>
            </a:r>
          </a:p>
          <a:p>
            <a:r>
              <a:rPr lang="en-US" altLang="zh-CN"/>
              <a:t>The overall question is simple:</a:t>
            </a:r>
          </a:p>
          <a:p>
            <a:r>
              <a:rPr lang="en-US" altLang="zh-CN"/>
              <a:t>How do people adjust their reliance on AI over repeated rounds?</a:t>
            </a:r>
          </a:p>
          <a:p>
            <a:r>
              <a:rPr lang="en-US" altLang="zh-CN"/>
              <a:t>So I am not studying one-time trust.</a:t>
            </a:r>
          </a:p>
          <a:p>
            <a:r>
              <a:rPr lang="en-US" altLang="zh-CN"/>
              <a:t>I am studying the reliance path.</a:t>
            </a:r>
          </a:p>
          <a:p>
            <a:r>
              <a:rPr lang="en-US" altLang="zh-CN"/>
              <a:t>H1 is about basic learning.</a:t>
            </a:r>
          </a:p>
          <a:p>
            <a:r>
              <a:rPr lang="en-US" altLang="zh-CN"/>
              <a:t>If AI does better, people should rely on it more.</a:t>
            </a:r>
          </a:p>
          <a:p>
            <a:r>
              <a:rPr lang="en-US" altLang="zh-CN"/>
              <a:t>If self does better, people should rely on AI less.</a:t>
            </a:r>
          </a:p>
          <a:p>
            <a:r>
              <a:rPr lang="en-US" altLang="zh-CN"/>
              <a:t>H2 is about AI error shocks.</a:t>
            </a:r>
          </a:p>
          <a:p>
            <a:r>
              <a:rPr lang="en-US" altLang="zh-CN"/>
              <a:t>If AI makes several mistakes in early period, people may reduce AI adoption more than when the same mistakes are spread out.</a:t>
            </a:r>
          </a:p>
          <a:p>
            <a:r>
              <a:rPr lang="en-US" altLang="zh-CN"/>
              <a:t>H3 is about recovery.</a:t>
            </a:r>
          </a:p>
          <a:p>
            <a:r>
              <a:rPr lang="en-US" altLang="zh-CN"/>
              <a:t>After the shock, does reliance come back?</a:t>
            </a:r>
          </a:p>
          <a:p>
            <a:r>
              <a:rPr lang="en-US" altLang="zh-CN"/>
              <a:t>Or does it stay low?</a:t>
            </a:r>
          </a:p>
          <a:p>
            <a:r>
              <a:rPr lang="en-US" altLang="zh-CN"/>
              <a:t>H4 is about timing</a:t>
            </a:r>
          </a:p>
          <a:p>
            <a:r>
              <a:rPr lang="en-US" altLang="zh-CN"/>
              <a:t>An early shock may shape first impressions.</a:t>
            </a:r>
          </a:p>
          <a:p>
            <a:r>
              <a:rPr lang="en-US" altLang="zh-CN"/>
              <a:t>A mid shock may break trust after it has already formed.</a:t>
            </a:r>
          </a:p>
          <a:p>
            <a:r>
              <a:rPr lang="en-US" altLang="zh-CN"/>
              <a:t>H5 is about asymmetry.</a:t>
            </a:r>
          </a:p>
          <a:p>
            <a:r>
              <a:rPr lang="en-US" altLang="zh-CN"/>
              <a:t>After similar mistakes, people may forgive themselves faster than they forgive AI.</a:t>
            </a:r>
          </a:p>
          <a:p>
            <a:r>
              <a:rPr lang="en-US" altLang="zh-CN"/>
              <a:t>So the central test is this:</a:t>
            </a:r>
          </a:p>
          <a:p>
            <a:r>
              <a:rPr lang="en-US" altLang="zh-CN"/>
              <a:t>With the same overall performance, does AI reliance recover in the same way?</a:t>
            </a:r>
          </a:p>
          <a:p>
            <a:r>
              <a:rPr lang="en-US" altLang="zh-CN"/>
              <a:t>Or do AI mistakes leave a longer shadow?</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Before showing the task, I want to explain what the experiment needs to do.</a:t>
            </a:r>
          </a:p>
          <a:p>
            <a:r>
              <a:rPr lang="en-US" altLang="zh-CN"/>
              <a:t>It has to create repeated opportunities for reliance updating.</a:t>
            </a:r>
          </a:p>
          <a:p>
            <a:r>
              <a:rPr lang="en-US" altLang="zh-CN"/>
              <a:t>Participants need to see feedback over many rounds.</a:t>
            </a:r>
          </a:p>
          <a:p>
            <a:r>
              <a:rPr lang="en-US" altLang="zh-CN"/>
              <a:t>They also need to see both chosen and unchosen outcomes.</a:t>
            </a:r>
          </a:p>
          <a:p>
            <a:r>
              <a:rPr lang="en-US" altLang="zh-CN"/>
              <a:t>Otherwise, they cannot compare themselves with AI.</a:t>
            </a:r>
          </a:p>
          <a:p>
            <a:r>
              <a:rPr lang="en-US" altLang="zh-CN"/>
              <a:t>The design also needs matched average performance.</a:t>
            </a:r>
          </a:p>
          <a:p>
            <a:r>
              <a:rPr lang="en-US" altLang="zh-CN"/>
              <a:t>If AI is simply worse, then lower reliance is not interesting.</a:t>
            </a:r>
          </a:p>
          <a:p>
            <a:r>
              <a:rPr lang="en-US" altLang="zh-CN"/>
              <a:t>So the goal is to hold overall quality constant and vary the path of errors.</a:t>
            </a:r>
          </a:p>
          <a:p>
            <a:r>
              <a:rPr lang="en-US" altLang="zh-CN"/>
              <a:t>That allows the paper to study path effects, not just quality differences.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experiment is simple.</a:t>
            </a:r>
          </a:p>
          <a:p>
            <a:r>
              <a:rPr lang="en-US" altLang="zh-CN"/>
              <a:t>Participants face three abstract channels. There are no real-world labels, </a:t>
            </a:r>
          </a:p>
          <a:p>
            <a:r>
              <a:rPr lang="en-US" altLang="zh-CN"/>
              <a:t>In each round, each channel generates a different payoff. Participants have 100 points, and they need to allocate these points across the three channels.</a:t>
            </a:r>
          </a:p>
          <a:p>
            <a:r>
              <a:rPr lang="en-US" altLang="zh-CN"/>
              <a:t>they see the AI’s recommendation. Then they choose whether to submit their own decision or follow the AI.</a:t>
            </a:r>
          </a:p>
          <a:p>
            <a:r>
              <a:rPr lang="en-US" altLang="zh-CN"/>
              <a:t>The payoff sequence is fixed in advance. So every participant faces the same 20 rounds. But we do not tell them this.</a:t>
            </a:r>
          </a:p>
          <a:p>
            <a:r>
              <a:rPr lang="en-US" altLang="zh-CN"/>
              <a:t>Instead, we tell them that the current payoff may be related to the previous round. This makes participants believe there may be an underlying pattern to learn.</a:t>
            </a:r>
          </a:p>
          <a:p>
            <a:r>
              <a:rPr lang="en-US" altLang="zh-CN"/>
              <a:t>The goal is to make the task difficult, but not impossible. Participants should feel uncertain enough to seek help from the AI, but the task should not be so simple that they can fully learn it after a few rounds.</a:t>
            </a:r>
          </a:p>
          <a:p>
            <a:r>
              <a:rPr lang="en-US" altLang="zh-CN"/>
              <a:t>This allows us to observe how reliance on AI changes over repeated interactions.</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visual simplification of the experiment. At the top, I only vary the timing structure of AI errors;</a:t>
            </a:r>
            <a:r>
              <a:rPr lang="en-US" altLang="zh-CN"/>
              <a:t>The important point is that overall performance is matched.</a:t>
            </a:r>
          </a:p>
          <a:p>
            <a:r>
              <a:rPr lang="en-US" altLang="zh-CN"/>
              <a:t>The total AI payoff is matched.</a:t>
            </a:r>
          </a:p>
          <a:p>
            <a:r>
              <a:rPr lang="en-US" altLang="zh-CN"/>
              <a:t>The number of errors is matched.</a:t>
            </a:r>
          </a:p>
          <a:p>
            <a:r>
              <a:rPr lang="en-US" altLang="zh-CN"/>
              <a:t>Average AI quality is matched.</a:t>
            </a:r>
          </a:p>
          <a:p>
            <a:r>
              <a:rPr lang="en-US" altLang="zh-CN"/>
              <a:t>And later recovery quality is matched.</a:t>
            </a:r>
          </a:p>
          <a:p>
            <a:r>
              <a:rPr lang="en-US" altLang="zh-CN"/>
              <a:t>So the difference is not that one AI is simply better or worse.</a:t>
            </a:r>
          </a:p>
          <a:p>
            <a:r>
              <a:rPr lang="en-US" altLang="zh-CN"/>
              <a:t>The difference is when the errors happen.</a:t>
            </a:r>
          </a:p>
          <a:p>
            <a:r>
              <a:rPr lang="en-US" altLang="zh-CN"/>
              <a:t>That lets me test whether the timing of AI failure changes later reliance.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table is the identification map of the paper.</a:t>
            </a:r>
          </a:p>
          <a:p>
            <a:r>
              <a:rPr lang="en-US" altLang="zh-CN"/>
              <a:t>Each hypothesis has a specific comparison.</a:t>
            </a:r>
          </a:p>
          <a:p>
            <a:r>
              <a:rPr lang="en-US" altLang="zh-CN"/>
              <a:t>First, I test whether reliance responds to relative performance.</a:t>
            </a:r>
          </a:p>
          <a:p>
            <a:r>
              <a:rPr lang="en-US" altLang="zh-CN"/>
              <a:t>Second, I test whether clustered AI errors create a larger penalty than balanced errors.</a:t>
            </a:r>
          </a:p>
          <a:p>
            <a:r>
              <a:rPr lang="en-US" altLang="zh-CN"/>
              <a:t>Third, I test whether reliance fully recovers after AI performance improves.</a:t>
            </a:r>
          </a:p>
          <a:p>
            <a:r>
              <a:rPr lang="en-US" altLang="zh-CN"/>
              <a:t>Fourth, I test whether early errors matter more than mid-stage errors.</a:t>
            </a:r>
          </a:p>
          <a:p>
            <a:r>
              <a:rPr lang="en-US" altLang="zh-CN"/>
              <a:t>Fifth, I test whether AI misses are punished more than comparable self misses.</a:t>
            </a:r>
          </a:p>
          <a:p>
            <a:r>
              <a:rPr lang="en-US" altLang="zh-CN"/>
              <a:t>The point is that this is not a vague AI-versus-human comparison.</a:t>
            </a:r>
          </a:p>
          <a:p>
            <a:r>
              <a:rPr lang="en-US" altLang="zh-CN"/>
              <a:t>Each comparison isolates one part of dynamic reliance.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I use an EWA-inspired model to interpret the learning process.</a:t>
            </a:r>
          </a:p>
          <a:p>
            <a:r>
              <a:rPr lang="en-US" altLang="zh-CN"/>
              <a:t>But it is not the main identification strategy.</a:t>
            </a:r>
          </a:p>
          <a:p>
            <a:r>
              <a:rPr lang="en-US" altLang="zh-CN"/>
              <a:t>The main evidence comes from the experimental comparisons.</a:t>
            </a:r>
          </a:p>
          <a:p>
            <a:r>
              <a:rPr lang="en-US" altLang="zh-CN"/>
              <a:t>The model helps explain why the path changes.</a:t>
            </a:r>
          </a:p>
          <a:p>
            <a:r>
              <a:rPr lang="en-US" altLang="zh-CN"/>
              <a:t>This model is useful because participants repeatedly choose between their own judgment and AI judgment.</a:t>
            </a:r>
          </a:p>
          <a:p>
            <a:r>
              <a:rPr lang="en-US" altLang="zh-CN"/>
              <a:t>They also observe both actual and counterfactual feedback.</a:t>
            </a:r>
          </a:p>
          <a:p>
            <a:r>
              <a:rPr lang="en-US" altLang="zh-CN"/>
              <a:t>So we can think of people as updating the attraction of each source over time.</a:t>
            </a:r>
          </a:p>
          <a:p>
            <a:r>
              <a:rPr lang="en-US" altLang="zh-CN"/>
              <a:t>The key question is whether AI attraction drops more sharply after AI errors.</a:t>
            </a:r>
          </a:p>
          <a:p>
            <a:r>
              <a:rPr lang="en-US" altLang="zh-CN"/>
              <a:t>And whether that drop is harder to repair after early shocks.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ltLang="zh-CN"/>
          </a:p>
          <a:p>
            <a:r>
              <a:rPr lang="en-US" altLang="zh-CN"/>
              <a:t>In conclusion, the paper studies how people adjust their reliance on AI in dynamic task.</a:t>
            </a:r>
          </a:p>
          <a:p>
            <a:r>
              <a:rPr lang="en-US" altLang="zh-CN"/>
              <a:t>The broader point is this:</a:t>
            </a:r>
          </a:p>
          <a:p>
            <a:r>
              <a:rPr lang="en-US" altLang="zh-CN"/>
              <a:t>Many failures in human-AI systems may not come only from poor model performance.</a:t>
            </a:r>
          </a:p>
          <a:p>
            <a:r>
              <a:rPr lang="en-US" altLang="zh-CN"/>
              <a:t>They may come from the wrong reliance path that users develop during interaction.</a:t>
            </a:r>
          </a:p>
          <a:p>
            <a:r>
              <a:rPr lang="en-US" altLang="zh-CN"/>
              <a:t>So this experiment tries to identify three things.</a:t>
            </a:r>
          </a:p>
          <a:p>
            <a:r>
              <a:rPr lang="en-US" altLang="zh-CN"/>
              <a:t>How does this path form?</a:t>
            </a:r>
          </a:p>
          <a:p>
            <a:r>
              <a:rPr lang="en-US" altLang="zh-CN"/>
              <a:t>Can reliance recover after AI performance improves?</a:t>
            </a:r>
          </a:p>
          <a:p>
            <a:r>
              <a:rPr lang="en-US" altLang="zh-CN"/>
              <a:t>And how does this path affect later human use of AI?</a:t>
            </a:r>
          </a:p>
          <a:p>
            <a:r>
              <a:rPr lang="en-US" altLang="zh-CN"/>
              <a:t>That is the main content of Paper 2.</a:t>
            </a:r>
          </a:p>
          <a:p>
            <a:endParaRPr lang="en-US" altLang="zh-CN"/>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Now I move to the third paper in the dissertation.</a:t>
            </a:r>
          </a:p>
          <a:p>
            <a:r>
              <a:t>If the first paper studies belief formation and the second studies reliance calibration, this paper asks what happens once a consequential action has to be owned.</a:t>
            </a:r>
          </a:p>
          <a:p>
            <a:r>
              <a:t>The core question is not simply whether AI is used.</a:t>
            </a:r>
          </a:p>
          <a:p>
            <a:r>
              <a:t>It is whether AI system design changes who feels accountable for the final move before the outcome is even known.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Let me start with a concrete case.</a:t>
            </a:r>
          </a:p>
          <a:p>
            <a:r>
              <a:rPr lang="en-US" altLang="zh-CN"/>
              <a:t>Claude has reportedly been used in U.S. military operations related to Iran.</a:t>
            </a:r>
          </a:p>
          <a:p>
            <a:r>
              <a:rPr lang="en-US" altLang="zh-CN"/>
              <a:t>For me, the key question is not only who should be blamed after something goes wrong.</a:t>
            </a:r>
          </a:p>
          <a:p>
            <a:r>
              <a:rPr lang="en-US" altLang="zh-CN"/>
              <a:t>I care more about what happens before the action.</a:t>
            </a:r>
          </a:p>
          <a:p>
            <a:r>
              <a:rPr lang="en-US" altLang="zh-CN"/>
              <a:t>When humans work with AI in these settings, does their sense of responsibility change?</a:t>
            </a:r>
          </a:p>
          <a:p>
            <a:r>
              <a:rPr lang="en-US" altLang="zh-CN"/>
              <a:t>If AI helps analyze intelligence or simulate options, the human may still approve the final action.</a:t>
            </a:r>
          </a:p>
          <a:p>
            <a:r>
              <a:rPr lang="en-US" altLang="zh-CN"/>
              <a:t>But the decision may feel less personal.</a:t>
            </a:r>
          </a:p>
          <a:p>
            <a:r>
              <a:rPr lang="en-US" altLang="zh-CN"/>
              <a:t>The moral burden may become lighter.</a:t>
            </a:r>
          </a:p>
          <a:p>
            <a:r>
              <a:rPr lang="en-US" altLang="zh-CN"/>
              <a:t>Responsibility may start to feel shared between the human and the AI system.</a:t>
            </a:r>
          </a:p>
          <a:p>
            <a:r>
              <a:rPr lang="en-US" altLang="zh-CN"/>
              <a:t>This is why we need controlled experiments.</a:t>
            </a:r>
          </a:p>
          <a:p>
            <a:r>
              <a:rPr lang="en-US" altLang="zh-CN"/>
              <a:t>These high-risk human-AI interactions will become more common.</a:t>
            </a:r>
          </a:p>
          <a:p>
            <a:r>
              <a:rPr lang="en-US" altLang="zh-CN"/>
              <a:t>So we need to understand how people think, feel, and act with AI before we design future rules and governance.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paper builds on three lines of literature.</a:t>
            </a:r>
          </a:p>
          <a:p>
            <a:r>
              <a:rPr lang="en-US" altLang="zh-CN"/>
              <a:t>The first is about AI workflow design.</a:t>
            </a:r>
          </a:p>
          <a:p>
            <a:r>
              <a:rPr lang="en-US" altLang="zh-CN"/>
              <a:t>AI can enter the decision process in different places.</a:t>
            </a:r>
          </a:p>
          <a:p>
            <a:r>
              <a:rPr lang="en-US" altLang="zh-CN"/>
              <a:t>It can analyze, advise, recommend, or support approval.</a:t>
            </a:r>
          </a:p>
          <a:p>
            <a:r>
              <a:rPr lang="en-US" altLang="zh-CN"/>
              <a:t>So AI’s position in the process matters.</a:t>
            </a:r>
          </a:p>
          <a:p>
            <a:r>
              <a:rPr lang="en-US" altLang="zh-CN"/>
              <a:t>The second line is about delegation.</a:t>
            </a:r>
          </a:p>
          <a:p>
            <a:r>
              <a:rPr lang="en-US" altLang="zh-CN"/>
              <a:t>When a decision may create negative consequences, people may involve another agent to manage responsibility.</a:t>
            </a:r>
          </a:p>
          <a:p>
            <a:r>
              <a:rPr lang="en-US" altLang="zh-CN"/>
              <a:t>With AI support, the human may start to feel less like the full decision owner, and more like a supervisor.</a:t>
            </a:r>
          </a:p>
          <a:p>
            <a:r>
              <a:rPr lang="en-US" altLang="zh-CN"/>
              <a:t>The third line is accountability.</a:t>
            </a:r>
          </a:p>
          <a:p>
            <a:r>
              <a:rPr lang="en-US" altLang="zh-CN"/>
              <a:t>A system can require disclosure, approval, or justification.</a:t>
            </a:r>
          </a:p>
          <a:p>
            <a:r>
              <a:rPr lang="en-US" altLang="zh-CN"/>
              <a:t>But formal accountability does not always mean people actually feel responsible.</a:t>
            </a:r>
          </a:p>
          <a:p>
            <a:r>
              <a:rPr lang="en-US" altLang="zh-CN"/>
              <a:t>So the gap is clear:</a:t>
            </a:r>
          </a:p>
          <a:p>
            <a:r>
              <a:rPr lang="en-US" altLang="zh-CN"/>
              <a:t>We still need to know whether these designs change felt accountability before high-risk action is taken.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paper also connects to theories of strategic risk.</a:t>
            </a:r>
          </a:p>
          <a:p>
            <a:r>
              <a:rPr lang="en-US" altLang="zh-CN"/>
              <a:t>Rationalist theories explain escalation through bargaining failure, information problems, or commitment problems.</a:t>
            </a:r>
          </a:p>
          <a:p>
            <a:r>
              <a:rPr lang="en-US" altLang="zh-CN"/>
              <a:t>Behavioral theories explain risk-taking through framing, loss aversion, and emotion.</a:t>
            </a:r>
          </a:p>
          <a:p>
            <a:r>
              <a:rPr lang="en-US" altLang="zh-CN"/>
              <a:t>These theories are useful.</a:t>
            </a:r>
          </a:p>
          <a:p>
            <a:r>
              <a:rPr lang="en-US" altLang="zh-CN"/>
              <a:t>But they usually treat responsibility as already given.</a:t>
            </a:r>
          </a:p>
          <a:p>
            <a:r>
              <a:rPr lang="en-US" altLang="zh-CN"/>
              <a:t>The decision maker is assumed to carry the cost of the final choice.</a:t>
            </a:r>
          </a:p>
          <a:p>
            <a:r>
              <a:rPr lang="en-US" altLang="zh-CN"/>
              <a:t>AI may change exactly this condition.</a:t>
            </a:r>
          </a:p>
          <a:p>
            <a:r>
              <a:rPr lang="en-US" altLang="zh-CN"/>
              <a:t>When AI becomes part of the process, accountability may no longer feel fixed.</a:t>
            </a:r>
          </a:p>
          <a:p>
            <a:r>
              <a:rPr lang="en-US" altLang="zh-CN"/>
              <a:t>It may become part of the decision architecture itself.</a:t>
            </a:r>
          </a:p>
          <a:p>
            <a:r>
              <a:rPr lang="en-US" altLang="zh-CN"/>
              <a:t>So the missing variable here is not only belief or payoff.</a:t>
            </a:r>
          </a:p>
          <a:p>
            <a:r>
              <a:rPr lang="en-US" altLang="zh-CN"/>
              <a:t>It is the structure of accountability.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slide states the gap more directly.</a:t>
            </a:r>
          </a:p>
          <a:p>
            <a:r>
              <a:rPr lang="en-US" altLang="zh-CN"/>
              <a:t>a lot of that work focuses on what happens after the outcome.</a:t>
            </a:r>
          </a:p>
          <a:p>
            <a:r>
              <a:rPr lang="en-US" altLang="zh-CN"/>
              <a:t>Who gets blamed?</a:t>
            </a:r>
          </a:p>
          <a:p>
            <a:r>
              <a:rPr lang="en-US" altLang="zh-CN"/>
              <a:t>Who is accountable?</a:t>
            </a:r>
          </a:p>
          <a:p>
            <a:r>
              <a:rPr lang="en-US" altLang="zh-CN"/>
              <a:t>How is responsibility assigned?</a:t>
            </a:r>
          </a:p>
          <a:p>
            <a:r>
              <a:rPr lang="en-US" altLang="zh-CN"/>
              <a:t>My paper moves the question earlier.</a:t>
            </a:r>
          </a:p>
          <a:p>
            <a:r>
              <a:rPr lang="en-US" altLang="zh-CN"/>
              <a:t>Before the outcome happens, how does the AI-supported process change the person’s sense of ownership?</a:t>
            </a:r>
          </a:p>
          <a:p>
            <a:r>
              <a:rPr lang="en-US" altLang="zh-CN"/>
              <a:t>And does that change affect risky action?</a:t>
            </a:r>
          </a:p>
          <a:p>
            <a:r>
              <a:rPr lang="en-US" altLang="zh-CN"/>
              <a:t>So the gap is about responsibility design.</a:t>
            </a:r>
          </a:p>
          <a:p>
            <a:r>
              <a:rPr lang="en-US" altLang="zh-CN"/>
              <a:t>I want to know how visibility, traceability, attribution, and evaluability shape felt accountability before action.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paper has four research questions.</a:t>
            </a:r>
          </a:p>
          <a:p>
            <a:r>
              <a:rPr lang="en-US" altLang="zh-CN"/>
              <a:t>First, does AI decision support itself change high-risk strategic choice?</a:t>
            </a:r>
          </a:p>
          <a:p>
            <a:r>
              <a:rPr lang="en-US" altLang="zh-CN"/>
              <a:t>Second, when AI moves closer to the final action, does it change ownership, felt accountability, and responsibility attribution?</a:t>
            </a:r>
          </a:p>
          <a:p>
            <a:r>
              <a:rPr lang="en-US" altLang="zh-CN"/>
              <a:t>Third, can accountability requirements increase felt accountability?</a:t>
            </a:r>
          </a:p>
          <a:p>
            <a:r>
              <a:rPr lang="en-US" altLang="zh-CN"/>
              <a:t>For example, does confirmation or justification make the human feel more responsible?</a:t>
            </a:r>
          </a:p>
          <a:p>
            <a:r>
              <a:rPr lang="en-US" altLang="zh-CN"/>
              <a:t>Fourth, do these accountability requirements change escalation behavior?</a:t>
            </a:r>
          </a:p>
          <a:p>
            <a:r>
              <a:rPr lang="en-US" altLang="zh-CN"/>
              <a:t>So the paper moves from AI presence to responsibility design.</a:t>
            </a:r>
          </a:p>
          <a:p>
            <a:r>
              <a:rPr lang="en-US" altLang="zh-CN"/>
              <a:t>The key point is:</a:t>
            </a:r>
          </a:p>
          <a:p>
            <a:r>
              <a:rPr lang="en-US" altLang="zh-CN"/>
              <a:t>I am not asking who gets blamed after failure.</a:t>
            </a:r>
          </a:p>
          <a:p>
            <a:r>
              <a:rPr lang="en-US" altLang="zh-CN"/>
              <a:t>I am asking how responsibility design changes choices before the outcome is known.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This slide translates the research questions into the experimental design.
The key design choice is to hold the strategic environment fixed. Within the AI conditions, the AI analysis is also held constant. What changes is the responsibility architecture around the same AI support.
Human-only provides the no-AI benchmark. AI-baseline adds analytical support. AI-confirm tests whether explicit human passage increases ownership and felt accountability. AI-disclosure tests whether making AI use visible and reportable increases accountability or instead promotes responsibility sharing.
So the experiment is intentionally minimal: same game, same AI content, different accountability design.</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To test this, I use a repeated Hawk-Dove environment.</a:t>
            </a:r>
          </a:p>
          <a:p>
            <a:r>
              <a:rPr lang="en-US" altLang="zh-CN"/>
              <a:t>This task is useful because escalation is meaningful.</a:t>
            </a:r>
          </a:p>
          <a:p>
            <a:r>
              <a:rPr lang="en-US" altLang="zh-CN"/>
              <a:t>If one side escalates and the other restrains, escalation can bring a gain.</a:t>
            </a:r>
          </a:p>
          <a:p>
            <a:r>
              <a:rPr lang="en-US" altLang="zh-CN"/>
              <a:t>But if both sides escalate, both suffer a loss.</a:t>
            </a:r>
          </a:p>
          <a:p>
            <a:r>
              <a:rPr lang="en-US" altLang="zh-CN"/>
              <a:t>So the choice is not just risky for the participant.</a:t>
            </a:r>
          </a:p>
          <a:p>
            <a:r>
              <a:rPr lang="en-US" altLang="zh-CN"/>
              <a:t>It can also create harm for another party.</a:t>
            </a:r>
          </a:p>
          <a:p>
            <a:r>
              <a:rPr lang="en-US" altLang="zh-CN"/>
              <a:t>That makes responsibility visible.</a:t>
            </a:r>
          </a:p>
          <a:p>
            <a:r>
              <a:rPr lang="en-US" altLang="zh-CN"/>
              <a:t>Participants see the same strategic environment.</a:t>
            </a:r>
          </a:p>
          <a:p>
            <a:r>
              <a:rPr lang="en-US" altLang="zh-CN"/>
              <a:t>Some decide alone.What changes is the responsibility structure around the decision.</a:t>
            </a:r>
          </a:p>
          <a:p>
            <a:r>
              <a:rPr lang="en-US" altLang="zh-CN"/>
              <a:t>The experiment is intentionally minimal: the strategic game and AI analysis are held constant, while the responsibility architecture is varied.</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This is the key method slide.</a:t>
            </a:r>
          </a:p>
          <a:p>
            <a:r>
              <a:rPr lang="en-US" altLang="zh-CN"/>
              <a:t>The experiment is not just AI versus no AI.</a:t>
            </a:r>
          </a:p>
          <a:p>
            <a:r>
              <a:rPr lang="en-US" altLang="zh-CN"/>
              <a:t>That comparison would be too broad.</a:t>
            </a:r>
          </a:p>
          <a:p>
            <a:r>
              <a:rPr lang="en-US" altLang="zh-CN"/>
              <a:t>Each condition has a specific role.</a:t>
            </a:r>
          </a:p>
          <a:p>
            <a:r>
              <a:rPr lang="en-US" altLang="zh-CN"/>
              <a:t>The human-only condition gives the baseline.</a:t>
            </a:r>
          </a:p>
          <a:p>
            <a:r>
              <a:rPr lang="en-US" altLang="zh-CN"/>
              <a:t>The AI-baseline condition shows what AI support itself changes.</a:t>
            </a:r>
          </a:p>
          <a:p>
            <a:r>
              <a:rPr lang="en-US" altLang="zh-CN"/>
              <a:t>The AI-confirm condition tests whether explicit human confirmation increases ownership.</a:t>
            </a:r>
          </a:p>
          <a:p>
            <a:r>
              <a:rPr lang="en-US" altLang="zh-CN"/>
              <a:t>The AI-disclosure condition tests whether visibility and traceability increase answerability.</a:t>
            </a:r>
          </a:p>
          <a:p>
            <a:r>
              <a:rPr lang="en-US" altLang="zh-CN"/>
              <a:t>So each comparison identifies a different part of responsibility design.</a:t>
            </a:r>
          </a:p>
          <a:p>
            <a:r>
              <a:rPr lang="en-US" altLang="zh-CN"/>
              <a:t>This is what keeps the design focused.</a:t>
            </a:r>
          </a:p>
          <a:p>
            <a:r>
              <a:rPr lang="en-US" altLang="zh-CN"/>
              <a:t>It is not a generic AI treatment.</a:t>
            </a:r>
          </a:p>
          <a:p>
            <a:r>
              <a:rPr lang="en-US" altLang="zh-CN"/>
              <a:t>It is a test of how different accountability structures shape ownership and risky behavior.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a:t>The contribution of Paper 3 is to study responsibility before outcomes occur.</a:t>
            </a:r>
          </a:p>
          <a:p>
            <a:r>
              <a:rPr lang="en-US" altLang="zh-CN"/>
              <a:t>AI support may change escalation by itself.</a:t>
            </a:r>
          </a:p>
          <a:p>
            <a:r>
              <a:rPr lang="en-US" altLang="zh-CN"/>
              <a:t>Confirmation may raise ownership because the human has to actively pass through the final decision point.</a:t>
            </a:r>
          </a:p>
          <a:p>
            <a:r>
              <a:rPr lang="en-US" altLang="zh-CN"/>
              <a:t>Disclosure may increase answerability.</a:t>
            </a:r>
          </a:p>
          <a:p>
            <a:r>
              <a:rPr lang="en-US" altLang="zh-CN"/>
              <a:t>But it may also make responsibility feel shared between the human and the AI system.</a:t>
            </a:r>
          </a:p>
          <a:p>
            <a:r>
              <a:rPr lang="en-US" altLang="zh-CN"/>
              <a:t>So structural accountability and felt accountability may not move together.</a:t>
            </a:r>
          </a:p>
          <a:p>
            <a:r>
              <a:rPr lang="en-US" altLang="zh-CN"/>
              <a:t>That is why the experiment measures both perception and behavior.</a:t>
            </a:r>
          </a:p>
          <a:p>
            <a:r>
              <a:rPr lang="en-US" altLang="zh-CN"/>
              <a:t>This paper completes the dissertation chain.</a:t>
            </a:r>
          </a:p>
          <a:p>
            <a:r>
              <a:rPr lang="en-US" altLang="zh-CN"/>
              <a:t>Paper 1 studies belief formation.</a:t>
            </a:r>
          </a:p>
          <a:p>
            <a:r>
              <a:rPr lang="en-US" altLang="zh-CN"/>
              <a:t>Paper 2 studies reliance calibration.</a:t>
            </a:r>
          </a:p>
          <a:p>
            <a:r>
              <a:rPr lang="en-US" altLang="zh-CN"/>
              <a:t>Paper 3 studies responsibility design.</a:t>
            </a:r>
          </a:p>
          <a:p>
            <a:r>
              <a:rPr lang="en-US" altLang="zh-CN"/>
              <a:t>The central point is simple:</a:t>
            </a:r>
          </a:p>
          <a:p>
            <a:r>
              <a:rPr lang="en-US" altLang="zh-CN"/>
              <a:t>What matters is not only whether people use AI.</a:t>
            </a:r>
          </a:p>
          <a:p>
            <a:r>
              <a:rPr lang="en-US" altLang="zh-CN"/>
              <a:t>What matters is how AI system design reorganizes responsibility before action is taken.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tags" Target="../tags/tag8.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notesSlide" Target="../notesSlides/notesSlide21.xml"/><Relationship Id="rId4" Type="http://schemas.openxmlformats.org/officeDocument/2006/relationships/tags" Target="../tags/tag4.xml"/><Relationship Id="rId9"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8" Type="http://schemas.openxmlformats.org/officeDocument/2006/relationships/tags" Target="../tags/tag16.xml"/><Relationship Id="rId3" Type="http://schemas.openxmlformats.org/officeDocument/2006/relationships/tags" Target="../tags/tag11.xml"/><Relationship Id="rId7" Type="http://schemas.openxmlformats.org/officeDocument/2006/relationships/tags" Target="../tags/tag15.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tags" Target="../tags/tag14.xml"/><Relationship Id="rId5" Type="http://schemas.openxmlformats.org/officeDocument/2006/relationships/tags" Target="../tags/tag13.xml"/><Relationship Id="rId10" Type="http://schemas.openxmlformats.org/officeDocument/2006/relationships/notesSlide" Target="../notesSlides/notesSlide24.xml"/><Relationship Id="rId4" Type="http://schemas.openxmlformats.org/officeDocument/2006/relationships/tags" Target="../tags/tag12.xml"/><Relationship Id="rId9"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8" Type="http://schemas.openxmlformats.org/officeDocument/2006/relationships/tags" Target="../tags/tag24.xml"/><Relationship Id="rId3" Type="http://schemas.openxmlformats.org/officeDocument/2006/relationships/tags" Target="../tags/tag19.xml"/><Relationship Id="rId7" Type="http://schemas.openxmlformats.org/officeDocument/2006/relationships/tags" Target="../tags/tag2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10" Type="http://schemas.openxmlformats.org/officeDocument/2006/relationships/notesSlide" Target="../notesSlides/notesSlide35.xml"/><Relationship Id="rId4" Type="http://schemas.openxmlformats.org/officeDocument/2006/relationships/tags" Target="../tags/tag20.xml"/><Relationship Id="rId9"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8" Type="http://schemas.openxmlformats.org/officeDocument/2006/relationships/tags" Target="../tags/tag32.xml"/><Relationship Id="rId3" Type="http://schemas.openxmlformats.org/officeDocument/2006/relationships/tags" Target="../tags/tag27.xml"/><Relationship Id="rId7" Type="http://schemas.openxmlformats.org/officeDocument/2006/relationships/tags" Target="../tags/tag31.xml"/><Relationship Id="rId2" Type="http://schemas.openxmlformats.org/officeDocument/2006/relationships/tags" Target="../tags/tag26.xml"/><Relationship Id="rId1" Type="http://schemas.openxmlformats.org/officeDocument/2006/relationships/tags" Target="../tags/tag25.xml"/><Relationship Id="rId6" Type="http://schemas.openxmlformats.org/officeDocument/2006/relationships/tags" Target="../tags/tag30.xml"/><Relationship Id="rId11" Type="http://schemas.openxmlformats.org/officeDocument/2006/relationships/notesSlide" Target="../notesSlides/notesSlide41.xml"/><Relationship Id="rId5" Type="http://schemas.openxmlformats.org/officeDocument/2006/relationships/tags" Target="../tags/tag29.xml"/><Relationship Id="rId10" Type="http://schemas.openxmlformats.org/officeDocument/2006/relationships/slideLayout" Target="../slideLayouts/slideLayout1.xml"/><Relationship Id="rId4" Type="http://schemas.openxmlformats.org/officeDocument/2006/relationships/tags" Target="../tags/tag28.xml"/><Relationship Id="rId9" Type="http://schemas.openxmlformats.org/officeDocument/2006/relationships/tags" Target="../tags/tag3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1F2A44"/>
          </a:solidFill>
          <a:ln w="0">
            <a:solidFill>
              <a:srgbClr val="1F2A44"/>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314062"/>
          </a:solidFill>
          <a:ln w="0">
            <a:solidFill>
              <a:srgbClr val="314062"/>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273554"/>
          </a:solidFill>
          <a:ln w="0">
            <a:solidFill>
              <a:srgbClr val="273554"/>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C89B4A"/>
          </a:solidFill>
          <a:ln w="0">
            <a:solidFill>
              <a:srgbClr val="C89B4A"/>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C89B4A"/>
          </a:solidFill>
          <a:ln w="0">
            <a:solidFill>
              <a:srgbClr val="C89B4A"/>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C89B4A"/>
                </a:solidFill>
                <a:latin typeface="Times New Roman" panose="02020603050405020304"/>
                <a:ea typeface="Times New Roman" panose="02020603050405020304"/>
                <a:cs typeface="Times New Roman" panose="02020603050405020304"/>
              </a:defRPr>
            </a:pPr>
            <a:r>
              <a:rPr sz="1050" b="1">
                <a:solidFill>
                  <a:srgbClr val="C89B4A"/>
                </a:solidFill>
                <a:latin typeface="Times New Roman" panose="02020603050405020304"/>
                <a:ea typeface="Times New Roman" panose="02020603050405020304"/>
                <a:cs typeface="Times New Roman" panose="02020603050405020304"/>
              </a:rPr>
              <a:t>DOCTORAL PROJECT</a:t>
            </a:r>
          </a:p>
        </p:txBody>
      </p:sp>
      <p:sp>
        <p:nvSpPr>
          <p:cNvPr id="8" name="矩形 7"/>
          <p:cNvSpPr>
            <a:spLocks noGrp="1"/>
          </p:cNvSpPr>
          <p:nvPr/>
        </p:nvSpPr>
        <p:spPr>
          <a:xfrm>
            <a:off x="914400" y="1123950"/>
            <a:ext cx="6096000" cy="13335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850" b="1">
                <a:solidFill>
                  <a:srgbClr val="FFFFFF"/>
                </a:solidFill>
                <a:latin typeface="Times New Roman" panose="02020603050405020304"/>
                <a:ea typeface="Times New Roman" panose="02020603050405020304"/>
                <a:cs typeface="Times New Roman" panose="02020603050405020304"/>
              </a:defRPr>
            </a:pPr>
            <a:r>
              <a:rPr sz="2850" b="1">
                <a:solidFill>
                  <a:srgbClr val="FFFFFF"/>
                </a:solidFill>
                <a:latin typeface="Times New Roman" panose="02020603050405020304"/>
                <a:ea typeface="Times New Roman" panose="02020603050405020304"/>
                <a:cs typeface="Times New Roman" panose="02020603050405020304"/>
              </a:rPr>
              <a:t>The Puzzle That Motivates the Work</a:t>
            </a:r>
          </a:p>
        </p:txBody>
      </p:sp>
      <p:sp>
        <p:nvSpPr>
          <p:cNvPr id="9" name="矩形 8"/>
          <p:cNvSpPr>
            <a:spLocks noGrp="1"/>
          </p:cNvSpPr>
          <p:nvPr/>
        </p:nvSpPr>
        <p:spPr>
          <a:xfrm>
            <a:off x="914400" y="2476500"/>
            <a:ext cx="5905500" cy="7620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0">
                <a:solidFill>
                  <a:srgbClr val="D8DDE7"/>
                </a:solidFill>
                <a:latin typeface="Times New Roman" panose="02020603050405020304"/>
                <a:ea typeface="Times New Roman" panose="02020603050405020304"/>
                <a:cs typeface="Times New Roman" panose="02020603050405020304"/>
              </a:defRPr>
            </a:pPr>
            <a:r>
              <a:rPr sz="1500" b="0">
                <a:solidFill>
                  <a:srgbClr val="D8DDE7"/>
                </a:solidFill>
                <a:latin typeface="Times New Roman" panose="02020603050405020304"/>
                <a:ea typeface="Times New Roman" panose="02020603050405020304"/>
                <a:cs typeface="Times New Roman" panose="02020603050405020304"/>
              </a:rPr>
              <a:t>AI is entering more real decision settings, and the key question is how human judgment changes once AI becomes part of the decision process</a:t>
            </a:r>
          </a:p>
        </p:txBody>
      </p:sp>
      <p:sp>
        <p:nvSpPr>
          <p:cNvPr id="10" name="矩形 9"/>
          <p:cNvSpPr>
            <a:spLocks noGrp="1"/>
          </p:cNvSpPr>
          <p:nvPr/>
        </p:nvSpPr>
        <p:spPr>
          <a:xfrm>
            <a:off x="914400" y="3657600"/>
            <a:ext cx="2857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1">
                <a:solidFill>
                  <a:srgbClr val="C89B4A"/>
                </a:solidFill>
                <a:latin typeface="Times New Roman" panose="02020603050405020304"/>
                <a:ea typeface="Times New Roman" panose="02020603050405020304"/>
                <a:cs typeface="Times New Roman" panose="02020603050405020304"/>
              </a:defRPr>
            </a:pPr>
            <a:r>
              <a:rPr sz="1200" b="1">
                <a:solidFill>
                  <a:srgbClr val="C89B4A"/>
                </a:solidFill>
                <a:latin typeface="Times New Roman" panose="02020603050405020304"/>
                <a:ea typeface="Times New Roman" panose="02020603050405020304"/>
                <a:cs typeface="Times New Roman" panose="02020603050405020304"/>
              </a:rPr>
              <a:t>Xu | Doctoral Project Intro | July 2026</a:t>
            </a:r>
          </a:p>
        </p:txBody>
      </p:sp>
      <p:sp>
        <p:nvSpPr>
          <p:cNvPr id="11" name="矩形 10"/>
          <p:cNvSpPr>
            <a:spLocks noGrp="1"/>
          </p:cNvSpPr>
          <p:nvPr/>
        </p:nvSpPr>
        <p:spPr>
          <a:xfrm>
            <a:off x="7620000" y="1123950"/>
            <a:ext cx="3048000" cy="1047750"/>
          </a:xfrm>
          <a:prstGeom prst="rect">
            <a:avLst/>
          </a:prstGeom>
          <a:solidFill>
            <a:srgbClr val="273654"/>
          </a:solidFill>
          <a:ln w="9525">
            <a:solidFill>
              <a:srgbClr val="435071"/>
            </a:solidFill>
            <a:prstDash val="solid"/>
          </a:ln>
        </p:spPr>
        <p:txBody>
          <a:bodyPr/>
          <a:lstStyle/>
          <a:p>
            <a:endParaRPr/>
          </a:p>
        </p:txBody>
      </p:sp>
      <p:sp>
        <p:nvSpPr>
          <p:cNvPr id="12" name="矩形 11"/>
          <p:cNvSpPr>
            <a:spLocks noGrp="1"/>
          </p:cNvSpPr>
          <p:nvPr/>
        </p:nvSpPr>
        <p:spPr>
          <a:xfrm>
            <a:off x="7620000" y="1123950"/>
            <a:ext cx="57150" cy="1047750"/>
          </a:xfrm>
          <a:prstGeom prst="rect">
            <a:avLst/>
          </a:prstGeom>
          <a:solidFill>
            <a:srgbClr val="C89B4A"/>
          </a:solidFill>
          <a:ln w="0">
            <a:solidFill>
              <a:srgbClr val="C89B4A"/>
            </a:solidFill>
            <a:prstDash val="solid"/>
          </a:ln>
        </p:spPr>
        <p:txBody>
          <a:bodyPr/>
          <a:lstStyle/>
          <a:p>
            <a:endParaRPr/>
          </a:p>
        </p:txBody>
      </p:sp>
      <p:sp>
        <p:nvSpPr>
          <p:cNvPr id="13" name="矩形 12"/>
          <p:cNvSpPr>
            <a:spLocks noGrp="1"/>
          </p:cNvSpPr>
          <p:nvPr/>
        </p:nvSpPr>
        <p:spPr>
          <a:xfrm>
            <a:off x="7829550" y="12763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REAL SETTINGS</a:t>
            </a:r>
          </a:p>
        </p:txBody>
      </p:sp>
      <p:sp>
        <p:nvSpPr>
          <p:cNvPr id="14" name="矩形 13"/>
          <p:cNvSpPr>
            <a:spLocks noGrp="1"/>
          </p:cNvSpPr>
          <p:nvPr/>
        </p:nvSpPr>
        <p:spPr>
          <a:xfrm>
            <a:off x="7829550" y="144780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Where AI is entering</a:t>
            </a:r>
          </a:p>
        </p:txBody>
      </p:sp>
      <p:sp>
        <p:nvSpPr>
          <p:cNvPr id="15" name="矩形 14"/>
          <p:cNvSpPr>
            <a:spLocks noGrp="1"/>
          </p:cNvSpPr>
          <p:nvPr/>
        </p:nvSpPr>
        <p:spPr>
          <a:xfrm>
            <a:off x="7829550" y="18859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Crisis judgment, organizational governance, public administration, healthcare, and other high-risk settings.</a:t>
            </a:r>
          </a:p>
        </p:txBody>
      </p:sp>
      <p:sp>
        <p:nvSpPr>
          <p:cNvPr id="16" name="矩形 15"/>
          <p:cNvSpPr>
            <a:spLocks noGrp="1"/>
          </p:cNvSpPr>
          <p:nvPr/>
        </p:nvSpPr>
        <p:spPr>
          <a:xfrm>
            <a:off x="8191500" y="2552700"/>
            <a:ext cx="3048000" cy="1047750"/>
          </a:xfrm>
          <a:prstGeom prst="rect">
            <a:avLst/>
          </a:prstGeom>
          <a:solidFill>
            <a:srgbClr val="273654"/>
          </a:solidFill>
          <a:ln w="9525">
            <a:solidFill>
              <a:srgbClr val="435071"/>
            </a:solidFill>
            <a:prstDash val="solid"/>
          </a:ln>
        </p:spPr>
        <p:txBody>
          <a:bodyPr/>
          <a:lstStyle/>
          <a:p>
            <a:endParaRPr/>
          </a:p>
        </p:txBody>
      </p:sp>
      <p:sp>
        <p:nvSpPr>
          <p:cNvPr id="17" name="矩形 16"/>
          <p:cNvSpPr>
            <a:spLocks noGrp="1"/>
          </p:cNvSpPr>
          <p:nvPr/>
        </p:nvSpPr>
        <p:spPr>
          <a:xfrm>
            <a:off x="8191500" y="2552700"/>
            <a:ext cx="57150" cy="1047750"/>
          </a:xfrm>
          <a:prstGeom prst="rect">
            <a:avLst/>
          </a:prstGeom>
          <a:solidFill>
            <a:srgbClr val="C89B4A"/>
          </a:solidFill>
          <a:ln w="0">
            <a:solidFill>
              <a:srgbClr val="C89B4A"/>
            </a:solidFill>
            <a:prstDash val="solid"/>
          </a:ln>
        </p:spPr>
        <p:txBody>
          <a:bodyPr/>
          <a:lstStyle/>
          <a:p>
            <a:endParaRPr/>
          </a:p>
        </p:txBody>
      </p:sp>
      <p:sp>
        <p:nvSpPr>
          <p:cNvPr id="18" name="矩形 17"/>
          <p:cNvSpPr>
            <a:spLocks noGrp="1"/>
          </p:cNvSpPr>
          <p:nvPr/>
        </p:nvSpPr>
        <p:spPr>
          <a:xfrm>
            <a:off x="8401050" y="270510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WHAT CHANGES</a:t>
            </a:r>
          </a:p>
        </p:txBody>
      </p:sp>
      <p:sp>
        <p:nvSpPr>
          <p:cNvPr id="19" name="矩形 18"/>
          <p:cNvSpPr>
            <a:spLocks noGrp="1"/>
          </p:cNvSpPr>
          <p:nvPr/>
        </p:nvSpPr>
        <p:spPr>
          <a:xfrm>
            <a:off x="8401050" y="28765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Embedded decision chains</a:t>
            </a:r>
          </a:p>
        </p:txBody>
      </p:sp>
      <p:sp>
        <p:nvSpPr>
          <p:cNvPr id="20" name="矩形 19"/>
          <p:cNvSpPr>
            <a:spLocks noGrp="1"/>
          </p:cNvSpPr>
          <p:nvPr/>
        </p:nvSpPr>
        <p:spPr>
          <a:xfrm>
            <a:off x="8401050" y="331470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AI is no longer only a lab system or a stand-alone tool. It is becoming part of real organizational and institutional processes.</a:t>
            </a:r>
          </a:p>
        </p:txBody>
      </p:sp>
      <p:sp>
        <p:nvSpPr>
          <p:cNvPr id="21" name="矩形 20"/>
          <p:cNvSpPr>
            <a:spLocks noGrp="1"/>
          </p:cNvSpPr>
          <p:nvPr/>
        </p:nvSpPr>
        <p:spPr>
          <a:xfrm>
            <a:off x="7620000" y="3981450"/>
            <a:ext cx="3048000" cy="1047750"/>
          </a:xfrm>
          <a:prstGeom prst="rect">
            <a:avLst/>
          </a:prstGeom>
          <a:solidFill>
            <a:srgbClr val="273654"/>
          </a:solidFill>
          <a:ln w="9525">
            <a:solidFill>
              <a:srgbClr val="435071"/>
            </a:solidFill>
            <a:prstDash val="solid"/>
          </a:ln>
        </p:spPr>
        <p:txBody>
          <a:bodyPr/>
          <a:lstStyle/>
          <a:p>
            <a:endParaRPr/>
          </a:p>
        </p:txBody>
      </p:sp>
      <p:sp>
        <p:nvSpPr>
          <p:cNvPr id="22" name="矩形 21"/>
          <p:cNvSpPr>
            <a:spLocks noGrp="1"/>
          </p:cNvSpPr>
          <p:nvPr/>
        </p:nvSpPr>
        <p:spPr>
          <a:xfrm>
            <a:off x="7620000" y="3981450"/>
            <a:ext cx="57150" cy="1047750"/>
          </a:xfrm>
          <a:prstGeom prst="rect">
            <a:avLst/>
          </a:prstGeom>
          <a:solidFill>
            <a:srgbClr val="C89B4A"/>
          </a:solidFill>
          <a:ln w="0">
            <a:solidFill>
              <a:srgbClr val="C89B4A"/>
            </a:solidFill>
            <a:prstDash val="solid"/>
          </a:ln>
        </p:spPr>
        <p:txBody>
          <a:bodyPr/>
          <a:lstStyle/>
          <a:p>
            <a:endParaRPr/>
          </a:p>
        </p:txBody>
      </p:sp>
      <p:sp>
        <p:nvSpPr>
          <p:cNvPr id="23" name="矩形 22"/>
          <p:cNvSpPr>
            <a:spLocks noGrp="1"/>
          </p:cNvSpPr>
          <p:nvPr/>
        </p:nvSpPr>
        <p:spPr>
          <a:xfrm>
            <a:off x="7829550" y="41338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Times New Roman" panose="02020603050405020304"/>
                <a:ea typeface="Times New Roman" panose="02020603050405020304"/>
                <a:cs typeface="Times New Roman" panose="02020603050405020304"/>
              </a:rPr>
              <a:t>WHY THIS MATTERS</a:t>
            </a:r>
          </a:p>
        </p:txBody>
      </p:sp>
      <p:sp>
        <p:nvSpPr>
          <p:cNvPr id="24" name="矩形 23"/>
          <p:cNvSpPr>
            <a:spLocks noGrp="1"/>
          </p:cNvSpPr>
          <p:nvPr/>
        </p:nvSpPr>
        <p:spPr>
          <a:xfrm>
            <a:off x="7829550" y="430530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FFFFFF"/>
                </a:solidFill>
                <a:latin typeface="Times New Roman" panose="02020603050405020304"/>
                <a:ea typeface="Times New Roman" panose="02020603050405020304"/>
                <a:cs typeface="Times New Roman" panose="02020603050405020304"/>
              </a:defRPr>
            </a:pPr>
            <a:r>
              <a:rPr sz="1500" b="1">
                <a:solidFill>
                  <a:srgbClr val="FFFFFF"/>
                </a:solidFill>
                <a:latin typeface="Times New Roman" panose="02020603050405020304"/>
                <a:ea typeface="Times New Roman" panose="02020603050405020304"/>
                <a:cs typeface="Times New Roman" panose="02020603050405020304"/>
              </a:rPr>
              <a:t>Why study the human side</a:t>
            </a:r>
          </a:p>
        </p:txBody>
      </p:sp>
      <p:sp>
        <p:nvSpPr>
          <p:cNvPr id="25" name="矩形 24"/>
          <p:cNvSpPr>
            <a:spLocks noGrp="1"/>
          </p:cNvSpPr>
          <p:nvPr/>
        </p:nvSpPr>
        <p:spPr>
          <a:xfrm>
            <a:off x="7829550" y="4743450"/>
            <a:ext cx="2628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D8DCE6"/>
                </a:solidFill>
                <a:latin typeface="Times New Roman" panose="02020603050405020304"/>
                <a:ea typeface="Times New Roman" panose="02020603050405020304"/>
                <a:cs typeface="Times New Roman" panose="02020603050405020304"/>
              </a:defRPr>
            </a:pPr>
            <a:r>
              <a:rPr sz="1125" b="0">
                <a:solidFill>
                  <a:srgbClr val="D8DCE6"/>
                </a:solidFill>
                <a:latin typeface="Times New Roman" panose="02020603050405020304"/>
                <a:ea typeface="Times New Roman" panose="02020603050405020304"/>
                <a:cs typeface="Times New Roman" panose="02020603050405020304"/>
              </a:rPr>
              <a:t>Once AI enters consequential decision chains, we need to understand what happens to people as they interpret, rely on, and act with AI.</a:t>
            </a:r>
          </a:p>
        </p:txBody>
      </p:sp>
      <p:cxnSp>
        <p:nvCxnSpPr>
          <p:cNvPr id="79" name="肘形连接符 78"/>
          <p:cNvCxnSpPr>
            <a:stCxn id="10" idx="2"/>
            <a:endCxn id="15" idx="0"/>
          </p:cNvCxnSpPr>
          <p:nvPr/>
        </p:nvCxnSpPr>
        <p:spPr>
          <a:xfrm>
            <a:off x="9144000" y="2171700"/>
            <a:ext cx="571500" cy="381000"/>
          </a:xfrm>
          <a:prstGeom prst="bentConnector4">
            <a:avLst>
              <a:gd name="adj1" fmla="val 0"/>
              <a:gd name="adj2" fmla="val 50000"/>
            </a:avLst>
          </a:prstGeom>
          <a:ln w="19050">
            <a:solidFill>
              <a:srgbClr val="C89B4A"/>
            </a:solidFill>
            <a:prstDash val="solid"/>
            <a:headEnd type="arrow" w="med" len="med"/>
          </a:ln>
        </p:spPr>
      </p:cxnSp>
      <p:cxnSp>
        <p:nvCxnSpPr>
          <p:cNvPr id="80" name="肘形连接符 79"/>
          <p:cNvCxnSpPr>
            <a:stCxn id="15" idx="2"/>
            <a:endCxn id="20" idx="0"/>
          </p:cNvCxnSpPr>
          <p:nvPr/>
        </p:nvCxnSpPr>
        <p:spPr>
          <a:xfrm flipH="1">
            <a:off x="9144000" y="3600450"/>
            <a:ext cx="571500" cy="381000"/>
          </a:xfrm>
          <a:prstGeom prst="bentConnector4">
            <a:avLst>
              <a:gd name="adj1" fmla="val 0"/>
              <a:gd name="adj2" fmla="val 50000"/>
            </a:avLst>
          </a:prstGeom>
          <a:ln w="19050">
            <a:solidFill>
              <a:srgbClr val="C89B4A"/>
            </a:solidFill>
            <a:prstDash val="solid"/>
            <a:headEnd type="arrow" w="med" len="med"/>
          </a:ln>
        </p:spPr>
      </p:cxnSp>
      <p:sp>
        <p:nvSpPr>
          <p:cNvPr id="27" name="矩形 26"/>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D7DCE7"/>
                </a:solidFill>
                <a:latin typeface="Times New Roman" panose="02020603050405020304"/>
                <a:ea typeface="Times New Roman" panose="02020603050405020304"/>
                <a:cs typeface="Times New Roman" panose="02020603050405020304"/>
              </a:defRPr>
            </a:pPr>
            <a:r>
              <a:rPr sz="750" b="0">
                <a:solidFill>
                  <a:srgbClr val="D7DCE7"/>
                </a:solidFill>
                <a:latin typeface="Times New Roman" panose="02020603050405020304"/>
                <a:ea typeface="Times New Roman" panose="02020603050405020304"/>
                <a:cs typeface="Times New Roman" panose="02020603050405020304"/>
              </a:rPr>
              <a:t>The dissertation starts from that broader shift.</a:t>
            </a:r>
          </a:p>
        </p:txBody>
      </p:sp>
      <p:sp>
        <p:nvSpPr>
          <p:cNvPr id="28" name="矩形 27"/>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Aptos Mono"/>
                <a:ea typeface="Aptos Mono"/>
                <a:cs typeface="Aptos Mono"/>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CURRENT RESEARCH</a:t>
            </a:r>
          </a:p>
        </p:txBody>
      </p:sp>
      <p:sp>
        <p:nvSpPr>
          <p:cNvPr id="8" name="矩形 7"/>
          <p:cNvSpPr>
            <a:spLocks noGrp="1"/>
          </p:cNvSpPr>
          <p:nvPr/>
        </p:nvSpPr>
        <p:spPr>
          <a:xfrm>
            <a:off x="914400" y="914400"/>
            <a:ext cx="6667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Existing research usually asks three separate questions</a:t>
            </a: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Does AI improve judgment quality? Do people trust and rely on AI? How is responsibility assigned after AI-assisted decisions?</a:t>
            </a: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02</a:t>
            </a:r>
          </a:p>
        </p:txBody>
      </p:sp>
      <p:sp>
        <p:nvSpPr>
          <p:cNvPr id="11" name="矩形 10"/>
          <p:cNvSpPr>
            <a:spLocks noGrp="1"/>
          </p:cNvSpPr>
          <p:nvPr/>
        </p:nvSpPr>
        <p:spPr>
          <a:xfrm>
            <a:off x="914400" y="24574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2" name="矩形 11"/>
          <p:cNvSpPr>
            <a:spLocks noGrp="1"/>
          </p:cNvSpPr>
          <p:nvPr/>
        </p:nvSpPr>
        <p:spPr>
          <a:xfrm>
            <a:off x="1181100" y="24384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first question is whether AI improves human judgment quality or performance.</a:t>
            </a:r>
          </a:p>
        </p:txBody>
      </p:sp>
      <p:sp>
        <p:nvSpPr>
          <p:cNvPr id="13" name="矩形 12"/>
          <p:cNvSpPr>
            <a:spLocks noGrp="1"/>
          </p:cNvSpPr>
          <p:nvPr/>
        </p:nvSpPr>
        <p:spPr>
          <a:xfrm>
            <a:off x="914400" y="323850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4" name="矩形 13"/>
          <p:cNvSpPr>
            <a:spLocks noGrp="1"/>
          </p:cNvSpPr>
          <p:nvPr/>
        </p:nvSpPr>
        <p:spPr>
          <a:xfrm>
            <a:off x="1181100" y="321945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second is whether people trust, adopt, or rely on AI advice.</a:t>
            </a:r>
          </a:p>
        </p:txBody>
      </p:sp>
      <p:sp>
        <p:nvSpPr>
          <p:cNvPr id="15" name="矩形 14"/>
          <p:cNvSpPr>
            <a:spLocks noGrp="1"/>
          </p:cNvSpPr>
          <p:nvPr/>
        </p:nvSpPr>
        <p:spPr>
          <a:xfrm>
            <a:off x="914400" y="40195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6" name="矩形 15"/>
          <p:cNvSpPr>
            <a:spLocks noGrp="1"/>
          </p:cNvSpPr>
          <p:nvPr/>
        </p:nvSpPr>
        <p:spPr>
          <a:xfrm>
            <a:off x="1181100" y="40005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third is how responsibility should be allocated once AI is involved in decision-making.</a:t>
            </a:r>
          </a:p>
        </p:txBody>
      </p:sp>
      <p:sp>
        <p:nvSpPr>
          <p:cNvPr id="17" name="矩形 16"/>
          <p:cNvSpPr>
            <a:spLocks noGrp="1"/>
          </p:cNvSpPr>
          <p:nvPr/>
        </p:nvSpPr>
        <p:spPr>
          <a:xfrm>
            <a:off x="7239000" y="2171700"/>
            <a:ext cx="3429000" cy="2628900"/>
          </a:xfrm>
          <a:prstGeom prst="rect">
            <a:avLst/>
          </a:prstGeom>
          <a:solidFill>
            <a:srgbClr val="FFF9F0"/>
          </a:solidFill>
          <a:ln w="9525">
            <a:solidFill>
              <a:srgbClr val="E9DDCB"/>
            </a:solidFill>
            <a:prstDash val="solid"/>
          </a:ln>
        </p:spPr>
        <p:txBody>
          <a:bodyPr/>
          <a:lstStyle/>
          <a:p>
            <a:endParaRPr/>
          </a:p>
        </p:txBody>
      </p:sp>
      <p:sp>
        <p:nvSpPr>
          <p:cNvPr id="18" name="矩形 17"/>
          <p:cNvSpPr>
            <a:spLocks noGrp="1"/>
          </p:cNvSpPr>
          <p:nvPr/>
        </p:nvSpPr>
        <p:spPr>
          <a:xfrm>
            <a:off x="7239000" y="2171700"/>
            <a:ext cx="57150" cy="2628900"/>
          </a:xfrm>
          <a:prstGeom prst="rect">
            <a:avLst/>
          </a:prstGeom>
          <a:solidFill>
            <a:srgbClr val="B45A3C"/>
          </a:solidFill>
          <a:ln w="0">
            <a:solidFill>
              <a:srgbClr val="B45A3C"/>
            </a:solidFill>
            <a:prstDash val="solid"/>
          </a:ln>
        </p:spPr>
        <p:txBody>
          <a:bodyPr/>
          <a:lstStyle/>
          <a:p>
            <a:endParaRPr/>
          </a:p>
        </p:txBody>
      </p:sp>
      <p:sp>
        <p:nvSpPr>
          <p:cNvPr id="19" name="矩形 18"/>
          <p:cNvSpPr>
            <a:spLocks noGrp="1"/>
          </p:cNvSpPr>
          <p:nvPr/>
        </p:nvSpPr>
        <p:spPr>
          <a:xfrm>
            <a:off x="7448550" y="2324100"/>
            <a:ext cx="3009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THREE STREAMS</a:t>
            </a:r>
          </a:p>
        </p:txBody>
      </p:sp>
      <p:sp>
        <p:nvSpPr>
          <p:cNvPr id="20" name="矩形 19"/>
          <p:cNvSpPr>
            <a:spLocks noGrp="1"/>
          </p:cNvSpPr>
          <p:nvPr/>
        </p:nvSpPr>
        <p:spPr>
          <a:xfrm>
            <a:off x="7448550" y="24955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What they ask</a:t>
            </a:r>
          </a:p>
        </p:txBody>
      </p:sp>
      <p:sp>
        <p:nvSpPr>
          <p:cNvPr id="21" name="圆角矩形 20"/>
          <p:cNvSpPr>
            <a:spLocks noGrp="1"/>
          </p:cNvSpPr>
          <p:nvPr/>
        </p:nvSpPr>
        <p:spPr>
          <a:xfrm>
            <a:off x="7715250" y="2762250"/>
            <a:ext cx="2476500" cy="400050"/>
          </a:xfrm>
          <a:prstGeom prst="roundRect">
            <a:avLst>
              <a:gd name="adj" fmla="val 19048"/>
            </a:avLst>
          </a:prstGeom>
          <a:solidFill>
            <a:srgbClr val="E8C6B8"/>
          </a:solidFill>
          <a:ln w="0">
            <a:solidFill>
              <a:srgbClr val="E8C6B8"/>
            </a:solidFill>
            <a:prstDash val="solid"/>
          </a:ln>
        </p:spPr>
        <p:txBody>
          <a:bodyPr/>
          <a:lstStyle/>
          <a:p>
            <a:endParaRPr/>
          </a:p>
        </p:txBody>
      </p:sp>
      <p:sp>
        <p:nvSpPr>
          <p:cNvPr id="22" name="矩形 21"/>
          <p:cNvSpPr>
            <a:spLocks noGrp="1"/>
          </p:cNvSpPr>
          <p:nvPr/>
        </p:nvSpPr>
        <p:spPr>
          <a:xfrm>
            <a:off x="7829550" y="27908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Judgment quality</a:t>
            </a:r>
          </a:p>
        </p:txBody>
      </p:sp>
      <p:sp>
        <p:nvSpPr>
          <p:cNvPr id="23" name="圆角矩形 22"/>
          <p:cNvSpPr>
            <a:spLocks noGrp="1"/>
          </p:cNvSpPr>
          <p:nvPr/>
        </p:nvSpPr>
        <p:spPr>
          <a:xfrm>
            <a:off x="7715250" y="3352800"/>
            <a:ext cx="2476500" cy="400050"/>
          </a:xfrm>
          <a:prstGeom prst="roundRect">
            <a:avLst>
              <a:gd name="adj" fmla="val 19048"/>
            </a:avLst>
          </a:prstGeom>
          <a:solidFill>
            <a:srgbClr val="E9DDCB"/>
          </a:solidFill>
          <a:ln w="0">
            <a:solidFill>
              <a:srgbClr val="E9DDCB"/>
            </a:solidFill>
            <a:prstDash val="solid"/>
          </a:ln>
        </p:spPr>
        <p:txBody>
          <a:bodyPr/>
          <a:lstStyle/>
          <a:p>
            <a:endParaRPr/>
          </a:p>
        </p:txBody>
      </p:sp>
      <p:sp>
        <p:nvSpPr>
          <p:cNvPr id="24" name="矩形 23"/>
          <p:cNvSpPr>
            <a:spLocks noGrp="1"/>
          </p:cNvSpPr>
          <p:nvPr/>
        </p:nvSpPr>
        <p:spPr>
          <a:xfrm>
            <a:off x="7829550" y="338137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Trust / reliance</a:t>
            </a:r>
          </a:p>
        </p:txBody>
      </p:sp>
      <p:sp>
        <p:nvSpPr>
          <p:cNvPr id="25" name="圆角矩形 24"/>
          <p:cNvSpPr>
            <a:spLocks noGrp="1"/>
          </p:cNvSpPr>
          <p:nvPr/>
        </p:nvSpPr>
        <p:spPr>
          <a:xfrm>
            <a:off x="7715250" y="3943350"/>
            <a:ext cx="2476500" cy="400050"/>
          </a:xfrm>
          <a:prstGeom prst="roundRect">
            <a:avLst>
              <a:gd name="adj" fmla="val 19048"/>
            </a:avLst>
          </a:prstGeom>
          <a:solidFill>
            <a:srgbClr val="E6E0D4"/>
          </a:solidFill>
          <a:ln w="0">
            <a:solidFill>
              <a:srgbClr val="E6E0D4"/>
            </a:solidFill>
            <a:prstDash val="solid"/>
          </a:ln>
        </p:spPr>
        <p:txBody>
          <a:bodyPr/>
          <a:lstStyle/>
          <a:p>
            <a:endParaRPr/>
          </a:p>
        </p:txBody>
      </p:sp>
      <p:sp>
        <p:nvSpPr>
          <p:cNvPr id="26" name="矩形 25"/>
          <p:cNvSpPr>
            <a:spLocks noGrp="1"/>
          </p:cNvSpPr>
          <p:nvPr/>
        </p:nvSpPr>
        <p:spPr>
          <a:xfrm>
            <a:off x="7829550" y="39719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Responsibility</a:t>
            </a:r>
          </a:p>
        </p:txBody>
      </p:sp>
      <p:sp>
        <p:nvSpPr>
          <p:cNvPr id="27" name="矩形 26"/>
          <p:cNvSpPr>
            <a:spLocks noGrp="1"/>
          </p:cNvSpPr>
          <p:nvPr/>
        </p:nvSpPr>
        <p:spPr>
          <a:xfrm>
            <a:off x="914400" y="5486400"/>
            <a:ext cx="9715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These questions are important, but they still tend to treat AI as an external tool.</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RESEARCH GAP</a:t>
            </a:r>
          </a:p>
        </p:txBody>
      </p:sp>
      <p:sp>
        <p:nvSpPr>
          <p:cNvPr id="8" name="矩形 7"/>
          <p:cNvSpPr>
            <a:spLocks noGrp="1"/>
          </p:cNvSpPr>
          <p:nvPr/>
        </p:nvSpPr>
        <p:spPr>
          <a:xfrm>
            <a:off x="914400" y="914400"/>
            <a:ext cx="72390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These literatures are important, but they still leave the process itself underexplained</a:t>
            </a: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They are analytically useful, but they rarely show how belief formation, reliance calibration, and responsibility unfold inside one connected decision process.</a:t>
            </a: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03</a:t>
            </a:r>
          </a:p>
        </p:txBody>
      </p:sp>
      <p:sp>
        <p:nvSpPr>
          <p:cNvPr id="11" name="矩形 10"/>
          <p:cNvSpPr>
            <a:spLocks noGrp="1"/>
          </p:cNvSpPr>
          <p:nvPr/>
        </p:nvSpPr>
        <p:spPr>
          <a:xfrm>
            <a:off x="914400" y="2343150"/>
            <a:ext cx="4076700" cy="1314450"/>
          </a:xfrm>
          <a:prstGeom prst="rect">
            <a:avLst/>
          </a:prstGeom>
          <a:solidFill>
            <a:srgbClr val="FFF9F0"/>
          </a:solidFill>
          <a:ln w="9525">
            <a:solidFill>
              <a:srgbClr val="E9DDCB"/>
            </a:solidFill>
            <a:prstDash val="solid"/>
          </a:ln>
        </p:spPr>
        <p:txBody>
          <a:bodyPr/>
          <a:lstStyle/>
          <a:p>
            <a:endParaRPr/>
          </a:p>
        </p:txBody>
      </p:sp>
      <p:sp>
        <p:nvSpPr>
          <p:cNvPr id="12" name="矩形 11"/>
          <p:cNvSpPr>
            <a:spLocks noGrp="1"/>
          </p:cNvSpPr>
          <p:nvPr/>
        </p:nvSpPr>
        <p:spPr>
          <a:xfrm>
            <a:off x="914400" y="2343150"/>
            <a:ext cx="57150" cy="1314450"/>
          </a:xfrm>
          <a:prstGeom prst="rect">
            <a:avLst/>
          </a:prstGeom>
          <a:solidFill>
            <a:srgbClr val="B45A3C"/>
          </a:solidFill>
          <a:ln w="0">
            <a:solidFill>
              <a:srgbClr val="B45A3C"/>
            </a:solidFill>
            <a:prstDash val="solid"/>
          </a:ln>
        </p:spPr>
        <p:txBody>
          <a:bodyPr/>
          <a:lstStyle/>
          <a:p>
            <a:endParaRPr/>
          </a:p>
        </p:txBody>
      </p:sp>
      <p:sp>
        <p:nvSpPr>
          <p:cNvPr id="13" name="矩形 12"/>
          <p:cNvSpPr>
            <a:spLocks noGrp="1"/>
          </p:cNvSpPr>
          <p:nvPr/>
        </p:nvSpPr>
        <p:spPr>
          <a:xfrm>
            <a:off x="11239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Decision quality / calibration</a:t>
            </a:r>
          </a:p>
        </p:txBody>
      </p:sp>
      <p:sp>
        <p:nvSpPr>
          <p:cNvPr id="14" name="矩形 13"/>
          <p:cNvSpPr>
            <a:spLocks noGrp="1"/>
          </p:cNvSpPr>
          <p:nvPr/>
        </p:nvSpPr>
        <p:spPr>
          <a:xfrm>
            <a:off x="11239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Zhang et al., 2020; Ma et al., 2023; Vaccaro et al., 2024</a:t>
            </a:r>
          </a:p>
        </p:txBody>
      </p:sp>
      <p:sp>
        <p:nvSpPr>
          <p:cNvPr id="15" name="矩形 14"/>
          <p:cNvSpPr>
            <a:spLocks noGrp="1"/>
          </p:cNvSpPr>
          <p:nvPr/>
        </p:nvSpPr>
        <p:spPr>
          <a:xfrm>
            <a:off x="11239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Research here asks whether AI improves joint judgment quality and calibration.</a:t>
            </a:r>
          </a:p>
        </p:txBody>
      </p:sp>
      <p:sp>
        <p:nvSpPr>
          <p:cNvPr id="16" name="矩形 15"/>
          <p:cNvSpPr>
            <a:spLocks noGrp="1"/>
          </p:cNvSpPr>
          <p:nvPr/>
        </p:nvSpPr>
        <p:spPr>
          <a:xfrm>
            <a:off x="5638800" y="2343150"/>
            <a:ext cx="4076700" cy="1314450"/>
          </a:xfrm>
          <a:prstGeom prst="rect">
            <a:avLst/>
          </a:prstGeom>
          <a:solidFill>
            <a:srgbClr val="FFF9F0"/>
          </a:solidFill>
          <a:ln w="9525">
            <a:solidFill>
              <a:srgbClr val="E9DDCB"/>
            </a:solidFill>
            <a:prstDash val="solid"/>
          </a:ln>
        </p:spPr>
        <p:txBody>
          <a:bodyPr/>
          <a:lstStyle/>
          <a:p>
            <a:endParaRPr/>
          </a:p>
        </p:txBody>
      </p:sp>
      <p:sp>
        <p:nvSpPr>
          <p:cNvPr id="17" name="矩形 16"/>
          <p:cNvSpPr>
            <a:spLocks noGrp="1"/>
          </p:cNvSpPr>
          <p:nvPr/>
        </p:nvSpPr>
        <p:spPr>
          <a:xfrm>
            <a:off x="5638800" y="2343150"/>
            <a:ext cx="57150" cy="1314450"/>
          </a:xfrm>
          <a:prstGeom prst="rect">
            <a:avLst/>
          </a:prstGeom>
          <a:solidFill>
            <a:srgbClr val="B45A3C"/>
          </a:solidFill>
          <a:ln w="0">
            <a:solidFill>
              <a:srgbClr val="B45A3C"/>
            </a:solidFill>
            <a:prstDash val="solid"/>
          </a:ln>
        </p:spPr>
        <p:txBody>
          <a:bodyPr/>
          <a:lstStyle/>
          <a:p>
            <a:endParaRPr/>
          </a:p>
        </p:txBody>
      </p:sp>
      <p:sp>
        <p:nvSpPr>
          <p:cNvPr id="18" name="矩形 17"/>
          <p:cNvSpPr>
            <a:spLocks noGrp="1"/>
          </p:cNvSpPr>
          <p:nvPr/>
        </p:nvSpPr>
        <p:spPr>
          <a:xfrm>
            <a:off x="5848350" y="249555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Trust / reliance</a:t>
            </a:r>
          </a:p>
        </p:txBody>
      </p:sp>
      <p:sp>
        <p:nvSpPr>
          <p:cNvPr id="19" name="矩形 18"/>
          <p:cNvSpPr>
            <a:spLocks noGrp="1"/>
          </p:cNvSpPr>
          <p:nvPr/>
        </p:nvSpPr>
        <p:spPr>
          <a:xfrm>
            <a:off x="5848350" y="266700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Lee &amp; See, 2004; Dietvorst et al., 2015; Logg et al., 2019</a:t>
            </a:r>
          </a:p>
        </p:txBody>
      </p:sp>
      <p:sp>
        <p:nvSpPr>
          <p:cNvPr id="20" name="矩形 19"/>
          <p:cNvSpPr>
            <a:spLocks noGrp="1"/>
          </p:cNvSpPr>
          <p:nvPr/>
        </p:nvSpPr>
        <p:spPr>
          <a:xfrm>
            <a:off x="5848350" y="310515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This stream studies appropriate reliance, algorithm aversion, and algorithm appreciation.</a:t>
            </a:r>
          </a:p>
        </p:txBody>
      </p:sp>
      <p:sp>
        <p:nvSpPr>
          <p:cNvPr id="21" name="矩形 20"/>
          <p:cNvSpPr>
            <a:spLocks noGrp="1"/>
          </p:cNvSpPr>
          <p:nvPr/>
        </p:nvSpPr>
        <p:spPr>
          <a:xfrm>
            <a:off x="914400" y="4000500"/>
            <a:ext cx="4076700" cy="1314450"/>
          </a:xfrm>
          <a:prstGeom prst="rect">
            <a:avLst/>
          </a:prstGeom>
          <a:solidFill>
            <a:srgbClr val="FFF9F0"/>
          </a:solidFill>
          <a:ln w="9525">
            <a:solidFill>
              <a:srgbClr val="E9DDCB"/>
            </a:solidFill>
            <a:prstDash val="solid"/>
          </a:ln>
        </p:spPr>
        <p:txBody>
          <a:bodyPr/>
          <a:lstStyle/>
          <a:p>
            <a:endParaRPr/>
          </a:p>
        </p:txBody>
      </p:sp>
      <p:sp>
        <p:nvSpPr>
          <p:cNvPr id="22" name="矩形 21"/>
          <p:cNvSpPr>
            <a:spLocks noGrp="1"/>
          </p:cNvSpPr>
          <p:nvPr/>
        </p:nvSpPr>
        <p:spPr>
          <a:xfrm>
            <a:off x="914400" y="4000500"/>
            <a:ext cx="57150" cy="1314450"/>
          </a:xfrm>
          <a:prstGeom prst="rect">
            <a:avLst/>
          </a:prstGeom>
          <a:solidFill>
            <a:srgbClr val="B45A3C"/>
          </a:solidFill>
          <a:ln w="0">
            <a:solidFill>
              <a:srgbClr val="B45A3C"/>
            </a:solidFill>
            <a:prstDash val="solid"/>
          </a:ln>
        </p:spPr>
        <p:txBody>
          <a:bodyPr/>
          <a:lstStyle/>
          <a:p>
            <a:endParaRPr/>
          </a:p>
        </p:txBody>
      </p:sp>
      <p:sp>
        <p:nvSpPr>
          <p:cNvPr id="23" name="矩形 22"/>
          <p:cNvSpPr>
            <a:spLocks noGrp="1"/>
          </p:cNvSpPr>
          <p:nvPr/>
        </p:nvSpPr>
        <p:spPr>
          <a:xfrm>
            <a:off x="11239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Responsibility / ownership</a:t>
            </a:r>
          </a:p>
        </p:txBody>
      </p:sp>
      <p:sp>
        <p:nvSpPr>
          <p:cNvPr id="24" name="矩形 23"/>
          <p:cNvSpPr>
            <a:spLocks noGrp="1"/>
          </p:cNvSpPr>
          <p:nvPr/>
        </p:nvSpPr>
        <p:spPr>
          <a:xfrm>
            <a:off x="11239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Kirchkamp &amp; Strobel, 2019; Kobis et al., 2025; Chevrier &amp; Teixeira, 2024</a:t>
            </a:r>
          </a:p>
        </p:txBody>
      </p:sp>
      <p:sp>
        <p:nvSpPr>
          <p:cNvPr id="25" name="矩形 24"/>
          <p:cNvSpPr>
            <a:spLocks noGrp="1"/>
          </p:cNvSpPr>
          <p:nvPr/>
        </p:nvSpPr>
        <p:spPr>
          <a:xfrm>
            <a:off x="11239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lang="en-US" altLang="zh-CN" sz="1200" b="0">
                <a:solidFill>
                  <a:srgbClr val="5F6775"/>
                </a:solidFill>
                <a:latin typeface="Times New Roman" panose="02020603050405020304"/>
                <a:ea typeface="Times New Roman" panose="02020603050405020304"/>
                <a:cs typeface="Times New Roman" panose="02020603050405020304"/>
              </a:rPr>
              <a:t>This stream studies how AI participation redistributes ownership, moral cost, and blame, mostly in delegation or ex post attribution settings.</a:t>
            </a:r>
          </a:p>
        </p:txBody>
      </p:sp>
      <p:sp>
        <p:nvSpPr>
          <p:cNvPr id="26" name="矩形 25"/>
          <p:cNvSpPr>
            <a:spLocks noGrp="1"/>
          </p:cNvSpPr>
          <p:nvPr/>
        </p:nvSpPr>
        <p:spPr>
          <a:xfrm>
            <a:off x="5638800" y="4000500"/>
            <a:ext cx="4076700" cy="1314450"/>
          </a:xfrm>
          <a:prstGeom prst="rect">
            <a:avLst/>
          </a:prstGeom>
          <a:solidFill>
            <a:srgbClr val="FFF9F0"/>
          </a:solidFill>
          <a:ln w="9525">
            <a:solidFill>
              <a:srgbClr val="E9DDCB"/>
            </a:solidFill>
            <a:prstDash val="solid"/>
          </a:ln>
        </p:spPr>
        <p:txBody>
          <a:bodyPr/>
          <a:lstStyle/>
          <a:p>
            <a:endParaRPr/>
          </a:p>
        </p:txBody>
      </p:sp>
      <p:sp>
        <p:nvSpPr>
          <p:cNvPr id="27" name="矩形 26"/>
          <p:cNvSpPr>
            <a:spLocks noGrp="1"/>
          </p:cNvSpPr>
          <p:nvPr/>
        </p:nvSpPr>
        <p:spPr>
          <a:xfrm>
            <a:off x="5638800" y="4000500"/>
            <a:ext cx="57150" cy="1314450"/>
          </a:xfrm>
          <a:prstGeom prst="rect">
            <a:avLst/>
          </a:prstGeom>
          <a:solidFill>
            <a:srgbClr val="B45A3C"/>
          </a:solidFill>
          <a:ln w="0">
            <a:solidFill>
              <a:srgbClr val="B45A3C"/>
            </a:solidFill>
            <a:prstDash val="solid"/>
          </a:ln>
        </p:spPr>
        <p:txBody>
          <a:bodyPr/>
          <a:lstStyle/>
          <a:p>
            <a:endParaRPr/>
          </a:p>
        </p:txBody>
      </p:sp>
      <p:sp>
        <p:nvSpPr>
          <p:cNvPr id="28" name="矩形 27"/>
          <p:cNvSpPr>
            <a:spLocks noGrp="1"/>
          </p:cNvSpPr>
          <p:nvPr/>
        </p:nvSpPr>
        <p:spPr>
          <a:xfrm>
            <a:off x="5848350" y="4152900"/>
            <a:ext cx="36576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What is still missing</a:t>
            </a:r>
          </a:p>
        </p:txBody>
      </p:sp>
      <p:sp>
        <p:nvSpPr>
          <p:cNvPr id="29" name="矩形 28"/>
          <p:cNvSpPr>
            <a:spLocks noGrp="1"/>
          </p:cNvSpPr>
          <p:nvPr/>
        </p:nvSpPr>
        <p:spPr>
          <a:xfrm>
            <a:off x="5848350" y="4324350"/>
            <a:ext cx="36576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Kidd &amp; Birhane, 2023; Harvey &amp; Fischer, 1997; Lee &amp; See, 2004</a:t>
            </a:r>
          </a:p>
        </p:txBody>
      </p:sp>
      <p:sp>
        <p:nvSpPr>
          <p:cNvPr id="30" name="矩形 29"/>
          <p:cNvSpPr>
            <a:spLocks noGrp="1"/>
          </p:cNvSpPr>
          <p:nvPr/>
        </p:nvSpPr>
        <p:spPr>
          <a:xfrm>
            <a:off x="5848350" y="4762500"/>
            <a:ext cx="3657600" cy="4762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What is still missing is a process-level account of how these stages connect.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WHY GENERATIVE AI</a:t>
            </a:r>
          </a:p>
        </p:txBody>
      </p:sp>
      <p:sp>
        <p:nvSpPr>
          <p:cNvPr id="8" name="矩形 7"/>
          <p:cNvSpPr>
            <a:spLocks noGrp="1"/>
          </p:cNvSpPr>
          <p:nvPr/>
        </p:nvSpPr>
        <p:spPr>
          <a:xfrm>
            <a:off x="914400" y="914400"/>
            <a:ext cx="72390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People increasingly treat AI as a source of judgment, not just a tool</a:t>
            </a: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In these interactions, AI does not simply give an answer. It shapes how people understand the problem itself.</a:t>
            </a: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04</a:t>
            </a:r>
          </a:p>
        </p:txBody>
      </p:sp>
      <p:sp>
        <p:nvSpPr>
          <p:cNvPr id="11" name="矩形 10"/>
          <p:cNvSpPr>
            <a:spLocks noGrp="1"/>
          </p:cNvSpPr>
          <p:nvPr/>
        </p:nvSpPr>
        <p:spPr>
          <a:xfrm>
            <a:off x="1143000" y="2095500"/>
            <a:ext cx="2667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B45A3C"/>
                </a:solidFill>
                <a:latin typeface="Times New Roman" panose="02020603050405020304"/>
                <a:ea typeface="Times New Roman" panose="02020603050405020304"/>
                <a:cs typeface="Times New Roman" panose="02020603050405020304"/>
              </a:defRPr>
            </a:pPr>
            <a:r>
              <a:rPr sz="1500" b="1">
                <a:solidFill>
                  <a:srgbClr val="B45A3C"/>
                </a:solidFill>
                <a:latin typeface="Times New Roman" panose="02020603050405020304"/>
                <a:ea typeface="Times New Roman" panose="02020603050405020304"/>
                <a:cs typeface="Times New Roman" panose="02020603050405020304"/>
              </a:rPr>
              <a:t>Using AI as a tool</a:t>
            </a:r>
          </a:p>
        </p:txBody>
      </p:sp>
      <p:sp>
        <p:nvSpPr>
          <p:cNvPr id="12" name="矩形 11"/>
          <p:cNvSpPr>
            <a:spLocks noGrp="1"/>
          </p:cNvSpPr>
          <p:nvPr/>
        </p:nvSpPr>
        <p:spPr>
          <a:xfrm>
            <a:off x="6572250" y="2095500"/>
            <a:ext cx="30480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B45A3C"/>
                </a:solidFill>
                <a:latin typeface="Times New Roman" panose="02020603050405020304"/>
                <a:ea typeface="Times New Roman" panose="02020603050405020304"/>
                <a:cs typeface="Times New Roman" panose="02020603050405020304"/>
              </a:defRPr>
            </a:pPr>
            <a:r>
              <a:rPr sz="1500" b="1">
                <a:solidFill>
                  <a:srgbClr val="B45A3C"/>
                </a:solidFill>
                <a:latin typeface="Times New Roman" panose="02020603050405020304"/>
                <a:ea typeface="Times New Roman" panose="02020603050405020304"/>
                <a:cs typeface="Times New Roman" panose="02020603050405020304"/>
              </a:rPr>
              <a:t>Using AI as a judgment source</a:t>
            </a:r>
          </a:p>
        </p:txBody>
      </p:sp>
      <p:sp>
        <p:nvSpPr>
          <p:cNvPr id="13" name="矩形 12"/>
          <p:cNvSpPr>
            <a:spLocks noGrp="1"/>
          </p:cNvSpPr>
          <p:nvPr/>
        </p:nvSpPr>
        <p:spPr>
          <a:xfrm>
            <a:off x="1143000" y="2552700"/>
            <a:ext cx="3048000" cy="628650"/>
          </a:xfrm>
          <a:prstGeom prst="rect">
            <a:avLst/>
          </a:prstGeom>
          <a:solidFill>
            <a:srgbClr val="FFF9F0"/>
          </a:solidFill>
          <a:ln w="9525">
            <a:solidFill>
              <a:srgbClr val="E9DDCB"/>
            </a:solidFill>
            <a:prstDash val="solid"/>
          </a:ln>
        </p:spPr>
        <p:txBody>
          <a:bodyPr/>
          <a:lstStyle/>
          <a:p>
            <a:endParaRPr/>
          </a:p>
        </p:txBody>
      </p:sp>
      <p:sp>
        <p:nvSpPr>
          <p:cNvPr id="14" name="矩形 13"/>
          <p:cNvSpPr>
            <a:spLocks noGrp="1"/>
          </p:cNvSpPr>
          <p:nvPr/>
        </p:nvSpPr>
        <p:spPr>
          <a:xfrm>
            <a:off x="1143000" y="2552700"/>
            <a:ext cx="57150" cy="628650"/>
          </a:xfrm>
          <a:prstGeom prst="rect">
            <a:avLst/>
          </a:prstGeom>
          <a:solidFill>
            <a:srgbClr val="B45A3C"/>
          </a:solidFill>
          <a:ln w="0">
            <a:solidFill>
              <a:srgbClr val="B45A3C"/>
            </a:solidFill>
            <a:prstDash val="solid"/>
          </a:ln>
        </p:spPr>
        <p:txBody>
          <a:bodyPr/>
          <a:lstStyle/>
          <a:p>
            <a:endParaRPr/>
          </a:p>
        </p:txBody>
      </p:sp>
      <p:sp>
        <p:nvSpPr>
          <p:cNvPr id="15" name="矩形 14"/>
          <p:cNvSpPr>
            <a:spLocks noGrp="1"/>
          </p:cNvSpPr>
          <p:nvPr/>
        </p:nvSpPr>
        <p:spPr>
          <a:xfrm>
            <a:off x="1352550" y="27241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Search, calculate,</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or automate</a:t>
            </a:r>
          </a:p>
        </p:txBody>
      </p:sp>
      <p:sp>
        <p:nvSpPr>
          <p:cNvPr id="16" name="矩形 15"/>
          <p:cNvSpPr>
            <a:spLocks noGrp="1"/>
          </p:cNvSpPr>
          <p:nvPr/>
        </p:nvSpPr>
        <p:spPr>
          <a:xfrm>
            <a:off x="1143000" y="3429000"/>
            <a:ext cx="3048000" cy="628650"/>
          </a:xfrm>
          <a:prstGeom prst="rect">
            <a:avLst/>
          </a:prstGeom>
          <a:solidFill>
            <a:srgbClr val="FFF9F0"/>
          </a:solidFill>
          <a:ln w="9525">
            <a:solidFill>
              <a:srgbClr val="E9DDCB"/>
            </a:solidFill>
            <a:prstDash val="solid"/>
          </a:ln>
        </p:spPr>
        <p:txBody>
          <a:bodyPr/>
          <a:lstStyle/>
          <a:p>
            <a:endParaRPr/>
          </a:p>
        </p:txBody>
      </p:sp>
      <p:sp>
        <p:nvSpPr>
          <p:cNvPr id="17" name="矩形 16"/>
          <p:cNvSpPr>
            <a:spLocks noGrp="1"/>
          </p:cNvSpPr>
          <p:nvPr/>
        </p:nvSpPr>
        <p:spPr>
          <a:xfrm>
            <a:off x="1143000" y="3429000"/>
            <a:ext cx="57150" cy="628650"/>
          </a:xfrm>
          <a:prstGeom prst="rect">
            <a:avLst/>
          </a:prstGeom>
          <a:solidFill>
            <a:srgbClr val="B45A3C"/>
          </a:solidFill>
          <a:ln w="0">
            <a:solidFill>
              <a:srgbClr val="B45A3C"/>
            </a:solidFill>
            <a:prstDash val="solid"/>
          </a:ln>
        </p:spPr>
        <p:txBody>
          <a:bodyPr/>
          <a:lstStyle/>
          <a:p>
            <a:endParaRPr/>
          </a:p>
        </p:txBody>
      </p:sp>
      <p:sp>
        <p:nvSpPr>
          <p:cNvPr id="18" name="矩形 17"/>
          <p:cNvSpPr>
            <a:spLocks noGrp="1"/>
          </p:cNvSpPr>
          <p:nvPr/>
        </p:nvSpPr>
        <p:spPr>
          <a:xfrm>
            <a:off x="1352550" y="36004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Interpret the</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result yourself</a:t>
            </a:r>
          </a:p>
        </p:txBody>
      </p:sp>
      <p:sp>
        <p:nvSpPr>
          <p:cNvPr id="19" name="矩形 18"/>
          <p:cNvSpPr>
            <a:spLocks noGrp="1"/>
          </p:cNvSpPr>
          <p:nvPr/>
        </p:nvSpPr>
        <p:spPr>
          <a:xfrm>
            <a:off x="1143000" y="4305300"/>
            <a:ext cx="3048000" cy="628650"/>
          </a:xfrm>
          <a:prstGeom prst="rect">
            <a:avLst/>
          </a:prstGeom>
          <a:solidFill>
            <a:srgbClr val="FFF9F0"/>
          </a:solidFill>
          <a:ln w="9525">
            <a:solidFill>
              <a:srgbClr val="E9DDCB"/>
            </a:solidFill>
            <a:prstDash val="solid"/>
          </a:ln>
        </p:spPr>
        <p:txBody>
          <a:bodyPr/>
          <a:lstStyle/>
          <a:p>
            <a:endParaRPr/>
          </a:p>
        </p:txBody>
      </p:sp>
      <p:sp>
        <p:nvSpPr>
          <p:cNvPr id="20" name="矩形 19"/>
          <p:cNvSpPr>
            <a:spLocks noGrp="1"/>
          </p:cNvSpPr>
          <p:nvPr/>
        </p:nvSpPr>
        <p:spPr>
          <a:xfrm>
            <a:off x="1143000" y="4305300"/>
            <a:ext cx="57150" cy="628650"/>
          </a:xfrm>
          <a:prstGeom prst="rect">
            <a:avLst/>
          </a:prstGeom>
          <a:solidFill>
            <a:srgbClr val="B45A3C"/>
          </a:solidFill>
          <a:ln w="0">
            <a:solidFill>
              <a:srgbClr val="B45A3C"/>
            </a:solidFill>
            <a:prstDash val="solid"/>
          </a:ln>
        </p:spPr>
        <p:txBody>
          <a:bodyPr/>
          <a:lstStyle/>
          <a:p>
            <a:endParaRPr/>
          </a:p>
        </p:txBody>
      </p:sp>
      <p:sp>
        <p:nvSpPr>
          <p:cNvPr id="21" name="矩形 20"/>
          <p:cNvSpPr>
            <a:spLocks noGrp="1"/>
          </p:cNvSpPr>
          <p:nvPr/>
        </p:nvSpPr>
        <p:spPr>
          <a:xfrm>
            <a:off x="1352550" y="4476750"/>
            <a:ext cx="2628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The tool stays</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outside the judgment</a:t>
            </a:r>
          </a:p>
        </p:txBody>
      </p:sp>
      <p:sp>
        <p:nvSpPr>
          <p:cNvPr id="22" name="矩形 21"/>
          <p:cNvSpPr>
            <a:spLocks noGrp="1"/>
          </p:cNvSpPr>
          <p:nvPr/>
        </p:nvSpPr>
        <p:spPr>
          <a:xfrm>
            <a:off x="6572250" y="2552700"/>
            <a:ext cx="3429000" cy="628650"/>
          </a:xfrm>
          <a:prstGeom prst="rect">
            <a:avLst/>
          </a:prstGeom>
          <a:solidFill>
            <a:srgbClr val="FFF9F0"/>
          </a:solidFill>
          <a:ln w="9525">
            <a:solidFill>
              <a:srgbClr val="E9DDCB"/>
            </a:solidFill>
            <a:prstDash val="solid"/>
          </a:ln>
        </p:spPr>
        <p:txBody>
          <a:bodyPr/>
          <a:lstStyle/>
          <a:p>
            <a:endParaRPr/>
          </a:p>
        </p:txBody>
      </p:sp>
      <p:sp>
        <p:nvSpPr>
          <p:cNvPr id="23" name="矩形 22"/>
          <p:cNvSpPr>
            <a:spLocks noGrp="1"/>
          </p:cNvSpPr>
          <p:nvPr/>
        </p:nvSpPr>
        <p:spPr>
          <a:xfrm>
            <a:off x="6572250" y="2552700"/>
            <a:ext cx="57150" cy="628650"/>
          </a:xfrm>
          <a:prstGeom prst="rect">
            <a:avLst/>
          </a:prstGeom>
          <a:solidFill>
            <a:srgbClr val="B45A3C"/>
          </a:solidFill>
          <a:ln w="0">
            <a:solidFill>
              <a:srgbClr val="B45A3C"/>
            </a:solidFill>
            <a:prstDash val="solid"/>
          </a:ln>
        </p:spPr>
        <p:txBody>
          <a:bodyPr/>
          <a:lstStyle/>
          <a:p>
            <a:endParaRPr/>
          </a:p>
        </p:txBody>
      </p:sp>
      <p:sp>
        <p:nvSpPr>
          <p:cNvPr id="24" name="矩形 23"/>
          <p:cNvSpPr>
            <a:spLocks noGrp="1"/>
          </p:cNvSpPr>
          <p:nvPr/>
        </p:nvSpPr>
        <p:spPr>
          <a:xfrm>
            <a:off x="6781800" y="27241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Consult, discuss,</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or confirm</a:t>
            </a:r>
          </a:p>
        </p:txBody>
      </p:sp>
      <p:sp>
        <p:nvSpPr>
          <p:cNvPr id="25" name="矩形 24"/>
          <p:cNvSpPr>
            <a:spLocks noGrp="1"/>
          </p:cNvSpPr>
          <p:nvPr/>
        </p:nvSpPr>
        <p:spPr>
          <a:xfrm>
            <a:off x="6572250" y="3429000"/>
            <a:ext cx="3429000" cy="628650"/>
          </a:xfrm>
          <a:prstGeom prst="rect">
            <a:avLst/>
          </a:prstGeom>
          <a:solidFill>
            <a:srgbClr val="FFF9F0"/>
          </a:solidFill>
          <a:ln w="9525">
            <a:solidFill>
              <a:srgbClr val="E9DDCB"/>
            </a:solidFill>
            <a:prstDash val="solid"/>
          </a:ln>
        </p:spPr>
        <p:txBody>
          <a:bodyPr/>
          <a:lstStyle/>
          <a:p>
            <a:endParaRPr/>
          </a:p>
        </p:txBody>
      </p:sp>
      <p:sp>
        <p:nvSpPr>
          <p:cNvPr id="26" name="矩形 25"/>
          <p:cNvSpPr>
            <a:spLocks noGrp="1"/>
          </p:cNvSpPr>
          <p:nvPr/>
        </p:nvSpPr>
        <p:spPr>
          <a:xfrm>
            <a:off x="6572250" y="3429000"/>
            <a:ext cx="57150" cy="628650"/>
          </a:xfrm>
          <a:prstGeom prst="rect">
            <a:avLst/>
          </a:prstGeom>
          <a:solidFill>
            <a:srgbClr val="B45A3C"/>
          </a:solidFill>
          <a:ln w="0">
            <a:solidFill>
              <a:srgbClr val="B45A3C"/>
            </a:solidFill>
            <a:prstDash val="solid"/>
          </a:ln>
        </p:spPr>
        <p:txBody>
          <a:bodyPr/>
          <a:lstStyle/>
          <a:p>
            <a:endParaRPr/>
          </a:p>
        </p:txBody>
      </p:sp>
      <p:sp>
        <p:nvSpPr>
          <p:cNvPr id="27" name="矩形 26"/>
          <p:cNvSpPr>
            <a:spLocks noGrp="1"/>
          </p:cNvSpPr>
          <p:nvPr/>
        </p:nvSpPr>
        <p:spPr>
          <a:xfrm>
            <a:off x="6781800" y="36004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Use AI to interpret</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complex situations</a:t>
            </a:r>
          </a:p>
        </p:txBody>
      </p:sp>
      <p:sp>
        <p:nvSpPr>
          <p:cNvPr id="28" name="矩形 27"/>
          <p:cNvSpPr>
            <a:spLocks noGrp="1"/>
          </p:cNvSpPr>
          <p:nvPr/>
        </p:nvSpPr>
        <p:spPr>
          <a:xfrm>
            <a:off x="6572250" y="4305300"/>
            <a:ext cx="3429000" cy="628650"/>
          </a:xfrm>
          <a:prstGeom prst="rect">
            <a:avLst/>
          </a:prstGeom>
          <a:solidFill>
            <a:srgbClr val="FFF9F0"/>
          </a:solidFill>
          <a:ln w="9525">
            <a:solidFill>
              <a:srgbClr val="E9DDCB"/>
            </a:solidFill>
            <a:prstDash val="solid"/>
          </a:ln>
        </p:spPr>
        <p:txBody>
          <a:bodyPr/>
          <a:lstStyle/>
          <a:p>
            <a:endParaRPr/>
          </a:p>
        </p:txBody>
      </p:sp>
      <p:sp>
        <p:nvSpPr>
          <p:cNvPr id="29" name="矩形 28"/>
          <p:cNvSpPr>
            <a:spLocks noGrp="1"/>
          </p:cNvSpPr>
          <p:nvPr/>
        </p:nvSpPr>
        <p:spPr>
          <a:xfrm>
            <a:off x="6572250" y="4305300"/>
            <a:ext cx="57150" cy="628650"/>
          </a:xfrm>
          <a:prstGeom prst="rect">
            <a:avLst/>
          </a:prstGeom>
          <a:solidFill>
            <a:srgbClr val="B45A3C"/>
          </a:solidFill>
          <a:ln w="0">
            <a:solidFill>
              <a:srgbClr val="B45A3C"/>
            </a:solidFill>
            <a:prstDash val="solid"/>
          </a:ln>
        </p:spPr>
        <p:txBody>
          <a:bodyPr/>
          <a:lstStyle/>
          <a:p>
            <a:endParaRPr/>
          </a:p>
        </p:txBody>
      </p:sp>
      <p:sp>
        <p:nvSpPr>
          <p:cNvPr id="30" name="矩形 29"/>
          <p:cNvSpPr>
            <a:spLocks noGrp="1"/>
          </p:cNvSpPr>
          <p:nvPr/>
        </p:nvSpPr>
        <p:spPr>
          <a:xfrm>
            <a:off x="6781800" y="44767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Rely on its explanation</a:t>
            </a:r>
          </a:p>
          <a:p>
            <a:pPr algn="l">
              <a:buNone/>
              <a:defRPr sz="1650" b="1">
                <a:solidFill>
                  <a:srgbClr val="1D2433"/>
                </a:solidFill>
                <a:latin typeface="Times New Roman" panose="02020603050405020304"/>
                <a:ea typeface="Times New Roman" panose="02020603050405020304"/>
                <a:cs typeface="Times New Roman" panose="02020603050405020304"/>
              </a:defRPr>
            </a:pPr>
            <a:r>
              <a:rPr sz="1650" b="1">
                <a:solidFill>
                  <a:srgbClr val="1D2433"/>
                </a:solidFill>
                <a:latin typeface="Times New Roman" panose="02020603050405020304"/>
                <a:ea typeface="Times New Roman" panose="02020603050405020304"/>
                <a:cs typeface="Times New Roman" panose="02020603050405020304"/>
              </a:rPr>
              <a:t>and framing</a:t>
            </a:r>
          </a:p>
        </p:txBody>
      </p:sp>
      <p:cxnSp>
        <p:nvCxnSpPr>
          <p:cNvPr id="101" name="直接箭头连接符 100"/>
          <p:cNvCxnSpPr>
            <a:stCxn id="12" idx="2"/>
            <a:endCxn id="15" idx="0"/>
          </p:cNvCxnSpPr>
          <p:nvPr/>
        </p:nvCxnSpPr>
        <p:spPr>
          <a:xfrm>
            <a:off x="2667000" y="3181350"/>
            <a:ext cx="0" cy="247650"/>
          </a:xfrm>
          <a:prstGeom prst="straightConnector1">
            <a:avLst/>
          </a:prstGeom>
          <a:ln w="19050">
            <a:solidFill>
              <a:srgbClr val="667561"/>
            </a:solidFill>
            <a:prstDash val="solid"/>
            <a:headEnd type="arrow" w="med" len="med"/>
          </a:ln>
        </p:spPr>
      </p:cxnSp>
      <p:cxnSp>
        <p:nvCxnSpPr>
          <p:cNvPr id="102" name="直接箭头连接符 101"/>
          <p:cNvCxnSpPr>
            <a:stCxn id="15" idx="2"/>
            <a:endCxn id="18" idx="0"/>
          </p:cNvCxnSpPr>
          <p:nvPr/>
        </p:nvCxnSpPr>
        <p:spPr>
          <a:xfrm>
            <a:off x="2667000" y="4057650"/>
            <a:ext cx="0" cy="247650"/>
          </a:xfrm>
          <a:prstGeom prst="straightConnector1">
            <a:avLst/>
          </a:prstGeom>
          <a:ln w="19050">
            <a:solidFill>
              <a:srgbClr val="667561"/>
            </a:solidFill>
            <a:prstDash val="solid"/>
            <a:headEnd type="arrow" w="med" len="med"/>
          </a:ln>
        </p:spPr>
      </p:cxnSp>
      <p:cxnSp>
        <p:nvCxnSpPr>
          <p:cNvPr id="103" name="直接箭头连接符 102"/>
          <p:cNvCxnSpPr>
            <a:stCxn id="21" idx="2"/>
            <a:endCxn id="24" idx="0"/>
          </p:cNvCxnSpPr>
          <p:nvPr/>
        </p:nvCxnSpPr>
        <p:spPr>
          <a:xfrm>
            <a:off x="8286750" y="3181350"/>
            <a:ext cx="0" cy="247650"/>
          </a:xfrm>
          <a:prstGeom prst="straightConnector1">
            <a:avLst/>
          </a:prstGeom>
          <a:ln w="19050">
            <a:solidFill>
              <a:srgbClr val="B45A3C"/>
            </a:solidFill>
            <a:prstDash val="solid"/>
            <a:headEnd type="arrow" w="med" len="med"/>
          </a:ln>
        </p:spPr>
      </p:cxnSp>
      <p:cxnSp>
        <p:nvCxnSpPr>
          <p:cNvPr id="104" name="直接箭头连接符 103"/>
          <p:cNvCxnSpPr>
            <a:stCxn id="24" idx="2"/>
            <a:endCxn id="27" idx="0"/>
          </p:cNvCxnSpPr>
          <p:nvPr/>
        </p:nvCxnSpPr>
        <p:spPr>
          <a:xfrm>
            <a:off x="8286750" y="4057650"/>
            <a:ext cx="0" cy="247650"/>
          </a:xfrm>
          <a:prstGeom prst="straightConnector1">
            <a:avLst/>
          </a:prstGeom>
          <a:ln w="19050">
            <a:solidFill>
              <a:srgbClr val="B45A3C"/>
            </a:solidFill>
            <a:prstDash val="solid"/>
            <a:headEnd type="arrow" w="med" len="med"/>
          </a:ln>
        </p:spPr>
      </p:cxnSp>
      <p:sp>
        <p:nvSpPr>
          <p:cNvPr id="34" name="矩形 33"/>
          <p:cNvSpPr>
            <a:spLocks noGrp="1"/>
          </p:cNvSpPr>
          <p:nvPr/>
        </p:nvSpPr>
        <p:spPr>
          <a:xfrm>
            <a:off x="4210050" y="3067050"/>
            <a:ext cx="1733550" cy="1143000"/>
          </a:xfrm>
          <a:prstGeom prst="rect">
            <a:avLst/>
          </a:prstGeom>
          <a:solidFill>
            <a:srgbClr val="EFE5D9"/>
          </a:solidFill>
          <a:ln w="9525">
            <a:solidFill>
              <a:srgbClr val="E9DDCB"/>
            </a:solidFill>
            <a:prstDash val="solid"/>
          </a:ln>
        </p:spPr>
        <p:txBody>
          <a:bodyPr/>
          <a:lstStyle/>
          <a:p>
            <a:endParaRPr/>
          </a:p>
        </p:txBody>
      </p:sp>
      <p:sp>
        <p:nvSpPr>
          <p:cNvPr id="35" name="矩形 34"/>
          <p:cNvSpPr>
            <a:spLocks noGrp="1"/>
          </p:cNvSpPr>
          <p:nvPr/>
        </p:nvSpPr>
        <p:spPr>
          <a:xfrm>
            <a:off x="4210050" y="3067050"/>
            <a:ext cx="57150" cy="1143000"/>
          </a:xfrm>
          <a:prstGeom prst="rect">
            <a:avLst/>
          </a:prstGeom>
          <a:solidFill>
            <a:srgbClr val="C89B4A"/>
          </a:solidFill>
          <a:ln w="0">
            <a:solidFill>
              <a:srgbClr val="C89B4A"/>
            </a:solidFill>
            <a:prstDash val="solid"/>
          </a:ln>
        </p:spPr>
        <p:txBody>
          <a:bodyPr/>
          <a:lstStyle/>
          <a:p>
            <a:endParaRPr/>
          </a:p>
        </p:txBody>
      </p:sp>
      <p:sp>
        <p:nvSpPr>
          <p:cNvPr id="36" name="矩形 35"/>
          <p:cNvSpPr>
            <a:spLocks noGrp="1"/>
          </p:cNvSpPr>
          <p:nvPr/>
        </p:nvSpPr>
        <p:spPr>
          <a:xfrm>
            <a:off x="4419600" y="3219450"/>
            <a:ext cx="13144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C89B4A"/>
                </a:solidFill>
                <a:latin typeface="Times New Roman" panose="02020603050405020304"/>
                <a:ea typeface="Times New Roman" panose="02020603050405020304"/>
                <a:cs typeface="Times New Roman" panose="02020603050405020304"/>
              </a:defRPr>
            </a:pPr>
            <a:r>
              <a:rPr sz="900" b="1">
                <a:solidFill>
                  <a:srgbClr val="C89B4A"/>
                </a:solidFill>
                <a:latin typeface="Aptos"/>
                <a:ea typeface="Aptos"/>
                <a:cs typeface="Aptos"/>
              </a:rPr>
              <a:t>SHIFT</a:t>
            </a:r>
          </a:p>
        </p:txBody>
      </p:sp>
      <p:sp>
        <p:nvSpPr>
          <p:cNvPr id="37" name="矩形 36"/>
          <p:cNvSpPr>
            <a:spLocks noGrp="1"/>
          </p:cNvSpPr>
          <p:nvPr/>
        </p:nvSpPr>
        <p:spPr>
          <a:xfrm>
            <a:off x="4419600" y="3390900"/>
            <a:ext cx="13144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From tool use</a:t>
            </a:r>
          </a:p>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to judgment</a:t>
            </a:r>
          </a:p>
          <a:p>
            <a:pPr algn="l">
              <a:buNone/>
              <a:defRPr sz="1350" b="1">
                <a:solidFill>
                  <a:srgbClr val="1D2433"/>
                </a:solidFill>
                <a:latin typeface="Times New Roman" panose="02020603050405020304"/>
                <a:ea typeface="Times New Roman" panose="02020603050405020304"/>
                <a:cs typeface="Times New Roman" panose="02020603050405020304"/>
              </a:defRPr>
            </a:pPr>
            <a:r>
              <a:rPr sz="1350" b="1">
                <a:solidFill>
                  <a:srgbClr val="1D2433"/>
                </a:solidFill>
                <a:latin typeface="Times New Roman" panose="02020603050405020304"/>
                <a:ea typeface="Times New Roman" panose="02020603050405020304"/>
                <a:cs typeface="Times New Roman" panose="02020603050405020304"/>
              </a:rPr>
              <a:t>interaction</a:t>
            </a:r>
          </a:p>
        </p:txBody>
      </p:sp>
      <p:sp>
        <p:nvSpPr>
          <p:cNvPr id="38" name="矩形 37"/>
          <p:cNvSpPr>
            <a:spLocks noGrp="1"/>
          </p:cNvSpPr>
          <p:nvPr/>
        </p:nvSpPr>
        <p:spPr>
          <a:xfrm>
            <a:off x="914400" y="5619750"/>
            <a:ext cx="10096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More and more users do not use AI only to search, calculate, or automate. They consult it, discuss with it, confirm with it, and sometimes rely on it.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sz="1050" b="1">
                <a:solidFill>
                  <a:srgbClr val="B45A3C"/>
                </a:solidFill>
                <a:latin typeface="Times New Roman" panose="02020603050405020304"/>
                <a:ea typeface="Times New Roman" panose="02020603050405020304"/>
                <a:cs typeface="Times New Roman" panose="02020603050405020304"/>
              </a:rPr>
              <a:t>WHY LLMs FEEL DIFFERENT</a:t>
            </a:r>
          </a:p>
        </p:txBody>
      </p:sp>
      <p:sp>
        <p:nvSpPr>
          <p:cNvPr id="8" name="矩形 7"/>
          <p:cNvSpPr>
            <a:spLocks noGrp="1"/>
          </p:cNvSpPr>
          <p:nvPr/>
        </p:nvSpPr>
        <p:spPr>
          <a:xfrm>
            <a:off x="914400" y="914400"/>
            <a:ext cx="6667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sz="2550" b="1">
                <a:solidFill>
                  <a:srgbClr val="1D2433"/>
                </a:solidFill>
                <a:latin typeface="Times New Roman" panose="02020603050405020304"/>
                <a:ea typeface="Times New Roman" panose="02020603050405020304"/>
                <a:cs typeface="Times New Roman" panose="02020603050405020304"/>
              </a:rPr>
              <a:t>Large language models change interaction through language, explanation, and narrative</a:t>
            </a: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sz="750" b="0">
                <a:solidFill>
                  <a:srgbClr val="7B7F88"/>
                </a:solidFill>
                <a:latin typeface="Times New Roman" panose="02020603050405020304"/>
                <a:ea typeface="Times New Roman" panose="02020603050405020304"/>
                <a:cs typeface="Times New Roman" panose="02020603050405020304"/>
              </a:rPr>
              <a:t>Their Transformer architecture supports contextual integration, and later tuning makes them able to explain, respond, and interact continuously with users.</a:t>
            </a: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05</a:t>
            </a:r>
          </a:p>
        </p:txBody>
      </p:sp>
      <p:sp>
        <p:nvSpPr>
          <p:cNvPr id="11" name="矩形 10"/>
          <p:cNvSpPr>
            <a:spLocks noGrp="1"/>
          </p:cNvSpPr>
          <p:nvPr/>
        </p:nvSpPr>
        <p:spPr>
          <a:xfrm>
            <a:off x="914400" y="24574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2" name="矩形 11"/>
          <p:cNvSpPr>
            <a:spLocks noGrp="1"/>
          </p:cNvSpPr>
          <p:nvPr/>
        </p:nvSpPr>
        <p:spPr>
          <a:xfrm>
            <a:off x="1181100" y="24384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This means the difference is not only more accurate output.</a:t>
            </a:r>
          </a:p>
        </p:txBody>
      </p:sp>
      <p:sp>
        <p:nvSpPr>
          <p:cNvPr id="13" name="矩形 12"/>
          <p:cNvSpPr>
            <a:spLocks noGrp="1"/>
          </p:cNvSpPr>
          <p:nvPr/>
        </p:nvSpPr>
        <p:spPr>
          <a:xfrm>
            <a:off x="914400" y="323850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4" name="矩形 13"/>
          <p:cNvSpPr>
            <a:spLocks noGrp="1"/>
          </p:cNvSpPr>
          <p:nvPr/>
        </p:nvSpPr>
        <p:spPr>
          <a:xfrm>
            <a:off x="1181100" y="321945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The form of output and the mode of interaction also change.</a:t>
            </a:r>
          </a:p>
        </p:txBody>
      </p:sp>
      <p:sp>
        <p:nvSpPr>
          <p:cNvPr id="15" name="矩形 14"/>
          <p:cNvSpPr>
            <a:spLocks noGrp="1"/>
          </p:cNvSpPr>
          <p:nvPr/>
        </p:nvSpPr>
        <p:spPr>
          <a:xfrm>
            <a:off x="914400" y="4019550"/>
            <a:ext cx="228600" cy="552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1">
                <a:solidFill>
                  <a:srgbClr val="B45A3C"/>
                </a:solidFill>
                <a:latin typeface="Times New Roman" panose="02020603050405020304"/>
                <a:ea typeface="Times New Roman" panose="02020603050405020304"/>
                <a:cs typeface="Times New Roman" panose="02020603050405020304"/>
              </a:defRPr>
            </a:pPr>
            <a:r>
              <a:rPr sz="1725" b="1">
                <a:solidFill>
                  <a:srgbClr val="B45A3C"/>
                </a:solidFill>
                <a:latin typeface="Aptos"/>
                <a:ea typeface="Aptos"/>
                <a:cs typeface="Aptos"/>
              </a:rPr>
              <a:t>-</a:t>
            </a:r>
          </a:p>
        </p:txBody>
      </p:sp>
      <p:sp>
        <p:nvSpPr>
          <p:cNvPr id="16" name="矩形 15"/>
          <p:cNvSpPr>
            <a:spLocks noGrp="1"/>
          </p:cNvSpPr>
          <p:nvPr/>
        </p:nvSpPr>
        <p:spPr>
          <a:xfrm>
            <a:off x="1181100" y="4000500"/>
            <a:ext cx="5334000" cy="723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725" b="0">
                <a:solidFill>
                  <a:srgbClr val="1D2433"/>
                </a:solidFill>
                <a:latin typeface="Times New Roman" panose="02020603050405020304"/>
                <a:ea typeface="Times New Roman" panose="02020603050405020304"/>
                <a:cs typeface="Times New Roman" panose="02020603050405020304"/>
              </a:defRPr>
            </a:pPr>
            <a:r>
              <a:rPr sz="1725" b="0">
                <a:solidFill>
                  <a:srgbClr val="1D2433"/>
                </a:solidFill>
                <a:latin typeface="Times New Roman" panose="02020603050405020304"/>
                <a:ea typeface="Times New Roman" panose="02020603050405020304"/>
                <a:cs typeface="Times New Roman" panose="02020603050405020304"/>
              </a:rPr>
              <a:t>LLMs enter the cognitive process through natural language, explanation, and narrative framing.</a:t>
            </a:r>
          </a:p>
        </p:txBody>
      </p:sp>
      <p:sp>
        <p:nvSpPr>
          <p:cNvPr id="17" name="矩形 16"/>
          <p:cNvSpPr>
            <a:spLocks noGrp="1"/>
          </p:cNvSpPr>
          <p:nvPr/>
        </p:nvSpPr>
        <p:spPr>
          <a:xfrm>
            <a:off x="7239000" y="2171700"/>
            <a:ext cx="3429000" cy="2628900"/>
          </a:xfrm>
          <a:prstGeom prst="rect">
            <a:avLst/>
          </a:prstGeom>
          <a:solidFill>
            <a:srgbClr val="FFF9F0"/>
          </a:solidFill>
          <a:ln w="9525">
            <a:solidFill>
              <a:srgbClr val="E9DDCB"/>
            </a:solidFill>
            <a:prstDash val="solid"/>
          </a:ln>
        </p:spPr>
        <p:txBody>
          <a:bodyPr/>
          <a:lstStyle/>
          <a:p>
            <a:endParaRPr/>
          </a:p>
        </p:txBody>
      </p:sp>
      <p:sp>
        <p:nvSpPr>
          <p:cNvPr id="18" name="矩形 17"/>
          <p:cNvSpPr>
            <a:spLocks noGrp="1"/>
          </p:cNvSpPr>
          <p:nvPr/>
        </p:nvSpPr>
        <p:spPr>
          <a:xfrm>
            <a:off x="7239000" y="2171700"/>
            <a:ext cx="57150" cy="2628900"/>
          </a:xfrm>
          <a:prstGeom prst="rect">
            <a:avLst/>
          </a:prstGeom>
          <a:solidFill>
            <a:srgbClr val="B45A3C"/>
          </a:solidFill>
          <a:ln w="0">
            <a:solidFill>
              <a:srgbClr val="B45A3C"/>
            </a:solidFill>
            <a:prstDash val="solid"/>
          </a:ln>
        </p:spPr>
        <p:txBody>
          <a:bodyPr/>
          <a:lstStyle/>
          <a:p>
            <a:endParaRPr/>
          </a:p>
        </p:txBody>
      </p:sp>
      <p:sp>
        <p:nvSpPr>
          <p:cNvPr id="19" name="矩形 18"/>
          <p:cNvSpPr>
            <a:spLocks noGrp="1"/>
          </p:cNvSpPr>
          <p:nvPr/>
        </p:nvSpPr>
        <p:spPr>
          <a:xfrm>
            <a:off x="7448550" y="2324100"/>
            <a:ext cx="30099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WHAT THIS ENABLES</a:t>
            </a:r>
          </a:p>
        </p:txBody>
      </p:sp>
      <p:sp>
        <p:nvSpPr>
          <p:cNvPr id="20" name="矩形 19"/>
          <p:cNvSpPr>
            <a:spLocks noGrp="1"/>
          </p:cNvSpPr>
          <p:nvPr/>
        </p:nvSpPr>
        <p:spPr>
          <a:xfrm>
            <a:off x="7448550" y="2495550"/>
            <a:ext cx="300990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Why it matters</a:t>
            </a:r>
          </a:p>
        </p:txBody>
      </p:sp>
      <p:sp>
        <p:nvSpPr>
          <p:cNvPr id="21" name="圆角矩形 20"/>
          <p:cNvSpPr>
            <a:spLocks noGrp="1"/>
          </p:cNvSpPr>
          <p:nvPr/>
        </p:nvSpPr>
        <p:spPr>
          <a:xfrm>
            <a:off x="7715250" y="2762250"/>
            <a:ext cx="2476500" cy="400050"/>
          </a:xfrm>
          <a:prstGeom prst="roundRect">
            <a:avLst>
              <a:gd name="adj" fmla="val 19048"/>
            </a:avLst>
          </a:prstGeom>
          <a:solidFill>
            <a:srgbClr val="E8C6B8"/>
          </a:solidFill>
          <a:ln w="0">
            <a:solidFill>
              <a:srgbClr val="E8C6B8"/>
            </a:solidFill>
            <a:prstDash val="solid"/>
          </a:ln>
        </p:spPr>
        <p:txBody>
          <a:bodyPr/>
          <a:lstStyle/>
          <a:p>
            <a:endParaRPr/>
          </a:p>
        </p:txBody>
      </p:sp>
      <p:sp>
        <p:nvSpPr>
          <p:cNvPr id="22" name="矩形 21"/>
          <p:cNvSpPr>
            <a:spLocks noGrp="1"/>
          </p:cNvSpPr>
          <p:nvPr/>
        </p:nvSpPr>
        <p:spPr>
          <a:xfrm>
            <a:off x="7829550" y="27908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Context integration</a:t>
            </a:r>
          </a:p>
        </p:txBody>
      </p:sp>
      <p:sp>
        <p:nvSpPr>
          <p:cNvPr id="23" name="圆角矩形 22"/>
          <p:cNvSpPr>
            <a:spLocks noGrp="1"/>
          </p:cNvSpPr>
          <p:nvPr/>
        </p:nvSpPr>
        <p:spPr>
          <a:xfrm>
            <a:off x="7715250" y="3352800"/>
            <a:ext cx="2476500" cy="400050"/>
          </a:xfrm>
          <a:prstGeom prst="roundRect">
            <a:avLst>
              <a:gd name="adj" fmla="val 19048"/>
            </a:avLst>
          </a:prstGeom>
          <a:solidFill>
            <a:srgbClr val="E9DDCB"/>
          </a:solidFill>
          <a:ln w="0">
            <a:solidFill>
              <a:srgbClr val="E9DDCB"/>
            </a:solidFill>
            <a:prstDash val="solid"/>
          </a:ln>
        </p:spPr>
        <p:txBody>
          <a:bodyPr/>
          <a:lstStyle/>
          <a:p>
            <a:endParaRPr/>
          </a:p>
        </p:txBody>
      </p:sp>
      <p:sp>
        <p:nvSpPr>
          <p:cNvPr id="24" name="矩形 23"/>
          <p:cNvSpPr>
            <a:spLocks noGrp="1"/>
          </p:cNvSpPr>
          <p:nvPr/>
        </p:nvSpPr>
        <p:spPr>
          <a:xfrm>
            <a:off x="7829550" y="338137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Continuous explanation</a:t>
            </a:r>
          </a:p>
        </p:txBody>
      </p:sp>
      <p:sp>
        <p:nvSpPr>
          <p:cNvPr id="25" name="圆角矩形 24"/>
          <p:cNvSpPr>
            <a:spLocks noGrp="1"/>
          </p:cNvSpPr>
          <p:nvPr/>
        </p:nvSpPr>
        <p:spPr>
          <a:xfrm>
            <a:off x="7715250" y="3943350"/>
            <a:ext cx="2476500" cy="400050"/>
          </a:xfrm>
          <a:prstGeom prst="roundRect">
            <a:avLst>
              <a:gd name="adj" fmla="val 19048"/>
            </a:avLst>
          </a:prstGeom>
          <a:solidFill>
            <a:srgbClr val="E6E0D4"/>
          </a:solidFill>
          <a:ln w="0">
            <a:solidFill>
              <a:srgbClr val="E6E0D4"/>
            </a:solidFill>
            <a:prstDash val="solid"/>
          </a:ln>
        </p:spPr>
        <p:txBody>
          <a:bodyPr/>
          <a:lstStyle/>
          <a:p>
            <a:endParaRPr/>
          </a:p>
        </p:txBody>
      </p:sp>
      <p:sp>
        <p:nvSpPr>
          <p:cNvPr id="26" name="矩形 25"/>
          <p:cNvSpPr>
            <a:spLocks noGrp="1"/>
          </p:cNvSpPr>
          <p:nvPr/>
        </p:nvSpPr>
        <p:spPr>
          <a:xfrm>
            <a:off x="7829550" y="3971925"/>
            <a:ext cx="22479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ctr">
              <a:buNone/>
              <a:defRPr sz="975" b="1">
                <a:solidFill>
                  <a:srgbClr val="1D2433"/>
                </a:solidFill>
                <a:latin typeface="Times New Roman" panose="02020603050405020304"/>
                <a:ea typeface="Times New Roman" panose="02020603050405020304"/>
                <a:cs typeface="Times New Roman" panose="02020603050405020304"/>
              </a:defRPr>
            </a:pPr>
            <a:r>
              <a:rPr sz="975" b="1">
                <a:solidFill>
                  <a:srgbClr val="1D2433"/>
                </a:solidFill>
                <a:latin typeface="Times New Roman" panose="02020603050405020304"/>
                <a:ea typeface="Times New Roman" panose="02020603050405020304"/>
                <a:cs typeface="Times New Roman" panose="02020603050405020304"/>
              </a:rPr>
              <a:t>Narrative influence</a:t>
            </a:r>
          </a:p>
        </p:txBody>
      </p:sp>
      <p:sp>
        <p:nvSpPr>
          <p:cNvPr id="27" name="矩形 26"/>
          <p:cNvSpPr>
            <a:spLocks noGrp="1"/>
          </p:cNvSpPr>
          <p:nvPr/>
        </p:nvSpPr>
        <p:spPr>
          <a:xfrm>
            <a:off x="914400" y="5486400"/>
            <a:ext cx="97155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5F6775"/>
                </a:solidFill>
                <a:latin typeface="Times New Roman" panose="02020603050405020304"/>
                <a:ea typeface="Times New Roman" panose="02020603050405020304"/>
                <a:cs typeface="Times New Roman" panose="02020603050405020304"/>
              </a:defRPr>
            </a:pPr>
            <a:r>
              <a:rPr sz="1200" b="0">
                <a:solidFill>
                  <a:srgbClr val="5F6775"/>
                </a:solidFill>
                <a:latin typeface="Times New Roman" panose="02020603050405020304"/>
                <a:ea typeface="Times New Roman" panose="02020603050405020304"/>
                <a:cs typeface="Times New Roman" panose="02020603050405020304"/>
              </a:rPr>
              <a:t>That is why people can be influenced not only by answers, but by the way answers are framed.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0" y="0"/>
            <a:ext cx="12192000" cy="6858000"/>
          </a:xfrm>
          <a:prstGeom prst="rect">
            <a:avLst/>
          </a:prstGeom>
          <a:solidFill>
            <a:srgbClr val="F6F1E8"/>
          </a:solidFill>
          <a:ln w="0">
            <a:solidFill>
              <a:srgbClr val="F6F1E8"/>
            </a:solidFill>
            <a:prstDash val="solid"/>
          </a:ln>
        </p:spPr>
        <p:txBody>
          <a:bodyPr/>
          <a:lstStyle/>
          <a:p>
            <a:endParaRPr/>
          </a:p>
        </p:txBody>
      </p:sp>
      <p:sp>
        <p:nvSpPr>
          <p:cNvPr id="3" name="椭圆 2"/>
          <p:cNvSpPr>
            <a:spLocks noGrp="1"/>
          </p:cNvSpPr>
          <p:nvPr/>
        </p:nvSpPr>
        <p:spPr>
          <a:xfrm>
            <a:off x="9525000" y="-1143000"/>
            <a:ext cx="3429000" cy="3429000"/>
          </a:xfrm>
          <a:prstGeom prst="ellipse">
            <a:avLst/>
          </a:prstGeom>
          <a:solidFill>
            <a:srgbClr val="EDE1D0"/>
          </a:solidFill>
          <a:ln w="0">
            <a:solidFill>
              <a:srgbClr val="EDE1D0"/>
            </a:solidFill>
            <a:prstDash val="solid"/>
          </a:ln>
        </p:spPr>
        <p:txBody>
          <a:bodyPr/>
          <a:lstStyle/>
          <a:p>
            <a:endParaRPr/>
          </a:p>
        </p:txBody>
      </p:sp>
      <p:sp>
        <p:nvSpPr>
          <p:cNvPr id="4" name="椭圆 3"/>
          <p:cNvSpPr>
            <a:spLocks noGrp="1"/>
          </p:cNvSpPr>
          <p:nvPr/>
        </p:nvSpPr>
        <p:spPr>
          <a:xfrm>
            <a:off x="-1143000" y="4762500"/>
            <a:ext cx="2857500" cy="2857500"/>
          </a:xfrm>
          <a:prstGeom prst="ellipse">
            <a:avLst/>
          </a:prstGeom>
          <a:solidFill>
            <a:srgbClr val="F1E7D9"/>
          </a:solidFill>
          <a:ln w="0">
            <a:solidFill>
              <a:srgbClr val="F1E7D9"/>
            </a:solidFill>
            <a:prstDash val="solid"/>
          </a:ln>
        </p:spPr>
        <p:txBody>
          <a:bodyPr/>
          <a:lstStyle/>
          <a:p>
            <a:endParaRPr/>
          </a:p>
        </p:txBody>
      </p:sp>
      <p:sp>
        <p:nvSpPr>
          <p:cNvPr id="5" name="矩形 4"/>
          <p:cNvSpPr>
            <a:spLocks noGrp="1"/>
          </p:cNvSpPr>
          <p:nvPr/>
        </p:nvSpPr>
        <p:spPr>
          <a:xfrm>
            <a:off x="552450" y="457200"/>
            <a:ext cx="19050" cy="5943600"/>
          </a:xfrm>
          <a:prstGeom prst="rect">
            <a:avLst/>
          </a:prstGeom>
          <a:solidFill>
            <a:srgbClr val="E8C6B8"/>
          </a:solidFill>
          <a:ln w="0">
            <a:solidFill>
              <a:srgbClr val="E8C6B8"/>
            </a:solidFill>
            <a:prstDash val="solid"/>
          </a:ln>
        </p:spPr>
        <p:txBody>
          <a:bodyPr/>
          <a:lstStyle/>
          <a:p>
            <a:endParaRPr/>
          </a:p>
        </p:txBody>
      </p:sp>
      <p:sp>
        <p:nvSpPr>
          <p:cNvPr id="6" name="kicker-marker"/>
          <p:cNvSpPr>
            <a:spLocks noGrp="1"/>
          </p:cNvSpPr>
          <p:nvPr/>
        </p:nvSpPr>
        <p:spPr>
          <a:xfrm>
            <a:off x="914400" y="657225"/>
            <a:ext cx="171450" cy="171450"/>
          </a:xfrm>
          <a:prstGeom prst="rect">
            <a:avLst/>
          </a:prstGeom>
          <a:solidFill>
            <a:srgbClr val="B45A3C"/>
          </a:solidFill>
          <a:ln w="0">
            <a:solidFill>
              <a:srgbClr val="B45A3C"/>
            </a:solidFill>
            <a:prstDash val="solid"/>
          </a:ln>
        </p:spPr>
        <p:txBody>
          <a:bodyPr/>
          <a:lstStyle/>
          <a:p>
            <a:endParaRPr/>
          </a:p>
        </p:txBody>
      </p:sp>
      <p:sp>
        <p:nvSpPr>
          <p:cNvPr id="7" name="kicker-label"/>
          <p:cNvSpPr>
            <a:spLocks noGrp="1"/>
          </p:cNvSpPr>
          <p:nvPr/>
        </p:nvSpPr>
        <p:spPr>
          <a:xfrm>
            <a:off x="1181100" y="571500"/>
            <a:ext cx="2476500" cy="34290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050" b="1">
                <a:solidFill>
                  <a:srgbClr val="B45A3C"/>
                </a:solidFill>
                <a:latin typeface="Times New Roman" panose="02020603050405020304"/>
                <a:ea typeface="Times New Roman" panose="02020603050405020304"/>
                <a:cs typeface="Times New Roman" panose="02020603050405020304"/>
              </a:defRPr>
            </a:pPr>
            <a:r>
              <a:rPr lang="en-US" sz="1050" b="1">
                <a:solidFill>
                  <a:srgbClr val="B45A3C"/>
                </a:solidFill>
                <a:latin typeface="Times New Roman" panose="02020603050405020304"/>
                <a:ea typeface="Times New Roman" panose="02020603050405020304"/>
                <a:cs typeface="Times New Roman" panose="02020603050405020304"/>
              </a:rPr>
              <a:t>ONE CONNECTED PROCESS</a:t>
            </a:r>
            <a:endParaRPr sz="1050" b="1">
              <a:solidFill>
                <a:srgbClr val="B45A3C"/>
              </a:solidFill>
              <a:latin typeface="Times New Roman" panose="02020603050405020304"/>
              <a:ea typeface="Times New Roman" panose="02020603050405020304"/>
              <a:cs typeface="Times New Roman" panose="02020603050405020304"/>
            </a:endParaRPr>
          </a:p>
        </p:txBody>
      </p:sp>
      <p:sp>
        <p:nvSpPr>
          <p:cNvPr id="8" name="矩形 7"/>
          <p:cNvSpPr>
            <a:spLocks noGrp="1"/>
          </p:cNvSpPr>
          <p:nvPr/>
        </p:nvSpPr>
        <p:spPr>
          <a:xfrm>
            <a:off x="914400" y="914400"/>
            <a:ext cx="8191500" cy="10477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2550" b="1">
                <a:solidFill>
                  <a:srgbClr val="1D2433"/>
                </a:solidFill>
                <a:latin typeface="Times New Roman" panose="02020603050405020304"/>
                <a:ea typeface="Times New Roman" panose="02020603050405020304"/>
                <a:cs typeface="Times New Roman" panose="02020603050405020304"/>
              </a:defRPr>
            </a:pPr>
            <a:r>
              <a:rPr lang="en-US" sz="2550" b="1">
                <a:solidFill>
                  <a:srgbClr val="1D2433"/>
                </a:solidFill>
                <a:latin typeface="Times New Roman" panose="02020603050405020304"/>
                <a:ea typeface="Times New Roman" panose="02020603050405020304"/>
                <a:cs typeface="Times New Roman" panose="02020603050405020304"/>
              </a:rPr>
              <a:t>The three papers study different stages of one connected human-AI decision process</a:t>
            </a:r>
            <a:endParaRPr sz="2550" b="1">
              <a:solidFill>
                <a:srgbClr val="1D2433"/>
              </a:solidFill>
              <a:latin typeface="Times New Roman" panose="02020603050405020304"/>
              <a:ea typeface="Times New Roman" panose="02020603050405020304"/>
              <a:cs typeface="Times New Roman" panose="02020603050405020304"/>
            </a:endParaRPr>
          </a:p>
        </p:txBody>
      </p:sp>
      <p:sp>
        <p:nvSpPr>
          <p:cNvPr id="9" name="矩形 8"/>
          <p:cNvSpPr>
            <a:spLocks noGrp="1"/>
          </p:cNvSpPr>
          <p:nvPr/>
        </p:nvSpPr>
        <p:spPr>
          <a:xfrm>
            <a:off x="914400" y="6496050"/>
            <a:ext cx="88582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50" b="0">
                <a:solidFill>
                  <a:srgbClr val="7B7F88"/>
                </a:solidFill>
                <a:latin typeface="Times New Roman" panose="02020603050405020304"/>
                <a:ea typeface="Times New Roman" panose="02020603050405020304"/>
                <a:cs typeface="Times New Roman" panose="02020603050405020304"/>
              </a:defRPr>
            </a:pPr>
            <a:r>
              <a:rPr lang="en-US" sz="750" b="0">
                <a:solidFill>
                  <a:srgbClr val="7B7F88"/>
                </a:solidFill>
                <a:latin typeface="Times New Roman" panose="02020603050405020304"/>
                <a:ea typeface="Times New Roman" panose="02020603050405020304"/>
                <a:cs typeface="Times New Roman" panose="02020603050405020304"/>
              </a:rPr>
              <a:t>Belief Formation -&gt; Reliance Calibration / Action Threshold -&gt; Responsibility Attribution</a:t>
            </a:r>
            <a:endParaRPr sz="750" b="0">
              <a:solidFill>
                <a:srgbClr val="7B7F88"/>
              </a:solidFill>
              <a:latin typeface="Times New Roman" panose="02020603050405020304"/>
              <a:ea typeface="Times New Roman" panose="02020603050405020304"/>
              <a:cs typeface="Times New Roman" panose="02020603050405020304"/>
            </a:endParaRPr>
          </a:p>
        </p:txBody>
      </p:sp>
      <p:sp>
        <p:nvSpPr>
          <p:cNvPr id="10" name="矩形 9"/>
          <p:cNvSpPr>
            <a:spLocks noGrp="1"/>
          </p:cNvSpPr>
          <p:nvPr/>
        </p:nvSpPr>
        <p:spPr>
          <a:xfrm>
            <a:off x="10763250" y="6438900"/>
            <a:ext cx="5715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06</a:t>
            </a:r>
          </a:p>
        </p:txBody>
      </p:sp>
      <p:sp>
        <p:nvSpPr>
          <p:cNvPr id="11" name="矩形 10"/>
          <p:cNvSpPr>
            <a:spLocks noGrp="1"/>
          </p:cNvSpPr>
          <p:nvPr/>
        </p:nvSpPr>
        <p:spPr>
          <a:xfrm>
            <a:off x="914400" y="2266950"/>
            <a:ext cx="3143250" cy="3257550"/>
          </a:xfrm>
          <a:prstGeom prst="rect">
            <a:avLst/>
          </a:prstGeom>
          <a:solidFill>
            <a:srgbClr val="FFF9F0"/>
          </a:solidFill>
          <a:ln w="9525">
            <a:solidFill>
              <a:srgbClr val="E9DDCB"/>
            </a:solidFill>
            <a:prstDash val="solid"/>
          </a:ln>
        </p:spPr>
        <p:txBody>
          <a:bodyPr/>
          <a:lstStyle/>
          <a:p>
            <a:endParaRPr/>
          </a:p>
        </p:txBody>
      </p:sp>
      <p:sp>
        <p:nvSpPr>
          <p:cNvPr id="12" name="矩形 11"/>
          <p:cNvSpPr>
            <a:spLocks noGrp="1"/>
          </p:cNvSpPr>
          <p:nvPr/>
        </p:nvSpPr>
        <p:spPr>
          <a:xfrm>
            <a:off x="914400" y="2266950"/>
            <a:ext cx="57150" cy="3257550"/>
          </a:xfrm>
          <a:prstGeom prst="rect">
            <a:avLst/>
          </a:prstGeom>
          <a:solidFill>
            <a:srgbClr val="B45A3C"/>
          </a:solidFill>
          <a:ln w="0">
            <a:solidFill>
              <a:srgbClr val="B45A3C"/>
            </a:solidFill>
            <a:prstDash val="solid"/>
          </a:ln>
        </p:spPr>
        <p:txBody>
          <a:bodyPr/>
          <a:lstStyle/>
          <a:p>
            <a:endParaRPr/>
          </a:p>
        </p:txBody>
      </p:sp>
      <p:sp>
        <p:nvSpPr>
          <p:cNvPr id="13" name="矩形 12"/>
          <p:cNvSpPr>
            <a:spLocks noGrp="1"/>
          </p:cNvSpPr>
          <p:nvPr/>
        </p:nvSpPr>
        <p:spPr>
          <a:xfrm>
            <a:off x="11239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1</a:t>
            </a:r>
          </a:p>
        </p:txBody>
      </p:sp>
      <p:sp>
        <p:nvSpPr>
          <p:cNvPr id="14" name="矩形 13"/>
          <p:cNvSpPr>
            <a:spLocks noGrp="1"/>
          </p:cNvSpPr>
          <p:nvPr/>
        </p:nvSpPr>
        <p:spPr>
          <a:xfrm>
            <a:off x="11239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Belief formation</a:t>
            </a:r>
          </a:p>
        </p:txBody>
      </p:sp>
      <p:sp>
        <p:nvSpPr>
          <p:cNvPr id="15" name="矩形 14"/>
          <p:cNvSpPr>
            <a:spLocks noGrp="1"/>
          </p:cNvSpPr>
          <p:nvPr/>
        </p:nvSpPr>
        <p:spPr>
          <a:xfrm>
            <a:off x="11049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16" name="矩形 15"/>
          <p:cNvSpPr>
            <a:spLocks noGrp="1"/>
          </p:cNvSpPr>
          <p:nvPr/>
        </p:nvSpPr>
        <p:spPr>
          <a:xfrm>
            <a:off x="13716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information -&gt; belief</a:t>
            </a:r>
          </a:p>
        </p:txBody>
      </p:sp>
      <p:sp>
        <p:nvSpPr>
          <p:cNvPr id="17" name="矩形 16"/>
          <p:cNvSpPr>
            <a:spLocks noGrp="1"/>
          </p:cNvSpPr>
          <p:nvPr/>
        </p:nvSpPr>
        <p:spPr>
          <a:xfrm>
            <a:off x="11049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18" name="矩形 17"/>
          <p:cNvSpPr>
            <a:spLocks noGrp="1"/>
          </p:cNvSpPr>
          <p:nvPr/>
        </p:nvSpPr>
        <p:spPr>
          <a:xfrm>
            <a:off x="13716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How is a belief formed before people decide what to do?</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19" name="矩形 18"/>
          <p:cNvSpPr>
            <a:spLocks noGrp="1"/>
          </p:cNvSpPr>
          <p:nvPr/>
        </p:nvSpPr>
        <p:spPr>
          <a:xfrm>
            <a:off x="11049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20" name="矩形 19"/>
          <p:cNvSpPr>
            <a:spLocks noGrp="1"/>
          </p:cNvSpPr>
          <p:nvPr/>
        </p:nvSpPr>
        <p:spPr>
          <a:xfrm>
            <a:off x="13716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AI can shape what feels sufficient, relevant, or already processed.</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21" name="矩形 20"/>
          <p:cNvSpPr>
            <a:spLocks noGrp="1"/>
          </p:cNvSpPr>
          <p:nvPr/>
        </p:nvSpPr>
        <p:spPr>
          <a:xfrm>
            <a:off x="11049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lang="en-US" sz="900" b="0">
                <a:solidFill>
                  <a:srgbClr val="5F6775"/>
                </a:solidFill>
                <a:latin typeface="Times New Roman" panose="02020603050405020304"/>
                <a:ea typeface="Times New Roman" panose="02020603050405020304"/>
                <a:cs typeface="Times New Roman" panose="02020603050405020304"/>
              </a:rPr>
              <a:t>This is the belief-formation stage.</a:t>
            </a:r>
            <a:endParaRPr sz="900" b="0">
              <a:solidFill>
                <a:srgbClr val="5F6775"/>
              </a:solidFill>
              <a:latin typeface="Times New Roman" panose="02020603050405020304"/>
              <a:ea typeface="Times New Roman" panose="02020603050405020304"/>
              <a:cs typeface="Times New Roman" panose="02020603050405020304"/>
            </a:endParaRPr>
          </a:p>
        </p:txBody>
      </p:sp>
      <p:sp>
        <p:nvSpPr>
          <p:cNvPr id="22" name="矩形 21"/>
          <p:cNvSpPr>
            <a:spLocks noGrp="1"/>
          </p:cNvSpPr>
          <p:nvPr/>
        </p:nvSpPr>
        <p:spPr>
          <a:xfrm>
            <a:off x="4381500" y="2266950"/>
            <a:ext cx="3143250" cy="3257550"/>
          </a:xfrm>
          <a:prstGeom prst="rect">
            <a:avLst/>
          </a:prstGeom>
          <a:solidFill>
            <a:srgbClr val="FFF9F0"/>
          </a:solidFill>
          <a:ln w="9525">
            <a:solidFill>
              <a:srgbClr val="E9DDCB"/>
            </a:solidFill>
            <a:prstDash val="solid"/>
          </a:ln>
        </p:spPr>
        <p:txBody>
          <a:bodyPr/>
          <a:lstStyle/>
          <a:p>
            <a:endParaRPr/>
          </a:p>
        </p:txBody>
      </p:sp>
      <p:sp>
        <p:nvSpPr>
          <p:cNvPr id="23" name="矩形 22"/>
          <p:cNvSpPr>
            <a:spLocks noGrp="1"/>
          </p:cNvSpPr>
          <p:nvPr/>
        </p:nvSpPr>
        <p:spPr>
          <a:xfrm>
            <a:off x="4381500" y="2266950"/>
            <a:ext cx="57150" cy="3257550"/>
          </a:xfrm>
          <a:prstGeom prst="rect">
            <a:avLst/>
          </a:prstGeom>
          <a:solidFill>
            <a:srgbClr val="B45A3C"/>
          </a:solidFill>
          <a:ln w="0">
            <a:solidFill>
              <a:srgbClr val="B45A3C"/>
            </a:solidFill>
            <a:prstDash val="solid"/>
          </a:ln>
        </p:spPr>
        <p:txBody>
          <a:bodyPr/>
          <a:lstStyle/>
          <a:p>
            <a:endParaRPr/>
          </a:p>
        </p:txBody>
      </p:sp>
      <p:sp>
        <p:nvSpPr>
          <p:cNvPr id="24" name="矩形 23"/>
          <p:cNvSpPr>
            <a:spLocks noGrp="1"/>
          </p:cNvSpPr>
          <p:nvPr/>
        </p:nvSpPr>
        <p:spPr>
          <a:xfrm>
            <a:off x="45910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2</a:t>
            </a:r>
          </a:p>
        </p:txBody>
      </p:sp>
      <p:sp>
        <p:nvSpPr>
          <p:cNvPr id="25" name="矩形 24"/>
          <p:cNvSpPr>
            <a:spLocks noGrp="1"/>
          </p:cNvSpPr>
          <p:nvPr/>
        </p:nvSpPr>
        <p:spPr>
          <a:xfrm>
            <a:off x="45910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Reliance /</a:t>
            </a:r>
          </a:p>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action</a:t>
            </a:r>
          </a:p>
        </p:txBody>
      </p:sp>
      <p:sp>
        <p:nvSpPr>
          <p:cNvPr id="26" name="矩形 25"/>
          <p:cNvSpPr>
            <a:spLocks noGrp="1"/>
          </p:cNvSpPr>
          <p:nvPr/>
        </p:nvSpPr>
        <p:spPr>
          <a:xfrm>
            <a:off x="45720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27" name="矩形 26"/>
          <p:cNvSpPr>
            <a:spLocks noGrp="1"/>
          </p:cNvSpPr>
          <p:nvPr/>
        </p:nvSpPr>
        <p:spPr>
          <a:xfrm>
            <a:off x="48387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belief / feedback</a:t>
            </a:r>
          </a:p>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-&gt; action</a:t>
            </a:r>
          </a:p>
        </p:txBody>
      </p:sp>
      <p:sp>
        <p:nvSpPr>
          <p:cNvPr id="28" name="矩形 27"/>
          <p:cNvSpPr>
            <a:spLocks noGrp="1"/>
          </p:cNvSpPr>
          <p:nvPr/>
        </p:nvSpPr>
        <p:spPr>
          <a:xfrm>
            <a:off x="45720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29" name="矩形 28"/>
          <p:cNvSpPr>
            <a:spLocks noGrp="1"/>
          </p:cNvSpPr>
          <p:nvPr/>
        </p:nvSpPr>
        <p:spPr>
          <a:xfrm>
            <a:off x="48387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How does feedback reshape reliance and the threshold for action?</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30" name="矩形 29"/>
          <p:cNvSpPr>
            <a:spLocks noGrp="1"/>
          </p:cNvSpPr>
          <p:nvPr/>
        </p:nvSpPr>
        <p:spPr>
          <a:xfrm>
            <a:off x="45720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31" name="矩形 30"/>
          <p:cNvSpPr>
            <a:spLocks noGrp="1"/>
          </p:cNvSpPr>
          <p:nvPr/>
        </p:nvSpPr>
        <p:spPr>
          <a:xfrm>
            <a:off x="48387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People may rely, defer, or act differently once AI enters the process.</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32" name="矩形 31"/>
          <p:cNvSpPr>
            <a:spLocks noGrp="1"/>
          </p:cNvSpPr>
          <p:nvPr/>
        </p:nvSpPr>
        <p:spPr>
          <a:xfrm>
            <a:off x="45720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lang="en-US" sz="900" b="0">
                <a:solidFill>
                  <a:srgbClr val="5F6775"/>
                </a:solidFill>
                <a:latin typeface="Times New Roman" panose="02020603050405020304"/>
                <a:ea typeface="Times New Roman" panose="02020603050405020304"/>
                <a:cs typeface="Times New Roman" panose="02020603050405020304"/>
              </a:rPr>
              <a:t>This is the reliance-and-action stage.</a:t>
            </a:r>
            <a:endParaRPr sz="900" b="0">
              <a:solidFill>
                <a:srgbClr val="5F6775"/>
              </a:solidFill>
              <a:latin typeface="Times New Roman" panose="02020603050405020304"/>
              <a:ea typeface="Times New Roman" panose="02020603050405020304"/>
              <a:cs typeface="Times New Roman" panose="02020603050405020304"/>
            </a:endParaRPr>
          </a:p>
        </p:txBody>
      </p:sp>
      <p:sp>
        <p:nvSpPr>
          <p:cNvPr id="33" name="矩形 32"/>
          <p:cNvSpPr>
            <a:spLocks noGrp="1"/>
          </p:cNvSpPr>
          <p:nvPr/>
        </p:nvSpPr>
        <p:spPr>
          <a:xfrm>
            <a:off x="7848600" y="2266950"/>
            <a:ext cx="3143250" cy="3257550"/>
          </a:xfrm>
          <a:prstGeom prst="rect">
            <a:avLst/>
          </a:prstGeom>
          <a:solidFill>
            <a:srgbClr val="FFF9F0"/>
          </a:solidFill>
          <a:ln w="9525">
            <a:solidFill>
              <a:srgbClr val="E9DDCB"/>
            </a:solidFill>
            <a:prstDash val="solid"/>
          </a:ln>
        </p:spPr>
        <p:txBody>
          <a:bodyPr/>
          <a:lstStyle/>
          <a:p>
            <a:endParaRPr/>
          </a:p>
        </p:txBody>
      </p:sp>
      <p:sp>
        <p:nvSpPr>
          <p:cNvPr id="34" name="矩形 33"/>
          <p:cNvSpPr>
            <a:spLocks noGrp="1"/>
          </p:cNvSpPr>
          <p:nvPr/>
        </p:nvSpPr>
        <p:spPr>
          <a:xfrm>
            <a:off x="7848600" y="2266950"/>
            <a:ext cx="57150" cy="3257550"/>
          </a:xfrm>
          <a:prstGeom prst="rect">
            <a:avLst/>
          </a:prstGeom>
          <a:solidFill>
            <a:srgbClr val="B45A3C"/>
          </a:solidFill>
          <a:ln w="0">
            <a:solidFill>
              <a:srgbClr val="B45A3C"/>
            </a:solidFill>
            <a:prstDash val="solid"/>
          </a:ln>
        </p:spPr>
        <p:txBody>
          <a:bodyPr/>
          <a:lstStyle/>
          <a:p>
            <a:endParaRPr/>
          </a:p>
        </p:txBody>
      </p:sp>
      <p:sp>
        <p:nvSpPr>
          <p:cNvPr id="35" name="矩形 34"/>
          <p:cNvSpPr>
            <a:spLocks noGrp="1"/>
          </p:cNvSpPr>
          <p:nvPr/>
        </p:nvSpPr>
        <p:spPr>
          <a:xfrm>
            <a:off x="8058150" y="2419350"/>
            <a:ext cx="272415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B45A3C"/>
                </a:solidFill>
                <a:latin typeface="Times New Roman" panose="02020603050405020304"/>
                <a:ea typeface="Times New Roman" panose="02020603050405020304"/>
                <a:cs typeface="Times New Roman" panose="02020603050405020304"/>
              </a:defRPr>
            </a:pPr>
            <a:r>
              <a:rPr sz="900" b="1">
                <a:solidFill>
                  <a:srgbClr val="B45A3C"/>
                </a:solidFill>
                <a:latin typeface="Times New Roman" panose="02020603050405020304"/>
                <a:ea typeface="Times New Roman" panose="02020603050405020304"/>
                <a:cs typeface="Times New Roman" panose="02020603050405020304"/>
              </a:rPr>
              <a:t>STAGE 3</a:t>
            </a:r>
          </a:p>
        </p:txBody>
      </p:sp>
      <p:sp>
        <p:nvSpPr>
          <p:cNvPr id="36" name="矩形 35"/>
          <p:cNvSpPr>
            <a:spLocks noGrp="1"/>
          </p:cNvSpPr>
          <p:nvPr/>
        </p:nvSpPr>
        <p:spPr>
          <a:xfrm>
            <a:off x="8058150" y="2590800"/>
            <a:ext cx="2724150" cy="400050"/>
          </a:xfrm>
          <a:prstGeom prst="rect">
            <a:avLst/>
          </a:prstGeom>
          <a:solidFill>
            <a:srgbClr val="000000">
              <a:alpha val="0"/>
            </a:srgbClr>
          </a:solidFill>
          <a:ln w="0">
            <a:solidFill>
              <a:srgbClr val="000000">
                <a:alpha val="0"/>
              </a:srgbClr>
            </a:solidFill>
            <a:prstDash val="solid"/>
          </a:ln>
        </p:spPr>
        <p:txBody>
          <a:bodyPr lIns="0" tIns="0" rIns="0" bIns="0" anchor="ctr"/>
          <a:lstStyle/>
          <a:p>
            <a:pPr algn="l">
              <a:buNone/>
              <a:defRPr sz="1500" b="1">
                <a:solidFill>
                  <a:srgbClr val="1D2433"/>
                </a:solidFill>
                <a:latin typeface="Times New Roman" panose="02020603050405020304"/>
                <a:ea typeface="Times New Roman" panose="02020603050405020304"/>
                <a:cs typeface="Times New Roman" panose="02020603050405020304"/>
              </a:defRPr>
            </a:pPr>
            <a:r>
              <a:rPr sz="1500" b="1">
                <a:solidFill>
                  <a:srgbClr val="1D2433"/>
                </a:solidFill>
                <a:latin typeface="Times New Roman" panose="02020603050405020304"/>
                <a:ea typeface="Times New Roman" panose="02020603050405020304"/>
                <a:cs typeface="Times New Roman" panose="02020603050405020304"/>
              </a:rPr>
              <a:t>Responsibility</a:t>
            </a:r>
          </a:p>
        </p:txBody>
      </p:sp>
      <p:sp>
        <p:nvSpPr>
          <p:cNvPr id="37" name="矩形 36"/>
          <p:cNvSpPr>
            <a:spLocks noGrp="1"/>
          </p:cNvSpPr>
          <p:nvPr/>
        </p:nvSpPr>
        <p:spPr>
          <a:xfrm>
            <a:off x="8039100" y="29908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38" name="矩形 37"/>
          <p:cNvSpPr>
            <a:spLocks noGrp="1"/>
          </p:cNvSpPr>
          <p:nvPr/>
        </p:nvSpPr>
        <p:spPr>
          <a:xfrm>
            <a:off x="8305800" y="29718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sz="1275" b="0">
                <a:solidFill>
                  <a:srgbClr val="1D2433"/>
                </a:solidFill>
                <a:latin typeface="Times New Roman" panose="02020603050405020304"/>
                <a:ea typeface="Times New Roman" panose="02020603050405020304"/>
                <a:cs typeface="Times New Roman" panose="02020603050405020304"/>
              </a:rPr>
              <a:t>action -&gt; consequence</a:t>
            </a:r>
          </a:p>
        </p:txBody>
      </p:sp>
      <p:sp>
        <p:nvSpPr>
          <p:cNvPr id="39" name="矩形 38"/>
          <p:cNvSpPr>
            <a:spLocks noGrp="1"/>
          </p:cNvSpPr>
          <p:nvPr/>
        </p:nvSpPr>
        <p:spPr>
          <a:xfrm>
            <a:off x="8039100" y="36766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40" name="矩形 39"/>
          <p:cNvSpPr>
            <a:spLocks noGrp="1"/>
          </p:cNvSpPr>
          <p:nvPr/>
        </p:nvSpPr>
        <p:spPr>
          <a:xfrm>
            <a:off x="8305800" y="36576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How is responsibility understood once action produces consequences?</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41" name="矩形 40"/>
          <p:cNvSpPr>
            <a:spLocks noGrp="1"/>
          </p:cNvSpPr>
          <p:nvPr/>
        </p:nvSpPr>
        <p:spPr>
          <a:xfrm>
            <a:off x="8039100" y="4362450"/>
            <a:ext cx="228600" cy="533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1">
                <a:solidFill>
                  <a:srgbClr val="B45A3C"/>
                </a:solidFill>
                <a:latin typeface="Times New Roman" panose="02020603050405020304"/>
                <a:ea typeface="Times New Roman" panose="02020603050405020304"/>
                <a:cs typeface="Times New Roman" panose="02020603050405020304"/>
              </a:defRPr>
            </a:pPr>
            <a:r>
              <a:rPr sz="1275" b="1">
                <a:solidFill>
                  <a:srgbClr val="B45A3C"/>
                </a:solidFill>
                <a:latin typeface="Aptos"/>
                <a:ea typeface="Aptos"/>
                <a:cs typeface="Aptos"/>
              </a:rPr>
              <a:t>-</a:t>
            </a:r>
          </a:p>
        </p:txBody>
      </p:sp>
      <p:sp>
        <p:nvSpPr>
          <p:cNvPr id="42" name="矩形 41"/>
          <p:cNvSpPr>
            <a:spLocks noGrp="1"/>
          </p:cNvSpPr>
          <p:nvPr/>
        </p:nvSpPr>
        <p:spPr>
          <a:xfrm>
            <a:off x="8305800" y="4343400"/>
            <a:ext cx="2476500" cy="704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75" b="0">
                <a:solidFill>
                  <a:srgbClr val="1D2433"/>
                </a:solidFill>
                <a:latin typeface="Times New Roman" panose="02020603050405020304"/>
                <a:ea typeface="Times New Roman" panose="02020603050405020304"/>
                <a:cs typeface="Times New Roman" panose="02020603050405020304"/>
              </a:defRPr>
            </a:pPr>
            <a:r>
              <a:rPr lang="en-US" sz="1275" b="0">
                <a:solidFill>
                  <a:srgbClr val="1D2433"/>
                </a:solidFill>
                <a:latin typeface="Times New Roman" panose="02020603050405020304"/>
                <a:ea typeface="Times New Roman" panose="02020603050405020304"/>
                <a:cs typeface="Times New Roman" panose="02020603050405020304"/>
              </a:rPr>
              <a:t>AI can also reshape ownership and responsibility after outcomes occur.</a:t>
            </a:r>
            <a:endParaRPr sz="1275" b="0">
              <a:solidFill>
                <a:srgbClr val="1D2433"/>
              </a:solidFill>
              <a:latin typeface="Times New Roman" panose="02020603050405020304"/>
              <a:ea typeface="Times New Roman" panose="02020603050405020304"/>
              <a:cs typeface="Times New Roman" panose="02020603050405020304"/>
            </a:endParaRPr>
          </a:p>
        </p:txBody>
      </p:sp>
      <p:sp>
        <p:nvSpPr>
          <p:cNvPr id="43" name="矩形 42"/>
          <p:cNvSpPr>
            <a:spLocks noGrp="1"/>
          </p:cNvSpPr>
          <p:nvPr/>
        </p:nvSpPr>
        <p:spPr>
          <a:xfrm>
            <a:off x="8039100" y="5010150"/>
            <a:ext cx="272415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5F6775"/>
                </a:solidFill>
                <a:latin typeface="Times New Roman" panose="02020603050405020304"/>
                <a:ea typeface="Times New Roman" panose="02020603050405020304"/>
                <a:cs typeface="Times New Roman" panose="02020603050405020304"/>
              </a:defRPr>
            </a:pPr>
            <a:r>
              <a:rPr lang="en-US" sz="900" b="0">
                <a:solidFill>
                  <a:srgbClr val="5F6775"/>
                </a:solidFill>
                <a:latin typeface="Times New Roman" panose="02020603050405020304"/>
                <a:ea typeface="Times New Roman" panose="02020603050405020304"/>
                <a:cs typeface="Times New Roman" panose="02020603050405020304"/>
              </a:rPr>
              <a:t>This is the responsibility stage.</a:t>
            </a:r>
            <a:endParaRPr sz="900" b="0">
              <a:solidFill>
                <a:srgbClr val="5F6775"/>
              </a:solidFill>
              <a:latin typeface="Times New Roman" panose="02020603050405020304"/>
              <a:ea typeface="Times New Roman" panose="02020603050405020304"/>
              <a:cs typeface="Times New Roman" panose="020206030504050203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a:extLst>
              <a:ext uri="{FF2B5EF4-FFF2-40B4-BE49-F238E27FC236}">
                <a16:creationId xmlns:a16="http://schemas.microsoft.com/office/drawing/2014/main" id="{32EC43C7-F9AF-C39B-E29C-8CBE29A25FA9}"/>
              </a:ext>
            </a:extLst>
          </p:cNvPr>
          <p:cNvSpPr/>
          <p:nvPr/>
        </p:nvSpPr>
        <p:spPr>
          <a:xfrm>
            <a:off x="533400" y="533400"/>
            <a:ext cx="15240" cy="5486400"/>
          </a:xfrm>
          <a:prstGeom prst="rect">
            <a:avLst/>
          </a:prstGeom>
          <a:solidFill>
            <a:srgbClr val="E4D8C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2" name="矩形 31">
            <a:extLst>
              <a:ext uri="{FF2B5EF4-FFF2-40B4-BE49-F238E27FC236}">
                <a16:creationId xmlns:a16="http://schemas.microsoft.com/office/drawing/2014/main" id="{2249FD32-D010-7615-E715-C8E9F67AD8B3}"/>
              </a:ext>
            </a:extLst>
          </p:cNvPr>
          <p:cNvSpPr/>
          <p:nvPr/>
        </p:nvSpPr>
        <p:spPr>
          <a:xfrm>
            <a:off x="889000" y="622300"/>
            <a:ext cx="165100" cy="165100"/>
          </a:xfrm>
          <a:prstGeom prst="rect">
            <a:avLst/>
          </a:prstGeom>
          <a:solidFill>
            <a:srgbClr val="B4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文本框 32">
            <a:extLst>
              <a:ext uri="{FF2B5EF4-FFF2-40B4-BE49-F238E27FC236}">
                <a16:creationId xmlns:a16="http://schemas.microsoft.com/office/drawing/2014/main" id="{D2584FF0-2196-F34E-FCAB-11045771C7EB}"/>
              </a:ext>
            </a:extLst>
          </p:cNvPr>
          <p:cNvSpPr txBox="1"/>
          <p:nvPr/>
        </p:nvSpPr>
        <p:spPr>
          <a:xfrm>
            <a:off x="1168400" y="596900"/>
            <a:ext cx="3302000" cy="369332"/>
          </a:xfrm>
          <a:prstGeom prst="rect">
            <a:avLst/>
          </a:prstGeom>
          <a:noFill/>
        </p:spPr>
        <p:txBody>
          <a:bodyPr vert="horz" wrap="square" lIns="0" tIns="0" rIns="0" bIns="0" rtlCol="0">
            <a:noAutofit/>
          </a:bodyPr>
          <a:lstStyle/>
          <a:p>
            <a:r>
              <a:rPr lang="en-US" altLang="zh-CN" sz="950" b="1">
                <a:solidFill>
                  <a:srgbClr val="B45A3C"/>
                </a:solidFill>
                <a:latin typeface="Times New Roman" panose="02020603050405020304" pitchFamily="18" charset="0"/>
              </a:rPr>
              <a:t>TRANSITION TO PAPER 1</a:t>
            </a:r>
            <a:endParaRPr lang="zh-CN" altLang="en-US" sz="950" b="1">
              <a:solidFill>
                <a:srgbClr val="B45A3C"/>
              </a:solidFill>
              <a:latin typeface="Times New Roman" panose="02020603050405020304" pitchFamily="18" charset="0"/>
            </a:endParaRPr>
          </a:p>
        </p:txBody>
      </p:sp>
      <p:sp>
        <p:nvSpPr>
          <p:cNvPr id="34" name="文本框 33">
            <a:extLst>
              <a:ext uri="{FF2B5EF4-FFF2-40B4-BE49-F238E27FC236}">
                <a16:creationId xmlns:a16="http://schemas.microsoft.com/office/drawing/2014/main" id="{76E467F6-0D71-E87A-1948-09E2AC69D292}"/>
              </a:ext>
            </a:extLst>
          </p:cNvPr>
          <p:cNvSpPr txBox="1"/>
          <p:nvPr/>
        </p:nvSpPr>
        <p:spPr>
          <a:xfrm>
            <a:off x="889000" y="965200"/>
            <a:ext cx="9652000" cy="369332"/>
          </a:xfrm>
          <a:prstGeom prst="rect">
            <a:avLst/>
          </a:prstGeom>
          <a:noFill/>
        </p:spPr>
        <p:txBody>
          <a:bodyPr vert="horz" wrap="square" lIns="0" tIns="0" rIns="0" bIns="0" rtlCol="0">
            <a:noAutofit/>
          </a:bodyPr>
          <a:lstStyle/>
          <a:p>
            <a:r>
              <a:rPr lang="en-US" altLang="zh-CN" sz="2800" b="1">
                <a:solidFill>
                  <a:srgbClr val="203443"/>
                </a:solidFill>
                <a:latin typeface="Times New Roman" panose="02020603050405020304" pitchFamily="18" charset="0"/>
              </a:rPr>
              <a:t>Why begin with belief formation?</a:t>
            </a:r>
            <a:endParaRPr lang="zh-CN" altLang="en-US" sz="2800" b="1">
              <a:solidFill>
                <a:srgbClr val="203443"/>
              </a:solidFill>
              <a:latin typeface="Times New Roman" panose="02020603050405020304" pitchFamily="18" charset="0"/>
            </a:endParaRPr>
          </a:p>
        </p:txBody>
      </p:sp>
      <p:sp>
        <p:nvSpPr>
          <p:cNvPr id="35" name="文本框 34">
            <a:extLst>
              <a:ext uri="{FF2B5EF4-FFF2-40B4-BE49-F238E27FC236}">
                <a16:creationId xmlns:a16="http://schemas.microsoft.com/office/drawing/2014/main" id="{49E643EE-8F2C-D44E-57DF-55B79FB0F5F4}"/>
              </a:ext>
            </a:extLst>
          </p:cNvPr>
          <p:cNvSpPr txBox="1"/>
          <p:nvPr/>
        </p:nvSpPr>
        <p:spPr>
          <a:xfrm>
            <a:off x="889000" y="1536700"/>
            <a:ext cx="9906000" cy="369332"/>
          </a:xfrm>
          <a:prstGeom prst="rect">
            <a:avLst/>
          </a:prstGeom>
          <a:noFill/>
        </p:spPr>
        <p:txBody>
          <a:bodyPr vert="horz" wrap="square" lIns="0" tIns="0" rIns="0" bIns="0" rtlCol="0">
            <a:noAutofit/>
          </a:bodyPr>
          <a:lstStyle/>
          <a:p>
            <a:r>
              <a:rPr lang="en-US" altLang="zh-CN" sz="1550">
                <a:solidFill>
                  <a:srgbClr val="6B716F"/>
                </a:solidFill>
                <a:latin typeface="Times New Roman" panose="02020603050405020304" pitchFamily="18" charset="0"/>
              </a:rPr>
              <a:t>Paper 1 is the upstream test: before people rely on AI, act with AI, or assign responsibility, they first form a belief about the situation.</a:t>
            </a:r>
            <a:endParaRPr lang="zh-CN" altLang="en-US" sz="1550">
              <a:solidFill>
                <a:srgbClr val="6B716F"/>
              </a:solidFill>
              <a:latin typeface="Times New Roman" panose="02020603050405020304" pitchFamily="18" charset="0"/>
            </a:endParaRPr>
          </a:p>
        </p:txBody>
      </p:sp>
      <p:sp>
        <p:nvSpPr>
          <p:cNvPr id="36" name="矩形 35">
            <a:extLst>
              <a:ext uri="{FF2B5EF4-FFF2-40B4-BE49-F238E27FC236}">
                <a16:creationId xmlns:a16="http://schemas.microsoft.com/office/drawing/2014/main" id="{E5D82534-A780-4EC6-EC77-6946F4250A8F}"/>
              </a:ext>
            </a:extLst>
          </p:cNvPr>
          <p:cNvSpPr/>
          <p:nvPr/>
        </p:nvSpPr>
        <p:spPr>
          <a:xfrm>
            <a:off x="889000" y="2311400"/>
            <a:ext cx="2235200" cy="1549400"/>
          </a:xfrm>
          <a:prstGeom prst="rect">
            <a:avLst/>
          </a:prstGeom>
          <a:solidFill>
            <a:srgbClr val="FFFDF8"/>
          </a:solidFill>
          <a:ln w="9525">
            <a:solidFill>
              <a:srgbClr val="E4D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矩形 36">
            <a:extLst>
              <a:ext uri="{FF2B5EF4-FFF2-40B4-BE49-F238E27FC236}">
                <a16:creationId xmlns:a16="http://schemas.microsoft.com/office/drawing/2014/main" id="{CC641886-50B7-4B0E-42FA-1E42C524DBB8}"/>
              </a:ext>
            </a:extLst>
          </p:cNvPr>
          <p:cNvSpPr/>
          <p:nvPr/>
        </p:nvSpPr>
        <p:spPr>
          <a:xfrm>
            <a:off x="889000" y="2311400"/>
            <a:ext cx="38100" cy="1549400"/>
          </a:xfrm>
          <a:prstGeom prst="rect">
            <a:avLst/>
          </a:prstGeom>
          <a:solidFill>
            <a:srgbClr val="B4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文本框 37">
            <a:extLst>
              <a:ext uri="{FF2B5EF4-FFF2-40B4-BE49-F238E27FC236}">
                <a16:creationId xmlns:a16="http://schemas.microsoft.com/office/drawing/2014/main" id="{06584C54-5768-8038-8051-EBCC36BB7943}"/>
              </a:ext>
            </a:extLst>
          </p:cNvPr>
          <p:cNvSpPr txBox="1"/>
          <p:nvPr/>
        </p:nvSpPr>
        <p:spPr>
          <a:xfrm>
            <a:off x="1054100" y="2489200"/>
            <a:ext cx="1905000" cy="369332"/>
          </a:xfrm>
          <a:prstGeom prst="rect">
            <a:avLst/>
          </a:prstGeom>
          <a:noFill/>
        </p:spPr>
        <p:txBody>
          <a:bodyPr vert="horz" wrap="square" lIns="0" tIns="0" rIns="0" bIns="0" rtlCol="0">
            <a:noAutofit/>
          </a:bodyPr>
          <a:lstStyle/>
          <a:p>
            <a:r>
              <a:rPr lang="en-US" altLang="zh-CN" sz="1600" b="1">
                <a:solidFill>
                  <a:srgbClr val="B45A3C"/>
                </a:solidFill>
                <a:latin typeface="Times New Roman" panose="02020603050405020304" pitchFamily="18" charset="0"/>
              </a:rPr>
              <a:t>1. Answer first</a:t>
            </a:r>
            <a:endParaRPr lang="zh-CN" altLang="en-US" sz="1600" b="1">
              <a:solidFill>
                <a:srgbClr val="B45A3C"/>
              </a:solidFill>
              <a:latin typeface="Times New Roman" panose="02020603050405020304" pitchFamily="18" charset="0"/>
            </a:endParaRPr>
          </a:p>
        </p:txBody>
      </p:sp>
      <p:sp>
        <p:nvSpPr>
          <p:cNvPr id="39" name="文本框 38">
            <a:extLst>
              <a:ext uri="{FF2B5EF4-FFF2-40B4-BE49-F238E27FC236}">
                <a16:creationId xmlns:a16="http://schemas.microsoft.com/office/drawing/2014/main" id="{D253F708-1AE9-A020-AB06-DB43E9AFE500}"/>
              </a:ext>
            </a:extLst>
          </p:cNvPr>
          <p:cNvSpPr txBox="1"/>
          <p:nvPr/>
        </p:nvSpPr>
        <p:spPr>
          <a:xfrm>
            <a:off x="1054100" y="2882900"/>
            <a:ext cx="1905000" cy="369332"/>
          </a:xfrm>
          <a:prstGeom prst="rect">
            <a:avLst/>
          </a:prstGeom>
          <a:noFill/>
        </p:spPr>
        <p:txBody>
          <a:bodyPr vert="horz" wrap="square" lIns="0" tIns="0" rIns="0" bIns="0" rtlCol="0">
            <a:noAutofit/>
          </a:bodyPr>
          <a:lstStyle/>
          <a:p>
            <a:r>
              <a:rPr lang="en-US" altLang="zh-CN" sz="1350">
                <a:solidFill>
                  <a:srgbClr val="203443"/>
                </a:solidFill>
                <a:latin typeface="Times New Roman" panose="02020603050405020304" pitchFamily="18" charset="0"/>
              </a:rPr>
              <a:t>AI gives a coherent answer before the user personally inspects the evidence.</a:t>
            </a:r>
            <a:endParaRPr lang="zh-CN" altLang="en-US" sz="1350">
              <a:solidFill>
                <a:srgbClr val="203443"/>
              </a:solidFill>
              <a:latin typeface="Times New Roman" panose="02020603050405020304" pitchFamily="18" charset="0"/>
            </a:endParaRPr>
          </a:p>
        </p:txBody>
      </p:sp>
      <p:sp>
        <p:nvSpPr>
          <p:cNvPr id="40" name="矩形 39">
            <a:extLst>
              <a:ext uri="{FF2B5EF4-FFF2-40B4-BE49-F238E27FC236}">
                <a16:creationId xmlns:a16="http://schemas.microsoft.com/office/drawing/2014/main" id="{43015A96-75C8-4041-531C-9219CAF72BB9}"/>
              </a:ext>
            </a:extLst>
          </p:cNvPr>
          <p:cNvSpPr/>
          <p:nvPr/>
        </p:nvSpPr>
        <p:spPr>
          <a:xfrm>
            <a:off x="3454400" y="2311400"/>
            <a:ext cx="2235200" cy="1549400"/>
          </a:xfrm>
          <a:prstGeom prst="rect">
            <a:avLst/>
          </a:prstGeom>
          <a:solidFill>
            <a:srgbClr val="FFFDF8"/>
          </a:solidFill>
          <a:ln w="9525">
            <a:solidFill>
              <a:srgbClr val="E4D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矩形 40">
            <a:extLst>
              <a:ext uri="{FF2B5EF4-FFF2-40B4-BE49-F238E27FC236}">
                <a16:creationId xmlns:a16="http://schemas.microsoft.com/office/drawing/2014/main" id="{ABACE69D-331F-8E4E-7FE7-7640D5AC02FC}"/>
              </a:ext>
            </a:extLst>
          </p:cNvPr>
          <p:cNvSpPr/>
          <p:nvPr/>
        </p:nvSpPr>
        <p:spPr>
          <a:xfrm>
            <a:off x="3454400" y="2311400"/>
            <a:ext cx="38100" cy="1549400"/>
          </a:xfrm>
          <a:prstGeom prst="rect">
            <a:avLst/>
          </a:prstGeom>
          <a:solidFill>
            <a:srgbClr val="B4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文本框 41">
            <a:extLst>
              <a:ext uri="{FF2B5EF4-FFF2-40B4-BE49-F238E27FC236}">
                <a16:creationId xmlns:a16="http://schemas.microsoft.com/office/drawing/2014/main" id="{10BA8EA1-3AF8-FE41-49DE-DA101CF37DCF}"/>
              </a:ext>
            </a:extLst>
          </p:cNvPr>
          <p:cNvSpPr txBox="1"/>
          <p:nvPr/>
        </p:nvSpPr>
        <p:spPr>
          <a:xfrm>
            <a:off x="3619500" y="2489200"/>
            <a:ext cx="1905000" cy="369332"/>
          </a:xfrm>
          <a:prstGeom prst="rect">
            <a:avLst/>
          </a:prstGeom>
          <a:noFill/>
        </p:spPr>
        <p:txBody>
          <a:bodyPr vert="horz" wrap="square" lIns="0" tIns="0" rIns="0" bIns="0" rtlCol="0">
            <a:noAutofit/>
          </a:bodyPr>
          <a:lstStyle/>
          <a:p>
            <a:r>
              <a:rPr lang="en-US" altLang="zh-CN" sz="1600" b="1">
                <a:solidFill>
                  <a:srgbClr val="B45A3C"/>
                </a:solidFill>
                <a:latin typeface="Times New Roman" panose="02020603050405020304" pitchFamily="18" charset="0"/>
              </a:rPr>
              <a:t>2. Search threshold</a:t>
            </a:r>
            <a:endParaRPr lang="zh-CN" altLang="en-US" sz="1600" b="1">
              <a:solidFill>
                <a:srgbClr val="B45A3C"/>
              </a:solidFill>
              <a:latin typeface="Times New Roman" panose="02020603050405020304" pitchFamily="18" charset="0"/>
            </a:endParaRPr>
          </a:p>
        </p:txBody>
      </p:sp>
      <p:sp>
        <p:nvSpPr>
          <p:cNvPr id="43" name="文本框 42">
            <a:extLst>
              <a:ext uri="{FF2B5EF4-FFF2-40B4-BE49-F238E27FC236}">
                <a16:creationId xmlns:a16="http://schemas.microsoft.com/office/drawing/2014/main" id="{EEE41F1B-318A-3340-5CDA-E696666FE119}"/>
              </a:ext>
            </a:extLst>
          </p:cNvPr>
          <p:cNvSpPr txBox="1"/>
          <p:nvPr/>
        </p:nvSpPr>
        <p:spPr>
          <a:xfrm>
            <a:off x="3619500" y="2882900"/>
            <a:ext cx="1905000" cy="369332"/>
          </a:xfrm>
          <a:prstGeom prst="rect">
            <a:avLst/>
          </a:prstGeom>
          <a:noFill/>
        </p:spPr>
        <p:txBody>
          <a:bodyPr vert="horz" wrap="square" lIns="0" tIns="0" rIns="0" bIns="0" rtlCol="0">
            <a:noAutofit/>
          </a:bodyPr>
          <a:lstStyle/>
          <a:p>
            <a:r>
              <a:rPr lang="en-US" altLang="zh-CN" sz="1350">
                <a:solidFill>
                  <a:srgbClr val="203443"/>
                </a:solidFill>
                <a:latin typeface="Times New Roman" panose="02020603050405020304" pitchFamily="18" charset="0"/>
              </a:rPr>
              <a:t>The user decides whether more evidence is still worth the cost.</a:t>
            </a:r>
            <a:endParaRPr lang="zh-CN" altLang="en-US" sz="1350">
              <a:solidFill>
                <a:srgbClr val="203443"/>
              </a:solidFill>
              <a:latin typeface="Times New Roman" panose="02020603050405020304" pitchFamily="18" charset="0"/>
            </a:endParaRPr>
          </a:p>
        </p:txBody>
      </p:sp>
      <p:sp>
        <p:nvSpPr>
          <p:cNvPr id="44" name="矩形 43">
            <a:extLst>
              <a:ext uri="{FF2B5EF4-FFF2-40B4-BE49-F238E27FC236}">
                <a16:creationId xmlns:a16="http://schemas.microsoft.com/office/drawing/2014/main" id="{C888BF59-DF7E-6AF0-452B-2E0081D38D66}"/>
              </a:ext>
            </a:extLst>
          </p:cNvPr>
          <p:cNvSpPr/>
          <p:nvPr/>
        </p:nvSpPr>
        <p:spPr>
          <a:xfrm>
            <a:off x="6019800" y="2311400"/>
            <a:ext cx="2235200" cy="1549400"/>
          </a:xfrm>
          <a:prstGeom prst="rect">
            <a:avLst/>
          </a:prstGeom>
          <a:solidFill>
            <a:srgbClr val="FFFDF8"/>
          </a:solidFill>
          <a:ln w="9525">
            <a:solidFill>
              <a:srgbClr val="E4D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矩形 44">
            <a:extLst>
              <a:ext uri="{FF2B5EF4-FFF2-40B4-BE49-F238E27FC236}">
                <a16:creationId xmlns:a16="http://schemas.microsoft.com/office/drawing/2014/main" id="{8A7DAFBE-8217-E232-9C4F-3FC96E4F6014}"/>
              </a:ext>
            </a:extLst>
          </p:cNvPr>
          <p:cNvSpPr/>
          <p:nvPr/>
        </p:nvSpPr>
        <p:spPr>
          <a:xfrm>
            <a:off x="6019800" y="2311400"/>
            <a:ext cx="38100" cy="1549400"/>
          </a:xfrm>
          <a:prstGeom prst="rect">
            <a:avLst/>
          </a:prstGeom>
          <a:solidFill>
            <a:srgbClr val="B4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文本框 45">
            <a:extLst>
              <a:ext uri="{FF2B5EF4-FFF2-40B4-BE49-F238E27FC236}">
                <a16:creationId xmlns:a16="http://schemas.microsoft.com/office/drawing/2014/main" id="{1AC35FFB-5AB1-137B-A9A9-200407F1D76A}"/>
              </a:ext>
            </a:extLst>
          </p:cNvPr>
          <p:cNvSpPr txBox="1"/>
          <p:nvPr/>
        </p:nvSpPr>
        <p:spPr>
          <a:xfrm>
            <a:off x="6184900" y="2489200"/>
            <a:ext cx="1905000" cy="369332"/>
          </a:xfrm>
          <a:prstGeom prst="rect">
            <a:avLst/>
          </a:prstGeom>
          <a:noFill/>
        </p:spPr>
        <p:txBody>
          <a:bodyPr vert="horz" wrap="square" lIns="0" tIns="0" rIns="0" bIns="0" rtlCol="0">
            <a:noAutofit/>
          </a:bodyPr>
          <a:lstStyle/>
          <a:p>
            <a:r>
              <a:rPr lang="en-US" altLang="zh-CN" sz="1600" b="1">
                <a:solidFill>
                  <a:srgbClr val="B45A3C"/>
                </a:solidFill>
                <a:latin typeface="Times New Roman" panose="02020603050405020304" pitchFamily="18" charset="0"/>
              </a:rPr>
              <a:t>3. Posterior belief</a:t>
            </a:r>
            <a:endParaRPr lang="zh-CN" altLang="en-US" sz="1600" b="1">
              <a:solidFill>
                <a:srgbClr val="B45A3C"/>
              </a:solidFill>
              <a:latin typeface="Times New Roman" panose="02020603050405020304" pitchFamily="18" charset="0"/>
            </a:endParaRPr>
          </a:p>
        </p:txBody>
      </p:sp>
      <p:sp>
        <p:nvSpPr>
          <p:cNvPr id="47" name="文本框 46">
            <a:extLst>
              <a:ext uri="{FF2B5EF4-FFF2-40B4-BE49-F238E27FC236}">
                <a16:creationId xmlns:a16="http://schemas.microsoft.com/office/drawing/2014/main" id="{C5486BD5-2133-1EDE-FE34-6D209533D98C}"/>
              </a:ext>
            </a:extLst>
          </p:cNvPr>
          <p:cNvSpPr txBox="1"/>
          <p:nvPr/>
        </p:nvSpPr>
        <p:spPr>
          <a:xfrm>
            <a:off x="6184900" y="2882900"/>
            <a:ext cx="1905000" cy="369332"/>
          </a:xfrm>
          <a:prstGeom prst="rect">
            <a:avLst/>
          </a:prstGeom>
          <a:noFill/>
        </p:spPr>
        <p:txBody>
          <a:bodyPr vert="horz" wrap="square" lIns="0" tIns="0" rIns="0" bIns="0" rtlCol="0">
            <a:noAutofit/>
          </a:bodyPr>
          <a:lstStyle/>
          <a:p>
            <a:r>
              <a:rPr lang="en-US" altLang="zh-CN" sz="1350">
                <a:solidFill>
                  <a:srgbClr val="203443"/>
                </a:solidFill>
                <a:latin typeface="Times New Roman" panose="02020603050405020304" pitchFamily="18" charset="0"/>
              </a:rPr>
              <a:t>Judgment quality depends on both evidence seen and Bayesian updating.</a:t>
            </a:r>
            <a:endParaRPr lang="zh-CN" altLang="en-US" sz="1350">
              <a:solidFill>
                <a:srgbClr val="203443"/>
              </a:solidFill>
              <a:latin typeface="Times New Roman" panose="02020603050405020304" pitchFamily="18" charset="0"/>
            </a:endParaRPr>
          </a:p>
        </p:txBody>
      </p:sp>
      <p:sp>
        <p:nvSpPr>
          <p:cNvPr id="48" name="矩形 47">
            <a:extLst>
              <a:ext uri="{FF2B5EF4-FFF2-40B4-BE49-F238E27FC236}">
                <a16:creationId xmlns:a16="http://schemas.microsoft.com/office/drawing/2014/main" id="{30C37A4C-4307-D1BB-D01C-72F21401CF37}"/>
              </a:ext>
            </a:extLst>
          </p:cNvPr>
          <p:cNvSpPr/>
          <p:nvPr/>
        </p:nvSpPr>
        <p:spPr>
          <a:xfrm>
            <a:off x="8585200" y="2311400"/>
            <a:ext cx="2235200" cy="1549400"/>
          </a:xfrm>
          <a:prstGeom prst="rect">
            <a:avLst/>
          </a:prstGeom>
          <a:solidFill>
            <a:srgbClr val="FFFDF8"/>
          </a:solidFill>
          <a:ln w="9525">
            <a:solidFill>
              <a:srgbClr val="E4D8C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9" name="矩形 48">
            <a:extLst>
              <a:ext uri="{FF2B5EF4-FFF2-40B4-BE49-F238E27FC236}">
                <a16:creationId xmlns:a16="http://schemas.microsoft.com/office/drawing/2014/main" id="{7C1535AC-0A02-A353-4842-E511CFA8830F}"/>
              </a:ext>
            </a:extLst>
          </p:cNvPr>
          <p:cNvSpPr/>
          <p:nvPr/>
        </p:nvSpPr>
        <p:spPr>
          <a:xfrm>
            <a:off x="8585200" y="2311400"/>
            <a:ext cx="38100" cy="1549400"/>
          </a:xfrm>
          <a:prstGeom prst="rect">
            <a:avLst/>
          </a:prstGeom>
          <a:solidFill>
            <a:srgbClr val="B4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0" name="文本框 49">
            <a:extLst>
              <a:ext uri="{FF2B5EF4-FFF2-40B4-BE49-F238E27FC236}">
                <a16:creationId xmlns:a16="http://schemas.microsoft.com/office/drawing/2014/main" id="{8A00EDDE-A09C-5455-C1EF-F1B88531809E}"/>
              </a:ext>
            </a:extLst>
          </p:cNvPr>
          <p:cNvSpPr txBox="1"/>
          <p:nvPr/>
        </p:nvSpPr>
        <p:spPr>
          <a:xfrm>
            <a:off x="8750300" y="2489200"/>
            <a:ext cx="1905000" cy="369332"/>
          </a:xfrm>
          <a:prstGeom prst="rect">
            <a:avLst/>
          </a:prstGeom>
          <a:noFill/>
        </p:spPr>
        <p:txBody>
          <a:bodyPr vert="horz" wrap="square" lIns="0" tIns="0" rIns="0" bIns="0" rtlCol="0">
            <a:noAutofit/>
          </a:bodyPr>
          <a:lstStyle/>
          <a:p>
            <a:r>
              <a:rPr lang="en-US" altLang="zh-CN" sz="1600" b="1">
                <a:solidFill>
                  <a:srgbClr val="B45A3C"/>
                </a:solidFill>
                <a:latin typeface="Times New Roman" panose="02020603050405020304" pitchFamily="18" charset="0"/>
              </a:rPr>
              <a:t>4. Later stages</a:t>
            </a:r>
            <a:endParaRPr lang="zh-CN" altLang="en-US" sz="1600" b="1">
              <a:solidFill>
                <a:srgbClr val="B45A3C"/>
              </a:solidFill>
              <a:latin typeface="Times New Roman" panose="02020603050405020304" pitchFamily="18" charset="0"/>
            </a:endParaRPr>
          </a:p>
        </p:txBody>
      </p:sp>
      <p:sp>
        <p:nvSpPr>
          <p:cNvPr id="51" name="文本框 50">
            <a:extLst>
              <a:ext uri="{FF2B5EF4-FFF2-40B4-BE49-F238E27FC236}">
                <a16:creationId xmlns:a16="http://schemas.microsoft.com/office/drawing/2014/main" id="{24038FBF-64D6-64C7-F076-E2C37BF7AAAF}"/>
              </a:ext>
            </a:extLst>
          </p:cNvPr>
          <p:cNvSpPr txBox="1"/>
          <p:nvPr/>
        </p:nvSpPr>
        <p:spPr>
          <a:xfrm>
            <a:off x="8750300" y="2882900"/>
            <a:ext cx="1905000" cy="369332"/>
          </a:xfrm>
          <a:prstGeom prst="rect">
            <a:avLst/>
          </a:prstGeom>
          <a:noFill/>
        </p:spPr>
        <p:txBody>
          <a:bodyPr vert="horz" wrap="square" lIns="0" tIns="0" rIns="0" bIns="0" rtlCol="0">
            <a:noAutofit/>
          </a:bodyPr>
          <a:lstStyle/>
          <a:p>
            <a:r>
              <a:rPr lang="en-US" altLang="zh-CN" sz="1350">
                <a:solidFill>
                  <a:srgbClr val="203443"/>
                </a:solidFill>
                <a:latin typeface="Times New Roman" panose="02020603050405020304" pitchFamily="18" charset="0"/>
              </a:rPr>
              <a:t>Reliance calibration and responsibility attribution inherit this belief state.</a:t>
            </a:r>
            <a:endParaRPr lang="zh-CN" altLang="en-US" sz="1350">
              <a:solidFill>
                <a:srgbClr val="203443"/>
              </a:solidFill>
              <a:latin typeface="Times New Roman" panose="02020603050405020304" pitchFamily="18" charset="0"/>
            </a:endParaRPr>
          </a:p>
        </p:txBody>
      </p:sp>
      <p:cxnSp>
        <p:nvCxnSpPr>
          <p:cNvPr id="52" name="直接连接符 51">
            <a:extLst>
              <a:ext uri="{FF2B5EF4-FFF2-40B4-BE49-F238E27FC236}">
                <a16:creationId xmlns:a16="http://schemas.microsoft.com/office/drawing/2014/main" id="{D7A959E6-BDBA-2B02-6C96-F5B064587DF8}"/>
              </a:ext>
            </a:extLst>
          </p:cNvPr>
          <p:cNvCxnSpPr/>
          <p:nvPr/>
        </p:nvCxnSpPr>
        <p:spPr>
          <a:xfrm>
            <a:off x="3187700" y="3086100"/>
            <a:ext cx="203200" cy="0"/>
          </a:xfrm>
          <a:prstGeom prst="line">
            <a:avLst/>
          </a:prstGeom>
          <a:ln w="17780">
            <a:solidFill>
              <a:srgbClr val="C69A54"/>
            </a:solidFill>
            <a:tailEnd type="arrow"/>
          </a:ln>
        </p:spPr>
        <p:style>
          <a:lnRef idx="1">
            <a:schemeClr val="accent1"/>
          </a:lnRef>
          <a:fillRef idx="0">
            <a:schemeClr val="accent1"/>
          </a:fillRef>
          <a:effectRef idx="0">
            <a:schemeClr val="accent1"/>
          </a:effectRef>
          <a:fontRef idx="minor">
            <a:schemeClr val="tx1"/>
          </a:fontRef>
        </p:style>
      </p:cxnSp>
      <p:cxnSp>
        <p:nvCxnSpPr>
          <p:cNvPr id="53" name="直接连接符 52">
            <a:extLst>
              <a:ext uri="{FF2B5EF4-FFF2-40B4-BE49-F238E27FC236}">
                <a16:creationId xmlns:a16="http://schemas.microsoft.com/office/drawing/2014/main" id="{A0A02CBD-F940-0400-8583-4F10CB1D170F}"/>
              </a:ext>
            </a:extLst>
          </p:cNvPr>
          <p:cNvCxnSpPr/>
          <p:nvPr/>
        </p:nvCxnSpPr>
        <p:spPr>
          <a:xfrm>
            <a:off x="5753100" y="3086100"/>
            <a:ext cx="203200" cy="0"/>
          </a:xfrm>
          <a:prstGeom prst="line">
            <a:avLst/>
          </a:prstGeom>
          <a:ln w="17780">
            <a:solidFill>
              <a:srgbClr val="C69A54"/>
            </a:solidFill>
            <a:tailEnd type="arrow"/>
          </a:ln>
        </p:spPr>
        <p:style>
          <a:lnRef idx="1">
            <a:schemeClr val="accent1"/>
          </a:lnRef>
          <a:fillRef idx="0">
            <a:schemeClr val="accent1"/>
          </a:fillRef>
          <a:effectRef idx="0">
            <a:schemeClr val="accent1"/>
          </a:effectRef>
          <a:fontRef idx="minor">
            <a:schemeClr val="tx1"/>
          </a:fontRef>
        </p:style>
      </p:cxnSp>
      <p:cxnSp>
        <p:nvCxnSpPr>
          <p:cNvPr id="54" name="直接连接符 53">
            <a:extLst>
              <a:ext uri="{FF2B5EF4-FFF2-40B4-BE49-F238E27FC236}">
                <a16:creationId xmlns:a16="http://schemas.microsoft.com/office/drawing/2014/main" id="{3BDBA7B7-B29F-C881-9032-D1855D007769}"/>
              </a:ext>
            </a:extLst>
          </p:cNvPr>
          <p:cNvCxnSpPr/>
          <p:nvPr/>
        </p:nvCxnSpPr>
        <p:spPr>
          <a:xfrm>
            <a:off x="8318500" y="3086100"/>
            <a:ext cx="203200" cy="0"/>
          </a:xfrm>
          <a:prstGeom prst="line">
            <a:avLst/>
          </a:prstGeom>
          <a:ln w="17780">
            <a:solidFill>
              <a:srgbClr val="C69A54"/>
            </a:solidFill>
            <a:tailEnd type="arrow"/>
          </a:ln>
        </p:spPr>
        <p:style>
          <a:lnRef idx="1">
            <a:schemeClr val="accent1"/>
          </a:lnRef>
          <a:fillRef idx="0">
            <a:schemeClr val="accent1"/>
          </a:fillRef>
          <a:effectRef idx="0">
            <a:schemeClr val="accent1"/>
          </a:effectRef>
          <a:fontRef idx="minor">
            <a:schemeClr val="tx1"/>
          </a:fontRef>
        </p:style>
      </p:cxnSp>
      <p:sp>
        <p:nvSpPr>
          <p:cNvPr id="55" name="矩形 54">
            <a:extLst>
              <a:ext uri="{FF2B5EF4-FFF2-40B4-BE49-F238E27FC236}">
                <a16:creationId xmlns:a16="http://schemas.microsoft.com/office/drawing/2014/main" id="{5381DFE0-9FBC-D579-CED3-86A82EDC5853}"/>
              </a:ext>
            </a:extLst>
          </p:cNvPr>
          <p:cNvSpPr/>
          <p:nvPr/>
        </p:nvSpPr>
        <p:spPr>
          <a:xfrm>
            <a:off x="889000" y="4394200"/>
            <a:ext cx="9931400" cy="965200"/>
          </a:xfrm>
          <a:prstGeom prst="rect">
            <a:avLst/>
          </a:prstGeom>
          <a:solidFill>
            <a:srgbClr val="1F3646"/>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文本框 55">
            <a:extLst>
              <a:ext uri="{FF2B5EF4-FFF2-40B4-BE49-F238E27FC236}">
                <a16:creationId xmlns:a16="http://schemas.microsoft.com/office/drawing/2014/main" id="{0AC7B393-A8E0-9718-6CEA-6C876784240D}"/>
              </a:ext>
            </a:extLst>
          </p:cNvPr>
          <p:cNvSpPr txBox="1"/>
          <p:nvPr/>
        </p:nvSpPr>
        <p:spPr>
          <a:xfrm>
            <a:off x="1193800" y="4648200"/>
            <a:ext cx="9296400" cy="369332"/>
          </a:xfrm>
          <a:prstGeom prst="rect">
            <a:avLst/>
          </a:prstGeom>
          <a:noFill/>
        </p:spPr>
        <p:txBody>
          <a:bodyPr vert="horz" wrap="square" lIns="0" tIns="0" rIns="0" bIns="0" rtlCol="0">
            <a:noAutofit/>
          </a:bodyPr>
          <a:lstStyle/>
          <a:p>
            <a:pPr algn="ctr"/>
            <a:r>
              <a:rPr lang="en-US" altLang="zh-CN" b="1">
                <a:solidFill>
                  <a:srgbClr val="FFFFFF"/>
                </a:solidFill>
                <a:latin typeface="Times New Roman" panose="02020603050405020304" pitchFamily="18" charset="0"/>
              </a:rPr>
              <a:t>So the dissertation begins with Paper 1: it asks how AI reshapes what people believe before action and responsibility are even on the table.</a:t>
            </a:r>
            <a:endParaRPr lang="zh-CN" altLang="en-US" b="1">
              <a:solidFill>
                <a:srgbClr val="FFFFFF"/>
              </a:solidFill>
              <a:latin typeface="Times New Roman" panose="02020603050405020304" pitchFamily="18" charset="0"/>
            </a:endParaRPr>
          </a:p>
        </p:txBody>
      </p:sp>
      <p:sp>
        <p:nvSpPr>
          <p:cNvPr id="57" name="文本框 56">
            <a:extLst>
              <a:ext uri="{FF2B5EF4-FFF2-40B4-BE49-F238E27FC236}">
                <a16:creationId xmlns:a16="http://schemas.microsoft.com/office/drawing/2014/main" id="{610BCA71-98AF-29E9-4567-0CA9B1324C89}"/>
              </a:ext>
            </a:extLst>
          </p:cNvPr>
          <p:cNvSpPr txBox="1"/>
          <p:nvPr/>
        </p:nvSpPr>
        <p:spPr>
          <a:xfrm>
            <a:off x="889000" y="5676900"/>
            <a:ext cx="9931400" cy="369332"/>
          </a:xfrm>
          <a:prstGeom prst="rect">
            <a:avLst/>
          </a:prstGeom>
          <a:noFill/>
        </p:spPr>
        <p:txBody>
          <a:bodyPr vert="horz" wrap="square" lIns="0" tIns="0" rIns="0" bIns="0" rtlCol="0">
            <a:noAutofit/>
          </a:bodyPr>
          <a:lstStyle/>
          <a:p>
            <a:r>
              <a:rPr lang="en-US" altLang="zh-CN" sz="1150">
                <a:solidFill>
                  <a:srgbClr val="6B716F"/>
                </a:solidFill>
                <a:latin typeface="Times New Roman" panose="02020603050405020304" pitchFamily="18" charset="0"/>
              </a:rPr>
              <a:t>This turns the previous map into a sequence: belief formation is not a side topic; it is the starting condition for the later papers.</a:t>
            </a:r>
            <a:endParaRPr lang="zh-CN" altLang="en-US" sz="1150">
              <a:solidFill>
                <a:srgbClr val="6B716F"/>
              </a:solidFill>
              <a:latin typeface="Times New Roman" panose="02020603050405020304" pitchFamily="18" charset="0"/>
            </a:endParaRPr>
          </a:p>
        </p:txBody>
      </p:sp>
      <p:sp>
        <p:nvSpPr>
          <p:cNvPr id="58" name="文本框 57">
            <a:extLst>
              <a:ext uri="{FF2B5EF4-FFF2-40B4-BE49-F238E27FC236}">
                <a16:creationId xmlns:a16="http://schemas.microsoft.com/office/drawing/2014/main" id="{D9102A92-0DD0-9BC4-4141-E9D54BD587D2}"/>
              </a:ext>
            </a:extLst>
          </p:cNvPr>
          <p:cNvSpPr txBox="1"/>
          <p:nvPr/>
        </p:nvSpPr>
        <p:spPr>
          <a:xfrm>
            <a:off x="10541000" y="6426200"/>
            <a:ext cx="279400" cy="369332"/>
          </a:xfrm>
          <a:prstGeom prst="rect">
            <a:avLst/>
          </a:prstGeom>
          <a:noFill/>
        </p:spPr>
        <p:txBody>
          <a:bodyPr vert="horz" wrap="square" lIns="0" tIns="0" rIns="0" bIns="0" rtlCol="0">
            <a:noAutofit/>
          </a:bodyPr>
          <a:lstStyle/>
          <a:p>
            <a:pPr algn="ctr"/>
            <a:r>
              <a:rPr lang="en-US" altLang="zh-CN" sz="850" b="1">
                <a:solidFill>
                  <a:srgbClr val="B45A3C"/>
                </a:solidFill>
                <a:latin typeface="Times New Roman" panose="02020603050405020304" pitchFamily="18" charset="0"/>
              </a:rPr>
              <a:t>07</a:t>
            </a:r>
            <a:endParaRPr lang="zh-CN" altLang="en-US" sz="850" b="1">
              <a:solidFill>
                <a:srgbClr val="B45A3C"/>
              </a:solidFill>
              <a:latin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a:spLocks noGrp="1"/>
          </p:cNvSpPr>
          <p:nvPr/>
        </p:nvSpPr>
        <p:spPr>
          <a:xfrm>
            <a:off x="0" y="0"/>
            <a:ext cx="12192000" cy="6858000"/>
          </a:xfrm>
          <a:prstGeom prst="rect">
            <a:avLst/>
          </a:prstGeom>
          <a:solidFill>
            <a:srgbClr val="1F2A44"/>
          </a:solidFill>
          <a:ln w="0">
            <a:solidFill>
              <a:srgbClr val="1F2A44"/>
            </a:solidFill>
            <a:prstDash val="solid"/>
          </a:ln>
        </p:spPr>
        <p:txBody>
          <a:bodyPr/>
          <a:lstStyle/>
          <a:p>
            <a:endParaRPr/>
          </a:p>
        </p:txBody>
      </p:sp>
      <p:sp>
        <p:nvSpPr>
          <p:cNvPr id="17" name="椭圆 16"/>
          <p:cNvSpPr>
            <a:spLocks noGrp="1"/>
          </p:cNvSpPr>
          <p:nvPr/>
        </p:nvSpPr>
        <p:spPr>
          <a:xfrm>
            <a:off x="8715375" y="-1524000"/>
            <a:ext cx="4191000" cy="4191000"/>
          </a:xfrm>
          <a:prstGeom prst="ellipse">
            <a:avLst/>
          </a:prstGeom>
          <a:solidFill>
            <a:srgbClr val="30384A"/>
          </a:solidFill>
          <a:ln w="0">
            <a:solidFill>
              <a:srgbClr val="30384A"/>
            </a:solidFill>
            <a:prstDash val="solid"/>
          </a:ln>
        </p:spPr>
      </p:sp>
      <p:sp>
        <p:nvSpPr>
          <p:cNvPr id="2" name="椭圆 1"/>
          <p:cNvSpPr>
            <a:spLocks noGrp="1"/>
          </p:cNvSpPr>
          <p:nvPr/>
        </p:nvSpPr>
        <p:spPr>
          <a:xfrm>
            <a:off x="-1047750" y="4476750"/>
            <a:ext cx="2857500" cy="2857500"/>
          </a:xfrm>
          <a:prstGeom prst="ellipse">
            <a:avLst/>
          </a:prstGeom>
          <a:solidFill>
            <a:srgbClr val="2B3241"/>
          </a:solidFill>
          <a:ln w="0">
            <a:solidFill>
              <a:srgbClr val="2B3241"/>
            </a:solidFill>
            <a:prstDash val="solid"/>
          </a:ln>
        </p:spPr>
      </p:sp>
      <p:sp>
        <p:nvSpPr>
          <p:cNvPr id="3" name="矩形 2"/>
          <p:cNvSpPr>
            <a:spLocks noGrp="1"/>
          </p:cNvSpPr>
          <p:nvPr/>
        </p:nvSpPr>
        <p:spPr>
          <a:xfrm>
            <a:off x="819150" y="819150"/>
            <a:ext cx="228600" cy="228600"/>
          </a:xfrm>
          <a:prstGeom prst="rect">
            <a:avLst/>
          </a:prstGeom>
          <a:solidFill>
            <a:srgbClr val="B45A3C"/>
          </a:solidFill>
          <a:ln w="0">
            <a:solidFill>
              <a:srgbClr val="B45A3C"/>
            </a:solidFill>
            <a:prstDash val="solid"/>
          </a:ln>
        </p:spPr>
      </p:sp>
      <p:sp>
        <p:nvSpPr>
          <p:cNvPr id="4" name="矩形 3"/>
          <p:cNvSpPr>
            <a:spLocks noGrp="1"/>
          </p:cNvSpPr>
          <p:nvPr/>
        </p:nvSpPr>
        <p:spPr>
          <a:xfrm>
            <a:off x="800100" y="5962650"/>
            <a:ext cx="10591800" cy="9525"/>
          </a:xfrm>
          <a:prstGeom prst="rect">
            <a:avLst/>
          </a:prstGeom>
          <a:solidFill>
            <a:srgbClr val="465067"/>
          </a:solidFill>
          <a:ln w="0">
            <a:solidFill>
              <a:srgbClr val="465067"/>
            </a:solidFill>
            <a:prstDash val="solid"/>
          </a:ln>
        </p:spPr>
      </p:sp>
      <p:sp>
        <p:nvSpPr>
          <p:cNvPr id="5" name="矩形 4"/>
          <p:cNvSpPr>
            <a:spLocks noGrp="1"/>
          </p:cNvSpPr>
          <p:nvPr/>
        </p:nvSpPr>
        <p:spPr>
          <a:xfrm>
            <a:off x="1219200" y="781050"/>
            <a:ext cx="2476500" cy="228600"/>
          </a:xfrm>
          <a:prstGeom prst="rect">
            <a:avLst/>
          </a:prstGeom>
          <a:noFill/>
          <a:ln w="0">
            <a:noFill/>
            <a:prstDash val="solid"/>
          </a:ln>
        </p:spPr>
        <p:txBody>
          <a:bodyPr/>
          <a:lstStyle/>
          <a:p>
            <a:pPr algn="l">
              <a:buNone/>
              <a:defRPr sz="1125" b="1" i="0">
                <a:solidFill>
                  <a:srgbClr val="D7A792"/>
                </a:solidFill>
                <a:latin typeface="Times New Roman" panose="02020603050405020304"/>
                <a:ea typeface="Times New Roman" panose="02020603050405020304"/>
                <a:cs typeface="Times New Roman" panose="02020603050405020304"/>
              </a:defRPr>
            </a:pPr>
            <a:r>
              <a:rPr sz="1125" b="1" i="0">
                <a:solidFill>
                  <a:srgbClr val="D7A792"/>
                </a:solidFill>
                <a:latin typeface="Times New Roman" panose="02020603050405020304" pitchFamily="18" charset="0"/>
                <a:ea typeface="Times New Roman" panose="02020603050405020304"/>
                <a:cs typeface="Times New Roman" panose="02020603050405020304"/>
              </a:rPr>
              <a:t>PAPER 1</a:t>
            </a:r>
          </a:p>
        </p:txBody>
      </p:sp>
      <p:sp>
        <p:nvSpPr>
          <p:cNvPr id="6" name="矩形 5"/>
          <p:cNvSpPr>
            <a:spLocks noGrp="1"/>
          </p:cNvSpPr>
          <p:nvPr/>
        </p:nvSpPr>
        <p:spPr>
          <a:xfrm>
            <a:off x="1219200" y="1371600"/>
            <a:ext cx="9334500" cy="723900"/>
          </a:xfrm>
          <a:prstGeom prst="rect">
            <a:avLst/>
          </a:prstGeom>
          <a:noFill/>
          <a:ln w="0">
            <a:noFill/>
            <a:prstDash val="solid"/>
          </a:ln>
        </p:spPr>
        <p:txBody>
          <a:bodyPr/>
          <a:lstStyle/>
          <a:p>
            <a:pPr algn="l">
              <a:buNone/>
              <a:defRPr sz="3000" b="1" i="0">
                <a:solidFill>
                  <a:srgbClr val="F8F2E9"/>
                </a:solidFill>
                <a:latin typeface="Times New Roman" panose="02020603050405020304"/>
                <a:ea typeface="Times New Roman" panose="02020603050405020304"/>
                <a:cs typeface="Times New Roman" panose="02020603050405020304"/>
              </a:defRPr>
            </a:pPr>
            <a:r>
              <a:rPr sz="3000" b="1" i="0">
                <a:solidFill>
                  <a:srgbClr val="F8F2E9"/>
                </a:solidFill>
                <a:latin typeface="Times New Roman" panose="02020603050405020304" pitchFamily="18" charset="0"/>
                <a:ea typeface="Times New Roman" panose="02020603050405020304"/>
                <a:cs typeface="Times New Roman" panose="02020603050405020304"/>
              </a:rPr>
              <a:t>Algorithmic Authority and Information Calibration</a:t>
            </a:r>
          </a:p>
        </p:txBody>
      </p:sp>
      <p:sp>
        <p:nvSpPr>
          <p:cNvPr id="7" name="矩形 6"/>
          <p:cNvSpPr>
            <a:spLocks noGrp="1"/>
          </p:cNvSpPr>
          <p:nvPr/>
        </p:nvSpPr>
        <p:spPr>
          <a:xfrm>
            <a:off x="1219200" y="2190750"/>
            <a:ext cx="8191500" cy="533400"/>
          </a:xfrm>
          <a:prstGeom prst="rect">
            <a:avLst/>
          </a:prstGeom>
          <a:noFill/>
          <a:ln w="0">
            <a:noFill/>
            <a:prstDash val="solid"/>
          </a:ln>
        </p:spPr>
        <p:txBody>
          <a:bodyPr/>
          <a:lstStyle/>
          <a:p>
            <a:pPr algn="l">
              <a:buNone/>
              <a:defRPr sz="1650" b="0" i="0">
                <a:solidFill>
                  <a:srgbClr val="D8DCE6"/>
                </a:solidFill>
                <a:latin typeface="Times New Roman" panose="02020603050405020304"/>
                <a:ea typeface="Times New Roman" panose="02020603050405020304"/>
                <a:cs typeface="Times New Roman" panose="02020603050405020304"/>
              </a:defRPr>
            </a:pPr>
            <a:r>
              <a:rPr sz="1650" b="0" i="0">
                <a:solidFill>
                  <a:srgbClr val="D8DCE6"/>
                </a:solidFill>
                <a:latin typeface="Times New Roman" panose="02020603050405020304" pitchFamily="18" charset="0"/>
                <a:ea typeface="Times New Roman" panose="02020603050405020304"/>
                <a:cs typeface="Times New Roman" panose="02020603050405020304"/>
              </a:rPr>
              <a:t>How generative AI changes additional search and belief updating under uncertainty</a:t>
            </a:r>
          </a:p>
        </p:txBody>
      </p:sp>
      <p:sp>
        <p:nvSpPr>
          <p:cNvPr id="8" name="矩形: 圆角 7"/>
          <p:cNvSpPr>
            <a:spLocks noGrp="1"/>
          </p:cNvSpPr>
          <p:nvPr/>
        </p:nvSpPr>
        <p:spPr>
          <a:xfrm>
            <a:off x="1219200" y="3390900"/>
            <a:ext cx="4038600" cy="1371600"/>
          </a:xfrm>
          <a:prstGeom prst="roundRect">
            <a:avLst>
              <a:gd name="adj" fmla="val 5556"/>
            </a:avLst>
          </a:prstGeom>
          <a:solidFill>
            <a:srgbClr val="2E3648"/>
          </a:solidFill>
          <a:ln w="9525">
            <a:solidFill>
              <a:srgbClr val="E8DCCB"/>
            </a:solidFill>
            <a:prstDash val="solid"/>
          </a:ln>
        </p:spPr>
      </p:sp>
      <p:sp>
        <p:nvSpPr>
          <p:cNvPr id="9" name="矩形 8"/>
          <p:cNvSpPr>
            <a:spLocks noGrp="1"/>
          </p:cNvSpPr>
          <p:nvPr/>
        </p:nvSpPr>
        <p:spPr>
          <a:xfrm>
            <a:off x="1219200" y="3390900"/>
            <a:ext cx="57150" cy="1371600"/>
          </a:xfrm>
          <a:prstGeom prst="rect">
            <a:avLst/>
          </a:prstGeom>
          <a:solidFill>
            <a:srgbClr val="B45A3C"/>
          </a:solidFill>
          <a:ln w="0">
            <a:solidFill>
              <a:srgbClr val="B45A3C"/>
            </a:solidFill>
            <a:prstDash val="solid"/>
          </a:ln>
        </p:spPr>
      </p:sp>
      <p:sp>
        <p:nvSpPr>
          <p:cNvPr id="10" name="矩形 9"/>
          <p:cNvSpPr>
            <a:spLocks noGrp="1"/>
          </p:cNvSpPr>
          <p:nvPr/>
        </p:nvSpPr>
        <p:spPr>
          <a:xfrm>
            <a:off x="1390650" y="3505200"/>
            <a:ext cx="37528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Problem shift</a:t>
            </a:r>
          </a:p>
        </p:txBody>
      </p:sp>
      <p:sp>
        <p:nvSpPr>
          <p:cNvPr id="11" name="矩形 10"/>
          <p:cNvSpPr>
            <a:spLocks noGrp="1"/>
          </p:cNvSpPr>
          <p:nvPr/>
        </p:nvSpPr>
        <p:spPr>
          <a:xfrm>
            <a:off x="1390650" y="3848100"/>
            <a:ext cx="37528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The question is not only what answer AI gives. The question is whether AI changes when people feel ready to stop looking for more evidence.</a:t>
            </a:r>
          </a:p>
        </p:txBody>
      </p:sp>
      <p:sp>
        <p:nvSpPr>
          <p:cNvPr id="12" name="矩形: 圆角 11"/>
          <p:cNvSpPr>
            <a:spLocks noGrp="1"/>
          </p:cNvSpPr>
          <p:nvPr/>
        </p:nvSpPr>
        <p:spPr>
          <a:xfrm>
            <a:off x="5543550" y="3390900"/>
            <a:ext cx="5486400" cy="1371600"/>
          </a:xfrm>
          <a:prstGeom prst="roundRect">
            <a:avLst>
              <a:gd name="adj" fmla="val 5556"/>
            </a:avLst>
          </a:prstGeom>
          <a:solidFill>
            <a:srgbClr val="2E3648"/>
          </a:solidFill>
          <a:ln w="9525">
            <a:solidFill>
              <a:srgbClr val="E8DCCB"/>
            </a:solidFill>
            <a:prstDash val="solid"/>
          </a:ln>
        </p:spPr>
      </p:sp>
      <p:sp>
        <p:nvSpPr>
          <p:cNvPr id="13" name="矩形 12"/>
          <p:cNvSpPr>
            <a:spLocks noGrp="1"/>
          </p:cNvSpPr>
          <p:nvPr/>
        </p:nvSpPr>
        <p:spPr>
          <a:xfrm>
            <a:off x="5543550" y="3390900"/>
            <a:ext cx="57150" cy="1371600"/>
          </a:xfrm>
          <a:prstGeom prst="rect">
            <a:avLst/>
          </a:prstGeom>
          <a:solidFill>
            <a:srgbClr val="C89B4A"/>
          </a:solidFill>
          <a:ln w="0">
            <a:solidFill>
              <a:srgbClr val="C89B4A"/>
            </a:solidFill>
            <a:prstDash val="solid"/>
          </a:ln>
        </p:spPr>
      </p:sp>
      <p:sp>
        <p:nvSpPr>
          <p:cNvPr id="14" name="矩形 13"/>
          <p:cNvSpPr>
            <a:spLocks noGrp="1"/>
          </p:cNvSpPr>
          <p:nvPr/>
        </p:nvSpPr>
        <p:spPr>
          <a:xfrm>
            <a:off x="5715000" y="3505200"/>
            <a:ext cx="5200650" cy="285750"/>
          </a:xfrm>
          <a:prstGeom prst="rect">
            <a:avLst/>
          </a:prstGeom>
          <a:noFill/>
          <a:ln w="0">
            <a:noFill/>
            <a:prstDash val="solid"/>
          </a:ln>
        </p:spPr>
        <p:txBody>
          <a:bodyPr/>
          <a:lstStyle/>
          <a:p>
            <a:pPr algn="l">
              <a:buNone/>
              <a:defRPr sz="1650" b="1" i="0">
                <a:solidFill>
                  <a:srgbClr val="F8F2E9"/>
                </a:solidFill>
                <a:latin typeface="Times New Roman" panose="02020603050405020304"/>
                <a:ea typeface="Times New Roman" panose="02020603050405020304"/>
                <a:cs typeface="Times New Roman" panose="02020603050405020304"/>
              </a:defRPr>
            </a:pPr>
            <a:r>
              <a:rPr sz="1650" b="1" i="0">
                <a:solidFill>
                  <a:srgbClr val="F8F2E9"/>
                </a:solidFill>
                <a:latin typeface="Times New Roman" panose="02020603050405020304" pitchFamily="18" charset="0"/>
                <a:ea typeface="Times New Roman" panose="02020603050405020304"/>
                <a:cs typeface="Times New Roman" panose="02020603050405020304"/>
              </a:rPr>
              <a:t>Dissertation position</a:t>
            </a:r>
          </a:p>
        </p:txBody>
      </p:sp>
      <p:sp>
        <p:nvSpPr>
          <p:cNvPr id="15" name="矩形 14"/>
          <p:cNvSpPr>
            <a:spLocks noGrp="1"/>
          </p:cNvSpPr>
          <p:nvPr/>
        </p:nvSpPr>
        <p:spPr>
          <a:xfrm>
            <a:off x="5715000" y="3848100"/>
            <a:ext cx="5200650" cy="800100"/>
          </a:xfrm>
          <a:prstGeom prst="rect">
            <a:avLst/>
          </a:prstGeom>
          <a:noFill/>
          <a:ln w="0">
            <a:noFill/>
            <a:prstDash val="solid"/>
          </a:ln>
        </p:spPr>
        <p:txBody>
          <a:bodyPr/>
          <a:lstStyle/>
          <a:p>
            <a:pPr algn="l">
              <a:buNone/>
              <a:defRPr sz="1275" b="0" i="0">
                <a:solidFill>
                  <a:srgbClr val="D8DCE6"/>
                </a:solidFill>
                <a:latin typeface="Times New Roman" panose="02020603050405020304"/>
                <a:ea typeface="Times New Roman" panose="02020603050405020304"/>
                <a:cs typeface="Times New Roman" panose="02020603050405020304"/>
              </a:defRPr>
            </a:pPr>
            <a:r>
              <a:rPr sz="1275" b="0" i="0">
                <a:solidFill>
                  <a:srgbClr val="D8DCE6"/>
                </a:solidFill>
                <a:latin typeface="Times New Roman" panose="02020603050405020304" pitchFamily="18" charset="0"/>
                <a:ea typeface="Times New Roman" panose="02020603050405020304"/>
                <a:cs typeface="Times New Roman" panose="02020603050405020304"/>
              </a:rPr>
              <a:t>Paper 1 studies the first link in the broader chain: how AI reshapes the move from evidence to belief.</a:t>
            </a:r>
          </a:p>
        </p:txBody>
      </p:sp>
      <p:sp>
        <p:nvSpPr>
          <p:cNvPr id="16" name="矩形 15"/>
          <p:cNvSpPr>
            <a:spLocks noGrp="1"/>
          </p:cNvSpPr>
          <p:nvPr/>
        </p:nvSpPr>
        <p:spPr>
          <a:xfrm>
            <a:off x="1257300" y="6153150"/>
            <a:ext cx="9334500" cy="171450"/>
          </a:xfrm>
          <a:prstGeom prst="rect">
            <a:avLst/>
          </a:prstGeom>
          <a:noFill/>
          <a:ln w="0">
            <a:noFill/>
            <a:prstDash val="solid"/>
          </a:ln>
        </p:spPr>
        <p:txBody>
          <a:bodyPr/>
          <a:lstStyle/>
          <a:p>
            <a:pPr algn="l">
              <a:buNone/>
              <a:defRPr sz="1125" b="0" i="1">
                <a:solidFill>
                  <a:srgbClr val="D8DCE6"/>
                </a:solidFill>
                <a:latin typeface="Times New Roman" panose="02020603050405020304"/>
                <a:ea typeface="Times New Roman" panose="02020603050405020304"/>
                <a:cs typeface="Times New Roman" panose="02020603050405020304"/>
              </a:defRPr>
            </a:pPr>
            <a:r>
              <a:rPr sz="1125" b="0" i="1">
                <a:solidFill>
                  <a:srgbClr val="D8DCE6"/>
                </a:solidFill>
                <a:latin typeface="Times New Roman" panose="02020603050405020304" pitchFamily="18" charset="0"/>
                <a:ea typeface="Times New Roman" panose="02020603050405020304"/>
                <a:cs typeface="Times New Roman" panose="02020603050405020304"/>
              </a:rPr>
              <a:t>Belief formation -&gt; reliance calibration -&gt; responsibility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椭圆 16"/>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18" name="矩形 17"/>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CONCRETE EXAMPLE</a:t>
            </a:r>
          </a:p>
        </p:txBody>
      </p:sp>
      <p:sp>
        <p:nvSpPr>
          <p:cNvPr id="6" name="矩形 5"/>
          <p:cNvSpPr>
            <a:spLocks noGrp="1"/>
          </p:cNvSpPr>
          <p:nvPr/>
        </p:nvSpPr>
        <p:spPr>
          <a:xfrm>
            <a:off x="914400" y="914400"/>
            <a:ext cx="10287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Search engines ask for evidence first, but AI assistants answer first</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basic reversal is not only about speed. It changes the user's sense of whether more search is still worth doing.</a:t>
            </a:r>
          </a:p>
        </p:txBody>
      </p:sp>
      <p:sp>
        <p:nvSpPr>
          <p:cNvPr id="8" name="矩形: 圆角 7"/>
          <p:cNvSpPr>
            <a:spLocks noGrp="1"/>
          </p:cNvSpPr>
          <p:nvPr/>
        </p:nvSpPr>
        <p:spPr>
          <a:xfrm>
            <a:off x="914400" y="2190750"/>
            <a:ext cx="4762500" cy="3048000"/>
          </a:xfrm>
          <a:prstGeom prst="roundRect">
            <a:avLst>
              <a:gd name="adj" fmla="val 2500"/>
            </a:avLst>
          </a:prstGeom>
          <a:solidFill>
            <a:srgbClr val="FFF9F0"/>
          </a:solidFill>
          <a:ln w="9525">
            <a:solidFill>
              <a:srgbClr val="E8DCCB"/>
            </a:solidFill>
            <a:prstDash val="solid"/>
          </a:ln>
        </p:spPr>
      </p:sp>
      <p:sp>
        <p:nvSpPr>
          <p:cNvPr id="9" name="矩形 8"/>
          <p:cNvSpPr>
            <a:spLocks noGrp="1"/>
          </p:cNvSpPr>
          <p:nvPr/>
        </p:nvSpPr>
        <p:spPr>
          <a:xfrm>
            <a:off x="914400" y="2190750"/>
            <a:ext cx="57150" cy="3048000"/>
          </a:xfrm>
          <a:prstGeom prst="rect">
            <a:avLst/>
          </a:prstGeom>
          <a:solidFill>
            <a:srgbClr val="78836A"/>
          </a:solidFill>
          <a:ln w="0">
            <a:solidFill>
              <a:srgbClr val="78836A"/>
            </a:solidFill>
            <a:prstDash val="solid"/>
          </a:ln>
        </p:spPr>
      </p:sp>
      <p:sp>
        <p:nvSpPr>
          <p:cNvPr id="10" name="矩形 9"/>
          <p:cNvSpPr>
            <a:spLocks noGrp="1"/>
          </p:cNvSpPr>
          <p:nvPr/>
        </p:nvSpPr>
        <p:spPr>
          <a:xfrm>
            <a:off x="1085850" y="2305050"/>
            <a:ext cx="44767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Search engine logic</a:t>
            </a:r>
          </a:p>
        </p:txBody>
      </p:sp>
      <p:sp>
        <p:nvSpPr>
          <p:cNvPr id="11" name="矩形 10"/>
          <p:cNvSpPr>
            <a:spLocks noGrp="1"/>
          </p:cNvSpPr>
          <p:nvPr/>
        </p:nvSpPr>
        <p:spPr>
          <a:xfrm>
            <a:off x="1085850" y="2647950"/>
            <a:ext cx="4476750" cy="247650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1</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2</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3</a:t>
            </a: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Source 4</a:t>
            </a: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user opens links, compares sources, notices conflict, and then forms a judgment.</a:t>
            </a:r>
          </a:p>
          <a:p>
            <a:endParaRPr sz="142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Evidence first -&gt; interpretation later</a:t>
            </a:r>
          </a:p>
        </p:txBody>
      </p:sp>
      <p:sp>
        <p:nvSpPr>
          <p:cNvPr id="12" name="矩形: 圆角 11"/>
          <p:cNvSpPr>
            <a:spLocks noGrp="1"/>
          </p:cNvSpPr>
          <p:nvPr/>
        </p:nvSpPr>
        <p:spPr>
          <a:xfrm>
            <a:off x="6477000" y="2190750"/>
            <a:ext cx="4724400" cy="3048000"/>
          </a:xfrm>
          <a:prstGeom prst="roundRect">
            <a:avLst>
              <a:gd name="adj" fmla="val 2500"/>
            </a:avLst>
          </a:prstGeom>
          <a:solidFill>
            <a:srgbClr val="FFF9F0"/>
          </a:solidFill>
          <a:ln w="9525">
            <a:solidFill>
              <a:srgbClr val="E8DCCB"/>
            </a:solidFill>
            <a:prstDash val="solid"/>
          </a:ln>
        </p:spPr>
      </p:sp>
      <p:sp>
        <p:nvSpPr>
          <p:cNvPr id="13" name="矩形 12"/>
          <p:cNvSpPr>
            <a:spLocks noGrp="1"/>
          </p:cNvSpPr>
          <p:nvPr/>
        </p:nvSpPr>
        <p:spPr>
          <a:xfrm>
            <a:off x="6477000" y="2190750"/>
            <a:ext cx="57150" cy="304800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05050"/>
            <a:ext cx="44386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AI assistant logic</a:t>
            </a:r>
          </a:p>
        </p:txBody>
      </p:sp>
      <p:sp>
        <p:nvSpPr>
          <p:cNvPr id="15" name="矩形 14"/>
          <p:cNvSpPr>
            <a:spLocks noGrp="1"/>
          </p:cNvSpPr>
          <p:nvPr/>
        </p:nvSpPr>
        <p:spPr>
          <a:xfrm>
            <a:off x="6648450" y="2647950"/>
            <a:ext cx="4438650" cy="24765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summarized definition</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coherent explanation</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worked example</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A ready-made conclusion</a:t>
            </a: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user first receives an interpreted answer and only later decides whether to verify it.</a:t>
            </a:r>
          </a:p>
          <a:p>
            <a:endParaRPr sz="1350"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Interpreted answer first -&gt; optional verification later</a:t>
            </a:r>
          </a:p>
        </p:txBody>
      </p:sp>
      <p:sp>
        <p:nvSpPr>
          <p:cNvPr id="16" name="矩形 15"/>
          <p:cNvSpPr>
            <a:spLocks noGrp="1"/>
          </p:cNvSpPr>
          <p:nvPr/>
        </p:nvSpPr>
        <p:spPr>
          <a:xfrm>
            <a:off x="1200150" y="5638800"/>
            <a:ext cx="9791700" cy="247650"/>
          </a:xfrm>
          <a:prstGeom prst="rect">
            <a:avLst/>
          </a:prstGeom>
          <a:noFill/>
          <a:ln w="0">
            <a:noFill/>
            <a:prstDash val="solid"/>
          </a:ln>
        </p:spPr>
        <p:txBody>
          <a:bodyPr/>
          <a:lstStyle/>
          <a:p>
            <a:pPr algn="ctr">
              <a:buNone/>
              <a:defRPr sz="1425" b="0" i="1">
                <a:solidFill>
                  <a:srgbClr val="5E6675"/>
                </a:solidFill>
                <a:latin typeface="Times New Roman" panose="02020603050405020304"/>
                <a:ea typeface="Times New Roman" panose="02020603050405020304"/>
                <a:cs typeface="Times New Roman" panose="02020603050405020304"/>
              </a:defRPr>
            </a:pPr>
            <a:r>
              <a:rPr sz="1425" b="0" i="1">
                <a:solidFill>
                  <a:srgbClr val="5E6675"/>
                </a:solidFill>
                <a:latin typeface="Times New Roman" panose="02020603050405020304" pitchFamily="18" charset="0"/>
                <a:ea typeface="Times New Roman" panose="02020603050405020304"/>
                <a:cs typeface="Times New Roman" panose="02020603050405020304"/>
              </a:rPr>
              <a:t>The reversal matters because the user may now judge the value of additional evidence through the AI's summary rather than through raw search alone.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1" name="椭圆 2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CORE PROBLEM</a:t>
            </a:r>
          </a:p>
        </p:txBody>
      </p:sp>
      <p:sp>
        <p:nvSpPr>
          <p:cNvPr id="6" name="矩形 5"/>
          <p:cNvSpPr>
            <a:spLocks noGrp="1"/>
          </p:cNvSpPr>
          <p:nvPr/>
        </p:nvSpPr>
        <p:spPr>
          <a:xfrm>
            <a:off x="914400" y="914400"/>
            <a:ext cx="9144000" cy="704850"/>
          </a:xfrm>
          <a:prstGeom prst="rect">
            <a:avLst/>
          </a:prstGeom>
          <a:noFill/>
          <a:ln w="0">
            <a:noFill/>
            <a:prstDash val="solid"/>
          </a:ln>
        </p:spPr>
        <p:txBody>
          <a:bodyPr/>
          <a:lstStyle/>
          <a:p>
            <a:pPr algn="l">
              <a:buNone/>
              <a:defRPr sz="2625" b="1" i="0">
                <a:solidFill>
                  <a:srgbClr val="1E2433"/>
                </a:solidFill>
                <a:latin typeface="Times New Roman" panose="02020603050405020304"/>
                <a:ea typeface="Times New Roman" panose="02020603050405020304"/>
                <a:cs typeface="Times New Roman" panose="02020603050405020304"/>
              </a:defRPr>
            </a:pPr>
            <a:r>
              <a:rPr sz="2625" b="1" i="0">
                <a:solidFill>
                  <a:srgbClr val="1E2433"/>
                </a:solidFill>
                <a:latin typeface="Times New Roman" panose="02020603050405020304" pitchFamily="18" charset="0"/>
                <a:ea typeface="Times New Roman" panose="02020603050405020304"/>
                <a:cs typeface="Times New Roman" panose="02020603050405020304"/>
              </a:rPr>
              <a:t>Less search can mean efficiency or harmful under-search</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key is not whether search declines. The key is whether judgment quality declines once search declines.</a:t>
            </a:r>
          </a:p>
        </p:txBody>
      </p:sp>
      <p:sp>
        <p:nvSpPr>
          <p:cNvPr id="8" name="矩形: 圆角 7"/>
          <p:cNvSpPr>
            <a:spLocks noGrp="1"/>
          </p:cNvSpPr>
          <p:nvPr/>
        </p:nvSpPr>
        <p:spPr>
          <a:xfrm>
            <a:off x="1485900" y="2362200"/>
            <a:ext cx="4000500" cy="2362200"/>
          </a:xfrm>
          <a:prstGeom prst="roundRect">
            <a:avLst>
              <a:gd name="adj" fmla="val 3226"/>
            </a:avLst>
          </a:prstGeom>
          <a:solidFill>
            <a:srgbClr val="FFF9F0"/>
          </a:solidFill>
          <a:ln w="9525">
            <a:solidFill>
              <a:srgbClr val="E8DCCB"/>
            </a:solidFill>
            <a:prstDash val="solid"/>
          </a:ln>
        </p:spPr>
      </p:sp>
      <p:sp>
        <p:nvSpPr>
          <p:cNvPr id="9" name="矩形 8"/>
          <p:cNvSpPr>
            <a:spLocks noGrp="1"/>
          </p:cNvSpPr>
          <p:nvPr/>
        </p:nvSpPr>
        <p:spPr>
          <a:xfrm>
            <a:off x="1485900" y="2362200"/>
            <a:ext cx="57150" cy="2362200"/>
          </a:xfrm>
          <a:prstGeom prst="rect">
            <a:avLst/>
          </a:prstGeom>
          <a:solidFill>
            <a:srgbClr val="78836A"/>
          </a:solidFill>
          <a:ln w="0">
            <a:solidFill>
              <a:srgbClr val="78836A"/>
            </a:solidFill>
            <a:prstDash val="solid"/>
          </a:ln>
        </p:spPr>
      </p:sp>
      <p:sp>
        <p:nvSpPr>
          <p:cNvPr id="10" name="矩形 9"/>
          <p:cNvSpPr>
            <a:spLocks noGrp="1"/>
          </p:cNvSpPr>
          <p:nvPr/>
        </p:nvSpPr>
        <p:spPr>
          <a:xfrm>
            <a:off x="16573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Efficient compression</a:t>
            </a:r>
          </a:p>
        </p:txBody>
      </p:sp>
      <p:sp>
        <p:nvSpPr>
          <p:cNvPr id="11" name="矩形 10"/>
          <p:cNvSpPr>
            <a:spLocks noGrp="1"/>
          </p:cNvSpPr>
          <p:nvPr/>
        </p:nvSpPr>
        <p:spPr>
          <a:xfrm>
            <a:off x="16573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 summary has already compressed informative evidence.</a:t>
            </a: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posterior quality does not deteriorate.</a:t>
            </a:r>
          </a:p>
        </p:txBody>
      </p:sp>
      <p:sp>
        <p:nvSpPr>
          <p:cNvPr id="12" name="矩形: 圆角 11"/>
          <p:cNvSpPr>
            <a:spLocks noGrp="1"/>
          </p:cNvSpPr>
          <p:nvPr/>
        </p:nvSpPr>
        <p:spPr>
          <a:xfrm>
            <a:off x="6705600" y="2362200"/>
            <a:ext cx="4000500" cy="2362200"/>
          </a:xfrm>
          <a:prstGeom prst="roundRect">
            <a:avLst>
              <a:gd name="adj" fmla="val 3226"/>
            </a:avLst>
          </a:prstGeom>
          <a:solidFill>
            <a:srgbClr val="FFF9F0"/>
          </a:solidFill>
          <a:ln w="9525">
            <a:solidFill>
              <a:srgbClr val="E8DCCB"/>
            </a:solidFill>
            <a:prstDash val="solid"/>
          </a:ln>
        </p:spPr>
      </p:sp>
      <p:sp>
        <p:nvSpPr>
          <p:cNvPr id="13" name="矩形 12"/>
          <p:cNvSpPr>
            <a:spLocks noGrp="1"/>
          </p:cNvSpPr>
          <p:nvPr/>
        </p:nvSpPr>
        <p:spPr>
          <a:xfrm>
            <a:off x="6705600" y="2362200"/>
            <a:ext cx="57150" cy="2362200"/>
          </a:xfrm>
          <a:prstGeom prst="rect">
            <a:avLst/>
          </a:prstGeom>
          <a:solidFill>
            <a:srgbClr val="B45A3C"/>
          </a:solidFill>
          <a:ln w="0">
            <a:solidFill>
              <a:srgbClr val="B45A3C"/>
            </a:solidFill>
            <a:prstDash val="solid"/>
          </a:ln>
        </p:spPr>
      </p:sp>
      <p:sp>
        <p:nvSpPr>
          <p:cNvPr id="14" name="矩形 13"/>
          <p:cNvSpPr>
            <a:spLocks noGrp="1"/>
          </p:cNvSpPr>
          <p:nvPr/>
        </p:nvSpPr>
        <p:spPr>
          <a:xfrm>
            <a:off x="6877050" y="2476500"/>
            <a:ext cx="3714750" cy="285750"/>
          </a:xfrm>
          <a:prstGeom prst="rect">
            <a:avLst/>
          </a:prstGeom>
          <a:noFill/>
          <a:ln w="0">
            <a:noFill/>
            <a:prstDash val="solid"/>
          </a:ln>
        </p:spPr>
        <p:txBody>
          <a:bodyPr/>
          <a:lstStyle/>
          <a:p>
            <a:pPr algn="l">
              <a:buNone/>
              <a:defRPr sz="1950" b="1" i="0">
                <a:solidFill>
                  <a:srgbClr val="1E2433"/>
                </a:solidFill>
                <a:latin typeface="Times New Roman" panose="02020603050405020304"/>
                <a:ea typeface="Times New Roman" panose="02020603050405020304"/>
                <a:cs typeface="Times New Roman" panose="02020603050405020304"/>
              </a:defRPr>
            </a:pPr>
            <a:r>
              <a:rPr sz="1950" b="1" i="0">
                <a:solidFill>
                  <a:srgbClr val="1E2433"/>
                </a:solidFill>
                <a:latin typeface="Times New Roman" panose="02020603050405020304" pitchFamily="18" charset="0"/>
                <a:ea typeface="Times New Roman" panose="02020603050405020304"/>
                <a:cs typeface="Times New Roman" panose="02020603050405020304"/>
              </a:rPr>
              <a:t>Harmful under-search</a:t>
            </a:r>
          </a:p>
        </p:txBody>
      </p:sp>
      <p:sp>
        <p:nvSpPr>
          <p:cNvPr id="15" name="矩形 14"/>
          <p:cNvSpPr>
            <a:spLocks noGrp="1"/>
          </p:cNvSpPr>
          <p:nvPr/>
        </p:nvSpPr>
        <p:spPr>
          <a:xfrm>
            <a:off x="6877050" y="2819400"/>
            <a:ext cx="3714750" cy="17907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Users search less because they overestimate how complete the summary already is.</a:t>
            </a:r>
          </a:p>
          <a:p>
            <a:endParaRPr sz="1575" b="0" i="0">
              <a:solidFill>
                <a:srgbClr val="5E6675"/>
              </a:solidFill>
              <a:latin typeface="Times New Roman" panose="02020603050405020304" pitchFamily="18" charset="0"/>
              <a:ea typeface="Times New Roman" panose="02020603050405020304"/>
              <a:cs typeface="Times New Roman" panose="02020603050405020304"/>
            </a:endParaRPr>
          </a:p>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Later judgment moves further away from the full-information benchmark.</a:t>
            </a:r>
          </a:p>
        </p:txBody>
      </p:sp>
      <p:sp>
        <p:nvSpPr>
          <p:cNvPr id="16" name="矩形 15"/>
          <p:cNvSpPr>
            <a:spLocks noGrp="1"/>
          </p:cNvSpPr>
          <p:nvPr/>
        </p:nvSpPr>
        <p:spPr>
          <a:xfrm>
            <a:off x="5734050" y="3333750"/>
            <a:ext cx="762000" cy="247650"/>
          </a:xfrm>
          <a:prstGeom prst="rect">
            <a:avLst/>
          </a:prstGeom>
          <a:noFill/>
          <a:ln w="0">
            <a:noFill/>
            <a:prstDash val="solid"/>
          </a:ln>
        </p:spPr>
        <p:txBody>
          <a:bodyPr/>
          <a:lstStyle/>
          <a:p>
            <a:pPr algn="ctr">
              <a:buNone/>
              <a:defRPr sz="1800" b="1" i="0">
                <a:solidFill>
                  <a:srgbClr val="C89B4A"/>
                </a:solidFill>
                <a:latin typeface="Times New Roman" panose="02020603050405020304"/>
                <a:ea typeface="Times New Roman" panose="02020603050405020304"/>
                <a:cs typeface="Times New Roman" panose="02020603050405020304"/>
              </a:defRPr>
            </a:pPr>
            <a:r>
              <a:rPr sz="1800" b="1" i="0">
                <a:solidFill>
                  <a:srgbClr val="C89B4A"/>
                </a:solidFill>
                <a:latin typeface="Times New Roman" panose="02020603050405020304" pitchFamily="18" charset="0"/>
                <a:ea typeface="Times New Roman" panose="02020603050405020304"/>
                <a:cs typeface="Times New Roman" panose="02020603050405020304"/>
              </a:rPr>
              <a:t>vs</a:t>
            </a:r>
          </a:p>
        </p:txBody>
      </p:sp>
      <p:sp>
        <p:nvSpPr>
          <p:cNvPr id="19" name="矩形 18"/>
          <p:cNvSpPr>
            <a:spLocks noGrp="1"/>
          </p:cNvSpPr>
          <p:nvPr/>
        </p:nvSpPr>
        <p:spPr>
          <a:xfrm>
            <a:off x="1885950" y="5334000"/>
            <a:ext cx="8477250" cy="285750"/>
          </a:xfrm>
          <a:prstGeom prst="rect">
            <a:avLst/>
          </a:prstGeom>
          <a:noFill/>
          <a:ln w="0">
            <a:noFill/>
            <a:prstDash val="solid"/>
          </a:ln>
        </p:spPr>
        <p:txBody>
          <a:bodyPr/>
          <a:lstStyle/>
          <a:p>
            <a:pPr algn="l">
              <a:buNone/>
              <a:defRPr sz="1575" b="1" i="0">
                <a:solidFill>
                  <a:srgbClr val="1E2433"/>
                </a:solidFill>
                <a:latin typeface="Times New Roman" panose="02020603050405020304"/>
                <a:ea typeface="Times New Roman" panose="02020603050405020304"/>
                <a:cs typeface="Times New Roman" panose="02020603050405020304"/>
              </a:defRPr>
            </a:pPr>
            <a:endParaRPr sz="1575" b="1" i="0">
              <a:solidFill>
                <a:srgbClr val="1E2433"/>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矩形 9"/>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9" name="椭圆 8"/>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EXISTING WORK</a:t>
            </a:r>
          </a:p>
        </p:txBody>
      </p:sp>
      <p:sp>
        <p:nvSpPr>
          <p:cNvPr id="6" name="矩形 5"/>
          <p:cNvSpPr>
            <a:spLocks noGrp="1"/>
          </p:cNvSpPr>
          <p:nvPr/>
        </p:nvSpPr>
        <p:spPr>
          <a:xfrm>
            <a:off x="914400" y="914400"/>
            <a:ext cx="10096500" cy="704850"/>
          </a:xfrm>
          <a:prstGeom prst="rect">
            <a:avLst/>
          </a:prstGeom>
          <a:noFill/>
          <a:ln w="0">
            <a:noFill/>
            <a:prstDash val="solid"/>
          </a:ln>
        </p:spPr>
        <p:txBody>
          <a:bodyPr/>
          <a:lstStyle/>
          <a:p>
            <a:pPr algn="l">
              <a:buNone/>
              <a:defRPr sz="2250" b="1" i="0">
                <a:solidFill>
                  <a:srgbClr val="1E2433"/>
                </a:solidFill>
                <a:latin typeface="Times New Roman" panose="02020603050405020304"/>
                <a:ea typeface="Times New Roman" panose="02020603050405020304"/>
                <a:cs typeface="Times New Roman" panose="02020603050405020304"/>
              </a:defRPr>
            </a:pPr>
            <a:r>
              <a:rPr sz="2250" b="1" i="0">
                <a:solidFill>
                  <a:srgbClr val="1E2433"/>
                </a:solidFill>
                <a:latin typeface="Times New Roman" panose="02020603050405020304" pitchFamily="18" charset="0"/>
                <a:ea typeface="Times New Roman" panose="02020603050405020304"/>
                <a:cs typeface="Times New Roman" panose="02020603050405020304"/>
              </a:rPr>
              <a:t>The literature gives us reduced search and automation bias, but not a direct account of information calibration</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This literature map shows the closest targets and clarifies why the paper must distinguish search behavior from evidentiary sufficiency and posterior quality.</a:t>
            </a:r>
          </a:p>
        </p:txBody>
      </p:sp>
      <p:sp>
        <p:nvSpPr>
          <p:cNvPr id="8" name="矩形: 圆角 7"/>
          <p:cNvSpPr>
            <a:spLocks noGrp="1"/>
          </p:cNvSpPr>
          <p:nvPr/>
        </p:nvSpPr>
        <p:spPr>
          <a:xfrm>
            <a:off x="914400" y="2152650"/>
            <a:ext cx="10287000" cy="4171950"/>
          </a:xfrm>
          <a:prstGeom prst="roundRect">
            <a:avLst>
              <a:gd name="adj" fmla="val 2740"/>
            </a:avLst>
          </a:prstGeom>
          <a:solidFill>
            <a:srgbClr val="FFFDFC"/>
          </a:solidFill>
          <a:ln w="9525">
            <a:solidFill>
              <a:srgbClr val="E8DCCB"/>
            </a:solidFill>
            <a:prstDash val="solid"/>
          </a:ln>
        </p:spPr>
      </p:sp>
      <p:pic>
        <p:nvPicPr>
          <p:cNvPr id="18" name="图片 17"/>
          <p:cNvPicPr>
            <a:picLocks noChangeAspect="1"/>
          </p:cNvPicPr>
          <p:nvPr/>
        </p:nvPicPr>
        <p:blipFill>
          <a:blip r:embed="rId3"/>
          <a:stretch>
            <a:fillRect/>
          </a:stretch>
        </p:blipFill>
        <p:spPr>
          <a:xfrm>
            <a:off x="1445462" y="2286000"/>
            <a:ext cx="9224876" cy="39052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矩形 25"/>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5" name="椭圆 24"/>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CORE QUESTION</a:t>
            </a:r>
          </a:p>
        </p:txBody>
      </p:sp>
      <p:sp>
        <p:nvSpPr>
          <p:cNvPr id="6" name="矩形 5"/>
          <p:cNvSpPr>
            <a:spLocks noGrp="1"/>
          </p:cNvSpPr>
          <p:nvPr/>
        </p:nvSpPr>
        <p:spPr>
          <a:xfrm>
            <a:off x="1009650" y="1028700"/>
            <a:ext cx="10096500" cy="9525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Core question: How do generative AI answers change users' stopping thresholds, Bayesian posterior quality, and subjective information mastery?</a:t>
            </a:r>
          </a:p>
        </p:txBody>
      </p:sp>
      <p:sp>
        <p:nvSpPr>
          <p:cNvPr id="7" name="矩形 6"/>
          <p:cNvSpPr>
            <a:spLocks noGrp="1"/>
          </p:cNvSpPr>
          <p:nvPr/>
        </p:nvSpPr>
        <p:spPr>
          <a:xfrm>
            <a:off x="1009650" y="1962150"/>
            <a:ext cx="10096500" cy="51435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does not treat reduced raw-evidence viewing as search laziness. It reevaluates that behavior inside a Bayesian belief-updating framework.</a:t>
            </a:r>
          </a:p>
        </p:txBody>
      </p:sp>
      <p:sp>
        <p:nvSpPr>
          <p:cNvPr id="8" name="矩形: 圆角 7"/>
          <p:cNvSpPr>
            <a:spLocks noGrp="1"/>
          </p:cNvSpPr>
          <p:nvPr/>
        </p:nvSpPr>
        <p:spPr>
          <a:xfrm>
            <a:off x="914400" y="2571750"/>
            <a:ext cx="3810000" cy="2381250"/>
          </a:xfrm>
          <a:prstGeom prst="roundRect">
            <a:avLst>
              <a:gd name="adj" fmla="val 4800"/>
            </a:avLst>
          </a:prstGeom>
          <a:solidFill>
            <a:srgbClr val="FEFCF8"/>
          </a:solidFill>
          <a:ln w="9525">
            <a:solidFill>
              <a:srgbClr val="F0E2D1"/>
            </a:solidFill>
            <a:prstDash val="solid"/>
          </a:ln>
        </p:spPr>
      </p:sp>
      <p:sp>
        <p:nvSpPr>
          <p:cNvPr id="9" name="矩形 8"/>
          <p:cNvSpPr>
            <a:spLocks noGrp="1"/>
          </p:cNvSpPr>
          <p:nvPr/>
        </p:nvSpPr>
        <p:spPr>
          <a:xfrm>
            <a:off x="914400" y="2571750"/>
            <a:ext cx="57150" cy="23812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743200"/>
            <a:ext cx="33528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Framing</a:t>
            </a:r>
          </a:p>
        </p:txBody>
      </p:sp>
      <p:sp>
        <p:nvSpPr>
          <p:cNvPr id="11" name="矩形 10"/>
          <p:cNvSpPr>
            <a:spLocks noGrp="1"/>
          </p:cNvSpPr>
          <p:nvPr/>
        </p:nvSpPr>
        <p:spPr>
          <a:xfrm>
            <a:off x="1181100" y="3124200"/>
            <a:ext cx="3352800" cy="16764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 Reduced raw-evidence viewing is not assumed to be lazy by default.</a:t>
            </a: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The key question is whether AI changes how sufficient the current evidence feels.</a:t>
            </a:r>
          </a:p>
          <a:p>
            <a:endParaRPr sz="1275">
              <a:solidFill>
                <a:srgbClr val="667085"/>
              </a:solidFill>
              <a:latin typeface="Times New Roman" panose="02020603050405020304" pitchFamily="18" charset="0"/>
            </a:endParaRPr>
          </a:p>
          <a:p>
            <a:pPr>
              <a:defRPr sz="1275">
                <a:solidFill>
                  <a:srgbClr val="667085"/>
                </a:solidFill>
              </a:defRPr>
            </a:pPr>
            <a:r>
              <a:rPr sz="1275">
                <a:solidFill>
                  <a:srgbClr val="667085"/>
                </a:solidFill>
                <a:latin typeface="Times New Roman" panose="02020603050405020304" pitchFamily="18" charset="0"/>
              </a:rPr>
              <a:t>• Information calibration asks whether perceived sufficiency stays aligned with the real value of further evidence.</a:t>
            </a:r>
          </a:p>
        </p:txBody>
      </p:sp>
      <p:sp>
        <p:nvSpPr>
          <p:cNvPr id="12" name="矩形: 圆角 11"/>
          <p:cNvSpPr>
            <a:spLocks noGrp="1"/>
          </p:cNvSpPr>
          <p:nvPr/>
        </p:nvSpPr>
        <p:spPr>
          <a:xfrm>
            <a:off x="5048250" y="2571750"/>
            <a:ext cx="6153150" cy="2381250"/>
          </a:xfrm>
          <a:prstGeom prst="roundRect">
            <a:avLst>
              <a:gd name="adj" fmla="val 4800"/>
            </a:avLst>
          </a:prstGeom>
          <a:solidFill>
            <a:srgbClr val="FEFCF8"/>
          </a:solidFill>
          <a:ln w="9525">
            <a:solidFill>
              <a:srgbClr val="F0E2D1"/>
            </a:solidFill>
            <a:prstDash val="solid"/>
          </a:ln>
        </p:spPr>
      </p:sp>
      <p:sp>
        <p:nvSpPr>
          <p:cNvPr id="13" name="矩形 12"/>
          <p:cNvSpPr>
            <a:spLocks noGrp="1"/>
          </p:cNvSpPr>
          <p:nvPr/>
        </p:nvSpPr>
        <p:spPr>
          <a:xfrm>
            <a:off x="5048250" y="2571750"/>
            <a:ext cx="57150" cy="2381250"/>
          </a:xfrm>
          <a:prstGeom prst="rect">
            <a:avLst/>
          </a:prstGeom>
          <a:solidFill>
            <a:srgbClr val="D1A63A"/>
          </a:solidFill>
          <a:ln w="0">
            <a:solidFill>
              <a:srgbClr val="D1A63A"/>
            </a:solidFill>
            <a:prstDash val="solid"/>
          </a:ln>
        </p:spPr>
      </p:sp>
      <p:sp>
        <p:nvSpPr>
          <p:cNvPr id="14" name="矩形 13"/>
          <p:cNvSpPr>
            <a:spLocks noGrp="1"/>
          </p:cNvSpPr>
          <p:nvPr/>
        </p:nvSpPr>
        <p:spPr>
          <a:xfrm>
            <a:off x="5314950" y="2743200"/>
            <a:ext cx="558165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Mechanism in one line</a:t>
            </a:r>
          </a:p>
        </p:txBody>
      </p:sp>
      <p:sp>
        <p:nvSpPr>
          <p:cNvPr id="15" name="矩形 14"/>
          <p:cNvSpPr>
            <a:spLocks noGrp="1"/>
          </p:cNvSpPr>
          <p:nvPr/>
        </p:nvSpPr>
        <p:spPr>
          <a:xfrm>
            <a:off x="5638800" y="3105150"/>
            <a:ext cx="4953000" cy="228600"/>
          </a:xfrm>
          <a:prstGeom prst="rect">
            <a:avLst/>
          </a:prstGeom>
          <a:noFill/>
          <a:ln w="0">
            <a:noFill/>
            <a:prstDash val="solid"/>
          </a:ln>
        </p:spPr>
        <p:txBody>
          <a:bodyPr/>
          <a:lstStyle/>
          <a:p>
            <a:pPr algn="ctr">
              <a:defRPr sz="1275" b="1">
                <a:solidFill>
                  <a:srgbClr val="667085"/>
                </a:solidFill>
              </a:defRPr>
            </a:pPr>
            <a:r>
              <a:rPr sz="1275" b="1">
                <a:solidFill>
                  <a:srgbClr val="667085"/>
                </a:solidFill>
                <a:latin typeface="Times New Roman" panose="02020603050405020304" pitchFamily="18" charset="0"/>
              </a:rPr>
              <a:t>AI answer / AI label</a:t>
            </a:r>
          </a:p>
        </p:txBody>
      </p:sp>
      <p:sp>
        <p:nvSpPr>
          <p:cNvPr id="16" name="矩形 15"/>
          <p:cNvSpPr>
            <a:spLocks noGrp="1"/>
          </p:cNvSpPr>
          <p:nvPr/>
        </p:nvSpPr>
        <p:spPr>
          <a:xfrm>
            <a:off x="7829550" y="32956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17" name="矩形 16"/>
          <p:cNvSpPr>
            <a:spLocks noGrp="1"/>
          </p:cNvSpPr>
          <p:nvPr/>
        </p:nvSpPr>
        <p:spPr>
          <a:xfrm>
            <a:off x="5638800" y="34099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inferred hidden search-and-integration process</a:t>
            </a:r>
          </a:p>
        </p:txBody>
      </p:sp>
      <p:sp>
        <p:nvSpPr>
          <p:cNvPr id="18" name="矩形 17"/>
          <p:cNvSpPr>
            <a:spLocks noGrp="1"/>
          </p:cNvSpPr>
          <p:nvPr/>
        </p:nvSpPr>
        <p:spPr>
          <a:xfrm>
            <a:off x="7829550" y="36004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19" name="矩形 18"/>
          <p:cNvSpPr>
            <a:spLocks noGrp="1"/>
          </p:cNvSpPr>
          <p:nvPr/>
        </p:nvSpPr>
        <p:spPr>
          <a:xfrm>
            <a:off x="5638800" y="37147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perceived evidentiary sufficiency rises</a:t>
            </a:r>
          </a:p>
        </p:txBody>
      </p:sp>
      <p:sp>
        <p:nvSpPr>
          <p:cNvPr id="20" name="矩形 19"/>
          <p:cNvSpPr>
            <a:spLocks noGrp="1"/>
          </p:cNvSpPr>
          <p:nvPr/>
        </p:nvSpPr>
        <p:spPr>
          <a:xfrm>
            <a:off x="7829550" y="39052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21" name="矩形 20"/>
          <p:cNvSpPr>
            <a:spLocks noGrp="1"/>
          </p:cNvSpPr>
          <p:nvPr/>
        </p:nvSpPr>
        <p:spPr>
          <a:xfrm>
            <a:off x="5638800" y="4019550"/>
            <a:ext cx="4953000" cy="228600"/>
          </a:xfrm>
          <a:prstGeom prst="rect">
            <a:avLst/>
          </a:prstGeom>
          <a:noFill/>
          <a:ln w="0">
            <a:noFill/>
            <a:prstDash val="solid"/>
          </a:ln>
        </p:spPr>
        <p:txBody>
          <a:bodyPr/>
          <a:lstStyle/>
          <a:p>
            <a:pPr algn="ctr">
              <a:defRPr sz="1275" b="0">
                <a:solidFill>
                  <a:srgbClr val="667085"/>
                </a:solidFill>
              </a:defRPr>
            </a:pPr>
            <a:r>
              <a:rPr sz="1275" b="0">
                <a:solidFill>
                  <a:srgbClr val="667085"/>
                </a:solidFill>
                <a:latin typeface="Times New Roman" panose="02020603050405020304" pitchFamily="18" charset="0"/>
              </a:rPr>
              <a:t>the value of additional evidence falls</a:t>
            </a:r>
          </a:p>
        </p:txBody>
      </p:sp>
      <p:sp>
        <p:nvSpPr>
          <p:cNvPr id="22" name="矩形 21"/>
          <p:cNvSpPr>
            <a:spLocks noGrp="1"/>
          </p:cNvSpPr>
          <p:nvPr/>
        </p:nvSpPr>
        <p:spPr>
          <a:xfrm>
            <a:off x="7829550" y="4210050"/>
            <a:ext cx="533400" cy="171450"/>
          </a:xfrm>
          <a:prstGeom prst="rect">
            <a:avLst/>
          </a:prstGeom>
          <a:noFill/>
          <a:ln w="0">
            <a:noFill/>
            <a:prstDash val="solid"/>
          </a:ln>
        </p:spPr>
        <p:txBody>
          <a:bodyPr/>
          <a:lstStyle/>
          <a:p>
            <a:pPr algn="ctr">
              <a:defRPr sz="1350">
                <a:solidFill>
                  <a:srgbClr val="D1A63A"/>
                </a:solidFill>
              </a:defRPr>
            </a:pPr>
            <a:r>
              <a:rPr sz="1350">
                <a:solidFill>
                  <a:srgbClr val="D1A63A"/>
                </a:solidFill>
                <a:latin typeface="Times New Roman" panose="02020603050405020304" pitchFamily="18" charset="0"/>
              </a:rPr>
              <a:t>↓</a:t>
            </a:r>
          </a:p>
        </p:txBody>
      </p:sp>
      <p:sp>
        <p:nvSpPr>
          <p:cNvPr id="23" name="矩形 22"/>
          <p:cNvSpPr>
            <a:spLocks noGrp="1"/>
          </p:cNvSpPr>
          <p:nvPr/>
        </p:nvSpPr>
        <p:spPr>
          <a:xfrm>
            <a:off x="5638800" y="4324350"/>
            <a:ext cx="4953000" cy="228600"/>
          </a:xfrm>
          <a:prstGeom prst="rect">
            <a:avLst/>
          </a:prstGeom>
          <a:noFill/>
          <a:ln w="0">
            <a:noFill/>
            <a:prstDash val="solid"/>
          </a:ln>
        </p:spPr>
        <p:txBody>
          <a:bodyPr/>
          <a:lstStyle/>
          <a:p>
            <a:pPr algn="ctr">
              <a:defRPr sz="1350" b="1">
                <a:solidFill>
                  <a:srgbClr val="BE643F"/>
                </a:solidFill>
              </a:defRPr>
            </a:pPr>
            <a:r>
              <a:rPr sz="1350" b="1">
                <a:solidFill>
                  <a:srgbClr val="BE643F"/>
                </a:solidFill>
                <a:latin typeface="Times New Roman" panose="02020603050405020304" pitchFamily="18" charset="0"/>
              </a:rPr>
              <a:t>the stopping threshold shifts forward</a:t>
            </a:r>
          </a:p>
        </p:txBody>
      </p:sp>
      <p:sp>
        <p:nvSpPr>
          <p:cNvPr id="24" name="矩形 23"/>
          <p:cNvSpPr>
            <a:spLocks noGrp="1"/>
          </p:cNvSpPr>
          <p:nvPr/>
        </p:nvSpPr>
        <p:spPr>
          <a:xfrm>
            <a:off x="1676400" y="5429250"/>
            <a:ext cx="8763000" cy="419100"/>
          </a:xfrm>
          <a:prstGeom prst="rect">
            <a:avLst/>
          </a:prstGeom>
          <a:noFill/>
          <a:ln w="0">
            <a:noFill/>
            <a:prstDash val="solid"/>
          </a:ln>
        </p:spPr>
        <p:txBody>
          <a:bodyPr/>
          <a:lstStyle/>
          <a:p>
            <a:pPr algn="ctr">
              <a:defRPr sz="1275" i="1">
                <a:solidFill>
                  <a:srgbClr val="667085"/>
                </a:solidFill>
              </a:defRPr>
            </a:pPr>
            <a:r>
              <a:rPr sz="1275" i="1">
                <a:solidFill>
                  <a:srgbClr val="667085"/>
                </a:solidFill>
                <a:latin typeface="Times New Roman" panose="02020603050405020304" pitchFamily="18" charset="0"/>
              </a:rPr>
              <a:t>The paper therefore studies whether AI shifts the stopping rule by changing perceived evidentiary sufficiency.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矩形 20"/>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0" name="椭圆 19"/>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RESEARCH QUESTIONS</a:t>
            </a:r>
          </a:p>
        </p:txBody>
      </p:sp>
      <p:sp>
        <p:nvSpPr>
          <p:cNvPr id="6" name="矩形 5"/>
          <p:cNvSpPr>
            <a:spLocks noGrp="1"/>
          </p:cNvSpPr>
          <p:nvPr/>
        </p:nvSpPr>
        <p:spPr>
          <a:xfrm>
            <a:off x="914400" y="914400"/>
            <a:ext cx="8191500" cy="704850"/>
          </a:xfrm>
          <a:prstGeom prst="rect">
            <a:avLst/>
          </a:prstGeom>
          <a:noFill/>
          <a:ln w="0">
            <a:noFill/>
            <a:prstDash val="solid"/>
          </a:ln>
        </p:spPr>
        <p:txBody>
          <a:bodyPr/>
          <a:lstStyle/>
          <a:p>
            <a:pPr algn="l">
              <a:buNone/>
              <a:defRPr sz="2700" b="1" i="0">
                <a:solidFill>
                  <a:srgbClr val="1E2433"/>
                </a:solidFill>
                <a:latin typeface="Times New Roman" panose="02020603050405020304"/>
                <a:ea typeface="Times New Roman" panose="02020603050405020304"/>
                <a:cs typeface="Times New Roman" panose="02020603050405020304"/>
              </a:defRPr>
            </a:pPr>
            <a:r>
              <a:rPr sz="2700" b="1" i="0">
                <a:solidFill>
                  <a:srgbClr val="1E2433"/>
                </a:solidFill>
                <a:latin typeface="Times New Roman" panose="02020603050405020304" pitchFamily="18" charset="0"/>
                <a:ea typeface="Times New Roman" panose="02020603050405020304"/>
                <a:cs typeface="Times New Roman" panose="02020603050405020304"/>
              </a:rPr>
              <a:t>The study asks three linked questions</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sequence runs from behavior, to normative evaluation, to metacognitive calibration.</a:t>
            </a:r>
          </a:p>
        </p:txBody>
      </p:sp>
      <p:sp>
        <p:nvSpPr>
          <p:cNvPr id="8" name="矩形: 圆角 7"/>
          <p:cNvSpPr>
            <a:spLocks noGrp="1"/>
          </p:cNvSpPr>
          <p:nvPr/>
        </p:nvSpPr>
        <p:spPr>
          <a:xfrm>
            <a:off x="914400" y="2266950"/>
            <a:ext cx="3086100" cy="2819400"/>
          </a:xfrm>
          <a:prstGeom prst="roundRect">
            <a:avLst>
              <a:gd name="adj" fmla="val 2703"/>
            </a:avLst>
          </a:prstGeom>
          <a:solidFill>
            <a:srgbClr val="FFF9F0"/>
          </a:solidFill>
          <a:ln w="9525">
            <a:solidFill>
              <a:srgbClr val="E8DCCB"/>
            </a:solidFill>
            <a:prstDash val="solid"/>
          </a:ln>
        </p:spPr>
      </p:sp>
      <p:sp>
        <p:nvSpPr>
          <p:cNvPr id="9" name="矩形 8"/>
          <p:cNvSpPr>
            <a:spLocks noGrp="1"/>
          </p:cNvSpPr>
          <p:nvPr/>
        </p:nvSpPr>
        <p:spPr>
          <a:xfrm>
            <a:off x="914400" y="2266950"/>
            <a:ext cx="57150" cy="28194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RQ1</a:t>
            </a:r>
          </a:p>
        </p:txBody>
      </p:sp>
      <p:sp>
        <p:nvSpPr>
          <p:cNvPr id="11" name="矩形 10"/>
          <p:cNvSpPr>
            <a:spLocks noGrp="1"/>
          </p:cNvSpPr>
          <p:nvPr/>
        </p:nvSpPr>
        <p:spPr>
          <a:xfrm>
            <a:off x="1085850" y="2724150"/>
            <a:ext cx="2800350" cy="2247900"/>
          </a:xfrm>
          <a:prstGeom prst="rect">
            <a:avLst/>
          </a:prstGeom>
          <a:noFill/>
          <a:ln w="0">
            <a:noFill/>
            <a:prstDash val="solid"/>
          </a:ln>
        </p:spPr>
        <p:txBody>
          <a:bodyPr/>
          <a:lstStyle/>
          <a:p>
            <a:pPr algn="l">
              <a:buNone/>
              <a:defRPr sz="1650" b="0" i="0">
                <a:solidFill>
                  <a:srgbClr val="5E6675"/>
                </a:solidFill>
                <a:latin typeface="Times New Roman" panose="02020603050405020304"/>
                <a:ea typeface="Times New Roman" panose="02020603050405020304"/>
                <a:cs typeface="Times New Roman" panose="02020603050405020304"/>
              </a:defRPr>
            </a:pPr>
            <a:r>
              <a:rPr sz="1650" b="0" i="0">
                <a:solidFill>
                  <a:srgbClr val="5E6675"/>
                </a:solidFill>
                <a:latin typeface="Times New Roman" panose="02020603050405020304" pitchFamily="18" charset="0"/>
                <a:ea typeface="Times New Roman" panose="02020603050405020304"/>
                <a:cs typeface="Times New Roman" panose="02020603050405020304"/>
              </a:rPr>
              <a:t>Does an AI-labeled summary lower the stopping threshold for additional search?</a:t>
            </a:r>
          </a:p>
        </p:txBody>
      </p:sp>
      <p:sp>
        <p:nvSpPr>
          <p:cNvPr id="12" name="矩形: 圆角 11"/>
          <p:cNvSpPr>
            <a:spLocks noGrp="1"/>
          </p:cNvSpPr>
          <p:nvPr/>
        </p:nvSpPr>
        <p:spPr>
          <a:xfrm>
            <a:off x="4552950" y="2266950"/>
            <a:ext cx="3086100" cy="2819400"/>
          </a:xfrm>
          <a:prstGeom prst="roundRect">
            <a:avLst>
              <a:gd name="adj" fmla="val 2703"/>
            </a:avLst>
          </a:prstGeom>
          <a:solidFill>
            <a:srgbClr val="FFF9F0"/>
          </a:solidFill>
          <a:ln w="9525">
            <a:solidFill>
              <a:srgbClr val="E8DCCB"/>
            </a:solidFill>
            <a:prstDash val="solid"/>
          </a:ln>
        </p:spPr>
      </p:sp>
      <p:sp>
        <p:nvSpPr>
          <p:cNvPr id="13" name="矩形 12"/>
          <p:cNvSpPr>
            <a:spLocks noGrp="1"/>
          </p:cNvSpPr>
          <p:nvPr/>
        </p:nvSpPr>
        <p:spPr>
          <a:xfrm>
            <a:off x="4552950" y="2266950"/>
            <a:ext cx="57150" cy="2819400"/>
          </a:xfrm>
          <a:prstGeom prst="rect">
            <a:avLst/>
          </a:prstGeom>
          <a:solidFill>
            <a:srgbClr val="C89B4A"/>
          </a:solidFill>
          <a:ln w="0">
            <a:solidFill>
              <a:srgbClr val="C89B4A"/>
            </a:solidFill>
            <a:prstDash val="solid"/>
          </a:ln>
        </p:spPr>
      </p:sp>
      <p:sp>
        <p:nvSpPr>
          <p:cNvPr id="14" name="矩形 13"/>
          <p:cNvSpPr>
            <a:spLocks noGrp="1"/>
          </p:cNvSpPr>
          <p:nvPr/>
        </p:nvSpPr>
        <p:spPr>
          <a:xfrm>
            <a:off x="4724400" y="2381250"/>
            <a:ext cx="28003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RQ2</a:t>
            </a:r>
          </a:p>
        </p:txBody>
      </p:sp>
      <p:sp>
        <p:nvSpPr>
          <p:cNvPr id="15" name="矩形 14"/>
          <p:cNvSpPr>
            <a:spLocks noGrp="1"/>
          </p:cNvSpPr>
          <p:nvPr/>
        </p:nvSpPr>
        <p:spPr>
          <a:xfrm>
            <a:off x="4724400" y="2724150"/>
            <a:ext cx="28003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When search falls, is that rational information compression or harmful information-acquisition deviation?</a:t>
            </a:r>
          </a:p>
        </p:txBody>
      </p:sp>
      <p:sp>
        <p:nvSpPr>
          <p:cNvPr id="16" name="矩形: 圆角 15"/>
          <p:cNvSpPr>
            <a:spLocks noGrp="1"/>
          </p:cNvSpPr>
          <p:nvPr/>
        </p:nvSpPr>
        <p:spPr>
          <a:xfrm>
            <a:off x="8191500" y="2266950"/>
            <a:ext cx="3009900" cy="2819400"/>
          </a:xfrm>
          <a:prstGeom prst="roundRect">
            <a:avLst>
              <a:gd name="adj" fmla="val 2703"/>
            </a:avLst>
          </a:prstGeom>
          <a:solidFill>
            <a:srgbClr val="FFF9F0"/>
          </a:solidFill>
          <a:ln w="9525">
            <a:solidFill>
              <a:srgbClr val="E8DCCB"/>
            </a:solidFill>
            <a:prstDash val="solid"/>
          </a:ln>
        </p:spPr>
      </p:sp>
      <p:sp>
        <p:nvSpPr>
          <p:cNvPr id="17" name="矩形 16"/>
          <p:cNvSpPr>
            <a:spLocks noGrp="1"/>
          </p:cNvSpPr>
          <p:nvPr/>
        </p:nvSpPr>
        <p:spPr>
          <a:xfrm>
            <a:off x="8191500" y="2266950"/>
            <a:ext cx="57150" cy="2819400"/>
          </a:xfrm>
          <a:prstGeom prst="rect">
            <a:avLst/>
          </a:prstGeom>
          <a:solidFill>
            <a:srgbClr val="78836A"/>
          </a:solidFill>
          <a:ln w="0">
            <a:solidFill>
              <a:srgbClr val="78836A"/>
            </a:solidFill>
            <a:prstDash val="solid"/>
          </a:ln>
        </p:spPr>
      </p:sp>
      <p:sp>
        <p:nvSpPr>
          <p:cNvPr id="18" name="矩形 17"/>
          <p:cNvSpPr>
            <a:spLocks noGrp="1"/>
          </p:cNvSpPr>
          <p:nvPr/>
        </p:nvSpPr>
        <p:spPr>
          <a:xfrm>
            <a:off x="8362950" y="2381250"/>
            <a:ext cx="2724150" cy="285750"/>
          </a:xfrm>
          <a:prstGeom prst="rect">
            <a:avLst/>
          </a:prstGeom>
          <a:noFill/>
          <a:ln w="0">
            <a:noFill/>
            <a:prstDash val="solid"/>
          </a:ln>
        </p:spPr>
        <p:txBody>
          <a:bodyPr/>
          <a:lstStyle/>
          <a:p>
            <a:pPr algn="l">
              <a:buNone/>
              <a:defRPr sz="2100" b="1" i="0">
                <a:solidFill>
                  <a:srgbClr val="1E2433"/>
                </a:solidFill>
                <a:latin typeface="Times New Roman" panose="02020603050405020304"/>
                <a:ea typeface="Times New Roman" panose="02020603050405020304"/>
                <a:cs typeface="Times New Roman" panose="02020603050405020304"/>
              </a:defRPr>
            </a:pPr>
            <a:r>
              <a:rPr sz="2100" b="1" i="0">
                <a:solidFill>
                  <a:srgbClr val="1E2433"/>
                </a:solidFill>
                <a:latin typeface="Times New Roman" panose="02020603050405020304" pitchFamily="18" charset="0"/>
                <a:ea typeface="Times New Roman" panose="02020603050405020304"/>
                <a:cs typeface="Times New Roman" panose="02020603050405020304"/>
              </a:rPr>
              <a:t>RQ3</a:t>
            </a:r>
          </a:p>
        </p:txBody>
      </p:sp>
      <p:sp>
        <p:nvSpPr>
          <p:cNvPr id="19" name="矩形 18"/>
          <p:cNvSpPr>
            <a:spLocks noGrp="1"/>
          </p:cNvSpPr>
          <p:nvPr/>
        </p:nvSpPr>
        <p:spPr>
          <a:xfrm>
            <a:off x="8362950" y="2724150"/>
            <a:ext cx="2724150" cy="2247900"/>
          </a:xfrm>
          <a:prstGeom prst="rect">
            <a:avLst/>
          </a:prstGeom>
          <a:noFill/>
          <a:ln w="0">
            <a:noFill/>
            <a:prstDash val="solid"/>
          </a:ln>
        </p:spPr>
        <p:txBody>
          <a:bodyPr/>
          <a:lstStyle/>
          <a:p>
            <a:pPr algn="l">
              <a:buNone/>
              <a:defRPr sz="1575" b="0" i="0">
                <a:solidFill>
                  <a:srgbClr val="5E6675"/>
                </a:solidFill>
                <a:latin typeface="Times New Roman" panose="02020603050405020304"/>
                <a:ea typeface="Times New Roman" panose="02020603050405020304"/>
                <a:cs typeface="Times New Roman" panose="02020603050405020304"/>
              </a:defRPr>
            </a:pPr>
            <a:r>
              <a:rPr sz="1575" b="0" i="0">
                <a:solidFill>
                  <a:srgbClr val="5E6675"/>
                </a:solidFill>
                <a:latin typeface="Times New Roman" panose="02020603050405020304" pitchFamily="18" charset="0"/>
                <a:ea typeface="Times New Roman" panose="02020603050405020304"/>
                <a:cs typeface="Times New Roman" panose="02020603050405020304"/>
              </a:rPr>
              <a:t>Does subjective information mastery become misaligned with objective judgment quality?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4" name="椭圆 23"/>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lang="en-US" sz="1050" b="1" i="0">
                <a:solidFill>
                  <a:srgbClr val="B45A3C"/>
                </a:solidFill>
                <a:latin typeface="Times New Roman" panose="02020603050405020304" pitchFamily="18" charset="0"/>
                <a:ea typeface="Times New Roman" panose="02020603050405020304"/>
                <a:cs typeface="Times New Roman" panose="02020603050405020304"/>
              </a:rPr>
              <a:t>TASK PROTOTYPE</a:t>
            </a:r>
            <a:endParaRPr sz="1050" b="1" i="0">
              <a:solidFill>
                <a:srgbClr val="B45A3C"/>
              </a:solidFill>
              <a:latin typeface="Times New Roman" panose="02020603050405020304" pitchFamily="18" charset="0"/>
              <a:ea typeface="Times New Roman" panose="02020603050405020304"/>
              <a:cs typeface="Times New Roman" panose="02020603050405020304"/>
            </a:endParaRPr>
          </a:p>
        </p:txBody>
      </p:sp>
      <p:sp>
        <p:nvSpPr>
          <p:cNvPr id="6" name="矩形 5"/>
          <p:cNvSpPr>
            <a:spLocks noGrp="1"/>
          </p:cNvSpPr>
          <p:nvPr/>
        </p:nvSpPr>
        <p:spPr>
          <a:xfrm>
            <a:off x="914400" y="914400"/>
            <a:ext cx="95250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lang="en-US" sz="2475"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endParaRPr sz="247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lang="en-US" sz="1350" b="0" i="0">
                <a:solidFill>
                  <a:srgbClr val="5E6675"/>
                </a:solidFill>
                <a:latin typeface="Times New Roman" panose="02020603050405020304" pitchFamily="18" charset="0"/>
                <a:ea typeface="Times New Roman" panose="02020603050405020304"/>
                <a:cs typeface="Times New Roman" panose="02020603050405020304"/>
              </a:rPr>
              <a:t>The task adapts a classic urn-drawing / bookbag-and-poker-chip belief-updating paradigm to a company-risk setting. Participants either enter the full evidence pool directly or begin with a summary-first answer, then decide whether to inspect additional evidence under the same search cost.</a:t>
            </a:r>
            <a:endParaRPr sz="1350"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8" name="矩形: 圆角 7"/>
          <p:cNvSpPr>
            <a:spLocks noGrp="1"/>
          </p:cNvSpPr>
          <p:nvPr/>
        </p:nvSpPr>
        <p:spPr>
          <a:xfrm>
            <a:off x="914400" y="2266950"/>
            <a:ext cx="4762500" cy="1409700"/>
          </a:xfrm>
          <a:prstGeom prst="roundRect">
            <a:avLst>
              <a:gd name="adj" fmla="val 5405"/>
            </a:avLst>
          </a:prstGeom>
          <a:solidFill>
            <a:srgbClr val="FFF9F0"/>
          </a:solidFill>
          <a:ln w="9525">
            <a:solidFill>
              <a:srgbClr val="E8DCCB"/>
            </a:solidFill>
            <a:prstDash val="solid"/>
          </a:ln>
        </p:spPr>
      </p:sp>
      <p:sp>
        <p:nvSpPr>
          <p:cNvPr id="9" name="矩形 8"/>
          <p:cNvSpPr>
            <a:spLocks noGrp="1"/>
          </p:cNvSpPr>
          <p:nvPr/>
        </p:nvSpPr>
        <p:spPr>
          <a:xfrm>
            <a:off x="914400" y="2266950"/>
            <a:ext cx="57150" cy="1409700"/>
          </a:xfrm>
          <a:prstGeom prst="rect">
            <a:avLst/>
          </a:prstGeom>
          <a:solidFill>
            <a:srgbClr val="B45A3C"/>
          </a:solidFill>
          <a:ln w="0">
            <a:solidFill>
              <a:srgbClr val="B45A3C"/>
            </a:solidFill>
            <a:prstDash val="solid"/>
          </a:ln>
        </p:spPr>
      </p:sp>
      <p:sp>
        <p:nvSpPr>
          <p:cNvPr id="10" name="矩形 9"/>
          <p:cNvSpPr>
            <a:spLocks noGrp="1"/>
          </p:cNvSpPr>
          <p:nvPr/>
        </p:nvSpPr>
        <p:spPr>
          <a:xfrm>
            <a:off x="10858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Classical Bayesian prototype</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1" name="矩形 10"/>
          <p:cNvSpPr>
            <a:spLocks noGrp="1"/>
          </p:cNvSpPr>
          <p:nvPr/>
        </p:nvSpPr>
        <p:spPr>
          <a:xfrm>
            <a:off x="10858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 fixed evidence environment allows posterior judgments to be benchmarked against a normative updating rule.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2" name="矩形: 圆角 11"/>
          <p:cNvSpPr>
            <a:spLocks noGrp="1"/>
          </p:cNvSpPr>
          <p:nvPr/>
        </p:nvSpPr>
        <p:spPr>
          <a:xfrm>
            <a:off x="6438900" y="2266950"/>
            <a:ext cx="4762500" cy="1409700"/>
          </a:xfrm>
          <a:prstGeom prst="roundRect">
            <a:avLst>
              <a:gd name="adj" fmla="val 5405"/>
            </a:avLst>
          </a:prstGeom>
          <a:solidFill>
            <a:srgbClr val="FFF9F0"/>
          </a:solidFill>
          <a:ln w="9525">
            <a:solidFill>
              <a:srgbClr val="E8DCCB"/>
            </a:solidFill>
            <a:prstDash val="solid"/>
          </a:ln>
        </p:spPr>
      </p:sp>
      <p:sp>
        <p:nvSpPr>
          <p:cNvPr id="13" name="矩形 12"/>
          <p:cNvSpPr>
            <a:spLocks noGrp="1"/>
          </p:cNvSpPr>
          <p:nvPr/>
        </p:nvSpPr>
        <p:spPr>
          <a:xfrm>
            <a:off x="6438900" y="2266950"/>
            <a:ext cx="57150" cy="1409700"/>
          </a:xfrm>
          <a:prstGeom prst="rect">
            <a:avLst/>
          </a:prstGeom>
          <a:solidFill>
            <a:srgbClr val="C89B4A"/>
          </a:solidFill>
          <a:ln w="0">
            <a:solidFill>
              <a:srgbClr val="C89B4A"/>
            </a:solidFill>
            <a:prstDash val="solid"/>
          </a:ln>
        </p:spPr>
      </p:sp>
      <p:sp>
        <p:nvSpPr>
          <p:cNvPr id="14" name="矩形 13"/>
          <p:cNvSpPr>
            <a:spLocks noGrp="1"/>
          </p:cNvSpPr>
          <p:nvPr/>
        </p:nvSpPr>
        <p:spPr>
          <a:xfrm>
            <a:off x="6610350" y="23812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Company-risk contextualization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5" name="矩形 14"/>
          <p:cNvSpPr>
            <a:spLocks noGrp="1"/>
          </p:cNvSpPr>
          <p:nvPr/>
        </p:nvSpPr>
        <p:spPr>
          <a:xfrm>
            <a:off x="6610350" y="27241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The abstract belief-updating task is reframed as judging whether a focal company faces substantial hidden risk.</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16" name="矩形: 圆角 15"/>
          <p:cNvSpPr>
            <a:spLocks noGrp="1"/>
          </p:cNvSpPr>
          <p:nvPr/>
        </p:nvSpPr>
        <p:spPr>
          <a:xfrm>
            <a:off x="914400" y="3943350"/>
            <a:ext cx="4762500" cy="1409700"/>
          </a:xfrm>
          <a:prstGeom prst="roundRect">
            <a:avLst>
              <a:gd name="adj" fmla="val 5405"/>
            </a:avLst>
          </a:prstGeom>
          <a:solidFill>
            <a:srgbClr val="FFF9F0"/>
          </a:solidFill>
          <a:ln w="9525">
            <a:solidFill>
              <a:srgbClr val="E8DCCB"/>
            </a:solidFill>
            <a:prstDash val="solid"/>
          </a:ln>
        </p:spPr>
      </p:sp>
      <p:sp>
        <p:nvSpPr>
          <p:cNvPr id="17" name="矩形 16"/>
          <p:cNvSpPr>
            <a:spLocks noGrp="1"/>
          </p:cNvSpPr>
          <p:nvPr/>
        </p:nvSpPr>
        <p:spPr>
          <a:xfrm>
            <a:off x="914400" y="3943350"/>
            <a:ext cx="57150" cy="1409700"/>
          </a:xfrm>
          <a:prstGeom prst="rect">
            <a:avLst/>
          </a:prstGeom>
          <a:solidFill>
            <a:srgbClr val="B45A3C"/>
          </a:solidFill>
          <a:ln w="0">
            <a:solidFill>
              <a:srgbClr val="B45A3C"/>
            </a:solidFill>
            <a:prstDash val="solid"/>
          </a:ln>
        </p:spPr>
      </p:sp>
      <p:sp>
        <p:nvSpPr>
          <p:cNvPr id="18" name="矩形 17"/>
          <p:cNvSpPr>
            <a:spLocks noGrp="1"/>
          </p:cNvSpPr>
          <p:nvPr/>
        </p:nvSpPr>
        <p:spPr>
          <a:xfrm>
            <a:off x="10858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Summary-first presentation</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19" name="矩形 18"/>
          <p:cNvSpPr>
            <a:spLocks noGrp="1"/>
          </p:cNvSpPr>
          <p:nvPr/>
        </p:nvSpPr>
        <p:spPr>
          <a:xfrm>
            <a:off x="10858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Some participants receive an initial answer before they see raw evidence, recreating a generative-AI interaction sequence.</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
        <p:nvSpPr>
          <p:cNvPr id="20" name="矩形: 圆角 19"/>
          <p:cNvSpPr>
            <a:spLocks noGrp="1"/>
          </p:cNvSpPr>
          <p:nvPr/>
        </p:nvSpPr>
        <p:spPr>
          <a:xfrm>
            <a:off x="6438900" y="3943350"/>
            <a:ext cx="4762500" cy="1409700"/>
          </a:xfrm>
          <a:prstGeom prst="roundRect">
            <a:avLst>
              <a:gd name="adj" fmla="val 5405"/>
            </a:avLst>
          </a:prstGeom>
          <a:solidFill>
            <a:srgbClr val="FFF9F0"/>
          </a:solidFill>
          <a:ln w="9525">
            <a:solidFill>
              <a:srgbClr val="E8DCCB"/>
            </a:solidFill>
            <a:prstDash val="solid"/>
          </a:ln>
        </p:spPr>
      </p:sp>
      <p:sp>
        <p:nvSpPr>
          <p:cNvPr id="21" name="矩形 20"/>
          <p:cNvSpPr>
            <a:spLocks noGrp="1"/>
          </p:cNvSpPr>
          <p:nvPr/>
        </p:nvSpPr>
        <p:spPr>
          <a:xfrm>
            <a:off x="6438900" y="3943350"/>
            <a:ext cx="57150" cy="1409700"/>
          </a:xfrm>
          <a:prstGeom prst="rect">
            <a:avLst/>
          </a:prstGeom>
          <a:solidFill>
            <a:srgbClr val="C89B4A"/>
          </a:solidFill>
          <a:ln w="0">
            <a:solidFill>
              <a:srgbClr val="C89B4A"/>
            </a:solidFill>
            <a:prstDash val="solid"/>
          </a:ln>
        </p:spPr>
      </p:sp>
      <p:sp>
        <p:nvSpPr>
          <p:cNvPr id="22" name="矩形 21"/>
          <p:cNvSpPr>
            <a:spLocks noGrp="1"/>
          </p:cNvSpPr>
          <p:nvPr/>
        </p:nvSpPr>
        <p:spPr>
          <a:xfrm>
            <a:off x="6610350" y="4057650"/>
            <a:ext cx="4476750" cy="285750"/>
          </a:xfrm>
          <a:prstGeom prst="rect">
            <a:avLst/>
          </a:prstGeom>
          <a:noFill/>
          <a:ln w="0">
            <a:noFill/>
            <a:prstDash val="solid"/>
          </a:ln>
        </p:spPr>
        <p:txBody>
          <a:bodyPr/>
          <a:lstStyle/>
          <a:p>
            <a:pPr algn="l">
              <a:buNone/>
              <a:defRPr sz="1725" b="1" i="0">
                <a:solidFill>
                  <a:srgbClr val="1E2433"/>
                </a:solidFill>
                <a:latin typeface="Times New Roman" panose="02020603050405020304"/>
                <a:ea typeface="Times New Roman" panose="02020603050405020304"/>
                <a:cs typeface="Times New Roman" panose="02020603050405020304"/>
              </a:defRPr>
            </a:pPr>
            <a:r>
              <a:rPr lang="en-US" sz="1725" b="1" i="0">
                <a:solidFill>
                  <a:srgbClr val="1E2433"/>
                </a:solidFill>
                <a:latin typeface="Times New Roman" panose="02020603050405020304" pitchFamily="18" charset="0"/>
                <a:ea typeface="Times New Roman" panose="02020603050405020304"/>
                <a:cs typeface="Times New Roman" panose="02020603050405020304"/>
              </a:rPr>
              <a:t>Common follow-on search</a:t>
            </a:r>
            <a:endParaRPr sz="1725" b="1" i="0">
              <a:solidFill>
                <a:srgbClr val="1E2433"/>
              </a:solidFill>
              <a:latin typeface="Times New Roman" panose="02020603050405020304" pitchFamily="18" charset="0"/>
              <a:ea typeface="Times New Roman" panose="02020603050405020304"/>
              <a:cs typeface="Times New Roman" panose="02020603050405020304"/>
            </a:endParaRPr>
          </a:p>
        </p:txBody>
      </p:sp>
      <p:sp>
        <p:nvSpPr>
          <p:cNvPr id="23" name="矩形 22"/>
          <p:cNvSpPr>
            <a:spLocks noGrp="1"/>
          </p:cNvSpPr>
          <p:nvPr/>
        </p:nvSpPr>
        <p:spPr>
          <a:xfrm>
            <a:off x="6610350" y="4400550"/>
            <a:ext cx="4476750" cy="838200"/>
          </a:xfrm>
          <a:prstGeom prst="rect">
            <a:avLst/>
          </a:prstGeom>
          <a:noFill/>
          <a:ln w="0">
            <a:noFill/>
            <a:prstDash val="solid"/>
          </a:ln>
        </p:spPr>
        <p:txBody>
          <a:bodyPr/>
          <a:lstStyle/>
          <a:p>
            <a:pPr algn="l">
              <a:buNone/>
              <a:defRPr sz="1275" b="0" i="0">
                <a:solidFill>
                  <a:srgbClr val="5E6675"/>
                </a:solidFill>
                <a:latin typeface="Times New Roman" panose="02020603050405020304"/>
                <a:ea typeface="Times New Roman" panose="02020603050405020304"/>
                <a:cs typeface="Times New Roman" panose="02020603050405020304"/>
              </a:defRPr>
            </a:pPr>
            <a:r>
              <a:rPr lang="en-US" sz="1275" b="0" i="0">
                <a:solidFill>
                  <a:srgbClr val="5E6675"/>
                </a:solidFill>
                <a:latin typeface="Times New Roman" panose="02020603050405020304" pitchFamily="18" charset="0"/>
                <a:ea typeface="Times New Roman" panose="02020603050405020304"/>
                <a:cs typeface="Times New Roman" panose="02020603050405020304"/>
              </a:rPr>
              <a:t>All groups can inspect additional evidence from the same full pool at the same marginal search cost.</a:t>
            </a:r>
            <a:endParaRPr sz="1275" b="0" i="0">
              <a:solidFill>
                <a:srgbClr val="5E6675"/>
              </a:solidFill>
              <a:latin typeface="Times New Roman" panose="02020603050405020304" pitchFamily="18" charset="0"/>
              <a:ea typeface="Times New Roman" panose="02020603050405020304"/>
              <a:cs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矩形 32"/>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32" name="椭圆 31"/>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DESIGN</a:t>
            </a:r>
          </a:p>
        </p:txBody>
      </p:sp>
      <p:sp>
        <p:nvSpPr>
          <p:cNvPr id="6" name="矩形 5"/>
          <p:cNvSpPr>
            <a:spLocks noGrp="1"/>
          </p:cNvSpPr>
          <p:nvPr/>
        </p:nvSpPr>
        <p:spPr>
          <a:xfrm>
            <a:off x="914400" y="914400"/>
            <a:ext cx="9715500" cy="704850"/>
          </a:xfrm>
          <a:prstGeom prst="rect">
            <a:avLst/>
          </a:prstGeom>
          <a:noFill/>
          <a:ln w="0">
            <a:noFill/>
            <a:prstDash val="solid"/>
          </a:ln>
        </p:spPr>
        <p:txBody>
          <a:bodyPr/>
          <a:lstStyle/>
          <a:p>
            <a:pPr algn="l">
              <a:buNone/>
              <a:defRPr sz="2475" b="1" i="0">
                <a:solidFill>
                  <a:srgbClr val="1E2433"/>
                </a:solidFill>
                <a:latin typeface="Times New Roman" panose="02020603050405020304"/>
                <a:ea typeface="Times New Roman" panose="02020603050405020304"/>
                <a:cs typeface="Times New Roman" panose="02020603050405020304"/>
              </a:defRPr>
            </a:pPr>
            <a:r>
              <a:rPr sz="2475" b="1" i="0">
                <a:solidFill>
                  <a:srgbClr val="1E2433"/>
                </a:solidFill>
                <a:latin typeface="Times New Roman" panose="02020603050405020304" pitchFamily="18" charset="0"/>
                <a:ea typeface="Times New Roman" panose="02020603050405020304"/>
                <a:cs typeface="Times New Roman" panose="02020603050405020304"/>
              </a:rPr>
              <a:t>The experiment has five groups built on one shared evidence pool</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One baseline enters the full evidence pool directly, and four summary groups vary completeness and source label.</a:t>
            </a:r>
          </a:p>
        </p:txBody>
      </p:sp>
      <p:sp>
        <p:nvSpPr>
          <p:cNvPr id="8" name="矩形: 圆角 7"/>
          <p:cNvSpPr>
            <a:spLocks noGrp="1"/>
          </p:cNvSpPr>
          <p:nvPr/>
        </p:nvSpPr>
        <p:spPr>
          <a:xfrm>
            <a:off x="914400" y="2381250"/>
            <a:ext cx="1905000" cy="2038350"/>
          </a:xfrm>
          <a:prstGeom prst="roundRect">
            <a:avLst>
              <a:gd name="adj" fmla="val 4000"/>
            </a:avLst>
          </a:prstGeom>
          <a:solidFill>
            <a:srgbClr val="FFF9F0"/>
          </a:solidFill>
          <a:ln w="9525">
            <a:solidFill>
              <a:srgbClr val="E8DCCB"/>
            </a:solidFill>
            <a:prstDash val="solid"/>
          </a:ln>
        </p:spPr>
      </p:sp>
      <p:sp>
        <p:nvSpPr>
          <p:cNvPr id="9" name="矩形 8"/>
          <p:cNvSpPr>
            <a:spLocks noGrp="1"/>
          </p:cNvSpPr>
          <p:nvPr/>
        </p:nvSpPr>
        <p:spPr>
          <a:xfrm>
            <a:off x="914400" y="2381250"/>
            <a:ext cx="57150" cy="2038350"/>
          </a:xfrm>
          <a:prstGeom prst="rect">
            <a:avLst/>
          </a:prstGeom>
          <a:solidFill>
            <a:srgbClr val="78836A"/>
          </a:solidFill>
          <a:ln w="0">
            <a:solidFill>
              <a:srgbClr val="78836A"/>
            </a:solidFill>
            <a:prstDash val="solid"/>
          </a:ln>
        </p:spPr>
      </p:sp>
      <p:sp>
        <p:nvSpPr>
          <p:cNvPr id="10" name="矩形 9"/>
          <p:cNvSpPr>
            <a:spLocks noGrp="1"/>
          </p:cNvSpPr>
          <p:nvPr/>
        </p:nvSpPr>
        <p:spPr>
          <a:xfrm>
            <a:off x="1085850" y="2495550"/>
            <a:ext cx="1619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Baseline</a:t>
            </a:r>
          </a:p>
        </p:txBody>
      </p:sp>
      <p:sp>
        <p:nvSpPr>
          <p:cNvPr id="11" name="矩形 10"/>
          <p:cNvSpPr>
            <a:spLocks noGrp="1"/>
          </p:cNvSpPr>
          <p:nvPr/>
        </p:nvSpPr>
        <p:spPr>
          <a:xfrm>
            <a:off x="1085850" y="2838450"/>
            <a:ext cx="161925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No summary</a:t>
            </a:r>
          </a:p>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Direct entry to the evidence pool</a:t>
            </a:r>
          </a:p>
        </p:txBody>
      </p:sp>
      <p:sp>
        <p:nvSpPr>
          <p:cNvPr id="12" name="矩形: 圆角 11"/>
          <p:cNvSpPr>
            <a:spLocks noGrp="1"/>
          </p:cNvSpPr>
          <p:nvPr/>
        </p:nvSpPr>
        <p:spPr>
          <a:xfrm>
            <a:off x="3048000" y="2381250"/>
            <a:ext cx="203835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3048000" y="2381250"/>
            <a:ext cx="57150" cy="2038350"/>
          </a:xfrm>
          <a:prstGeom prst="rect">
            <a:avLst/>
          </a:prstGeom>
          <a:solidFill>
            <a:srgbClr val="C89B4A"/>
          </a:solidFill>
          <a:ln w="0">
            <a:solidFill>
              <a:srgbClr val="C89B4A"/>
            </a:solidFill>
            <a:prstDash val="solid"/>
          </a:ln>
        </p:spPr>
      </p:sp>
      <p:sp>
        <p:nvSpPr>
          <p:cNvPr id="14" name="矩形 13"/>
          <p:cNvSpPr>
            <a:spLocks noGrp="1"/>
          </p:cNvSpPr>
          <p:nvPr/>
        </p:nvSpPr>
        <p:spPr>
          <a:xfrm>
            <a:off x="32194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No label</a:t>
            </a:r>
          </a:p>
        </p:txBody>
      </p:sp>
      <p:sp>
        <p:nvSpPr>
          <p:cNvPr id="15" name="矩形 14"/>
          <p:cNvSpPr>
            <a:spLocks noGrp="1"/>
          </p:cNvSpPr>
          <p:nvPr/>
        </p:nvSpPr>
        <p:spPr>
          <a:xfrm>
            <a:off x="32194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p>
        </p:txBody>
      </p:sp>
      <p:sp>
        <p:nvSpPr>
          <p:cNvPr id="16" name="矩形: 圆角 15"/>
          <p:cNvSpPr>
            <a:spLocks noGrp="1"/>
          </p:cNvSpPr>
          <p:nvPr/>
        </p:nvSpPr>
        <p:spPr>
          <a:xfrm>
            <a:off x="5219700" y="2381250"/>
            <a:ext cx="2038350" cy="2038350"/>
          </a:xfrm>
          <a:prstGeom prst="roundRect">
            <a:avLst>
              <a:gd name="adj" fmla="val 3738"/>
            </a:avLst>
          </a:prstGeom>
          <a:solidFill>
            <a:srgbClr val="FFF9F0"/>
          </a:solidFill>
          <a:ln w="9525">
            <a:solidFill>
              <a:srgbClr val="E8DCCB"/>
            </a:solidFill>
            <a:prstDash val="solid"/>
          </a:ln>
        </p:spPr>
      </p:sp>
      <p:sp>
        <p:nvSpPr>
          <p:cNvPr id="17" name="矩形 16"/>
          <p:cNvSpPr>
            <a:spLocks noGrp="1"/>
          </p:cNvSpPr>
          <p:nvPr/>
        </p:nvSpPr>
        <p:spPr>
          <a:xfrm>
            <a:off x="5219700" y="2381250"/>
            <a:ext cx="57150" cy="2038350"/>
          </a:xfrm>
          <a:prstGeom prst="rect">
            <a:avLst/>
          </a:prstGeom>
          <a:solidFill>
            <a:srgbClr val="B45A3C"/>
          </a:solidFill>
          <a:ln w="0">
            <a:solidFill>
              <a:srgbClr val="B45A3C"/>
            </a:solidFill>
            <a:prstDash val="solid"/>
          </a:ln>
        </p:spPr>
      </p:sp>
      <p:sp>
        <p:nvSpPr>
          <p:cNvPr id="18" name="矩形 17"/>
          <p:cNvSpPr>
            <a:spLocks noGrp="1"/>
          </p:cNvSpPr>
          <p:nvPr/>
        </p:nvSpPr>
        <p:spPr>
          <a:xfrm>
            <a:off x="53911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p>
        </p:txBody>
      </p:sp>
      <p:sp>
        <p:nvSpPr>
          <p:cNvPr id="19" name="矩形 18"/>
          <p:cNvSpPr>
            <a:spLocks noGrp="1"/>
          </p:cNvSpPr>
          <p:nvPr/>
        </p:nvSpPr>
        <p:spPr>
          <a:xfrm>
            <a:off x="53911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Representative summary</a:t>
            </a:r>
          </a:p>
        </p:txBody>
      </p:sp>
      <p:sp>
        <p:nvSpPr>
          <p:cNvPr id="20" name="矩形: 圆角 19"/>
          <p:cNvSpPr>
            <a:spLocks noGrp="1"/>
          </p:cNvSpPr>
          <p:nvPr/>
        </p:nvSpPr>
        <p:spPr>
          <a:xfrm>
            <a:off x="7391400" y="2381250"/>
            <a:ext cx="2038350" cy="2038350"/>
          </a:xfrm>
          <a:prstGeom prst="roundRect">
            <a:avLst>
              <a:gd name="adj" fmla="val 3738"/>
            </a:avLst>
          </a:prstGeom>
          <a:solidFill>
            <a:srgbClr val="FFF9F0"/>
          </a:solidFill>
          <a:ln w="9525">
            <a:solidFill>
              <a:srgbClr val="E8DCCB"/>
            </a:solidFill>
            <a:prstDash val="solid"/>
          </a:ln>
        </p:spPr>
      </p:sp>
      <p:sp>
        <p:nvSpPr>
          <p:cNvPr id="21" name="矩形 20"/>
          <p:cNvSpPr>
            <a:spLocks noGrp="1"/>
          </p:cNvSpPr>
          <p:nvPr/>
        </p:nvSpPr>
        <p:spPr>
          <a:xfrm>
            <a:off x="7391400" y="2381250"/>
            <a:ext cx="57150" cy="2038350"/>
          </a:xfrm>
          <a:prstGeom prst="rect">
            <a:avLst/>
          </a:prstGeom>
          <a:solidFill>
            <a:srgbClr val="C89B4A"/>
          </a:solidFill>
          <a:ln w="0">
            <a:solidFill>
              <a:srgbClr val="C89B4A"/>
            </a:solidFill>
            <a:prstDash val="solid"/>
          </a:ln>
        </p:spPr>
      </p:sp>
      <p:sp>
        <p:nvSpPr>
          <p:cNvPr id="22" name="矩形 21"/>
          <p:cNvSpPr>
            <a:spLocks noGrp="1"/>
          </p:cNvSpPr>
          <p:nvPr/>
        </p:nvSpPr>
        <p:spPr>
          <a:xfrm>
            <a:off x="75628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An AI summary-assisted evidence search task in a company-risk judgment setting</a:t>
            </a:r>
          </a:p>
        </p:txBody>
      </p:sp>
      <p:sp>
        <p:nvSpPr>
          <p:cNvPr id="23" name="矩形 22"/>
          <p:cNvSpPr>
            <a:spLocks noGrp="1"/>
          </p:cNvSpPr>
          <p:nvPr/>
        </p:nvSpPr>
        <p:spPr>
          <a:xfrm>
            <a:off x="75628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design adapts a classic urn-drawing / bookbag-and-poker-chip belief-updating task and adds summary-first presentation plus follow-on evidence search.</a:t>
            </a:r>
          </a:p>
        </p:txBody>
      </p:sp>
      <p:sp>
        <p:nvSpPr>
          <p:cNvPr id="24" name="矩形: 圆角 23"/>
          <p:cNvSpPr>
            <a:spLocks noGrp="1"/>
          </p:cNvSpPr>
          <p:nvPr/>
        </p:nvSpPr>
        <p:spPr>
          <a:xfrm>
            <a:off x="9563100" y="2381250"/>
            <a:ext cx="2038350" cy="2038350"/>
          </a:xfrm>
          <a:prstGeom prst="roundRect">
            <a:avLst>
              <a:gd name="adj" fmla="val 3738"/>
            </a:avLst>
          </a:prstGeom>
          <a:solidFill>
            <a:srgbClr val="FFF9F0"/>
          </a:solidFill>
          <a:ln w="9525">
            <a:solidFill>
              <a:srgbClr val="E8DCCB"/>
            </a:solidFill>
            <a:prstDash val="solid"/>
          </a:ln>
        </p:spPr>
      </p:sp>
      <p:sp>
        <p:nvSpPr>
          <p:cNvPr id="25" name="矩形 24"/>
          <p:cNvSpPr>
            <a:spLocks noGrp="1"/>
          </p:cNvSpPr>
          <p:nvPr/>
        </p:nvSpPr>
        <p:spPr>
          <a:xfrm>
            <a:off x="9563100" y="2381250"/>
            <a:ext cx="57150" cy="2038350"/>
          </a:xfrm>
          <a:prstGeom prst="rect">
            <a:avLst/>
          </a:prstGeom>
          <a:solidFill>
            <a:srgbClr val="B45A3C"/>
          </a:solidFill>
          <a:ln w="0">
            <a:solidFill>
              <a:srgbClr val="B45A3C"/>
            </a:solidFill>
            <a:prstDash val="solid"/>
          </a:ln>
        </p:spPr>
      </p:sp>
      <p:sp>
        <p:nvSpPr>
          <p:cNvPr id="26" name="矩形 25"/>
          <p:cNvSpPr>
            <a:spLocks noGrp="1"/>
          </p:cNvSpPr>
          <p:nvPr/>
        </p:nvSpPr>
        <p:spPr>
          <a:xfrm>
            <a:off x="9734550" y="2495550"/>
            <a:ext cx="175260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Incomplete</a:t>
            </a:r>
          </a:p>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AI label</a:t>
            </a:r>
          </a:p>
        </p:txBody>
      </p:sp>
      <p:sp>
        <p:nvSpPr>
          <p:cNvPr id="27" name="矩形 26"/>
          <p:cNvSpPr>
            <a:spLocks noGrp="1"/>
          </p:cNvSpPr>
          <p:nvPr/>
        </p:nvSpPr>
        <p:spPr>
          <a:xfrm>
            <a:off x="9734550" y="2838450"/>
            <a:ext cx="1752600" cy="14668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Incomplete summary</a:t>
            </a:r>
          </a:p>
        </p:txBody>
      </p:sp>
      <p:sp>
        <p:nvSpPr>
          <p:cNvPr id="28" name="矩形: 圆角 27"/>
          <p:cNvSpPr>
            <a:spLocks noGrp="1"/>
          </p:cNvSpPr>
          <p:nvPr/>
        </p:nvSpPr>
        <p:spPr>
          <a:xfrm>
            <a:off x="1714500" y="4953000"/>
            <a:ext cx="8763000" cy="876300"/>
          </a:xfrm>
          <a:prstGeom prst="roundRect">
            <a:avLst>
              <a:gd name="adj" fmla="val 8696"/>
            </a:avLst>
          </a:prstGeom>
          <a:solidFill>
            <a:srgbClr val="FFF9F0"/>
          </a:solidFill>
          <a:ln w="9525">
            <a:solidFill>
              <a:srgbClr val="E8DCCB"/>
            </a:solidFill>
            <a:prstDash val="solid"/>
          </a:ln>
        </p:spPr>
      </p:sp>
      <p:sp>
        <p:nvSpPr>
          <p:cNvPr id="29" name="矩形 28"/>
          <p:cNvSpPr>
            <a:spLocks noGrp="1"/>
          </p:cNvSpPr>
          <p:nvPr/>
        </p:nvSpPr>
        <p:spPr>
          <a:xfrm>
            <a:off x="1714500" y="4953000"/>
            <a:ext cx="57150" cy="876300"/>
          </a:xfrm>
          <a:prstGeom prst="rect">
            <a:avLst/>
          </a:prstGeom>
          <a:solidFill>
            <a:srgbClr val="B45A3C"/>
          </a:solidFill>
          <a:ln w="0">
            <a:solidFill>
              <a:srgbClr val="B45A3C"/>
            </a:solidFill>
            <a:prstDash val="solid"/>
          </a:ln>
        </p:spPr>
      </p:sp>
      <p:sp>
        <p:nvSpPr>
          <p:cNvPr id="30" name="矩形 29"/>
          <p:cNvSpPr>
            <a:spLocks noGrp="1"/>
          </p:cNvSpPr>
          <p:nvPr/>
        </p:nvSpPr>
        <p:spPr>
          <a:xfrm>
            <a:off x="1885950" y="5067300"/>
            <a:ext cx="8477250" cy="285750"/>
          </a:xfrm>
          <a:prstGeom prst="rect">
            <a:avLst/>
          </a:prstGeom>
          <a:noFill/>
          <a:ln w="0">
            <a:noFill/>
            <a:prstDash val="solid"/>
          </a:ln>
        </p:spPr>
        <p:txBody>
          <a:bodyPr/>
          <a:lstStyle/>
          <a:p>
            <a:pPr algn="l">
              <a:buNone/>
              <a:defRPr sz="1650" b="1" i="0">
                <a:solidFill>
                  <a:srgbClr val="1E2433"/>
                </a:solidFill>
                <a:latin typeface="Times New Roman" panose="02020603050405020304"/>
                <a:ea typeface="Times New Roman" panose="02020603050405020304"/>
                <a:cs typeface="Times New Roman" panose="02020603050405020304"/>
              </a:defRPr>
            </a:pPr>
            <a:r>
              <a:rPr sz="1650" b="1" i="0">
                <a:solidFill>
                  <a:srgbClr val="1E2433"/>
                </a:solidFill>
                <a:latin typeface="Times New Roman" panose="02020603050405020304" pitchFamily="18" charset="0"/>
                <a:ea typeface="Times New Roman" panose="02020603050405020304"/>
                <a:cs typeface="Times New Roman" panose="02020603050405020304"/>
              </a:rPr>
              <a:t>Why five groups instead of a full six-cell matrix</a:t>
            </a:r>
          </a:p>
        </p:txBody>
      </p:sp>
      <p:sp>
        <p:nvSpPr>
          <p:cNvPr id="31" name="矩形 30"/>
          <p:cNvSpPr>
            <a:spLocks noGrp="1"/>
          </p:cNvSpPr>
          <p:nvPr/>
        </p:nvSpPr>
        <p:spPr>
          <a:xfrm>
            <a:off x="1885950" y="5410200"/>
            <a:ext cx="8477250" cy="30480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no-summary baseline does not need a representative versus incomplete split because everyone in that condition enters the same full evidence pool directly.</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矩形 41"/>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41" name="椭圆 40"/>
          <p:cNvSpPr>
            <a:spLocks noGrp="1"/>
          </p:cNvSpPr>
          <p:nvPr/>
        </p:nvSpPr>
        <p:spPr>
          <a:xfrm>
            <a:off x="9715500" y="-1123950"/>
            <a:ext cx="3048000" cy="3048000"/>
          </a:xfrm>
          <a:prstGeom prst="ellipse">
            <a:avLst/>
          </a:prstGeom>
          <a:solidFill>
            <a:srgbClr val="ECE0D0"/>
          </a:solidFill>
          <a:ln w="0">
            <a:solidFill>
              <a:srgbClr val="ECE0D0"/>
            </a:solidFill>
            <a:prstDash val="solid"/>
          </a:ln>
        </p:spPr>
      </p:sp>
      <p:sp>
        <p:nvSpPr>
          <p:cNvPr id="2" name="椭圆 1"/>
          <p:cNvSpPr>
            <a:spLocks noGrp="1"/>
          </p:cNvSpPr>
          <p:nvPr/>
        </p:nvSpPr>
        <p:spPr>
          <a:xfrm>
            <a:off x="-1123950" y="5143500"/>
            <a:ext cx="2286000" cy="2286000"/>
          </a:xfrm>
          <a:prstGeom prst="ellipse">
            <a:avLst/>
          </a:prstGeom>
          <a:solidFill>
            <a:srgbClr val="F1E7D9"/>
          </a:solidFill>
          <a:ln w="0">
            <a:solidFill>
              <a:srgbClr val="F1E7D9"/>
            </a:solidFill>
            <a:prstDash val="solid"/>
          </a:ln>
        </p:spPr>
      </p:sp>
      <p:sp>
        <p:nvSpPr>
          <p:cNvPr id="3" name="矩形 2"/>
          <p:cNvSpPr>
            <a:spLocks noGrp="1"/>
          </p:cNvSpPr>
          <p:nvPr/>
        </p:nvSpPr>
        <p:spPr>
          <a:xfrm>
            <a:off x="552450" y="457200"/>
            <a:ext cx="19050" cy="5943600"/>
          </a:xfrm>
          <a:prstGeom prst="rect">
            <a:avLst/>
          </a:prstGeom>
          <a:solidFill>
            <a:srgbClr val="E8C6B8"/>
          </a:solidFill>
          <a:ln w="0">
            <a:solidFill>
              <a:srgbClr val="E8C6B8"/>
            </a:solidFill>
            <a:prstDash val="solid"/>
          </a:ln>
        </p:spPr>
      </p:sp>
      <p:sp>
        <p:nvSpPr>
          <p:cNvPr id="4" name="矩形 3"/>
          <p:cNvSpPr>
            <a:spLocks noGrp="1"/>
          </p:cNvSpPr>
          <p:nvPr/>
        </p:nvSpPr>
        <p:spPr>
          <a:xfrm>
            <a:off x="914400" y="657225"/>
            <a:ext cx="171450" cy="171450"/>
          </a:xfrm>
          <a:prstGeom prst="rect">
            <a:avLst/>
          </a:prstGeom>
          <a:solidFill>
            <a:srgbClr val="B45A3C"/>
          </a:solidFill>
          <a:ln w="0">
            <a:solidFill>
              <a:srgbClr val="B45A3C"/>
            </a:solidFill>
            <a:prstDash val="solid"/>
          </a:ln>
        </p:spPr>
      </p:sp>
      <p:sp>
        <p:nvSpPr>
          <p:cNvPr id="5" name="矩形 4"/>
          <p:cNvSpPr>
            <a:spLocks noGrp="1"/>
          </p:cNvSpPr>
          <p:nvPr/>
        </p:nvSpPr>
        <p:spPr>
          <a:xfrm>
            <a:off x="1181100" y="571500"/>
            <a:ext cx="4000500" cy="228600"/>
          </a:xfrm>
          <a:prstGeom prst="rect">
            <a:avLst/>
          </a:prstGeom>
          <a:noFill/>
          <a:ln w="0">
            <a:noFill/>
            <a:prstDash val="solid"/>
          </a:ln>
        </p:spPr>
        <p:txBody>
          <a:bodyPr/>
          <a:lstStyle/>
          <a:p>
            <a:pPr algn="l">
              <a:buNone/>
              <a:defRPr sz="1050" b="1" i="0">
                <a:solidFill>
                  <a:srgbClr val="B45A3C"/>
                </a:solidFill>
                <a:latin typeface="Times New Roman" panose="02020603050405020304"/>
                <a:ea typeface="Times New Roman" panose="02020603050405020304"/>
                <a:cs typeface="Times New Roman" panose="02020603050405020304"/>
              </a:defRPr>
            </a:pPr>
            <a:r>
              <a:rPr sz="1050" b="1" i="0">
                <a:solidFill>
                  <a:srgbClr val="B45A3C"/>
                </a:solidFill>
                <a:latin typeface="Times New Roman" panose="02020603050405020304" pitchFamily="18" charset="0"/>
                <a:ea typeface="Times New Roman" panose="02020603050405020304"/>
                <a:cs typeface="Times New Roman" panose="02020603050405020304"/>
              </a:rPr>
              <a:t>IDENTIFICATION</a:t>
            </a:r>
          </a:p>
        </p:txBody>
      </p:sp>
      <p:sp>
        <p:nvSpPr>
          <p:cNvPr id="6" name="矩形 5"/>
          <p:cNvSpPr>
            <a:spLocks noGrp="1"/>
          </p:cNvSpPr>
          <p:nvPr/>
        </p:nvSpPr>
        <p:spPr>
          <a:xfrm>
            <a:off x="914400" y="914400"/>
            <a:ext cx="9334500" cy="704850"/>
          </a:xfrm>
          <a:prstGeom prst="rect">
            <a:avLst/>
          </a:prstGeom>
          <a:noFill/>
          <a:ln w="0">
            <a:noFill/>
            <a:prstDash val="solid"/>
          </a:ln>
        </p:spPr>
        <p:txBody>
          <a:bodyPr/>
          <a:lstStyle/>
          <a:p>
            <a:pPr algn="l">
              <a:buNone/>
              <a:defRPr sz="2550" b="1" i="0">
                <a:solidFill>
                  <a:srgbClr val="1E2433"/>
                </a:solidFill>
                <a:latin typeface="Times New Roman" panose="02020603050405020304"/>
                <a:ea typeface="Times New Roman" panose="02020603050405020304"/>
                <a:cs typeface="Times New Roman" panose="02020603050405020304"/>
              </a:defRPr>
            </a:pPr>
            <a:r>
              <a:rPr sz="2550" b="1" i="0">
                <a:solidFill>
                  <a:srgbClr val="1E2433"/>
                </a:solidFill>
                <a:latin typeface="Times New Roman" panose="02020603050405020304" pitchFamily="18" charset="0"/>
                <a:ea typeface="Times New Roman" panose="02020603050405020304"/>
                <a:cs typeface="Times New Roman" panose="02020603050405020304"/>
              </a:rPr>
              <a:t>The same summary text isolates the AI label effect</a:t>
            </a:r>
          </a:p>
        </p:txBody>
      </p:sp>
      <p:sp>
        <p:nvSpPr>
          <p:cNvPr id="7" name="矩形 6"/>
          <p:cNvSpPr>
            <a:spLocks noGrp="1"/>
          </p:cNvSpPr>
          <p:nvPr/>
        </p:nvSpPr>
        <p:spPr>
          <a:xfrm>
            <a:off x="914400" y="1676400"/>
            <a:ext cx="10096500" cy="285750"/>
          </a:xfrm>
          <a:prstGeom prst="rect">
            <a:avLst/>
          </a:prstGeom>
          <a:noFill/>
          <a:ln w="0">
            <a:noFill/>
            <a:prstDash val="solid"/>
          </a:ln>
        </p:spPr>
        <p:txBody>
          <a:bodyPr/>
          <a:lstStyle/>
          <a:p>
            <a:pPr algn="l">
              <a:buNone/>
              <a:defRPr sz="1350" b="0" i="0">
                <a:solidFill>
                  <a:srgbClr val="5E6675"/>
                </a:solidFill>
                <a:latin typeface="Times New Roman" panose="02020603050405020304"/>
                <a:ea typeface="Times New Roman" panose="02020603050405020304"/>
                <a:cs typeface="Times New Roman" panose="02020603050405020304"/>
              </a:defRPr>
            </a:pPr>
            <a:r>
              <a:rPr sz="1350" b="0" i="0">
                <a:solidFill>
                  <a:srgbClr val="5E6675"/>
                </a:solidFill>
                <a:latin typeface="Times New Roman" panose="02020603050405020304" pitchFamily="18" charset="0"/>
                <a:ea typeface="Times New Roman" panose="02020603050405020304"/>
                <a:cs typeface="Times New Roman" panose="02020603050405020304"/>
              </a:rPr>
              <a:t>The content stays the same while the label changes, and every participant then moves through the same additional-search sequence.</a:t>
            </a:r>
          </a:p>
        </p:txBody>
      </p:sp>
      <p:sp>
        <p:nvSpPr>
          <p:cNvPr id="8" name="矩形: 圆角 7"/>
          <p:cNvSpPr>
            <a:spLocks noGrp="1"/>
          </p:cNvSpPr>
          <p:nvPr/>
        </p:nvSpPr>
        <p:spPr>
          <a:xfrm>
            <a:off x="914400" y="2247900"/>
            <a:ext cx="4762500" cy="2038350"/>
          </a:xfrm>
          <a:prstGeom prst="roundRect">
            <a:avLst>
              <a:gd name="adj" fmla="val 3738"/>
            </a:avLst>
          </a:prstGeom>
          <a:solidFill>
            <a:srgbClr val="FFF9F0"/>
          </a:solidFill>
          <a:ln w="9525">
            <a:solidFill>
              <a:srgbClr val="E8DCCB"/>
            </a:solidFill>
            <a:prstDash val="solid"/>
          </a:ln>
        </p:spPr>
      </p:sp>
      <p:sp>
        <p:nvSpPr>
          <p:cNvPr id="9" name="矩形 8"/>
          <p:cNvSpPr>
            <a:spLocks noGrp="1"/>
          </p:cNvSpPr>
          <p:nvPr/>
        </p:nvSpPr>
        <p:spPr>
          <a:xfrm>
            <a:off x="914400" y="2247900"/>
            <a:ext cx="57150" cy="2038350"/>
          </a:xfrm>
          <a:prstGeom prst="rect">
            <a:avLst/>
          </a:prstGeom>
          <a:solidFill>
            <a:srgbClr val="C89B4A"/>
          </a:solidFill>
          <a:ln w="0">
            <a:solidFill>
              <a:srgbClr val="C89B4A"/>
            </a:solidFill>
            <a:prstDash val="solid"/>
          </a:ln>
        </p:spPr>
      </p:sp>
      <p:sp>
        <p:nvSpPr>
          <p:cNvPr id="10" name="矩形 9"/>
          <p:cNvSpPr>
            <a:spLocks noGrp="1"/>
          </p:cNvSpPr>
          <p:nvPr/>
        </p:nvSpPr>
        <p:spPr>
          <a:xfrm>
            <a:off x="1085850" y="2362200"/>
            <a:ext cx="44767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Unlabeled summary</a:t>
            </a:r>
          </a:p>
        </p:txBody>
      </p:sp>
      <p:sp>
        <p:nvSpPr>
          <p:cNvPr id="11" name="矩形 10"/>
          <p:cNvSpPr>
            <a:spLocks noGrp="1"/>
          </p:cNvSpPr>
          <p:nvPr/>
        </p:nvSpPr>
        <p:spPr>
          <a:xfrm>
            <a:off x="1085850" y="2705100"/>
            <a:ext cx="44767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a summary of the exact same initial evidence, but the source is not identified as AI.</a:t>
            </a:r>
          </a:p>
        </p:txBody>
      </p:sp>
      <p:sp>
        <p:nvSpPr>
          <p:cNvPr id="12" name="矩形: 圆角 11"/>
          <p:cNvSpPr>
            <a:spLocks noGrp="1"/>
          </p:cNvSpPr>
          <p:nvPr/>
        </p:nvSpPr>
        <p:spPr>
          <a:xfrm>
            <a:off x="6477000" y="2247900"/>
            <a:ext cx="4724400" cy="2038350"/>
          </a:xfrm>
          <a:prstGeom prst="roundRect">
            <a:avLst>
              <a:gd name="adj" fmla="val 3738"/>
            </a:avLst>
          </a:prstGeom>
          <a:solidFill>
            <a:srgbClr val="FFF9F0"/>
          </a:solidFill>
          <a:ln w="9525">
            <a:solidFill>
              <a:srgbClr val="E8DCCB"/>
            </a:solidFill>
            <a:prstDash val="solid"/>
          </a:ln>
        </p:spPr>
      </p:sp>
      <p:sp>
        <p:nvSpPr>
          <p:cNvPr id="13" name="矩形 12"/>
          <p:cNvSpPr>
            <a:spLocks noGrp="1"/>
          </p:cNvSpPr>
          <p:nvPr/>
        </p:nvSpPr>
        <p:spPr>
          <a:xfrm>
            <a:off x="6477000" y="2247900"/>
            <a:ext cx="57150" cy="2038350"/>
          </a:xfrm>
          <a:prstGeom prst="rect">
            <a:avLst/>
          </a:prstGeom>
          <a:solidFill>
            <a:srgbClr val="B45A3C"/>
          </a:solidFill>
          <a:ln w="0">
            <a:solidFill>
              <a:srgbClr val="B45A3C"/>
            </a:solidFill>
            <a:prstDash val="solid"/>
          </a:ln>
        </p:spPr>
      </p:sp>
      <p:sp>
        <p:nvSpPr>
          <p:cNvPr id="14" name="矩形 13"/>
          <p:cNvSpPr>
            <a:spLocks noGrp="1"/>
          </p:cNvSpPr>
          <p:nvPr/>
        </p:nvSpPr>
        <p:spPr>
          <a:xfrm>
            <a:off x="6648450" y="2362200"/>
            <a:ext cx="4438650" cy="285750"/>
          </a:xfrm>
          <a:prstGeom prst="rect">
            <a:avLst/>
          </a:prstGeom>
          <a:noFill/>
          <a:ln w="0">
            <a:noFill/>
            <a:prstDash val="solid"/>
          </a:ln>
        </p:spPr>
        <p:txBody>
          <a:bodyPr/>
          <a:lstStyle/>
          <a:p>
            <a:pPr algn="l">
              <a:buNone/>
              <a:defRPr sz="1875" b="1" i="0">
                <a:solidFill>
                  <a:srgbClr val="1E2433"/>
                </a:solidFill>
                <a:latin typeface="Times New Roman" panose="02020603050405020304"/>
                <a:ea typeface="Times New Roman" panose="02020603050405020304"/>
                <a:cs typeface="Times New Roman" panose="02020603050405020304"/>
              </a:defRPr>
            </a:pPr>
            <a:r>
              <a:rPr sz="1875" b="1" i="0">
                <a:solidFill>
                  <a:srgbClr val="1E2433"/>
                </a:solidFill>
                <a:latin typeface="Times New Roman" panose="02020603050405020304" pitchFamily="18" charset="0"/>
                <a:ea typeface="Times New Roman" panose="02020603050405020304"/>
                <a:cs typeface="Times New Roman" panose="02020603050405020304"/>
              </a:rPr>
              <a:t>AI-labeled summary</a:t>
            </a:r>
          </a:p>
        </p:txBody>
      </p:sp>
      <p:sp>
        <p:nvSpPr>
          <p:cNvPr id="15" name="矩形 14"/>
          <p:cNvSpPr>
            <a:spLocks noGrp="1"/>
          </p:cNvSpPr>
          <p:nvPr/>
        </p:nvSpPr>
        <p:spPr>
          <a:xfrm>
            <a:off x="6648450" y="2705100"/>
            <a:ext cx="4438650" cy="1466850"/>
          </a:xfrm>
          <a:prstGeom prst="rect">
            <a:avLst/>
          </a:prstGeom>
          <a:noFill/>
          <a:ln w="0">
            <a:noFill/>
            <a:prstDash val="solid"/>
          </a:ln>
        </p:spPr>
        <p:txBody>
          <a:bodyPr/>
          <a:lstStyle/>
          <a:p>
            <a:pPr algn="l">
              <a:buNone/>
              <a:defRPr sz="1425" b="0" i="0">
                <a:solidFill>
                  <a:srgbClr val="5E6675"/>
                </a:solidFill>
                <a:latin typeface="Times New Roman" panose="02020603050405020304"/>
                <a:ea typeface="Times New Roman" panose="02020603050405020304"/>
                <a:cs typeface="Times New Roman" panose="02020603050405020304"/>
              </a:defRPr>
            </a:pPr>
            <a:r>
              <a:rPr sz="1425" b="0" i="0">
                <a:solidFill>
                  <a:srgbClr val="5E6675"/>
                </a:solidFill>
                <a:latin typeface="Times New Roman" panose="02020603050405020304" pitchFamily="18" charset="0"/>
                <a:ea typeface="Times New Roman" panose="02020603050405020304"/>
                <a:cs typeface="Times New Roman" panose="02020603050405020304"/>
              </a:rPr>
              <a:t>The participant sees the very same summary text, but now the system explicitly says the summary was generated by AI.</a:t>
            </a:r>
          </a:p>
        </p:txBody>
      </p:sp>
      <p:sp>
        <p:nvSpPr>
          <p:cNvPr id="16" name="矩形 15"/>
          <p:cNvSpPr>
            <a:spLocks noGrp="1"/>
          </p:cNvSpPr>
          <p:nvPr/>
        </p:nvSpPr>
        <p:spPr>
          <a:xfrm>
            <a:off x="914400" y="4629150"/>
            <a:ext cx="2476500" cy="228600"/>
          </a:xfrm>
          <a:prstGeom prst="rect">
            <a:avLst/>
          </a:prstGeom>
          <a:noFill/>
          <a:ln w="0">
            <a:noFill/>
            <a:prstDash val="solid"/>
          </a:ln>
        </p:spPr>
        <p:txBody>
          <a:bodyPr/>
          <a:lstStyle/>
          <a:p>
            <a:pPr algn="l">
              <a:buNone/>
              <a:defRPr sz="1575" b="1" i="0">
                <a:solidFill>
                  <a:srgbClr val="B45A3C"/>
                </a:solidFill>
                <a:latin typeface="Times New Roman" panose="02020603050405020304"/>
                <a:ea typeface="Times New Roman" panose="02020603050405020304"/>
                <a:cs typeface="Times New Roman" panose="02020603050405020304"/>
              </a:defRPr>
            </a:pPr>
            <a:r>
              <a:rPr sz="1575" b="1" i="0">
                <a:solidFill>
                  <a:srgbClr val="B45A3C"/>
                </a:solidFill>
                <a:latin typeface="Times New Roman" panose="02020603050405020304" pitchFamily="18" charset="0"/>
                <a:ea typeface="Times New Roman" panose="02020603050405020304"/>
                <a:cs typeface="Times New Roman" panose="02020603050405020304"/>
              </a:rPr>
              <a:t>Participant sequence</a:t>
            </a:r>
          </a:p>
        </p:txBody>
      </p:sp>
      <p:sp>
        <p:nvSpPr>
          <p:cNvPr id="17" name="矩形: 圆角 16"/>
          <p:cNvSpPr>
            <a:spLocks noGrp="1"/>
          </p:cNvSpPr>
          <p:nvPr/>
        </p:nvSpPr>
        <p:spPr>
          <a:xfrm>
            <a:off x="914400" y="4991100"/>
            <a:ext cx="1790700" cy="1028700"/>
          </a:xfrm>
          <a:prstGeom prst="roundRect">
            <a:avLst>
              <a:gd name="adj" fmla="val 7407"/>
            </a:avLst>
          </a:prstGeom>
          <a:solidFill>
            <a:srgbClr val="FFF9F0"/>
          </a:solidFill>
          <a:ln w="9525">
            <a:solidFill>
              <a:srgbClr val="E8DCCB"/>
            </a:solidFill>
            <a:prstDash val="solid"/>
          </a:ln>
        </p:spPr>
      </p:sp>
      <p:sp>
        <p:nvSpPr>
          <p:cNvPr id="18" name="矩形 17"/>
          <p:cNvSpPr>
            <a:spLocks noGrp="1"/>
          </p:cNvSpPr>
          <p:nvPr/>
        </p:nvSpPr>
        <p:spPr>
          <a:xfrm>
            <a:off x="914400" y="4991100"/>
            <a:ext cx="57150" cy="1028700"/>
          </a:xfrm>
          <a:prstGeom prst="rect">
            <a:avLst/>
          </a:prstGeom>
          <a:solidFill>
            <a:srgbClr val="B45A3C"/>
          </a:solidFill>
          <a:ln w="0">
            <a:solidFill>
              <a:srgbClr val="B45A3C"/>
            </a:solidFill>
            <a:prstDash val="solid"/>
          </a:ln>
        </p:spPr>
      </p:sp>
      <p:sp>
        <p:nvSpPr>
          <p:cNvPr id="19" name="矩形 18"/>
          <p:cNvSpPr>
            <a:spLocks noGrp="1"/>
          </p:cNvSpPr>
          <p:nvPr/>
        </p:nvSpPr>
        <p:spPr>
          <a:xfrm>
            <a:off x="10858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See prior</a:t>
            </a:r>
          </a:p>
        </p:txBody>
      </p:sp>
      <p:sp>
        <p:nvSpPr>
          <p:cNvPr id="20" name="矩形 19"/>
          <p:cNvSpPr>
            <a:spLocks noGrp="1"/>
          </p:cNvSpPr>
          <p:nvPr/>
        </p:nvSpPr>
        <p:spPr>
          <a:xfrm>
            <a:off x="10858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Start from the same prior</a:t>
            </a:r>
          </a:p>
        </p:txBody>
      </p:sp>
      <p:sp>
        <p:nvSpPr>
          <p:cNvPr id="21" name="矩形 20"/>
          <p:cNvSpPr>
            <a:spLocks noGrp="1"/>
          </p:cNvSpPr>
          <p:nvPr/>
        </p:nvSpPr>
        <p:spPr>
          <a:xfrm>
            <a:off x="2762250" y="5505450"/>
            <a:ext cx="171450" cy="19050"/>
          </a:xfrm>
          <a:prstGeom prst="rect">
            <a:avLst/>
          </a:prstGeom>
          <a:solidFill>
            <a:srgbClr val="B45A3C"/>
          </a:solidFill>
          <a:ln w="0">
            <a:solidFill>
              <a:srgbClr val="B45A3C"/>
            </a:solidFill>
            <a:prstDash val="solid"/>
          </a:ln>
        </p:spPr>
      </p:sp>
      <p:sp>
        <p:nvSpPr>
          <p:cNvPr id="22" name="矩形: 圆角 21"/>
          <p:cNvSpPr>
            <a:spLocks noGrp="1"/>
          </p:cNvSpPr>
          <p:nvPr/>
        </p:nvSpPr>
        <p:spPr>
          <a:xfrm>
            <a:off x="2971800" y="4991100"/>
            <a:ext cx="1790700" cy="1028700"/>
          </a:xfrm>
          <a:prstGeom prst="roundRect">
            <a:avLst>
              <a:gd name="adj" fmla="val 7407"/>
            </a:avLst>
          </a:prstGeom>
          <a:solidFill>
            <a:srgbClr val="FFF9F0"/>
          </a:solidFill>
          <a:ln w="9525">
            <a:solidFill>
              <a:srgbClr val="E8DCCB"/>
            </a:solidFill>
            <a:prstDash val="solid"/>
          </a:ln>
        </p:spPr>
      </p:sp>
      <p:sp>
        <p:nvSpPr>
          <p:cNvPr id="23" name="矩形 22"/>
          <p:cNvSpPr>
            <a:spLocks noGrp="1"/>
          </p:cNvSpPr>
          <p:nvPr/>
        </p:nvSpPr>
        <p:spPr>
          <a:xfrm>
            <a:off x="2971800" y="4991100"/>
            <a:ext cx="57150" cy="1028700"/>
          </a:xfrm>
          <a:prstGeom prst="rect">
            <a:avLst/>
          </a:prstGeom>
          <a:solidFill>
            <a:srgbClr val="B45A3C"/>
          </a:solidFill>
          <a:ln w="0">
            <a:solidFill>
              <a:srgbClr val="B45A3C"/>
            </a:solidFill>
            <a:prstDash val="solid"/>
          </a:ln>
        </p:spPr>
      </p:sp>
      <p:sp>
        <p:nvSpPr>
          <p:cNvPr id="24" name="矩形 23"/>
          <p:cNvSpPr>
            <a:spLocks noGrp="1"/>
          </p:cNvSpPr>
          <p:nvPr/>
        </p:nvSpPr>
        <p:spPr>
          <a:xfrm>
            <a:off x="31432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Read summary</a:t>
            </a:r>
          </a:p>
        </p:txBody>
      </p:sp>
      <p:sp>
        <p:nvSpPr>
          <p:cNvPr id="25" name="矩形 24"/>
          <p:cNvSpPr>
            <a:spLocks noGrp="1"/>
          </p:cNvSpPr>
          <p:nvPr/>
        </p:nvSpPr>
        <p:spPr>
          <a:xfrm>
            <a:off x="31432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Or skip summary in baseline</a:t>
            </a:r>
          </a:p>
        </p:txBody>
      </p:sp>
      <p:sp>
        <p:nvSpPr>
          <p:cNvPr id="26" name="矩形 25"/>
          <p:cNvSpPr>
            <a:spLocks noGrp="1"/>
          </p:cNvSpPr>
          <p:nvPr/>
        </p:nvSpPr>
        <p:spPr>
          <a:xfrm>
            <a:off x="4819650" y="5505450"/>
            <a:ext cx="171450" cy="19050"/>
          </a:xfrm>
          <a:prstGeom prst="rect">
            <a:avLst/>
          </a:prstGeom>
          <a:solidFill>
            <a:srgbClr val="B45A3C"/>
          </a:solidFill>
          <a:ln w="0">
            <a:solidFill>
              <a:srgbClr val="B45A3C"/>
            </a:solidFill>
            <a:prstDash val="solid"/>
          </a:ln>
        </p:spPr>
      </p:sp>
      <p:sp>
        <p:nvSpPr>
          <p:cNvPr id="27" name="矩形: 圆角 26"/>
          <p:cNvSpPr>
            <a:spLocks noGrp="1"/>
          </p:cNvSpPr>
          <p:nvPr/>
        </p:nvSpPr>
        <p:spPr>
          <a:xfrm>
            <a:off x="5029200" y="4991100"/>
            <a:ext cx="1790700" cy="1028700"/>
          </a:xfrm>
          <a:prstGeom prst="roundRect">
            <a:avLst>
              <a:gd name="adj" fmla="val 7407"/>
            </a:avLst>
          </a:prstGeom>
          <a:solidFill>
            <a:srgbClr val="FFF9F0"/>
          </a:solidFill>
          <a:ln w="9525">
            <a:solidFill>
              <a:srgbClr val="E8DCCB"/>
            </a:solidFill>
            <a:prstDash val="solid"/>
          </a:ln>
        </p:spPr>
      </p:sp>
      <p:sp>
        <p:nvSpPr>
          <p:cNvPr id="28" name="矩形 27"/>
          <p:cNvSpPr>
            <a:spLocks noGrp="1"/>
          </p:cNvSpPr>
          <p:nvPr/>
        </p:nvSpPr>
        <p:spPr>
          <a:xfrm>
            <a:off x="5029200" y="4991100"/>
            <a:ext cx="57150" cy="1028700"/>
          </a:xfrm>
          <a:prstGeom prst="rect">
            <a:avLst/>
          </a:prstGeom>
          <a:solidFill>
            <a:srgbClr val="C89B4A"/>
          </a:solidFill>
          <a:ln w="0">
            <a:solidFill>
              <a:srgbClr val="C89B4A"/>
            </a:solidFill>
            <a:prstDash val="solid"/>
          </a:ln>
        </p:spPr>
      </p:sp>
      <p:sp>
        <p:nvSpPr>
          <p:cNvPr id="29" name="矩形 28"/>
          <p:cNvSpPr>
            <a:spLocks noGrp="1"/>
          </p:cNvSpPr>
          <p:nvPr/>
        </p:nvSpPr>
        <p:spPr>
          <a:xfrm>
            <a:off x="52006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Choose search</a:t>
            </a:r>
          </a:p>
        </p:txBody>
      </p:sp>
      <p:sp>
        <p:nvSpPr>
          <p:cNvPr id="30" name="矩形 29"/>
          <p:cNvSpPr>
            <a:spLocks noGrp="1"/>
          </p:cNvSpPr>
          <p:nvPr/>
        </p:nvSpPr>
        <p:spPr>
          <a:xfrm>
            <a:off x="52006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Open more evidence or stop</a:t>
            </a:r>
          </a:p>
        </p:txBody>
      </p:sp>
      <p:sp>
        <p:nvSpPr>
          <p:cNvPr id="31" name="矩形 30"/>
          <p:cNvSpPr>
            <a:spLocks noGrp="1"/>
          </p:cNvSpPr>
          <p:nvPr/>
        </p:nvSpPr>
        <p:spPr>
          <a:xfrm>
            <a:off x="6877050" y="5505450"/>
            <a:ext cx="171450" cy="19050"/>
          </a:xfrm>
          <a:prstGeom prst="rect">
            <a:avLst/>
          </a:prstGeom>
          <a:solidFill>
            <a:srgbClr val="B45A3C"/>
          </a:solidFill>
          <a:ln w="0">
            <a:solidFill>
              <a:srgbClr val="B45A3C"/>
            </a:solidFill>
            <a:prstDash val="solid"/>
          </a:ln>
        </p:spPr>
      </p:sp>
      <p:sp>
        <p:nvSpPr>
          <p:cNvPr id="32" name="矩形: 圆角 31"/>
          <p:cNvSpPr>
            <a:spLocks noGrp="1"/>
          </p:cNvSpPr>
          <p:nvPr/>
        </p:nvSpPr>
        <p:spPr>
          <a:xfrm>
            <a:off x="7086600" y="4991100"/>
            <a:ext cx="1790700" cy="1028700"/>
          </a:xfrm>
          <a:prstGeom prst="roundRect">
            <a:avLst>
              <a:gd name="adj" fmla="val 7407"/>
            </a:avLst>
          </a:prstGeom>
          <a:solidFill>
            <a:srgbClr val="FFF9F0"/>
          </a:solidFill>
          <a:ln w="9525">
            <a:solidFill>
              <a:srgbClr val="E8DCCB"/>
            </a:solidFill>
            <a:prstDash val="solid"/>
          </a:ln>
        </p:spPr>
      </p:sp>
      <p:sp>
        <p:nvSpPr>
          <p:cNvPr id="33" name="矩形 32"/>
          <p:cNvSpPr>
            <a:spLocks noGrp="1"/>
          </p:cNvSpPr>
          <p:nvPr/>
        </p:nvSpPr>
        <p:spPr>
          <a:xfrm>
            <a:off x="7086600" y="4991100"/>
            <a:ext cx="57150" cy="1028700"/>
          </a:xfrm>
          <a:prstGeom prst="rect">
            <a:avLst/>
          </a:prstGeom>
          <a:solidFill>
            <a:srgbClr val="B45A3C"/>
          </a:solidFill>
          <a:ln w="0">
            <a:solidFill>
              <a:srgbClr val="B45A3C"/>
            </a:solidFill>
            <a:prstDash val="solid"/>
          </a:ln>
        </p:spPr>
      </p:sp>
      <p:sp>
        <p:nvSpPr>
          <p:cNvPr id="34" name="矩形 33"/>
          <p:cNvSpPr>
            <a:spLocks noGrp="1"/>
          </p:cNvSpPr>
          <p:nvPr/>
        </p:nvSpPr>
        <p:spPr>
          <a:xfrm>
            <a:off x="72580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Report posterior</a:t>
            </a:r>
          </a:p>
        </p:txBody>
      </p:sp>
      <p:sp>
        <p:nvSpPr>
          <p:cNvPr id="35" name="矩形 34"/>
          <p:cNvSpPr>
            <a:spLocks noGrp="1"/>
          </p:cNvSpPr>
          <p:nvPr/>
        </p:nvSpPr>
        <p:spPr>
          <a:xfrm>
            <a:off x="72580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Give the final probability</a:t>
            </a:r>
          </a:p>
        </p:txBody>
      </p:sp>
      <p:sp>
        <p:nvSpPr>
          <p:cNvPr id="36" name="矩形 35"/>
          <p:cNvSpPr>
            <a:spLocks noGrp="1"/>
          </p:cNvSpPr>
          <p:nvPr/>
        </p:nvSpPr>
        <p:spPr>
          <a:xfrm>
            <a:off x="8934450" y="5505450"/>
            <a:ext cx="171450" cy="19050"/>
          </a:xfrm>
          <a:prstGeom prst="rect">
            <a:avLst/>
          </a:prstGeom>
          <a:solidFill>
            <a:srgbClr val="B45A3C"/>
          </a:solidFill>
          <a:ln w="0">
            <a:solidFill>
              <a:srgbClr val="B45A3C"/>
            </a:solidFill>
            <a:prstDash val="solid"/>
          </a:ln>
        </p:spPr>
      </p:sp>
      <p:sp>
        <p:nvSpPr>
          <p:cNvPr id="37" name="矩形: 圆角 36"/>
          <p:cNvSpPr>
            <a:spLocks noGrp="1"/>
          </p:cNvSpPr>
          <p:nvPr/>
        </p:nvSpPr>
        <p:spPr>
          <a:xfrm>
            <a:off x="9144000" y="4991100"/>
            <a:ext cx="1790700" cy="1028700"/>
          </a:xfrm>
          <a:prstGeom prst="roundRect">
            <a:avLst>
              <a:gd name="adj" fmla="val 7407"/>
            </a:avLst>
          </a:prstGeom>
          <a:solidFill>
            <a:srgbClr val="FFF9F0"/>
          </a:solidFill>
          <a:ln w="9525">
            <a:solidFill>
              <a:srgbClr val="E8DCCB"/>
            </a:solidFill>
            <a:prstDash val="solid"/>
          </a:ln>
        </p:spPr>
      </p:sp>
      <p:sp>
        <p:nvSpPr>
          <p:cNvPr id="38" name="矩形 37"/>
          <p:cNvSpPr>
            <a:spLocks noGrp="1"/>
          </p:cNvSpPr>
          <p:nvPr/>
        </p:nvSpPr>
        <p:spPr>
          <a:xfrm>
            <a:off x="9144000" y="4991100"/>
            <a:ext cx="57150" cy="1028700"/>
          </a:xfrm>
          <a:prstGeom prst="rect">
            <a:avLst/>
          </a:prstGeom>
          <a:solidFill>
            <a:srgbClr val="B45A3C"/>
          </a:solidFill>
          <a:ln w="0">
            <a:solidFill>
              <a:srgbClr val="B45A3C"/>
            </a:solidFill>
            <a:prstDash val="solid"/>
          </a:ln>
        </p:spPr>
      </p:sp>
      <p:sp>
        <p:nvSpPr>
          <p:cNvPr id="39" name="矩形 38"/>
          <p:cNvSpPr>
            <a:spLocks noGrp="1"/>
          </p:cNvSpPr>
          <p:nvPr/>
        </p:nvSpPr>
        <p:spPr>
          <a:xfrm>
            <a:off x="9315450" y="5105400"/>
            <a:ext cx="1504950" cy="285750"/>
          </a:xfrm>
          <a:prstGeom prst="rect">
            <a:avLst/>
          </a:prstGeom>
          <a:noFill/>
          <a:ln w="0">
            <a:noFill/>
            <a:prstDash val="solid"/>
          </a:ln>
        </p:spPr>
        <p:txBody>
          <a:bodyPr/>
          <a:lstStyle/>
          <a:p>
            <a:pPr algn="l">
              <a:buNone/>
              <a:defRPr sz="1350" b="1" i="0">
                <a:solidFill>
                  <a:srgbClr val="1E2433"/>
                </a:solidFill>
                <a:latin typeface="Times New Roman" panose="02020603050405020304"/>
                <a:ea typeface="Times New Roman" panose="02020603050405020304"/>
                <a:cs typeface="Times New Roman" panose="02020603050405020304"/>
              </a:defRPr>
            </a:pPr>
            <a:r>
              <a:rPr sz="1350" b="1" i="0">
                <a:solidFill>
                  <a:srgbClr val="1E2433"/>
                </a:solidFill>
                <a:latin typeface="Times New Roman" panose="02020603050405020304" pitchFamily="18" charset="0"/>
                <a:ea typeface="Times New Roman" panose="02020603050405020304"/>
                <a:cs typeface="Times New Roman" panose="02020603050405020304"/>
              </a:rPr>
              <a:t>Rate mastery</a:t>
            </a:r>
          </a:p>
        </p:txBody>
      </p:sp>
      <p:sp>
        <p:nvSpPr>
          <p:cNvPr id="40" name="矩形 39"/>
          <p:cNvSpPr>
            <a:spLocks noGrp="1"/>
          </p:cNvSpPr>
          <p:nvPr/>
        </p:nvSpPr>
        <p:spPr>
          <a:xfrm>
            <a:off x="9315450" y="5448300"/>
            <a:ext cx="1504950" cy="457200"/>
          </a:xfrm>
          <a:prstGeom prst="rect">
            <a:avLst/>
          </a:prstGeom>
          <a:noFill/>
          <a:ln w="0">
            <a:noFill/>
            <a:prstDash val="solid"/>
          </a:ln>
        </p:spPr>
        <p:txBody>
          <a:bodyPr/>
          <a:lstStyle/>
          <a:p>
            <a:pPr algn="l">
              <a:buNone/>
              <a:defRPr sz="1125" b="0" i="0">
                <a:solidFill>
                  <a:srgbClr val="5E6675"/>
                </a:solidFill>
                <a:latin typeface="Times New Roman" panose="02020603050405020304"/>
                <a:ea typeface="Times New Roman" panose="02020603050405020304"/>
                <a:cs typeface="Times New Roman" panose="02020603050405020304"/>
              </a:defRPr>
            </a:pPr>
            <a:r>
              <a:rPr sz="1125" b="0" i="0">
                <a:solidFill>
                  <a:srgbClr val="5E6675"/>
                </a:solidFill>
                <a:latin typeface="Times New Roman" panose="02020603050405020304" pitchFamily="18" charset="0"/>
                <a:ea typeface="Times New Roman" panose="02020603050405020304"/>
                <a:cs typeface="Times New Roman" panose="02020603050405020304"/>
              </a:rPr>
              <a:t>Report confidence and ownership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lang="en-US" sz="975" b="1">
                <a:solidFill>
                  <a:srgbClr val="BE643F"/>
                </a:solidFill>
                <a:latin typeface="Times New Roman" panose="02020603050405020304" pitchFamily="18" charset="0"/>
              </a:rPr>
              <a:t>BAYESIAN BENCHMARK</a:t>
            </a:r>
            <a:endParaRPr sz="975" b="1">
              <a:solidFill>
                <a:srgbClr val="BE643F"/>
              </a:solidFill>
              <a:latin typeface="Times New Roman" panose="02020603050405020304" pitchFamily="18" charset="0"/>
            </a:endParaRP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lang="en-US" sz="2325" b="1">
                <a:solidFill>
                  <a:srgbClr val="232B3A"/>
                </a:solidFill>
                <a:latin typeface="Times New Roman" panose="02020603050405020304" pitchFamily="18" charset="0"/>
              </a:rPr>
              <a:t>Bayesian updating provides the normative benchmark</a:t>
            </a:r>
            <a:endParaRPr sz="2325" b="1">
              <a:solidFill>
                <a:srgbClr val="232B3A"/>
              </a:solidFill>
              <a:latin typeface="Times New Roman" panose="02020603050405020304" pitchFamily="18" charset="0"/>
            </a:endParaRP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lang="en-US" sz="1350">
                <a:solidFill>
                  <a:srgbClr val="667085"/>
                </a:solidFill>
                <a:latin typeface="Times New Roman" panose="02020603050405020304" pitchFamily="18" charset="0"/>
              </a:rPr>
              <a:t>The design can distinguish under-search from under-updating because each posterior report can be compared with a calculable benchmark.</a:t>
            </a:r>
            <a:endParaRPr sz="1350">
              <a:solidFill>
                <a:srgbClr val="667085"/>
              </a:solidFill>
              <a:latin typeface="Times New Roman" panose="02020603050405020304" pitchFamily="18" charset="0"/>
            </a:endParaRPr>
          </a:p>
        </p:txBody>
      </p:sp>
      <p:sp>
        <p:nvSpPr>
          <p:cNvPr id="8" name="矩形: 圆角 7"/>
          <p:cNvSpPr>
            <a:spLocks noGrp="1"/>
          </p:cNvSpPr>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Classical updating rule</a:t>
            </a:r>
            <a:endParaRPr sz="1650" b="1">
              <a:solidFill>
                <a:srgbClr val="232B3A"/>
              </a:solidFill>
              <a:latin typeface="Times New Roman" panose="02020603050405020304" pitchFamily="18" charset="0"/>
            </a:endParaRPr>
          </a:p>
        </p:txBody>
      </p:sp>
      <p:sp>
        <p:nvSpPr>
          <p:cNvPr id="11" name="矩形 10"/>
          <p:cNvSpPr>
            <a:spLocks noGrp="1"/>
          </p:cNvSpPr>
          <p:nvPr/>
        </p:nvSpPr>
        <p:spPr>
          <a:xfrm>
            <a:off x="1181100" y="291465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logit(p_Bayes) = logit(p_prior) + sum log(LR_j)</a:t>
            </a: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Each evidence item contributes its directional likelihood ratio to the posterior benchmark.</a:t>
            </a:r>
            <a:endParaRPr sz="1275">
              <a:solidFill>
                <a:srgbClr val="667085"/>
              </a:solidFill>
              <a:latin typeface="Times New Roman" panose="02020603050405020304" pitchFamily="18" charset="0"/>
            </a:endParaRPr>
          </a:p>
        </p:txBody>
      </p:sp>
      <p:sp>
        <p:nvSpPr>
          <p:cNvPr id="12" name="矩形: 圆角 11"/>
          <p:cNvSpPr>
            <a:spLocks noGrp="1"/>
          </p:cNvSpPr>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Observed information set</a:t>
            </a:r>
            <a:endParaRPr sz="1650" b="1">
              <a:solidFill>
                <a:srgbClr val="232B3A"/>
              </a:solidFill>
              <a:latin typeface="Times New Roman" panose="02020603050405020304" pitchFamily="18" charset="0"/>
            </a:endParaRPr>
          </a:p>
        </p:txBody>
      </p:sp>
      <p:sp>
        <p:nvSpPr>
          <p:cNvPr id="15" name="矩形 14"/>
          <p:cNvSpPr>
            <a:spLocks noGrp="1"/>
          </p:cNvSpPr>
          <p:nvPr/>
        </p:nvSpPr>
        <p:spPr>
          <a:xfrm>
            <a:off x="6705600" y="291465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Summary-mentioned evidence and later clicked evidence both enter the participant's observed information set.</a:t>
            </a:r>
            <a:endParaRPr sz="1275">
              <a:solidFill>
                <a:srgbClr val="667085"/>
              </a:solidFill>
              <a:latin typeface="Times New Roman" panose="02020603050405020304" pitchFamily="18" charset="0"/>
            </a:endParaRPr>
          </a:p>
        </p:txBody>
      </p:sp>
      <p:sp>
        <p:nvSpPr>
          <p:cNvPr id="16" name="矩形: 圆角 15"/>
          <p:cNvSpPr>
            <a:spLocks noGrp="1"/>
          </p:cNvSpPr>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Conditional Bayesian deviation</a:t>
            </a:r>
            <a:endParaRPr sz="1650" b="1">
              <a:solidFill>
                <a:srgbClr val="232B3A"/>
              </a:solidFill>
              <a:latin typeface="Times New Roman" panose="02020603050405020304" pitchFamily="18" charset="0"/>
            </a:endParaRPr>
          </a:p>
        </p:txBody>
      </p:sp>
      <p:sp>
        <p:nvSpPr>
          <p:cNvPr id="19" name="矩形 18"/>
          <p:cNvSpPr>
            <a:spLocks noGrp="1"/>
          </p:cNvSpPr>
          <p:nvPr/>
        </p:nvSpPr>
        <p:spPr>
          <a:xfrm>
            <a:off x="1181100" y="483870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abs(logit(p_reported) - logit(p_Bayes observed))</a:t>
            </a: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Did the participant use the evidence actually seen correctly?</a:t>
            </a:r>
            <a:endParaRPr sz="1275">
              <a:solidFill>
                <a:srgbClr val="667085"/>
              </a:solidFill>
              <a:latin typeface="Times New Roman" panose="02020603050405020304" pitchFamily="18" charset="0"/>
            </a:endParaRPr>
          </a:p>
        </p:txBody>
      </p:sp>
      <p:sp>
        <p:nvSpPr>
          <p:cNvPr id="20" name="矩形: 圆角 19"/>
          <p:cNvSpPr>
            <a:spLocks noGrp="1"/>
          </p:cNvSpPr>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lang="en-US" sz="1650" b="1">
                <a:solidFill>
                  <a:srgbClr val="232B3A"/>
                </a:solidFill>
                <a:latin typeface="Times New Roman" panose="02020603050405020304" pitchFamily="18" charset="0"/>
              </a:rPr>
              <a:t>Full-information deviation</a:t>
            </a:r>
            <a:endParaRPr sz="1650" b="1">
              <a:solidFill>
                <a:srgbClr val="232B3A"/>
              </a:solidFill>
              <a:latin typeface="Times New Roman" panose="02020603050405020304" pitchFamily="18" charset="0"/>
            </a:endParaRPr>
          </a:p>
        </p:txBody>
      </p:sp>
      <p:sp>
        <p:nvSpPr>
          <p:cNvPr id="23" name="矩形 22"/>
          <p:cNvSpPr>
            <a:spLocks noGrp="1"/>
          </p:cNvSpPr>
          <p:nvPr/>
        </p:nvSpPr>
        <p:spPr>
          <a:xfrm>
            <a:off x="6705600" y="4838700"/>
            <a:ext cx="4305300" cy="971550"/>
          </a:xfrm>
          <a:prstGeom prst="rect">
            <a:avLst/>
          </a:prstGeom>
          <a:noFill/>
          <a:ln w="0">
            <a:noFill/>
            <a:prstDash val="solid"/>
          </a:ln>
        </p:spPr>
        <p:txBody>
          <a:bodyPr/>
          <a:lstStyle/>
          <a:p>
            <a:pPr>
              <a:defRPr sz="1275">
                <a:solidFill>
                  <a:srgbClr val="667085"/>
                </a:solidFill>
              </a:defRPr>
            </a:pPr>
            <a:r>
              <a:rPr lang="en-US" sz="1275">
                <a:solidFill>
                  <a:srgbClr val="667085"/>
                </a:solidFill>
                <a:latin typeface="Times New Roman" panose="02020603050405020304" pitchFamily="18" charset="0"/>
              </a:rPr>
              <a:t>abs(logit(p_reported) - logit(p_Bayes full))</a:t>
            </a:r>
          </a:p>
          <a:p>
            <a:pPr>
              <a:defRPr sz="1275">
                <a:solidFill>
                  <a:srgbClr val="667085"/>
                </a:solidFill>
              </a:defRPr>
            </a:pPr>
            <a:endParaRPr lang="en-US" sz="1275">
              <a:solidFill>
                <a:srgbClr val="667085"/>
              </a:solidFill>
              <a:latin typeface="Times New Roman" panose="02020603050405020304" pitchFamily="18" charset="0"/>
            </a:endParaRPr>
          </a:p>
          <a:p>
            <a:pPr>
              <a:defRPr sz="1275">
                <a:solidFill>
                  <a:srgbClr val="667085"/>
                </a:solidFill>
              </a:defRPr>
            </a:pPr>
            <a:r>
              <a:rPr lang="en-US" sz="1275">
                <a:solidFill>
                  <a:srgbClr val="667085"/>
                </a:solidFill>
                <a:latin typeface="Times New Roman" panose="02020603050405020304" pitchFamily="18" charset="0"/>
              </a:rPr>
              <a:t>How far is the final judgment from the full-evidence benchmark?</a:t>
            </a:r>
            <a:endParaRPr sz="1275">
              <a:solidFill>
                <a:srgbClr val="667085"/>
              </a:solidFill>
              <a:latin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矩形 24"/>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4" name="椭圆 23"/>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RESULT PATTERNS</a:t>
            </a:r>
          </a:p>
        </p:txBody>
      </p:sp>
      <p:sp>
        <p:nvSpPr>
          <p:cNvPr id="6" name="矩形 5"/>
          <p:cNvSpPr>
            <a:spLocks noGrp="1"/>
          </p:cNvSpPr>
          <p:nvPr/>
        </p:nvSpPr>
        <p:spPr>
          <a:xfrm>
            <a:off x="1009650" y="1028700"/>
            <a:ext cx="9715500" cy="70485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Different result patterns would support different hypotheses</a:t>
            </a: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Once the experiment is in place, the key issue is how the observed result pattern maps onto the three research questions.</a:t>
            </a:r>
          </a:p>
        </p:txBody>
      </p:sp>
      <p:sp>
        <p:nvSpPr>
          <p:cNvPr id="8" name="矩形: 圆角 7"/>
          <p:cNvSpPr>
            <a:spLocks noGrp="1"/>
          </p:cNvSpPr>
          <p:nvPr/>
        </p:nvSpPr>
        <p:spPr>
          <a:xfrm>
            <a:off x="914400" y="2362200"/>
            <a:ext cx="4762500" cy="1676400"/>
          </a:xfrm>
          <a:prstGeom prst="roundRect">
            <a:avLst>
              <a:gd name="adj" fmla="val 6818"/>
            </a:avLst>
          </a:prstGeom>
          <a:solidFill>
            <a:srgbClr val="FEFCF8"/>
          </a:solidFill>
          <a:ln w="9525">
            <a:solidFill>
              <a:srgbClr val="F0E2D1"/>
            </a:solidFill>
            <a:prstDash val="solid"/>
          </a:ln>
        </p:spPr>
      </p:sp>
      <p:sp>
        <p:nvSpPr>
          <p:cNvPr id="9" name="矩形 8"/>
          <p:cNvSpPr>
            <a:spLocks noGrp="1"/>
          </p:cNvSpPr>
          <p:nvPr/>
        </p:nvSpPr>
        <p:spPr>
          <a:xfrm>
            <a:off x="914400" y="2362200"/>
            <a:ext cx="57150" cy="167640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RQ1: stopping-threshold effect</a:t>
            </a:r>
          </a:p>
        </p:txBody>
      </p:sp>
      <p:sp>
        <p:nvSpPr>
          <p:cNvPr id="11" name="矩形 10"/>
          <p:cNvSpPr>
            <a:spLocks noGrp="1"/>
          </p:cNvSpPr>
          <p:nvPr/>
        </p:nvSpPr>
        <p:spPr>
          <a:xfrm>
            <a:off x="11811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the AI-labeled summary group searches less, stops earlier, or is willing to pay less for extra evidence than the unlabeled-summary group, that supports the claim that the AI label shifts the search stopping threshold.</a:t>
            </a:r>
          </a:p>
        </p:txBody>
      </p:sp>
      <p:sp>
        <p:nvSpPr>
          <p:cNvPr id="12" name="矩形: 圆角 11"/>
          <p:cNvSpPr>
            <a:spLocks noGrp="1"/>
          </p:cNvSpPr>
          <p:nvPr/>
        </p:nvSpPr>
        <p:spPr>
          <a:xfrm>
            <a:off x="6438900" y="2362200"/>
            <a:ext cx="4762500" cy="1676400"/>
          </a:xfrm>
          <a:prstGeom prst="roundRect">
            <a:avLst>
              <a:gd name="adj" fmla="val 6818"/>
            </a:avLst>
          </a:prstGeom>
          <a:solidFill>
            <a:srgbClr val="FEFCF8"/>
          </a:solidFill>
          <a:ln w="9525">
            <a:solidFill>
              <a:srgbClr val="F0E2D1"/>
            </a:solidFill>
            <a:prstDash val="solid"/>
          </a:ln>
        </p:spPr>
      </p:sp>
      <p:sp>
        <p:nvSpPr>
          <p:cNvPr id="13" name="矩形 12"/>
          <p:cNvSpPr>
            <a:spLocks noGrp="1"/>
          </p:cNvSpPr>
          <p:nvPr/>
        </p:nvSpPr>
        <p:spPr>
          <a:xfrm>
            <a:off x="6438900" y="2362200"/>
            <a:ext cx="57150" cy="1676400"/>
          </a:xfrm>
          <a:prstGeom prst="rect">
            <a:avLst/>
          </a:prstGeom>
          <a:solidFill>
            <a:srgbClr val="7A8A68"/>
          </a:solidFill>
          <a:ln w="0">
            <a:solidFill>
              <a:srgbClr val="7A8A68"/>
            </a:solidFill>
            <a:prstDash val="solid"/>
          </a:ln>
        </p:spPr>
      </p:sp>
      <p:sp>
        <p:nvSpPr>
          <p:cNvPr id="14" name="矩形 13"/>
          <p:cNvSpPr>
            <a:spLocks noGrp="1"/>
          </p:cNvSpPr>
          <p:nvPr/>
        </p:nvSpPr>
        <p:spPr>
          <a:xfrm>
            <a:off x="6705600" y="253365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efficient compression</a:t>
            </a:r>
          </a:p>
        </p:txBody>
      </p:sp>
      <p:sp>
        <p:nvSpPr>
          <p:cNvPr id="15" name="矩形 14"/>
          <p:cNvSpPr>
            <a:spLocks noGrp="1"/>
          </p:cNvSpPr>
          <p:nvPr/>
        </p:nvSpPr>
        <p:spPr>
          <a:xfrm>
            <a:off x="6705600" y="291465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falls under representative summaries without worse full-information performance, the reduction in search is consistent with efficient information compression rather than harmful under-search.</a:t>
            </a:r>
          </a:p>
        </p:txBody>
      </p:sp>
      <p:sp>
        <p:nvSpPr>
          <p:cNvPr id="16" name="矩形: 圆角 15"/>
          <p:cNvSpPr>
            <a:spLocks noGrp="1"/>
          </p:cNvSpPr>
          <p:nvPr/>
        </p:nvSpPr>
        <p:spPr>
          <a:xfrm>
            <a:off x="914400" y="4286250"/>
            <a:ext cx="4762500" cy="1676400"/>
          </a:xfrm>
          <a:prstGeom prst="roundRect">
            <a:avLst>
              <a:gd name="adj" fmla="val 6818"/>
            </a:avLst>
          </a:prstGeom>
          <a:solidFill>
            <a:srgbClr val="FEFCF8"/>
          </a:solidFill>
          <a:ln w="9525">
            <a:solidFill>
              <a:srgbClr val="F0E2D1"/>
            </a:solidFill>
            <a:prstDash val="solid"/>
          </a:ln>
        </p:spPr>
      </p:sp>
      <p:sp>
        <p:nvSpPr>
          <p:cNvPr id="17" name="矩形 16"/>
          <p:cNvSpPr>
            <a:spLocks noGrp="1"/>
          </p:cNvSpPr>
          <p:nvPr/>
        </p:nvSpPr>
        <p:spPr>
          <a:xfrm>
            <a:off x="914400" y="4286250"/>
            <a:ext cx="57150" cy="1676400"/>
          </a:xfrm>
          <a:prstGeom prst="rect">
            <a:avLst/>
          </a:prstGeom>
          <a:solidFill>
            <a:srgbClr val="B45A44"/>
          </a:solidFill>
          <a:ln w="0">
            <a:solidFill>
              <a:srgbClr val="B45A44"/>
            </a:solidFill>
            <a:prstDash val="solid"/>
          </a:ln>
        </p:spPr>
      </p:sp>
      <p:sp>
        <p:nvSpPr>
          <p:cNvPr id="18" name="矩形 17"/>
          <p:cNvSpPr>
            <a:spLocks noGrp="1"/>
          </p:cNvSpPr>
          <p:nvPr/>
        </p:nvSpPr>
        <p:spPr>
          <a:xfrm>
            <a:off x="11811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RQ2: harmful under-search</a:t>
            </a:r>
          </a:p>
        </p:txBody>
      </p:sp>
      <p:sp>
        <p:nvSpPr>
          <p:cNvPr id="19" name="矩形 18"/>
          <p:cNvSpPr>
            <a:spLocks noGrp="1"/>
          </p:cNvSpPr>
          <p:nvPr/>
        </p:nvSpPr>
        <p:spPr>
          <a:xfrm>
            <a:off x="11811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search still falls under incomplete summaries and full-information deviation grows, the result supports harmful information-acquisition deviation caused by overestimated sufficiency.</a:t>
            </a:r>
          </a:p>
        </p:txBody>
      </p:sp>
      <p:sp>
        <p:nvSpPr>
          <p:cNvPr id="20" name="矩形: 圆角 19"/>
          <p:cNvSpPr>
            <a:spLocks noGrp="1"/>
          </p:cNvSpPr>
          <p:nvPr/>
        </p:nvSpPr>
        <p:spPr>
          <a:xfrm>
            <a:off x="6438900" y="4286250"/>
            <a:ext cx="4762500" cy="1676400"/>
          </a:xfrm>
          <a:prstGeom prst="roundRect">
            <a:avLst>
              <a:gd name="adj" fmla="val 6818"/>
            </a:avLst>
          </a:prstGeom>
          <a:solidFill>
            <a:srgbClr val="FEFCF8"/>
          </a:solidFill>
          <a:ln w="9525">
            <a:solidFill>
              <a:srgbClr val="F0E2D1"/>
            </a:solidFill>
            <a:prstDash val="solid"/>
          </a:ln>
        </p:spPr>
      </p:sp>
      <p:sp>
        <p:nvSpPr>
          <p:cNvPr id="21" name="矩形 20"/>
          <p:cNvSpPr>
            <a:spLocks noGrp="1"/>
          </p:cNvSpPr>
          <p:nvPr/>
        </p:nvSpPr>
        <p:spPr>
          <a:xfrm>
            <a:off x="6438900" y="4286250"/>
            <a:ext cx="57150" cy="1676400"/>
          </a:xfrm>
          <a:prstGeom prst="rect">
            <a:avLst/>
          </a:prstGeom>
          <a:solidFill>
            <a:srgbClr val="D1A63A"/>
          </a:solidFill>
          <a:ln w="0">
            <a:solidFill>
              <a:srgbClr val="D1A63A"/>
            </a:solidFill>
            <a:prstDash val="solid"/>
          </a:ln>
        </p:spPr>
      </p:sp>
      <p:sp>
        <p:nvSpPr>
          <p:cNvPr id="22" name="矩形 21"/>
          <p:cNvSpPr>
            <a:spLocks noGrp="1"/>
          </p:cNvSpPr>
          <p:nvPr/>
        </p:nvSpPr>
        <p:spPr>
          <a:xfrm>
            <a:off x="6705600" y="4457700"/>
            <a:ext cx="4305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RQ3: calibration mismatch</a:t>
            </a:r>
          </a:p>
        </p:txBody>
      </p:sp>
      <p:sp>
        <p:nvSpPr>
          <p:cNvPr id="23" name="矩形 22"/>
          <p:cNvSpPr>
            <a:spLocks noGrp="1"/>
          </p:cNvSpPr>
          <p:nvPr/>
        </p:nvSpPr>
        <p:spPr>
          <a:xfrm>
            <a:off x="6705600" y="4838700"/>
            <a:ext cx="4305300" cy="97155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If AI-summary users show better posterior quality but lower subjective mastery or epistemic ownership, the result supports a mismatch between objective updating quality and subjective information mastery.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矩形 23"/>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3" name="椭圆 22"/>
          <p:cNvSpPr>
            <a:spLocks noGrp="1"/>
          </p:cNvSpPr>
          <p:nvPr/>
        </p:nvSpPr>
        <p:spPr>
          <a:xfrm>
            <a:off x="9715500" y="-342900"/>
            <a:ext cx="2514600" cy="2247900"/>
          </a:xfrm>
          <a:prstGeom prst="ellipse">
            <a:avLst/>
          </a:prstGeom>
          <a:solidFill>
            <a:srgbClr val="EEE3D2"/>
          </a:solidFill>
          <a:ln w="0">
            <a:noFill/>
            <a:prstDash val="solid"/>
          </a:ln>
        </p:spPr>
      </p:sp>
      <p:sp>
        <p:nvSpPr>
          <p:cNvPr id="2" name="椭圆 1"/>
          <p:cNvSpPr>
            <a:spLocks noGrp="1"/>
          </p:cNvSpPr>
          <p:nvPr/>
        </p:nvSpPr>
        <p:spPr>
          <a:xfrm>
            <a:off x="-704850" y="5105400"/>
            <a:ext cx="1866900" cy="1866900"/>
          </a:xfrm>
          <a:prstGeom prst="ellipse">
            <a:avLst/>
          </a:prstGeom>
          <a:solidFill>
            <a:srgbClr val="EEE3D2"/>
          </a:solidFill>
          <a:ln w="0">
            <a:noFill/>
            <a:prstDash val="solid"/>
          </a:ln>
        </p:spPr>
      </p:sp>
      <p:sp>
        <p:nvSpPr>
          <p:cNvPr id="3" name="矩形 2"/>
          <p:cNvSpPr>
            <a:spLocks noGrp="1"/>
          </p:cNvSpPr>
          <p:nvPr/>
        </p:nvSpPr>
        <p:spPr>
          <a:xfrm>
            <a:off x="552450" y="457200"/>
            <a:ext cx="19050" cy="5943600"/>
          </a:xfrm>
          <a:prstGeom prst="rect">
            <a:avLst/>
          </a:prstGeom>
          <a:solidFill>
            <a:srgbClr val="E7D9C8"/>
          </a:solidFill>
          <a:ln w="0">
            <a:solidFill>
              <a:srgbClr val="E7D9C8"/>
            </a:solidFill>
            <a:prstDash val="solid"/>
          </a:ln>
        </p:spPr>
      </p:sp>
      <p:sp>
        <p:nvSpPr>
          <p:cNvPr id="4" name="矩形 3"/>
          <p:cNvSpPr>
            <a:spLocks noGrp="1"/>
          </p:cNvSpPr>
          <p:nvPr/>
        </p:nvSpPr>
        <p:spPr>
          <a:xfrm>
            <a:off x="914400" y="657225"/>
            <a:ext cx="171450" cy="171450"/>
          </a:xfrm>
          <a:prstGeom prst="rect">
            <a:avLst/>
          </a:prstGeom>
          <a:solidFill>
            <a:srgbClr val="BE643F"/>
          </a:solidFill>
          <a:ln w="0">
            <a:solidFill>
              <a:srgbClr val="BE643F"/>
            </a:solidFill>
            <a:prstDash val="solid"/>
          </a:ln>
        </p:spPr>
      </p:sp>
      <p:sp>
        <p:nvSpPr>
          <p:cNvPr id="5" name="矩形 4"/>
          <p:cNvSpPr>
            <a:spLocks noGrp="1"/>
          </p:cNvSpPr>
          <p:nvPr/>
        </p:nvSpPr>
        <p:spPr>
          <a:xfrm>
            <a:off x="1257300" y="571500"/>
            <a:ext cx="2857500" cy="228600"/>
          </a:xfrm>
          <a:prstGeom prst="rect">
            <a:avLst/>
          </a:prstGeom>
          <a:noFill/>
          <a:ln w="0">
            <a:noFill/>
            <a:prstDash val="solid"/>
          </a:ln>
        </p:spPr>
        <p:txBody>
          <a:bodyPr/>
          <a:lstStyle/>
          <a:p>
            <a:pPr>
              <a:defRPr sz="975" b="1">
                <a:solidFill>
                  <a:srgbClr val="BE643F"/>
                </a:solidFill>
              </a:defRPr>
            </a:pPr>
            <a:r>
              <a:rPr sz="975" b="1">
                <a:solidFill>
                  <a:srgbClr val="BE643F"/>
                </a:solidFill>
                <a:latin typeface="Times New Roman" panose="02020603050405020304" pitchFamily="18" charset="0"/>
              </a:rPr>
              <a:t>EXPECTED CONTRIBUTIONS</a:t>
            </a:r>
          </a:p>
        </p:txBody>
      </p:sp>
      <p:sp>
        <p:nvSpPr>
          <p:cNvPr id="6" name="矩形 5"/>
          <p:cNvSpPr>
            <a:spLocks noGrp="1"/>
          </p:cNvSpPr>
          <p:nvPr/>
        </p:nvSpPr>
        <p:spPr>
          <a:xfrm>
            <a:off x="1009650" y="1028700"/>
            <a:ext cx="9144000" cy="685800"/>
          </a:xfrm>
          <a:prstGeom prst="rect">
            <a:avLst/>
          </a:prstGeom>
          <a:noFill/>
          <a:ln w="0">
            <a:noFill/>
            <a:prstDash val="solid"/>
          </a:ln>
        </p:spPr>
        <p:txBody>
          <a:bodyPr/>
          <a:lstStyle/>
          <a:p>
            <a:pPr>
              <a:defRPr sz="2325" b="1">
                <a:solidFill>
                  <a:srgbClr val="232B3A"/>
                </a:solidFill>
              </a:defRPr>
            </a:pPr>
            <a:r>
              <a:rPr sz="2325" b="1">
                <a:solidFill>
                  <a:srgbClr val="232B3A"/>
                </a:solidFill>
                <a:latin typeface="Times New Roman" panose="02020603050405020304" pitchFamily="18" charset="0"/>
              </a:rPr>
              <a:t>Expected contributions</a:t>
            </a:r>
          </a:p>
        </p:txBody>
      </p:sp>
      <p:sp>
        <p:nvSpPr>
          <p:cNvPr id="7" name="矩形 6"/>
          <p:cNvSpPr>
            <a:spLocks noGrp="1"/>
          </p:cNvSpPr>
          <p:nvPr/>
        </p:nvSpPr>
        <p:spPr>
          <a:xfrm>
            <a:off x="1009650" y="1752600"/>
            <a:ext cx="10096500" cy="495300"/>
          </a:xfrm>
          <a:prstGeom prst="rect">
            <a:avLst/>
          </a:prstGeom>
          <a:noFill/>
          <a:ln w="0">
            <a:noFill/>
            <a:prstDash val="solid"/>
          </a:ln>
        </p:spPr>
        <p:txBody>
          <a:bodyPr/>
          <a:lstStyle/>
          <a:p>
            <a:pPr>
              <a:defRPr sz="1350">
                <a:solidFill>
                  <a:srgbClr val="667085"/>
                </a:solidFill>
              </a:defRPr>
            </a:pPr>
            <a:r>
              <a:rPr sz="1350">
                <a:solidFill>
                  <a:srgbClr val="667085"/>
                </a:solidFill>
                <a:latin typeface="Times New Roman" panose="02020603050405020304" pitchFamily="18" charset="0"/>
              </a:rPr>
              <a:t>The paper contributes by identifying where AI changes additional search, posterior updating, and subjective information mastery.</a:t>
            </a:r>
          </a:p>
        </p:txBody>
      </p:sp>
      <p:sp>
        <p:nvSpPr>
          <p:cNvPr id="8" name="矩形: 圆角 7"/>
          <p:cNvSpPr>
            <a:spLocks noGrp="1"/>
          </p:cNvSpPr>
          <p:nvPr/>
        </p:nvSpPr>
        <p:spPr>
          <a:xfrm>
            <a:off x="914400" y="2400300"/>
            <a:ext cx="3238500" cy="2533650"/>
          </a:xfrm>
          <a:prstGeom prst="roundRect">
            <a:avLst>
              <a:gd name="adj" fmla="val 4511"/>
            </a:avLst>
          </a:prstGeom>
          <a:solidFill>
            <a:srgbClr val="FEFCF8"/>
          </a:solidFill>
          <a:ln w="9525">
            <a:solidFill>
              <a:srgbClr val="F0E2D1"/>
            </a:solidFill>
            <a:prstDash val="solid"/>
          </a:ln>
        </p:spPr>
      </p:sp>
      <p:sp>
        <p:nvSpPr>
          <p:cNvPr id="9" name="矩形 8"/>
          <p:cNvSpPr>
            <a:spLocks noGrp="1"/>
          </p:cNvSpPr>
          <p:nvPr/>
        </p:nvSpPr>
        <p:spPr>
          <a:xfrm>
            <a:off x="914400" y="2400300"/>
            <a:ext cx="57150" cy="2533650"/>
          </a:xfrm>
          <a:prstGeom prst="rect">
            <a:avLst/>
          </a:prstGeom>
          <a:solidFill>
            <a:srgbClr val="BE643F"/>
          </a:solidFill>
          <a:ln w="0">
            <a:solidFill>
              <a:srgbClr val="BE643F"/>
            </a:solidFill>
            <a:prstDash val="solid"/>
          </a:ln>
        </p:spPr>
      </p:sp>
      <p:sp>
        <p:nvSpPr>
          <p:cNvPr id="10" name="矩形 9"/>
          <p:cNvSpPr>
            <a:spLocks noGrp="1"/>
          </p:cNvSpPr>
          <p:nvPr/>
        </p:nvSpPr>
        <p:spPr>
          <a:xfrm>
            <a:off x="118110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Theoretical move</a:t>
            </a:r>
          </a:p>
        </p:txBody>
      </p:sp>
      <p:sp>
        <p:nvSpPr>
          <p:cNvPr id="11" name="矩形 10"/>
          <p:cNvSpPr>
            <a:spLocks noGrp="1"/>
          </p:cNvSpPr>
          <p:nvPr/>
        </p:nvSpPr>
        <p:spPr>
          <a:xfrm>
            <a:off x="118110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shifts the focus from generic trust and automation bias to an evidence-to-belief mechanism: how AI changes users' judgments of evidentiary sufficiency and the stopping rule for further search.</a:t>
            </a:r>
          </a:p>
        </p:txBody>
      </p:sp>
      <p:sp>
        <p:nvSpPr>
          <p:cNvPr id="12" name="矩形: 圆角 11"/>
          <p:cNvSpPr>
            <a:spLocks noGrp="1"/>
          </p:cNvSpPr>
          <p:nvPr/>
        </p:nvSpPr>
        <p:spPr>
          <a:xfrm>
            <a:off x="4476750" y="2400300"/>
            <a:ext cx="3238500" cy="2533650"/>
          </a:xfrm>
          <a:prstGeom prst="roundRect">
            <a:avLst>
              <a:gd name="adj" fmla="val 4511"/>
            </a:avLst>
          </a:prstGeom>
          <a:solidFill>
            <a:srgbClr val="FEFCF8"/>
          </a:solidFill>
          <a:ln w="9525">
            <a:solidFill>
              <a:srgbClr val="F0E2D1"/>
            </a:solidFill>
            <a:prstDash val="solid"/>
          </a:ln>
        </p:spPr>
      </p:sp>
      <p:sp>
        <p:nvSpPr>
          <p:cNvPr id="13" name="矩形 12"/>
          <p:cNvSpPr>
            <a:spLocks noGrp="1"/>
          </p:cNvSpPr>
          <p:nvPr/>
        </p:nvSpPr>
        <p:spPr>
          <a:xfrm>
            <a:off x="4476750" y="2400300"/>
            <a:ext cx="57150" cy="2533650"/>
          </a:xfrm>
          <a:prstGeom prst="rect">
            <a:avLst/>
          </a:prstGeom>
          <a:solidFill>
            <a:srgbClr val="D1A63A"/>
          </a:solidFill>
          <a:ln w="0">
            <a:solidFill>
              <a:srgbClr val="D1A63A"/>
            </a:solidFill>
            <a:prstDash val="solid"/>
          </a:ln>
        </p:spPr>
      </p:sp>
      <p:sp>
        <p:nvSpPr>
          <p:cNvPr id="14" name="矩形 13"/>
          <p:cNvSpPr>
            <a:spLocks noGrp="1"/>
          </p:cNvSpPr>
          <p:nvPr/>
        </p:nvSpPr>
        <p:spPr>
          <a:xfrm>
            <a:off x="4743450" y="2571750"/>
            <a:ext cx="27813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Method contribution</a:t>
            </a:r>
          </a:p>
        </p:txBody>
      </p:sp>
      <p:sp>
        <p:nvSpPr>
          <p:cNvPr id="15" name="矩形 14"/>
          <p:cNvSpPr>
            <a:spLocks noGrp="1"/>
          </p:cNvSpPr>
          <p:nvPr/>
        </p:nvSpPr>
        <p:spPr>
          <a:xfrm>
            <a:off x="4743450" y="2952750"/>
            <a:ext cx="27813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It extends a classic Bayesian belief-updating paradigm into a company-risk task with summary-first presentation, follow-on evidence search, and same-summary source-label identification.</a:t>
            </a:r>
          </a:p>
        </p:txBody>
      </p:sp>
      <p:sp>
        <p:nvSpPr>
          <p:cNvPr id="16" name="矩形: 圆角 15"/>
          <p:cNvSpPr>
            <a:spLocks noGrp="1"/>
          </p:cNvSpPr>
          <p:nvPr/>
        </p:nvSpPr>
        <p:spPr>
          <a:xfrm>
            <a:off x="8039100" y="2400300"/>
            <a:ext cx="3162300" cy="2533650"/>
          </a:xfrm>
          <a:prstGeom prst="roundRect">
            <a:avLst>
              <a:gd name="adj" fmla="val 4511"/>
            </a:avLst>
          </a:prstGeom>
          <a:solidFill>
            <a:srgbClr val="FEFCF8"/>
          </a:solidFill>
          <a:ln w="9525">
            <a:solidFill>
              <a:srgbClr val="F0E2D1"/>
            </a:solidFill>
            <a:prstDash val="solid"/>
          </a:ln>
        </p:spPr>
      </p:sp>
      <p:sp>
        <p:nvSpPr>
          <p:cNvPr id="17" name="矩形 16"/>
          <p:cNvSpPr>
            <a:spLocks noGrp="1"/>
          </p:cNvSpPr>
          <p:nvPr/>
        </p:nvSpPr>
        <p:spPr>
          <a:xfrm>
            <a:off x="8039100" y="2400300"/>
            <a:ext cx="57150" cy="2533650"/>
          </a:xfrm>
          <a:prstGeom prst="rect">
            <a:avLst/>
          </a:prstGeom>
          <a:solidFill>
            <a:srgbClr val="7A8A68"/>
          </a:solidFill>
          <a:ln w="0">
            <a:solidFill>
              <a:srgbClr val="7A8A68"/>
            </a:solidFill>
            <a:prstDash val="solid"/>
          </a:ln>
        </p:spPr>
      </p:sp>
      <p:sp>
        <p:nvSpPr>
          <p:cNvPr id="18" name="矩形 17"/>
          <p:cNvSpPr>
            <a:spLocks noGrp="1"/>
          </p:cNvSpPr>
          <p:nvPr/>
        </p:nvSpPr>
        <p:spPr>
          <a:xfrm>
            <a:off x="8305800" y="2571750"/>
            <a:ext cx="2705100" cy="266700"/>
          </a:xfrm>
          <a:prstGeom prst="rect">
            <a:avLst/>
          </a:prstGeom>
          <a:noFill/>
          <a:ln w="0">
            <a:noFill/>
            <a:prstDash val="solid"/>
          </a:ln>
        </p:spPr>
        <p:txBody>
          <a:bodyPr/>
          <a:lstStyle/>
          <a:p>
            <a:pPr>
              <a:defRPr sz="1650" b="1">
                <a:solidFill>
                  <a:srgbClr val="232B3A"/>
                </a:solidFill>
              </a:defRPr>
            </a:pPr>
            <a:r>
              <a:rPr sz="1650" b="1">
                <a:solidFill>
                  <a:srgbClr val="232B3A"/>
                </a:solidFill>
                <a:latin typeface="Times New Roman" panose="02020603050405020304" pitchFamily="18" charset="0"/>
              </a:rPr>
              <a:t>Substantive contribution</a:t>
            </a:r>
          </a:p>
        </p:txBody>
      </p:sp>
      <p:sp>
        <p:nvSpPr>
          <p:cNvPr id="19" name="矩形 18"/>
          <p:cNvSpPr>
            <a:spLocks noGrp="1"/>
          </p:cNvSpPr>
          <p:nvPr/>
        </p:nvSpPr>
        <p:spPr>
          <a:xfrm>
            <a:off x="8305800" y="2952750"/>
            <a:ext cx="2705100" cy="1828800"/>
          </a:xfrm>
          <a:prstGeom prst="rect">
            <a:avLst/>
          </a:prstGeom>
          <a:noFill/>
          <a:ln w="0">
            <a:noFill/>
            <a:prstDash val="solid"/>
          </a:ln>
        </p:spPr>
        <p:txBody>
          <a:bodyPr/>
          <a:lstStyle/>
          <a:p>
            <a:pPr>
              <a:defRPr sz="1275">
                <a:solidFill>
                  <a:srgbClr val="667085"/>
                </a:solidFill>
              </a:defRPr>
            </a:pPr>
            <a:r>
              <a:rPr sz="1275">
                <a:solidFill>
                  <a:srgbClr val="667085"/>
                </a:solidFill>
                <a:latin typeface="Times New Roman" panose="02020603050405020304" pitchFamily="18" charset="0"/>
              </a:rPr>
              <a:t>The paper distinguishes efficient compression from harmful under-search and shows how objective posterior quality can separate from subjective mastery and epistemic ownership.</a:t>
            </a:r>
          </a:p>
        </p:txBody>
      </p:sp>
      <p:sp>
        <p:nvSpPr>
          <p:cNvPr id="20" name="矩形: 圆角 19"/>
          <p:cNvSpPr>
            <a:spLocks noGrp="1"/>
          </p:cNvSpPr>
          <p:nvPr/>
        </p:nvSpPr>
        <p:spPr>
          <a:xfrm>
            <a:off x="1638300" y="5276850"/>
            <a:ext cx="8839200" cy="704850"/>
          </a:xfrm>
          <a:prstGeom prst="roundRect">
            <a:avLst>
              <a:gd name="adj" fmla="val 16216"/>
            </a:avLst>
          </a:prstGeom>
          <a:solidFill>
            <a:srgbClr val="FCFAF6"/>
          </a:solidFill>
          <a:ln w="9525">
            <a:solidFill>
              <a:srgbClr val="F0E2D1"/>
            </a:solidFill>
            <a:prstDash val="solid"/>
          </a:ln>
        </p:spPr>
      </p:sp>
      <p:sp>
        <p:nvSpPr>
          <p:cNvPr id="21" name="矩形 20"/>
          <p:cNvSpPr>
            <a:spLocks noGrp="1"/>
          </p:cNvSpPr>
          <p:nvPr/>
        </p:nvSpPr>
        <p:spPr>
          <a:xfrm>
            <a:off x="1638300" y="5276850"/>
            <a:ext cx="57150" cy="704850"/>
          </a:xfrm>
          <a:prstGeom prst="rect">
            <a:avLst/>
          </a:prstGeom>
          <a:solidFill>
            <a:srgbClr val="BE643F"/>
          </a:solidFill>
          <a:ln w="0">
            <a:solidFill>
              <a:srgbClr val="BE643F"/>
            </a:solidFill>
            <a:prstDash val="solid"/>
          </a:ln>
        </p:spPr>
      </p:sp>
      <p:sp>
        <p:nvSpPr>
          <p:cNvPr id="22" name="矩形 21"/>
          <p:cNvSpPr>
            <a:spLocks noGrp="1"/>
          </p:cNvSpPr>
          <p:nvPr/>
        </p:nvSpPr>
        <p:spPr>
          <a:xfrm>
            <a:off x="1924050" y="5448300"/>
            <a:ext cx="8286750" cy="342900"/>
          </a:xfrm>
          <a:prstGeom prst="rect">
            <a:avLst/>
          </a:prstGeom>
          <a:noFill/>
          <a:ln w="0">
            <a:noFill/>
            <a:prstDash val="solid"/>
          </a:ln>
        </p:spPr>
        <p:txBody>
          <a:bodyPr/>
          <a:lstStyle/>
          <a:p>
            <a:pPr algn="ctr">
              <a:defRPr sz="1350" i="1">
                <a:solidFill>
                  <a:srgbClr val="667085"/>
                </a:solidFill>
              </a:defRPr>
            </a:pPr>
            <a:r>
              <a:rPr sz="1350" i="1">
                <a:solidFill>
                  <a:srgbClr val="667085"/>
                </a:solidFill>
                <a:latin typeface="Times New Roman" panose="02020603050405020304" pitchFamily="18" charset="0"/>
              </a:rPr>
              <a:t>Taken together, the paper asks not only whether AI reduces search, but whether it changes when users feel they have already seen enough.</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a:spLocks noGrp="1"/>
          </p:cNvSpPr>
          <p:nvPr/>
        </p:nvSpPr>
        <p:spPr>
          <a:xfrm>
            <a:off x="0" y="0"/>
            <a:ext cx="12192000" cy="6858000"/>
          </a:xfrm>
          <a:prstGeom prst="rect">
            <a:avLst/>
          </a:prstGeom>
          <a:solidFill>
            <a:srgbClr val="1F2A44"/>
          </a:solidFill>
          <a:ln w="0">
            <a:solidFill>
              <a:srgbClr val="1F2A44"/>
            </a:solidFill>
            <a:prstDash val="solid"/>
          </a:ln>
        </p:spPr>
        <p:txBody>
          <a:bodyPr/>
          <a:lstStyle/>
          <a:p>
            <a:endParaRPr/>
          </a:p>
        </p:txBody>
      </p:sp>
      <p:sp>
        <p:nvSpPr>
          <p:cNvPr id="2" name="椭圆 1"/>
          <p:cNvSpPr>
            <a:spLocks noGrp="1"/>
          </p:cNvSpPr>
          <p:nvPr/>
        </p:nvSpPr>
        <p:spPr>
          <a:xfrm>
            <a:off x="8858250" y="-1047750"/>
            <a:ext cx="3429000" cy="3429000"/>
          </a:xfrm>
          <a:prstGeom prst="ellipse">
            <a:avLst/>
          </a:prstGeom>
          <a:solidFill>
            <a:srgbClr val="223239"/>
          </a:solidFill>
          <a:ln w="9525">
            <a:solidFill>
              <a:srgbClr val="223239"/>
            </a:solidFill>
            <a:prstDash val="solid"/>
          </a:ln>
        </p:spPr>
      </p:sp>
      <p:sp>
        <p:nvSpPr>
          <p:cNvPr id="3" name="椭圆 2"/>
          <p:cNvSpPr>
            <a:spLocks noGrp="1"/>
          </p:cNvSpPr>
          <p:nvPr/>
        </p:nvSpPr>
        <p:spPr>
          <a:xfrm>
            <a:off x="-952500" y="5143500"/>
            <a:ext cx="2286000" cy="2286000"/>
          </a:xfrm>
          <a:prstGeom prst="ellipse">
            <a:avLst/>
          </a:prstGeom>
          <a:solidFill>
            <a:srgbClr val="223239"/>
          </a:solidFill>
          <a:ln w="9525">
            <a:solidFill>
              <a:srgbClr val="223239"/>
            </a:solidFill>
            <a:prstDash val="solid"/>
          </a:ln>
        </p:spPr>
      </p:sp>
      <p:sp>
        <p:nvSpPr>
          <p:cNvPr id="4" name="矩形 3"/>
          <p:cNvSpPr>
            <a:spLocks noGrp="1"/>
          </p:cNvSpPr>
          <p:nvPr/>
        </p:nvSpPr>
        <p:spPr>
          <a:xfrm>
            <a:off x="838200" y="838200"/>
            <a:ext cx="2095500" cy="20955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E7D4C3"/>
                </a:solidFill>
                <a:latin typeface="Times New Roman" panose="02020603050405020304"/>
                <a:ea typeface="Times New Roman" panose="02020603050405020304"/>
                <a:cs typeface="Times New Roman" panose="02020603050405020304"/>
              </a:defRPr>
            </a:pPr>
            <a:r>
              <a:rPr sz="1125" b="1" i="0">
                <a:solidFill>
                  <a:srgbClr val="E7D4C3"/>
                </a:solidFill>
                <a:latin typeface="Times New Roman" panose="02020603050405020304"/>
                <a:ea typeface="Times New Roman" panose="02020603050405020304"/>
                <a:cs typeface="Times New Roman" panose="02020603050405020304"/>
              </a:rPr>
              <a:t>PAPER 2</a:t>
            </a:r>
          </a:p>
        </p:txBody>
      </p:sp>
      <p:sp>
        <p:nvSpPr>
          <p:cNvPr id="5" name="直接连接符 4"/>
          <p:cNvSpPr>
            <a:spLocks noGrp="1"/>
          </p:cNvSpPr>
          <p:nvPr/>
        </p:nvSpPr>
        <p:spPr>
          <a:xfrm>
            <a:off x="800100" y="5962650"/>
            <a:ext cx="10591800" cy="9525"/>
          </a:xfrm>
          <a:prstGeom prst="line">
            <a:avLst/>
          </a:prstGeom>
          <a:ln w="9525">
            <a:solidFill>
              <a:srgbClr val="C9BAA8"/>
            </a:solidFill>
            <a:prstDash val="solid"/>
          </a:ln>
        </p:spPr>
      </p:sp>
      <p:sp>
        <p:nvSpPr>
          <p:cNvPr id="6" name="矩形 5"/>
          <p:cNvSpPr>
            <a:spLocks noGrp="1"/>
          </p:cNvSpPr>
          <p:nvPr/>
        </p:nvSpPr>
        <p:spPr>
          <a:xfrm>
            <a:off x="1200150" y="1733550"/>
            <a:ext cx="7239000" cy="1066800"/>
          </a:xfrm>
          <a:prstGeom prst="rect">
            <a:avLst/>
          </a:prstGeom>
          <a:noFill/>
          <a:ln w="0">
            <a:noFill/>
            <a:prstDash val="solid"/>
          </a:ln>
        </p:spPr>
        <p:txBody>
          <a:bodyPr wrap="square" lIns="0" tIns="0" rIns="0" bIns="0" anchor="t">
            <a:normAutofit/>
          </a:bodyPr>
          <a:lstStyle/>
          <a:p>
            <a:pPr algn="l">
              <a:lnSpc>
                <a:spcPct val="100000"/>
              </a:lnSpc>
              <a:buNone/>
              <a:defRPr sz="2550" b="1" i="0">
                <a:solidFill>
                  <a:srgbClr val="FFFFFF"/>
                </a:solidFill>
                <a:latin typeface="Times New Roman" panose="02020603050405020304"/>
                <a:ea typeface="Times New Roman" panose="02020603050405020304"/>
                <a:cs typeface="Times New Roman" panose="02020603050405020304"/>
              </a:defRPr>
            </a:pPr>
            <a:r>
              <a:rPr sz="2550" b="1" i="0">
                <a:solidFill>
                  <a:srgbClr val="FFFFFF"/>
                </a:solidFill>
                <a:latin typeface="Times New Roman" panose="02020603050405020304"/>
                <a:ea typeface="Times New Roman" panose="02020603050405020304"/>
                <a:cs typeface="Times New Roman" panose="02020603050405020304"/>
              </a:rPr>
              <a:t>AI Error Shocks and Dynamic Reliance</a:t>
            </a:r>
          </a:p>
        </p:txBody>
      </p:sp>
      <p:sp>
        <p:nvSpPr>
          <p:cNvPr id="7" name="矩形 6"/>
          <p:cNvSpPr>
            <a:spLocks noGrp="1"/>
          </p:cNvSpPr>
          <p:nvPr/>
        </p:nvSpPr>
        <p:spPr>
          <a:xfrm>
            <a:off x="1200150" y="2952750"/>
            <a:ext cx="7239000" cy="685800"/>
          </a:xfrm>
          <a:prstGeom prst="rect">
            <a:avLst/>
          </a:prstGeom>
          <a:noFill/>
          <a:ln w="0">
            <a:noFill/>
            <a:prstDash val="solid"/>
          </a:ln>
        </p:spPr>
        <p:txBody>
          <a:bodyPr wrap="square" lIns="0" tIns="0" rIns="0" bIns="0" anchor="t">
            <a:normAutofit/>
          </a:bodyPr>
          <a:lstStyle/>
          <a:p>
            <a:pPr algn="l">
              <a:lnSpc>
                <a:spcPct val="108000"/>
              </a:lnSpc>
              <a:buNone/>
              <a:defRPr sz="1425" b="0" i="0">
                <a:solidFill>
                  <a:srgbClr val="D8CDC1"/>
                </a:solidFill>
                <a:latin typeface="Times New Roman" panose="02020603050405020304"/>
                <a:ea typeface="Times New Roman" panose="02020603050405020304"/>
                <a:cs typeface="Times New Roman" panose="02020603050405020304"/>
              </a:defRPr>
            </a:pPr>
            <a:r>
              <a:rPr sz="1425" b="0" i="0">
                <a:solidFill>
                  <a:srgbClr val="D8CDC1"/>
                </a:solidFill>
                <a:latin typeface="Times New Roman" panose="02020603050405020304"/>
                <a:ea typeface="Times New Roman" panose="02020603050405020304"/>
                <a:cs typeface="Times New Roman" panose="02020603050405020304"/>
              </a:rPr>
              <a:t>Repeated feedback, matched performance, and path-dependent under-reliance</a:t>
            </a:r>
          </a:p>
        </p:txBody>
      </p:sp>
      <p:sp>
        <p:nvSpPr>
          <p:cNvPr id="8" name="圆角矩形 7"/>
          <p:cNvSpPr>
            <a:spLocks noGrp="1"/>
          </p:cNvSpPr>
          <p:nvPr/>
        </p:nvSpPr>
        <p:spPr>
          <a:xfrm>
            <a:off x="1200150" y="3981450"/>
            <a:ext cx="3962400" cy="1104900"/>
          </a:xfrm>
          <a:prstGeom prst="roundRect">
            <a:avLst>
              <a:gd name="adj" fmla="val 10345"/>
            </a:avLst>
          </a:prstGeom>
          <a:solidFill>
            <a:srgbClr val="F3EBDD"/>
          </a:solidFill>
          <a:ln w="9525">
            <a:solidFill>
              <a:srgbClr val="F3EBDD"/>
            </a:solidFill>
            <a:prstDash val="solid"/>
          </a:ln>
        </p:spPr>
      </p:sp>
      <p:sp>
        <p:nvSpPr>
          <p:cNvPr id="9" name="圆角矩形 8"/>
          <p:cNvSpPr>
            <a:spLocks noGrp="1"/>
          </p:cNvSpPr>
          <p:nvPr/>
        </p:nvSpPr>
        <p:spPr>
          <a:xfrm>
            <a:off x="1200150" y="3981450"/>
            <a:ext cx="57150" cy="1104900"/>
          </a:xfrm>
          <a:prstGeom prst="roundRect">
            <a:avLst>
              <a:gd name="adj" fmla="val 33333"/>
            </a:avLst>
          </a:prstGeom>
          <a:solidFill>
            <a:srgbClr val="B77845"/>
          </a:solidFill>
          <a:ln w="9525">
            <a:solidFill>
              <a:srgbClr val="B77845"/>
            </a:solidFill>
            <a:prstDash val="solid"/>
          </a:ln>
        </p:spPr>
      </p:sp>
      <p:sp>
        <p:nvSpPr>
          <p:cNvPr id="10" name="矩形 9"/>
          <p:cNvSpPr>
            <a:spLocks noGrp="1"/>
          </p:cNvSpPr>
          <p:nvPr/>
        </p:nvSpPr>
        <p:spPr>
          <a:xfrm>
            <a:off x="1428750" y="4171950"/>
            <a:ext cx="3390900" cy="22860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B77845"/>
                </a:solidFill>
                <a:latin typeface="Times New Roman" panose="02020603050405020304"/>
                <a:ea typeface="Times New Roman" panose="02020603050405020304"/>
                <a:cs typeface="Times New Roman" panose="02020603050405020304"/>
              </a:defRPr>
            </a:pPr>
            <a:r>
              <a:rPr sz="1125" b="1" i="0">
                <a:solidFill>
                  <a:srgbClr val="B77845"/>
                </a:solidFill>
                <a:latin typeface="Times New Roman" panose="02020603050405020304"/>
                <a:ea typeface="Times New Roman" panose="02020603050405020304"/>
                <a:cs typeface="Times New Roman" panose="02020603050405020304"/>
              </a:rPr>
              <a:t>Dissertation link</a:t>
            </a:r>
          </a:p>
        </p:txBody>
      </p:sp>
      <p:sp>
        <p:nvSpPr>
          <p:cNvPr id="11" name="矩形 10"/>
          <p:cNvSpPr>
            <a:spLocks noGrp="1"/>
          </p:cNvSpPr>
          <p:nvPr/>
        </p:nvSpPr>
        <p:spPr>
          <a:xfrm>
            <a:off x="1428750" y="4476750"/>
            <a:ext cx="3390900" cy="514350"/>
          </a:xfrm>
          <a:prstGeom prst="rect">
            <a:avLst/>
          </a:prstGeom>
          <a:noFill/>
          <a:ln w="0">
            <a:noFill/>
            <a:prstDash val="solid"/>
          </a:ln>
        </p:spPr>
        <p:txBody>
          <a:bodyPr wrap="square" lIns="0" tIns="0" rIns="0" bIns="0" anchor="t">
            <a:normAutofit/>
          </a:bodyPr>
          <a:lstStyle/>
          <a:p>
            <a:pPr algn="l">
              <a:lnSpc>
                <a:spcPct val="108000"/>
              </a:lnSpc>
              <a:buNone/>
              <a:defRPr sz="1350" b="0" i="0">
                <a:solidFill>
                  <a:srgbClr val="231D17"/>
                </a:solidFill>
                <a:latin typeface="Times New Roman" panose="02020603050405020304"/>
                <a:ea typeface="Times New Roman" panose="02020603050405020304"/>
                <a:cs typeface="Times New Roman" panose="02020603050405020304"/>
              </a:defRPr>
            </a:pPr>
            <a:r>
              <a:rPr sz="1350" b="0" i="0">
                <a:solidFill>
                  <a:srgbClr val="231D17"/>
                </a:solidFill>
                <a:latin typeface="Times New Roman" panose="02020603050405020304"/>
                <a:ea typeface="Times New Roman" panose="02020603050405020304"/>
                <a:cs typeface="Times New Roman" panose="02020603050405020304"/>
              </a:rPr>
              <a:t>This paper studies how feedback reshapes reliance calibration after local AI failures.</a:t>
            </a:r>
          </a:p>
        </p:txBody>
      </p:sp>
      <p:sp>
        <p:nvSpPr>
          <p:cNvPr id="12" name="圆角矩形 11"/>
          <p:cNvSpPr>
            <a:spLocks noGrp="1"/>
          </p:cNvSpPr>
          <p:nvPr/>
        </p:nvSpPr>
        <p:spPr>
          <a:xfrm>
            <a:off x="5391150" y="3981450"/>
            <a:ext cx="5143500" cy="1104900"/>
          </a:xfrm>
          <a:prstGeom prst="roundRect">
            <a:avLst>
              <a:gd name="adj" fmla="val 10345"/>
            </a:avLst>
          </a:prstGeom>
          <a:solidFill>
            <a:srgbClr val="F3EBDD"/>
          </a:solidFill>
          <a:ln w="9525">
            <a:solidFill>
              <a:srgbClr val="F3EBDD"/>
            </a:solidFill>
            <a:prstDash val="solid"/>
          </a:ln>
        </p:spPr>
      </p:sp>
      <p:sp>
        <p:nvSpPr>
          <p:cNvPr id="13" name="圆角矩形 12"/>
          <p:cNvSpPr>
            <a:spLocks noGrp="1"/>
          </p:cNvSpPr>
          <p:nvPr/>
        </p:nvSpPr>
        <p:spPr>
          <a:xfrm>
            <a:off x="5391150" y="3981450"/>
            <a:ext cx="57150" cy="1104900"/>
          </a:xfrm>
          <a:prstGeom prst="roundRect">
            <a:avLst>
              <a:gd name="adj" fmla="val 33333"/>
            </a:avLst>
          </a:prstGeom>
          <a:solidFill>
            <a:srgbClr val="818A68"/>
          </a:solidFill>
          <a:ln w="9525">
            <a:solidFill>
              <a:srgbClr val="818A68"/>
            </a:solidFill>
            <a:prstDash val="solid"/>
          </a:ln>
        </p:spPr>
      </p:sp>
      <p:sp>
        <p:nvSpPr>
          <p:cNvPr id="14" name="矩形 13"/>
          <p:cNvSpPr>
            <a:spLocks noGrp="1"/>
          </p:cNvSpPr>
          <p:nvPr/>
        </p:nvSpPr>
        <p:spPr>
          <a:xfrm>
            <a:off x="5619750" y="4171950"/>
            <a:ext cx="4572000" cy="228600"/>
          </a:xfrm>
          <a:prstGeom prst="rect">
            <a:avLst/>
          </a:prstGeom>
          <a:noFill/>
          <a:ln w="0">
            <a:noFill/>
            <a:prstDash val="solid"/>
          </a:ln>
        </p:spPr>
        <p:txBody>
          <a:bodyPr wrap="square" lIns="0" tIns="0" rIns="0" bIns="0" anchor="t">
            <a:normAutofit/>
          </a:bodyPr>
          <a:lstStyle/>
          <a:p>
            <a:pPr algn="l">
              <a:lnSpc>
                <a:spcPct val="108000"/>
              </a:lnSpc>
              <a:buNone/>
              <a:defRPr sz="1125" b="1" i="0">
                <a:solidFill>
                  <a:srgbClr val="818A68"/>
                </a:solidFill>
                <a:latin typeface="Times New Roman" panose="02020603050405020304"/>
                <a:ea typeface="Times New Roman" panose="02020603050405020304"/>
                <a:cs typeface="Times New Roman" panose="02020603050405020304"/>
              </a:defRPr>
            </a:pPr>
            <a:r>
              <a:rPr sz="1125" b="1" i="0">
                <a:solidFill>
                  <a:srgbClr val="818A68"/>
                </a:solidFill>
                <a:latin typeface="Times New Roman" panose="02020603050405020304"/>
                <a:ea typeface="Times New Roman" panose="02020603050405020304"/>
                <a:cs typeface="Times New Roman" panose="02020603050405020304"/>
              </a:rPr>
              <a:t>Decision-process position</a:t>
            </a:r>
          </a:p>
        </p:txBody>
      </p:sp>
      <p:sp>
        <p:nvSpPr>
          <p:cNvPr id="15" name="矩形 14"/>
          <p:cNvSpPr>
            <a:spLocks noGrp="1"/>
          </p:cNvSpPr>
          <p:nvPr/>
        </p:nvSpPr>
        <p:spPr>
          <a:xfrm>
            <a:off x="5619750" y="4476750"/>
            <a:ext cx="4572000" cy="514350"/>
          </a:xfrm>
          <a:prstGeom prst="rect">
            <a:avLst/>
          </a:prstGeom>
          <a:noFill/>
          <a:ln w="0">
            <a:noFill/>
            <a:prstDash val="solid"/>
          </a:ln>
        </p:spPr>
        <p:txBody>
          <a:bodyPr wrap="square" lIns="0" tIns="0" rIns="0" bIns="0" anchor="t">
            <a:normAutofit/>
          </a:bodyPr>
          <a:lstStyle/>
          <a:p>
            <a:pPr algn="l">
              <a:lnSpc>
                <a:spcPct val="108000"/>
              </a:lnSpc>
              <a:buNone/>
              <a:defRPr sz="1350" b="0" i="0">
                <a:solidFill>
                  <a:srgbClr val="231D17"/>
                </a:solidFill>
                <a:latin typeface="Times New Roman" panose="02020603050405020304"/>
                <a:ea typeface="Times New Roman" panose="02020603050405020304"/>
                <a:cs typeface="Times New Roman" panose="02020603050405020304"/>
              </a:defRPr>
            </a:pPr>
            <a:r>
              <a:rPr sz="1350" b="0" i="0">
                <a:solidFill>
                  <a:srgbClr val="231D17"/>
                </a:solidFill>
                <a:latin typeface="Times New Roman" panose="02020603050405020304"/>
                <a:ea typeface="Times New Roman" panose="02020603050405020304"/>
                <a:cs typeface="Times New Roman" panose="02020603050405020304"/>
              </a:rPr>
              <a:t>Belief and feedback  -&gt;  reliance calibration  -&gt;  later action thresholds</a:t>
            </a:r>
          </a:p>
        </p:txBody>
      </p:sp>
      <p:sp>
        <p:nvSpPr>
          <p:cNvPr id="16" name="矩形 15"/>
          <p:cNvSpPr>
            <a:spLocks noGrp="1"/>
          </p:cNvSpPr>
          <p:nvPr/>
        </p:nvSpPr>
        <p:spPr>
          <a:xfrm>
            <a:off x="838200" y="6096000"/>
            <a:ext cx="5334000" cy="190500"/>
          </a:xfrm>
          <a:prstGeom prst="rect">
            <a:avLst/>
          </a:prstGeom>
          <a:noFill/>
          <a:ln w="0">
            <a:noFill/>
            <a:prstDash val="solid"/>
          </a:ln>
        </p:spPr>
        <p:txBody>
          <a:bodyPr wrap="square" lIns="0" tIns="0" rIns="0" bIns="0" anchor="t">
            <a:normAutofit/>
          </a:bodyPr>
          <a:lstStyle/>
          <a:p>
            <a:pPr algn="l">
              <a:lnSpc>
                <a:spcPct val="108000"/>
              </a:lnSpc>
              <a:buNone/>
              <a:defRPr sz="900" b="0" i="0">
                <a:solidFill>
                  <a:srgbClr val="C9BAA8"/>
                </a:solidFill>
                <a:latin typeface="Times New Roman" panose="02020603050405020304"/>
                <a:ea typeface="Times New Roman" panose="02020603050405020304"/>
                <a:cs typeface="Times New Roman" panose="02020603050405020304"/>
              </a:defRPr>
            </a:pPr>
            <a:r>
              <a:rPr sz="900" b="0" i="0">
                <a:solidFill>
                  <a:srgbClr val="C9BAA8"/>
                </a:solidFill>
                <a:latin typeface="Times New Roman" panose="02020603050405020304"/>
                <a:ea typeface="Times New Roman" panose="02020603050405020304"/>
                <a:cs typeface="Times New Roman" panose="02020603050405020304"/>
              </a:rPr>
              <a:t>Section deck for dissertation defense</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矩形 16"/>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CONCRETE ENTRY POINT</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8322"/>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puzzle is not whether people dislike errors, but how later reliance recovers</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A single miss can matter differently when it is read as a problem of source quality rather than a temporary local mistake.</a:t>
            </a:r>
          </a:p>
        </p:txBody>
      </p:sp>
      <p:sp>
        <p:nvSpPr>
          <p:cNvPr id="7" name="圆角矩形 6"/>
          <p:cNvSpPr>
            <a:spLocks noGrp="1"/>
          </p:cNvSpPr>
          <p:nvPr>
            <p:custDataLst>
              <p:tags r:id="rId1"/>
            </p:custDataLst>
          </p:nvPr>
        </p:nvSpPr>
        <p:spPr>
          <a:xfrm>
            <a:off x="914400" y="2190750"/>
            <a:ext cx="4876800" cy="2724150"/>
          </a:xfrm>
          <a:prstGeom prst="roundRect">
            <a:avLst>
              <a:gd name="adj" fmla="val 4196"/>
            </a:avLst>
          </a:prstGeom>
          <a:solidFill>
            <a:srgbClr val="FFFFFF"/>
          </a:solidFill>
          <a:ln w="9525">
            <a:solidFill>
              <a:srgbClr val="D8CCBB"/>
            </a:solidFill>
            <a:prstDash val="solid"/>
          </a:ln>
        </p:spPr>
      </p:sp>
      <p:sp>
        <p:nvSpPr>
          <p:cNvPr id="8" name="圆角矩形 7"/>
          <p:cNvSpPr>
            <a:spLocks noGrp="1"/>
          </p:cNvSpPr>
          <p:nvPr>
            <p:custDataLst>
              <p:tags r:id="rId2"/>
            </p:custDataLst>
          </p:nvPr>
        </p:nvSpPr>
        <p:spPr>
          <a:xfrm>
            <a:off x="914400" y="2190750"/>
            <a:ext cx="57150" cy="2724150"/>
          </a:xfrm>
          <a:prstGeom prst="roundRect">
            <a:avLst>
              <a:gd name="adj" fmla="val 33333"/>
            </a:avLst>
          </a:prstGeom>
          <a:solidFill>
            <a:srgbClr val="3E4C5A"/>
          </a:solidFill>
          <a:ln w="9525">
            <a:solidFill>
              <a:srgbClr val="3E4C5A"/>
            </a:solidFill>
            <a:prstDash val="solid"/>
          </a:ln>
        </p:spPr>
      </p:sp>
      <p:sp>
        <p:nvSpPr>
          <p:cNvPr id="9" name="矩形 8"/>
          <p:cNvSpPr>
            <a:spLocks noGrp="1"/>
          </p:cNvSpPr>
          <p:nvPr>
            <p:custDataLst>
              <p:tags r:id="rId3"/>
            </p:custDataLst>
          </p:nvPr>
        </p:nvSpPr>
        <p:spPr>
          <a:xfrm>
            <a:off x="1199515" y="2348865"/>
            <a:ext cx="2040255" cy="228600"/>
          </a:xfrm>
          <a:prstGeom prst="rect">
            <a:avLst/>
          </a:prstGeom>
          <a:noFill/>
          <a:ln w="0">
            <a:noFill/>
            <a:prstDash val="solid"/>
          </a:ln>
        </p:spPr>
        <p:txBody>
          <a:bodyPr wrap="square" lIns="0" tIns="0" rIns="0" bIns="0" anchor="t">
            <a:normAutofit fontScale="90000"/>
          </a:bodyPr>
          <a:lstStyle/>
          <a:p>
            <a:pPr algn="l">
              <a:lnSpc>
                <a:spcPct val="108000"/>
              </a:lnSpc>
              <a:buNone/>
              <a:defRPr sz="1275" b="1" i="0">
                <a:solidFill>
                  <a:srgbClr val="3E4C5A"/>
                </a:solidFill>
                <a:latin typeface="Times New Roman" panose="02020603050405020304"/>
                <a:ea typeface="Times New Roman" panose="02020603050405020304"/>
                <a:cs typeface="Times New Roman" panose="02020603050405020304"/>
              </a:defRPr>
            </a:pPr>
            <a:r>
              <a:rPr lang="en-US" altLang="zh-CN" sz="1275" b="1" i="0">
                <a:solidFill>
                  <a:srgbClr val="3E4C5A"/>
                </a:solidFill>
                <a:latin typeface="Times New Roman" panose="02020603050405020304"/>
                <a:ea typeface="Times New Roman" panose="02020603050405020304"/>
                <a:cs typeface="Times New Roman" panose="02020603050405020304"/>
              </a:rPr>
              <a:t>Asymmetric Reliance Dynamics</a:t>
            </a:r>
          </a:p>
        </p:txBody>
      </p:sp>
      <p:sp>
        <p:nvSpPr>
          <p:cNvPr id="10" name="矩形 9"/>
          <p:cNvSpPr>
            <a:spLocks noGrp="1"/>
          </p:cNvSpPr>
          <p:nvPr>
            <p:custDataLst>
              <p:tags r:id="rId4"/>
            </p:custDataLst>
          </p:nvPr>
        </p:nvSpPr>
        <p:spPr>
          <a:xfrm>
            <a:off x="1143000" y="2781300"/>
            <a:ext cx="4248150" cy="16192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75" b="0" i="0">
                <a:solidFill>
                  <a:srgbClr val="231D17"/>
                </a:solidFill>
                <a:latin typeface="Times New Roman" panose="02020603050405020304"/>
                <a:ea typeface="Times New Roman" panose="02020603050405020304"/>
                <a:cs typeface="Times New Roman" panose="02020603050405020304"/>
              </a:rPr>
              <a:t>when using the same AI system, such as Doubao or ChatGPT, our level of trust changes depending on the task. We may fully trust AI to help write emails, but become much more cautious when asking for medical advice, investment recommendations, or research support. In other words, trust in AI is not static—it continuously evolves according to task risk, AI performance, and users' previous experiences.</a:t>
            </a:r>
          </a:p>
        </p:txBody>
      </p:sp>
      <p:sp>
        <p:nvSpPr>
          <p:cNvPr id="11" name="圆角矩形 10"/>
          <p:cNvSpPr>
            <a:spLocks noGrp="1"/>
          </p:cNvSpPr>
          <p:nvPr>
            <p:custDataLst>
              <p:tags r:id="rId5"/>
            </p:custDataLst>
          </p:nvPr>
        </p:nvSpPr>
        <p:spPr>
          <a:xfrm>
            <a:off x="6362700" y="2190750"/>
            <a:ext cx="4876800" cy="2724150"/>
          </a:xfrm>
          <a:prstGeom prst="roundRect">
            <a:avLst>
              <a:gd name="adj" fmla="val 4196"/>
            </a:avLst>
          </a:prstGeom>
          <a:solidFill>
            <a:srgbClr val="FFFFFF"/>
          </a:solidFill>
          <a:ln w="9525">
            <a:solidFill>
              <a:srgbClr val="D8CCBB"/>
            </a:solidFill>
            <a:prstDash val="solid"/>
          </a:ln>
        </p:spPr>
        <p:txBody>
          <a:bodyPr/>
          <a:lstStyle/>
          <a:p>
            <a:endParaRPr lang="zh-CN" altLang="en-US"/>
          </a:p>
        </p:txBody>
      </p:sp>
      <p:sp>
        <p:nvSpPr>
          <p:cNvPr id="12" name="圆角矩形 11"/>
          <p:cNvSpPr>
            <a:spLocks noGrp="1"/>
          </p:cNvSpPr>
          <p:nvPr>
            <p:custDataLst>
              <p:tags r:id="rId6"/>
            </p:custDataLst>
          </p:nvPr>
        </p:nvSpPr>
        <p:spPr>
          <a:xfrm>
            <a:off x="6362700" y="2190750"/>
            <a:ext cx="57150" cy="2724150"/>
          </a:xfrm>
          <a:prstGeom prst="roundRect">
            <a:avLst>
              <a:gd name="adj" fmla="val 33333"/>
            </a:avLst>
          </a:prstGeom>
          <a:solidFill>
            <a:srgbClr val="B77845"/>
          </a:solidFill>
          <a:ln w="9525">
            <a:solidFill>
              <a:srgbClr val="B77845"/>
            </a:solidFill>
            <a:prstDash val="solid"/>
          </a:ln>
        </p:spPr>
      </p:sp>
      <p:sp>
        <p:nvSpPr>
          <p:cNvPr id="13" name="矩形 12"/>
          <p:cNvSpPr>
            <a:spLocks noGrp="1"/>
          </p:cNvSpPr>
          <p:nvPr>
            <p:custDataLst>
              <p:tags r:id="rId7"/>
            </p:custDataLst>
          </p:nvPr>
        </p:nvSpPr>
        <p:spPr>
          <a:xfrm>
            <a:off x="6591300" y="2400300"/>
            <a:ext cx="20955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Why AI may be different</a:t>
            </a:r>
          </a:p>
        </p:txBody>
      </p:sp>
      <p:sp>
        <p:nvSpPr>
          <p:cNvPr id="14" name="矩形 13"/>
          <p:cNvSpPr>
            <a:spLocks noGrp="1"/>
          </p:cNvSpPr>
          <p:nvPr>
            <p:custDataLst>
              <p:tags r:id="rId8"/>
            </p:custDataLst>
          </p:nvPr>
        </p:nvSpPr>
        <p:spPr>
          <a:xfrm>
            <a:off x="6591300" y="2781300"/>
            <a:ext cx="4356735" cy="1850390"/>
          </a:xfrm>
          <a:prstGeom prst="rect">
            <a:avLst/>
          </a:prstGeom>
          <a:noFill/>
          <a:ln w="0">
            <a:noFill/>
            <a:prstDash val="solid"/>
          </a:ln>
        </p:spPr>
        <p:txBody>
          <a:bodyPr wrap="square" lIns="0" tIns="0" rIns="0" bIns="0" anchor="t"/>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A single AI mistake may not feel like just one mistake. People may start to think the AI itself is unreliable.</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And once that impression is formed, it can carry over to later rounds. Even if the AI performs well afterward, people may still remember the earlier failure.</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So the key question is not simply whether people dislike AI errors. is how people's trust in AI changes over time during repeated interactions.</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endParaRPr lang="en-US" altLang="zh-CN" sz="1200" b="0" i="0">
              <a:solidFill>
                <a:srgbClr val="231D17"/>
              </a:solidFill>
              <a:latin typeface="Times New Roman" panose="02020603050405020304"/>
              <a:ea typeface="Times New Roman" panose="02020603050405020304"/>
              <a:cs typeface="Times New Roman" panose="02020603050405020304"/>
            </a:endParaRPr>
          </a:p>
        </p:txBody>
      </p:sp>
      <p:sp>
        <p:nvSpPr>
          <p:cNvPr id="15" name="直接连接符 14"/>
          <p:cNvSpPr>
            <a:spLocks noGrp="1"/>
          </p:cNvSpPr>
          <p:nvPr/>
        </p:nvSpPr>
        <p:spPr>
          <a:xfrm>
            <a:off x="914400" y="5219700"/>
            <a:ext cx="10287000" cy="9525"/>
          </a:xfrm>
          <a:prstGeom prst="line">
            <a:avLst/>
          </a:prstGeom>
          <a:ln w="9525">
            <a:solidFill>
              <a:srgbClr val="D8CCBB"/>
            </a:solidFill>
            <a:prstDash val="solid"/>
          </a:ln>
        </p:spPr>
      </p:sp>
      <p:sp>
        <p:nvSpPr>
          <p:cNvPr id="16" name="矩形 15"/>
          <p:cNvSpPr>
            <a:spLocks noGrp="1"/>
          </p:cNvSpPr>
          <p:nvPr/>
        </p:nvSpPr>
        <p:spPr>
          <a:xfrm>
            <a:off x="914400" y="5429250"/>
            <a:ext cx="10287000" cy="4191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Puzzle: when later performance is matched again, does reliance return symmetrically, or does an early AI miss leave a longer shadow?</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EXISTING WORK</a:t>
            </a:r>
          </a:p>
        </p:txBody>
      </p:sp>
      <p:sp>
        <p:nvSpPr>
          <p:cNvPr id="5" name="矩形 4"/>
          <p:cNvSpPr>
            <a:spLocks noGrp="1"/>
          </p:cNvSpPr>
          <p:nvPr/>
        </p:nvSpPr>
        <p:spPr>
          <a:xfrm>
            <a:off x="914400" y="952500"/>
            <a:ext cx="9144000" cy="438150"/>
          </a:xfrm>
          <a:prstGeom prst="rect">
            <a:avLst/>
          </a:prstGeom>
          <a:noFill/>
          <a:ln w="0">
            <a:noFill/>
            <a:prstDash val="solid"/>
          </a:ln>
        </p:spPr>
        <p:txBody>
          <a:bodyPr wrap="square" lIns="0" tIns="0" rIns="0" bIns="0" anchor="t">
            <a:normAutofit/>
          </a:bodyPr>
          <a:lstStyle/>
          <a:p>
            <a:pPr algn="l">
              <a:lnSpc>
                <a:spcPct val="96000"/>
              </a:lnSpc>
              <a:buNone/>
              <a:defRPr sz="2625" b="1" i="0">
                <a:solidFill>
                  <a:srgbClr val="231D17"/>
                </a:solidFill>
                <a:latin typeface="Times New Roman" panose="02020603050405020304"/>
                <a:ea typeface="Times New Roman" panose="02020603050405020304"/>
                <a:cs typeface="Times New Roman" panose="02020603050405020304"/>
              </a:defRPr>
            </a:pPr>
            <a:r>
              <a:rPr sz="2625" b="1" i="0">
                <a:solidFill>
                  <a:srgbClr val="231D17"/>
                </a:solidFill>
                <a:latin typeface="Times New Roman" panose="02020603050405020304"/>
                <a:ea typeface="Times New Roman" panose="02020603050405020304"/>
                <a:cs typeface="Times New Roman" panose="02020603050405020304"/>
              </a:rPr>
              <a:t>Existing Work Explains Adoption Better Than Reliance Paths</a:t>
            </a:r>
          </a:p>
        </p:txBody>
      </p:sp>
      <p:sp>
        <p:nvSpPr>
          <p:cNvPr id="6" name="矩形 5"/>
          <p:cNvSpPr>
            <a:spLocks noGrp="1"/>
          </p:cNvSpPr>
          <p:nvPr/>
        </p:nvSpPr>
        <p:spPr>
          <a:xfrm>
            <a:off x="914400" y="1466850"/>
            <a:ext cx="9906000" cy="361950"/>
          </a:xfrm>
          <a:prstGeom prst="rect">
            <a:avLst/>
          </a:prstGeom>
          <a:noFill/>
          <a:ln w="0">
            <a:noFill/>
            <a:prstDash val="solid"/>
          </a:ln>
        </p:spPr>
        <p:txBody>
          <a:bodyPr wrap="square" lIns="0" tIns="0" rIns="0" bIns="0" anchor="t">
            <a:normAutofit fontScale="89329" lnSpcReduction="10000"/>
          </a:bodyPr>
          <a:lstStyle/>
          <a:p>
            <a:pPr algn="l">
              <a:lnSpc>
                <a:spcPct val="105000"/>
              </a:lnSpc>
              <a:buNone/>
              <a:defRPr sz="1315" b="0" i="0">
                <a:solidFill>
                  <a:srgbClr val="6F665C"/>
                </a:solidFill>
                <a:latin typeface="Times New Roman" panose="02020603050405020304"/>
                <a:ea typeface="Times New Roman" panose="02020603050405020304"/>
                <a:cs typeface="Times New Roman" panose="02020603050405020304"/>
              </a:defRPr>
            </a:pPr>
            <a:r>
              <a:rPr sz="1315" b="0" i="0">
                <a:solidFill>
                  <a:srgbClr val="6F665C"/>
                </a:solidFill>
                <a:latin typeface="Times New Roman" panose="02020603050405020304"/>
                <a:ea typeface="Times New Roman" panose="02020603050405020304"/>
                <a:cs typeface="Times New Roman" panose="02020603050405020304"/>
              </a:rPr>
              <a:t>The literature already explains trust, advice use, and algorithm error reactions. The unresolved question is how feedback history reshapes later self-versus-AI reliance.</a:t>
            </a:r>
          </a:p>
        </p:txBody>
      </p:sp>
      <p:sp>
        <p:nvSpPr>
          <p:cNvPr id="7" name="圆角矩形 6"/>
          <p:cNvSpPr>
            <a:spLocks noGrp="1"/>
          </p:cNvSpPr>
          <p:nvPr/>
        </p:nvSpPr>
        <p:spPr>
          <a:xfrm>
            <a:off x="914400" y="2114550"/>
            <a:ext cx="3143250" cy="1200150"/>
          </a:xfrm>
          <a:prstGeom prst="roundRect">
            <a:avLst>
              <a:gd name="adj" fmla="val 6349"/>
            </a:avLst>
          </a:prstGeom>
          <a:solidFill>
            <a:srgbClr val="FFFFFF"/>
          </a:solidFill>
          <a:ln w="9525">
            <a:solidFill>
              <a:srgbClr val="D8CCBB"/>
            </a:solidFill>
            <a:prstDash val="solid"/>
          </a:ln>
        </p:spPr>
      </p:sp>
      <p:sp>
        <p:nvSpPr>
          <p:cNvPr id="8" name="圆角矩形 7"/>
          <p:cNvSpPr>
            <a:spLocks noGrp="1"/>
          </p:cNvSpPr>
          <p:nvPr/>
        </p:nvSpPr>
        <p:spPr>
          <a:xfrm>
            <a:off x="914400" y="2114550"/>
            <a:ext cx="47625" cy="1200150"/>
          </a:xfrm>
          <a:prstGeom prst="roundRect">
            <a:avLst>
              <a:gd name="adj" fmla="val 40000"/>
            </a:avLst>
          </a:prstGeom>
          <a:solidFill>
            <a:srgbClr val="B77845"/>
          </a:solidFill>
          <a:ln w="9525">
            <a:solidFill>
              <a:srgbClr val="B77845"/>
            </a:solidFill>
            <a:prstDash val="solid"/>
          </a:ln>
        </p:spPr>
      </p:sp>
      <p:sp>
        <p:nvSpPr>
          <p:cNvPr id="9" name="矩形 8"/>
          <p:cNvSpPr>
            <a:spLocks noGrp="1"/>
          </p:cNvSpPr>
          <p:nvPr/>
        </p:nvSpPr>
        <p:spPr>
          <a:xfrm>
            <a:off x="1123950" y="2247900"/>
            <a:ext cx="2724150" cy="323850"/>
          </a:xfrm>
          <a:prstGeom prst="rect">
            <a:avLst/>
          </a:prstGeom>
          <a:noFill/>
          <a:ln w="0">
            <a:noFill/>
            <a:prstDash val="solid"/>
          </a:ln>
        </p:spPr>
        <p:txBody>
          <a:bodyPr wrap="square" lIns="0" tIns="0" rIns="0" bIns="0" anchor="t">
            <a:normAutofit fontScale="92232" lnSpcReduction="20000"/>
          </a:bodyPr>
          <a:lstStyle/>
          <a:p>
            <a:pPr algn="l">
              <a:lnSpc>
                <a:spcPct val="9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Automation trust and appropriate reliance</a:t>
            </a:r>
          </a:p>
        </p:txBody>
      </p:sp>
      <p:sp>
        <p:nvSpPr>
          <p:cNvPr id="10" name="矩形 9"/>
          <p:cNvSpPr>
            <a:spLocks noGrp="1"/>
          </p:cNvSpPr>
          <p:nvPr/>
        </p:nvSpPr>
        <p:spPr>
          <a:xfrm>
            <a:off x="1123950" y="2647950"/>
            <a:ext cx="2724150" cy="361950"/>
          </a:xfrm>
          <a:prstGeom prst="rect">
            <a:avLst/>
          </a:prstGeom>
          <a:noFill/>
          <a:ln w="0">
            <a:noFill/>
            <a:prstDash val="solid"/>
          </a:ln>
        </p:spPr>
        <p:txBody>
          <a:bodyPr wrap="square" lIns="0" tIns="0" rIns="0" bIns="0" anchor="t">
            <a:normAutofit fontScale="87293"/>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The key issue is not blind trust, but calibrated reliance on automation when its capabilities and limits are understood.</a:t>
            </a:r>
          </a:p>
        </p:txBody>
      </p:sp>
      <p:sp>
        <p:nvSpPr>
          <p:cNvPr id="11" name="矩形 10"/>
          <p:cNvSpPr>
            <a:spLocks noGrp="1"/>
          </p:cNvSpPr>
          <p:nvPr/>
        </p:nvSpPr>
        <p:spPr>
          <a:xfrm>
            <a:off x="1123950" y="31051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(Lee &amp; See, 2004)</a:t>
            </a:r>
          </a:p>
        </p:txBody>
      </p:sp>
      <p:sp>
        <p:nvSpPr>
          <p:cNvPr id="12" name="圆角矩形 11"/>
          <p:cNvSpPr>
            <a:spLocks noGrp="1"/>
          </p:cNvSpPr>
          <p:nvPr/>
        </p:nvSpPr>
        <p:spPr>
          <a:xfrm>
            <a:off x="4343400" y="2114550"/>
            <a:ext cx="3143250" cy="1200150"/>
          </a:xfrm>
          <a:prstGeom prst="roundRect">
            <a:avLst>
              <a:gd name="adj" fmla="val 6349"/>
            </a:avLst>
          </a:prstGeom>
          <a:solidFill>
            <a:srgbClr val="FFFFFF"/>
          </a:solidFill>
          <a:ln w="9525">
            <a:solidFill>
              <a:srgbClr val="D8CCBB"/>
            </a:solidFill>
            <a:prstDash val="solid"/>
          </a:ln>
        </p:spPr>
      </p:sp>
      <p:sp>
        <p:nvSpPr>
          <p:cNvPr id="13" name="圆角矩形 12"/>
          <p:cNvSpPr>
            <a:spLocks noGrp="1"/>
          </p:cNvSpPr>
          <p:nvPr/>
        </p:nvSpPr>
        <p:spPr>
          <a:xfrm>
            <a:off x="4343400" y="2114550"/>
            <a:ext cx="47625" cy="1200150"/>
          </a:xfrm>
          <a:prstGeom prst="roundRect">
            <a:avLst>
              <a:gd name="adj" fmla="val 40000"/>
            </a:avLst>
          </a:prstGeom>
          <a:solidFill>
            <a:srgbClr val="818A68"/>
          </a:solidFill>
          <a:ln w="9525">
            <a:solidFill>
              <a:srgbClr val="818A68"/>
            </a:solidFill>
            <a:prstDash val="solid"/>
          </a:ln>
        </p:spPr>
      </p:sp>
      <p:sp>
        <p:nvSpPr>
          <p:cNvPr id="14" name="矩形 13"/>
          <p:cNvSpPr>
            <a:spLocks noGrp="1"/>
          </p:cNvSpPr>
          <p:nvPr/>
        </p:nvSpPr>
        <p:spPr>
          <a:xfrm>
            <a:off x="4552950" y="2247900"/>
            <a:ext cx="2724150" cy="323850"/>
          </a:xfrm>
          <a:prstGeom prst="rect">
            <a:avLst/>
          </a:prstGeom>
          <a:noFill/>
          <a:ln w="0">
            <a:noFill/>
            <a:prstDash val="solid"/>
          </a:ln>
        </p:spPr>
        <p:txBody>
          <a:bodyPr wrap="square" lIns="0" tIns="0" rIns="0" bIns="0" anchor="t">
            <a:normAutofit fontScale="95521"/>
          </a:bodyPr>
          <a:lstStyle/>
          <a:p>
            <a:pPr algn="l">
              <a:lnSpc>
                <a:spcPct val="98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Advice taking and egocentric discounting</a:t>
            </a:r>
          </a:p>
        </p:txBody>
      </p:sp>
      <p:sp>
        <p:nvSpPr>
          <p:cNvPr id="15" name="矩形 14"/>
          <p:cNvSpPr>
            <a:spLocks noGrp="1"/>
          </p:cNvSpPr>
          <p:nvPr/>
        </p:nvSpPr>
        <p:spPr>
          <a:xfrm>
            <a:off x="4552950" y="2647950"/>
            <a:ext cx="2724150" cy="361950"/>
          </a:xfrm>
          <a:prstGeom prst="rect">
            <a:avLst/>
          </a:prstGeom>
          <a:noFill/>
          <a:ln w="0">
            <a:noFill/>
            <a:prstDash val="solid"/>
          </a:ln>
        </p:spPr>
        <p:txBody>
          <a:bodyPr wrap="square" lIns="0" tIns="0" rIns="0" bIns="0" anchor="t">
            <a:normAutofit fontScale="86811"/>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People often discount external advice and overweight their own judgment, even when advice could improve decisions.</a:t>
            </a:r>
          </a:p>
        </p:txBody>
      </p:sp>
      <p:sp>
        <p:nvSpPr>
          <p:cNvPr id="16" name="矩形 15"/>
          <p:cNvSpPr>
            <a:spLocks noGrp="1"/>
          </p:cNvSpPr>
          <p:nvPr/>
        </p:nvSpPr>
        <p:spPr>
          <a:xfrm>
            <a:off x="4552950" y="31051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(Yaniv &amp; Kleinberger, 2000; Bonaccio &amp; Dalal, 2006)</a:t>
            </a:r>
          </a:p>
        </p:txBody>
      </p:sp>
      <p:sp>
        <p:nvSpPr>
          <p:cNvPr id="17" name="圆角矩形 16"/>
          <p:cNvSpPr>
            <a:spLocks noGrp="1"/>
          </p:cNvSpPr>
          <p:nvPr/>
        </p:nvSpPr>
        <p:spPr>
          <a:xfrm>
            <a:off x="914400" y="3486150"/>
            <a:ext cx="3143250" cy="1200150"/>
          </a:xfrm>
          <a:prstGeom prst="roundRect">
            <a:avLst>
              <a:gd name="adj" fmla="val 6349"/>
            </a:avLst>
          </a:prstGeom>
          <a:solidFill>
            <a:srgbClr val="FFFFFF"/>
          </a:solidFill>
          <a:ln w="9525">
            <a:solidFill>
              <a:srgbClr val="D8CCBB"/>
            </a:solidFill>
            <a:prstDash val="solid"/>
          </a:ln>
        </p:spPr>
      </p:sp>
      <p:sp>
        <p:nvSpPr>
          <p:cNvPr id="18" name="圆角矩形 17"/>
          <p:cNvSpPr>
            <a:spLocks noGrp="1"/>
          </p:cNvSpPr>
          <p:nvPr/>
        </p:nvSpPr>
        <p:spPr>
          <a:xfrm>
            <a:off x="914400" y="3486150"/>
            <a:ext cx="47625" cy="1200150"/>
          </a:xfrm>
          <a:prstGeom prst="roundRect">
            <a:avLst>
              <a:gd name="adj" fmla="val 40000"/>
            </a:avLst>
          </a:prstGeom>
          <a:solidFill>
            <a:srgbClr val="23384A"/>
          </a:solidFill>
          <a:ln w="9525">
            <a:solidFill>
              <a:srgbClr val="23384A"/>
            </a:solidFill>
            <a:prstDash val="solid"/>
          </a:ln>
        </p:spPr>
      </p:sp>
      <p:sp>
        <p:nvSpPr>
          <p:cNvPr id="19" name="矩形 18"/>
          <p:cNvSpPr>
            <a:spLocks noGrp="1"/>
          </p:cNvSpPr>
          <p:nvPr/>
        </p:nvSpPr>
        <p:spPr>
          <a:xfrm>
            <a:off x="1123950" y="3619500"/>
            <a:ext cx="2724150" cy="323850"/>
          </a:xfrm>
          <a:prstGeom prst="rect">
            <a:avLst/>
          </a:prstGeom>
          <a:noFill/>
          <a:ln w="0">
            <a:noFill/>
            <a:prstDash val="solid"/>
          </a:ln>
        </p:spPr>
        <p:txBody>
          <a:bodyPr wrap="square" lIns="0" tIns="0" rIns="0" bIns="0" anchor="t">
            <a:normAutofit/>
          </a:bodyPr>
          <a:lstStyle/>
          <a:p>
            <a:pPr algn="l">
              <a:lnSpc>
                <a:spcPct val="98000"/>
              </a:lnSpc>
              <a:buNone/>
              <a:defRPr sz="1275" b="1" i="0">
                <a:solidFill>
                  <a:srgbClr val="23384A"/>
                </a:solidFill>
                <a:latin typeface="Times New Roman" panose="02020603050405020304"/>
                <a:ea typeface="Times New Roman" panose="02020603050405020304"/>
                <a:cs typeface="Times New Roman" panose="02020603050405020304"/>
              </a:defRPr>
            </a:pPr>
            <a:r>
              <a:rPr sz="1275" b="1" i="0">
                <a:solidFill>
                  <a:srgbClr val="23384A"/>
                </a:solidFill>
                <a:latin typeface="Times New Roman" panose="02020603050405020304"/>
                <a:ea typeface="Times New Roman" panose="02020603050405020304"/>
                <a:cs typeface="Times New Roman" panose="02020603050405020304"/>
              </a:rPr>
              <a:t>Algorithm aversion and appreciation</a:t>
            </a:r>
          </a:p>
        </p:txBody>
      </p:sp>
      <p:sp>
        <p:nvSpPr>
          <p:cNvPr id="20" name="矩形 19"/>
          <p:cNvSpPr>
            <a:spLocks noGrp="1"/>
          </p:cNvSpPr>
          <p:nvPr/>
        </p:nvSpPr>
        <p:spPr>
          <a:xfrm>
            <a:off x="1123950" y="4019550"/>
            <a:ext cx="2724150" cy="361950"/>
          </a:xfrm>
          <a:prstGeom prst="rect">
            <a:avLst/>
          </a:prstGeom>
          <a:noFill/>
          <a:ln w="0">
            <a:noFill/>
            <a:prstDash val="solid"/>
          </a:ln>
        </p:spPr>
        <p:txBody>
          <a:bodyPr wrap="square" lIns="0" tIns="0" rIns="0" bIns="0" anchor="t">
            <a:normAutofit fontScale="79131"/>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Algorithmic sources can be punished after visible errors, but algorithmic advice can also be preferred in some judgment tasks.</a:t>
            </a:r>
          </a:p>
        </p:txBody>
      </p:sp>
      <p:sp>
        <p:nvSpPr>
          <p:cNvPr id="21" name="矩形 20"/>
          <p:cNvSpPr>
            <a:spLocks noGrp="1"/>
          </p:cNvSpPr>
          <p:nvPr/>
        </p:nvSpPr>
        <p:spPr>
          <a:xfrm>
            <a:off x="1123950" y="44767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(Dietvorst et al., 2015; Logg et al., 2019)</a:t>
            </a:r>
          </a:p>
        </p:txBody>
      </p:sp>
      <p:sp>
        <p:nvSpPr>
          <p:cNvPr id="22" name="圆角矩形 21"/>
          <p:cNvSpPr>
            <a:spLocks noGrp="1"/>
          </p:cNvSpPr>
          <p:nvPr/>
        </p:nvSpPr>
        <p:spPr>
          <a:xfrm>
            <a:off x="4343400" y="3486150"/>
            <a:ext cx="3143250" cy="1200150"/>
          </a:xfrm>
          <a:prstGeom prst="roundRect">
            <a:avLst>
              <a:gd name="adj" fmla="val 6349"/>
            </a:avLst>
          </a:prstGeom>
          <a:solidFill>
            <a:srgbClr val="FFFFFF"/>
          </a:solidFill>
          <a:ln w="9525">
            <a:solidFill>
              <a:srgbClr val="D8CCBB"/>
            </a:solidFill>
            <a:prstDash val="solid"/>
          </a:ln>
        </p:spPr>
      </p:sp>
      <p:sp>
        <p:nvSpPr>
          <p:cNvPr id="23" name="圆角矩形 22"/>
          <p:cNvSpPr>
            <a:spLocks noGrp="1"/>
          </p:cNvSpPr>
          <p:nvPr/>
        </p:nvSpPr>
        <p:spPr>
          <a:xfrm>
            <a:off x="4343400" y="3486150"/>
            <a:ext cx="47625" cy="1200150"/>
          </a:xfrm>
          <a:prstGeom prst="roundRect">
            <a:avLst>
              <a:gd name="adj" fmla="val 40000"/>
            </a:avLst>
          </a:prstGeom>
          <a:solidFill>
            <a:srgbClr val="B77845"/>
          </a:solidFill>
          <a:ln w="9525">
            <a:solidFill>
              <a:srgbClr val="B77845"/>
            </a:solidFill>
            <a:prstDash val="solid"/>
          </a:ln>
        </p:spPr>
      </p:sp>
      <p:sp>
        <p:nvSpPr>
          <p:cNvPr id="24" name="矩形 23"/>
          <p:cNvSpPr>
            <a:spLocks noGrp="1"/>
          </p:cNvSpPr>
          <p:nvPr/>
        </p:nvSpPr>
        <p:spPr>
          <a:xfrm>
            <a:off x="4552950" y="3619500"/>
            <a:ext cx="2724150" cy="323850"/>
          </a:xfrm>
          <a:prstGeom prst="rect">
            <a:avLst/>
          </a:prstGeom>
          <a:noFill/>
          <a:ln w="0">
            <a:noFill/>
            <a:prstDash val="solid"/>
          </a:ln>
        </p:spPr>
        <p:txBody>
          <a:bodyPr wrap="square" lIns="0" tIns="0" rIns="0" bIns="0" anchor="t">
            <a:normAutofit fontScale="90932" lnSpcReduction="20000"/>
          </a:bodyPr>
          <a:lstStyle/>
          <a:p>
            <a:pPr algn="l">
              <a:lnSpc>
                <a:spcPct val="9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Repeated feedback and attraction updating</a:t>
            </a:r>
          </a:p>
        </p:txBody>
      </p:sp>
      <p:sp>
        <p:nvSpPr>
          <p:cNvPr id="25" name="矩形 24"/>
          <p:cNvSpPr>
            <a:spLocks noGrp="1"/>
          </p:cNvSpPr>
          <p:nvPr/>
        </p:nvSpPr>
        <p:spPr>
          <a:xfrm>
            <a:off x="4552950" y="4019550"/>
            <a:ext cx="2724150" cy="361950"/>
          </a:xfrm>
          <a:prstGeom prst="rect">
            <a:avLst/>
          </a:prstGeom>
          <a:noFill/>
          <a:ln w="0">
            <a:noFill/>
            <a:prstDash val="solid"/>
          </a:ln>
        </p:spPr>
        <p:txBody>
          <a:bodyPr wrap="square" lIns="0" tIns="0" rIns="0" bIns="0" anchor="t">
            <a:normAutofit/>
          </a:bodyPr>
          <a:lstStyle/>
          <a:p>
            <a:pPr algn="l">
              <a:lnSpc>
                <a:spcPct val="106000"/>
              </a:lnSpc>
              <a:buNone/>
              <a:defRPr sz="1045" b="0" i="0">
                <a:solidFill>
                  <a:srgbClr val="231D17"/>
                </a:solidFill>
                <a:latin typeface="Times New Roman" panose="02020603050405020304"/>
                <a:ea typeface="Times New Roman" panose="02020603050405020304"/>
                <a:cs typeface="Times New Roman" panose="02020603050405020304"/>
              </a:defRPr>
            </a:pPr>
            <a:r>
              <a:rPr sz="1045" b="0" i="0">
                <a:solidFill>
                  <a:srgbClr val="231D17"/>
                </a:solidFill>
                <a:latin typeface="Times New Roman" panose="02020603050405020304"/>
                <a:ea typeface="Times New Roman" panose="02020603050405020304"/>
                <a:cs typeface="Times New Roman" panose="02020603050405020304"/>
              </a:rPr>
              <a:t>EWA gives a language for repeated choices: past feedback changes the attraction of later options.</a:t>
            </a:r>
          </a:p>
        </p:txBody>
      </p:sp>
      <p:sp>
        <p:nvSpPr>
          <p:cNvPr id="26" name="矩形 25"/>
          <p:cNvSpPr>
            <a:spLocks noGrp="1"/>
          </p:cNvSpPr>
          <p:nvPr/>
        </p:nvSpPr>
        <p:spPr>
          <a:xfrm>
            <a:off x="4552950" y="4476750"/>
            <a:ext cx="2724150" cy="152400"/>
          </a:xfrm>
          <a:prstGeom prst="rect">
            <a:avLst/>
          </a:prstGeom>
          <a:noFill/>
          <a:ln w="0">
            <a:noFill/>
            <a:prstDash val="solid"/>
          </a:ln>
        </p:spPr>
        <p:txBody>
          <a:bodyPr wrap="square" lIns="0" tIns="0" rIns="0" bIns="0" anchor="t">
            <a:normAutofit/>
          </a:bodyPr>
          <a:lstStyle/>
          <a:p>
            <a:pPr algn="l">
              <a:lnSpc>
                <a:spcPct val="105000"/>
              </a:lnSpc>
              <a:buNone/>
              <a:defRPr sz="915" b="0" i="1">
                <a:solidFill>
                  <a:srgbClr val="6F665C"/>
                </a:solidFill>
                <a:latin typeface="Times New Roman" panose="02020603050405020304"/>
                <a:ea typeface="Times New Roman" panose="02020603050405020304"/>
                <a:cs typeface="Times New Roman" panose="02020603050405020304"/>
              </a:defRPr>
            </a:pPr>
            <a:r>
              <a:rPr sz="915" b="0" i="1">
                <a:solidFill>
                  <a:srgbClr val="6F665C"/>
                </a:solidFill>
                <a:latin typeface="Times New Roman" panose="02020603050405020304"/>
                <a:ea typeface="Times New Roman" panose="02020603050405020304"/>
                <a:cs typeface="Times New Roman" panose="02020603050405020304"/>
              </a:rPr>
              <a:t>(Camerer &amp; Ho, 1999)</a:t>
            </a:r>
          </a:p>
        </p:txBody>
      </p:sp>
      <p:sp>
        <p:nvSpPr>
          <p:cNvPr id="27" name="圆角矩形 26"/>
          <p:cNvSpPr>
            <a:spLocks noGrp="1"/>
          </p:cNvSpPr>
          <p:nvPr/>
        </p:nvSpPr>
        <p:spPr>
          <a:xfrm>
            <a:off x="7810500" y="2114550"/>
            <a:ext cx="3429000" cy="2381250"/>
          </a:xfrm>
          <a:prstGeom prst="roundRect">
            <a:avLst>
              <a:gd name="adj" fmla="val 4800"/>
            </a:avLst>
          </a:prstGeom>
          <a:solidFill>
            <a:srgbClr val="FBF7F0"/>
          </a:solidFill>
          <a:ln w="9525">
            <a:solidFill>
              <a:srgbClr val="D8CCBB"/>
            </a:solidFill>
            <a:prstDash val="solid"/>
          </a:ln>
        </p:spPr>
      </p:sp>
      <p:sp>
        <p:nvSpPr>
          <p:cNvPr id="28" name="矩形 27"/>
          <p:cNvSpPr>
            <a:spLocks noGrp="1"/>
          </p:cNvSpPr>
          <p:nvPr/>
        </p:nvSpPr>
        <p:spPr>
          <a:xfrm>
            <a:off x="8077200" y="2343150"/>
            <a:ext cx="2667000" cy="285750"/>
          </a:xfrm>
          <a:prstGeom prst="rect">
            <a:avLst/>
          </a:prstGeom>
          <a:noFill/>
          <a:ln w="0">
            <a:noFill/>
            <a:prstDash val="solid"/>
          </a:ln>
        </p:spPr>
        <p:txBody>
          <a:bodyPr wrap="square" lIns="0" tIns="0" rIns="0" bIns="0" anchor="t">
            <a:normAutofit fontScale="95238" lnSpcReduction="10000"/>
          </a:bodyPr>
          <a:lstStyle/>
          <a:p>
            <a:pPr algn="l">
              <a:lnSpc>
                <a:spcPct val="105000"/>
              </a:lnSpc>
              <a:buNone/>
              <a:defRPr sz="1875" b="1" i="0">
                <a:solidFill>
                  <a:srgbClr val="231D17"/>
                </a:solidFill>
                <a:latin typeface="Times New Roman" panose="02020603050405020304"/>
                <a:ea typeface="Times New Roman" panose="02020603050405020304"/>
                <a:cs typeface="Times New Roman" panose="02020603050405020304"/>
              </a:defRPr>
            </a:pPr>
            <a:r>
              <a:rPr sz="1875" b="1" i="0">
                <a:solidFill>
                  <a:srgbClr val="231D17"/>
                </a:solidFill>
                <a:latin typeface="Times New Roman" panose="02020603050405020304"/>
                <a:ea typeface="Times New Roman" panose="02020603050405020304"/>
                <a:cs typeface="Times New Roman" panose="02020603050405020304"/>
              </a:rPr>
              <a:t>What remains missing</a:t>
            </a:r>
          </a:p>
        </p:txBody>
      </p:sp>
      <p:sp>
        <p:nvSpPr>
          <p:cNvPr id="29" name="椭圆 28"/>
          <p:cNvSpPr>
            <a:spLocks noGrp="1"/>
          </p:cNvSpPr>
          <p:nvPr/>
        </p:nvSpPr>
        <p:spPr>
          <a:xfrm>
            <a:off x="7943850" y="2857500"/>
            <a:ext cx="400050" cy="400050"/>
          </a:xfrm>
          <a:prstGeom prst="ellipse">
            <a:avLst/>
          </a:prstGeom>
          <a:solidFill>
            <a:srgbClr val="23384A"/>
          </a:solidFill>
          <a:ln w="9525">
            <a:solidFill>
              <a:srgbClr val="23384A"/>
            </a:solidFill>
            <a:prstDash val="solid"/>
          </a:ln>
        </p:spPr>
      </p:sp>
      <p:sp>
        <p:nvSpPr>
          <p:cNvPr id="30" name="矩形 29"/>
          <p:cNvSpPr>
            <a:spLocks noGrp="1"/>
          </p:cNvSpPr>
          <p:nvPr/>
        </p:nvSpPr>
        <p:spPr>
          <a:xfrm>
            <a:off x="8077200" y="2962275"/>
            <a:ext cx="133350" cy="152400"/>
          </a:xfrm>
          <a:prstGeom prst="rect">
            <a:avLst/>
          </a:prstGeom>
          <a:noFill/>
          <a:ln w="0">
            <a:noFill/>
            <a:prstDash val="solid"/>
          </a:ln>
        </p:spPr>
        <p:txBody>
          <a:bodyPr wrap="square" lIns="0" tIns="0" rIns="0" bIns="0" anchor="t">
            <a:normAutofit fontScale="74656"/>
          </a:bodyPr>
          <a:lstStyle/>
          <a:p>
            <a:pPr algn="ctr">
              <a:lnSpc>
                <a:spcPct val="105000"/>
              </a:lnSpc>
              <a:buNone/>
              <a:defRPr sz="1125" b="1" i="0">
                <a:solidFill>
                  <a:srgbClr val="F5F0E6"/>
                </a:solidFill>
                <a:latin typeface="Times New Roman" panose="02020603050405020304"/>
                <a:ea typeface="Times New Roman" panose="02020603050405020304"/>
                <a:cs typeface="Times New Roman" panose="02020603050405020304"/>
              </a:defRPr>
            </a:pPr>
            <a:r>
              <a:rPr sz="1125" b="1" i="0">
                <a:solidFill>
                  <a:srgbClr val="F5F0E6"/>
                </a:solidFill>
                <a:latin typeface="Times New Roman" panose="02020603050405020304"/>
                <a:ea typeface="Times New Roman" panose="02020603050405020304"/>
                <a:cs typeface="Times New Roman" panose="02020603050405020304"/>
              </a:rPr>
              <a:t>1</a:t>
            </a:r>
          </a:p>
        </p:txBody>
      </p:sp>
      <p:sp>
        <p:nvSpPr>
          <p:cNvPr id="31" name="矩形 30"/>
          <p:cNvSpPr>
            <a:spLocks noGrp="1"/>
          </p:cNvSpPr>
          <p:nvPr/>
        </p:nvSpPr>
        <p:spPr>
          <a:xfrm>
            <a:off x="8515350" y="2838450"/>
            <a:ext cx="2381250" cy="22860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Multi-round learning</a:t>
            </a:r>
          </a:p>
        </p:txBody>
      </p:sp>
      <p:sp>
        <p:nvSpPr>
          <p:cNvPr id="32" name="矩形 31"/>
          <p:cNvSpPr>
            <a:spLocks noGrp="1"/>
          </p:cNvSpPr>
          <p:nvPr/>
        </p:nvSpPr>
        <p:spPr>
          <a:xfrm>
            <a:off x="8515350" y="3124200"/>
            <a:ext cx="2381250" cy="419100"/>
          </a:xfrm>
          <a:prstGeom prst="rect">
            <a:avLst/>
          </a:prstGeom>
          <a:noFill/>
          <a:ln w="0">
            <a:noFill/>
            <a:prstDash val="solid"/>
          </a:ln>
        </p:spPr>
        <p:txBody>
          <a:bodyPr wrap="square" lIns="0" tIns="0" rIns="0" bIns="0" anchor="t">
            <a:normAutofit/>
          </a:bodyPr>
          <a:lstStyle/>
          <a:p>
            <a:pPr algn="l">
              <a:lnSpc>
                <a:spcPct val="105000"/>
              </a:lnSpc>
              <a:buNone/>
              <a:defRPr sz="1065" b="0" i="0">
                <a:solidFill>
                  <a:srgbClr val="6F665C"/>
                </a:solidFill>
                <a:latin typeface="Times New Roman" panose="02020603050405020304"/>
                <a:ea typeface="Times New Roman" panose="02020603050405020304"/>
                <a:cs typeface="Times New Roman" panose="02020603050405020304"/>
              </a:defRPr>
            </a:pPr>
            <a:r>
              <a:rPr sz="1065" b="0" i="0">
                <a:solidFill>
                  <a:srgbClr val="6F665C"/>
                </a:solidFill>
                <a:latin typeface="Times New Roman" panose="02020603050405020304"/>
                <a:ea typeface="Times New Roman" panose="02020603050405020304"/>
                <a:cs typeface="Times New Roman" panose="02020603050405020304"/>
              </a:rPr>
              <a:t>Most evidence is still closer to one-shot adoption or short-term calibration.</a:t>
            </a:r>
          </a:p>
        </p:txBody>
      </p:sp>
      <p:sp>
        <p:nvSpPr>
          <p:cNvPr id="33" name="椭圆 32"/>
          <p:cNvSpPr>
            <a:spLocks noGrp="1"/>
          </p:cNvSpPr>
          <p:nvPr/>
        </p:nvSpPr>
        <p:spPr>
          <a:xfrm>
            <a:off x="7943850" y="3676650"/>
            <a:ext cx="400050" cy="400050"/>
          </a:xfrm>
          <a:prstGeom prst="ellipse">
            <a:avLst/>
          </a:prstGeom>
          <a:solidFill>
            <a:srgbClr val="23384A"/>
          </a:solidFill>
          <a:ln w="9525">
            <a:solidFill>
              <a:srgbClr val="23384A"/>
            </a:solidFill>
            <a:prstDash val="solid"/>
          </a:ln>
        </p:spPr>
      </p:sp>
      <p:sp>
        <p:nvSpPr>
          <p:cNvPr id="34" name="矩形 33"/>
          <p:cNvSpPr>
            <a:spLocks noGrp="1"/>
          </p:cNvSpPr>
          <p:nvPr/>
        </p:nvSpPr>
        <p:spPr>
          <a:xfrm>
            <a:off x="8077200" y="3781425"/>
            <a:ext cx="133350" cy="152400"/>
          </a:xfrm>
          <a:prstGeom prst="rect">
            <a:avLst/>
          </a:prstGeom>
          <a:noFill/>
          <a:ln w="0">
            <a:noFill/>
            <a:prstDash val="solid"/>
          </a:ln>
        </p:spPr>
        <p:txBody>
          <a:bodyPr wrap="square" lIns="0" tIns="0" rIns="0" bIns="0" anchor="t">
            <a:normAutofit fontScale="74656"/>
          </a:bodyPr>
          <a:lstStyle/>
          <a:p>
            <a:pPr algn="ctr">
              <a:lnSpc>
                <a:spcPct val="105000"/>
              </a:lnSpc>
              <a:buNone/>
              <a:defRPr sz="1125" b="1" i="0">
                <a:solidFill>
                  <a:srgbClr val="F5F0E6"/>
                </a:solidFill>
                <a:latin typeface="Times New Roman" panose="02020603050405020304"/>
                <a:ea typeface="Times New Roman" panose="02020603050405020304"/>
                <a:cs typeface="Times New Roman" panose="02020603050405020304"/>
              </a:defRPr>
            </a:pPr>
            <a:r>
              <a:rPr sz="1125" b="1" i="0">
                <a:solidFill>
                  <a:srgbClr val="F5F0E6"/>
                </a:solidFill>
                <a:latin typeface="Times New Roman" panose="02020603050405020304"/>
                <a:ea typeface="Times New Roman" panose="02020603050405020304"/>
                <a:cs typeface="Times New Roman" panose="02020603050405020304"/>
              </a:rPr>
              <a:t>2</a:t>
            </a:r>
          </a:p>
        </p:txBody>
      </p:sp>
      <p:sp>
        <p:nvSpPr>
          <p:cNvPr id="35" name="矩形 34"/>
          <p:cNvSpPr>
            <a:spLocks noGrp="1"/>
          </p:cNvSpPr>
          <p:nvPr/>
        </p:nvSpPr>
        <p:spPr>
          <a:xfrm>
            <a:off x="8515350" y="3657600"/>
            <a:ext cx="2381250" cy="228600"/>
          </a:xfrm>
          <a:prstGeom prst="rect">
            <a:avLst/>
          </a:prstGeom>
          <a:noFill/>
          <a:ln w="0">
            <a:noFill/>
            <a:prstDash val="solid"/>
          </a:ln>
        </p:spPr>
        <p:txBody>
          <a:bodyPr wrap="square" lIns="0" tIns="0" rIns="0" bIns="0" anchor="t">
            <a:normAutofit/>
          </a:bodyPr>
          <a:lstStyle/>
          <a:p>
            <a:pPr algn="l">
              <a:lnSpc>
                <a:spcPct val="105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Source-specific shock</a:t>
            </a:r>
          </a:p>
        </p:txBody>
      </p:sp>
      <p:sp>
        <p:nvSpPr>
          <p:cNvPr id="36" name="矩形 35"/>
          <p:cNvSpPr>
            <a:spLocks noGrp="1"/>
          </p:cNvSpPr>
          <p:nvPr/>
        </p:nvSpPr>
        <p:spPr>
          <a:xfrm>
            <a:off x="8515350" y="3943350"/>
            <a:ext cx="2381250" cy="419100"/>
          </a:xfrm>
          <a:prstGeom prst="rect">
            <a:avLst/>
          </a:prstGeom>
          <a:noFill/>
          <a:ln w="0">
            <a:noFill/>
            <a:prstDash val="solid"/>
          </a:ln>
        </p:spPr>
        <p:txBody>
          <a:bodyPr wrap="square" lIns="0" tIns="0" rIns="0" bIns="0" anchor="t">
            <a:normAutofit/>
          </a:bodyPr>
          <a:lstStyle/>
          <a:p>
            <a:pPr algn="l">
              <a:lnSpc>
                <a:spcPct val="105000"/>
              </a:lnSpc>
              <a:buNone/>
              <a:defRPr sz="1065" b="0" i="0">
                <a:solidFill>
                  <a:srgbClr val="6F665C"/>
                </a:solidFill>
                <a:latin typeface="Times New Roman" panose="02020603050405020304"/>
                <a:ea typeface="Times New Roman" panose="02020603050405020304"/>
                <a:cs typeface="Times New Roman" panose="02020603050405020304"/>
              </a:defRPr>
            </a:pPr>
            <a:r>
              <a:rPr sz="1065" b="0" i="0">
                <a:solidFill>
                  <a:srgbClr val="6F665C"/>
                </a:solidFill>
                <a:latin typeface="Times New Roman" panose="02020603050405020304"/>
                <a:ea typeface="Times New Roman" panose="02020603050405020304"/>
                <a:cs typeface="Times New Roman" panose="02020603050405020304"/>
              </a:rPr>
              <a:t>Less is known about whether comparable AI errors carry extra diagnostic weight.</a:t>
            </a:r>
          </a:p>
        </p:txBody>
      </p:sp>
      <p:sp>
        <p:nvSpPr>
          <p:cNvPr id="37" name="圆角矩形 36"/>
          <p:cNvSpPr>
            <a:spLocks noGrp="1"/>
          </p:cNvSpPr>
          <p:nvPr/>
        </p:nvSpPr>
        <p:spPr>
          <a:xfrm>
            <a:off x="7810500" y="4743450"/>
            <a:ext cx="3429000" cy="819150"/>
          </a:xfrm>
          <a:prstGeom prst="roundRect">
            <a:avLst>
              <a:gd name="adj" fmla="val 13953"/>
            </a:avLst>
          </a:prstGeom>
          <a:solidFill>
            <a:srgbClr val="23384A"/>
          </a:solidFill>
          <a:ln w="9525">
            <a:solidFill>
              <a:srgbClr val="23384A"/>
            </a:solidFill>
            <a:prstDash val="solid"/>
          </a:ln>
        </p:spPr>
      </p:sp>
      <p:sp>
        <p:nvSpPr>
          <p:cNvPr id="38" name="矩形 37"/>
          <p:cNvSpPr>
            <a:spLocks noGrp="1"/>
          </p:cNvSpPr>
          <p:nvPr/>
        </p:nvSpPr>
        <p:spPr>
          <a:xfrm>
            <a:off x="8077200" y="4914900"/>
            <a:ext cx="2857500" cy="457200"/>
          </a:xfrm>
          <a:prstGeom prst="rect">
            <a:avLst/>
          </a:prstGeom>
          <a:noFill/>
          <a:ln w="0">
            <a:noFill/>
            <a:prstDash val="solid"/>
          </a:ln>
        </p:spPr>
        <p:txBody>
          <a:bodyPr wrap="square" lIns="0" tIns="0" rIns="0" bIns="0" anchor="t">
            <a:normAutofit fontScale="74781"/>
          </a:bodyPr>
          <a:lstStyle/>
          <a:p>
            <a:pPr algn="ctr">
              <a:lnSpc>
                <a:spcPct val="108000"/>
              </a:lnSpc>
              <a:buNone/>
              <a:defRPr sz="1350" b="1" i="0">
                <a:solidFill>
                  <a:srgbClr val="F5F0E6"/>
                </a:solidFill>
                <a:latin typeface="Times New Roman" panose="02020603050405020304"/>
                <a:ea typeface="Times New Roman" panose="02020603050405020304"/>
                <a:cs typeface="Times New Roman" panose="02020603050405020304"/>
              </a:defRPr>
            </a:pPr>
            <a:r>
              <a:rPr sz="1350" b="1" i="0">
                <a:solidFill>
                  <a:srgbClr val="F5F0E6"/>
                </a:solidFill>
                <a:latin typeface="Times New Roman" panose="02020603050405020304"/>
                <a:ea typeface="Times New Roman" panose="02020603050405020304"/>
                <a:cs typeface="Times New Roman" panose="02020603050405020304"/>
              </a:rPr>
              <a:t>Paper 2 therefore studies dynamic reliance after localized AI error shocks under performance parity.</a:t>
            </a:r>
          </a:p>
        </p:txBody>
      </p:sp>
      <p:sp>
        <p:nvSpPr>
          <p:cNvPr id="39" name="圆角矩形 38"/>
          <p:cNvSpPr>
            <a:spLocks noGrp="1"/>
          </p:cNvSpPr>
          <p:nvPr/>
        </p:nvSpPr>
        <p:spPr>
          <a:xfrm>
            <a:off x="914400" y="5810250"/>
            <a:ext cx="10325100" cy="419100"/>
          </a:xfrm>
          <a:prstGeom prst="roundRect">
            <a:avLst>
              <a:gd name="adj" fmla="val 18182"/>
            </a:avLst>
          </a:prstGeom>
          <a:solidFill>
            <a:srgbClr val="EFE6D8"/>
          </a:solidFill>
          <a:ln w="9525">
            <a:solidFill>
              <a:srgbClr val="D8CCBB"/>
            </a:solidFill>
            <a:prstDash val="solid"/>
          </a:ln>
        </p:spPr>
      </p:sp>
      <p:sp>
        <p:nvSpPr>
          <p:cNvPr id="40" name="矩形 39"/>
          <p:cNvSpPr>
            <a:spLocks noGrp="1"/>
          </p:cNvSpPr>
          <p:nvPr/>
        </p:nvSpPr>
        <p:spPr>
          <a:xfrm>
            <a:off x="1200150" y="5924550"/>
            <a:ext cx="9753600" cy="171450"/>
          </a:xfrm>
          <a:prstGeom prst="rect">
            <a:avLst/>
          </a:prstGeom>
          <a:noFill/>
          <a:ln w="0">
            <a:noFill/>
            <a:prstDash val="solid"/>
          </a:ln>
        </p:spPr>
        <p:txBody>
          <a:bodyPr wrap="square" lIns="0" tIns="0" rIns="0" bIns="0" anchor="t">
            <a:normAutofit fontScale="89286" lnSpcReduction="10000"/>
          </a:bodyPr>
          <a:lstStyle/>
          <a:p>
            <a:pPr algn="ctr">
              <a:lnSpc>
                <a:spcPct val="105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the gap is not that AI trust is unstudied; it is that error reactions are rarely tracked as path-dependent reliance updating.</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GAP</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gap has two parts: most work is not multi-round, and most work does not isolate AI-specific diagnostic asymmetry</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paper therefore targets a dynamic asymmetry problem under repeated feedback rather than a broad statement about distrust.</a:t>
            </a:r>
          </a:p>
        </p:txBody>
      </p:sp>
      <p:sp>
        <p:nvSpPr>
          <p:cNvPr id="7" name="圆角矩形 6"/>
          <p:cNvSpPr>
            <a:spLocks noGrp="1"/>
          </p:cNvSpPr>
          <p:nvPr/>
        </p:nvSpPr>
        <p:spPr>
          <a:xfrm>
            <a:off x="914400" y="2286000"/>
            <a:ext cx="10287000" cy="990600"/>
          </a:xfrm>
          <a:prstGeom prst="roundRect">
            <a:avLst>
              <a:gd name="adj" fmla="val 11538"/>
            </a:avLst>
          </a:prstGeom>
          <a:solidFill>
            <a:srgbClr val="FFFFFF"/>
          </a:solidFill>
          <a:ln w="9525">
            <a:solidFill>
              <a:srgbClr val="D8CCBB"/>
            </a:solidFill>
            <a:prstDash val="solid"/>
          </a:ln>
        </p:spPr>
      </p:sp>
      <p:sp>
        <p:nvSpPr>
          <p:cNvPr id="8" name="圆角矩形 7"/>
          <p:cNvSpPr>
            <a:spLocks noGrp="1"/>
          </p:cNvSpPr>
          <p:nvPr/>
        </p:nvSpPr>
        <p:spPr>
          <a:xfrm>
            <a:off x="914400" y="2286000"/>
            <a:ext cx="57150" cy="9906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62050" y="2457450"/>
            <a:ext cx="2286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Gap 1: multi-round updating</a:t>
            </a:r>
          </a:p>
        </p:txBody>
      </p:sp>
      <p:sp>
        <p:nvSpPr>
          <p:cNvPr id="10" name="矩形 9"/>
          <p:cNvSpPr>
            <a:spLocks noGrp="1"/>
          </p:cNvSpPr>
          <p:nvPr/>
        </p:nvSpPr>
        <p:spPr>
          <a:xfrm>
            <a:off x="1162050" y="2743200"/>
            <a:ext cx="9620250" cy="361950"/>
          </a:xfrm>
          <a:prstGeom prst="rect">
            <a:avLst/>
          </a:prstGeom>
          <a:noFill/>
          <a:ln w="0">
            <a:noFill/>
            <a:prstDash val="solid"/>
          </a:ln>
        </p:spPr>
        <p:txBody>
          <a:bodyPr wrap="square" lIns="0" tIns="0" rIns="0" bIns="0" anchor="t">
            <a:normAutofit lnSpcReduction="20000"/>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lang="en-US" altLang="zh-CN" sz="1275" b="0" i="0">
                <a:solidFill>
                  <a:srgbClr val="231D17"/>
                </a:solidFill>
                <a:latin typeface="Times New Roman" panose="02020603050405020304"/>
                <a:ea typeface="Times New Roman" panose="02020603050405020304"/>
                <a:cs typeface="Times New Roman" panose="02020603050405020304"/>
              </a:rPr>
              <a:t>In the real world, people rarely interact with AI only once. Human–AI collaboration is an ongoing process. However, most previous studies have relied on one-shot experiments to measure trust and collaboration between humans and AI.</a:t>
            </a:r>
          </a:p>
        </p:txBody>
      </p:sp>
      <p:sp>
        <p:nvSpPr>
          <p:cNvPr id="11" name="圆角矩形 10"/>
          <p:cNvSpPr>
            <a:spLocks noGrp="1"/>
          </p:cNvSpPr>
          <p:nvPr/>
        </p:nvSpPr>
        <p:spPr>
          <a:xfrm>
            <a:off x="914400" y="3581400"/>
            <a:ext cx="10287000" cy="990600"/>
          </a:xfrm>
          <a:prstGeom prst="roundRect">
            <a:avLst>
              <a:gd name="adj" fmla="val 11538"/>
            </a:avLst>
          </a:prstGeom>
          <a:solidFill>
            <a:srgbClr val="FFFFFF"/>
          </a:solidFill>
          <a:ln w="9525">
            <a:solidFill>
              <a:srgbClr val="D8CCBB"/>
            </a:solidFill>
            <a:prstDash val="solid"/>
          </a:ln>
        </p:spPr>
        <p:txBody>
          <a:bodyPr/>
          <a:lstStyle/>
          <a:p>
            <a:endParaRPr lang="zh-CN" altLang="en-US"/>
          </a:p>
        </p:txBody>
      </p:sp>
      <p:sp>
        <p:nvSpPr>
          <p:cNvPr id="12" name="圆角矩形 11"/>
          <p:cNvSpPr>
            <a:spLocks noGrp="1"/>
          </p:cNvSpPr>
          <p:nvPr/>
        </p:nvSpPr>
        <p:spPr>
          <a:xfrm>
            <a:off x="914400" y="3581400"/>
            <a:ext cx="57150" cy="990600"/>
          </a:xfrm>
          <a:prstGeom prst="roundRect">
            <a:avLst>
              <a:gd name="adj" fmla="val 33333"/>
            </a:avLst>
          </a:prstGeom>
          <a:solidFill>
            <a:srgbClr val="818A68"/>
          </a:solidFill>
          <a:ln w="9525">
            <a:solidFill>
              <a:srgbClr val="818A68"/>
            </a:solidFill>
            <a:prstDash val="solid"/>
          </a:ln>
        </p:spPr>
      </p:sp>
      <p:sp>
        <p:nvSpPr>
          <p:cNvPr id="13" name="矩形 12"/>
          <p:cNvSpPr>
            <a:spLocks noGrp="1"/>
          </p:cNvSpPr>
          <p:nvPr/>
        </p:nvSpPr>
        <p:spPr>
          <a:xfrm>
            <a:off x="1162050" y="3752850"/>
            <a:ext cx="2286000" cy="228600"/>
          </a:xfrm>
          <a:prstGeom prst="rect">
            <a:avLst/>
          </a:prstGeom>
          <a:noFill/>
          <a:ln w="0">
            <a:noFill/>
            <a:prstDash val="solid"/>
          </a:ln>
        </p:spPr>
        <p:txBody>
          <a:bodyPr wrap="square" lIns="0" tIns="0" rIns="0" bIns="0" anchor="t">
            <a:normAutofit fontScale="92280"/>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Gap 2: source-specific asymmetry</a:t>
            </a:r>
          </a:p>
        </p:txBody>
      </p:sp>
      <p:sp>
        <p:nvSpPr>
          <p:cNvPr id="14" name="矩形 13"/>
          <p:cNvSpPr>
            <a:spLocks noGrp="1"/>
          </p:cNvSpPr>
          <p:nvPr/>
        </p:nvSpPr>
        <p:spPr>
          <a:xfrm>
            <a:off x="1162050" y="4038600"/>
            <a:ext cx="9620250" cy="361950"/>
          </a:xfrm>
          <a:prstGeom prst="rect">
            <a:avLst/>
          </a:prstGeom>
          <a:noFill/>
          <a:ln w="0">
            <a:noFill/>
            <a:prstDash val="solid"/>
          </a:ln>
        </p:spPr>
        <p:txBody>
          <a:bodyPr wrap="square" lIns="0" tIns="0" rIns="0" bIns="0" anchor="t">
            <a:normAutofit/>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Without matched-performance comparisons, we cannot tell whether AI misses are treated as more diagnostic than comparable non-AI misses.</a:t>
            </a:r>
          </a:p>
        </p:txBody>
      </p:sp>
      <p:sp>
        <p:nvSpPr>
          <p:cNvPr id="15" name="圆角矩形 14"/>
          <p:cNvSpPr>
            <a:spLocks noGrp="1"/>
          </p:cNvSpPr>
          <p:nvPr/>
        </p:nvSpPr>
        <p:spPr>
          <a:xfrm>
            <a:off x="914400" y="4876800"/>
            <a:ext cx="10287000" cy="990600"/>
          </a:xfrm>
          <a:prstGeom prst="roundRect">
            <a:avLst>
              <a:gd name="adj" fmla="val 11538"/>
            </a:avLst>
          </a:prstGeom>
          <a:solidFill>
            <a:srgbClr val="FFFFFF"/>
          </a:solidFill>
          <a:ln w="9525">
            <a:solidFill>
              <a:srgbClr val="D8CCBB"/>
            </a:solidFill>
            <a:prstDash val="solid"/>
          </a:ln>
        </p:spPr>
      </p:sp>
      <p:sp>
        <p:nvSpPr>
          <p:cNvPr id="16" name="圆角矩形 15"/>
          <p:cNvSpPr>
            <a:spLocks noGrp="1"/>
          </p:cNvSpPr>
          <p:nvPr/>
        </p:nvSpPr>
        <p:spPr>
          <a:xfrm>
            <a:off x="914400" y="4876800"/>
            <a:ext cx="57150" cy="990600"/>
          </a:xfrm>
          <a:prstGeom prst="roundRect">
            <a:avLst>
              <a:gd name="adj" fmla="val 33333"/>
            </a:avLst>
          </a:prstGeom>
          <a:solidFill>
            <a:srgbClr val="3E4C5A"/>
          </a:solidFill>
          <a:ln w="9525">
            <a:solidFill>
              <a:srgbClr val="3E4C5A"/>
            </a:solidFill>
            <a:prstDash val="solid"/>
          </a:ln>
        </p:spPr>
      </p:sp>
      <p:sp>
        <p:nvSpPr>
          <p:cNvPr id="17" name="矩形 16"/>
          <p:cNvSpPr>
            <a:spLocks noGrp="1"/>
          </p:cNvSpPr>
          <p:nvPr/>
        </p:nvSpPr>
        <p:spPr>
          <a:xfrm>
            <a:off x="1162050" y="5048250"/>
            <a:ext cx="2286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3E4C5A"/>
                </a:solidFill>
                <a:latin typeface="Times New Roman" panose="02020603050405020304"/>
                <a:ea typeface="Times New Roman" panose="02020603050405020304"/>
                <a:cs typeface="Times New Roman" panose="02020603050405020304"/>
              </a:defRPr>
            </a:pPr>
            <a:r>
              <a:rPr sz="1350" b="1" i="0">
                <a:solidFill>
                  <a:srgbClr val="3E4C5A"/>
                </a:solidFill>
                <a:latin typeface="Times New Roman" panose="02020603050405020304"/>
                <a:ea typeface="Times New Roman" panose="02020603050405020304"/>
                <a:cs typeface="Times New Roman" panose="02020603050405020304"/>
              </a:rPr>
              <a:t>Punchline</a:t>
            </a:r>
          </a:p>
        </p:txBody>
      </p:sp>
      <p:sp>
        <p:nvSpPr>
          <p:cNvPr id="18" name="矩形 17"/>
          <p:cNvSpPr>
            <a:spLocks noGrp="1"/>
          </p:cNvSpPr>
          <p:nvPr/>
        </p:nvSpPr>
        <p:spPr>
          <a:xfrm>
            <a:off x="1162050" y="5334000"/>
            <a:ext cx="9620250" cy="361950"/>
          </a:xfrm>
          <a:prstGeom prst="rect">
            <a:avLst/>
          </a:prstGeom>
          <a:noFill/>
          <a:ln w="0">
            <a:noFill/>
            <a:prstDash val="solid"/>
          </a:ln>
        </p:spPr>
        <p:txBody>
          <a:bodyPr wrap="square" lIns="0" tIns="0" rIns="0" bIns="0" anchor="t">
            <a:normAutofit/>
          </a:bodyPr>
          <a:lstStyle/>
          <a:p>
            <a:pPr algn="l">
              <a:lnSpc>
                <a:spcPct val="108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The target is dynamic asymmetry under repeated feedback, not a generic story that people simply dislike algorithms.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矩形 15"/>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RQ AND FRAMING</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These gaps lead to one framing: dynamic reliance after source-specific error shocks</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paper asks how local AI failures alter search-free learning about whether AI should be relied on later.</a:t>
            </a:r>
          </a:p>
        </p:txBody>
      </p:sp>
      <p:sp>
        <p:nvSpPr>
          <p:cNvPr id="7" name="圆角矩形 6"/>
          <p:cNvSpPr>
            <a:spLocks noGrp="1"/>
          </p:cNvSpPr>
          <p:nvPr>
            <p:custDataLst>
              <p:tags r:id="rId1"/>
            </p:custDataLst>
          </p:nvPr>
        </p:nvSpPr>
        <p:spPr>
          <a:xfrm>
            <a:off x="914400" y="2133600"/>
            <a:ext cx="4953000" cy="3219450"/>
          </a:xfrm>
          <a:prstGeom prst="roundRect">
            <a:avLst>
              <a:gd name="adj" fmla="val 3550"/>
            </a:avLst>
          </a:prstGeom>
          <a:solidFill>
            <a:srgbClr val="FFFFFF"/>
          </a:solidFill>
          <a:ln w="9525">
            <a:solidFill>
              <a:srgbClr val="D8CCBB"/>
            </a:solidFill>
            <a:prstDash val="solid"/>
          </a:ln>
        </p:spPr>
      </p:sp>
      <p:sp>
        <p:nvSpPr>
          <p:cNvPr id="8" name="圆角矩形 7"/>
          <p:cNvSpPr>
            <a:spLocks noGrp="1"/>
          </p:cNvSpPr>
          <p:nvPr>
            <p:custDataLst>
              <p:tags r:id="rId2"/>
            </p:custDataLst>
          </p:nvPr>
        </p:nvSpPr>
        <p:spPr>
          <a:xfrm>
            <a:off x="914400" y="2133600"/>
            <a:ext cx="57150" cy="321945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custDataLst>
              <p:tags r:id="rId3"/>
            </p:custDataLst>
          </p:nvPr>
        </p:nvSpPr>
        <p:spPr>
          <a:xfrm>
            <a:off x="1143000" y="236220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Research questions</a:t>
            </a:r>
          </a:p>
        </p:txBody>
      </p:sp>
      <p:sp>
        <p:nvSpPr>
          <p:cNvPr id="10" name="矩形 9"/>
          <p:cNvSpPr>
            <a:spLocks noGrp="1"/>
          </p:cNvSpPr>
          <p:nvPr>
            <p:custDataLst>
              <p:tags r:id="rId4"/>
            </p:custDataLst>
          </p:nvPr>
        </p:nvSpPr>
        <p:spPr>
          <a:xfrm>
            <a:off x="1143000" y="2781300"/>
            <a:ext cx="4343400" cy="21526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In repeated human–AI decision-making tasks, how do people dynamically calibrate their reliance on AI based on the relative performance of themselves and the AI? When the AI experiences a localized error shock at a particular stage, how does this reliance trajectory change?</a:t>
            </a:r>
          </a:p>
        </p:txBody>
      </p:sp>
      <p:sp>
        <p:nvSpPr>
          <p:cNvPr id="11" name="圆角矩形 10"/>
          <p:cNvSpPr>
            <a:spLocks noGrp="1"/>
          </p:cNvSpPr>
          <p:nvPr>
            <p:custDataLst>
              <p:tags r:id="rId5"/>
            </p:custDataLst>
          </p:nvPr>
        </p:nvSpPr>
        <p:spPr>
          <a:xfrm>
            <a:off x="6362700" y="2133600"/>
            <a:ext cx="4876800" cy="3219450"/>
          </a:xfrm>
          <a:prstGeom prst="roundRect">
            <a:avLst>
              <a:gd name="adj" fmla="val 3550"/>
            </a:avLst>
          </a:prstGeom>
          <a:solidFill>
            <a:srgbClr val="FFFFFF"/>
          </a:solidFill>
          <a:ln w="9525">
            <a:solidFill>
              <a:srgbClr val="D8CCBB"/>
            </a:solidFill>
            <a:prstDash val="solid"/>
          </a:ln>
        </p:spPr>
      </p:sp>
      <p:sp>
        <p:nvSpPr>
          <p:cNvPr id="12" name="圆角矩形 11"/>
          <p:cNvSpPr>
            <a:spLocks noGrp="1"/>
          </p:cNvSpPr>
          <p:nvPr>
            <p:custDataLst>
              <p:tags r:id="rId6"/>
            </p:custDataLst>
          </p:nvPr>
        </p:nvSpPr>
        <p:spPr>
          <a:xfrm>
            <a:off x="6362700" y="2133600"/>
            <a:ext cx="57150" cy="3219450"/>
          </a:xfrm>
          <a:prstGeom prst="roundRect">
            <a:avLst>
              <a:gd name="adj" fmla="val 33333"/>
            </a:avLst>
          </a:prstGeom>
          <a:solidFill>
            <a:srgbClr val="818A68"/>
          </a:solidFill>
          <a:ln w="9525">
            <a:solidFill>
              <a:srgbClr val="818A68"/>
            </a:solidFill>
            <a:prstDash val="solid"/>
          </a:ln>
        </p:spPr>
      </p:sp>
      <p:sp>
        <p:nvSpPr>
          <p:cNvPr id="13" name="矩形 12"/>
          <p:cNvSpPr>
            <a:spLocks noGrp="1"/>
          </p:cNvSpPr>
          <p:nvPr>
            <p:custDataLst>
              <p:tags r:id="rId7"/>
            </p:custDataLst>
          </p:nvPr>
        </p:nvSpPr>
        <p:spPr>
          <a:xfrm>
            <a:off x="6591300" y="236220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Analytical framing</a:t>
            </a:r>
          </a:p>
        </p:txBody>
      </p:sp>
      <p:sp>
        <p:nvSpPr>
          <p:cNvPr id="14" name="矩形 13"/>
          <p:cNvSpPr>
            <a:spLocks noGrp="1"/>
          </p:cNvSpPr>
          <p:nvPr>
            <p:custDataLst>
              <p:tags r:id="rId8"/>
            </p:custDataLst>
          </p:nvPr>
        </p:nvSpPr>
        <p:spPr>
          <a:xfrm>
            <a:off x="6591300" y="2781300"/>
            <a:ext cx="4248150" cy="1962150"/>
          </a:xfrm>
          <a:prstGeom prst="rect">
            <a:avLst/>
          </a:prstGeom>
          <a:noFill/>
          <a:ln w="0">
            <a:noFill/>
            <a:prstDash val="solid"/>
          </a:ln>
        </p:spPr>
        <p:txBody>
          <a:bodyPr wrap="square" lIns="0" tIns="0" rIns="0" bIns="0" anchor="t">
            <a:normAutofit fontScale="90000" lnSpcReduction="20000"/>
          </a:bodyPr>
          <a:lstStyle/>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Reliance is learned over repeated feedback,</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not fixed after one AI suggestion.</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AI errors are treated as calibration shocks,</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not simply as lower accuracy.</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Performance parity makes the comparison identifiable:</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the AI and the human/self baseline are equally capable.</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endParaRPr lang="en-US" altLang="zh-CN" sz="1350" b="0" i="0">
              <a:solidFill>
                <a:srgbClr val="231D17"/>
              </a:solidFill>
              <a:latin typeface="Times New Roman" panose="02020603050405020304"/>
              <a:ea typeface="Times New Roman" panose="02020603050405020304"/>
              <a:cs typeface="Times New Roman" panose="02020603050405020304"/>
            </a:endParaRP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We first identify path-level reliance changes,</a:t>
            </a:r>
          </a:p>
          <a:p>
            <a:pPr marL="0" indent="0" algn="l">
              <a:lnSpc>
                <a:spcPct val="108000"/>
              </a:lnSpc>
              <a:spcAft>
                <a:spcPts val="10"/>
              </a:spcAft>
              <a:buNone/>
              <a:defRPr sz="1350" b="0" i="0">
                <a:solidFill>
                  <a:srgbClr val="231D17"/>
                </a:solidFill>
                <a:latin typeface="Times New Roman" panose="02020603050405020304"/>
                <a:ea typeface="Times New Roman" panose="02020603050405020304"/>
                <a:cs typeface="Times New Roman" panose="02020603050405020304"/>
              </a:defRPr>
            </a:pPr>
            <a:r>
              <a:rPr lang="en-US" altLang="zh-CN" sz="1350" b="0" i="0">
                <a:solidFill>
                  <a:srgbClr val="231D17"/>
                </a:solidFill>
                <a:latin typeface="Times New Roman" panose="02020603050405020304"/>
                <a:ea typeface="Times New Roman" panose="02020603050405020304"/>
                <a:cs typeface="Times New Roman" panose="02020603050405020304"/>
              </a:rPr>
              <a:t>then use an EWA-inspired model to interpret the updating mechanism.</a:t>
            </a:r>
          </a:p>
        </p:txBody>
      </p:sp>
      <p:sp>
        <p:nvSpPr>
          <p:cNvPr id="15" name="矩形 14"/>
          <p:cNvSpPr>
            <a:spLocks noGrp="1"/>
          </p:cNvSpPr>
          <p:nvPr/>
        </p:nvSpPr>
        <p:spPr>
          <a:xfrm>
            <a:off x="914400" y="5581650"/>
            <a:ext cx="10287000" cy="32385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Framing sentence: the dependent object is the reliance path, not the first post-error attitude.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矩形 37"/>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left-rail"/>
          <p:cNvSpPr>
            <a:spLocks noGrp="1"/>
          </p:cNvSpPr>
          <p:nvPr/>
        </p:nvSpPr>
        <p:spPr>
          <a:xfrm>
            <a:off x="552450" y="457200"/>
            <a:ext cx="19050" cy="5943600"/>
          </a:xfrm>
          <a:prstGeom prst="rect">
            <a:avLst/>
          </a:prstGeom>
          <a:solidFill>
            <a:srgbClr val="777F5D"/>
          </a:solidFill>
          <a:ln w="9525">
            <a:solidFill>
              <a:srgbClr val="777F5D"/>
            </a:solidFill>
            <a:prstDash val="solid"/>
          </a:ln>
        </p:spPr>
      </p:sp>
      <p:sp>
        <p:nvSpPr>
          <p:cNvPr id="3" name="eyebrow"/>
          <p:cNvSpPr>
            <a:spLocks noGrp="1"/>
          </p:cNvSpPr>
          <p:nvPr/>
        </p:nvSpPr>
        <p:spPr>
          <a:xfrm>
            <a:off x="914400" y="590550"/>
            <a:ext cx="3429000" cy="228600"/>
          </a:xfrm>
          <a:prstGeom prst="rect">
            <a:avLst/>
          </a:prstGeom>
          <a:noFill/>
          <a:ln w="0">
            <a:noFill/>
            <a:prstDash val="solid"/>
          </a:ln>
        </p:spPr>
        <p:txBody>
          <a:bodyPr/>
          <a:lstStyle/>
          <a:p>
            <a:pPr algn="l">
              <a:defRPr sz="975" b="1" i="0">
                <a:solidFill>
                  <a:srgbClr val="4B563E"/>
                </a:solidFill>
                <a:latin typeface="Times New Roman" panose="02020603050405020304"/>
                <a:ea typeface="Times New Roman" panose="02020603050405020304"/>
                <a:cs typeface="Times New Roman" panose="02020603050405020304"/>
              </a:defRPr>
            </a:pPr>
            <a:r>
              <a:rPr sz="975" b="1" i="0">
                <a:solidFill>
                  <a:srgbClr val="4B563E"/>
                </a:solidFill>
                <a:latin typeface="Times New Roman" panose="02020603050405020304"/>
                <a:ea typeface="Times New Roman" panose="02020603050405020304"/>
                <a:cs typeface="Times New Roman" panose="02020603050405020304"/>
              </a:rPr>
              <a:t>PAPER 2 · REPLACEMENT SLIDE</a:t>
            </a:r>
          </a:p>
        </p:txBody>
      </p:sp>
      <p:sp>
        <p:nvSpPr>
          <p:cNvPr id="4" name="title"/>
          <p:cNvSpPr>
            <a:spLocks noGrp="1"/>
          </p:cNvSpPr>
          <p:nvPr/>
        </p:nvSpPr>
        <p:spPr>
          <a:xfrm>
            <a:off x="914400" y="914400"/>
            <a:ext cx="7429500" cy="514350"/>
          </a:xfrm>
          <a:prstGeom prst="rect">
            <a:avLst/>
          </a:prstGeom>
          <a:noFill/>
          <a:ln w="0">
            <a:noFill/>
            <a:prstDash val="solid"/>
          </a:ln>
        </p:spPr>
        <p:txBody>
          <a:bodyPr/>
          <a:lstStyle/>
          <a:p>
            <a:pPr algn="l">
              <a:defRPr sz="2700" b="1" i="0">
                <a:solidFill>
                  <a:srgbClr val="18231C"/>
                </a:solidFill>
                <a:latin typeface="Times New Roman" panose="02020603050405020304"/>
                <a:ea typeface="Times New Roman" panose="02020603050405020304"/>
                <a:cs typeface="Times New Roman" panose="02020603050405020304"/>
              </a:defRPr>
            </a:pPr>
            <a:r>
              <a:rPr sz="2700" b="1" i="0">
                <a:solidFill>
                  <a:srgbClr val="18231C"/>
                </a:solidFill>
                <a:latin typeface="Times New Roman" panose="02020603050405020304"/>
                <a:ea typeface="Times New Roman" panose="02020603050405020304"/>
                <a:cs typeface="Times New Roman" panose="02020603050405020304"/>
              </a:rPr>
              <a:t>Research Questions and Hypotheses</a:t>
            </a:r>
          </a:p>
        </p:txBody>
      </p:sp>
      <p:sp>
        <p:nvSpPr>
          <p:cNvPr id="5" name="subtitle"/>
          <p:cNvSpPr>
            <a:spLocks noGrp="1"/>
          </p:cNvSpPr>
          <p:nvPr/>
        </p:nvSpPr>
        <p:spPr>
          <a:xfrm>
            <a:off x="914400" y="1352550"/>
            <a:ext cx="9620250" cy="323850"/>
          </a:xfrm>
          <a:prstGeom prst="rect">
            <a:avLst/>
          </a:prstGeom>
          <a:noFill/>
          <a:ln w="0">
            <a:noFill/>
            <a:prstDash val="solid"/>
          </a:ln>
        </p:spPr>
        <p:txBody>
          <a:bodyPr/>
          <a:lstStyle/>
          <a:p>
            <a:pPr algn="l">
              <a:defRPr sz="1350" b="0" i="0">
                <a:solidFill>
                  <a:srgbClr val="5E6556"/>
                </a:solidFill>
                <a:latin typeface="Times New Roman" panose="02020603050405020304"/>
                <a:ea typeface="Times New Roman" panose="02020603050405020304"/>
                <a:cs typeface="Times New Roman" panose="02020603050405020304"/>
              </a:defRPr>
            </a:pPr>
            <a:r>
              <a:rPr sz="1350" b="0" i="0">
                <a:solidFill>
                  <a:srgbClr val="5E6556"/>
                </a:solidFill>
                <a:latin typeface="Times New Roman" panose="02020603050405020304"/>
                <a:ea typeface="Times New Roman" panose="02020603050405020304"/>
                <a:cs typeface="Times New Roman" panose="02020603050405020304"/>
              </a:rPr>
              <a:t>The design compares how reliance changes after matched feedback, local AI shocks, and later recovery.</a:t>
            </a:r>
          </a:p>
        </p:txBody>
      </p:sp>
      <p:sp>
        <p:nvSpPr>
          <p:cNvPr id="6" name="rq-card"/>
          <p:cNvSpPr>
            <a:spLocks noGrp="1"/>
          </p:cNvSpPr>
          <p:nvPr/>
        </p:nvSpPr>
        <p:spPr>
          <a:xfrm>
            <a:off x="914400" y="1790700"/>
            <a:ext cx="10287000" cy="819150"/>
          </a:xfrm>
          <a:prstGeom prst="roundRect">
            <a:avLst>
              <a:gd name="adj" fmla="val 13953"/>
            </a:avLst>
          </a:prstGeom>
          <a:solidFill>
            <a:srgbClr val="FFFDF6"/>
          </a:solidFill>
          <a:ln w="9525">
            <a:solidFill>
              <a:srgbClr val="D8CEBD"/>
            </a:solidFill>
            <a:prstDash val="solid"/>
          </a:ln>
        </p:spPr>
      </p:sp>
      <p:sp>
        <p:nvSpPr>
          <p:cNvPr id="7" name="rq-accent"/>
          <p:cNvSpPr>
            <a:spLocks noGrp="1"/>
          </p:cNvSpPr>
          <p:nvPr/>
        </p:nvSpPr>
        <p:spPr>
          <a:xfrm>
            <a:off x="914400" y="1790700"/>
            <a:ext cx="76200" cy="819150"/>
          </a:xfrm>
          <a:prstGeom prst="rect">
            <a:avLst/>
          </a:prstGeom>
          <a:solidFill>
            <a:srgbClr val="A9653B"/>
          </a:solidFill>
          <a:ln w="9525">
            <a:solidFill>
              <a:srgbClr val="A9653B"/>
            </a:solidFill>
            <a:prstDash val="solid"/>
          </a:ln>
        </p:spPr>
      </p:sp>
      <p:sp>
        <p:nvSpPr>
          <p:cNvPr id="8" name="rq-label"/>
          <p:cNvSpPr>
            <a:spLocks noGrp="1"/>
          </p:cNvSpPr>
          <p:nvPr/>
        </p:nvSpPr>
        <p:spPr>
          <a:xfrm>
            <a:off x="1143000" y="1952625"/>
            <a:ext cx="1524000" cy="228600"/>
          </a:xfrm>
          <a:prstGeom prst="rect">
            <a:avLst/>
          </a:prstGeom>
          <a:noFill/>
          <a:ln w="0">
            <a:noFill/>
            <a:prstDash val="solid"/>
          </a:ln>
        </p:spPr>
        <p:txBody>
          <a:bodyPr/>
          <a:lstStyle/>
          <a:p>
            <a:pPr algn="l">
              <a:defRPr sz="1350" b="1" i="0">
                <a:solidFill>
                  <a:srgbClr val="A9653B"/>
                </a:solidFill>
                <a:latin typeface="Times New Roman" panose="02020603050405020304"/>
                <a:ea typeface="Times New Roman" panose="02020603050405020304"/>
                <a:cs typeface="Times New Roman" panose="02020603050405020304"/>
              </a:defRPr>
            </a:pPr>
            <a:r>
              <a:rPr sz="1350" b="1" i="0">
                <a:solidFill>
                  <a:srgbClr val="A9653B"/>
                </a:solidFill>
                <a:latin typeface="Times New Roman" panose="02020603050405020304"/>
                <a:ea typeface="Times New Roman" panose="02020603050405020304"/>
                <a:cs typeface="Times New Roman" panose="02020603050405020304"/>
              </a:rPr>
              <a:t>Overall RQ</a:t>
            </a:r>
          </a:p>
        </p:txBody>
      </p:sp>
      <p:sp>
        <p:nvSpPr>
          <p:cNvPr id="9" name="rq-text"/>
          <p:cNvSpPr>
            <a:spLocks noGrp="1"/>
          </p:cNvSpPr>
          <p:nvPr/>
        </p:nvSpPr>
        <p:spPr>
          <a:xfrm>
            <a:off x="2857500" y="1905000"/>
            <a:ext cx="7810500" cy="552450"/>
          </a:xfrm>
          <a:prstGeom prst="rect">
            <a:avLst/>
          </a:prstGeom>
          <a:noFill/>
          <a:ln w="0">
            <a:noFill/>
            <a:prstDash val="solid"/>
          </a:ln>
        </p:spPr>
        <p:txBody>
          <a:bodyPr/>
          <a:lstStyle/>
          <a:p>
            <a:pPr algn="l">
              <a:defRPr sz="1500" b="0" i="0">
                <a:solidFill>
                  <a:srgbClr val="18231C"/>
                </a:solidFill>
                <a:latin typeface="Times New Roman" panose="02020603050405020304"/>
                <a:ea typeface="Times New Roman" panose="02020603050405020304"/>
                <a:cs typeface="Times New Roman" panose="02020603050405020304"/>
              </a:defRPr>
            </a:pPr>
            <a:r>
              <a:rPr sz="1500" b="0" i="0">
                <a:solidFill>
                  <a:srgbClr val="18231C"/>
                </a:solidFill>
                <a:latin typeface="Times New Roman" panose="02020603050405020304"/>
                <a:ea typeface="Times New Roman" panose="02020603050405020304"/>
                <a:cs typeface="Times New Roman" panose="02020603050405020304"/>
              </a:rPr>
              <a:t>How do participants dynamically calibrate reliance on self vs. AI in repeated human-AI decisions, and how does a localized AI error shock reshape that reliance path?</a:t>
            </a:r>
          </a:p>
        </p:txBody>
      </p:sp>
      <p:sp>
        <p:nvSpPr>
          <p:cNvPr id="10" name="H1-card"/>
          <p:cNvSpPr>
            <a:spLocks noGrp="1"/>
          </p:cNvSpPr>
          <p:nvPr/>
        </p:nvSpPr>
        <p:spPr>
          <a:xfrm>
            <a:off x="914400" y="2876550"/>
            <a:ext cx="3200400" cy="1123950"/>
          </a:xfrm>
          <a:prstGeom prst="roundRect">
            <a:avLst>
              <a:gd name="adj" fmla="val 10169"/>
            </a:avLst>
          </a:prstGeom>
          <a:solidFill>
            <a:srgbClr val="FFFDF6"/>
          </a:solidFill>
          <a:ln w="9525">
            <a:solidFill>
              <a:srgbClr val="D8CEBD"/>
            </a:solidFill>
            <a:prstDash val="solid"/>
          </a:ln>
        </p:spPr>
      </p:sp>
      <p:sp>
        <p:nvSpPr>
          <p:cNvPr id="11" name="H1-stripe"/>
          <p:cNvSpPr>
            <a:spLocks noGrp="1"/>
          </p:cNvSpPr>
          <p:nvPr/>
        </p:nvSpPr>
        <p:spPr>
          <a:xfrm>
            <a:off x="914400" y="2876550"/>
            <a:ext cx="57150" cy="1123950"/>
          </a:xfrm>
          <a:prstGeom prst="rect">
            <a:avLst/>
          </a:prstGeom>
          <a:solidFill>
            <a:srgbClr val="777F5D"/>
          </a:solidFill>
          <a:ln w="9525">
            <a:solidFill>
              <a:srgbClr val="777F5D"/>
            </a:solidFill>
            <a:prstDash val="solid"/>
          </a:ln>
        </p:spPr>
      </p:sp>
      <p:sp>
        <p:nvSpPr>
          <p:cNvPr id="12" name="H1-label"/>
          <p:cNvSpPr>
            <a:spLocks noGrp="1"/>
          </p:cNvSpPr>
          <p:nvPr/>
        </p:nvSpPr>
        <p:spPr>
          <a:xfrm>
            <a:off x="1085850" y="301942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H1</a:t>
            </a:r>
          </a:p>
        </p:txBody>
      </p:sp>
      <p:sp>
        <p:nvSpPr>
          <p:cNvPr id="13" name="H1-title"/>
          <p:cNvSpPr>
            <a:spLocks noGrp="1"/>
          </p:cNvSpPr>
          <p:nvPr/>
        </p:nvSpPr>
        <p:spPr>
          <a:xfrm>
            <a:off x="16383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Dynamic calibration</a:t>
            </a:r>
          </a:p>
        </p:txBody>
      </p:sp>
      <p:sp>
        <p:nvSpPr>
          <p:cNvPr id="14" name="H1-body"/>
          <p:cNvSpPr>
            <a:spLocks noGrp="1"/>
          </p:cNvSpPr>
          <p:nvPr/>
        </p:nvSpPr>
        <p:spPr>
          <a:xfrm>
            <a:off x="10858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Reliance should follow repeated feedback about relative self-AI performance.</a:t>
            </a:r>
          </a:p>
        </p:txBody>
      </p:sp>
      <p:sp>
        <p:nvSpPr>
          <p:cNvPr id="15" name="H2-card"/>
          <p:cNvSpPr>
            <a:spLocks noGrp="1"/>
          </p:cNvSpPr>
          <p:nvPr/>
        </p:nvSpPr>
        <p:spPr>
          <a:xfrm>
            <a:off x="4381500" y="2876550"/>
            <a:ext cx="3200400" cy="1123950"/>
          </a:xfrm>
          <a:prstGeom prst="roundRect">
            <a:avLst>
              <a:gd name="adj" fmla="val 10169"/>
            </a:avLst>
          </a:prstGeom>
          <a:solidFill>
            <a:srgbClr val="FFFDF6"/>
          </a:solidFill>
          <a:ln w="9525">
            <a:solidFill>
              <a:srgbClr val="D8CEBD"/>
            </a:solidFill>
            <a:prstDash val="solid"/>
          </a:ln>
        </p:spPr>
      </p:sp>
      <p:sp>
        <p:nvSpPr>
          <p:cNvPr id="16" name="H2-stripe"/>
          <p:cNvSpPr>
            <a:spLocks noGrp="1"/>
          </p:cNvSpPr>
          <p:nvPr/>
        </p:nvSpPr>
        <p:spPr>
          <a:xfrm>
            <a:off x="4381500" y="2876550"/>
            <a:ext cx="57150" cy="1123950"/>
          </a:xfrm>
          <a:prstGeom prst="rect">
            <a:avLst/>
          </a:prstGeom>
          <a:solidFill>
            <a:srgbClr val="A9653B"/>
          </a:solidFill>
          <a:ln w="9525">
            <a:solidFill>
              <a:srgbClr val="A9653B"/>
            </a:solidFill>
            <a:prstDash val="solid"/>
          </a:ln>
        </p:spPr>
      </p:sp>
      <p:sp>
        <p:nvSpPr>
          <p:cNvPr id="17" name="H2-label"/>
          <p:cNvSpPr>
            <a:spLocks noGrp="1"/>
          </p:cNvSpPr>
          <p:nvPr/>
        </p:nvSpPr>
        <p:spPr>
          <a:xfrm>
            <a:off x="4552950" y="3019425"/>
            <a:ext cx="495300" cy="190500"/>
          </a:xfrm>
          <a:prstGeom prst="rect">
            <a:avLst/>
          </a:prstGeom>
          <a:noFill/>
          <a:ln w="0">
            <a:noFill/>
            <a:prstDash val="solid"/>
          </a:ln>
        </p:spPr>
        <p:txBody>
          <a:bodyPr/>
          <a:lstStyle/>
          <a:p>
            <a:pPr algn="l">
              <a:defRPr sz="975" b="1" i="0">
                <a:solidFill>
                  <a:srgbClr val="A9653B"/>
                </a:solidFill>
                <a:latin typeface="Times New Roman" panose="02020603050405020304"/>
                <a:ea typeface="Times New Roman" panose="02020603050405020304"/>
                <a:cs typeface="Times New Roman" panose="02020603050405020304"/>
              </a:defRPr>
            </a:pPr>
            <a:r>
              <a:rPr sz="975" b="1" i="0">
                <a:solidFill>
                  <a:srgbClr val="A9653B"/>
                </a:solidFill>
                <a:latin typeface="Times New Roman" panose="02020603050405020304"/>
                <a:ea typeface="Times New Roman" panose="02020603050405020304"/>
                <a:cs typeface="Times New Roman" panose="02020603050405020304"/>
              </a:rPr>
              <a:t>H2</a:t>
            </a:r>
          </a:p>
        </p:txBody>
      </p:sp>
      <p:sp>
        <p:nvSpPr>
          <p:cNvPr id="18" name="H2-title"/>
          <p:cNvSpPr>
            <a:spLocks noGrp="1"/>
          </p:cNvSpPr>
          <p:nvPr/>
        </p:nvSpPr>
        <p:spPr>
          <a:xfrm>
            <a:off x="51054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AI shock penalty</a:t>
            </a:r>
          </a:p>
        </p:txBody>
      </p:sp>
      <p:sp>
        <p:nvSpPr>
          <p:cNvPr id="19" name="H2-body"/>
          <p:cNvSpPr>
            <a:spLocks noGrp="1"/>
          </p:cNvSpPr>
          <p:nvPr/>
        </p:nvSpPr>
        <p:spPr>
          <a:xfrm>
            <a:off x="45529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Concentrated AI errors should reduce later AI adoption compared with balanced errors.</a:t>
            </a:r>
          </a:p>
        </p:txBody>
      </p:sp>
      <p:sp>
        <p:nvSpPr>
          <p:cNvPr id="20" name="H3-card"/>
          <p:cNvSpPr>
            <a:spLocks noGrp="1"/>
          </p:cNvSpPr>
          <p:nvPr/>
        </p:nvSpPr>
        <p:spPr>
          <a:xfrm>
            <a:off x="7848600" y="2876550"/>
            <a:ext cx="3200400" cy="1123950"/>
          </a:xfrm>
          <a:prstGeom prst="roundRect">
            <a:avLst>
              <a:gd name="adj" fmla="val 10169"/>
            </a:avLst>
          </a:prstGeom>
          <a:solidFill>
            <a:srgbClr val="FFFDF6"/>
          </a:solidFill>
          <a:ln w="9525">
            <a:solidFill>
              <a:srgbClr val="D8CEBD"/>
            </a:solidFill>
            <a:prstDash val="solid"/>
          </a:ln>
        </p:spPr>
      </p:sp>
      <p:sp>
        <p:nvSpPr>
          <p:cNvPr id="21" name="H3-stripe"/>
          <p:cNvSpPr>
            <a:spLocks noGrp="1"/>
          </p:cNvSpPr>
          <p:nvPr/>
        </p:nvSpPr>
        <p:spPr>
          <a:xfrm>
            <a:off x="7848600" y="2876550"/>
            <a:ext cx="57150" cy="1123950"/>
          </a:xfrm>
          <a:prstGeom prst="rect">
            <a:avLst/>
          </a:prstGeom>
          <a:solidFill>
            <a:srgbClr val="777F5D"/>
          </a:solidFill>
          <a:ln w="9525">
            <a:solidFill>
              <a:srgbClr val="777F5D"/>
            </a:solidFill>
            <a:prstDash val="solid"/>
          </a:ln>
        </p:spPr>
      </p:sp>
      <p:sp>
        <p:nvSpPr>
          <p:cNvPr id="22" name="H3-label"/>
          <p:cNvSpPr>
            <a:spLocks noGrp="1"/>
          </p:cNvSpPr>
          <p:nvPr/>
        </p:nvSpPr>
        <p:spPr>
          <a:xfrm>
            <a:off x="8020050" y="301942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H3</a:t>
            </a:r>
          </a:p>
        </p:txBody>
      </p:sp>
      <p:sp>
        <p:nvSpPr>
          <p:cNvPr id="23" name="H3-title"/>
          <p:cNvSpPr>
            <a:spLocks noGrp="1"/>
          </p:cNvSpPr>
          <p:nvPr/>
        </p:nvSpPr>
        <p:spPr>
          <a:xfrm>
            <a:off x="8572500" y="2990850"/>
            <a:ext cx="22860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Post-shock recovery</a:t>
            </a:r>
          </a:p>
        </p:txBody>
      </p:sp>
      <p:sp>
        <p:nvSpPr>
          <p:cNvPr id="24" name="H3-body"/>
          <p:cNvSpPr>
            <a:spLocks noGrp="1"/>
          </p:cNvSpPr>
          <p:nvPr/>
        </p:nvSpPr>
        <p:spPr>
          <a:xfrm>
            <a:off x="8020050" y="3333750"/>
            <a:ext cx="28765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After AI performance recovers, reliance may rebound or remain persistently low.</a:t>
            </a:r>
          </a:p>
        </p:txBody>
      </p:sp>
      <p:sp>
        <p:nvSpPr>
          <p:cNvPr id="25" name="H4-card"/>
          <p:cNvSpPr>
            <a:spLocks noGrp="1"/>
          </p:cNvSpPr>
          <p:nvPr/>
        </p:nvSpPr>
        <p:spPr>
          <a:xfrm>
            <a:off x="914400" y="4267200"/>
            <a:ext cx="4953000" cy="1123950"/>
          </a:xfrm>
          <a:prstGeom prst="roundRect">
            <a:avLst>
              <a:gd name="adj" fmla="val 10169"/>
            </a:avLst>
          </a:prstGeom>
          <a:solidFill>
            <a:srgbClr val="FFFDF6"/>
          </a:solidFill>
          <a:ln w="9525">
            <a:solidFill>
              <a:srgbClr val="D8CEBD"/>
            </a:solidFill>
            <a:prstDash val="solid"/>
          </a:ln>
        </p:spPr>
      </p:sp>
      <p:sp>
        <p:nvSpPr>
          <p:cNvPr id="26" name="H4-stripe"/>
          <p:cNvSpPr>
            <a:spLocks noGrp="1"/>
          </p:cNvSpPr>
          <p:nvPr/>
        </p:nvSpPr>
        <p:spPr>
          <a:xfrm>
            <a:off x="914400" y="4267200"/>
            <a:ext cx="57150" cy="1123950"/>
          </a:xfrm>
          <a:prstGeom prst="rect">
            <a:avLst/>
          </a:prstGeom>
          <a:solidFill>
            <a:srgbClr val="777F5D"/>
          </a:solidFill>
          <a:ln w="9525">
            <a:solidFill>
              <a:srgbClr val="777F5D"/>
            </a:solidFill>
            <a:prstDash val="solid"/>
          </a:ln>
        </p:spPr>
      </p:sp>
      <p:sp>
        <p:nvSpPr>
          <p:cNvPr id="27" name="H4-label"/>
          <p:cNvSpPr>
            <a:spLocks noGrp="1"/>
          </p:cNvSpPr>
          <p:nvPr/>
        </p:nvSpPr>
        <p:spPr>
          <a:xfrm>
            <a:off x="1085850" y="4410075"/>
            <a:ext cx="495300" cy="190500"/>
          </a:xfrm>
          <a:prstGeom prst="rect">
            <a:avLst/>
          </a:prstGeom>
          <a:noFill/>
          <a:ln w="0">
            <a:noFill/>
            <a:prstDash val="solid"/>
          </a:ln>
        </p:spPr>
        <p:txBody>
          <a:bodyPr/>
          <a:lstStyle/>
          <a:p>
            <a:pPr algn="l">
              <a:defRPr sz="975" b="1" i="0">
                <a:solidFill>
                  <a:srgbClr val="777F5D"/>
                </a:solidFill>
                <a:latin typeface="Times New Roman" panose="02020603050405020304"/>
                <a:ea typeface="Times New Roman" panose="02020603050405020304"/>
                <a:cs typeface="Times New Roman" panose="02020603050405020304"/>
              </a:defRPr>
            </a:pPr>
            <a:r>
              <a:rPr sz="975" b="1" i="0">
                <a:solidFill>
                  <a:srgbClr val="777F5D"/>
                </a:solidFill>
                <a:latin typeface="Times New Roman" panose="02020603050405020304"/>
                <a:ea typeface="Times New Roman" panose="02020603050405020304"/>
                <a:cs typeface="Times New Roman" panose="02020603050405020304"/>
              </a:rPr>
              <a:t>H4</a:t>
            </a:r>
          </a:p>
        </p:txBody>
      </p:sp>
      <p:sp>
        <p:nvSpPr>
          <p:cNvPr id="28" name="H4-title"/>
          <p:cNvSpPr>
            <a:spLocks noGrp="1"/>
          </p:cNvSpPr>
          <p:nvPr/>
        </p:nvSpPr>
        <p:spPr>
          <a:xfrm>
            <a:off x="1638300" y="4381500"/>
            <a:ext cx="40386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Shock timing heterogeneity</a:t>
            </a:r>
          </a:p>
        </p:txBody>
      </p:sp>
      <p:sp>
        <p:nvSpPr>
          <p:cNvPr id="29" name="H4-body"/>
          <p:cNvSpPr>
            <a:spLocks noGrp="1"/>
          </p:cNvSpPr>
          <p:nvPr/>
        </p:nvSpPr>
        <p:spPr>
          <a:xfrm>
            <a:off x="1085850" y="4724400"/>
            <a:ext cx="46291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Early shocks affect initial calibration; mid shocks disrupt reliance after experience has formed.</a:t>
            </a:r>
          </a:p>
        </p:txBody>
      </p:sp>
      <p:sp>
        <p:nvSpPr>
          <p:cNvPr id="30" name="H5-card"/>
          <p:cNvSpPr>
            <a:spLocks noGrp="1"/>
          </p:cNvSpPr>
          <p:nvPr/>
        </p:nvSpPr>
        <p:spPr>
          <a:xfrm>
            <a:off x="6248400" y="4267200"/>
            <a:ext cx="4953000" cy="1123950"/>
          </a:xfrm>
          <a:prstGeom prst="roundRect">
            <a:avLst>
              <a:gd name="adj" fmla="val 10169"/>
            </a:avLst>
          </a:prstGeom>
          <a:solidFill>
            <a:srgbClr val="F8EFE4"/>
          </a:solidFill>
          <a:ln w="9525">
            <a:solidFill>
              <a:srgbClr val="D8CEBD"/>
            </a:solidFill>
            <a:prstDash val="solid"/>
          </a:ln>
        </p:spPr>
      </p:sp>
      <p:sp>
        <p:nvSpPr>
          <p:cNvPr id="31" name="H5-stripe"/>
          <p:cNvSpPr>
            <a:spLocks noGrp="1"/>
          </p:cNvSpPr>
          <p:nvPr/>
        </p:nvSpPr>
        <p:spPr>
          <a:xfrm>
            <a:off x="6248400" y="4267200"/>
            <a:ext cx="57150" cy="1123950"/>
          </a:xfrm>
          <a:prstGeom prst="rect">
            <a:avLst/>
          </a:prstGeom>
          <a:solidFill>
            <a:srgbClr val="A9653B"/>
          </a:solidFill>
          <a:ln w="9525">
            <a:solidFill>
              <a:srgbClr val="A9653B"/>
            </a:solidFill>
            <a:prstDash val="solid"/>
          </a:ln>
        </p:spPr>
      </p:sp>
      <p:sp>
        <p:nvSpPr>
          <p:cNvPr id="32" name="H5-label"/>
          <p:cNvSpPr>
            <a:spLocks noGrp="1"/>
          </p:cNvSpPr>
          <p:nvPr/>
        </p:nvSpPr>
        <p:spPr>
          <a:xfrm>
            <a:off x="6419850" y="4410075"/>
            <a:ext cx="495300" cy="190500"/>
          </a:xfrm>
          <a:prstGeom prst="rect">
            <a:avLst/>
          </a:prstGeom>
          <a:noFill/>
          <a:ln w="0">
            <a:noFill/>
            <a:prstDash val="solid"/>
          </a:ln>
        </p:spPr>
        <p:txBody>
          <a:bodyPr/>
          <a:lstStyle/>
          <a:p>
            <a:pPr algn="l">
              <a:defRPr sz="975" b="1" i="0">
                <a:solidFill>
                  <a:srgbClr val="A9653B"/>
                </a:solidFill>
                <a:latin typeface="Times New Roman" panose="02020603050405020304"/>
                <a:ea typeface="Times New Roman" panose="02020603050405020304"/>
                <a:cs typeface="Times New Roman" panose="02020603050405020304"/>
              </a:defRPr>
            </a:pPr>
            <a:r>
              <a:rPr sz="975" b="1" i="0">
                <a:solidFill>
                  <a:srgbClr val="A9653B"/>
                </a:solidFill>
                <a:latin typeface="Times New Roman" panose="02020603050405020304"/>
                <a:ea typeface="Times New Roman" panose="02020603050405020304"/>
                <a:cs typeface="Times New Roman" panose="02020603050405020304"/>
              </a:rPr>
              <a:t>H5</a:t>
            </a:r>
          </a:p>
        </p:txBody>
      </p:sp>
      <p:sp>
        <p:nvSpPr>
          <p:cNvPr id="33" name="H5-title"/>
          <p:cNvSpPr>
            <a:spLocks noGrp="1"/>
          </p:cNvSpPr>
          <p:nvPr/>
        </p:nvSpPr>
        <p:spPr>
          <a:xfrm>
            <a:off x="6972300" y="4381500"/>
            <a:ext cx="403860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AI-self asymmetric recovery</a:t>
            </a:r>
          </a:p>
        </p:txBody>
      </p:sp>
      <p:sp>
        <p:nvSpPr>
          <p:cNvPr id="34" name="H5-body"/>
          <p:cNvSpPr>
            <a:spLocks noGrp="1"/>
          </p:cNvSpPr>
          <p:nvPr/>
        </p:nvSpPr>
        <p:spPr>
          <a:xfrm>
            <a:off x="6419850" y="4724400"/>
            <a:ext cx="4629150" cy="571500"/>
          </a:xfrm>
          <a:prstGeom prst="rect">
            <a:avLst/>
          </a:prstGeom>
          <a:noFill/>
          <a:ln w="0">
            <a:noFill/>
            <a:prstDash val="solid"/>
          </a:ln>
        </p:spPr>
        <p:txBody>
          <a:bodyPr/>
          <a:lstStyle/>
          <a:p>
            <a:pPr algn="l">
              <a:defRPr sz="1200" b="0" i="0">
                <a:solidFill>
                  <a:srgbClr val="5E6556"/>
                </a:solidFill>
                <a:latin typeface="Times New Roman" panose="02020603050405020304"/>
                <a:ea typeface="Times New Roman" panose="02020603050405020304"/>
                <a:cs typeface="Times New Roman" panose="02020603050405020304"/>
              </a:defRPr>
            </a:pPr>
            <a:r>
              <a:rPr sz="1200" b="0" i="0">
                <a:solidFill>
                  <a:srgbClr val="5E6556"/>
                </a:solidFill>
                <a:latin typeface="Times New Roman" panose="02020603050405020304"/>
                <a:ea typeface="Times New Roman" panose="02020603050405020304"/>
                <a:cs typeface="Times New Roman" panose="02020603050405020304"/>
              </a:rPr>
              <a:t>After comparable errors, AI reliance recovers more slowly than self reliance: AI is forgiven more slowly than self.</a:t>
            </a:r>
          </a:p>
        </p:txBody>
      </p:sp>
      <p:sp>
        <p:nvSpPr>
          <p:cNvPr id="35" name="bottom-band"/>
          <p:cNvSpPr>
            <a:spLocks noGrp="1"/>
          </p:cNvSpPr>
          <p:nvPr/>
        </p:nvSpPr>
        <p:spPr>
          <a:xfrm>
            <a:off x="914400" y="5676900"/>
            <a:ext cx="10287000" cy="514350"/>
          </a:xfrm>
          <a:prstGeom prst="roundRect">
            <a:avLst>
              <a:gd name="adj" fmla="val 22222"/>
            </a:avLst>
          </a:prstGeom>
          <a:solidFill>
            <a:srgbClr val="EDE4D4"/>
          </a:solidFill>
          <a:ln w="9525">
            <a:solidFill>
              <a:srgbClr val="D8CEBD"/>
            </a:solidFill>
            <a:prstDash val="solid"/>
          </a:ln>
        </p:spPr>
      </p:sp>
      <p:sp>
        <p:nvSpPr>
          <p:cNvPr id="36" name="central-label"/>
          <p:cNvSpPr>
            <a:spLocks noGrp="1"/>
          </p:cNvSpPr>
          <p:nvPr/>
        </p:nvSpPr>
        <p:spPr>
          <a:xfrm>
            <a:off x="1143000" y="5829300"/>
            <a:ext cx="1524000" cy="228600"/>
          </a:xfrm>
          <a:prstGeom prst="rect">
            <a:avLst/>
          </a:prstGeom>
          <a:noFill/>
          <a:ln w="0">
            <a:noFill/>
            <a:prstDash val="solid"/>
          </a:ln>
        </p:spPr>
        <p:txBody>
          <a:bodyPr/>
          <a:lstStyle/>
          <a:p>
            <a:pPr algn="l">
              <a:defRPr sz="1350" b="1" i="0">
                <a:solidFill>
                  <a:srgbClr val="A9653B"/>
                </a:solidFill>
                <a:latin typeface="Times New Roman" panose="02020603050405020304"/>
                <a:ea typeface="Times New Roman" panose="02020603050405020304"/>
                <a:cs typeface="Times New Roman" panose="02020603050405020304"/>
              </a:defRPr>
            </a:pPr>
            <a:r>
              <a:rPr sz="1350" b="1" i="0">
                <a:solidFill>
                  <a:srgbClr val="A9653B"/>
                </a:solidFill>
                <a:latin typeface="Times New Roman" panose="02020603050405020304"/>
                <a:ea typeface="Times New Roman" panose="02020603050405020304"/>
                <a:cs typeface="Times New Roman" panose="02020603050405020304"/>
              </a:rPr>
              <a:t>Central test</a:t>
            </a:r>
          </a:p>
        </p:txBody>
      </p:sp>
      <p:sp>
        <p:nvSpPr>
          <p:cNvPr id="37" name="central-text"/>
          <p:cNvSpPr>
            <a:spLocks noGrp="1"/>
          </p:cNvSpPr>
          <p:nvPr/>
        </p:nvSpPr>
        <p:spPr>
          <a:xfrm>
            <a:off x="2781300" y="5810250"/>
            <a:ext cx="7905750" cy="266700"/>
          </a:xfrm>
          <a:prstGeom prst="rect">
            <a:avLst/>
          </a:prstGeom>
          <a:noFill/>
          <a:ln w="0">
            <a:noFill/>
            <a:prstDash val="solid"/>
          </a:ln>
        </p:spPr>
        <p:txBody>
          <a:bodyPr/>
          <a:lstStyle/>
          <a:p>
            <a:pPr algn="l">
              <a:defRPr sz="1500" b="1" i="0">
                <a:solidFill>
                  <a:srgbClr val="18231C"/>
                </a:solidFill>
                <a:latin typeface="Times New Roman" panose="02020603050405020304"/>
                <a:ea typeface="Times New Roman" panose="02020603050405020304"/>
                <a:cs typeface="Times New Roman" panose="02020603050405020304"/>
              </a:defRPr>
            </a:pPr>
            <a:r>
              <a:rPr sz="1500" b="1" i="0">
                <a:solidFill>
                  <a:srgbClr val="18231C"/>
                </a:solidFill>
                <a:latin typeface="Times New Roman" panose="02020603050405020304"/>
                <a:ea typeface="Times New Roman" panose="02020603050405020304"/>
                <a:cs typeface="Times New Roman" panose="02020603050405020304"/>
              </a:rPr>
              <a:t>Do equal performance histories produce equal reliance recovery, or do AI errors leave a longer shadow?</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矩形 27"/>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PROTOTYPE</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95933" lnSpcReduction="10000"/>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The experimental prototype must satisfy five identification requirements</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design has to isolate path updating rather than domain labels, fixed expertise priors, or simple quality differences.</a:t>
            </a:r>
          </a:p>
        </p:txBody>
      </p:sp>
      <p:sp>
        <p:nvSpPr>
          <p:cNvPr id="7" name="圆角矩形 6"/>
          <p:cNvSpPr>
            <a:spLocks noGrp="1"/>
          </p:cNvSpPr>
          <p:nvPr/>
        </p:nvSpPr>
        <p:spPr>
          <a:xfrm>
            <a:off x="914400" y="2114550"/>
            <a:ext cx="3162300" cy="1257300"/>
          </a:xfrm>
          <a:prstGeom prst="roundRect">
            <a:avLst>
              <a:gd name="adj" fmla="val 9091"/>
            </a:avLst>
          </a:prstGeom>
          <a:solidFill>
            <a:srgbClr val="FFFFFF"/>
          </a:solidFill>
          <a:ln w="9525">
            <a:solidFill>
              <a:srgbClr val="D8CCBB"/>
            </a:solidFill>
            <a:prstDash val="solid"/>
          </a:ln>
        </p:spPr>
      </p:sp>
      <p:sp>
        <p:nvSpPr>
          <p:cNvPr id="8" name="圆角矩形 7"/>
          <p:cNvSpPr>
            <a:spLocks noGrp="1"/>
          </p:cNvSpPr>
          <p:nvPr/>
        </p:nvSpPr>
        <p:spPr>
          <a:xfrm>
            <a:off x="914400" y="2114550"/>
            <a:ext cx="57150" cy="12573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0490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1. Multi-round learning</a:t>
            </a:r>
          </a:p>
        </p:txBody>
      </p:sp>
      <p:sp>
        <p:nvSpPr>
          <p:cNvPr id="10" name="矩形 9"/>
          <p:cNvSpPr>
            <a:spLocks noGrp="1"/>
          </p:cNvSpPr>
          <p:nvPr/>
        </p:nvSpPr>
        <p:spPr>
          <a:xfrm>
            <a:off x="1104900" y="2628900"/>
            <a:ext cx="2781300" cy="514350"/>
          </a:xfrm>
          <a:prstGeom prst="rect">
            <a:avLst/>
          </a:prstGeom>
          <a:noFill/>
          <a:ln w="0">
            <a:noFill/>
            <a:prstDash val="solid"/>
          </a:ln>
        </p:spPr>
        <p:txBody>
          <a:bodyPr wrap="square" lIns="0" tIns="0" rIns="0" bIns="0" anchor="t">
            <a:normAutofit fontScale="99122" lnSpcReduction="20000"/>
          </a:bodyPr>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sz="1200" b="0" i="0">
                <a:solidFill>
                  <a:srgbClr val="231D17"/>
                </a:solidFill>
                <a:latin typeface="Times New Roman" panose="02020603050405020304"/>
                <a:ea typeface="Times New Roman" panose="02020603050405020304"/>
                <a:cs typeface="Times New Roman" panose="02020603050405020304"/>
              </a:rPr>
              <a:t>The task must generate repeated opportunities to update reliance after local errors.</a:t>
            </a:r>
          </a:p>
        </p:txBody>
      </p:sp>
      <p:sp>
        <p:nvSpPr>
          <p:cNvPr id="11" name="圆角矩形 10"/>
          <p:cNvSpPr>
            <a:spLocks noGrp="1"/>
          </p:cNvSpPr>
          <p:nvPr/>
        </p:nvSpPr>
        <p:spPr>
          <a:xfrm>
            <a:off x="4476750" y="2114550"/>
            <a:ext cx="3162300" cy="1257300"/>
          </a:xfrm>
          <a:prstGeom prst="roundRect">
            <a:avLst>
              <a:gd name="adj" fmla="val 9091"/>
            </a:avLst>
          </a:prstGeom>
          <a:solidFill>
            <a:srgbClr val="FFFFFF"/>
          </a:solidFill>
          <a:ln w="9525">
            <a:solidFill>
              <a:srgbClr val="D8CCBB"/>
            </a:solidFill>
            <a:prstDash val="solid"/>
          </a:ln>
        </p:spPr>
      </p:sp>
      <p:sp>
        <p:nvSpPr>
          <p:cNvPr id="12" name="圆角矩形 11"/>
          <p:cNvSpPr>
            <a:spLocks noGrp="1"/>
          </p:cNvSpPr>
          <p:nvPr/>
        </p:nvSpPr>
        <p:spPr>
          <a:xfrm>
            <a:off x="4476750" y="2114550"/>
            <a:ext cx="57150" cy="1257300"/>
          </a:xfrm>
          <a:prstGeom prst="roundRect">
            <a:avLst>
              <a:gd name="adj" fmla="val 33333"/>
            </a:avLst>
          </a:prstGeom>
          <a:solidFill>
            <a:srgbClr val="B77845"/>
          </a:solidFill>
          <a:ln w="9525">
            <a:solidFill>
              <a:srgbClr val="B77845"/>
            </a:solidFill>
            <a:prstDash val="solid"/>
          </a:ln>
        </p:spPr>
      </p:sp>
      <p:sp>
        <p:nvSpPr>
          <p:cNvPr id="13" name="矩形 12"/>
          <p:cNvSpPr>
            <a:spLocks noGrp="1"/>
          </p:cNvSpPr>
          <p:nvPr/>
        </p:nvSpPr>
        <p:spPr>
          <a:xfrm>
            <a:off x="466725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2. </a:t>
            </a:r>
            <a:r>
              <a:rPr lang="en-US" altLang="zh-CN" sz="1275" b="1" i="0">
                <a:solidFill>
                  <a:srgbClr val="B77845"/>
                </a:solidFill>
                <a:latin typeface="Times New Roman" panose="02020603050405020304"/>
                <a:ea typeface="Times New Roman" panose="02020603050405020304"/>
                <a:cs typeface="Times New Roman" panose="02020603050405020304"/>
              </a:rPr>
              <a:t>Learning that stays alive</a:t>
            </a:r>
          </a:p>
        </p:txBody>
      </p:sp>
      <p:sp>
        <p:nvSpPr>
          <p:cNvPr id="14" name="矩形 13"/>
          <p:cNvSpPr>
            <a:spLocks noGrp="1"/>
          </p:cNvSpPr>
          <p:nvPr/>
        </p:nvSpPr>
        <p:spPr>
          <a:xfrm>
            <a:off x="4667250" y="2564765"/>
            <a:ext cx="2957195" cy="514350"/>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The task should require learning, but should not be solved after a few rounds.</a:t>
            </a: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Each round should feel similar, but the environment should keep changing.</a:t>
            </a:r>
          </a:p>
        </p:txBody>
      </p:sp>
      <p:sp>
        <p:nvSpPr>
          <p:cNvPr id="15" name="圆角矩形 14"/>
          <p:cNvSpPr>
            <a:spLocks noGrp="1"/>
          </p:cNvSpPr>
          <p:nvPr/>
        </p:nvSpPr>
        <p:spPr>
          <a:xfrm>
            <a:off x="8039100" y="2114550"/>
            <a:ext cx="3162300" cy="1257300"/>
          </a:xfrm>
          <a:prstGeom prst="roundRect">
            <a:avLst>
              <a:gd name="adj" fmla="val 9091"/>
            </a:avLst>
          </a:prstGeom>
          <a:solidFill>
            <a:srgbClr val="FFFFFF"/>
          </a:solidFill>
          <a:ln w="9525">
            <a:solidFill>
              <a:srgbClr val="D8CCBB"/>
            </a:solidFill>
            <a:prstDash val="solid"/>
          </a:ln>
        </p:spPr>
      </p:sp>
      <p:sp>
        <p:nvSpPr>
          <p:cNvPr id="16" name="圆角矩形 15"/>
          <p:cNvSpPr>
            <a:spLocks noGrp="1"/>
          </p:cNvSpPr>
          <p:nvPr/>
        </p:nvSpPr>
        <p:spPr>
          <a:xfrm>
            <a:off x="8039100" y="2114550"/>
            <a:ext cx="57150" cy="1257300"/>
          </a:xfrm>
          <a:prstGeom prst="roundRect">
            <a:avLst>
              <a:gd name="adj" fmla="val 33333"/>
            </a:avLst>
          </a:prstGeom>
          <a:solidFill>
            <a:srgbClr val="818A68"/>
          </a:solidFill>
          <a:ln w="9525">
            <a:solidFill>
              <a:srgbClr val="818A68"/>
            </a:solidFill>
            <a:prstDash val="solid"/>
          </a:ln>
        </p:spPr>
      </p:sp>
      <p:sp>
        <p:nvSpPr>
          <p:cNvPr id="17" name="矩形 16"/>
          <p:cNvSpPr>
            <a:spLocks noGrp="1"/>
          </p:cNvSpPr>
          <p:nvPr/>
        </p:nvSpPr>
        <p:spPr>
          <a:xfrm>
            <a:off x="8229600" y="2286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3.</a:t>
            </a:r>
            <a:r>
              <a:rPr lang="en-US" altLang="zh-CN" sz="1275" b="1" i="0">
                <a:solidFill>
                  <a:srgbClr val="818A68"/>
                </a:solidFill>
                <a:latin typeface="Times New Roman" panose="02020603050405020304"/>
                <a:ea typeface="Times New Roman" panose="02020603050405020304"/>
                <a:cs typeface="Times New Roman" panose="02020603050405020304"/>
              </a:rPr>
              <a:t>Meaningful AI use</a:t>
            </a:r>
          </a:p>
        </p:txBody>
      </p:sp>
      <p:sp>
        <p:nvSpPr>
          <p:cNvPr id="18" name="矩形 17"/>
          <p:cNvSpPr>
            <a:spLocks noGrp="1"/>
          </p:cNvSpPr>
          <p:nvPr/>
        </p:nvSpPr>
        <p:spPr>
          <a:xfrm>
            <a:off x="8270240" y="2517140"/>
            <a:ext cx="2781300" cy="634365"/>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Participants should feel that AI can actually help.</a:t>
            </a: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b="0" i="0">
                <a:solidFill>
                  <a:srgbClr val="231D17"/>
                </a:solidFill>
                <a:latin typeface="Times New Roman" panose="02020603050405020304"/>
                <a:ea typeface="Times New Roman" panose="02020603050405020304"/>
                <a:cs typeface="Times New Roman" panose="02020603050405020304"/>
              </a:rPr>
              <a:t>The AI should not feel like a simple rule or ordinary calculator.</a:t>
            </a:r>
          </a:p>
        </p:txBody>
      </p:sp>
      <p:sp>
        <p:nvSpPr>
          <p:cNvPr id="19" name="圆角矩形 18"/>
          <p:cNvSpPr>
            <a:spLocks noGrp="1"/>
          </p:cNvSpPr>
          <p:nvPr/>
        </p:nvSpPr>
        <p:spPr>
          <a:xfrm>
            <a:off x="914400" y="3638550"/>
            <a:ext cx="4514215" cy="1257300"/>
          </a:xfrm>
          <a:prstGeom prst="roundRect">
            <a:avLst>
              <a:gd name="adj" fmla="val 9091"/>
            </a:avLst>
          </a:prstGeom>
          <a:solidFill>
            <a:srgbClr val="FFFFFF"/>
          </a:solidFill>
          <a:ln w="9525">
            <a:solidFill>
              <a:srgbClr val="D8CCBB"/>
            </a:solidFill>
            <a:prstDash val="solid"/>
          </a:ln>
        </p:spPr>
      </p:sp>
      <p:sp>
        <p:nvSpPr>
          <p:cNvPr id="20" name="圆角矩形 19"/>
          <p:cNvSpPr>
            <a:spLocks noGrp="1"/>
          </p:cNvSpPr>
          <p:nvPr/>
        </p:nvSpPr>
        <p:spPr>
          <a:xfrm>
            <a:off x="914400" y="3638550"/>
            <a:ext cx="57150" cy="1257300"/>
          </a:xfrm>
          <a:prstGeom prst="roundRect">
            <a:avLst>
              <a:gd name="adj" fmla="val 33333"/>
            </a:avLst>
          </a:prstGeom>
          <a:solidFill>
            <a:srgbClr val="B77845"/>
          </a:solidFill>
          <a:ln w="9525">
            <a:solidFill>
              <a:srgbClr val="B77845"/>
            </a:solidFill>
            <a:prstDash val="solid"/>
          </a:ln>
        </p:spPr>
      </p:sp>
      <p:sp>
        <p:nvSpPr>
          <p:cNvPr id="21" name="矩形 20"/>
          <p:cNvSpPr>
            <a:spLocks noGrp="1"/>
          </p:cNvSpPr>
          <p:nvPr/>
        </p:nvSpPr>
        <p:spPr>
          <a:xfrm>
            <a:off x="1104900" y="3810000"/>
            <a:ext cx="27813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4. </a:t>
            </a:r>
            <a:r>
              <a:rPr lang="en-US" altLang="zh-CN" sz="1275" b="1" i="0">
                <a:solidFill>
                  <a:srgbClr val="B77845"/>
                </a:solidFill>
                <a:latin typeface="Times New Roman" panose="02020603050405020304"/>
                <a:ea typeface="Times New Roman" panose="02020603050405020304"/>
                <a:cs typeface="Times New Roman" panose="02020603050405020304"/>
              </a:rPr>
              <a:t>Clean individual setting</a:t>
            </a:r>
          </a:p>
        </p:txBody>
      </p:sp>
      <p:sp>
        <p:nvSpPr>
          <p:cNvPr id="22" name="矩形 21"/>
          <p:cNvSpPr>
            <a:spLocks noGrp="1"/>
          </p:cNvSpPr>
          <p:nvPr/>
        </p:nvSpPr>
        <p:spPr>
          <a:xfrm>
            <a:off x="1085850" y="4004945"/>
            <a:ext cx="4517390" cy="514350"/>
          </a:xfrm>
          <a:prstGeom prst="rect">
            <a:avLst/>
          </a:prstGeom>
          <a:noFill/>
          <a:ln w="0">
            <a:noFill/>
            <a:prstDash val="solid"/>
          </a:ln>
        </p:spPr>
        <p:txBody>
          <a:bodyPr wrap="square" lIns="0" tIns="0" rIns="0" bIns="0" anchor="t"/>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400" b="0" i="0">
                <a:solidFill>
                  <a:srgbClr val="231D17"/>
                </a:solidFill>
                <a:latin typeface="Times New Roman" panose="02020603050405020304"/>
                <a:ea typeface="Times New Roman" panose="02020603050405020304"/>
                <a:cs typeface="Times New Roman" panose="02020603050405020304"/>
              </a:rPr>
              <a:t>Each participant should face the same standardized environment.</a:t>
            </a: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400" b="0" i="0">
                <a:solidFill>
                  <a:srgbClr val="231D17"/>
                </a:solidFill>
                <a:latin typeface="Times New Roman" panose="02020603050405020304"/>
                <a:ea typeface="Times New Roman" panose="02020603050405020304"/>
                <a:cs typeface="Times New Roman" panose="02020603050405020304"/>
              </a:rPr>
              <a:t>The opponent agent is only used to control difficulty, win rate, and AI error timing.</a:t>
            </a:r>
          </a:p>
        </p:txBody>
      </p:sp>
      <p:sp>
        <p:nvSpPr>
          <p:cNvPr id="23" name="圆角矩形 22"/>
          <p:cNvSpPr>
            <a:spLocks noGrp="1"/>
          </p:cNvSpPr>
          <p:nvPr/>
        </p:nvSpPr>
        <p:spPr>
          <a:xfrm>
            <a:off x="6286500" y="3638550"/>
            <a:ext cx="4914900" cy="1257300"/>
          </a:xfrm>
          <a:prstGeom prst="roundRect">
            <a:avLst>
              <a:gd name="adj" fmla="val 9091"/>
            </a:avLst>
          </a:prstGeom>
          <a:solidFill>
            <a:srgbClr val="FFFFFF"/>
          </a:solidFill>
          <a:ln w="9525">
            <a:solidFill>
              <a:srgbClr val="D8CCBB"/>
            </a:solidFill>
            <a:prstDash val="solid"/>
          </a:ln>
        </p:spPr>
      </p:sp>
      <p:sp>
        <p:nvSpPr>
          <p:cNvPr id="24" name="圆角矩形 23"/>
          <p:cNvSpPr>
            <a:spLocks noGrp="1"/>
          </p:cNvSpPr>
          <p:nvPr/>
        </p:nvSpPr>
        <p:spPr>
          <a:xfrm>
            <a:off x="6286500" y="3638550"/>
            <a:ext cx="57150" cy="1257300"/>
          </a:xfrm>
          <a:prstGeom prst="roundRect">
            <a:avLst>
              <a:gd name="adj" fmla="val 33333"/>
            </a:avLst>
          </a:prstGeom>
          <a:solidFill>
            <a:srgbClr val="B77845"/>
          </a:solidFill>
          <a:ln w="9525">
            <a:solidFill>
              <a:srgbClr val="B77845"/>
            </a:solidFill>
            <a:prstDash val="solid"/>
          </a:ln>
        </p:spPr>
      </p:sp>
      <p:sp>
        <p:nvSpPr>
          <p:cNvPr id="25" name="矩形 24"/>
          <p:cNvSpPr>
            <a:spLocks noGrp="1"/>
          </p:cNvSpPr>
          <p:nvPr/>
        </p:nvSpPr>
        <p:spPr>
          <a:xfrm>
            <a:off x="6477000" y="3810000"/>
            <a:ext cx="4533900" cy="228600"/>
          </a:xfrm>
          <a:prstGeom prst="rect">
            <a:avLst/>
          </a:prstGeom>
          <a:noFill/>
          <a:ln w="0">
            <a:noFill/>
            <a:prstDash val="solid"/>
          </a:ln>
        </p:spPr>
        <p:txBody>
          <a:bodyPr wrap="square" lIns="0" tIns="0" rIns="0" bIns="0" anchor="t">
            <a:normAutofit/>
          </a:bodyPr>
          <a:lstStyle/>
          <a:p>
            <a:pPr algn="l">
              <a:lnSpc>
                <a:spcPct val="108000"/>
              </a:lnSpc>
              <a:buNone/>
              <a:defRPr sz="1275" b="1" i="0">
                <a:solidFill>
                  <a:srgbClr val="B77845"/>
                </a:solidFill>
                <a:latin typeface="Times New Roman" panose="02020603050405020304"/>
                <a:ea typeface="Times New Roman" panose="02020603050405020304"/>
                <a:cs typeface="Times New Roman" panose="02020603050405020304"/>
              </a:defRPr>
            </a:pPr>
            <a:r>
              <a:rPr sz="1275" b="1" i="0">
                <a:solidFill>
                  <a:srgbClr val="B77845"/>
                </a:solidFill>
                <a:latin typeface="Times New Roman" panose="02020603050405020304"/>
                <a:ea typeface="Times New Roman" panose="02020603050405020304"/>
                <a:cs typeface="Times New Roman" panose="02020603050405020304"/>
              </a:rPr>
              <a:t>5.</a:t>
            </a:r>
            <a:r>
              <a:rPr lang="en-US" altLang="zh-CN" sz="1275" b="1" i="0">
                <a:solidFill>
                  <a:srgbClr val="B77845"/>
                </a:solidFill>
                <a:latin typeface="Times New Roman" panose="02020603050405020304"/>
                <a:ea typeface="Times New Roman" panose="02020603050405020304"/>
                <a:cs typeface="Times New Roman" panose="02020603050405020304"/>
              </a:rPr>
              <a:t>Self–AI counterfactual feedback</a:t>
            </a:r>
          </a:p>
        </p:txBody>
      </p:sp>
      <p:sp>
        <p:nvSpPr>
          <p:cNvPr id="26" name="矩形 25"/>
          <p:cNvSpPr>
            <a:spLocks noGrp="1"/>
          </p:cNvSpPr>
          <p:nvPr/>
        </p:nvSpPr>
        <p:spPr>
          <a:xfrm>
            <a:off x="6477000" y="4152900"/>
            <a:ext cx="4533900" cy="514350"/>
          </a:xfrm>
          <a:prstGeom prst="rect">
            <a:avLst/>
          </a:prstGeom>
          <a:noFill/>
          <a:ln w="0">
            <a:noFill/>
            <a:prstDash val="solid"/>
          </a:ln>
        </p:spPr>
        <p:txBody>
          <a:bodyPr wrap="square" lIns="0" tIns="0" rIns="0" bIns="0" anchor="t">
            <a:normAutofit lnSpcReduction="20000"/>
          </a:bodyPr>
          <a:lstStyle/>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Participants must see both outcomes:</a:t>
            </a:r>
          </a:p>
          <a:p>
            <a:pPr algn="l">
              <a:lnSpc>
                <a:spcPct val="108000"/>
              </a:lnSpc>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what happened if they followed themselves, and what would have happened if they followed AI.</a:t>
            </a:r>
          </a:p>
        </p:txBody>
      </p:sp>
      <p:sp>
        <p:nvSpPr>
          <p:cNvPr id="27" name="矩形 26"/>
          <p:cNvSpPr>
            <a:spLocks noGrp="1"/>
          </p:cNvSpPr>
          <p:nvPr/>
        </p:nvSpPr>
        <p:spPr>
          <a:xfrm>
            <a:off x="914400" y="5467350"/>
            <a:ext cx="10287000" cy="361950"/>
          </a:xfrm>
          <a:prstGeom prst="rect">
            <a:avLst/>
          </a:prstGeom>
          <a:noFill/>
          <a:ln w="0">
            <a:noFill/>
            <a:prstDash val="solid"/>
          </a:ln>
        </p:spPr>
        <p:txBody>
          <a:bodyPr wrap="square" lIns="0" tIns="0" rIns="0" bIns="0" anchor="t">
            <a:normAutofit fontScale="98225"/>
          </a:bodyPr>
          <a:lstStyle/>
          <a:p>
            <a:pPr algn="l">
              <a:lnSpc>
                <a:spcPct val="108000"/>
              </a:lnSpc>
              <a:buNone/>
              <a:defRPr sz="1350" b="1" i="0">
                <a:solidFill>
                  <a:srgbClr val="231D17"/>
                </a:solidFill>
                <a:latin typeface="Times New Roman" panose="02020603050405020304"/>
                <a:ea typeface="Times New Roman" panose="02020603050405020304"/>
                <a:cs typeface="Times New Roman" panose="02020603050405020304"/>
              </a:defRPr>
            </a:pPr>
            <a:r>
              <a:rPr sz="1350" b="1" i="0">
                <a:solidFill>
                  <a:srgbClr val="231D17"/>
                </a:solidFill>
                <a:latin typeface="Times New Roman" panose="02020603050405020304"/>
                <a:ea typeface="Times New Roman" panose="02020603050405020304"/>
                <a:cs typeface="Times New Roman" panose="02020603050405020304"/>
              </a:rPr>
              <a:t>Prototype summary: repeated decisions + full feedback + matched average quality let us study path effects rather than fixed source stereotypes.</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 name="矩形 70"/>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4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TASK</a:t>
            </a:r>
          </a:p>
        </p:txBody>
      </p:sp>
      <p:sp>
        <p:nvSpPr>
          <p:cNvPr id="5" name="矩形 4"/>
          <p:cNvSpPr>
            <a:spLocks noGrp="1"/>
          </p:cNvSpPr>
          <p:nvPr/>
        </p:nvSpPr>
        <p:spPr>
          <a:xfrm>
            <a:off x="914400" y="952500"/>
            <a:ext cx="8572500" cy="438150"/>
          </a:xfrm>
          <a:prstGeom prst="rect">
            <a:avLst/>
          </a:prstGeom>
          <a:noFill/>
          <a:ln w="0">
            <a:noFill/>
            <a:prstDash val="solid"/>
          </a:ln>
        </p:spPr>
        <p:txBody>
          <a:bodyPr wrap="square" lIns="0" tIns="0" rIns="0" bIns="0" anchor="t">
            <a:normAutofit/>
          </a:bodyPr>
          <a:lstStyle/>
          <a:p>
            <a:pPr algn="l">
              <a:lnSpc>
                <a:spcPct val="96000"/>
              </a:lnSpc>
              <a:buNone/>
              <a:defRPr sz="2850" b="1" i="0">
                <a:solidFill>
                  <a:srgbClr val="231D17"/>
                </a:solidFill>
                <a:latin typeface="Times New Roman" panose="02020603050405020304"/>
                <a:ea typeface="Times New Roman" panose="02020603050405020304"/>
                <a:cs typeface="Times New Roman" panose="02020603050405020304"/>
              </a:defRPr>
            </a:pPr>
            <a:r>
              <a:rPr sz="2850" b="1" i="0">
                <a:solidFill>
                  <a:srgbClr val="231D17"/>
                </a:solidFill>
                <a:latin typeface="Times New Roman" panose="02020603050405020304"/>
                <a:ea typeface="Times New Roman" panose="02020603050405020304"/>
                <a:cs typeface="Times New Roman" panose="02020603050405020304"/>
              </a:rPr>
              <a:t>A Slot-Machine-Like Allocation Task</a:t>
            </a:r>
          </a:p>
        </p:txBody>
      </p:sp>
      <p:sp>
        <p:nvSpPr>
          <p:cNvPr id="6" name="矩形 5"/>
          <p:cNvSpPr>
            <a:spLocks noGrp="1"/>
          </p:cNvSpPr>
          <p:nvPr/>
        </p:nvSpPr>
        <p:spPr>
          <a:xfrm>
            <a:off x="914400" y="1466850"/>
            <a:ext cx="9715500" cy="400050"/>
          </a:xfrm>
          <a:prstGeom prst="rect">
            <a:avLst/>
          </a:prstGeom>
          <a:noFill/>
          <a:ln w="0">
            <a:noFill/>
            <a:prstDash val="solid"/>
          </a:ln>
        </p:spPr>
        <p:txBody>
          <a:bodyPr wrap="square" lIns="0" tIns="0" rIns="0" bIns="0" anchor="t">
            <a:normAutofit/>
          </a:bodyPr>
          <a:lstStyle/>
          <a:p>
            <a:pPr algn="l">
              <a:lnSpc>
                <a:spcPct val="104000"/>
              </a:lnSpc>
              <a:buNone/>
              <a:defRPr sz="1350" b="0" i="0">
                <a:solidFill>
                  <a:srgbClr val="6F665C"/>
                </a:solidFill>
                <a:latin typeface="Times New Roman" panose="02020603050405020304"/>
                <a:ea typeface="Times New Roman" panose="02020603050405020304"/>
                <a:cs typeface="Times New Roman" panose="02020603050405020304"/>
              </a:defRPr>
            </a:pPr>
            <a:r>
              <a:rPr sz="1350" b="0" i="0">
                <a:solidFill>
                  <a:srgbClr val="6F665C"/>
                </a:solidFill>
                <a:latin typeface="Times New Roman" panose="02020603050405020304"/>
                <a:ea typeface="Times New Roman" panose="02020603050405020304"/>
                <a:cs typeface="Times New Roman" panose="02020603050405020304"/>
              </a:rPr>
              <a:t>Participants repeatedly allocate 100 points across three abstract channels, then choose between their own allocation and Agent-AI's allocation.</a:t>
            </a:r>
          </a:p>
        </p:txBody>
      </p:sp>
      <p:sp>
        <p:nvSpPr>
          <p:cNvPr id="7" name="圆角矩形 6"/>
          <p:cNvSpPr>
            <a:spLocks noGrp="1"/>
          </p:cNvSpPr>
          <p:nvPr/>
        </p:nvSpPr>
        <p:spPr>
          <a:xfrm>
            <a:off x="914400" y="2057400"/>
            <a:ext cx="6858000" cy="3714750"/>
          </a:xfrm>
          <a:prstGeom prst="roundRect">
            <a:avLst>
              <a:gd name="adj" fmla="val 3077"/>
            </a:avLst>
          </a:prstGeom>
          <a:solidFill>
            <a:srgbClr val="FBF7F0"/>
          </a:solidFill>
          <a:ln w="9525">
            <a:solidFill>
              <a:srgbClr val="D8CCBB"/>
            </a:solidFill>
            <a:prstDash val="solid"/>
          </a:ln>
        </p:spPr>
      </p:sp>
      <p:sp>
        <p:nvSpPr>
          <p:cNvPr id="8" name="矩形 7"/>
          <p:cNvSpPr>
            <a:spLocks noGrp="1"/>
          </p:cNvSpPr>
          <p:nvPr/>
        </p:nvSpPr>
        <p:spPr>
          <a:xfrm>
            <a:off x="1181100" y="2247900"/>
            <a:ext cx="3333750" cy="266700"/>
          </a:xfrm>
          <a:prstGeom prst="rect">
            <a:avLst/>
          </a:prstGeom>
          <a:noFill/>
          <a:ln w="0">
            <a:noFill/>
            <a:prstDash val="solid"/>
          </a:ln>
        </p:spPr>
        <p:txBody>
          <a:bodyPr wrap="square" lIns="0" tIns="0" rIns="0" bIns="0" anchor="t">
            <a:normAutofit fontScale="97547" lnSpcReduction="10000"/>
          </a:bodyPr>
          <a:lstStyle/>
          <a:p>
            <a:pPr algn="l">
              <a:lnSpc>
                <a:spcPct val="104000"/>
              </a:lnSpc>
              <a:buNone/>
              <a:defRPr sz="1725" b="1" i="0">
                <a:solidFill>
                  <a:srgbClr val="B77845"/>
                </a:solidFill>
                <a:latin typeface="Times New Roman" panose="02020603050405020304"/>
                <a:ea typeface="Times New Roman" panose="02020603050405020304"/>
                <a:cs typeface="Times New Roman" panose="02020603050405020304"/>
              </a:defRPr>
            </a:pPr>
            <a:r>
              <a:rPr sz="1725" b="1" i="0">
                <a:solidFill>
                  <a:srgbClr val="B77845"/>
                </a:solidFill>
                <a:latin typeface="Times New Roman" panose="02020603050405020304"/>
                <a:ea typeface="Times New Roman" panose="02020603050405020304"/>
                <a:cs typeface="Times New Roman" panose="02020603050405020304"/>
              </a:rPr>
              <a:t>Mock participant screen: Round t</a:t>
            </a:r>
          </a:p>
        </p:txBody>
      </p:sp>
      <p:sp>
        <p:nvSpPr>
          <p:cNvPr id="9" name="矩形 8"/>
          <p:cNvSpPr>
            <a:spLocks noGrp="1"/>
          </p:cNvSpPr>
          <p:nvPr/>
        </p:nvSpPr>
        <p:spPr>
          <a:xfrm>
            <a:off x="5314950" y="2286000"/>
            <a:ext cx="2000250" cy="190500"/>
          </a:xfrm>
          <a:prstGeom prst="rect">
            <a:avLst/>
          </a:prstGeom>
          <a:noFill/>
          <a:ln w="0">
            <a:noFill/>
            <a:prstDash val="solid"/>
          </a:ln>
        </p:spPr>
        <p:txBody>
          <a:bodyPr wrap="square" lIns="0" tIns="0" rIns="0" bIns="0" anchor="t">
            <a:normAutofit/>
          </a:bodyPr>
          <a:lstStyle/>
          <a:p>
            <a:pPr algn="r">
              <a:lnSpc>
                <a:spcPct val="104000"/>
              </a:lnSpc>
              <a:buNone/>
              <a:defRPr sz="1050" b="1" i="0">
                <a:solidFill>
                  <a:srgbClr val="23384A"/>
                </a:solidFill>
                <a:latin typeface="Times New Roman" panose="02020603050405020304"/>
                <a:ea typeface="Times New Roman" panose="02020603050405020304"/>
                <a:cs typeface="Times New Roman" panose="02020603050405020304"/>
              </a:defRPr>
            </a:pPr>
            <a:r>
              <a:rPr sz="1050" b="1" i="0">
                <a:solidFill>
                  <a:srgbClr val="23384A"/>
                </a:solidFill>
                <a:latin typeface="Times New Roman" panose="02020603050405020304"/>
                <a:ea typeface="Times New Roman" panose="02020603050405020304"/>
                <a:cs typeface="Times New Roman" panose="02020603050405020304"/>
              </a:rPr>
              <a:t>No real-world label</a:t>
            </a:r>
          </a:p>
        </p:txBody>
      </p:sp>
      <p:sp>
        <p:nvSpPr>
          <p:cNvPr id="10" name="圆角矩形 9"/>
          <p:cNvSpPr>
            <a:spLocks noGrp="1"/>
          </p:cNvSpPr>
          <p:nvPr/>
        </p:nvSpPr>
        <p:spPr>
          <a:xfrm>
            <a:off x="1200150" y="2686050"/>
            <a:ext cx="1485900" cy="1123950"/>
          </a:xfrm>
          <a:prstGeom prst="roundRect">
            <a:avLst>
              <a:gd name="adj" fmla="val 6780"/>
            </a:avLst>
          </a:prstGeom>
          <a:solidFill>
            <a:srgbClr val="FFFFFF"/>
          </a:solidFill>
          <a:ln w="9525">
            <a:solidFill>
              <a:srgbClr val="D8CCBB"/>
            </a:solidFill>
            <a:prstDash val="solid"/>
          </a:ln>
        </p:spPr>
      </p:sp>
      <p:sp>
        <p:nvSpPr>
          <p:cNvPr id="11" name="矩形 10"/>
          <p:cNvSpPr>
            <a:spLocks noGrp="1"/>
          </p:cNvSpPr>
          <p:nvPr/>
        </p:nvSpPr>
        <p:spPr>
          <a:xfrm>
            <a:off x="13335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α</a:t>
            </a:r>
          </a:p>
        </p:txBody>
      </p:sp>
      <p:sp>
        <p:nvSpPr>
          <p:cNvPr id="12" name="矩形 11"/>
          <p:cNvSpPr>
            <a:spLocks noGrp="1"/>
          </p:cNvSpPr>
          <p:nvPr/>
        </p:nvSpPr>
        <p:spPr>
          <a:xfrm>
            <a:off x="18669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p>
        </p:txBody>
      </p:sp>
      <p:sp>
        <p:nvSpPr>
          <p:cNvPr id="13" name="矩形 12"/>
          <p:cNvSpPr>
            <a:spLocks noGrp="1"/>
          </p:cNvSpPr>
          <p:nvPr/>
        </p:nvSpPr>
        <p:spPr>
          <a:xfrm>
            <a:off x="1371600" y="3226320"/>
            <a:ext cx="76200" cy="259830"/>
          </a:xfrm>
          <a:prstGeom prst="rect">
            <a:avLst/>
          </a:prstGeom>
          <a:solidFill>
            <a:srgbClr val="B77845"/>
          </a:solidFill>
          <a:ln w="0">
            <a:solidFill>
              <a:srgbClr val="B77845"/>
            </a:solidFill>
            <a:prstDash val="solid"/>
          </a:ln>
        </p:spPr>
      </p:sp>
      <p:sp>
        <p:nvSpPr>
          <p:cNvPr id="14" name="矩形 13"/>
          <p:cNvSpPr>
            <a:spLocks noGrp="1"/>
          </p:cNvSpPr>
          <p:nvPr/>
        </p:nvSpPr>
        <p:spPr>
          <a:xfrm>
            <a:off x="1495425" y="3204460"/>
            <a:ext cx="76200" cy="281690"/>
          </a:xfrm>
          <a:prstGeom prst="rect">
            <a:avLst/>
          </a:prstGeom>
          <a:solidFill>
            <a:srgbClr val="B77845"/>
          </a:solidFill>
          <a:ln w="0">
            <a:solidFill>
              <a:srgbClr val="B77845"/>
            </a:solidFill>
            <a:prstDash val="solid"/>
          </a:ln>
        </p:spPr>
      </p:sp>
      <p:sp>
        <p:nvSpPr>
          <p:cNvPr id="15" name="矩形 14"/>
          <p:cNvSpPr>
            <a:spLocks noGrp="1"/>
          </p:cNvSpPr>
          <p:nvPr/>
        </p:nvSpPr>
        <p:spPr>
          <a:xfrm>
            <a:off x="1619250" y="3178227"/>
            <a:ext cx="76200" cy="307923"/>
          </a:xfrm>
          <a:prstGeom prst="rect">
            <a:avLst/>
          </a:prstGeom>
          <a:solidFill>
            <a:srgbClr val="B77845"/>
          </a:solidFill>
          <a:ln w="0">
            <a:solidFill>
              <a:srgbClr val="B77845"/>
            </a:solidFill>
            <a:prstDash val="solid"/>
          </a:ln>
        </p:spPr>
      </p:sp>
      <p:sp>
        <p:nvSpPr>
          <p:cNvPr id="16" name="矩形 15"/>
          <p:cNvSpPr>
            <a:spLocks noGrp="1"/>
          </p:cNvSpPr>
          <p:nvPr/>
        </p:nvSpPr>
        <p:spPr>
          <a:xfrm>
            <a:off x="1743075" y="3160739"/>
            <a:ext cx="76200" cy="325411"/>
          </a:xfrm>
          <a:prstGeom prst="rect">
            <a:avLst/>
          </a:prstGeom>
          <a:solidFill>
            <a:srgbClr val="B77845"/>
          </a:solidFill>
          <a:ln w="0">
            <a:solidFill>
              <a:srgbClr val="B77845"/>
            </a:solidFill>
            <a:prstDash val="solid"/>
          </a:ln>
        </p:spPr>
      </p:sp>
      <p:sp>
        <p:nvSpPr>
          <p:cNvPr id="17" name="矩形 16"/>
          <p:cNvSpPr>
            <a:spLocks noGrp="1"/>
          </p:cNvSpPr>
          <p:nvPr/>
        </p:nvSpPr>
        <p:spPr>
          <a:xfrm>
            <a:off x="1866900" y="3143250"/>
            <a:ext cx="76200" cy="342900"/>
          </a:xfrm>
          <a:prstGeom prst="rect">
            <a:avLst/>
          </a:prstGeom>
          <a:solidFill>
            <a:srgbClr val="B77845"/>
          </a:solidFill>
          <a:ln w="0">
            <a:solidFill>
              <a:srgbClr val="B77845"/>
            </a:solidFill>
            <a:prstDash val="solid"/>
          </a:ln>
        </p:spPr>
      </p:sp>
      <p:sp>
        <p:nvSpPr>
          <p:cNvPr id="18" name="圆角矩形 17"/>
          <p:cNvSpPr>
            <a:spLocks noGrp="1"/>
          </p:cNvSpPr>
          <p:nvPr/>
        </p:nvSpPr>
        <p:spPr>
          <a:xfrm>
            <a:off x="1371600" y="3467100"/>
            <a:ext cx="1143000" cy="114300"/>
          </a:xfrm>
          <a:prstGeom prst="roundRect">
            <a:avLst>
              <a:gd name="adj" fmla="val 16667"/>
            </a:avLst>
          </a:prstGeom>
          <a:solidFill>
            <a:srgbClr val="EFE6D8"/>
          </a:solidFill>
          <a:ln w="0">
            <a:solidFill>
              <a:srgbClr val="EFE6D8"/>
            </a:solidFill>
            <a:prstDash val="solid"/>
          </a:ln>
        </p:spPr>
      </p:sp>
      <p:sp>
        <p:nvSpPr>
          <p:cNvPr id="19" name="圆角矩形 18"/>
          <p:cNvSpPr>
            <a:spLocks noGrp="1"/>
          </p:cNvSpPr>
          <p:nvPr/>
        </p:nvSpPr>
        <p:spPr>
          <a:xfrm>
            <a:off x="1371600" y="3467100"/>
            <a:ext cx="457200" cy="114300"/>
          </a:xfrm>
          <a:prstGeom prst="roundRect">
            <a:avLst>
              <a:gd name="adj" fmla="val 16667"/>
            </a:avLst>
          </a:prstGeom>
          <a:solidFill>
            <a:srgbClr val="B77845"/>
          </a:solidFill>
          <a:ln w="0">
            <a:solidFill>
              <a:srgbClr val="B77845"/>
            </a:solidFill>
            <a:prstDash val="solid"/>
          </a:ln>
        </p:spPr>
      </p:sp>
      <p:sp>
        <p:nvSpPr>
          <p:cNvPr id="20" name="矩形 19"/>
          <p:cNvSpPr>
            <a:spLocks noGrp="1"/>
          </p:cNvSpPr>
          <p:nvPr/>
        </p:nvSpPr>
        <p:spPr>
          <a:xfrm>
            <a:off x="13716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40 points</a:t>
            </a:r>
          </a:p>
        </p:txBody>
      </p:sp>
      <p:sp>
        <p:nvSpPr>
          <p:cNvPr id="21" name="圆角矩形 20"/>
          <p:cNvSpPr>
            <a:spLocks noGrp="1"/>
          </p:cNvSpPr>
          <p:nvPr/>
        </p:nvSpPr>
        <p:spPr>
          <a:xfrm>
            <a:off x="2876550" y="2686050"/>
            <a:ext cx="1485900" cy="1123950"/>
          </a:xfrm>
          <a:prstGeom prst="roundRect">
            <a:avLst>
              <a:gd name="adj" fmla="val 6780"/>
            </a:avLst>
          </a:prstGeom>
          <a:solidFill>
            <a:srgbClr val="FFFFFF"/>
          </a:solidFill>
          <a:ln w="9525">
            <a:solidFill>
              <a:srgbClr val="D8CCBB"/>
            </a:solidFill>
            <a:prstDash val="solid"/>
          </a:ln>
        </p:spPr>
      </p:sp>
      <p:sp>
        <p:nvSpPr>
          <p:cNvPr id="22" name="矩形 21"/>
          <p:cNvSpPr>
            <a:spLocks noGrp="1"/>
          </p:cNvSpPr>
          <p:nvPr/>
        </p:nvSpPr>
        <p:spPr>
          <a:xfrm>
            <a:off x="30099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818A68"/>
                </a:solidFill>
                <a:latin typeface="Times New Roman" panose="02020603050405020304"/>
                <a:ea typeface="Times New Roman" panose="02020603050405020304"/>
                <a:cs typeface="Times New Roman" panose="02020603050405020304"/>
              </a:defRPr>
            </a:pPr>
            <a:r>
              <a:rPr sz="1650" b="1" i="0">
                <a:solidFill>
                  <a:srgbClr val="818A68"/>
                </a:solidFill>
                <a:latin typeface="Times New Roman" panose="02020603050405020304"/>
                <a:ea typeface="Times New Roman" panose="02020603050405020304"/>
                <a:cs typeface="Times New Roman" panose="02020603050405020304"/>
              </a:rPr>
              <a:t>β</a:t>
            </a:r>
          </a:p>
        </p:txBody>
      </p:sp>
      <p:sp>
        <p:nvSpPr>
          <p:cNvPr id="23" name="矩形 22"/>
          <p:cNvSpPr>
            <a:spLocks noGrp="1"/>
          </p:cNvSpPr>
          <p:nvPr/>
        </p:nvSpPr>
        <p:spPr>
          <a:xfrm>
            <a:off x="35433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p>
        </p:txBody>
      </p:sp>
      <p:sp>
        <p:nvSpPr>
          <p:cNvPr id="24" name="矩形 23"/>
          <p:cNvSpPr>
            <a:spLocks noGrp="1"/>
          </p:cNvSpPr>
          <p:nvPr/>
        </p:nvSpPr>
        <p:spPr>
          <a:xfrm>
            <a:off x="3048000" y="3143250"/>
            <a:ext cx="76200" cy="342900"/>
          </a:xfrm>
          <a:prstGeom prst="rect">
            <a:avLst/>
          </a:prstGeom>
          <a:solidFill>
            <a:srgbClr val="818A68"/>
          </a:solidFill>
          <a:ln w="0">
            <a:solidFill>
              <a:srgbClr val="818A68"/>
            </a:solidFill>
            <a:prstDash val="solid"/>
          </a:ln>
        </p:spPr>
      </p:sp>
      <p:sp>
        <p:nvSpPr>
          <p:cNvPr id="25" name="矩形 24"/>
          <p:cNvSpPr>
            <a:spLocks noGrp="1"/>
          </p:cNvSpPr>
          <p:nvPr/>
        </p:nvSpPr>
        <p:spPr>
          <a:xfrm>
            <a:off x="3171825" y="3153918"/>
            <a:ext cx="76200" cy="332232"/>
          </a:xfrm>
          <a:prstGeom prst="rect">
            <a:avLst/>
          </a:prstGeom>
          <a:solidFill>
            <a:srgbClr val="818A68"/>
          </a:solidFill>
          <a:ln w="0">
            <a:solidFill>
              <a:srgbClr val="818A68"/>
            </a:solidFill>
            <a:prstDash val="solid"/>
          </a:ln>
        </p:spPr>
      </p:sp>
      <p:sp>
        <p:nvSpPr>
          <p:cNvPr id="26" name="矩形 25"/>
          <p:cNvSpPr>
            <a:spLocks noGrp="1"/>
          </p:cNvSpPr>
          <p:nvPr/>
        </p:nvSpPr>
        <p:spPr>
          <a:xfrm>
            <a:off x="3295650" y="3168142"/>
            <a:ext cx="76200" cy="318008"/>
          </a:xfrm>
          <a:prstGeom prst="rect">
            <a:avLst/>
          </a:prstGeom>
          <a:solidFill>
            <a:srgbClr val="818A68"/>
          </a:solidFill>
          <a:ln w="0">
            <a:solidFill>
              <a:srgbClr val="818A68"/>
            </a:solidFill>
            <a:prstDash val="solid"/>
          </a:ln>
        </p:spPr>
      </p:sp>
      <p:sp>
        <p:nvSpPr>
          <p:cNvPr id="27" name="矩形 26"/>
          <p:cNvSpPr>
            <a:spLocks noGrp="1"/>
          </p:cNvSpPr>
          <p:nvPr/>
        </p:nvSpPr>
        <p:spPr>
          <a:xfrm>
            <a:off x="3419475" y="3185922"/>
            <a:ext cx="76200" cy="300228"/>
          </a:xfrm>
          <a:prstGeom prst="rect">
            <a:avLst/>
          </a:prstGeom>
          <a:solidFill>
            <a:srgbClr val="818A68"/>
          </a:solidFill>
          <a:ln w="0">
            <a:solidFill>
              <a:srgbClr val="818A68"/>
            </a:solidFill>
            <a:prstDash val="solid"/>
          </a:ln>
        </p:spPr>
      </p:sp>
      <p:sp>
        <p:nvSpPr>
          <p:cNvPr id="28" name="矩形 27"/>
          <p:cNvSpPr>
            <a:spLocks noGrp="1"/>
          </p:cNvSpPr>
          <p:nvPr/>
        </p:nvSpPr>
        <p:spPr>
          <a:xfrm>
            <a:off x="3543300" y="3200146"/>
            <a:ext cx="76200" cy="286004"/>
          </a:xfrm>
          <a:prstGeom prst="rect">
            <a:avLst/>
          </a:prstGeom>
          <a:solidFill>
            <a:srgbClr val="818A68"/>
          </a:solidFill>
          <a:ln w="0">
            <a:solidFill>
              <a:srgbClr val="818A68"/>
            </a:solidFill>
            <a:prstDash val="solid"/>
          </a:ln>
        </p:spPr>
      </p:sp>
      <p:sp>
        <p:nvSpPr>
          <p:cNvPr id="29" name="圆角矩形 28"/>
          <p:cNvSpPr>
            <a:spLocks noGrp="1"/>
          </p:cNvSpPr>
          <p:nvPr/>
        </p:nvSpPr>
        <p:spPr>
          <a:xfrm>
            <a:off x="3048000" y="3467100"/>
            <a:ext cx="1143000" cy="114300"/>
          </a:xfrm>
          <a:prstGeom prst="roundRect">
            <a:avLst>
              <a:gd name="adj" fmla="val 16667"/>
            </a:avLst>
          </a:prstGeom>
          <a:solidFill>
            <a:srgbClr val="EFE6D8"/>
          </a:solidFill>
          <a:ln w="0">
            <a:solidFill>
              <a:srgbClr val="EFE6D8"/>
            </a:solidFill>
            <a:prstDash val="solid"/>
          </a:ln>
        </p:spPr>
      </p:sp>
      <p:sp>
        <p:nvSpPr>
          <p:cNvPr id="30" name="圆角矩形 29"/>
          <p:cNvSpPr>
            <a:spLocks noGrp="1"/>
          </p:cNvSpPr>
          <p:nvPr/>
        </p:nvSpPr>
        <p:spPr>
          <a:xfrm>
            <a:off x="3048000" y="3467100"/>
            <a:ext cx="400050" cy="114300"/>
          </a:xfrm>
          <a:prstGeom prst="roundRect">
            <a:avLst>
              <a:gd name="adj" fmla="val 16667"/>
            </a:avLst>
          </a:prstGeom>
          <a:solidFill>
            <a:srgbClr val="818A68"/>
          </a:solidFill>
          <a:ln w="0">
            <a:solidFill>
              <a:srgbClr val="818A68"/>
            </a:solidFill>
            <a:prstDash val="solid"/>
          </a:ln>
        </p:spPr>
      </p:sp>
      <p:sp>
        <p:nvSpPr>
          <p:cNvPr id="31" name="矩形 30"/>
          <p:cNvSpPr>
            <a:spLocks noGrp="1"/>
          </p:cNvSpPr>
          <p:nvPr/>
        </p:nvSpPr>
        <p:spPr>
          <a:xfrm>
            <a:off x="30480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35 points</a:t>
            </a:r>
          </a:p>
        </p:txBody>
      </p:sp>
      <p:sp>
        <p:nvSpPr>
          <p:cNvPr id="32" name="圆角矩形 31"/>
          <p:cNvSpPr>
            <a:spLocks noGrp="1"/>
          </p:cNvSpPr>
          <p:nvPr/>
        </p:nvSpPr>
        <p:spPr>
          <a:xfrm>
            <a:off x="4552950" y="2686050"/>
            <a:ext cx="1485900" cy="1123950"/>
          </a:xfrm>
          <a:prstGeom prst="roundRect">
            <a:avLst>
              <a:gd name="adj" fmla="val 6780"/>
            </a:avLst>
          </a:prstGeom>
          <a:solidFill>
            <a:srgbClr val="FFFFFF"/>
          </a:solidFill>
          <a:ln w="9525">
            <a:solidFill>
              <a:srgbClr val="D8CCBB"/>
            </a:solidFill>
            <a:prstDash val="solid"/>
          </a:ln>
        </p:spPr>
      </p:sp>
      <p:sp>
        <p:nvSpPr>
          <p:cNvPr id="33" name="矩形 32"/>
          <p:cNvSpPr>
            <a:spLocks noGrp="1"/>
          </p:cNvSpPr>
          <p:nvPr/>
        </p:nvSpPr>
        <p:spPr>
          <a:xfrm>
            <a:off x="4686300" y="2800350"/>
            <a:ext cx="514350" cy="228600"/>
          </a:xfrm>
          <a:prstGeom prst="rect">
            <a:avLst/>
          </a:prstGeom>
          <a:noFill/>
          <a:ln w="0">
            <a:noFill/>
            <a:prstDash val="solid"/>
          </a:ln>
        </p:spPr>
        <p:txBody>
          <a:bodyPr wrap="square" lIns="0" tIns="0" rIns="0" bIns="0" anchor="t">
            <a:normAutofit fontScale="87413"/>
          </a:bodyPr>
          <a:lstStyle/>
          <a:p>
            <a:pPr algn="l">
              <a:lnSpc>
                <a:spcPct val="104000"/>
              </a:lnSpc>
              <a:buNone/>
              <a:defRPr sz="1650" b="1" i="0">
                <a:solidFill>
                  <a:srgbClr val="23384A"/>
                </a:solidFill>
                <a:latin typeface="Times New Roman" panose="02020603050405020304"/>
                <a:ea typeface="Times New Roman" panose="02020603050405020304"/>
                <a:cs typeface="Times New Roman" panose="02020603050405020304"/>
              </a:defRPr>
            </a:pPr>
            <a:r>
              <a:rPr sz="1650" b="1" i="0">
                <a:solidFill>
                  <a:srgbClr val="23384A"/>
                </a:solidFill>
                <a:latin typeface="Times New Roman" panose="02020603050405020304"/>
                <a:ea typeface="Times New Roman" panose="02020603050405020304"/>
                <a:cs typeface="Times New Roman" panose="02020603050405020304"/>
              </a:rPr>
              <a:t>γ</a:t>
            </a:r>
          </a:p>
        </p:txBody>
      </p:sp>
      <p:sp>
        <p:nvSpPr>
          <p:cNvPr id="34" name="矩形 33"/>
          <p:cNvSpPr>
            <a:spLocks noGrp="1"/>
          </p:cNvSpPr>
          <p:nvPr/>
        </p:nvSpPr>
        <p:spPr>
          <a:xfrm>
            <a:off x="5219700" y="2838450"/>
            <a:ext cx="666750" cy="152400"/>
          </a:xfrm>
          <a:prstGeom prst="rect">
            <a:avLst/>
          </a:prstGeom>
          <a:noFill/>
          <a:ln w="0">
            <a:noFill/>
            <a:prstDash val="solid"/>
          </a:ln>
        </p:spPr>
        <p:txBody>
          <a:bodyPr wrap="square" lIns="0" tIns="0" rIns="0" bIns="0" anchor="t">
            <a:normAutofit/>
          </a:bodyPr>
          <a:lstStyle/>
          <a:p>
            <a:pPr algn="r">
              <a:lnSpc>
                <a:spcPct val="104000"/>
              </a:lnSpc>
              <a:buNone/>
              <a:defRPr sz="825" b="0" i="0">
                <a:solidFill>
                  <a:srgbClr val="6F665C"/>
                </a:solidFill>
                <a:latin typeface="Times New Roman" panose="02020603050405020304"/>
                <a:ea typeface="Times New Roman" panose="02020603050405020304"/>
                <a:cs typeface="Times New Roman" panose="02020603050405020304"/>
              </a:defRPr>
            </a:pPr>
            <a:r>
              <a:rPr sz="825" b="0" i="0">
                <a:solidFill>
                  <a:srgbClr val="6F665C"/>
                </a:solidFill>
                <a:latin typeface="Times New Roman" panose="02020603050405020304"/>
                <a:ea typeface="Times New Roman" panose="02020603050405020304"/>
                <a:cs typeface="Times New Roman" panose="02020603050405020304"/>
              </a:rPr>
              <a:t>recent payoff</a:t>
            </a:r>
          </a:p>
        </p:txBody>
      </p:sp>
      <p:sp>
        <p:nvSpPr>
          <p:cNvPr id="35" name="矩形 34"/>
          <p:cNvSpPr>
            <a:spLocks noGrp="1"/>
          </p:cNvSpPr>
          <p:nvPr/>
        </p:nvSpPr>
        <p:spPr>
          <a:xfrm>
            <a:off x="4724400" y="3259628"/>
            <a:ext cx="76200" cy="226522"/>
          </a:xfrm>
          <a:prstGeom prst="rect">
            <a:avLst/>
          </a:prstGeom>
          <a:solidFill>
            <a:srgbClr val="23384A"/>
          </a:solidFill>
          <a:ln w="0">
            <a:solidFill>
              <a:srgbClr val="23384A"/>
            </a:solidFill>
            <a:prstDash val="solid"/>
          </a:ln>
        </p:spPr>
      </p:sp>
      <p:sp>
        <p:nvSpPr>
          <p:cNvPr id="36" name="矩形 35"/>
          <p:cNvSpPr>
            <a:spLocks noGrp="1"/>
          </p:cNvSpPr>
          <p:nvPr/>
        </p:nvSpPr>
        <p:spPr>
          <a:xfrm>
            <a:off x="4848225" y="3225685"/>
            <a:ext cx="76200" cy="260465"/>
          </a:xfrm>
          <a:prstGeom prst="rect">
            <a:avLst/>
          </a:prstGeom>
          <a:solidFill>
            <a:srgbClr val="23384A"/>
          </a:solidFill>
          <a:ln w="0">
            <a:solidFill>
              <a:srgbClr val="23384A"/>
            </a:solidFill>
            <a:prstDash val="solid"/>
          </a:ln>
        </p:spPr>
      </p:sp>
      <p:sp>
        <p:nvSpPr>
          <p:cNvPr id="37" name="矩形 36"/>
          <p:cNvSpPr>
            <a:spLocks noGrp="1"/>
          </p:cNvSpPr>
          <p:nvPr/>
        </p:nvSpPr>
        <p:spPr>
          <a:xfrm>
            <a:off x="4972050" y="3196590"/>
            <a:ext cx="76200" cy="289560"/>
          </a:xfrm>
          <a:prstGeom prst="rect">
            <a:avLst/>
          </a:prstGeom>
          <a:solidFill>
            <a:srgbClr val="23384A"/>
          </a:solidFill>
          <a:ln w="0">
            <a:solidFill>
              <a:srgbClr val="23384A"/>
            </a:solidFill>
            <a:prstDash val="solid"/>
          </a:ln>
        </p:spPr>
      </p:sp>
      <p:sp>
        <p:nvSpPr>
          <p:cNvPr id="38" name="矩形 37"/>
          <p:cNvSpPr>
            <a:spLocks noGrp="1"/>
          </p:cNvSpPr>
          <p:nvPr/>
        </p:nvSpPr>
        <p:spPr>
          <a:xfrm>
            <a:off x="5095875" y="3172345"/>
            <a:ext cx="76200" cy="313805"/>
          </a:xfrm>
          <a:prstGeom prst="rect">
            <a:avLst/>
          </a:prstGeom>
          <a:solidFill>
            <a:srgbClr val="23384A"/>
          </a:solidFill>
          <a:ln w="0">
            <a:solidFill>
              <a:srgbClr val="23384A"/>
            </a:solidFill>
            <a:prstDash val="solid"/>
          </a:ln>
        </p:spPr>
      </p:sp>
      <p:sp>
        <p:nvSpPr>
          <p:cNvPr id="39" name="矩形 38"/>
          <p:cNvSpPr>
            <a:spLocks noGrp="1"/>
          </p:cNvSpPr>
          <p:nvPr/>
        </p:nvSpPr>
        <p:spPr>
          <a:xfrm>
            <a:off x="5219700" y="3143250"/>
            <a:ext cx="76200" cy="342900"/>
          </a:xfrm>
          <a:prstGeom prst="rect">
            <a:avLst/>
          </a:prstGeom>
          <a:solidFill>
            <a:srgbClr val="23384A"/>
          </a:solidFill>
          <a:ln w="0">
            <a:solidFill>
              <a:srgbClr val="23384A"/>
            </a:solidFill>
            <a:prstDash val="solid"/>
          </a:ln>
        </p:spPr>
      </p:sp>
      <p:sp>
        <p:nvSpPr>
          <p:cNvPr id="40" name="圆角矩形 39"/>
          <p:cNvSpPr>
            <a:spLocks noGrp="1"/>
          </p:cNvSpPr>
          <p:nvPr/>
        </p:nvSpPr>
        <p:spPr>
          <a:xfrm>
            <a:off x="4724400" y="3467100"/>
            <a:ext cx="1143000" cy="114300"/>
          </a:xfrm>
          <a:prstGeom prst="roundRect">
            <a:avLst>
              <a:gd name="adj" fmla="val 16667"/>
            </a:avLst>
          </a:prstGeom>
          <a:solidFill>
            <a:srgbClr val="EFE6D8"/>
          </a:solidFill>
          <a:ln w="0">
            <a:solidFill>
              <a:srgbClr val="EFE6D8"/>
            </a:solidFill>
            <a:prstDash val="solid"/>
          </a:ln>
        </p:spPr>
      </p:sp>
      <p:sp>
        <p:nvSpPr>
          <p:cNvPr id="41" name="圆角矩形 40"/>
          <p:cNvSpPr>
            <a:spLocks noGrp="1"/>
          </p:cNvSpPr>
          <p:nvPr/>
        </p:nvSpPr>
        <p:spPr>
          <a:xfrm>
            <a:off x="4724400" y="3467100"/>
            <a:ext cx="285750" cy="114300"/>
          </a:xfrm>
          <a:prstGeom prst="roundRect">
            <a:avLst>
              <a:gd name="adj" fmla="val 16667"/>
            </a:avLst>
          </a:prstGeom>
          <a:solidFill>
            <a:srgbClr val="23384A"/>
          </a:solidFill>
          <a:ln w="0">
            <a:solidFill>
              <a:srgbClr val="23384A"/>
            </a:solidFill>
            <a:prstDash val="solid"/>
          </a:ln>
        </p:spPr>
      </p:sp>
      <p:sp>
        <p:nvSpPr>
          <p:cNvPr id="42" name="矩形 41"/>
          <p:cNvSpPr>
            <a:spLocks noGrp="1"/>
          </p:cNvSpPr>
          <p:nvPr/>
        </p:nvSpPr>
        <p:spPr>
          <a:xfrm>
            <a:off x="4724400" y="3619500"/>
            <a:ext cx="1143000" cy="133350"/>
          </a:xfrm>
          <a:prstGeom prst="rect">
            <a:avLst/>
          </a:prstGeom>
          <a:noFill/>
          <a:ln w="0">
            <a:noFill/>
            <a:prstDash val="solid"/>
          </a:ln>
        </p:spPr>
        <p:txBody>
          <a:bodyPr wrap="square" lIns="0" tIns="0" rIns="0" bIns="0" anchor="t">
            <a:normAutofit fontScale="93483"/>
          </a:bodyPr>
          <a:lstStyle/>
          <a:p>
            <a:pPr algn="ctr">
              <a:lnSpc>
                <a:spcPct val="104000"/>
              </a:lnSpc>
              <a:buNone/>
              <a:defRPr sz="900" b="1" i="0">
                <a:solidFill>
                  <a:srgbClr val="231D17"/>
                </a:solidFill>
                <a:latin typeface="Times New Roman" panose="02020603050405020304"/>
                <a:ea typeface="Times New Roman" panose="02020603050405020304"/>
                <a:cs typeface="Times New Roman" panose="02020603050405020304"/>
              </a:defRPr>
            </a:pPr>
            <a:r>
              <a:rPr sz="900" b="1" i="0">
                <a:solidFill>
                  <a:srgbClr val="231D17"/>
                </a:solidFill>
                <a:latin typeface="Times New Roman" panose="02020603050405020304"/>
                <a:ea typeface="Times New Roman" panose="02020603050405020304"/>
                <a:cs typeface="Times New Roman" panose="02020603050405020304"/>
              </a:rPr>
              <a:t>25 points</a:t>
            </a:r>
          </a:p>
        </p:txBody>
      </p:sp>
      <p:sp>
        <p:nvSpPr>
          <p:cNvPr id="43" name="矩形 42"/>
          <p:cNvSpPr>
            <a:spLocks noGrp="1"/>
          </p:cNvSpPr>
          <p:nvPr/>
        </p:nvSpPr>
        <p:spPr>
          <a:xfrm>
            <a:off x="1200150" y="3943350"/>
            <a:ext cx="2095500" cy="209550"/>
          </a:xfrm>
          <a:prstGeom prst="rect">
            <a:avLst/>
          </a:prstGeom>
          <a:noFill/>
          <a:ln w="0">
            <a:noFill/>
            <a:prstDash val="solid"/>
          </a:ln>
        </p:spPr>
        <p:txBody>
          <a:bodyPr wrap="square" lIns="0" tIns="0" rIns="0" bIns="0" anchor="t">
            <a:normAutofit/>
          </a:bodyPr>
          <a:lstStyle/>
          <a:p>
            <a:pPr algn="l">
              <a:lnSpc>
                <a:spcPct val="104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Self allocation</a:t>
            </a:r>
          </a:p>
        </p:txBody>
      </p:sp>
      <p:sp>
        <p:nvSpPr>
          <p:cNvPr id="44" name="矩形 43"/>
          <p:cNvSpPr>
            <a:spLocks noGrp="1"/>
          </p:cNvSpPr>
          <p:nvPr/>
        </p:nvSpPr>
        <p:spPr>
          <a:xfrm>
            <a:off x="2876550" y="3943350"/>
            <a:ext cx="2952750" cy="209550"/>
          </a:xfrm>
          <a:prstGeom prst="rect">
            <a:avLst/>
          </a:prstGeom>
          <a:noFill/>
          <a:ln w="0">
            <a:noFill/>
            <a:prstDash val="solid"/>
          </a:ln>
        </p:spPr>
        <p:txBody>
          <a:bodyPr wrap="square" lIns="0" tIns="0" rIns="0" bIns="0" anchor="t">
            <a:normAutofit/>
          </a:bodyPr>
          <a:lstStyle/>
          <a:p>
            <a:pPr algn="l">
              <a:lnSpc>
                <a:spcPct val="104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Agent-AI recommendation</a:t>
            </a:r>
          </a:p>
        </p:txBody>
      </p:sp>
      <p:sp>
        <p:nvSpPr>
          <p:cNvPr id="45" name="圆角矩形 44"/>
          <p:cNvSpPr>
            <a:spLocks noGrp="1"/>
          </p:cNvSpPr>
          <p:nvPr/>
        </p:nvSpPr>
        <p:spPr>
          <a:xfrm>
            <a:off x="1200150" y="4248150"/>
            <a:ext cx="2114550" cy="400050"/>
          </a:xfrm>
          <a:prstGeom prst="roundRect">
            <a:avLst>
              <a:gd name="adj" fmla="val 19048"/>
            </a:avLst>
          </a:prstGeom>
          <a:solidFill>
            <a:srgbClr val="FFFFFF"/>
          </a:solidFill>
          <a:ln w="9525">
            <a:solidFill>
              <a:srgbClr val="D8CCBB"/>
            </a:solidFill>
            <a:prstDash val="solid"/>
          </a:ln>
        </p:spPr>
      </p:sp>
      <p:sp>
        <p:nvSpPr>
          <p:cNvPr id="46" name="矩形 45"/>
          <p:cNvSpPr>
            <a:spLocks noGrp="1"/>
          </p:cNvSpPr>
          <p:nvPr/>
        </p:nvSpPr>
        <p:spPr>
          <a:xfrm>
            <a:off x="1381125" y="4362450"/>
            <a:ext cx="1752600" cy="171450"/>
          </a:xfrm>
          <a:prstGeom prst="rect">
            <a:avLst/>
          </a:prstGeom>
          <a:noFill/>
          <a:ln w="0">
            <a:noFill/>
            <a:prstDash val="solid"/>
          </a:ln>
        </p:spPr>
        <p:txBody>
          <a:bodyPr wrap="square" lIns="0" tIns="0" rIns="0" bIns="0" anchor="t">
            <a:normAutofit fontScale="90144" lnSpcReduction="10000"/>
          </a:bodyPr>
          <a:lstStyle/>
          <a:p>
            <a:pPr algn="ctr">
              <a:lnSpc>
                <a:spcPct val="104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Self: 40 / 35 / 25</a:t>
            </a:r>
          </a:p>
        </p:txBody>
      </p:sp>
      <p:sp>
        <p:nvSpPr>
          <p:cNvPr id="47" name="圆角矩形 46"/>
          <p:cNvSpPr>
            <a:spLocks noGrp="1"/>
          </p:cNvSpPr>
          <p:nvPr/>
        </p:nvSpPr>
        <p:spPr>
          <a:xfrm>
            <a:off x="3657600" y="4248150"/>
            <a:ext cx="2114550" cy="400050"/>
          </a:xfrm>
          <a:prstGeom prst="roundRect">
            <a:avLst>
              <a:gd name="adj" fmla="val 19048"/>
            </a:avLst>
          </a:prstGeom>
          <a:solidFill>
            <a:srgbClr val="F0E2D4"/>
          </a:solidFill>
          <a:ln w="9525">
            <a:solidFill>
              <a:srgbClr val="E7D4C3"/>
            </a:solidFill>
            <a:prstDash val="solid"/>
          </a:ln>
        </p:spPr>
      </p:sp>
      <p:sp>
        <p:nvSpPr>
          <p:cNvPr id="48" name="矩形 47"/>
          <p:cNvSpPr>
            <a:spLocks noGrp="1"/>
          </p:cNvSpPr>
          <p:nvPr/>
        </p:nvSpPr>
        <p:spPr>
          <a:xfrm>
            <a:off x="3838575" y="4362450"/>
            <a:ext cx="1752600" cy="171450"/>
          </a:xfrm>
          <a:prstGeom prst="rect">
            <a:avLst/>
          </a:prstGeom>
          <a:noFill/>
          <a:ln w="0">
            <a:noFill/>
            <a:prstDash val="solid"/>
          </a:ln>
        </p:spPr>
        <p:txBody>
          <a:bodyPr wrap="square" lIns="0" tIns="0" rIns="0" bIns="0" anchor="t">
            <a:normAutofit fontScale="90144" lnSpcReduction="10000"/>
          </a:bodyPr>
          <a:lstStyle/>
          <a:p>
            <a:pPr algn="ctr">
              <a:lnSpc>
                <a:spcPct val="104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AI: 25 / 50 / 25</a:t>
            </a:r>
          </a:p>
        </p:txBody>
      </p:sp>
      <p:sp>
        <p:nvSpPr>
          <p:cNvPr id="49" name="直接连接符 48"/>
          <p:cNvSpPr>
            <a:spLocks noGrp="1"/>
          </p:cNvSpPr>
          <p:nvPr/>
        </p:nvSpPr>
        <p:spPr>
          <a:xfrm>
            <a:off x="3333750" y="4448175"/>
            <a:ext cx="304800" cy="0"/>
          </a:xfrm>
          <a:prstGeom prst="line">
            <a:avLst/>
          </a:prstGeom>
          <a:ln w="14288">
            <a:solidFill>
              <a:srgbClr val="B77845"/>
            </a:solidFill>
            <a:prstDash val="solid"/>
          </a:ln>
        </p:spPr>
      </p:sp>
      <p:sp>
        <p:nvSpPr>
          <p:cNvPr id="50" name="圆角矩形 49"/>
          <p:cNvSpPr>
            <a:spLocks noGrp="1"/>
          </p:cNvSpPr>
          <p:nvPr/>
        </p:nvSpPr>
        <p:spPr>
          <a:xfrm>
            <a:off x="1200150" y="4895850"/>
            <a:ext cx="2095500" cy="476250"/>
          </a:xfrm>
          <a:prstGeom prst="roundRect">
            <a:avLst>
              <a:gd name="adj" fmla="val 16000"/>
            </a:avLst>
          </a:prstGeom>
          <a:solidFill>
            <a:srgbClr val="23384A"/>
          </a:solidFill>
          <a:ln w="9525">
            <a:solidFill>
              <a:srgbClr val="23384A"/>
            </a:solidFill>
            <a:prstDash val="solid"/>
          </a:ln>
        </p:spPr>
      </p:sp>
      <p:sp>
        <p:nvSpPr>
          <p:cNvPr id="51" name="矩形 50"/>
          <p:cNvSpPr>
            <a:spLocks noGrp="1"/>
          </p:cNvSpPr>
          <p:nvPr/>
        </p:nvSpPr>
        <p:spPr>
          <a:xfrm>
            <a:off x="1371600" y="5038725"/>
            <a:ext cx="1752600" cy="171450"/>
          </a:xfrm>
          <a:prstGeom prst="rect">
            <a:avLst/>
          </a:prstGeom>
          <a:noFill/>
          <a:ln w="0">
            <a:noFill/>
            <a:prstDash val="solid"/>
          </a:ln>
        </p:spPr>
        <p:txBody>
          <a:bodyPr wrap="square" lIns="0" tIns="0" rIns="0" bIns="0" anchor="t">
            <a:normAutofit fontScale="90144" lnSpcReduction="10000"/>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Submit self plan</a:t>
            </a:r>
          </a:p>
        </p:txBody>
      </p:sp>
      <p:sp>
        <p:nvSpPr>
          <p:cNvPr id="52" name="圆角矩形 51"/>
          <p:cNvSpPr>
            <a:spLocks noGrp="1"/>
          </p:cNvSpPr>
          <p:nvPr/>
        </p:nvSpPr>
        <p:spPr>
          <a:xfrm>
            <a:off x="3676650" y="4895850"/>
            <a:ext cx="2095500" cy="476250"/>
          </a:xfrm>
          <a:prstGeom prst="roundRect">
            <a:avLst>
              <a:gd name="adj" fmla="val 16000"/>
            </a:avLst>
          </a:prstGeom>
          <a:solidFill>
            <a:srgbClr val="B77845"/>
          </a:solidFill>
          <a:ln w="9525">
            <a:solidFill>
              <a:srgbClr val="B77845"/>
            </a:solidFill>
            <a:prstDash val="solid"/>
          </a:ln>
        </p:spPr>
      </p:sp>
      <p:sp>
        <p:nvSpPr>
          <p:cNvPr id="53" name="矩形 52"/>
          <p:cNvSpPr>
            <a:spLocks noGrp="1"/>
          </p:cNvSpPr>
          <p:nvPr/>
        </p:nvSpPr>
        <p:spPr>
          <a:xfrm>
            <a:off x="3848100" y="5038725"/>
            <a:ext cx="1752600" cy="171450"/>
          </a:xfrm>
          <a:prstGeom prst="rect">
            <a:avLst/>
          </a:prstGeom>
          <a:noFill/>
          <a:ln w="0">
            <a:noFill/>
            <a:prstDash val="solid"/>
          </a:ln>
        </p:spPr>
        <p:txBody>
          <a:bodyPr wrap="square" lIns="0" tIns="0" rIns="0" bIns="0" anchor="t">
            <a:normAutofit fontScale="90144" lnSpcReduction="10000"/>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Submit AI plan</a:t>
            </a:r>
          </a:p>
        </p:txBody>
      </p:sp>
      <p:sp>
        <p:nvSpPr>
          <p:cNvPr id="54" name="圆角矩形 53"/>
          <p:cNvSpPr>
            <a:spLocks noGrp="1"/>
          </p:cNvSpPr>
          <p:nvPr/>
        </p:nvSpPr>
        <p:spPr>
          <a:xfrm>
            <a:off x="5962650" y="4248150"/>
            <a:ext cx="1466850" cy="1123950"/>
          </a:xfrm>
          <a:prstGeom prst="roundRect">
            <a:avLst>
              <a:gd name="adj" fmla="val 6780"/>
            </a:avLst>
          </a:prstGeom>
          <a:solidFill>
            <a:srgbClr val="FFFFFF"/>
          </a:solidFill>
          <a:ln w="9525">
            <a:solidFill>
              <a:srgbClr val="D8CCBB"/>
            </a:solidFill>
            <a:prstDash val="solid"/>
          </a:ln>
        </p:spPr>
      </p:sp>
      <p:sp>
        <p:nvSpPr>
          <p:cNvPr id="55" name="矩形 54"/>
          <p:cNvSpPr>
            <a:spLocks noGrp="1"/>
          </p:cNvSpPr>
          <p:nvPr/>
        </p:nvSpPr>
        <p:spPr>
          <a:xfrm>
            <a:off x="6153150" y="4400550"/>
            <a:ext cx="1085850" cy="190500"/>
          </a:xfrm>
          <a:prstGeom prst="rect">
            <a:avLst/>
          </a:prstGeom>
          <a:noFill/>
          <a:ln w="0">
            <a:noFill/>
            <a:prstDash val="solid"/>
          </a:ln>
        </p:spPr>
        <p:txBody>
          <a:bodyPr wrap="square" lIns="0" tIns="0" rIns="0" bIns="0" anchor="t">
            <a:normAutofit fontScale="94268"/>
          </a:bodyPr>
          <a:lstStyle/>
          <a:p>
            <a:pPr algn="ctr">
              <a:lnSpc>
                <a:spcPct val="104000"/>
              </a:lnSpc>
              <a:buNone/>
              <a:defRPr sz="1275" b="1" i="0">
                <a:solidFill>
                  <a:srgbClr val="818A68"/>
                </a:solidFill>
                <a:latin typeface="Times New Roman" panose="02020603050405020304"/>
                <a:ea typeface="Times New Roman" panose="02020603050405020304"/>
                <a:cs typeface="Times New Roman" panose="02020603050405020304"/>
              </a:defRPr>
            </a:pPr>
            <a:r>
              <a:rPr sz="1275" b="1" i="0">
                <a:solidFill>
                  <a:srgbClr val="818A68"/>
                </a:solidFill>
                <a:latin typeface="Times New Roman" panose="02020603050405020304"/>
                <a:ea typeface="Times New Roman" panose="02020603050405020304"/>
                <a:cs typeface="Times New Roman" panose="02020603050405020304"/>
              </a:rPr>
              <a:t>Full feedback</a:t>
            </a:r>
          </a:p>
        </p:txBody>
      </p:sp>
      <p:sp>
        <p:nvSpPr>
          <p:cNvPr id="56" name="矩形 55"/>
          <p:cNvSpPr>
            <a:spLocks noGrp="1"/>
          </p:cNvSpPr>
          <p:nvPr/>
        </p:nvSpPr>
        <p:spPr>
          <a:xfrm>
            <a:off x="6153150" y="4705350"/>
            <a:ext cx="1085850" cy="457200"/>
          </a:xfrm>
          <a:prstGeom prst="rect">
            <a:avLst/>
          </a:prstGeom>
          <a:noFill/>
          <a:ln w="0">
            <a:noFill/>
            <a:prstDash val="solid"/>
          </a:ln>
        </p:spPr>
        <p:txBody>
          <a:bodyPr wrap="square" lIns="0" tIns="0" rIns="0" bIns="0" anchor="t">
            <a:normAutofit fontScale="92699"/>
          </a:bodyPr>
          <a:lstStyle/>
          <a:p>
            <a:pPr algn="ctr">
              <a:lnSpc>
                <a:spcPct val="105000"/>
              </a:lnSpc>
              <a:buNone/>
              <a:defRPr sz="960" b="0" i="0">
                <a:solidFill>
                  <a:srgbClr val="6F665C"/>
                </a:solidFill>
                <a:latin typeface="Times New Roman" panose="02020603050405020304"/>
                <a:ea typeface="Times New Roman" panose="02020603050405020304"/>
                <a:cs typeface="Times New Roman" panose="02020603050405020304"/>
              </a:defRPr>
            </a:pPr>
            <a:r>
              <a:rPr sz="960" b="0" i="0">
                <a:solidFill>
                  <a:srgbClr val="6F665C"/>
                </a:solidFill>
                <a:latin typeface="Times New Roman" panose="02020603050405020304"/>
                <a:ea typeface="Times New Roman" panose="02020603050405020304"/>
                <a:cs typeface="Times New Roman" panose="02020603050405020304"/>
              </a:rPr>
              <a:t>Both chosen and unchosen payoffs are shown after each round.</a:t>
            </a:r>
          </a:p>
        </p:txBody>
      </p:sp>
      <p:sp>
        <p:nvSpPr>
          <p:cNvPr id="57" name="圆角矩形 56"/>
          <p:cNvSpPr>
            <a:spLocks noGrp="1"/>
          </p:cNvSpPr>
          <p:nvPr/>
        </p:nvSpPr>
        <p:spPr>
          <a:xfrm>
            <a:off x="8096250" y="2152650"/>
            <a:ext cx="3143250" cy="1104900"/>
          </a:xfrm>
          <a:prstGeom prst="roundRect">
            <a:avLst>
              <a:gd name="adj" fmla="val 6897"/>
            </a:avLst>
          </a:prstGeom>
          <a:solidFill>
            <a:srgbClr val="FFFFFF"/>
          </a:solidFill>
          <a:ln w="9525">
            <a:solidFill>
              <a:srgbClr val="D8CCBB"/>
            </a:solidFill>
            <a:prstDash val="solid"/>
          </a:ln>
        </p:spPr>
      </p:sp>
      <p:sp>
        <p:nvSpPr>
          <p:cNvPr id="58" name="圆角矩形 57"/>
          <p:cNvSpPr>
            <a:spLocks noGrp="1"/>
          </p:cNvSpPr>
          <p:nvPr/>
        </p:nvSpPr>
        <p:spPr>
          <a:xfrm>
            <a:off x="8096250" y="2152650"/>
            <a:ext cx="47625" cy="1104900"/>
          </a:xfrm>
          <a:prstGeom prst="roundRect">
            <a:avLst>
              <a:gd name="adj" fmla="val 40000"/>
            </a:avLst>
          </a:prstGeom>
          <a:solidFill>
            <a:srgbClr val="B77845"/>
          </a:solidFill>
          <a:ln w="9525">
            <a:solidFill>
              <a:srgbClr val="B77845"/>
            </a:solidFill>
            <a:prstDash val="solid"/>
          </a:ln>
        </p:spPr>
      </p:sp>
      <p:sp>
        <p:nvSpPr>
          <p:cNvPr id="59" name="矩形 58"/>
          <p:cNvSpPr>
            <a:spLocks noGrp="1"/>
          </p:cNvSpPr>
          <p:nvPr/>
        </p:nvSpPr>
        <p:spPr>
          <a:xfrm>
            <a:off x="8305800" y="23050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What the task is</a:t>
            </a:r>
          </a:p>
        </p:txBody>
      </p:sp>
      <p:sp>
        <p:nvSpPr>
          <p:cNvPr id="60" name="矩形 59"/>
          <p:cNvSpPr>
            <a:spLocks noGrp="1"/>
          </p:cNvSpPr>
          <p:nvPr/>
        </p:nvSpPr>
        <p:spPr>
          <a:xfrm>
            <a:off x="8305800" y="26098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A repeated, abstract, slot-machine-like allocation problem with three channels: alpha, beta, and gamma.</a:t>
            </a:r>
          </a:p>
        </p:txBody>
      </p:sp>
      <p:sp>
        <p:nvSpPr>
          <p:cNvPr id="61" name="圆角矩形 60"/>
          <p:cNvSpPr>
            <a:spLocks noGrp="1"/>
          </p:cNvSpPr>
          <p:nvPr/>
        </p:nvSpPr>
        <p:spPr>
          <a:xfrm>
            <a:off x="8096250" y="3448050"/>
            <a:ext cx="3143250" cy="1104900"/>
          </a:xfrm>
          <a:prstGeom prst="roundRect">
            <a:avLst>
              <a:gd name="adj" fmla="val 6897"/>
            </a:avLst>
          </a:prstGeom>
          <a:solidFill>
            <a:srgbClr val="FFFFFF"/>
          </a:solidFill>
          <a:ln w="9525">
            <a:solidFill>
              <a:srgbClr val="D8CCBB"/>
            </a:solidFill>
            <a:prstDash val="solid"/>
          </a:ln>
        </p:spPr>
      </p:sp>
      <p:sp>
        <p:nvSpPr>
          <p:cNvPr id="62" name="圆角矩形 61"/>
          <p:cNvSpPr>
            <a:spLocks noGrp="1"/>
          </p:cNvSpPr>
          <p:nvPr/>
        </p:nvSpPr>
        <p:spPr>
          <a:xfrm>
            <a:off x="8096250" y="3448050"/>
            <a:ext cx="47625" cy="1104900"/>
          </a:xfrm>
          <a:prstGeom prst="roundRect">
            <a:avLst>
              <a:gd name="adj" fmla="val 40000"/>
            </a:avLst>
          </a:prstGeom>
          <a:solidFill>
            <a:srgbClr val="818A68"/>
          </a:solidFill>
          <a:ln w="9525">
            <a:solidFill>
              <a:srgbClr val="818A68"/>
            </a:solidFill>
            <a:prstDash val="solid"/>
          </a:ln>
        </p:spPr>
      </p:sp>
      <p:sp>
        <p:nvSpPr>
          <p:cNvPr id="63" name="矩形 62"/>
          <p:cNvSpPr>
            <a:spLocks noGrp="1"/>
          </p:cNvSpPr>
          <p:nvPr/>
        </p:nvSpPr>
        <p:spPr>
          <a:xfrm>
            <a:off x="8305800" y="36004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Why history matters</a:t>
            </a:r>
          </a:p>
        </p:txBody>
      </p:sp>
      <p:sp>
        <p:nvSpPr>
          <p:cNvPr id="64" name="矩形 63"/>
          <p:cNvSpPr>
            <a:spLocks noGrp="1"/>
          </p:cNvSpPr>
          <p:nvPr/>
        </p:nvSpPr>
        <p:spPr>
          <a:xfrm>
            <a:off x="8305800" y="39052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Payoffs are noisy but structured: short trends, state shifts, mean reversion, and random shocks all matter.</a:t>
            </a:r>
          </a:p>
        </p:txBody>
      </p:sp>
      <p:sp>
        <p:nvSpPr>
          <p:cNvPr id="65" name="圆角矩形 64"/>
          <p:cNvSpPr>
            <a:spLocks noGrp="1"/>
          </p:cNvSpPr>
          <p:nvPr/>
        </p:nvSpPr>
        <p:spPr>
          <a:xfrm>
            <a:off x="8096250" y="4743450"/>
            <a:ext cx="3143250" cy="1104900"/>
          </a:xfrm>
          <a:prstGeom prst="roundRect">
            <a:avLst>
              <a:gd name="adj" fmla="val 6897"/>
            </a:avLst>
          </a:prstGeom>
          <a:solidFill>
            <a:srgbClr val="FFFFFF"/>
          </a:solidFill>
          <a:ln w="9525">
            <a:solidFill>
              <a:srgbClr val="D8CCBB"/>
            </a:solidFill>
            <a:prstDash val="solid"/>
          </a:ln>
        </p:spPr>
      </p:sp>
      <p:sp>
        <p:nvSpPr>
          <p:cNvPr id="66" name="圆角矩形 65"/>
          <p:cNvSpPr>
            <a:spLocks noGrp="1"/>
          </p:cNvSpPr>
          <p:nvPr/>
        </p:nvSpPr>
        <p:spPr>
          <a:xfrm>
            <a:off x="8096250" y="4743450"/>
            <a:ext cx="47625" cy="1104900"/>
          </a:xfrm>
          <a:prstGeom prst="roundRect">
            <a:avLst>
              <a:gd name="adj" fmla="val 40000"/>
            </a:avLst>
          </a:prstGeom>
          <a:solidFill>
            <a:srgbClr val="23384A"/>
          </a:solidFill>
          <a:ln w="9525">
            <a:solidFill>
              <a:srgbClr val="23384A"/>
            </a:solidFill>
            <a:prstDash val="solid"/>
          </a:ln>
        </p:spPr>
      </p:sp>
      <p:sp>
        <p:nvSpPr>
          <p:cNvPr id="67" name="矩形 66"/>
          <p:cNvSpPr>
            <a:spLocks noGrp="1"/>
          </p:cNvSpPr>
          <p:nvPr/>
        </p:nvSpPr>
        <p:spPr>
          <a:xfrm>
            <a:off x="8305800" y="4895850"/>
            <a:ext cx="2724150" cy="209550"/>
          </a:xfrm>
          <a:prstGeom prst="rect">
            <a:avLst/>
          </a:prstGeom>
          <a:noFill/>
          <a:ln w="0">
            <a:noFill/>
            <a:prstDash val="solid"/>
          </a:ln>
        </p:spPr>
        <p:txBody>
          <a:bodyPr wrap="square" lIns="0" tIns="0" rIns="0" bIns="0" anchor="t">
            <a:normAutofit fontScale="97934"/>
          </a:bodyPr>
          <a:lstStyle/>
          <a:p>
            <a:pPr algn="l">
              <a:lnSpc>
                <a:spcPct val="104000"/>
              </a:lnSpc>
              <a:buNone/>
              <a:defRPr sz="1350" b="1" i="0">
                <a:solidFill>
                  <a:srgbClr val="23384A"/>
                </a:solidFill>
                <a:latin typeface="Times New Roman" panose="02020603050405020304"/>
                <a:ea typeface="Times New Roman" panose="02020603050405020304"/>
                <a:cs typeface="Times New Roman" panose="02020603050405020304"/>
              </a:defRPr>
            </a:pPr>
            <a:r>
              <a:rPr sz="1350" b="1" i="0">
                <a:solidFill>
                  <a:srgbClr val="23384A"/>
                </a:solidFill>
                <a:latin typeface="Times New Roman" panose="02020603050405020304"/>
                <a:ea typeface="Times New Roman" panose="02020603050405020304"/>
                <a:cs typeface="Times New Roman" panose="02020603050405020304"/>
              </a:rPr>
              <a:t>What is manipulated</a:t>
            </a:r>
          </a:p>
        </p:txBody>
      </p:sp>
      <p:sp>
        <p:nvSpPr>
          <p:cNvPr id="68" name="矩形 67"/>
          <p:cNvSpPr>
            <a:spLocks noGrp="1"/>
          </p:cNvSpPr>
          <p:nvPr/>
        </p:nvSpPr>
        <p:spPr>
          <a:xfrm>
            <a:off x="8305800" y="5200650"/>
            <a:ext cx="2724150" cy="495300"/>
          </a:xfrm>
          <a:prstGeom prst="rect">
            <a:avLst/>
          </a:prstGeom>
          <a:noFill/>
          <a:ln w="0">
            <a:noFill/>
            <a:prstDash val="solid"/>
          </a:ln>
        </p:spPr>
        <p:txBody>
          <a:bodyPr wrap="square" lIns="0" tIns="0" rIns="0" bIns="0" anchor="t">
            <a:normAutofit fontScale="98261"/>
          </a:bodyPr>
          <a:lstStyle/>
          <a:p>
            <a:pPr algn="l">
              <a:lnSpc>
                <a:spcPct val="105000"/>
              </a:lnSpc>
              <a:buNone/>
              <a:defRPr sz="1050" b="0" i="0">
                <a:solidFill>
                  <a:srgbClr val="6F665C"/>
                </a:solidFill>
                <a:latin typeface="Times New Roman" panose="02020603050405020304"/>
                <a:ea typeface="Times New Roman" panose="02020603050405020304"/>
                <a:cs typeface="Times New Roman" panose="02020603050405020304"/>
              </a:defRPr>
            </a:pPr>
            <a:r>
              <a:rPr sz="1050" b="0" i="0">
                <a:solidFill>
                  <a:srgbClr val="6F665C"/>
                </a:solidFill>
                <a:latin typeface="Times New Roman" panose="02020603050405020304"/>
                <a:ea typeface="Times New Roman" panose="02020603050405020304"/>
                <a:cs typeface="Times New Roman" panose="02020603050405020304"/>
              </a:rPr>
              <a:t>The interface stays the same. Treatments change when AI errors cluster and whether performance later recovers.</a:t>
            </a:r>
          </a:p>
        </p:txBody>
      </p:sp>
      <p:sp>
        <p:nvSpPr>
          <p:cNvPr id="69" name="圆角矩形 68"/>
          <p:cNvSpPr>
            <a:spLocks noGrp="1"/>
          </p:cNvSpPr>
          <p:nvPr/>
        </p:nvSpPr>
        <p:spPr>
          <a:xfrm>
            <a:off x="914400" y="6076950"/>
            <a:ext cx="10325100" cy="419100"/>
          </a:xfrm>
          <a:prstGeom prst="roundRect">
            <a:avLst>
              <a:gd name="adj" fmla="val 18182"/>
            </a:avLst>
          </a:prstGeom>
          <a:solidFill>
            <a:srgbClr val="23384A"/>
          </a:solidFill>
          <a:ln w="9525">
            <a:solidFill>
              <a:srgbClr val="23384A"/>
            </a:solidFill>
            <a:prstDash val="solid"/>
          </a:ln>
        </p:spPr>
      </p:sp>
      <p:sp>
        <p:nvSpPr>
          <p:cNvPr id="70" name="矩形 69"/>
          <p:cNvSpPr>
            <a:spLocks noGrp="1"/>
          </p:cNvSpPr>
          <p:nvPr/>
        </p:nvSpPr>
        <p:spPr>
          <a:xfrm>
            <a:off x="1219200" y="6191250"/>
            <a:ext cx="9696450" cy="171450"/>
          </a:xfrm>
          <a:prstGeom prst="rect">
            <a:avLst/>
          </a:prstGeom>
          <a:noFill/>
          <a:ln w="0">
            <a:noFill/>
            <a:prstDash val="solid"/>
          </a:ln>
        </p:spPr>
        <p:txBody>
          <a:bodyPr wrap="square" lIns="0" tIns="0" rIns="0" bIns="0" anchor="t">
            <a:normAutofit fontScale="90144" lnSpcReduction="10000"/>
          </a:bodyPr>
          <a:lstStyle/>
          <a:p>
            <a:pPr algn="ctr">
              <a:lnSpc>
                <a:spcPct val="104000"/>
              </a:lnSpc>
              <a:buNone/>
              <a:defRPr sz="1200" b="1" i="0">
                <a:solidFill>
                  <a:srgbClr val="F5F0E6"/>
                </a:solidFill>
                <a:latin typeface="Times New Roman" panose="02020603050405020304"/>
                <a:ea typeface="Times New Roman" panose="02020603050405020304"/>
                <a:cs typeface="Times New Roman" panose="02020603050405020304"/>
              </a:defRPr>
            </a:pPr>
            <a:r>
              <a:rPr sz="1200" b="1" i="0">
                <a:solidFill>
                  <a:srgbClr val="F5F0E6"/>
                </a:solidFill>
                <a:latin typeface="Times New Roman" panose="02020603050405020304"/>
                <a:ea typeface="Times New Roman" panose="02020603050405020304"/>
                <a:cs typeface="Times New Roman" panose="02020603050405020304"/>
              </a:rPr>
              <a:t>Repeated loop: history -&gt; self allocation -&gt; AI recommendation -&gt; final choice -&gt; full feedback -&gt; next-round reliance.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 name="矩形 83"/>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DESIGN AND FLOW</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87803"/>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Now the design becomes simple: vary timing, match performance, observe later reliance</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top layer shows condition logic; the bottom layer shows what one participant actually experiences inside each round.</a:t>
            </a:r>
          </a:p>
        </p:txBody>
      </p:sp>
      <p:sp>
        <p:nvSpPr>
          <p:cNvPr id="7" name="矩形 6"/>
          <p:cNvSpPr>
            <a:spLocks noGrp="1"/>
          </p:cNvSpPr>
          <p:nvPr/>
        </p:nvSpPr>
        <p:spPr>
          <a:xfrm>
            <a:off x="914400" y="1866900"/>
            <a:ext cx="2476500" cy="209550"/>
          </a:xfrm>
          <a:prstGeom prst="rect">
            <a:avLst/>
          </a:prstGeom>
          <a:noFill/>
          <a:ln w="0">
            <a:noFill/>
            <a:prstDash val="solid"/>
          </a:ln>
        </p:spPr>
        <p:txBody>
          <a:bodyPr wrap="square" lIns="0" tIns="0" rIns="0" bIns="0" anchor="t">
            <a:normAutofit fontScale="99855" lnSpcReduction="10000"/>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Condition logic</a:t>
            </a:r>
          </a:p>
        </p:txBody>
      </p:sp>
      <p:sp>
        <p:nvSpPr>
          <p:cNvPr id="8" name="矩形 7"/>
          <p:cNvSpPr>
            <a:spLocks noGrp="1"/>
          </p:cNvSpPr>
          <p:nvPr/>
        </p:nvSpPr>
        <p:spPr>
          <a:xfrm>
            <a:off x="914400" y="224790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Balanced Error</a:t>
            </a:r>
          </a:p>
        </p:txBody>
      </p:sp>
      <p:sp>
        <p:nvSpPr>
          <p:cNvPr id="9" name="圆角矩形 8"/>
          <p:cNvSpPr>
            <a:spLocks noGrp="1"/>
          </p:cNvSpPr>
          <p:nvPr/>
        </p:nvSpPr>
        <p:spPr>
          <a:xfrm>
            <a:off x="2324100" y="2247900"/>
            <a:ext cx="838200" cy="266700"/>
          </a:xfrm>
          <a:prstGeom prst="roundRect">
            <a:avLst>
              <a:gd name="adj" fmla="val 21429"/>
            </a:avLst>
          </a:prstGeom>
          <a:solidFill>
            <a:srgbClr val="FFFFFF"/>
          </a:solidFill>
          <a:ln w="9525">
            <a:solidFill>
              <a:srgbClr val="D8CCBB"/>
            </a:solidFill>
            <a:prstDash val="solid"/>
          </a:ln>
        </p:spPr>
      </p:sp>
      <p:sp>
        <p:nvSpPr>
          <p:cNvPr id="10" name="矩形 9"/>
          <p:cNvSpPr>
            <a:spLocks noGrp="1"/>
          </p:cNvSpPr>
          <p:nvPr/>
        </p:nvSpPr>
        <p:spPr>
          <a:xfrm>
            <a:off x="23241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B1</a:t>
            </a:r>
          </a:p>
        </p:txBody>
      </p:sp>
      <p:sp>
        <p:nvSpPr>
          <p:cNvPr id="11" name="圆角矩形 10"/>
          <p:cNvSpPr>
            <a:spLocks noGrp="1"/>
          </p:cNvSpPr>
          <p:nvPr/>
        </p:nvSpPr>
        <p:spPr>
          <a:xfrm>
            <a:off x="3238500" y="2247900"/>
            <a:ext cx="838200" cy="266700"/>
          </a:xfrm>
          <a:prstGeom prst="roundRect">
            <a:avLst>
              <a:gd name="adj" fmla="val 21429"/>
            </a:avLst>
          </a:prstGeom>
          <a:solidFill>
            <a:srgbClr val="A1503F"/>
          </a:solidFill>
          <a:ln w="9525">
            <a:solidFill>
              <a:srgbClr val="A1503F"/>
            </a:solidFill>
            <a:prstDash val="solid"/>
          </a:ln>
        </p:spPr>
      </p:sp>
      <p:sp>
        <p:nvSpPr>
          <p:cNvPr id="12" name="矩形 11"/>
          <p:cNvSpPr>
            <a:spLocks noGrp="1"/>
          </p:cNvSpPr>
          <p:nvPr/>
        </p:nvSpPr>
        <p:spPr>
          <a:xfrm>
            <a:off x="32385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B2</a:t>
            </a:r>
          </a:p>
        </p:txBody>
      </p:sp>
      <p:sp>
        <p:nvSpPr>
          <p:cNvPr id="13" name="圆角矩形 12"/>
          <p:cNvSpPr>
            <a:spLocks noGrp="1"/>
          </p:cNvSpPr>
          <p:nvPr/>
        </p:nvSpPr>
        <p:spPr>
          <a:xfrm>
            <a:off x="4152900" y="2247900"/>
            <a:ext cx="838200" cy="266700"/>
          </a:xfrm>
          <a:prstGeom prst="roundRect">
            <a:avLst>
              <a:gd name="adj" fmla="val 21429"/>
            </a:avLst>
          </a:prstGeom>
          <a:solidFill>
            <a:srgbClr val="FFFFFF"/>
          </a:solidFill>
          <a:ln w="9525">
            <a:solidFill>
              <a:srgbClr val="D8CCBB"/>
            </a:solidFill>
            <a:prstDash val="solid"/>
          </a:ln>
        </p:spPr>
      </p:sp>
      <p:sp>
        <p:nvSpPr>
          <p:cNvPr id="14" name="矩形 13"/>
          <p:cNvSpPr>
            <a:spLocks noGrp="1"/>
          </p:cNvSpPr>
          <p:nvPr/>
        </p:nvSpPr>
        <p:spPr>
          <a:xfrm>
            <a:off x="41529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B3</a:t>
            </a:r>
          </a:p>
        </p:txBody>
      </p:sp>
      <p:sp>
        <p:nvSpPr>
          <p:cNvPr id="15" name="圆角矩形 14"/>
          <p:cNvSpPr>
            <a:spLocks noGrp="1"/>
          </p:cNvSpPr>
          <p:nvPr/>
        </p:nvSpPr>
        <p:spPr>
          <a:xfrm>
            <a:off x="5067300" y="2247900"/>
            <a:ext cx="838200" cy="266700"/>
          </a:xfrm>
          <a:prstGeom prst="roundRect">
            <a:avLst>
              <a:gd name="adj" fmla="val 21429"/>
            </a:avLst>
          </a:prstGeom>
          <a:solidFill>
            <a:srgbClr val="A1503F"/>
          </a:solidFill>
          <a:ln w="9525">
            <a:solidFill>
              <a:srgbClr val="A1503F"/>
            </a:solidFill>
            <a:prstDash val="solid"/>
          </a:ln>
        </p:spPr>
      </p:sp>
      <p:sp>
        <p:nvSpPr>
          <p:cNvPr id="16" name="矩形 15"/>
          <p:cNvSpPr>
            <a:spLocks noGrp="1"/>
          </p:cNvSpPr>
          <p:nvPr/>
        </p:nvSpPr>
        <p:spPr>
          <a:xfrm>
            <a:off x="50673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B4</a:t>
            </a:r>
          </a:p>
        </p:txBody>
      </p:sp>
      <p:sp>
        <p:nvSpPr>
          <p:cNvPr id="17" name="圆角矩形 16"/>
          <p:cNvSpPr>
            <a:spLocks noGrp="1"/>
          </p:cNvSpPr>
          <p:nvPr/>
        </p:nvSpPr>
        <p:spPr>
          <a:xfrm>
            <a:off x="5981700" y="2247900"/>
            <a:ext cx="838200" cy="266700"/>
          </a:xfrm>
          <a:prstGeom prst="roundRect">
            <a:avLst>
              <a:gd name="adj" fmla="val 21429"/>
            </a:avLst>
          </a:prstGeom>
          <a:solidFill>
            <a:srgbClr val="FFFFFF"/>
          </a:solidFill>
          <a:ln w="9525">
            <a:solidFill>
              <a:srgbClr val="D8CCBB"/>
            </a:solidFill>
            <a:prstDash val="solid"/>
          </a:ln>
        </p:spPr>
      </p:sp>
      <p:sp>
        <p:nvSpPr>
          <p:cNvPr id="18" name="矩形 17"/>
          <p:cNvSpPr>
            <a:spLocks noGrp="1"/>
          </p:cNvSpPr>
          <p:nvPr/>
        </p:nvSpPr>
        <p:spPr>
          <a:xfrm>
            <a:off x="59817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p>
        </p:txBody>
      </p:sp>
      <p:sp>
        <p:nvSpPr>
          <p:cNvPr id="19" name="圆角矩形 18"/>
          <p:cNvSpPr>
            <a:spLocks noGrp="1"/>
          </p:cNvSpPr>
          <p:nvPr/>
        </p:nvSpPr>
        <p:spPr>
          <a:xfrm>
            <a:off x="6896100" y="2247900"/>
            <a:ext cx="838200" cy="266700"/>
          </a:xfrm>
          <a:prstGeom prst="roundRect">
            <a:avLst>
              <a:gd name="adj" fmla="val 21429"/>
            </a:avLst>
          </a:prstGeom>
          <a:solidFill>
            <a:srgbClr val="DCE1D0"/>
          </a:solidFill>
          <a:ln w="9525">
            <a:solidFill>
              <a:srgbClr val="818A68"/>
            </a:solidFill>
            <a:prstDash val="solid"/>
          </a:ln>
        </p:spPr>
      </p:sp>
      <p:sp>
        <p:nvSpPr>
          <p:cNvPr id="20" name="矩形 19"/>
          <p:cNvSpPr>
            <a:spLocks noGrp="1"/>
          </p:cNvSpPr>
          <p:nvPr/>
        </p:nvSpPr>
        <p:spPr>
          <a:xfrm>
            <a:off x="6896100" y="22955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p>
        </p:txBody>
      </p:sp>
      <p:sp>
        <p:nvSpPr>
          <p:cNvPr id="21" name="矩形 20"/>
          <p:cNvSpPr>
            <a:spLocks noGrp="1"/>
          </p:cNvSpPr>
          <p:nvPr/>
        </p:nvSpPr>
        <p:spPr>
          <a:xfrm>
            <a:off x="914400" y="272415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Early Shock</a:t>
            </a:r>
          </a:p>
        </p:txBody>
      </p:sp>
      <p:sp>
        <p:nvSpPr>
          <p:cNvPr id="22" name="圆角矩形 21"/>
          <p:cNvSpPr>
            <a:spLocks noGrp="1"/>
          </p:cNvSpPr>
          <p:nvPr/>
        </p:nvSpPr>
        <p:spPr>
          <a:xfrm>
            <a:off x="2324100" y="2724150"/>
            <a:ext cx="838200" cy="266700"/>
          </a:xfrm>
          <a:prstGeom prst="roundRect">
            <a:avLst>
              <a:gd name="adj" fmla="val 21429"/>
            </a:avLst>
          </a:prstGeom>
          <a:solidFill>
            <a:srgbClr val="A1503F"/>
          </a:solidFill>
          <a:ln w="9525">
            <a:solidFill>
              <a:srgbClr val="A1503F"/>
            </a:solidFill>
            <a:prstDash val="solid"/>
          </a:ln>
        </p:spPr>
      </p:sp>
      <p:sp>
        <p:nvSpPr>
          <p:cNvPr id="23" name="矩形 22"/>
          <p:cNvSpPr>
            <a:spLocks noGrp="1"/>
          </p:cNvSpPr>
          <p:nvPr/>
        </p:nvSpPr>
        <p:spPr>
          <a:xfrm>
            <a:off x="23241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B1</a:t>
            </a:r>
          </a:p>
        </p:txBody>
      </p:sp>
      <p:sp>
        <p:nvSpPr>
          <p:cNvPr id="24" name="圆角矩形 23"/>
          <p:cNvSpPr>
            <a:spLocks noGrp="1"/>
          </p:cNvSpPr>
          <p:nvPr/>
        </p:nvSpPr>
        <p:spPr>
          <a:xfrm>
            <a:off x="3238500" y="2724150"/>
            <a:ext cx="838200" cy="266700"/>
          </a:xfrm>
          <a:prstGeom prst="roundRect">
            <a:avLst>
              <a:gd name="adj" fmla="val 21429"/>
            </a:avLst>
          </a:prstGeom>
          <a:solidFill>
            <a:srgbClr val="A1503F"/>
          </a:solidFill>
          <a:ln w="9525">
            <a:solidFill>
              <a:srgbClr val="A1503F"/>
            </a:solidFill>
            <a:prstDash val="solid"/>
          </a:ln>
        </p:spPr>
      </p:sp>
      <p:sp>
        <p:nvSpPr>
          <p:cNvPr id="25" name="矩形 24"/>
          <p:cNvSpPr>
            <a:spLocks noGrp="1"/>
          </p:cNvSpPr>
          <p:nvPr/>
        </p:nvSpPr>
        <p:spPr>
          <a:xfrm>
            <a:off x="32385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B2</a:t>
            </a:r>
          </a:p>
        </p:txBody>
      </p:sp>
      <p:sp>
        <p:nvSpPr>
          <p:cNvPr id="26" name="圆角矩形 25"/>
          <p:cNvSpPr>
            <a:spLocks noGrp="1"/>
          </p:cNvSpPr>
          <p:nvPr/>
        </p:nvSpPr>
        <p:spPr>
          <a:xfrm>
            <a:off x="4152900" y="2724150"/>
            <a:ext cx="838200" cy="266700"/>
          </a:xfrm>
          <a:prstGeom prst="roundRect">
            <a:avLst>
              <a:gd name="adj" fmla="val 21429"/>
            </a:avLst>
          </a:prstGeom>
          <a:solidFill>
            <a:srgbClr val="FFFFFF"/>
          </a:solidFill>
          <a:ln w="9525">
            <a:solidFill>
              <a:srgbClr val="D8CCBB"/>
            </a:solidFill>
            <a:prstDash val="solid"/>
          </a:ln>
        </p:spPr>
      </p:sp>
      <p:sp>
        <p:nvSpPr>
          <p:cNvPr id="27" name="矩形 26"/>
          <p:cNvSpPr>
            <a:spLocks noGrp="1"/>
          </p:cNvSpPr>
          <p:nvPr/>
        </p:nvSpPr>
        <p:spPr>
          <a:xfrm>
            <a:off x="41529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B3</a:t>
            </a:r>
          </a:p>
        </p:txBody>
      </p:sp>
      <p:sp>
        <p:nvSpPr>
          <p:cNvPr id="28" name="圆角矩形 27"/>
          <p:cNvSpPr>
            <a:spLocks noGrp="1"/>
          </p:cNvSpPr>
          <p:nvPr/>
        </p:nvSpPr>
        <p:spPr>
          <a:xfrm>
            <a:off x="5067300" y="2724150"/>
            <a:ext cx="838200" cy="266700"/>
          </a:xfrm>
          <a:prstGeom prst="roundRect">
            <a:avLst>
              <a:gd name="adj" fmla="val 21429"/>
            </a:avLst>
          </a:prstGeom>
          <a:solidFill>
            <a:srgbClr val="FFFFFF"/>
          </a:solidFill>
          <a:ln w="9525">
            <a:solidFill>
              <a:srgbClr val="D8CCBB"/>
            </a:solidFill>
            <a:prstDash val="solid"/>
          </a:ln>
        </p:spPr>
      </p:sp>
      <p:sp>
        <p:nvSpPr>
          <p:cNvPr id="29" name="矩形 28"/>
          <p:cNvSpPr>
            <a:spLocks noGrp="1"/>
          </p:cNvSpPr>
          <p:nvPr/>
        </p:nvSpPr>
        <p:spPr>
          <a:xfrm>
            <a:off x="50673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B4</a:t>
            </a:r>
          </a:p>
        </p:txBody>
      </p:sp>
      <p:sp>
        <p:nvSpPr>
          <p:cNvPr id="30" name="圆角矩形 29"/>
          <p:cNvSpPr>
            <a:spLocks noGrp="1"/>
          </p:cNvSpPr>
          <p:nvPr/>
        </p:nvSpPr>
        <p:spPr>
          <a:xfrm>
            <a:off x="5981700" y="2724150"/>
            <a:ext cx="838200" cy="266700"/>
          </a:xfrm>
          <a:prstGeom prst="roundRect">
            <a:avLst>
              <a:gd name="adj" fmla="val 21429"/>
            </a:avLst>
          </a:prstGeom>
          <a:solidFill>
            <a:srgbClr val="FFFFFF"/>
          </a:solidFill>
          <a:ln w="9525">
            <a:solidFill>
              <a:srgbClr val="D8CCBB"/>
            </a:solidFill>
            <a:prstDash val="solid"/>
          </a:ln>
        </p:spPr>
      </p:sp>
      <p:sp>
        <p:nvSpPr>
          <p:cNvPr id="31" name="矩形 30"/>
          <p:cNvSpPr>
            <a:spLocks noGrp="1"/>
          </p:cNvSpPr>
          <p:nvPr/>
        </p:nvSpPr>
        <p:spPr>
          <a:xfrm>
            <a:off x="59817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p>
        </p:txBody>
      </p:sp>
      <p:sp>
        <p:nvSpPr>
          <p:cNvPr id="32" name="圆角矩形 31"/>
          <p:cNvSpPr>
            <a:spLocks noGrp="1"/>
          </p:cNvSpPr>
          <p:nvPr/>
        </p:nvSpPr>
        <p:spPr>
          <a:xfrm>
            <a:off x="6896100" y="2724150"/>
            <a:ext cx="838200" cy="266700"/>
          </a:xfrm>
          <a:prstGeom prst="roundRect">
            <a:avLst>
              <a:gd name="adj" fmla="val 21429"/>
            </a:avLst>
          </a:prstGeom>
          <a:solidFill>
            <a:srgbClr val="DCE1D0"/>
          </a:solidFill>
          <a:ln w="9525">
            <a:solidFill>
              <a:srgbClr val="818A68"/>
            </a:solidFill>
            <a:prstDash val="solid"/>
          </a:ln>
        </p:spPr>
      </p:sp>
      <p:sp>
        <p:nvSpPr>
          <p:cNvPr id="33" name="矩形 32"/>
          <p:cNvSpPr>
            <a:spLocks noGrp="1"/>
          </p:cNvSpPr>
          <p:nvPr/>
        </p:nvSpPr>
        <p:spPr>
          <a:xfrm>
            <a:off x="6896100" y="277177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p>
        </p:txBody>
      </p:sp>
      <p:sp>
        <p:nvSpPr>
          <p:cNvPr id="34" name="矩形 33"/>
          <p:cNvSpPr>
            <a:spLocks noGrp="1"/>
          </p:cNvSpPr>
          <p:nvPr/>
        </p:nvSpPr>
        <p:spPr>
          <a:xfrm>
            <a:off x="914400" y="3200400"/>
            <a:ext cx="1714500" cy="209550"/>
          </a:xfrm>
          <a:prstGeom prst="rect">
            <a:avLst/>
          </a:prstGeom>
          <a:noFill/>
          <a:ln w="0">
            <a:noFill/>
            <a:prstDash val="solid"/>
          </a:ln>
        </p:spPr>
        <p:txBody>
          <a:bodyPr wrap="square" lIns="0" tIns="0" rIns="0" bIns="0" anchor="t">
            <a:normAutofit/>
          </a:bodyPr>
          <a:lstStyle/>
          <a:p>
            <a:pPr algn="l">
              <a:lnSpc>
                <a:spcPct val="108000"/>
              </a:lnSpc>
              <a:buNone/>
              <a:defRPr sz="1200" b="1" i="0">
                <a:solidFill>
                  <a:srgbClr val="231D17"/>
                </a:solidFill>
                <a:latin typeface="Times New Roman" panose="02020603050405020304"/>
                <a:ea typeface="Times New Roman" panose="02020603050405020304"/>
                <a:cs typeface="Times New Roman" panose="02020603050405020304"/>
              </a:defRPr>
            </a:pPr>
            <a:r>
              <a:rPr sz="1200" b="1" i="0">
                <a:solidFill>
                  <a:srgbClr val="231D17"/>
                </a:solidFill>
                <a:latin typeface="Times New Roman" panose="02020603050405020304"/>
                <a:ea typeface="Times New Roman" panose="02020603050405020304"/>
                <a:cs typeface="Times New Roman" panose="02020603050405020304"/>
              </a:rPr>
              <a:t>Mid Shock</a:t>
            </a:r>
          </a:p>
        </p:txBody>
      </p:sp>
      <p:sp>
        <p:nvSpPr>
          <p:cNvPr id="35" name="圆角矩形 34"/>
          <p:cNvSpPr>
            <a:spLocks noGrp="1"/>
          </p:cNvSpPr>
          <p:nvPr/>
        </p:nvSpPr>
        <p:spPr>
          <a:xfrm>
            <a:off x="2324100" y="3200400"/>
            <a:ext cx="838200" cy="266700"/>
          </a:xfrm>
          <a:prstGeom prst="roundRect">
            <a:avLst>
              <a:gd name="adj" fmla="val 21429"/>
            </a:avLst>
          </a:prstGeom>
          <a:solidFill>
            <a:srgbClr val="FFFFFF"/>
          </a:solidFill>
          <a:ln w="9525">
            <a:solidFill>
              <a:srgbClr val="D8CCBB"/>
            </a:solidFill>
            <a:prstDash val="solid"/>
          </a:ln>
        </p:spPr>
      </p:sp>
      <p:sp>
        <p:nvSpPr>
          <p:cNvPr id="36" name="矩形 35"/>
          <p:cNvSpPr>
            <a:spLocks noGrp="1"/>
          </p:cNvSpPr>
          <p:nvPr/>
        </p:nvSpPr>
        <p:spPr>
          <a:xfrm>
            <a:off x="23241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B1</a:t>
            </a:r>
          </a:p>
        </p:txBody>
      </p:sp>
      <p:sp>
        <p:nvSpPr>
          <p:cNvPr id="37" name="圆角矩形 36"/>
          <p:cNvSpPr>
            <a:spLocks noGrp="1"/>
          </p:cNvSpPr>
          <p:nvPr/>
        </p:nvSpPr>
        <p:spPr>
          <a:xfrm>
            <a:off x="3238500" y="3200400"/>
            <a:ext cx="838200" cy="266700"/>
          </a:xfrm>
          <a:prstGeom prst="roundRect">
            <a:avLst>
              <a:gd name="adj" fmla="val 21429"/>
            </a:avLst>
          </a:prstGeom>
          <a:solidFill>
            <a:srgbClr val="FFFFFF"/>
          </a:solidFill>
          <a:ln w="9525">
            <a:solidFill>
              <a:srgbClr val="D8CCBB"/>
            </a:solidFill>
            <a:prstDash val="solid"/>
          </a:ln>
        </p:spPr>
      </p:sp>
      <p:sp>
        <p:nvSpPr>
          <p:cNvPr id="38" name="矩形 37"/>
          <p:cNvSpPr>
            <a:spLocks noGrp="1"/>
          </p:cNvSpPr>
          <p:nvPr/>
        </p:nvSpPr>
        <p:spPr>
          <a:xfrm>
            <a:off x="32385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B2</a:t>
            </a:r>
          </a:p>
        </p:txBody>
      </p:sp>
      <p:sp>
        <p:nvSpPr>
          <p:cNvPr id="39" name="圆角矩形 38"/>
          <p:cNvSpPr>
            <a:spLocks noGrp="1"/>
          </p:cNvSpPr>
          <p:nvPr/>
        </p:nvSpPr>
        <p:spPr>
          <a:xfrm>
            <a:off x="4152900" y="3200400"/>
            <a:ext cx="838200" cy="266700"/>
          </a:xfrm>
          <a:prstGeom prst="roundRect">
            <a:avLst>
              <a:gd name="adj" fmla="val 21429"/>
            </a:avLst>
          </a:prstGeom>
          <a:solidFill>
            <a:srgbClr val="A1503F"/>
          </a:solidFill>
          <a:ln w="9525">
            <a:solidFill>
              <a:srgbClr val="A1503F"/>
            </a:solidFill>
            <a:prstDash val="solid"/>
          </a:ln>
        </p:spPr>
      </p:sp>
      <p:sp>
        <p:nvSpPr>
          <p:cNvPr id="40" name="矩形 39"/>
          <p:cNvSpPr>
            <a:spLocks noGrp="1"/>
          </p:cNvSpPr>
          <p:nvPr/>
        </p:nvSpPr>
        <p:spPr>
          <a:xfrm>
            <a:off x="41529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B3</a:t>
            </a:r>
          </a:p>
        </p:txBody>
      </p:sp>
      <p:sp>
        <p:nvSpPr>
          <p:cNvPr id="41" name="圆角矩形 40"/>
          <p:cNvSpPr>
            <a:spLocks noGrp="1"/>
          </p:cNvSpPr>
          <p:nvPr/>
        </p:nvSpPr>
        <p:spPr>
          <a:xfrm>
            <a:off x="5067300" y="3200400"/>
            <a:ext cx="838200" cy="266700"/>
          </a:xfrm>
          <a:prstGeom prst="roundRect">
            <a:avLst>
              <a:gd name="adj" fmla="val 21429"/>
            </a:avLst>
          </a:prstGeom>
          <a:solidFill>
            <a:srgbClr val="A1503F"/>
          </a:solidFill>
          <a:ln w="9525">
            <a:solidFill>
              <a:srgbClr val="A1503F"/>
            </a:solidFill>
            <a:prstDash val="solid"/>
          </a:ln>
        </p:spPr>
      </p:sp>
      <p:sp>
        <p:nvSpPr>
          <p:cNvPr id="42" name="矩形 41"/>
          <p:cNvSpPr>
            <a:spLocks noGrp="1"/>
          </p:cNvSpPr>
          <p:nvPr/>
        </p:nvSpPr>
        <p:spPr>
          <a:xfrm>
            <a:off x="50673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1" i="0">
                <a:solidFill>
                  <a:srgbClr val="FFFFFF"/>
                </a:solidFill>
                <a:latin typeface="Times New Roman" panose="02020603050405020304"/>
                <a:ea typeface="Times New Roman" panose="02020603050405020304"/>
                <a:cs typeface="Times New Roman" panose="02020603050405020304"/>
              </a:defRPr>
            </a:pPr>
            <a:r>
              <a:rPr sz="900" b="1" i="0">
                <a:solidFill>
                  <a:srgbClr val="FFFFFF"/>
                </a:solidFill>
                <a:latin typeface="Times New Roman" panose="02020603050405020304"/>
                <a:ea typeface="Times New Roman" panose="02020603050405020304"/>
                <a:cs typeface="Times New Roman" panose="02020603050405020304"/>
              </a:rPr>
              <a:t>B4</a:t>
            </a:r>
          </a:p>
        </p:txBody>
      </p:sp>
      <p:sp>
        <p:nvSpPr>
          <p:cNvPr id="43" name="圆角矩形 42"/>
          <p:cNvSpPr>
            <a:spLocks noGrp="1"/>
          </p:cNvSpPr>
          <p:nvPr/>
        </p:nvSpPr>
        <p:spPr>
          <a:xfrm>
            <a:off x="5981700" y="3200400"/>
            <a:ext cx="838200" cy="266700"/>
          </a:xfrm>
          <a:prstGeom prst="roundRect">
            <a:avLst>
              <a:gd name="adj" fmla="val 21429"/>
            </a:avLst>
          </a:prstGeom>
          <a:solidFill>
            <a:srgbClr val="FFFFFF"/>
          </a:solidFill>
          <a:ln w="9525">
            <a:solidFill>
              <a:srgbClr val="D8CCBB"/>
            </a:solidFill>
            <a:prstDash val="solid"/>
          </a:ln>
        </p:spPr>
      </p:sp>
      <p:sp>
        <p:nvSpPr>
          <p:cNvPr id="44" name="矩形 43"/>
          <p:cNvSpPr>
            <a:spLocks noGrp="1"/>
          </p:cNvSpPr>
          <p:nvPr/>
        </p:nvSpPr>
        <p:spPr>
          <a:xfrm>
            <a:off x="59817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B5</a:t>
            </a:r>
          </a:p>
        </p:txBody>
      </p:sp>
      <p:sp>
        <p:nvSpPr>
          <p:cNvPr id="45" name="圆角矩形 44"/>
          <p:cNvSpPr>
            <a:spLocks noGrp="1"/>
          </p:cNvSpPr>
          <p:nvPr/>
        </p:nvSpPr>
        <p:spPr>
          <a:xfrm>
            <a:off x="6896100" y="3200400"/>
            <a:ext cx="838200" cy="266700"/>
          </a:xfrm>
          <a:prstGeom prst="roundRect">
            <a:avLst>
              <a:gd name="adj" fmla="val 21429"/>
            </a:avLst>
          </a:prstGeom>
          <a:solidFill>
            <a:srgbClr val="DCE1D0"/>
          </a:solidFill>
          <a:ln w="9525">
            <a:solidFill>
              <a:srgbClr val="818A68"/>
            </a:solidFill>
            <a:prstDash val="solid"/>
          </a:ln>
        </p:spPr>
      </p:sp>
      <p:sp>
        <p:nvSpPr>
          <p:cNvPr id="46" name="矩形 45"/>
          <p:cNvSpPr>
            <a:spLocks noGrp="1"/>
          </p:cNvSpPr>
          <p:nvPr/>
        </p:nvSpPr>
        <p:spPr>
          <a:xfrm>
            <a:off x="6896100" y="3248025"/>
            <a:ext cx="838200" cy="171450"/>
          </a:xfrm>
          <a:prstGeom prst="rect">
            <a:avLst/>
          </a:prstGeom>
          <a:noFill/>
          <a:ln w="0">
            <a:noFill/>
            <a:prstDash val="solid"/>
          </a:ln>
        </p:spPr>
        <p:txBody>
          <a:bodyPr wrap="square" lIns="0" tIns="0" rIns="0" bIns="0" anchor="ctr">
            <a:normAutofit/>
          </a:bodyPr>
          <a:lstStyle/>
          <a:p>
            <a:pPr algn="ctr">
              <a:lnSpc>
                <a:spcPct val="108000"/>
              </a:lnSpc>
              <a:buNone/>
              <a:defRPr sz="900" b="0" i="0">
                <a:solidFill>
                  <a:srgbClr val="6F665C"/>
                </a:solidFill>
                <a:latin typeface="Times New Roman" panose="02020603050405020304"/>
                <a:ea typeface="Times New Roman" panose="02020603050405020304"/>
                <a:cs typeface="Times New Roman" panose="02020603050405020304"/>
              </a:defRPr>
            </a:pPr>
            <a:r>
              <a:rPr sz="900" b="0" i="0">
                <a:solidFill>
                  <a:srgbClr val="6F665C"/>
                </a:solidFill>
                <a:latin typeface="Times New Roman" panose="02020603050405020304"/>
                <a:ea typeface="Times New Roman" panose="02020603050405020304"/>
                <a:cs typeface="Times New Roman" panose="02020603050405020304"/>
              </a:rPr>
              <a:t>B6</a:t>
            </a:r>
          </a:p>
        </p:txBody>
      </p:sp>
      <p:sp>
        <p:nvSpPr>
          <p:cNvPr id="47" name="圆角矩形 46"/>
          <p:cNvSpPr>
            <a:spLocks noGrp="1"/>
          </p:cNvSpPr>
          <p:nvPr/>
        </p:nvSpPr>
        <p:spPr>
          <a:xfrm>
            <a:off x="7448550" y="1866900"/>
            <a:ext cx="1104900" cy="247650"/>
          </a:xfrm>
          <a:prstGeom prst="roundRect">
            <a:avLst>
              <a:gd name="adj" fmla="val 50000"/>
            </a:avLst>
          </a:prstGeom>
          <a:solidFill>
            <a:srgbClr val="E8C8BF"/>
          </a:solidFill>
          <a:ln w="9525">
            <a:solidFill>
              <a:srgbClr val="A1503F"/>
            </a:solidFill>
            <a:prstDash val="solid"/>
          </a:ln>
        </p:spPr>
      </p:sp>
      <p:sp>
        <p:nvSpPr>
          <p:cNvPr id="48" name="矩形 47"/>
          <p:cNvSpPr>
            <a:spLocks noGrp="1"/>
          </p:cNvSpPr>
          <p:nvPr/>
        </p:nvSpPr>
        <p:spPr>
          <a:xfrm>
            <a:off x="7543800" y="1914525"/>
            <a:ext cx="91440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error cluster</a:t>
            </a:r>
          </a:p>
        </p:txBody>
      </p:sp>
      <p:sp>
        <p:nvSpPr>
          <p:cNvPr id="49" name="圆角矩形 48"/>
          <p:cNvSpPr>
            <a:spLocks noGrp="1"/>
          </p:cNvSpPr>
          <p:nvPr/>
        </p:nvSpPr>
        <p:spPr>
          <a:xfrm>
            <a:off x="8705850" y="1866900"/>
            <a:ext cx="1200150" cy="247650"/>
          </a:xfrm>
          <a:prstGeom prst="roundRect">
            <a:avLst>
              <a:gd name="adj" fmla="val 50000"/>
            </a:avLst>
          </a:prstGeom>
          <a:solidFill>
            <a:srgbClr val="DCE1D0"/>
          </a:solidFill>
          <a:ln w="9525">
            <a:solidFill>
              <a:srgbClr val="818A68"/>
            </a:solidFill>
            <a:prstDash val="solid"/>
          </a:ln>
        </p:spPr>
      </p:sp>
      <p:sp>
        <p:nvSpPr>
          <p:cNvPr id="50" name="矩形 49"/>
          <p:cNvSpPr>
            <a:spLocks noGrp="1"/>
          </p:cNvSpPr>
          <p:nvPr/>
        </p:nvSpPr>
        <p:spPr>
          <a:xfrm>
            <a:off x="8801100" y="1914525"/>
            <a:ext cx="100965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recovery block</a:t>
            </a:r>
          </a:p>
        </p:txBody>
      </p:sp>
      <p:sp>
        <p:nvSpPr>
          <p:cNvPr id="51" name="圆角矩形 50"/>
          <p:cNvSpPr>
            <a:spLocks noGrp="1"/>
          </p:cNvSpPr>
          <p:nvPr/>
        </p:nvSpPr>
        <p:spPr>
          <a:xfrm>
            <a:off x="10058400" y="1866900"/>
            <a:ext cx="1143000" cy="247650"/>
          </a:xfrm>
          <a:prstGeom prst="roundRect">
            <a:avLst>
              <a:gd name="adj" fmla="val 50000"/>
            </a:avLst>
          </a:prstGeom>
          <a:solidFill>
            <a:srgbClr val="FFFFFF"/>
          </a:solidFill>
          <a:ln w="9525">
            <a:solidFill>
              <a:srgbClr val="D8CCBB"/>
            </a:solidFill>
            <a:prstDash val="solid"/>
          </a:ln>
        </p:spPr>
      </p:sp>
      <p:sp>
        <p:nvSpPr>
          <p:cNvPr id="52" name="矩形 51"/>
          <p:cNvSpPr>
            <a:spLocks noGrp="1"/>
          </p:cNvSpPr>
          <p:nvPr/>
        </p:nvSpPr>
        <p:spPr>
          <a:xfrm>
            <a:off x="10153650" y="1914525"/>
            <a:ext cx="952500" cy="152400"/>
          </a:xfrm>
          <a:prstGeom prst="rect">
            <a:avLst/>
          </a:prstGeom>
          <a:noFill/>
          <a:ln w="0">
            <a:noFill/>
            <a:prstDash val="solid"/>
          </a:ln>
        </p:spPr>
        <p:txBody>
          <a:bodyPr wrap="square" lIns="0" tIns="0" rIns="0" bIns="0" anchor="ctr">
            <a:normAutofit fontScale="94967"/>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matched block</a:t>
            </a:r>
          </a:p>
        </p:txBody>
      </p:sp>
      <p:sp>
        <p:nvSpPr>
          <p:cNvPr id="53" name="矩形 52"/>
          <p:cNvSpPr>
            <a:spLocks noGrp="1"/>
          </p:cNvSpPr>
          <p:nvPr/>
        </p:nvSpPr>
        <p:spPr>
          <a:xfrm>
            <a:off x="914400" y="3771900"/>
            <a:ext cx="1714500" cy="209550"/>
          </a:xfrm>
          <a:prstGeom prst="rect">
            <a:avLst/>
          </a:prstGeom>
          <a:noFill/>
          <a:ln w="0">
            <a:noFill/>
            <a:prstDash val="solid"/>
          </a:ln>
        </p:spPr>
        <p:txBody>
          <a:bodyPr wrap="square" lIns="0" tIns="0" rIns="0" bIns="0" anchor="t">
            <a:normAutofit fontScale="99855" lnSpcReduction="10000"/>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Performance parity</a:t>
            </a:r>
          </a:p>
        </p:txBody>
      </p:sp>
      <p:sp>
        <p:nvSpPr>
          <p:cNvPr id="54" name="圆角矩形 53"/>
          <p:cNvSpPr>
            <a:spLocks noGrp="1"/>
          </p:cNvSpPr>
          <p:nvPr/>
        </p:nvSpPr>
        <p:spPr>
          <a:xfrm>
            <a:off x="914400" y="4095750"/>
            <a:ext cx="2381250" cy="590550"/>
          </a:xfrm>
          <a:prstGeom prst="roundRect">
            <a:avLst>
              <a:gd name="adj" fmla="val 19355"/>
            </a:avLst>
          </a:prstGeom>
          <a:solidFill>
            <a:srgbClr val="FFFFFF"/>
          </a:solidFill>
          <a:ln w="9525">
            <a:solidFill>
              <a:srgbClr val="D8CCBB"/>
            </a:solidFill>
            <a:prstDash val="solid"/>
          </a:ln>
        </p:spPr>
      </p:sp>
      <p:sp>
        <p:nvSpPr>
          <p:cNvPr id="55" name="圆角矩形 54"/>
          <p:cNvSpPr>
            <a:spLocks noGrp="1"/>
          </p:cNvSpPr>
          <p:nvPr/>
        </p:nvSpPr>
        <p:spPr>
          <a:xfrm>
            <a:off x="914400" y="4095750"/>
            <a:ext cx="57150" cy="590550"/>
          </a:xfrm>
          <a:prstGeom prst="roundRect">
            <a:avLst>
              <a:gd name="adj" fmla="val 33333"/>
            </a:avLst>
          </a:prstGeom>
          <a:solidFill>
            <a:srgbClr val="B77845"/>
          </a:solidFill>
          <a:ln w="9525">
            <a:solidFill>
              <a:srgbClr val="B77845"/>
            </a:solidFill>
            <a:prstDash val="solid"/>
          </a:ln>
        </p:spPr>
      </p:sp>
      <p:sp>
        <p:nvSpPr>
          <p:cNvPr id="56" name="矩形 55"/>
          <p:cNvSpPr>
            <a:spLocks noGrp="1"/>
          </p:cNvSpPr>
          <p:nvPr/>
        </p:nvSpPr>
        <p:spPr>
          <a:xfrm>
            <a:off x="106680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total payoff</a:t>
            </a:r>
          </a:p>
        </p:txBody>
      </p:sp>
      <p:sp>
        <p:nvSpPr>
          <p:cNvPr id="57" name="圆角矩形 56"/>
          <p:cNvSpPr>
            <a:spLocks noGrp="1"/>
          </p:cNvSpPr>
          <p:nvPr/>
        </p:nvSpPr>
        <p:spPr>
          <a:xfrm>
            <a:off x="3486150" y="4095750"/>
            <a:ext cx="2381250" cy="590550"/>
          </a:xfrm>
          <a:prstGeom prst="roundRect">
            <a:avLst>
              <a:gd name="adj" fmla="val 19355"/>
            </a:avLst>
          </a:prstGeom>
          <a:solidFill>
            <a:srgbClr val="FFFFFF"/>
          </a:solidFill>
          <a:ln w="9525">
            <a:solidFill>
              <a:srgbClr val="D8CCBB"/>
            </a:solidFill>
            <a:prstDash val="solid"/>
          </a:ln>
        </p:spPr>
      </p:sp>
      <p:sp>
        <p:nvSpPr>
          <p:cNvPr id="58" name="圆角矩形 57"/>
          <p:cNvSpPr>
            <a:spLocks noGrp="1"/>
          </p:cNvSpPr>
          <p:nvPr/>
        </p:nvSpPr>
        <p:spPr>
          <a:xfrm>
            <a:off x="3486150" y="4095750"/>
            <a:ext cx="57150" cy="590550"/>
          </a:xfrm>
          <a:prstGeom prst="roundRect">
            <a:avLst>
              <a:gd name="adj" fmla="val 33333"/>
            </a:avLst>
          </a:prstGeom>
          <a:solidFill>
            <a:srgbClr val="818A68"/>
          </a:solidFill>
          <a:ln w="9525">
            <a:solidFill>
              <a:srgbClr val="818A68"/>
            </a:solidFill>
            <a:prstDash val="solid"/>
          </a:ln>
        </p:spPr>
      </p:sp>
      <p:sp>
        <p:nvSpPr>
          <p:cNvPr id="59" name="矩形 58"/>
          <p:cNvSpPr>
            <a:spLocks noGrp="1"/>
          </p:cNvSpPr>
          <p:nvPr/>
        </p:nvSpPr>
        <p:spPr>
          <a:xfrm>
            <a:off x="363855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error count</a:t>
            </a:r>
          </a:p>
        </p:txBody>
      </p:sp>
      <p:sp>
        <p:nvSpPr>
          <p:cNvPr id="60" name="圆角矩形 59"/>
          <p:cNvSpPr>
            <a:spLocks noGrp="1"/>
          </p:cNvSpPr>
          <p:nvPr/>
        </p:nvSpPr>
        <p:spPr>
          <a:xfrm>
            <a:off x="6057900" y="4095750"/>
            <a:ext cx="2381250" cy="590550"/>
          </a:xfrm>
          <a:prstGeom prst="roundRect">
            <a:avLst>
              <a:gd name="adj" fmla="val 19355"/>
            </a:avLst>
          </a:prstGeom>
          <a:solidFill>
            <a:srgbClr val="FFFFFF"/>
          </a:solidFill>
          <a:ln w="9525">
            <a:solidFill>
              <a:srgbClr val="D8CCBB"/>
            </a:solidFill>
            <a:prstDash val="solid"/>
          </a:ln>
        </p:spPr>
      </p:sp>
      <p:sp>
        <p:nvSpPr>
          <p:cNvPr id="61" name="圆角矩形 60"/>
          <p:cNvSpPr>
            <a:spLocks noGrp="1"/>
          </p:cNvSpPr>
          <p:nvPr/>
        </p:nvSpPr>
        <p:spPr>
          <a:xfrm>
            <a:off x="6057900" y="4095750"/>
            <a:ext cx="57150" cy="590550"/>
          </a:xfrm>
          <a:prstGeom prst="roundRect">
            <a:avLst>
              <a:gd name="adj" fmla="val 33333"/>
            </a:avLst>
          </a:prstGeom>
          <a:solidFill>
            <a:srgbClr val="B77845"/>
          </a:solidFill>
          <a:ln w="9525">
            <a:solidFill>
              <a:srgbClr val="B77845"/>
            </a:solidFill>
            <a:prstDash val="solid"/>
          </a:ln>
        </p:spPr>
      </p:sp>
      <p:sp>
        <p:nvSpPr>
          <p:cNvPr id="62" name="矩形 61"/>
          <p:cNvSpPr>
            <a:spLocks noGrp="1"/>
          </p:cNvSpPr>
          <p:nvPr/>
        </p:nvSpPr>
        <p:spPr>
          <a:xfrm>
            <a:off x="621030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average AI quality</a:t>
            </a:r>
          </a:p>
        </p:txBody>
      </p:sp>
      <p:sp>
        <p:nvSpPr>
          <p:cNvPr id="63" name="圆角矩形 62"/>
          <p:cNvSpPr>
            <a:spLocks noGrp="1"/>
          </p:cNvSpPr>
          <p:nvPr/>
        </p:nvSpPr>
        <p:spPr>
          <a:xfrm>
            <a:off x="8629650" y="4095750"/>
            <a:ext cx="2381250" cy="590550"/>
          </a:xfrm>
          <a:prstGeom prst="roundRect">
            <a:avLst>
              <a:gd name="adj" fmla="val 19355"/>
            </a:avLst>
          </a:prstGeom>
          <a:solidFill>
            <a:srgbClr val="FFFFFF"/>
          </a:solidFill>
          <a:ln w="9525">
            <a:solidFill>
              <a:srgbClr val="D8CCBB"/>
            </a:solidFill>
            <a:prstDash val="solid"/>
          </a:ln>
        </p:spPr>
      </p:sp>
      <p:sp>
        <p:nvSpPr>
          <p:cNvPr id="64" name="圆角矩形 63"/>
          <p:cNvSpPr>
            <a:spLocks noGrp="1"/>
          </p:cNvSpPr>
          <p:nvPr/>
        </p:nvSpPr>
        <p:spPr>
          <a:xfrm>
            <a:off x="8629650" y="4095750"/>
            <a:ext cx="57150" cy="590550"/>
          </a:xfrm>
          <a:prstGeom prst="roundRect">
            <a:avLst>
              <a:gd name="adj" fmla="val 33333"/>
            </a:avLst>
          </a:prstGeom>
          <a:solidFill>
            <a:srgbClr val="818A68"/>
          </a:solidFill>
          <a:ln w="9525">
            <a:solidFill>
              <a:srgbClr val="818A68"/>
            </a:solidFill>
            <a:prstDash val="solid"/>
          </a:ln>
        </p:spPr>
      </p:sp>
      <p:sp>
        <p:nvSpPr>
          <p:cNvPr id="65" name="矩形 64"/>
          <p:cNvSpPr>
            <a:spLocks noGrp="1"/>
          </p:cNvSpPr>
          <p:nvPr/>
        </p:nvSpPr>
        <p:spPr>
          <a:xfrm>
            <a:off x="8782050" y="4257675"/>
            <a:ext cx="2076450" cy="209550"/>
          </a:xfrm>
          <a:prstGeom prst="rect">
            <a:avLst/>
          </a:prstGeom>
          <a:noFill/>
          <a:ln w="0">
            <a:noFill/>
            <a:prstDash val="solid"/>
          </a:ln>
        </p:spPr>
        <p:txBody>
          <a:bodyPr wrap="square" lIns="0" tIns="0" rIns="0" bIns="0" anchor="t">
            <a:normAutofit/>
          </a:bodyPr>
          <a:lstStyle/>
          <a:p>
            <a:pPr algn="ctr">
              <a:lnSpc>
                <a:spcPct val="108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same recovery level</a:t>
            </a:r>
          </a:p>
        </p:txBody>
      </p:sp>
      <p:sp>
        <p:nvSpPr>
          <p:cNvPr id="66" name="矩形 65"/>
          <p:cNvSpPr>
            <a:spLocks noGrp="1"/>
          </p:cNvSpPr>
          <p:nvPr/>
        </p:nvSpPr>
        <p:spPr>
          <a:xfrm>
            <a:off x="914400" y="4914900"/>
            <a:ext cx="2095500" cy="209550"/>
          </a:xfrm>
          <a:prstGeom prst="rect">
            <a:avLst/>
          </a:prstGeom>
          <a:noFill/>
          <a:ln w="0">
            <a:noFill/>
            <a:prstDash val="solid"/>
          </a:ln>
        </p:spPr>
        <p:txBody>
          <a:bodyPr wrap="square" lIns="0" tIns="0" rIns="0" bIns="0" anchor="t">
            <a:normAutofit fontScale="99855" lnSpcReduction="10000"/>
          </a:bodyPr>
          <a:lstStyle/>
          <a:p>
            <a:pPr algn="l">
              <a:lnSpc>
                <a:spcPct val="108000"/>
              </a:lnSpc>
              <a:buNone/>
              <a:defRPr sz="1275" b="1" i="0">
                <a:solidFill>
                  <a:srgbClr val="231D17"/>
                </a:solidFill>
                <a:latin typeface="Times New Roman" panose="02020603050405020304"/>
                <a:ea typeface="Times New Roman" panose="02020603050405020304"/>
                <a:cs typeface="Times New Roman" panose="02020603050405020304"/>
              </a:defRPr>
            </a:pPr>
            <a:r>
              <a:rPr sz="1275" b="1" i="0">
                <a:solidFill>
                  <a:srgbClr val="231D17"/>
                </a:solidFill>
                <a:latin typeface="Times New Roman" panose="02020603050405020304"/>
                <a:ea typeface="Times New Roman" panose="02020603050405020304"/>
                <a:cs typeface="Times New Roman" panose="02020603050405020304"/>
              </a:rPr>
              <a:t>One participant's round</a:t>
            </a:r>
          </a:p>
        </p:txBody>
      </p:sp>
      <p:sp>
        <p:nvSpPr>
          <p:cNvPr id="67" name="圆角矩形 66"/>
          <p:cNvSpPr>
            <a:spLocks noGrp="1"/>
          </p:cNvSpPr>
          <p:nvPr/>
        </p:nvSpPr>
        <p:spPr>
          <a:xfrm>
            <a:off x="914400" y="5257800"/>
            <a:ext cx="1600200" cy="876300"/>
          </a:xfrm>
          <a:prstGeom prst="roundRect">
            <a:avLst>
              <a:gd name="adj" fmla="val 13043"/>
            </a:avLst>
          </a:prstGeom>
          <a:solidFill>
            <a:srgbClr val="FFFFFF"/>
          </a:solidFill>
          <a:ln w="9525">
            <a:solidFill>
              <a:srgbClr val="D8CCBB"/>
            </a:solidFill>
            <a:prstDash val="solid"/>
          </a:ln>
        </p:spPr>
      </p:sp>
      <p:sp>
        <p:nvSpPr>
          <p:cNvPr id="68" name="矩形 67"/>
          <p:cNvSpPr>
            <a:spLocks noGrp="1"/>
          </p:cNvSpPr>
          <p:nvPr/>
        </p:nvSpPr>
        <p:spPr>
          <a:xfrm>
            <a:off x="10287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see task</a:t>
            </a:r>
          </a:p>
        </p:txBody>
      </p:sp>
      <p:sp>
        <p:nvSpPr>
          <p:cNvPr id="69" name="矩形 68"/>
          <p:cNvSpPr>
            <a:spLocks noGrp="1"/>
          </p:cNvSpPr>
          <p:nvPr/>
        </p:nvSpPr>
        <p:spPr>
          <a:xfrm>
            <a:off x="2495550" y="5572125"/>
            <a:ext cx="190500" cy="228600"/>
          </a:xfrm>
          <a:prstGeom prst="rect">
            <a:avLst/>
          </a:prstGeom>
          <a:noFill/>
          <a:ln w="0">
            <a:noFill/>
            <a:prstDash val="solid"/>
          </a:ln>
        </p:spPr>
        <p:txBody>
          <a:bodyPr wrap="square" lIns="0" tIns="0" rIns="0" bIns="0" anchor="ctr">
            <a:normAutofit fontScale="7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70" name="圆角矩形 69"/>
          <p:cNvSpPr>
            <a:spLocks noGrp="1"/>
          </p:cNvSpPr>
          <p:nvPr/>
        </p:nvSpPr>
        <p:spPr>
          <a:xfrm>
            <a:off x="2647950" y="5257800"/>
            <a:ext cx="1600200" cy="876300"/>
          </a:xfrm>
          <a:prstGeom prst="roundRect">
            <a:avLst>
              <a:gd name="adj" fmla="val 13043"/>
            </a:avLst>
          </a:prstGeom>
          <a:solidFill>
            <a:srgbClr val="FFFFFF"/>
          </a:solidFill>
          <a:ln w="9525">
            <a:solidFill>
              <a:srgbClr val="D8CCBB"/>
            </a:solidFill>
            <a:prstDash val="solid"/>
          </a:ln>
        </p:spPr>
      </p:sp>
      <p:sp>
        <p:nvSpPr>
          <p:cNvPr id="71" name="矩形 70"/>
          <p:cNvSpPr>
            <a:spLocks noGrp="1"/>
          </p:cNvSpPr>
          <p:nvPr/>
        </p:nvSpPr>
        <p:spPr>
          <a:xfrm>
            <a:off x="276225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make self judgment</a:t>
            </a:r>
          </a:p>
        </p:txBody>
      </p:sp>
      <p:sp>
        <p:nvSpPr>
          <p:cNvPr id="72" name="矩形 71"/>
          <p:cNvSpPr>
            <a:spLocks noGrp="1"/>
          </p:cNvSpPr>
          <p:nvPr/>
        </p:nvSpPr>
        <p:spPr>
          <a:xfrm>
            <a:off x="4229100" y="5572125"/>
            <a:ext cx="190500" cy="228600"/>
          </a:xfrm>
          <a:prstGeom prst="rect">
            <a:avLst/>
          </a:prstGeom>
          <a:noFill/>
          <a:ln w="0">
            <a:noFill/>
            <a:prstDash val="solid"/>
          </a:ln>
        </p:spPr>
        <p:txBody>
          <a:bodyPr wrap="square" lIns="0" tIns="0" rIns="0" bIns="0" anchor="ctr">
            <a:normAutofit fontScale="7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73" name="圆角矩形 72"/>
          <p:cNvSpPr>
            <a:spLocks noGrp="1"/>
          </p:cNvSpPr>
          <p:nvPr/>
        </p:nvSpPr>
        <p:spPr>
          <a:xfrm>
            <a:off x="4381500" y="5257800"/>
            <a:ext cx="1600200" cy="876300"/>
          </a:xfrm>
          <a:prstGeom prst="roundRect">
            <a:avLst>
              <a:gd name="adj" fmla="val 13043"/>
            </a:avLst>
          </a:prstGeom>
          <a:solidFill>
            <a:srgbClr val="FFFFFF"/>
          </a:solidFill>
          <a:ln w="9525">
            <a:solidFill>
              <a:srgbClr val="D8CCBB"/>
            </a:solidFill>
            <a:prstDash val="solid"/>
          </a:ln>
        </p:spPr>
      </p:sp>
      <p:sp>
        <p:nvSpPr>
          <p:cNvPr id="74" name="矩形 73"/>
          <p:cNvSpPr>
            <a:spLocks noGrp="1"/>
          </p:cNvSpPr>
          <p:nvPr/>
        </p:nvSpPr>
        <p:spPr>
          <a:xfrm>
            <a:off x="44958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observe AI output</a:t>
            </a:r>
          </a:p>
        </p:txBody>
      </p:sp>
      <p:sp>
        <p:nvSpPr>
          <p:cNvPr id="75" name="矩形 74"/>
          <p:cNvSpPr>
            <a:spLocks noGrp="1"/>
          </p:cNvSpPr>
          <p:nvPr/>
        </p:nvSpPr>
        <p:spPr>
          <a:xfrm>
            <a:off x="5962650" y="5572125"/>
            <a:ext cx="190500" cy="228600"/>
          </a:xfrm>
          <a:prstGeom prst="rect">
            <a:avLst/>
          </a:prstGeom>
          <a:noFill/>
          <a:ln w="0">
            <a:noFill/>
            <a:prstDash val="solid"/>
          </a:ln>
        </p:spPr>
        <p:txBody>
          <a:bodyPr wrap="square" lIns="0" tIns="0" rIns="0" bIns="0" anchor="ctr">
            <a:normAutofit fontScale="7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76" name="圆角矩形 75"/>
          <p:cNvSpPr>
            <a:spLocks noGrp="1"/>
          </p:cNvSpPr>
          <p:nvPr/>
        </p:nvSpPr>
        <p:spPr>
          <a:xfrm>
            <a:off x="6115050" y="5257800"/>
            <a:ext cx="1600200" cy="876300"/>
          </a:xfrm>
          <a:prstGeom prst="roundRect">
            <a:avLst>
              <a:gd name="adj" fmla="val 13043"/>
            </a:avLst>
          </a:prstGeom>
          <a:solidFill>
            <a:srgbClr val="FFFFFF"/>
          </a:solidFill>
          <a:ln w="9525">
            <a:solidFill>
              <a:srgbClr val="D8CCBB"/>
            </a:solidFill>
            <a:prstDash val="solid"/>
          </a:ln>
        </p:spPr>
      </p:sp>
      <p:sp>
        <p:nvSpPr>
          <p:cNvPr id="77" name="矩形 76"/>
          <p:cNvSpPr>
            <a:spLocks noGrp="1"/>
          </p:cNvSpPr>
          <p:nvPr/>
        </p:nvSpPr>
        <p:spPr>
          <a:xfrm>
            <a:off x="622935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choose final submission</a:t>
            </a:r>
          </a:p>
        </p:txBody>
      </p:sp>
      <p:sp>
        <p:nvSpPr>
          <p:cNvPr id="78" name="矩形 77"/>
          <p:cNvSpPr>
            <a:spLocks noGrp="1"/>
          </p:cNvSpPr>
          <p:nvPr/>
        </p:nvSpPr>
        <p:spPr>
          <a:xfrm>
            <a:off x="7696200" y="5572125"/>
            <a:ext cx="190500" cy="228600"/>
          </a:xfrm>
          <a:prstGeom prst="rect">
            <a:avLst/>
          </a:prstGeom>
          <a:noFill/>
          <a:ln w="0">
            <a:noFill/>
            <a:prstDash val="solid"/>
          </a:ln>
        </p:spPr>
        <p:txBody>
          <a:bodyPr wrap="square" lIns="0" tIns="0" rIns="0" bIns="0" anchor="ctr">
            <a:normAutofit fontScale="7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79" name="圆角矩形 78"/>
          <p:cNvSpPr>
            <a:spLocks noGrp="1"/>
          </p:cNvSpPr>
          <p:nvPr/>
        </p:nvSpPr>
        <p:spPr>
          <a:xfrm>
            <a:off x="7848600" y="5257800"/>
            <a:ext cx="1600200" cy="876300"/>
          </a:xfrm>
          <a:prstGeom prst="roundRect">
            <a:avLst>
              <a:gd name="adj" fmla="val 13043"/>
            </a:avLst>
          </a:prstGeom>
          <a:solidFill>
            <a:srgbClr val="F7EADC"/>
          </a:solidFill>
          <a:ln w="9525">
            <a:solidFill>
              <a:srgbClr val="B77845"/>
            </a:solidFill>
            <a:prstDash val="solid"/>
          </a:ln>
        </p:spPr>
      </p:sp>
      <p:sp>
        <p:nvSpPr>
          <p:cNvPr id="80" name="矩形 79"/>
          <p:cNvSpPr>
            <a:spLocks noGrp="1"/>
          </p:cNvSpPr>
          <p:nvPr/>
        </p:nvSpPr>
        <p:spPr>
          <a:xfrm>
            <a:off x="7962900" y="5562600"/>
            <a:ext cx="1371600" cy="247650"/>
          </a:xfrm>
          <a:prstGeom prst="rect">
            <a:avLst/>
          </a:prstGeom>
          <a:noFill/>
          <a:ln w="0">
            <a:noFill/>
            <a:prstDash val="solid"/>
          </a:ln>
        </p:spPr>
        <p:txBody>
          <a:bodyPr wrap="square" lIns="0" tIns="0" rIns="0" bIns="0" anchor="ctr">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receive full feedback</a:t>
            </a:r>
          </a:p>
        </p:txBody>
      </p:sp>
      <p:sp>
        <p:nvSpPr>
          <p:cNvPr id="81" name="矩形 80"/>
          <p:cNvSpPr>
            <a:spLocks noGrp="1"/>
          </p:cNvSpPr>
          <p:nvPr/>
        </p:nvSpPr>
        <p:spPr>
          <a:xfrm>
            <a:off x="9429750" y="5572125"/>
            <a:ext cx="190500" cy="228600"/>
          </a:xfrm>
          <a:prstGeom prst="rect">
            <a:avLst/>
          </a:prstGeom>
          <a:noFill/>
          <a:ln w="0">
            <a:noFill/>
            <a:prstDash val="solid"/>
          </a:ln>
        </p:spPr>
        <p:txBody>
          <a:bodyPr wrap="square" lIns="0" tIns="0" rIns="0" bIns="0" anchor="ctr">
            <a:normAutofit fontScale="74175"/>
          </a:bodyPr>
          <a:lstStyle/>
          <a:p>
            <a:pPr algn="ctr">
              <a:lnSpc>
                <a:spcPct val="108000"/>
              </a:lnSpc>
              <a:buNone/>
              <a:defRPr sz="1650" b="1" i="0">
                <a:solidFill>
                  <a:srgbClr val="B77845"/>
                </a:solidFill>
                <a:latin typeface="Times New Roman" panose="02020603050405020304"/>
                <a:ea typeface="Times New Roman" panose="02020603050405020304"/>
                <a:cs typeface="Times New Roman" panose="02020603050405020304"/>
              </a:defRPr>
            </a:pPr>
            <a:r>
              <a:rPr sz="1650" b="1" i="0">
                <a:solidFill>
                  <a:srgbClr val="B77845"/>
                </a:solidFill>
                <a:latin typeface="Times New Roman" panose="02020603050405020304"/>
                <a:ea typeface="Times New Roman" panose="02020603050405020304"/>
                <a:cs typeface="Times New Roman" panose="02020603050405020304"/>
              </a:rPr>
              <a:t>&gt;</a:t>
            </a:r>
          </a:p>
        </p:txBody>
      </p:sp>
      <p:sp>
        <p:nvSpPr>
          <p:cNvPr id="82" name="圆角矩形 81"/>
          <p:cNvSpPr>
            <a:spLocks noGrp="1"/>
          </p:cNvSpPr>
          <p:nvPr/>
        </p:nvSpPr>
        <p:spPr>
          <a:xfrm>
            <a:off x="9582150" y="5257800"/>
            <a:ext cx="1600200" cy="876300"/>
          </a:xfrm>
          <a:prstGeom prst="roundRect">
            <a:avLst>
              <a:gd name="adj" fmla="val 13043"/>
            </a:avLst>
          </a:prstGeom>
          <a:solidFill>
            <a:srgbClr val="FFFFFF"/>
          </a:solidFill>
          <a:ln w="9525">
            <a:solidFill>
              <a:srgbClr val="D8CCBB"/>
            </a:solidFill>
            <a:prstDash val="solid"/>
          </a:ln>
        </p:spPr>
      </p:sp>
      <p:sp>
        <p:nvSpPr>
          <p:cNvPr id="83" name="矩形 82"/>
          <p:cNvSpPr>
            <a:spLocks noGrp="1"/>
          </p:cNvSpPr>
          <p:nvPr/>
        </p:nvSpPr>
        <p:spPr>
          <a:xfrm>
            <a:off x="9696450" y="5562600"/>
            <a:ext cx="1371600" cy="247650"/>
          </a:xfrm>
          <a:prstGeom prst="rect">
            <a:avLst/>
          </a:prstGeom>
          <a:noFill/>
          <a:ln w="0">
            <a:noFill/>
            <a:prstDash val="solid"/>
          </a:ln>
        </p:spPr>
        <p:txBody>
          <a:bodyPr wrap="square" lIns="0" tIns="0" rIns="0" bIns="0" anchor="ctr">
            <a:normAutofit fontScale="95996"/>
          </a:bodyPr>
          <a:lstStyle/>
          <a:p>
            <a:pPr algn="ctr">
              <a:lnSpc>
                <a:spcPct val="108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update next-round reliance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 name="矩形 66"/>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RQ TABLE</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fontScale="91391" lnSpcReduction="10000"/>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Hypotheses, manipulations, comparisons, and parity standards align cleanly</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This is the identification map of the paper: each row ties one question to one manipulation, one comparison, and one parity condition.</a:t>
            </a:r>
          </a:p>
        </p:txBody>
      </p:sp>
      <p:sp>
        <p:nvSpPr>
          <p:cNvPr id="7" name="矩形 6"/>
          <p:cNvSpPr>
            <a:spLocks noGrp="1"/>
          </p:cNvSpPr>
          <p:nvPr/>
        </p:nvSpPr>
        <p:spPr>
          <a:xfrm>
            <a:off x="914400" y="1962150"/>
            <a:ext cx="1619250" cy="476250"/>
          </a:xfrm>
          <a:prstGeom prst="rect">
            <a:avLst/>
          </a:prstGeom>
          <a:solidFill>
            <a:srgbClr val="EDE5D8"/>
          </a:solidFill>
          <a:ln w="9525">
            <a:solidFill>
              <a:srgbClr val="D8CCBB"/>
            </a:solidFill>
            <a:prstDash val="solid"/>
          </a:ln>
        </p:spPr>
      </p:sp>
      <p:sp>
        <p:nvSpPr>
          <p:cNvPr id="8" name="矩形 7"/>
          <p:cNvSpPr>
            <a:spLocks noGrp="1"/>
          </p:cNvSpPr>
          <p:nvPr/>
        </p:nvSpPr>
        <p:spPr>
          <a:xfrm>
            <a:off x="990600" y="2085975"/>
            <a:ext cx="146685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RQ / H</a:t>
            </a:r>
          </a:p>
        </p:txBody>
      </p:sp>
      <p:sp>
        <p:nvSpPr>
          <p:cNvPr id="9" name="矩形 8"/>
          <p:cNvSpPr>
            <a:spLocks noGrp="1"/>
          </p:cNvSpPr>
          <p:nvPr/>
        </p:nvSpPr>
        <p:spPr>
          <a:xfrm>
            <a:off x="2533650" y="1962150"/>
            <a:ext cx="2286000" cy="476250"/>
          </a:xfrm>
          <a:prstGeom prst="rect">
            <a:avLst/>
          </a:prstGeom>
          <a:solidFill>
            <a:srgbClr val="EDE5D8"/>
          </a:solidFill>
          <a:ln w="9525">
            <a:solidFill>
              <a:srgbClr val="D8CCBB"/>
            </a:solidFill>
            <a:prstDash val="solid"/>
          </a:ln>
        </p:spPr>
      </p:sp>
      <p:sp>
        <p:nvSpPr>
          <p:cNvPr id="10" name="矩形 9"/>
          <p:cNvSpPr>
            <a:spLocks noGrp="1"/>
          </p:cNvSpPr>
          <p:nvPr/>
        </p:nvSpPr>
        <p:spPr>
          <a:xfrm>
            <a:off x="2609850" y="2085975"/>
            <a:ext cx="21336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Experimental Manipulation</a:t>
            </a:r>
          </a:p>
        </p:txBody>
      </p:sp>
      <p:sp>
        <p:nvSpPr>
          <p:cNvPr id="11" name="矩形 10"/>
          <p:cNvSpPr>
            <a:spLocks noGrp="1"/>
          </p:cNvSpPr>
          <p:nvPr/>
        </p:nvSpPr>
        <p:spPr>
          <a:xfrm>
            <a:off x="4819650" y="1962150"/>
            <a:ext cx="1981200" cy="476250"/>
          </a:xfrm>
          <a:prstGeom prst="rect">
            <a:avLst/>
          </a:prstGeom>
          <a:solidFill>
            <a:srgbClr val="EDE5D8"/>
          </a:solidFill>
          <a:ln w="9525">
            <a:solidFill>
              <a:srgbClr val="D8CCBB"/>
            </a:solidFill>
            <a:prstDash val="solid"/>
          </a:ln>
        </p:spPr>
      </p:sp>
      <p:sp>
        <p:nvSpPr>
          <p:cNvPr id="12" name="矩形 11"/>
          <p:cNvSpPr>
            <a:spLocks noGrp="1"/>
          </p:cNvSpPr>
          <p:nvPr/>
        </p:nvSpPr>
        <p:spPr>
          <a:xfrm>
            <a:off x="4895850" y="2085975"/>
            <a:ext cx="18288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Key Comparison</a:t>
            </a:r>
          </a:p>
        </p:txBody>
      </p:sp>
      <p:sp>
        <p:nvSpPr>
          <p:cNvPr id="13" name="矩形 12"/>
          <p:cNvSpPr>
            <a:spLocks noGrp="1"/>
          </p:cNvSpPr>
          <p:nvPr/>
        </p:nvSpPr>
        <p:spPr>
          <a:xfrm>
            <a:off x="6800850" y="1962150"/>
            <a:ext cx="2000250" cy="476250"/>
          </a:xfrm>
          <a:prstGeom prst="rect">
            <a:avLst/>
          </a:prstGeom>
          <a:solidFill>
            <a:srgbClr val="EDE5D8"/>
          </a:solidFill>
          <a:ln w="9525">
            <a:solidFill>
              <a:srgbClr val="D8CCBB"/>
            </a:solidFill>
            <a:prstDash val="solid"/>
          </a:ln>
        </p:spPr>
      </p:sp>
      <p:sp>
        <p:nvSpPr>
          <p:cNvPr id="14" name="矩形 13"/>
          <p:cNvSpPr>
            <a:spLocks noGrp="1"/>
          </p:cNvSpPr>
          <p:nvPr/>
        </p:nvSpPr>
        <p:spPr>
          <a:xfrm>
            <a:off x="6877050" y="2085975"/>
            <a:ext cx="184785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Parity Standard</a:t>
            </a:r>
          </a:p>
        </p:txBody>
      </p:sp>
      <p:sp>
        <p:nvSpPr>
          <p:cNvPr id="15" name="矩形 14"/>
          <p:cNvSpPr>
            <a:spLocks noGrp="1"/>
          </p:cNvSpPr>
          <p:nvPr/>
        </p:nvSpPr>
        <p:spPr>
          <a:xfrm>
            <a:off x="8801100" y="1962150"/>
            <a:ext cx="2476500" cy="476250"/>
          </a:xfrm>
          <a:prstGeom prst="rect">
            <a:avLst/>
          </a:prstGeom>
          <a:solidFill>
            <a:srgbClr val="EDE5D8"/>
          </a:solidFill>
          <a:ln w="9525">
            <a:solidFill>
              <a:srgbClr val="D8CCBB"/>
            </a:solidFill>
            <a:prstDash val="solid"/>
          </a:ln>
        </p:spPr>
      </p:sp>
      <p:sp>
        <p:nvSpPr>
          <p:cNvPr id="16" name="矩形 15"/>
          <p:cNvSpPr>
            <a:spLocks noGrp="1"/>
          </p:cNvSpPr>
          <p:nvPr/>
        </p:nvSpPr>
        <p:spPr>
          <a:xfrm>
            <a:off x="8877300" y="2085975"/>
            <a:ext cx="2324100" cy="190500"/>
          </a:xfrm>
          <a:prstGeom prst="rect">
            <a:avLst/>
          </a:prstGeom>
          <a:noFill/>
          <a:ln w="0">
            <a:noFill/>
            <a:prstDash val="solid"/>
          </a:ln>
        </p:spPr>
        <p:txBody>
          <a:bodyPr wrap="square" lIns="0" tIns="0" rIns="0" bIns="0" anchor="t">
            <a:normAutofit/>
          </a:bodyPr>
          <a:lstStyle/>
          <a:p>
            <a:pPr algn="ctr">
              <a:lnSpc>
                <a:spcPct val="108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What It Identifies</a:t>
            </a:r>
          </a:p>
        </p:txBody>
      </p:sp>
      <p:sp>
        <p:nvSpPr>
          <p:cNvPr id="17" name="矩形 16"/>
          <p:cNvSpPr>
            <a:spLocks noGrp="1"/>
          </p:cNvSpPr>
          <p:nvPr/>
        </p:nvSpPr>
        <p:spPr>
          <a:xfrm>
            <a:off x="914400" y="2438400"/>
            <a:ext cx="1619250" cy="895350"/>
          </a:xfrm>
          <a:prstGeom prst="rect">
            <a:avLst/>
          </a:prstGeom>
          <a:solidFill>
            <a:srgbClr val="FFFFFF"/>
          </a:solidFill>
          <a:ln w="9525">
            <a:solidFill>
              <a:srgbClr val="D8CCBB"/>
            </a:solidFill>
            <a:prstDash val="solid"/>
          </a:ln>
        </p:spPr>
      </p:sp>
      <p:sp>
        <p:nvSpPr>
          <p:cNvPr id="18" name="矩形 17"/>
          <p:cNvSpPr>
            <a:spLocks noGrp="1"/>
          </p:cNvSpPr>
          <p:nvPr/>
        </p:nvSpPr>
        <p:spPr>
          <a:xfrm>
            <a:off x="1009650" y="253365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H1</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Dynamic updating</a:t>
            </a:r>
          </a:p>
        </p:txBody>
      </p:sp>
      <p:sp>
        <p:nvSpPr>
          <p:cNvPr id="19" name="矩形 18"/>
          <p:cNvSpPr>
            <a:spLocks noGrp="1"/>
          </p:cNvSpPr>
          <p:nvPr/>
        </p:nvSpPr>
        <p:spPr>
          <a:xfrm>
            <a:off x="2533650" y="2438400"/>
            <a:ext cx="2286000" cy="895350"/>
          </a:xfrm>
          <a:prstGeom prst="rect">
            <a:avLst/>
          </a:prstGeom>
          <a:solidFill>
            <a:srgbClr val="FFFFFF"/>
          </a:solidFill>
          <a:ln w="9525">
            <a:solidFill>
              <a:srgbClr val="D8CCBB"/>
            </a:solidFill>
            <a:prstDash val="solid"/>
          </a:ln>
        </p:spPr>
      </p:sp>
      <p:sp>
        <p:nvSpPr>
          <p:cNvPr id="20" name="矩形 19"/>
          <p:cNvSpPr>
            <a:spLocks noGrp="1"/>
          </p:cNvSpPr>
          <p:nvPr/>
        </p:nvSpPr>
        <p:spPr>
          <a:xfrm>
            <a:off x="2628900" y="253365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Show both self and AI payoffs after each round</a:t>
            </a:r>
          </a:p>
        </p:txBody>
      </p:sp>
      <p:sp>
        <p:nvSpPr>
          <p:cNvPr id="21" name="矩形 20"/>
          <p:cNvSpPr>
            <a:spLocks noGrp="1"/>
          </p:cNvSpPr>
          <p:nvPr/>
        </p:nvSpPr>
        <p:spPr>
          <a:xfrm>
            <a:off x="4819650" y="2438400"/>
            <a:ext cx="1981200" cy="895350"/>
          </a:xfrm>
          <a:prstGeom prst="rect">
            <a:avLst/>
          </a:prstGeom>
          <a:solidFill>
            <a:srgbClr val="FFFFFF"/>
          </a:solidFill>
          <a:ln w="9525">
            <a:solidFill>
              <a:srgbClr val="D8CCBB"/>
            </a:solidFill>
            <a:prstDash val="solid"/>
          </a:ln>
        </p:spPr>
      </p:sp>
      <p:sp>
        <p:nvSpPr>
          <p:cNvPr id="22" name="矩形 21"/>
          <p:cNvSpPr>
            <a:spLocks noGrp="1"/>
          </p:cNvSpPr>
          <p:nvPr/>
        </p:nvSpPr>
        <p:spPr>
          <a:xfrm>
            <a:off x="4914900" y="253365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adoption after AI outperforms self vs after self outperforms AI</a:t>
            </a:r>
          </a:p>
        </p:txBody>
      </p:sp>
      <p:sp>
        <p:nvSpPr>
          <p:cNvPr id="23" name="矩形 22"/>
          <p:cNvSpPr>
            <a:spLocks noGrp="1"/>
          </p:cNvSpPr>
          <p:nvPr/>
        </p:nvSpPr>
        <p:spPr>
          <a:xfrm>
            <a:off x="6800850" y="2438400"/>
            <a:ext cx="2000250" cy="895350"/>
          </a:xfrm>
          <a:prstGeom prst="rect">
            <a:avLst/>
          </a:prstGeom>
          <a:solidFill>
            <a:srgbClr val="FFFFFF"/>
          </a:solidFill>
          <a:ln w="9525">
            <a:solidFill>
              <a:srgbClr val="D8CCBB"/>
            </a:solidFill>
            <a:prstDash val="solid"/>
          </a:ln>
        </p:spPr>
      </p:sp>
      <p:sp>
        <p:nvSpPr>
          <p:cNvPr id="24" name="矩形 23"/>
          <p:cNvSpPr>
            <a:spLocks noGrp="1"/>
          </p:cNvSpPr>
          <p:nvPr/>
        </p:nvSpPr>
        <p:spPr>
          <a:xfrm>
            <a:off x="6896100" y="253365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information within round</a:t>
            </a:r>
          </a:p>
        </p:txBody>
      </p:sp>
      <p:sp>
        <p:nvSpPr>
          <p:cNvPr id="25" name="矩形 24"/>
          <p:cNvSpPr>
            <a:spLocks noGrp="1"/>
          </p:cNvSpPr>
          <p:nvPr/>
        </p:nvSpPr>
        <p:spPr>
          <a:xfrm>
            <a:off x="8801100" y="2438400"/>
            <a:ext cx="2476500" cy="895350"/>
          </a:xfrm>
          <a:prstGeom prst="rect">
            <a:avLst/>
          </a:prstGeom>
          <a:solidFill>
            <a:srgbClr val="FFFFFF"/>
          </a:solidFill>
          <a:ln w="9525">
            <a:solidFill>
              <a:srgbClr val="D8CCBB"/>
            </a:solidFill>
            <a:prstDash val="solid"/>
          </a:ln>
        </p:spPr>
      </p:sp>
      <p:sp>
        <p:nvSpPr>
          <p:cNvPr id="26" name="矩形 25"/>
          <p:cNvSpPr>
            <a:spLocks noGrp="1"/>
          </p:cNvSpPr>
          <p:nvPr/>
        </p:nvSpPr>
        <p:spPr>
          <a:xfrm>
            <a:off x="8896350" y="253365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reliance responds to relative performance</a:t>
            </a:r>
          </a:p>
        </p:txBody>
      </p:sp>
      <p:sp>
        <p:nvSpPr>
          <p:cNvPr id="27" name="矩形 26"/>
          <p:cNvSpPr>
            <a:spLocks noGrp="1"/>
          </p:cNvSpPr>
          <p:nvPr/>
        </p:nvSpPr>
        <p:spPr>
          <a:xfrm>
            <a:off x="914400" y="3333750"/>
            <a:ext cx="1619250" cy="1009650"/>
          </a:xfrm>
          <a:prstGeom prst="rect">
            <a:avLst/>
          </a:prstGeom>
          <a:solidFill>
            <a:srgbClr val="FFFFFF"/>
          </a:solidFill>
          <a:ln w="9525">
            <a:solidFill>
              <a:srgbClr val="D8CCBB"/>
            </a:solidFill>
            <a:prstDash val="solid"/>
          </a:ln>
        </p:spPr>
      </p:sp>
      <p:sp>
        <p:nvSpPr>
          <p:cNvPr id="28" name="矩形 27"/>
          <p:cNvSpPr>
            <a:spLocks noGrp="1"/>
          </p:cNvSpPr>
          <p:nvPr/>
        </p:nvSpPr>
        <p:spPr>
          <a:xfrm>
            <a:off x="1009650" y="3429000"/>
            <a:ext cx="1428750" cy="8191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H2</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Shock penalty</a:t>
            </a:r>
          </a:p>
        </p:txBody>
      </p:sp>
      <p:sp>
        <p:nvSpPr>
          <p:cNvPr id="29" name="矩形 28"/>
          <p:cNvSpPr>
            <a:spLocks noGrp="1"/>
          </p:cNvSpPr>
          <p:nvPr/>
        </p:nvSpPr>
        <p:spPr>
          <a:xfrm>
            <a:off x="2533650" y="3333750"/>
            <a:ext cx="2286000" cy="1009650"/>
          </a:xfrm>
          <a:prstGeom prst="rect">
            <a:avLst/>
          </a:prstGeom>
          <a:solidFill>
            <a:srgbClr val="FFFFFF"/>
          </a:solidFill>
          <a:ln w="9525">
            <a:solidFill>
              <a:srgbClr val="D8CCBB"/>
            </a:solidFill>
            <a:prstDash val="solid"/>
          </a:ln>
        </p:spPr>
      </p:sp>
      <p:sp>
        <p:nvSpPr>
          <p:cNvPr id="30" name="矩形 29"/>
          <p:cNvSpPr>
            <a:spLocks noGrp="1"/>
          </p:cNvSpPr>
          <p:nvPr/>
        </p:nvSpPr>
        <p:spPr>
          <a:xfrm>
            <a:off x="2628900" y="3429000"/>
            <a:ext cx="20955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Place the same number of AI errors either in one concentrated block or across the task</a:t>
            </a:r>
          </a:p>
        </p:txBody>
      </p:sp>
      <p:sp>
        <p:nvSpPr>
          <p:cNvPr id="31" name="矩形 30"/>
          <p:cNvSpPr>
            <a:spLocks noGrp="1"/>
          </p:cNvSpPr>
          <p:nvPr/>
        </p:nvSpPr>
        <p:spPr>
          <a:xfrm>
            <a:off x="4819650" y="3333750"/>
            <a:ext cx="1981200" cy="1009650"/>
          </a:xfrm>
          <a:prstGeom prst="rect">
            <a:avLst/>
          </a:prstGeom>
          <a:solidFill>
            <a:srgbClr val="FFFFFF"/>
          </a:solidFill>
          <a:ln w="9525">
            <a:solidFill>
              <a:srgbClr val="D8CCBB"/>
            </a:solidFill>
            <a:prstDash val="solid"/>
          </a:ln>
        </p:spPr>
      </p:sp>
      <p:sp>
        <p:nvSpPr>
          <p:cNvPr id="32" name="矩形 31"/>
          <p:cNvSpPr>
            <a:spLocks noGrp="1"/>
          </p:cNvSpPr>
          <p:nvPr/>
        </p:nvSpPr>
        <p:spPr>
          <a:xfrm>
            <a:off x="4914900" y="3429000"/>
            <a:ext cx="17907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Later AI adoption after clustered AI errors vs after spread-out AI errors</a:t>
            </a:r>
          </a:p>
        </p:txBody>
      </p:sp>
      <p:sp>
        <p:nvSpPr>
          <p:cNvPr id="33" name="矩形 32"/>
          <p:cNvSpPr>
            <a:spLocks noGrp="1"/>
          </p:cNvSpPr>
          <p:nvPr/>
        </p:nvSpPr>
        <p:spPr>
          <a:xfrm>
            <a:off x="6800850" y="3333750"/>
            <a:ext cx="2000250" cy="1009650"/>
          </a:xfrm>
          <a:prstGeom prst="rect">
            <a:avLst/>
          </a:prstGeom>
          <a:solidFill>
            <a:srgbClr val="FFFFFF"/>
          </a:solidFill>
          <a:ln w="9525">
            <a:solidFill>
              <a:srgbClr val="D8CCBB"/>
            </a:solidFill>
            <a:prstDash val="solid"/>
          </a:ln>
        </p:spPr>
      </p:sp>
      <p:sp>
        <p:nvSpPr>
          <p:cNvPr id="34" name="矩形 33"/>
          <p:cNvSpPr>
            <a:spLocks noGrp="1"/>
          </p:cNvSpPr>
          <p:nvPr/>
        </p:nvSpPr>
        <p:spPr>
          <a:xfrm>
            <a:off x="6896100" y="3429000"/>
            <a:ext cx="180975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total AI payoff; same error count</a:t>
            </a:r>
          </a:p>
        </p:txBody>
      </p:sp>
      <p:sp>
        <p:nvSpPr>
          <p:cNvPr id="35" name="矩形 34"/>
          <p:cNvSpPr>
            <a:spLocks noGrp="1"/>
          </p:cNvSpPr>
          <p:nvPr/>
        </p:nvSpPr>
        <p:spPr>
          <a:xfrm>
            <a:off x="8801100" y="3333750"/>
            <a:ext cx="2476500" cy="1009650"/>
          </a:xfrm>
          <a:prstGeom prst="rect">
            <a:avLst/>
          </a:prstGeom>
          <a:solidFill>
            <a:srgbClr val="FFFFFF"/>
          </a:solidFill>
          <a:ln w="9525">
            <a:solidFill>
              <a:srgbClr val="D8CCBB"/>
            </a:solidFill>
            <a:prstDash val="solid"/>
          </a:ln>
        </p:spPr>
      </p:sp>
      <p:sp>
        <p:nvSpPr>
          <p:cNvPr id="36" name="矩形 35"/>
          <p:cNvSpPr>
            <a:spLocks noGrp="1"/>
          </p:cNvSpPr>
          <p:nvPr/>
        </p:nvSpPr>
        <p:spPr>
          <a:xfrm>
            <a:off x="8896350" y="3429000"/>
            <a:ext cx="2286000" cy="8191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local AI failures push reliance below a matched benchmark</a:t>
            </a:r>
          </a:p>
        </p:txBody>
      </p:sp>
      <p:sp>
        <p:nvSpPr>
          <p:cNvPr id="37" name="矩形 36"/>
          <p:cNvSpPr>
            <a:spLocks noGrp="1"/>
          </p:cNvSpPr>
          <p:nvPr/>
        </p:nvSpPr>
        <p:spPr>
          <a:xfrm>
            <a:off x="914400" y="4343400"/>
            <a:ext cx="1619250" cy="895350"/>
          </a:xfrm>
          <a:prstGeom prst="rect">
            <a:avLst/>
          </a:prstGeom>
          <a:solidFill>
            <a:srgbClr val="FFFFFF"/>
          </a:solidFill>
          <a:ln w="9525">
            <a:solidFill>
              <a:srgbClr val="D8CCBB"/>
            </a:solidFill>
            <a:prstDash val="solid"/>
          </a:ln>
        </p:spPr>
      </p:sp>
      <p:sp>
        <p:nvSpPr>
          <p:cNvPr id="38" name="矩形 37"/>
          <p:cNvSpPr>
            <a:spLocks noGrp="1"/>
          </p:cNvSpPr>
          <p:nvPr/>
        </p:nvSpPr>
        <p:spPr>
          <a:xfrm>
            <a:off x="1009650" y="443865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H3</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Incomplete recovery</a:t>
            </a:r>
          </a:p>
        </p:txBody>
      </p:sp>
      <p:sp>
        <p:nvSpPr>
          <p:cNvPr id="39" name="矩形 38"/>
          <p:cNvSpPr>
            <a:spLocks noGrp="1"/>
          </p:cNvSpPr>
          <p:nvPr/>
        </p:nvSpPr>
        <p:spPr>
          <a:xfrm>
            <a:off x="2533650" y="4343400"/>
            <a:ext cx="2286000" cy="895350"/>
          </a:xfrm>
          <a:prstGeom prst="rect">
            <a:avLst/>
          </a:prstGeom>
          <a:solidFill>
            <a:srgbClr val="FFFFFF"/>
          </a:solidFill>
          <a:ln w="9525">
            <a:solidFill>
              <a:srgbClr val="D8CCBB"/>
            </a:solidFill>
            <a:prstDash val="solid"/>
          </a:ln>
        </p:spPr>
      </p:sp>
      <p:sp>
        <p:nvSpPr>
          <p:cNvPr id="40" name="矩形 39"/>
          <p:cNvSpPr>
            <a:spLocks noGrp="1"/>
          </p:cNvSpPr>
          <p:nvPr/>
        </p:nvSpPr>
        <p:spPr>
          <a:xfrm>
            <a:off x="2628900" y="443865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Let AI performance return to the matched level after the shock block</a:t>
            </a:r>
          </a:p>
        </p:txBody>
      </p:sp>
      <p:sp>
        <p:nvSpPr>
          <p:cNvPr id="41" name="矩形 40"/>
          <p:cNvSpPr>
            <a:spLocks noGrp="1"/>
          </p:cNvSpPr>
          <p:nvPr/>
        </p:nvSpPr>
        <p:spPr>
          <a:xfrm>
            <a:off x="4819650" y="4343400"/>
            <a:ext cx="1981200" cy="895350"/>
          </a:xfrm>
          <a:prstGeom prst="rect">
            <a:avLst/>
          </a:prstGeom>
          <a:solidFill>
            <a:srgbClr val="FFFFFF"/>
          </a:solidFill>
          <a:ln w="9525">
            <a:solidFill>
              <a:srgbClr val="D8CCBB"/>
            </a:solidFill>
            <a:prstDash val="solid"/>
          </a:ln>
        </p:spPr>
      </p:sp>
      <p:sp>
        <p:nvSpPr>
          <p:cNvPr id="42" name="矩形 41"/>
          <p:cNvSpPr>
            <a:spLocks noGrp="1"/>
          </p:cNvSpPr>
          <p:nvPr/>
        </p:nvSpPr>
        <p:spPr>
          <a:xfrm>
            <a:off x="4914900" y="443865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adoption during recovery rounds in Shock vs Balanced Error conditions</a:t>
            </a:r>
          </a:p>
        </p:txBody>
      </p:sp>
      <p:sp>
        <p:nvSpPr>
          <p:cNvPr id="43" name="矩形 42"/>
          <p:cNvSpPr>
            <a:spLocks noGrp="1"/>
          </p:cNvSpPr>
          <p:nvPr/>
        </p:nvSpPr>
        <p:spPr>
          <a:xfrm>
            <a:off x="6800850" y="4343400"/>
            <a:ext cx="2000250" cy="895350"/>
          </a:xfrm>
          <a:prstGeom prst="rect">
            <a:avLst/>
          </a:prstGeom>
          <a:solidFill>
            <a:srgbClr val="FFFFFF"/>
          </a:solidFill>
          <a:ln w="9525">
            <a:solidFill>
              <a:srgbClr val="D8CCBB"/>
            </a:solidFill>
            <a:prstDash val="solid"/>
          </a:ln>
        </p:spPr>
      </p:sp>
      <p:sp>
        <p:nvSpPr>
          <p:cNvPr id="44" name="矩形 43"/>
          <p:cNvSpPr>
            <a:spLocks noGrp="1"/>
          </p:cNvSpPr>
          <p:nvPr/>
        </p:nvSpPr>
        <p:spPr>
          <a:xfrm>
            <a:off x="6896100" y="443865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later recovery quality</a:t>
            </a:r>
          </a:p>
        </p:txBody>
      </p:sp>
      <p:sp>
        <p:nvSpPr>
          <p:cNvPr id="45" name="矩形 44"/>
          <p:cNvSpPr>
            <a:spLocks noGrp="1"/>
          </p:cNvSpPr>
          <p:nvPr/>
        </p:nvSpPr>
        <p:spPr>
          <a:xfrm>
            <a:off x="8801100" y="4343400"/>
            <a:ext cx="2476500" cy="895350"/>
          </a:xfrm>
          <a:prstGeom prst="rect">
            <a:avLst/>
          </a:prstGeom>
          <a:solidFill>
            <a:srgbClr val="FFFFFF"/>
          </a:solidFill>
          <a:ln w="9525">
            <a:solidFill>
              <a:srgbClr val="D8CCBB"/>
            </a:solidFill>
            <a:prstDash val="solid"/>
          </a:ln>
        </p:spPr>
      </p:sp>
      <p:sp>
        <p:nvSpPr>
          <p:cNvPr id="46" name="矩形 45"/>
          <p:cNvSpPr>
            <a:spLocks noGrp="1"/>
          </p:cNvSpPr>
          <p:nvPr/>
        </p:nvSpPr>
        <p:spPr>
          <a:xfrm>
            <a:off x="8896350" y="443865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under-reliance persists after performance normalizes</a:t>
            </a:r>
          </a:p>
        </p:txBody>
      </p:sp>
      <p:sp>
        <p:nvSpPr>
          <p:cNvPr id="47" name="矩形 46"/>
          <p:cNvSpPr>
            <a:spLocks noGrp="1"/>
          </p:cNvSpPr>
          <p:nvPr/>
        </p:nvSpPr>
        <p:spPr>
          <a:xfrm>
            <a:off x="914400" y="5238750"/>
            <a:ext cx="1619250" cy="895350"/>
          </a:xfrm>
          <a:prstGeom prst="rect">
            <a:avLst/>
          </a:prstGeom>
          <a:solidFill>
            <a:srgbClr val="FFFFFF"/>
          </a:solidFill>
          <a:ln w="9525">
            <a:solidFill>
              <a:srgbClr val="D8CCBB"/>
            </a:solidFill>
            <a:prstDash val="solid"/>
          </a:ln>
        </p:spPr>
      </p:sp>
      <p:sp>
        <p:nvSpPr>
          <p:cNvPr id="48" name="矩形 47"/>
          <p:cNvSpPr>
            <a:spLocks noGrp="1"/>
          </p:cNvSpPr>
          <p:nvPr/>
        </p:nvSpPr>
        <p:spPr>
          <a:xfrm>
            <a:off x="1009650" y="5334000"/>
            <a:ext cx="1428750" cy="704850"/>
          </a:xfrm>
          <a:prstGeom prst="rect">
            <a:avLst/>
          </a:prstGeom>
          <a:noFill/>
          <a:ln w="0">
            <a:noFill/>
            <a:prstDash val="solid"/>
          </a:ln>
        </p:spPr>
        <p:txBody>
          <a:bodyPr wrap="square" lIns="0" tIns="0" rIns="0" bIns="0" anchor="ctr">
            <a:normAutofit/>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H4</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Timing heterogeneity</a:t>
            </a:r>
          </a:p>
        </p:txBody>
      </p:sp>
      <p:sp>
        <p:nvSpPr>
          <p:cNvPr id="49" name="矩形 48"/>
          <p:cNvSpPr>
            <a:spLocks noGrp="1"/>
          </p:cNvSpPr>
          <p:nvPr/>
        </p:nvSpPr>
        <p:spPr>
          <a:xfrm>
            <a:off x="2533650" y="5238750"/>
            <a:ext cx="2286000" cy="895350"/>
          </a:xfrm>
          <a:prstGeom prst="rect">
            <a:avLst/>
          </a:prstGeom>
          <a:solidFill>
            <a:srgbClr val="FFFFFF"/>
          </a:solidFill>
          <a:ln w="9525">
            <a:solidFill>
              <a:srgbClr val="D8CCBB"/>
            </a:solidFill>
            <a:prstDash val="solid"/>
          </a:ln>
        </p:spPr>
      </p:sp>
      <p:sp>
        <p:nvSpPr>
          <p:cNvPr id="50" name="矩形 49"/>
          <p:cNvSpPr>
            <a:spLocks noGrp="1"/>
          </p:cNvSpPr>
          <p:nvPr/>
        </p:nvSpPr>
        <p:spPr>
          <a:xfrm>
            <a:off x="2628900" y="5334000"/>
            <a:ext cx="20955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Place the same AI error shock either early or midway through the task</a:t>
            </a:r>
          </a:p>
        </p:txBody>
      </p:sp>
      <p:sp>
        <p:nvSpPr>
          <p:cNvPr id="51" name="矩形 50"/>
          <p:cNvSpPr>
            <a:spLocks noGrp="1"/>
          </p:cNvSpPr>
          <p:nvPr/>
        </p:nvSpPr>
        <p:spPr>
          <a:xfrm>
            <a:off x="4819650" y="5238750"/>
            <a:ext cx="1981200" cy="895350"/>
          </a:xfrm>
          <a:prstGeom prst="rect">
            <a:avLst/>
          </a:prstGeom>
          <a:solidFill>
            <a:srgbClr val="FFFFFF"/>
          </a:solidFill>
          <a:ln w="9525">
            <a:solidFill>
              <a:srgbClr val="D8CCBB"/>
            </a:solidFill>
            <a:prstDash val="solid"/>
          </a:ln>
        </p:spPr>
      </p:sp>
      <p:sp>
        <p:nvSpPr>
          <p:cNvPr id="52" name="矩形 51"/>
          <p:cNvSpPr>
            <a:spLocks noGrp="1"/>
          </p:cNvSpPr>
          <p:nvPr/>
        </p:nvSpPr>
        <p:spPr>
          <a:xfrm>
            <a:off x="4914900" y="5334000"/>
            <a:ext cx="17907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Later AI adoption after early AI shock vs after mid-task AI shock</a:t>
            </a:r>
          </a:p>
        </p:txBody>
      </p:sp>
      <p:sp>
        <p:nvSpPr>
          <p:cNvPr id="53" name="矩形 52"/>
          <p:cNvSpPr>
            <a:spLocks noGrp="1"/>
          </p:cNvSpPr>
          <p:nvPr/>
        </p:nvSpPr>
        <p:spPr>
          <a:xfrm>
            <a:off x="6800850" y="5238750"/>
            <a:ext cx="2000250" cy="895350"/>
          </a:xfrm>
          <a:prstGeom prst="rect">
            <a:avLst/>
          </a:prstGeom>
          <a:solidFill>
            <a:srgbClr val="FFFFFF"/>
          </a:solidFill>
          <a:ln w="9525">
            <a:solidFill>
              <a:srgbClr val="D8CCBB"/>
            </a:solidFill>
            <a:prstDash val="solid"/>
          </a:ln>
        </p:spPr>
      </p:sp>
      <p:sp>
        <p:nvSpPr>
          <p:cNvPr id="54" name="矩形 53"/>
          <p:cNvSpPr>
            <a:spLocks noGrp="1"/>
          </p:cNvSpPr>
          <p:nvPr/>
        </p:nvSpPr>
        <p:spPr>
          <a:xfrm>
            <a:off x="6896100" y="5334000"/>
            <a:ext cx="180975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Same shock size; same overall AI quality</a:t>
            </a:r>
          </a:p>
        </p:txBody>
      </p:sp>
      <p:sp>
        <p:nvSpPr>
          <p:cNvPr id="55" name="矩形 54"/>
          <p:cNvSpPr>
            <a:spLocks noGrp="1"/>
          </p:cNvSpPr>
          <p:nvPr/>
        </p:nvSpPr>
        <p:spPr>
          <a:xfrm>
            <a:off x="8801100" y="5238750"/>
            <a:ext cx="2476500" cy="895350"/>
          </a:xfrm>
          <a:prstGeom prst="rect">
            <a:avLst/>
          </a:prstGeom>
          <a:solidFill>
            <a:srgbClr val="FFFFFF"/>
          </a:solidFill>
          <a:ln w="9525">
            <a:solidFill>
              <a:srgbClr val="D8CCBB"/>
            </a:solidFill>
            <a:prstDash val="solid"/>
          </a:ln>
        </p:spPr>
      </p:sp>
      <p:sp>
        <p:nvSpPr>
          <p:cNvPr id="56" name="矩形 55"/>
          <p:cNvSpPr>
            <a:spLocks noGrp="1"/>
          </p:cNvSpPr>
          <p:nvPr/>
        </p:nvSpPr>
        <p:spPr>
          <a:xfrm>
            <a:off x="8896350" y="5334000"/>
            <a:ext cx="2286000" cy="7048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sz="900" b="0" i="0">
                <a:solidFill>
                  <a:srgbClr val="231D17"/>
                </a:solidFill>
                <a:latin typeface="Times New Roman" panose="02020603050405020304"/>
                <a:ea typeface="Times New Roman" panose="02020603050405020304"/>
                <a:cs typeface="Times New Roman" panose="02020603050405020304"/>
              </a:rPr>
              <a:t>Whether early misses carry more path-setting weight</a:t>
            </a:r>
          </a:p>
        </p:txBody>
      </p:sp>
      <p:sp>
        <p:nvSpPr>
          <p:cNvPr id="57" name="矩形 56"/>
          <p:cNvSpPr>
            <a:spLocks noGrp="1"/>
          </p:cNvSpPr>
          <p:nvPr/>
        </p:nvSpPr>
        <p:spPr>
          <a:xfrm>
            <a:off x="914400" y="6134100"/>
            <a:ext cx="1619250" cy="552450"/>
          </a:xfrm>
          <a:prstGeom prst="rect">
            <a:avLst/>
          </a:prstGeom>
          <a:solidFill>
            <a:srgbClr val="FFFFFF"/>
          </a:solidFill>
          <a:ln w="9525">
            <a:solidFill>
              <a:srgbClr val="D8CCBB"/>
            </a:solidFill>
            <a:prstDash val="solid"/>
          </a:ln>
        </p:spPr>
      </p:sp>
      <p:sp>
        <p:nvSpPr>
          <p:cNvPr id="58" name="矩形 57"/>
          <p:cNvSpPr>
            <a:spLocks noGrp="1"/>
          </p:cNvSpPr>
          <p:nvPr/>
        </p:nvSpPr>
        <p:spPr>
          <a:xfrm>
            <a:off x="1009650" y="6229350"/>
            <a:ext cx="1428750" cy="361950"/>
          </a:xfrm>
          <a:prstGeom prst="rect">
            <a:avLst/>
          </a:prstGeom>
          <a:noFill/>
          <a:ln w="0">
            <a:noFill/>
            <a:prstDash val="solid"/>
          </a:ln>
        </p:spPr>
        <p:txBody>
          <a:bodyPr wrap="square" lIns="0" tIns="0" rIns="0" bIns="0" anchor="ctr">
            <a:normAutofit fontScale="90000"/>
          </a:bodyPr>
          <a:lstStyle/>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sz="975" b="1" i="0">
                <a:solidFill>
                  <a:srgbClr val="231D17"/>
                </a:solidFill>
                <a:latin typeface="Times New Roman" panose="02020603050405020304"/>
                <a:ea typeface="Times New Roman" panose="02020603050405020304"/>
                <a:cs typeface="Times New Roman" panose="02020603050405020304"/>
              </a:rPr>
              <a:t>H5</a:t>
            </a:r>
          </a:p>
          <a:p>
            <a:pPr algn="ctr">
              <a:lnSpc>
                <a:spcPct val="108000"/>
              </a:lnSpc>
              <a:buNone/>
              <a:defRPr sz="975" b="1" i="0">
                <a:solidFill>
                  <a:srgbClr val="231D17"/>
                </a:solidFill>
                <a:latin typeface="Times New Roman" panose="02020603050405020304"/>
                <a:ea typeface="Times New Roman" panose="02020603050405020304"/>
                <a:cs typeface="Times New Roman" panose="02020603050405020304"/>
              </a:defRPr>
            </a:pPr>
            <a:r>
              <a:rPr lang="en-US" altLang="zh-CN" sz="975" b="1" i="0">
                <a:solidFill>
                  <a:srgbClr val="231D17"/>
                </a:solidFill>
                <a:latin typeface="Times New Roman" panose="02020603050405020304"/>
                <a:ea typeface="Times New Roman" panose="02020603050405020304"/>
                <a:cs typeface="Times New Roman" panose="02020603050405020304"/>
              </a:rPr>
              <a:t>AI-self asymmetric recovery</a:t>
            </a:r>
          </a:p>
        </p:txBody>
      </p:sp>
      <p:sp>
        <p:nvSpPr>
          <p:cNvPr id="59" name="矩形 58"/>
          <p:cNvSpPr>
            <a:spLocks noGrp="1"/>
          </p:cNvSpPr>
          <p:nvPr/>
        </p:nvSpPr>
        <p:spPr>
          <a:xfrm>
            <a:off x="2533650" y="6134100"/>
            <a:ext cx="2286000" cy="552450"/>
          </a:xfrm>
          <a:prstGeom prst="rect">
            <a:avLst/>
          </a:prstGeom>
          <a:solidFill>
            <a:srgbClr val="FFFFFF"/>
          </a:solidFill>
          <a:ln w="9525">
            <a:solidFill>
              <a:srgbClr val="D8CCBB"/>
            </a:solidFill>
            <a:prstDash val="solid"/>
          </a:ln>
        </p:spPr>
      </p:sp>
      <p:sp>
        <p:nvSpPr>
          <p:cNvPr id="60" name="矩形 59"/>
          <p:cNvSpPr>
            <a:spLocks noGrp="1"/>
          </p:cNvSpPr>
          <p:nvPr/>
        </p:nvSpPr>
        <p:spPr>
          <a:xfrm>
            <a:off x="2628900" y="6229350"/>
            <a:ext cx="20955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Compare recovery after AI errors with recovery after self errors</a:t>
            </a:r>
          </a:p>
        </p:txBody>
      </p:sp>
      <p:sp>
        <p:nvSpPr>
          <p:cNvPr id="61" name="矩形 60"/>
          <p:cNvSpPr>
            <a:spLocks noGrp="1"/>
          </p:cNvSpPr>
          <p:nvPr/>
        </p:nvSpPr>
        <p:spPr>
          <a:xfrm>
            <a:off x="4819650" y="6134100"/>
            <a:ext cx="1981200" cy="552450"/>
          </a:xfrm>
          <a:prstGeom prst="rect">
            <a:avLst/>
          </a:prstGeom>
          <a:solidFill>
            <a:srgbClr val="FFFFFF"/>
          </a:solidFill>
          <a:ln w="9525">
            <a:solidFill>
              <a:srgbClr val="D8CCBB"/>
            </a:solidFill>
            <a:prstDash val="solid"/>
          </a:ln>
        </p:spPr>
      </p:sp>
      <p:sp>
        <p:nvSpPr>
          <p:cNvPr id="62" name="矩形 61"/>
          <p:cNvSpPr>
            <a:spLocks noGrp="1"/>
          </p:cNvSpPr>
          <p:nvPr/>
        </p:nvSpPr>
        <p:spPr>
          <a:xfrm>
            <a:off x="4914900" y="6229350"/>
            <a:ext cx="17907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AI reliance recovery after AI errors vs self reliance recovery after self errors</a:t>
            </a:r>
          </a:p>
        </p:txBody>
      </p:sp>
      <p:sp>
        <p:nvSpPr>
          <p:cNvPr id="63" name="矩形 62"/>
          <p:cNvSpPr>
            <a:spLocks noGrp="1"/>
          </p:cNvSpPr>
          <p:nvPr/>
        </p:nvSpPr>
        <p:spPr>
          <a:xfrm>
            <a:off x="6800850" y="6134100"/>
            <a:ext cx="2000250" cy="552450"/>
          </a:xfrm>
          <a:prstGeom prst="rect">
            <a:avLst/>
          </a:prstGeom>
          <a:solidFill>
            <a:srgbClr val="FFFFFF"/>
          </a:solidFill>
          <a:ln w="9525">
            <a:solidFill>
              <a:srgbClr val="D8CCBB"/>
            </a:solidFill>
            <a:prstDash val="solid"/>
          </a:ln>
        </p:spPr>
      </p:sp>
      <p:sp>
        <p:nvSpPr>
          <p:cNvPr id="64" name="矩形 63"/>
          <p:cNvSpPr>
            <a:spLocks noGrp="1"/>
          </p:cNvSpPr>
          <p:nvPr/>
        </p:nvSpPr>
        <p:spPr>
          <a:xfrm>
            <a:off x="6896100" y="6229350"/>
            <a:ext cx="1809750" cy="361950"/>
          </a:xfrm>
          <a:prstGeom prst="rect">
            <a:avLst/>
          </a:prstGeom>
          <a:noFill/>
          <a:ln w="0">
            <a:noFill/>
            <a:prstDash val="solid"/>
          </a:ln>
        </p:spPr>
        <p:txBody>
          <a:bodyPr wrap="square" lIns="0" tIns="0" rIns="0" bIns="0" anchor="ctr">
            <a:normAutofit fontScale="90000"/>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Matched error magnitude; same feedback frame; comparable later performance</a:t>
            </a:r>
          </a:p>
        </p:txBody>
      </p:sp>
      <p:sp>
        <p:nvSpPr>
          <p:cNvPr id="65" name="矩形 64"/>
          <p:cNvSpPr>
            <a:spLocks noGrp="1"/>
          </p:cNvSpPr>
          <p:nvPr/>
        </p:nvSpPr>
        <p:spPr>
          <a:xfrm>
            <a:off x="8801100" y="6134100"/>
            <a:ext cx="2476500" cy="552450"/>
          </a:xfrm>
          <a:prstGeom prst="rect">
            <a:avLst/>
          </a:prstGeom>
          <a:solidFill>
            <a:srgbClr val="FFFFFF"/>
          </a:solidFill>
          <a:ln w="9525">
            <a:solidFill>
              <a:srgbClr val="D8CCBB"/>
            </a:solidFill>
            <a:prstDash val="solid"/>
          </a:ln>
        </p:spPr>
      </p:sp>
      <p:sp>
        <p:nvSpPr>
          <p:cNvPr id="66" name="矩形 65"/>
          <p:cNvSpPr>
            <a:spLocks noGrp="1"/>
          </p:cNvSpPr>
          <p:nvPr/>
        </p:nvSpPr>
        <p:spPr>
          <a:xfrm>
            <a:off x="8896350" y="6229350"/>
            <a:ext cx="2286000" cy="361950"/>
          </a:xfrm>
          <a:prstGeom prst="rect">
            <a:avLst/>
          </a:prstGeom>
          <a:noFill/>
          <a:ln w="0">
            <a:noFill/>
            <a:prstDash val="solid"/>
          </a:ln>
        </p:spPr>
        <p:txBody>
          <a:bodyPr wrap="square" lIns="0" tIns="0" rIns="0" bIns="0" anchor="ctr">
            <a:normAutofit/>
          </a:bodyPr>
          <a:lstStyle/>
          <a:p>
            <a:pPr algn="l">
              <a:lnSpc>
                <a:spcPct val="108000"/>
              </a:lnSpc>
              <a:buNone/>
              <a:defRPr sz="900" b="0" i="0">
                <a:solidFill>
                  <a:srgbClr val="231D17"/>
                </a:solidFill>
                <a:latin typeface="Times New Roman" panose="02020603050405020304"/>
                <a:ea typeface="Times New Roman" panose="02020603050405020304"/>
                <a:cs typeface="Times New Roman" panose="02020603050405020304"/>
              </a:defRPr>
            </a:pPr>
            <a:r>
              <a:rPr lang="en-US" altLang="zh-CN" sz="900" b="0" i="0">
                <a:solidFill>
                  <a:srgbClr val="231D17"/>
                </a:solidFill>
                <a:latin typeface="Times New Roman" panose="02020603050405020304"/>
                <a:ea typeface="Times New Roman" panose="02020603050405020304"/>
                <a:cs typeface="Times New Roman" panose="02020603050405020304"/>
              </a:rPr>
              <a:t>Whether AI is forgiven more slowly than self</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 name="矩形 42"/>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6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EWA MECHANISM</a:t>
            </a:r>
          </a:p>
        </p:txBody>
      </p:sp>
      <p:sp>
        <p:nvSpPr>
          <p:cNvPr id="5" name="矩形 4"/>
          <p:cNvSpPr>
            <a:spLocks noGrp="1"/>
          </p:cNvSpPr>
          <p:nvPr/>
        </p:nvSpPr>
        <p:spPr>
          <a:xfrm>
            <a:off x="914400" y="952500"/>
            <a:ext cx="8763000" cy="495300"/>
          </a:xfrm>
          <a:prstGeom prst="rect">
            <a:avLst/>
          </a:prstGeom>
          <a:noFill/>
          <a:ln w="0">
            <a:noFill/>
            <a:prstDash val="solid"/>
          </a:ln>
        </p:spPr>
        <p:txBody>
          <a:bodyPr wrap="square" lIns="0" tIns="0" rIns="0" bIns="0" anchor="t">
            <a:normAutofit fontScale="80000"/>
          </a:bodyPr>
          <a:lstStyle/>
          <a:p>
            <a:pPr algn="l">
              <a:lnSpc>
                <a:spcPct val="98000"/>
              </a:lnSpc>
              <a:buNone/>
              <a:defRPr sz="2625" b="1" i="0">
                <a:solidFill>
                  <a:srgbClr val="231D17"/>
                </a:solidFill>
                <a:latin typeface="Times New Roman" panose="02020603050405020304"/>
                <a:ea typeface="Times New Roman" panose="02020603050405020304"/>
                <a:cs typeface="Times New Roman" panose="02020603050405020304"/>
              </a:defRPr>
            </a:pPr>
            <a:r>
              <a:rPr sz="2625" b="1" i="0">
                <a:solidFill>
                  <a:srgbClr val="231D17"/>
                </a:solidFill>
                <a:latin typeface="Times New Roman" panose="02020603050405020304"/>
                <a:ea typeface="Times New Roman" panose="02020603050405020304"/>
                <a:cs typeface="Times New Roman" panose="02020603050405020304"/>
              </a:rPr>
              <a:t>Why an </a:t>
            </a:r>
            <a:r>
              <a:rPr lang="en-US" altLang="zh-CN" sz="2625" b="1" i="0">
                <a:solidFill>
                  <a:srgbClr val="231D17"/>
                </a:solidFill>
                <a:latin typeface="Times New Roman" panose="02020603050405020304"/>
                <a:ea typeface="Times New Roman" panose="02020603050405020304"/>
                <a:cs typeface="Times New Roman" panose="02020603050405020304"/>
              </a:rPr>
              <a:t>Experience-Weighted-Attraction</a:t>
            </a:r>
            <a:r>
              <a:rPr sz="2625" b="1" i="0">
                <a:solidFill>
                  <a:srgbClr val="231D17"/>
                </a:solidFill>
                <a:latin typeface="Times New Roman" panose="02020603050405020304"/>
                <a:ea typeface="Times New Roman" panose="02020603050405020304"/>
                <a:cs typeface="Times New Roman" panose="02020603050405020304"/>
              </a:rPr>
              <a:t>-Inspired Model Fits This Study</a:t>
            </a:r>
          </a:p>
        </p:txBody>
      </p:sp>
      <p:sp>
        <p:nvSpPr>
          <p:cNvPr id="6" name="矩形 5"/>
          <p:cNvSpPr>
            <a:spLocks noGrp="1"/>
          </p:cNvSpPr>
          <p:nvPr/>
        </p:nvSpPr>
        <p:spPr>
          <a:xfrm>
            <a:off x="914400" y="1504950"/>
            <a:ext cx="9810750" cy="361950"/>
          </a:xfrm>
          <a:prstGeom prst="rect">
            <a:avLst/>
          </a:prstGeom>
          <a:noFill/>
          <a:ln w="0">
            <a:noFill/>
            <a:prstDash val="solid"/>
          </a:ln>
        </p:spPr>
        <p:txBody>
          <a:bodyPr wrap="square" lIns="0" tIns="0" rIns="0" bIns="0" anchor="t">
            <a:normAutofit/>
          </a:bodyPr>
          <a:lstStyle/>
          <a:p>
            <a:pPr algn="l">
              <a:lnSpc>
                <a:spcPct val="106000"/>
              </a:lnSpc>
              <a:buNone/>
              <a:defRPr sz="1350" b="0" i="0">
                <a:solidFill>
                  <a:srgbClr val="6F665C"/>
                </a:solidFill>
                <a:latin typeface="Times New Roman" panose="02020603050405020304"/>
                <a:ea typeface="Times New Roman" panose="02020603050405020304"/>
                <a:cs typeface="Times New Roman" panose="02020603050405020304"/>
              </a:defRPr>
            </a:pPr>
            <a:r>
              <a:rPr lang="en-US" altLang="zh-CN" sz="1350" b="0" i="0">
                <a:solidFill>
                  <a:srgbClr val="6F665C"/>
                </a:solidFill>
                <a:latin typeface="Times New Roman" panose="02020603050405020304"/>
                <a:ea typeface="Times New Roman" panose="02020603050405020304"/>
                <a:cs typeface="Times New Roman" panose="02020603050405020304"/>
              </a:rPr>
              <a:t>EWA basically predicts what you'll do next by looking at your actual results and your "what-if" regrets from past choices.</a:t>
            </a:r>
          </a:p>
        </p:txBody>
      </p:sp>
      <p:sp>
        <p:nvSpPr>
          <p:cNvPr id="7" name="圆角矩形 6"/>
          <p:cNvSpPr>
            <a:spLocks noGrp="1"/>
          </p:cNvSpPr>
          <p:nvPr/>
        </p:nvSpPr>
        <p:spPr>
          <a:xfrm>
            <a:off x="914400" y="2076450"/>
            <a:ext cx="4057650" cy="2819400"/>
          </a:xfrm>
          <a:prstGeom prst="roundRect">
            <a:avLst>
              <a:gd name="adj" fmla="val 4054"/>
            </a:avLst>
          </a:prstGeom>
          <a:solidFill>
            <a:srgbClr val="FFFFFF"/>
          </a:solidFill>
          <a:ln w="9525">
            <a:solidFill>
              <a:srgbClr val="D8CCBB"/>
            </a:solidFill>
            <a:prstDash val="solid"/>
          </a:ln>
        </p:spPr>
      </p:sp>
      <p:sp>
        <p:nvSpPr>
          <p:cNvPr id="8" name="圆角矩形 7"/>
          <p:cNvSpPr>
            <a:spLocks noGrp="1"/>
          </p:cNvSpPr>
          <p:nvPr/>
        </p:nvSpPr>
        <p:spPr>
          <a:xfrm>
            <a:off x="914400" y="2076450"/>
            <a:ext cx="57150" cy="2819400"/>
          </a:xfrm>
          <a:prstGeom prst="roundRect">
            <a:avLst>
              <a:gd name="adj" fmla="val 33333"/>
            </a:avLst>
          </a:prstGeom>
          <a:solidFill>
            <a:srgbClr val="B77845"/>
          </a:solidFill>
          <a:ln w="9525">
            <a:solidFill>
              <a:srgbClr val="B77845"/>
            </a:solidFill>
            <a:prstDash val="solid"/>
          </a:ln>
        </p:spPr>
      </p:sp>
      <p:sp>
        <p:nvSpPr>
          <p:cNvPr id="9" name="矩形 8"/>
          <p:cNvSpPr>
            <a:spLocks noGrp="1"/>
          </p:cNvSpPr>
          <p:nvPr/>
        </p:nvSpPr>
        <p:spPr>
          <a:xfrm>
            <a:off x="1181100" y="2286000"/>
            <a:ext cx="3429000" cy="266700"/>
          </a:xfrm>
          <a:prstGeom prst="rect">
            <a:avLst/>
          </a:prstGeom>
          <a:noFill/>
          <a:ln w="0">
            <a:noFill/>
            <a:prstDash val="solid"/>
          </a:ln>
        </p:spPr>
        <p:txBody>
          <a:bodyPr wrap="square" lIns="0" tIns="0" rIns="0" bIns="0" anchor="t">
            <a:normAutofit fontScale="91719" lnSpcReduction="10000"/>
          </a:bodyPr>
          <a:lstStyle/>
          <a:p>
            <a:pPr algn="l">
              <a:lnSpc>
                <a:spcPct val="106000"/>
              </a:lnSpc>
              <a:buNone/>
              <a:defRPr sz="1800" b="1" i="0">
                <a:solidFill>
                  <a:srgbClr val="B77845"/>
                </a:solidFill>
                <a:latin typeface="Times New Roman" panose="02020603050405020304"/>
                <a:ea typeface="Times New Roman" panose="02020603050405020304"/>
                <a:cs typeface="Times New Roman" panose="02020603050405020304"/>
              </a:defRPr>
            </a:pPr>
            <a:r>
              <a:rPr sz="1800" b="1" i="0">
                <a:solidFill>
                  <a:srgbClr val="B77845"/>
                </a:solidFill>
                <a:latin typeface="Times New Roman" panose="02020603050405020304"/>
                <a:ea typeface="Times New Roman" panose="02020603050405020304"/>
                <a:cs typeface="Times New Roman" panose="02020603050405020304"/>
              </a:rPr>
              <a:t>What EWA captures</a:t>
            </a:r>
          </a:p>
        </p:txBody>
      </p:sp>
      <p:sp>
        <p:nvSpPr>
          <p:cNvPr id="10" name="矩形 9"/>
          <p:cNvSpPr>
            <a:spLocks noGrp="1"/>
          </p:cNvSpPr>
          <p:nvPr/>
        </p:nvSpPr>
        <p:spPr>
          <a:xfrm>
            <a:off x="1181100" y="2724150"/>
            <a:ext cx="3371850" cy="1600200"/>
          </a:xfrm>
          <a:prstGeom prst="rect">
            <a:avLst/>
          </a:prstGeom>
          <a:noFill/>
          <a:ln w="0">
            <a:noFill/>
            <a:prstDash val="solid"/>
          </a:ln>
        </p:spPr>
        <p:txBody>
          <a:bodyPr wrap="square" lIns="0" tIns="0" rIns="0" bIns="0" anchor="t">
            <a:normAutofit/>
          </a:bodyPr>
          <a:lstStyle/>
          <a:p>
            <a:pPr marL="0" indent="0" algn="l">
              <a:lnSpc>
                <a:spcPct val="106000"/>
              </a:lnSpc>
              <a:spcAft>
                <a:spcPts val="5"/>
              </a:spcAft>
              <a:buNone/>
              <a:defRPr sz="1200" b="0" i="0">
                <a:solidFill>
                  <a:srgbClr val="231D17"/>
                </a:solidFill>
                <a:latin typeface="Times New Roman" panose="02020603050405020304"/>
                <a:ea typeface="Times New Roman" panose="02020603050405020304"/>
                <a:cs typeface="Times New Roman" panose="02020603050405020304"/>
              </a:defRPr>
            </a:pPr>
            <a:r>
              <a:rPr lang="en-US" altLang="zh-CN" sz="1200" b="0" i="0">
                <a:solidFill>
                  <a:srgbClr val="231D17"/>
                </a:solidFill>
                <a:latin typeface="Times New Roman" panose="02020603050405020304"/>
                <a:ea typeface="Times New Roman" panose="02020603050405020304"/>
                <a:cs typeface="Times New Roman" panose="02020603050405020304"/>
              </a:rPr>
              <a:t>The importance of EWA in this paper lies in its role as a dynamic updating framework: it allows us to translate AI errors, self-errors, successful feedback, and initial AI preference into estimable changes in attraction, thereby explaining how participants adjust their reliance on AI and their preferred decision architecture across repeated feedback.</a:t>
            </a:r>
          </a:p>
        </p:txBody>
      </p:sp>
      <p:sp>
        <p:nvSpPr>
          <p:cNvPr id="11" name="圆角矩形 10"/>
          <p:cNvSpPr>
            <a:spLocks noGrp="1"/>
          </p:cNvSpPr>
          <p:nvPr/>
        </p:nvSpPr>
        <p:spPr>
          <a:xfrm>
            <a:off x="1181100" y="4400550"/>
            <a:ext cx="3352800" cy="323850"/>
          </a:xfrm>
          <a:prstGeom prst="roundRect">
            <a:avLst>
              <a:gd name="adj" fmla="val 17647"/>
            </a:avLst>
          </a:prstGeom>
          <a:solidFill>
            <a:srgbClr val="F1E8DA"/>
          </a:solidFill>
          <a:ln w="9525">
            <a:solidFill>
              <a:srgbClr val="E7D4C3"/>
            </a:solidFill>
            <a:prstDash val="solid"/>
          </a:ln>
        </p:spPr>
      </p:sp>
      <p:sp>
        <p:nvSpPr>
          <p:cNvPr id="12" name="矩形 11"/>
          <p:cNvSpPr>
            <a:spLocks noGrp="1"/>
          </p:cNvSpPr>
          <p:nvPr/>
        </p:nvSpPr>
        <p:spPr>
          <a:xfrm>
            <a:off x="1314450" y="4476750"/>
            <a:ext cx="3086100" cy="171450"/>
          </a:xfrm>
          <a:prstGeom prst="rect">
            <a:avLst/>
          </a:prstGeom>
          <a:noFill/>
          <a:ln w="0">
            <a:noFill/>
            <a:prstDash val="solid"/>
          </a:ln>
        </p:spPr>
        <p:txBody>
          <a:bodyPr wrap="square" lIns="0" tIns="0" rIns="0" bIns="0" anchor="t">
            <a:normAutofit fontScale="64461"/>
          </a:bodyPr>
          <a:lstStyle/>
          <a:p>
            <a:pPr algn="ctr">
              <a:lnSpc>
                <a:spcPct val="106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Use EWA to model learning, not to replace the experimental comparison.</a:t>
            </a:r>
          </a:p>
        </p:txBody>
      </p:sp>
      <p:sp>
        <p:nvSpPr>
          <p:cNvPr id="13" name="圆角矩形 12"/>
          <p:cNvSpPr>
            <a:spLocks noGrp="1"/>
          </p:cNvSpPr>
          <p:nvPr/>
        </p:nvSpPr>
        <p:spPr>
          <a:xfrm>
            <a:off x="5238750" y="2076450"/>
            <a:ext cx="6000750" cy="2819400"/>
          </a:xfrm>
          <a:prstGeom prst="roundRect">
            <a:avLst>
              <a:gd name="adj" fmla="val 4054"/>
            </a:avLst>
          </a:prstGeom>
          <a:solidFill>
            <a:srgbClr val="FFFFFF"/>
          </a:solidFill>
          <a:ln w="9525">
            <a:solidFill>
              <a:srgbClr val="D8CCBB"/>
            </a:solidFill>
            <a:prstDash val="solid"/>
          </a:ln>
        </p:spPr>
      </p:sp>
      <p:sp>
        <p:nvSpPr>
          <p:cNvPr id="14" name="矩形 13"/>
          <p:cNvSpPr>
            <a:spLocks noGrp="1"/>
          </p:cNvSpPr>
          <p:nvPr/>
        </p:nvSpPr>
        <p:spPr>
          <a:xfrm>
            <a:off x="5486400" y="2286000"/>
            <a:ext cx="4000500" cy="266700"/>
          </a:xfrm>
          <a:prstGeom prst="rect">
            <a:avLst/>
          </a:prstGeom>
          <a:noFill/>
          <a:ln w="0">
            <a:noFill/>
            <a:prstDash val="solid"/>
          </a:ln>
        </p:spPr>
        <p:txBody>
          <a:bodyPr wrap="square" lIns="0" tIns="0" rIns="0" bIns="0" anchor="t">
            <a:normAutofit fontScale="91719" lnSpcReduction="10000"/>
          </a:bodyPr>
          <a:lstStyle/>
          <a:p>
            <a:pPr algn="l">
              <a:lnSpc>
                <a:spcPct val="106000"/>
              </a:lnSpc>
              <a:buNone/>
              <a:defRPr sz="1800" b="1" i="0">
                <a:solidFill>
                  <a:srgbClr val="818A68"/>
                </a:solidFill>
                <a:latin typeface="Times New Roman" panose="02020603050405020304"/>
                <a:ea typeface="Times New Roman" panose="02020603050405020304"/>
                <a:cs typeface="Times New Roman" panose="02020603050405020304"/>
              </a:defRPr>
            </a:pPr>
            <a:r>
              <a:rPr sz="1800" b="1" i="0">
                <a:solidFill>
                  <a:srgbClr val="818A68"/>
                </a:solidFill>
                <a:latin typeface="Times New Roman" panose="02020603050405020304"/>
                <a:ea typeface="Times New Roman" panose="02020603050405020304"/>
                <a:cs typeface="Times New Roman" panose="02020603050405020304"/>
              </a:rPr>
              <a:t>Which RQ/H can EWA help test?</a:t>
            </a:r>
          </a:p>
        </p:txBody>
      </p:sp>
      <p:sp>
        <p:nvSpPr>
          <p:cNvPr id="15" name="矩形 14"/>
          <p:cNvSpPr>
            <a:spLocks noGrp="1"/>
          </p:cNvSpPr>
          <p:nvPr/>
        </p:nvSpPr>
        <p:spPr>
          <a:xfrm>
            <a:off x="5486400" y="2724150"/>
            <a:ext cx="1695450" cy="323850"/>
          </a:xfrm>
          <a:prstGeom prst="rect">
            <a:avLst/>
          </a:prstGeom>
          <a:solidFill>
            <a:srgbClr val="EDE5D8"/>
          </a:solidFill>
          <a:ln w="9525">
            <a:solidFill>
              <a:srgbClr val="D8CCBB"/>
            </a:solidFill>
            <a:prstDash val="solid"/>
          </a:ln>
        </p:spPr>
      </p:sp>
      <p:sp>
        <p:nvSpPr>
          <p:cNvPr id="16" name="矩形 15"/>
          <p:cNvSpPr>
            <a:spLocks noGrp="1"/>
          </p:cNvSpPr>
          <p:nvPr/>
        </p:nvSpPr>
        <p:spPr>
          <a:xfrm>
            <a:off x="5581650" y="2800350"/>
            <a:ext cx="1504950" cy="171450"/>
          </a:xfrm>
          <a:prstGeom prst="rect">
            <a:avLst/>
          </a:prstGeom>
          <a:noFill/>
          <a:ln w="0">
            <a:noFill/>
            <a:prstDash val="solid"/>
          </a:ln>
        </p:spPr>
        <p:txBody>
          <a:bodyPr wrap="square" lIns="0" tIns="0" rIns="0" bIns="0" anchor="ctr">
            <a:normAutofit fontScale="97087" lnSpcReduction="10000"/>
          </a:bodyPr>
          <a:lstStyle/>
          <a:p>
            <a:pPr algn="ctr">
              <a:lnSpc>
                <a:spcPct val="103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Paper 2 RQ / H</a:t>
            </a:r>
          </a:p>
        </p:txBody>
      </p:sp>
      <p:sp>
        <p:nvSpPr>
          <p:cNvPr id="17" name="矩形 16"/>
          <p:cNvSpPr>
            <a:spLocks noGrp="1"/>
          </p:cNvSpPr>
          <p:nvPr/>
        </p:nvSpPr>
        <p:spPr>
          <a:xfrm>
            <a:off x="7181850" y="2724150"/>
            <a:ext cx="3600450" cy="323850"/>
          </a:xfrm>
          <a:prstGeom prst="rect">
            <a:avLst/>
          </a:prstGeom>
          <a:solidFill>
            <a:srgbClr val="EDE5D8"/>
          </a:solidFill>
          <a:ln w="9525">
            <a:solidFill>
              <a:srgbClr val="D8CCBB"/>
            </a:solidFill>
            <a:prstDash val="solid"/>
          </a:ln>
        </p:spPr>
      </p:sp>
      <p:sp>
        <p:nvSpPr>
          <p:cNvPr id="18" name="矩形 17"/>
          <p:cNvSpPr>
            <a:spLocks noGrp="1"/>
          </p:cNvSpPr>
          <p:nvPr/>
        </p:nvSpPr>
        <p:spPr>
          <a:xfrm>
            <a:off x="7277100" y="2800350"/>
            <a:ext cx="3409950" cy="171450"/>
          </a:xfrm>
          <a:prstGeom prst="rect">
            <a:avLst/>
          </a:prstGeom>
          <a:noFill/>
          <a:ln w="0">
            <a:noFill/>
            <a:prstDash val="solid"/>
          </a:ln>
        </p:spPr>
        <p:txBody>
          <a:bodyPr wrap="square" lIns="0" tIns="0" rIns="0" bIns="0" anchor="ctr">
            <a:normAutofit fontScale="97087" lnSpcReduction="10000"/>
          </a:bodyPr>
          <a:lstStyle/>
          <a:p>
            <a:pPr algn="ctr">
              <a:lnSpc>
                <a:spcPct val="103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EWA model readout</a:t>
            </a:r>
          </a:p>
        </p:txBody>
      </p:sp>
      <p:sp>
        <p:nvSpPr>
          <p:cNvPr id="19" name="矩形 18"/>
          <p:cNvSpPr>
            <a:spLocks noGrp="1"/>
          </p:cNvSpPr>
          <p:nvPr/>
        </p:nvSpPr>
        <p:spPr>
          <a:xfrm>
            <a:off x="5486400" y="3048000"/>
            <a:ext cx="1695450" cy="361950"/>
          </a:xfrm>
          <a:prstGeom prst="rect">
            <a:avLst/>
          </a:prstGeom>
          <a:solidFill>
            <a:srgbClr val="FFFFFF"/>
          </a:solidFill>
          <a:ln w="9525">
            <a:solidFill>
              <a:srgbClr val="D8CCBB"/>
            </a:solidFill>
            <a:prstDash val="solid"/>
          </a:ln>
        </p:spPr>
      </p:sp>
      <p:sp>
        <p:nvSpPr>
          <p:cNvPr id="20" name="矩形 19"/>
          <p:cNvSpPr>
            <a:spLocks noGrp="1"/>
          </p:cNvSpPr>
          <p:nvPr/>
        </p:nvSpPr>
        <p:spPr>
          <a:xfrm>
            <a:off x="5581650" y="31242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H1 Dynamic updating</a:t>
            </a:r>
          </a:p>
        </p:txBody>
      </p:sp>
      <p:sp>
        <p:nvSpPr>
          <p:cNvPr id="21" name="矩形 20"/>
          <p:cNvSpPr>
            <a:spLocks noGrp="1"/>
          </p:cNvSpPr>
          <p:nvPr/>
        </p:nvSpPr>
        <p:spPr>
          <a:xfrm>
            <a:off x="7181850" y="3048000"/>
            <a:ext cx="3600450" cy="361950"/>
          </a:xfrm>
          <a:prstGeom prst="rect">
            <a:avLst/>
          </a:prstGeom>
          <a:solidFill>
            <a:srgbClr val="FFFFFF"/>
          </a:solidFill>
          <a:ln w="9525">
            <a:solidFill>
              <a:srgbClr val="D8CCBB"/>
            </a:solidFill>
            <a:prstDash val="solid"/>
          </a:ln>
        </p:spPr>
      </p:sp>
      <p:sp>
        <p:nvSpPr>
          <p:cNvPr id="22" name="矩形 21"/>
          <p:cNvSpPr>
            <a:spLocks noGrp="1"/>
          </p:cNvSpPr>
          <p:nvPr/>
        </p:nvSpPr>
        <p:spPr>
          <a:xfrm>
            <a:off x="7277100" y="31242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 AI and self attractions track relative performance?</a:t>
            </a:r>
          </a:p>
        </p:txBody>
      </p:sp>
      <p:sp>
        <p:nvSpPr>
          <p:cNvPr id="23" name="矩形 22"/>
          <p:cNvSpPr>
            <a:spLocks noGrp="1"/>
          </p:cNvSpPr>
          <p:nvPr/>
        </p:nvSpPr>
        <p:spPr>
          <a:xfrm>
            <a:off x="5486400" y="3409950"/>
            <a:ext cx="1695450" cy="361950"/>
          </a:xfrm>
          <a:prstGeom prst="rect">
            <a:avLst/>
          </a:prstGeom>
          <a:solidFill>
            <a:srgbClr val="FAF6EF"/>
          </a:solidFill>
          <a:ln w="9525">
            <a:solidFill>
              <a:srgbClr val="D8CCBB"/>
            </a:solidFill>
            <a:prstDash val="solid"/>
          </a:ln>
        </p:spPr>
      </p:sp>
      <p:sp>
        <p:nvSpPr>
          <p:cNvPr id="24" name="矩形 23"/>
          <p:cNvSpPr>
            <a:spLocks noGrp="1"/>
          </p:cNvSpPr>
          <p:nvPr/>
        </p:nvSpPr>
        <p:spPr>
          <a:xfrm>
            <a:off x="5581650" y="348615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H2 Shock penalty</a:t>
            </a:r>
          </a:p>
        </p:txBody>
      </p:sp>
      <p:sp>
        <p:nvSpPr>
          <p:cNvPr id="25" name="矩形 24"/>
          <p:cNvSpPr>
            <a:spLocks noGrp="1"/>
          </p:cNvSpPr>
          <p:nvPr/>
        </p:nvSpPr>
        <p:spPr>
          <a:xfrm>
            <a:off x="7181850" y="3409950"/>
            <a:ext cx="3600450" cy="361950"/>
          </a:xfrm>
          <a:prstGeom prst="rect">
            <a:avLst/>
          </a:prstGeom>
          <a:solidFill>
            <a:srgbClr val="FAF6EF"/>
          </a:solidFill>
          <a:ln w="9525">
            <a:solidFill>
              <a:srgbClr val="D8CCBB"/>
            </a:solidFill>
            <a:prstDash val="solid"/>
          </a:ln>
        </p:spPr>
      </p:sp>
      <p:sp>
        <p:nvSpPr>
          <p:cNvPr id="26" name="矩形 25"/>
          <p:cNvSpPr>
            <a:spLocks noGrp="1"/>
          </p:cNvSpPr>
          <p:nvPr/>
        </p:nvSpPr>
        <p:spPr>
          <a:xfrm>
            <a:off x="7277100" y="348615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Does clustered AI failure create extra AI-attraction loss?</a:t>
            </a:r>
          </a:p>
        </p:txBody>
      </p:sp>
      <p:sp>
        <p:nvSpPr>
          <p:cNvPr id="27" name="矩形 26"/>
          <p:cNvSpPr>
            <a:spLocks noGrp="1"/>
          </p:cNvSpPr>
          <p:nvPr/>
        </p:nvSpPr>
        <p:spPr>
          <a:xfrm>
            <a:off x="5486400" y="3771900"/>
            <a:ext cx="1695450" cy="361950"/>
          </a:xfrm>
          <a:prstGeom prst="rect">
            <a:avLst/>
          </a:prstGeom>
          <a:solidFill>
            <a:srgbClr val="FFFFFF"/>
          </a:solidFill>
          <a:ln w="9525">
            <a:solidFill>
              <a:srgbClr val="D8CCBB"/>
            </a:solidFill>
            <a:prstDash val="solid"/>
          </a:ln>
        </p:spPr>
      </p:sp>
      <p:sp>
        <p:nvSpPr>
          <p:cNvPr id="28" name="矩形 27"/>
          <p:cNvSpPr>
            <a:spLocks noGrp="1"/>
          </p:cNvSpPr>
          <p:nvPr/>
        </p:nvSpPr>
        <p:spPr>
          <a:xfrm>
            <a:off x="5581650" y="38481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H3 Recovery</a:t>
            </a:r>
          </a:p>
        </p:txBody>
      </p:sp>
      <p:sp>
        <p:nvSpPr>
          <p:cNvPr id="29" name="矩形 28"/>
          <p:cNvSpPr>
            <a:spLocks noGrp="1"/>
          </p:cNvSpPr>
          <p:nvPr/>
        </p:nvSpPr>
        <p:spPr>
          <a:xfrm>
            <a:off x="7181850" y="3771900"/>
            <a:ext cx="3600450" cy="361950"/>
          </a:xfrm>
          <a:prstGeom prst="rect">
            <a:avLst/>
          </a:prstGeom>
          <a:solidFill>
            <a:srgbClr val="FFFFFF"/>
          </a:solidFill>
          <a:ln w="9525">
            <a:solidFill>
              <a:srgbClr val="D8CCBB"/>
            </a:solidFill>
            <a:prstDash val="solid"/>
          </a:ln>
        </p:spPr>
      </p:sp>
      <p:sp>
        <p:nvSpPr>
          <p:cNvPr id="30" name="矩形 29"/>
          <p:cNvSpPr>
            <a:spLocks noGrp="1"/>
          </p:cNvSpPr>
          <p:nvPr/>
        </p:nvSpPr>
        <p:spPr>
          <a:xfrm>
            <a:off x="7277100" y="38481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Does attraction remain below the balanced path after recovery?</a:t>
            </a:r>
          </a:p>
        </p:txBody>
      </p:sp>
      <p:sp>
        <p:nvSpPr>
          <p:cNvPr id="31" name="矩形 30"/>
          <p:cNvSpPr>
            <a:spLocks noGrp="1"/>
          </p:cNvSpPr>
          <p:nvPr/>
        </p:nvSpPr>
        <p:spPr>
          <a:xfrm>
            <a:off x="5486400" y="4133850"/>
            <a:ext cx="1695450" cy="361950"/>
          </a:xfrm>
          <a:prstGeom prst="rect">
            <a:avLst/>
          </a:prstGeom>
          <a:solidFill>
            <a:srgbClr val="FAF6EF"/>
          </a:solidFill>
          <a:ln w="9525">
            <a:solidFill>
              <a:srgbClr val="D8CCBB"/>
            </a:solidFill>
            <a:prstDash val="solid"/>
          </a:ln>
        </p:spPr>
      </p:sp>
      <p:sp>
        <p:nvSpPr>
          <p:cNvPr id="32" name="矩形 31"/>
          <p:cNvSpPr>
            <a:spLocks noGrp="1"/>
          </p:cNvSpPr>
          <p:nvPr/>
        </p:nvSpPr>
        <p:spPr>
          <a:xfrm>
            <a:off x="5581650" y="421005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H4 Timing</a:t>
            </a:r>
          </a:p>
        </p:txBody>
      </p:sp>
      <p:sp>
        <p:nvSpPr>
          <p:cNvPr id="33" name="矩形 32"/>
          <p:cNvSpPr>
            <a:spLocks noGrp="1"/>
          </p:cNvSpPr>
          <p:nvPr/>
        </p:nvSpPr>
        <p:spPr>
          <a:xfrm>
            <a:off x="7181850" y="4133850"/>
            <a:ext cx="3600450" cy="361950"/>
          </a:xfrm>
          <a:prstGeom prst="rect">
            <a:avLst/>
          </a:prstGeom>
          <a:solidFill>
            <a:srgbClr val="FAF6EF"/>
          </a:solidFill>
          <a:ln w="9525">
            <a:solidFill>
              <a:srgbClr val="D8CCBB"/>
            </a:solidFill>
            <a:prstDash val="solid"/>
          </a:ln>
        </p:spPr>
      </p:sp>
      <p:sp>
        <p:nvSpPr>
          <p:cNvPr id="34" name="矩形 33"/>
          <p:cNvSpPr>
            <a:spLocks noGrp="1"/>
          </p:cNvSpPr>
          <p:nvPr/>
        </p:nvSpPr>
        <p:spPr>
          <a:xfrm>
            <a:off x="7277100" y="421005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Is early shock harder to repair than mid shock?</a:t>
            </a:r>
          </a:p>
        </p:txBody>
      </p:sp>
      <p:sp>
        <p:nvSpPr>
          <p:cNvPr id="35" name="矩形 34"/>
          <p:cNvSpPr>
            <a:spLocks noGrp="1"/>
          </p:cNvSpPr>
          <p:nvPr/>
        </p:nvSpPr>
        <p:spPr>
          <a:xfrm>
            <a:off x="5486400" y="4495800"/>
            <a:ext cx="1695450" cy="361950"/>
          </a:xfrm>
          <a:prstGeom prst="rect">
            <a:avLst/>
          </a:prstGeom>
          <a:solidFill>
            <a:srgbClr val="FFFFFF"/>
          </a:solidFill>
          <a:ln w="9525">
            <a:solidFill>
              <a:srgbClr val="D8CCBB"/>
            </a:solidFill>
            <a:prstDash val="solid"/>
          </a:ln>
        </p:spPr>
      </p:sp>
      <p:sp>
        <p:nvSpPr>
          <p:cNvPr id="36" name="矩形 35"/>
          <p:cNvSpPr>
            <a:spLocks noGrp="1"/>
          </p:cNvSpPr>
          <p:nvPr/>
        </p:nvSpPr>
        <p:spPr>
          <a:xfrm>
            <a:off x="5581650" y="4572000"/>
            <a:ext cx="1504950" cy="209550"/>
          </a:xfrm>
          <a:prstGeom prst="rect">
            <a:avLst/>
          </a:prstGeom>
          <a:noFill/>
          <a:ln w="0">
            <a:noFill/>
            <a:prstDash val="solid"/>
          </a:ln>
        </p:spPr>
        <p:txBody>
          <a:bodyPr wrap="square" lIns="0" tIns="0" rIns="0" bIns="0" anchor="ctr">
            <a:normAutofit/>
          </a:bodyPr>
          <a:lstStyle/>
          <a:p>
            <a:pPr algn="l">
              <a:lnSpc>
                <a:spcPct val="103000"/>
              </a:lnSpc>
              <a:buNone/>
              <a:defRPr sz="1050" b="1" i="0">
                <a:solidFill>
                  <a:srgbClr val="231D17"/>
                </a:solidFill>
                <a:latin typeface="Times New Roman" panose="02020603050405020304"/>
                <a:ea typeface="Times New Roman" panose="02020603050405020304"/>
                <a:cs typeface="Times New Roman" panose="02020603050405020304"/>
              </a:defRPr>
            </a:pPr>
            <a:r>
              <a:rPr sz="1050" b="1" i="0">
                <a:solidFill>
                  <a:srgbClr val="231D17"/>
                </a:solidFill>
                <a:latin typeface="Times New Roman" panose="02020603050405020304"/>
                <a:ea typeface="Times New Roman" panose="02020603050405020304"/>
                <a:cs typeface="Times New Roman" panose="02020603050405020304"/>
              </a:rPr>
              <a:t>H5 Source asymmetry</a:t>
            </a:r>
          </a:p>
        </p:txBody>
      </p:sp>
      <p:sp>
        <p:nvSpPr>
          <p:cNvPr id="37" name="矩形 36"/>
          <p:cNvSpPr>
            <a:spLocks noGrp="1"/>
          </p:cNvSpPr>
          <p:nvPr/>
        </p:nvSpPr>
        <p:spPr>
          <a:xfrm>
            <a:off x="7181850" y="4495800"/>
            <a:ext cx="3600450" cy="361950"/>
          </a:xfrm>
          <a:prstGeom prst="rect">
            <a:avLst/>
          </a:prstGeom>
          <a:solidFill>
            <a:srgbClr val="FFFFFF"/>
          </a:solidFill>
          <a:ln w="9525">
            <a:solidFill>
              <a:srgbClr val="D8CCBB"/>
            </a:solidFill>
            <a:prstDash val="solid"/>
          </a:ln>
        </p:spPr>
      </p:sp>
      <p:sp>
        <p:nvSpPr>
          <p:cNvPr id="38" name="矩形 37"/>
          <p:cNvSpPr>
            <a:spLocks noGrp="1"/>
          </p:cNvSpPr>
          <p:nvPr/>
        </p:nvSpPr>
        <p:spPr>
          <a:xfrm>
            <a:off x="7277100" y="4572000"/>
            <a:ext cx="3409950" cy="209550"/>
          </a:xfrm>
          <a:prstGeom prst="rect">
            <a:avLst/>
          </a:prstGeom>
          <a:noFill/>
          <a:ln w="0">
            <a:noFill/>
            <a:prstDash val="solid"/>
          </a:ln>
        </p:spPr>
        <p:txBody>
          <a:bodyPr wrap="square" lIns="0" tIns="0" rIns="0" bIns="0" anchor="ctr">
            <a:normAutofit/>
          </a:bodyPr>
          <a:lstStyle/>
          <a:p>
            <a:pPr algn="l">
              <a:lnSpc>
                <a:spcPct val="103000"/>
              </a:lnSpc>
              <a:buNone/>
              <a:defRPr sz="1050" b="0" i="0">
                <a:solidFill>
                  <a:srgbClr val="231D17"/>
                </a:solidFill>
                <a:latin typeface="Times New Roman" panose="02020603050405020304"/>
                <a:ea typeface="Times New Roman" panose="02020603050405020304"/>
                <a:cs typeface="Times New Roman" panose="02020603050405020304"/>
              </a:defRPr>
            </a:pPr>
            <a:r>
              <a:rPr sz="1050" b="0" i="0">
                <a:solidFill>
                  <a:srgbClr val="231D17"/>
                </a:solidFill>
                <a:latin typeface="Times New Roman" panose="02020603050405020304"/>
                <a:ea typeface="Times New Roman" panose="02020603050405020304"/>
                <a:cs typeface="Times New Roman" panose="02020603050405020304"/>
              </a:rPr>
              <a:t>Is negative updating stronger after AI misses than self misses?</a:t>
            </a:r>
          </a:p>
        </p:txBody>
      </p:sp>
      <p:sp>
        <p:nvSpPr>
          <p:cNvPr id="39" name="圆角矩形 38"/>
          <p:cNvSpPr>
            <a:spLocks noGrp="1"/>
          </p:cNvSpPr>
          <p:nvPr/>
        </p:nvSpPr>
        <p:spPr>
          <a:xfrm>
            <a:off x="914400" y="5143500"/>
            <a:ext cx="10325100" cy="838200"/>
          </a:xfrm>
          <a:prstGeom prst="roundRect">
            <a:avLst>
              <a:gd name="adj" fmla="val 13636"/>
            </a:avLst>
          </a:prstGeom>
          <a:solidFill>
            <a:srgbClr val="23384A"/>
          </a:solidFill>
          <a:ln w="9525">
            <a:solidFill>
              <a:srgbClr val="23384A"/>
            </a:solidFill>
            <a:prstDash val="solid"/>
          </a:ln>
        </p:spPr>
      </p:sp>
      <p:sp>
        <p:nvSpPr>
          <p:cNvPr id="40" name="矩形 39"/>
          <p:cNvSpPr>
            <a:spLocks noGrp="1"/>
          </p:cNvSpPr>
          <p:nvPr/>
        </p:nvSpPr>
        <p:spPr>
          <a:xfrm>
            <a:off x="1219200" y="5334000"/>
            <a:ext cx="3143250" cy="190500"/>
          </a:xfrm>
          <a:prstGeom prst="rect">
            <a:avLst/>
          </a:prstGeom>
          <a:noFill/>
          <a:ln w="0">
            <a:noFill/>
            <a:prstDash val="solid"/>
          </a:ln>
        </p:spPr>
        <p:txBody>
          <a:bodyPr wrap="square" lIns="0" tIns="0" rIns="0" bIns="0" anchor="t">
            <a:normAutofit fontScale="92490" lnSpcReduction="10000"/>
          </a:bodyPr>
          <a:lstStyle/>
          <a:p>
            <a:pPr algn="l">
              <a:lnSpc>
                <a:spcPct val="106000"/>
              </a:lnSpc>
              <a:buNone/>
              <a:defRPr sz="1275" b="1" i="0">
                <a:solidFill>
                  <a:srgbClr val="E7D4C3"/>
                </a:solidFill>
                <a:latin typeface="Times New Roman" panose="02020603050405020304"/>
                <a:ea typeface="Times New Roman" panose="02020603050405020304"/>
                <a:cs typeface="Times New Roman" panose="02020603050405020304"/>
              </a:defRPr>
            </a:pPr>
            <a:r>
              <a:rPr sz="1275" b="1" i="0">
                <a:solidFill>
                  <a:srgbClr val="E7D4C3"/>
                </a:solidFill>
                <a:latin typeface="Times New Roman" panose="02020603050405020304"/>
                <a:ea typeface="Times New Roman" panose="02020603050405020304"/>
                <a:cs typeface="Times New Roman" panose="02020603050405020304"/>
              </a:rPr>
              <a:t>Minimal model intuition</a:t>
            </a:r>
          </a:p>
        </p:txBody>
      </p:sp>
      <p:sp>
        <p:nvSpPr>
          <p:cNvPr id="41" name="矩形 40"/>
          <p:cNvSpPr>
            <a:spLocks noGrp="1"/>
          </p:cNvSpPr>
          <p:nvPr/>
        </p:nvSpPr>
        <p:spPr>
          <a:xfrm>
            <a:off x="1219200" y="5600700"/>
            <a:ext cx="4000500" cy="247650"/>
          </a:xfrm>
          <a:prstGeom prst="rect">
            <a:avLst/>
          </a:prstGeom>
          <a:noFill/>
          <a:ln w="0">
            <a:noFill/>
            <a:prstDash val="solid"/>
          </a:ln>
        </p:spPr>
        <p:txBody>
          <a:bodyPr wrap="square" lIns="0" tIns="0" rIns="0" bIns="0" anchor="t">
            <a:normAutofit/>
          </a:bodyPr>
          <a:lstStyle/>
          <a:p>
            <a:pPr algn="l">
              <a:lnSpc>
                <a:spcPct val="106000"/>
              </a:lnSpc>
              <a:buNone/>
              <a:defRPr sz="1275" b="1" i="0">
                <a:solidFill>
                  <a:srgbClr val="F5F0E6"/>
                </a:solidFill>
                <a:latin typeface="Times New Roman" panose="02020603050405020304"/>
                <a:ea typeface="Times New Roman" panose="02020603050405020304"/>
                <a:cs typeface="Times New Roman" panose="02020603050405020304"/>
              </a:defRPr>
            </a:pPr>
            <a:r>
              <a:rPr sz="1275" b="1" i="0">
                <a:solidFill>
                  <a:srgbClr val="F5F0E6"/>
                </a:solidFill>
                <a:latin typeface="Times New Roman" panose="02020603050405020304"/>
                <a:ea typeface="Times New Roman" panose="02020603050405020304"/>
                <a:cs typeface="Times New Roman" panose="02020603050405020304"/>
              </a:rPr>
              <a:t>P(choose AI)t = f(AI attractiont - Self attractiont)</a:t>
            </a:r>
          </a:p>
        </p:txBody>
      </p:sp>
      <p:sp>
        <p:nvSpPr>
          <p:cNvPr id="42" name="矩形 41"/>
          <p:cNvSpPr>
            <a:spLocks noGrp="1"/>
          </p:cNvSpPr>
          <p:nvPr/>
        </p:nvSpPr>
        <p:spPr>
          <a:xfrm>
            <a:off x="5715000" y="5334000"/>
            <a:ext cx="5105400" cy="495300"/>
          </a:xfrm>
          <a:prstGeom prst="rect">
            <a:avLst/>
          </a:prstGeom>
          <a:noFill/>
          <a:ln w="0">
            <a:noFill/>
            <a:prstDash val="solid"/>
          </a:ln>
        </p:spPr>
        <p:txBody>
          <a:bodyPr wrap="square" lIns="0" tIns="0" rIns="0" bIns="0" anchor="t">
            <a:normAutofit fontScale="88262"/>
          </a:bodyPr>
          <a:lstStyle/>
          <a:p>
            <a:pPr algn="l">
              <a:lnSpc>
                <a:spcPct val="108000"/>
              </a:lnSpc>
              <a:buNone/>
              <a:defRPr sz="1275" b="0" i="0">
                <a:solidFill>
                  <a:srgbClr val="F5F0E6"/>
                </a:solidFill>
                <a:latin typeface="Times New Roman" panose="02020603050405020304"/>
                <a:ea typeface="Times New Roman" panose="02020603050405020304"/>
                <a:cs typeface="Times New Roman" panose="02020603050405020304"/>
              </a:defRPr>
            </a:pPr>
            <a:r>
              <a:rPr sz="1275" b="0" i="0">
                <a:solidFill>
                  <a:srgbClr val="F5F0E6"/>
                </a:solidFill>
                <a:latin typeface="Times New Roman" panose="02020603050405020304"/>
                <a:ea typeface="Times New Roman" panose="02020603050405020304"/>
                <a:cs typeface="Times New Roman" panose="02020603050405020304"/>
              </a:rPr>
              <a:t>Reduced-form comparisons show whether reliance paths differ. EWA-inspired estimation tests whether the difference comes from asymmetric updating of source attraction.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矩形 14"/>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1905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eyebrow"/>
          <p:cNvSpPr>
            <a:spLocks noGrp="1"/>
          </p:cNvSpPr>
          <p:nvPr/>
        </p:nvSpPr>
        <p:spPr>
          <a:xfrm>
            <a:off x="1219200" y="590550"/>
            <a:ext cx="2286000" cy="228600"/>
          </a:xfrm>
          <a:prstGeom prst="rect">
            <a:avLst/>
          </a:prstGeom>
          <a:noFill/>
          <a:ln w="0">
            <a:noFill/>
            <a:prstDash val="solid"/>
          </a:ln>
        </p:spPr>
        <p:txBody>
          <a:bodyPr wrap="square" lIns="0" tIns="0" rIns="0" bIns="0" anchor="t">
            <a:normAutofit fontScale="86304"/>
          </a:bodyPr>
          <a:lstStyle/>
          <a:p>
            <a:pPr algn="l">
              <a:lnSpc>
                <a:spcPct val="108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EXPECTED RESULTS AND CONTRIBUTION</a:t>
            </a:r>
          </a:p>
        </p:txBody>
      </p:sp>
      <p:sp>
        <p:nvSpPr>
          <p:cNvPr id="5" name="title"/>
          <p:cNvSpPr>
            <a:spLocks noGrp="1"/>
          </p:cNvSpPr>
          <p:nvPr/>
        </p:nvSpPr>
        <p:spPr>
          <a:xfrm>
            <a:off x="914400" y="952500"/>
            <a:ext cx="8191500" cy="628650"/>
          </a:xfrm>
          <a:prstGeom prst="rect">
            <a:avLst/>
          </a:prstGeom>
          <a:noFill/>
          <a:ln w="0">
            <a:noFill/>
            <a:prstDash val="solid"/>
          </a:ln>
        </p:spPr>
        <p:txBody>
          <a:bodyPr wrap="square" lIns="0" tIns="0" rIns="0" bIns="0" anchor="t">
            <a:normAutofit/>
          </a:bodyPr>
          <a:lstStyle/>
          <a:p>
            <a:pPr algn="l">
              <a:lnSpc>
                <a:spcPct val="108000"/>
              </a:lnSpc>
              <a:buNone/>
              <a:defRPr sz="2175" b="1" i="0">
                <a:solidFill>
                  <a:srgbClr val="231D17"/>
                </a:solidFill>
                <a:latin typeface="Times New Roman" panose="02020603050405020304"/>
                <a:ea typeface="Times New Roman" panose="02020603050405020304"/>
                <a:cs typeface="Times New Roman" panose="02020603050405020304"/>
              </a:defRPr>
            </a:pPr>
            <a:r>
              <a:rPr sz="2175" b="1" i="0">
                <a:solidFill>
                  <a:srgbClr val="231D17"/>
                </a:solidFill>
                <a:latin typeface="Times New Roman" panose="02020603050405020304"/>
                <a:ea typeface="Times New Roman" panose="02020603050405020304"/>
                <a:cs typeface="Times New Roman" panose="02020603050405020304"/>
              </a:rPr>
              <a:t>We first expect a visible path effect and then explain why it persists</a:t>
            </a:r>
          </a:p>
        </p:txBody>
      </p:sp>
      <p:sp>
        <p:nvSpPr>
          <p:cNvPr id="6" name="subtitle"/>
          <p:cNvSpPr>
            <a:spLocks noGrp="1"/>
          </p:cNvSpPr>
          <p:nvPr/>
        </p:nvSpPr>
        <p:spPr>
          <a:xfrm>
            <a:off x="914400" y="1562100"/>
            <a:ext cx="9525000" cy="419100"/>
          </a:xfrm>
          <a:prstGeom prst="rect">
            <a:avLst/>
          </a:prstGeom>
          <a:noFill/>
          <a:ln w="0">
            <a:noFill/>
            <a:prstDash val="solid"/>
          </a:ln>
        </p:spPr>
        <p:txBody>
          <a:bodyPr wrap="square" lIns="0" tIns="0" rIns="0" bIns="0" anchor="t">
            <a:normAutofit/>
          </a:bodyPr>
          <a:lstStyle/>
          <a:p>
            <a:pPr algn="l">
              <a:lnSpc>
                <a:spcPct val="108000"/>
              </a:lnSpc>
              <a:buNone/>
              <a:defRPr sz="1200" b="0" i="0">
                <a:solidFill>
                  <a:srgbClr val="6F665C"/>
                </a:solidFill>
                <a:latin typeface="Times New Roman" panose="02020603050405020304"/>
                <a:ea typeface="Times New Roman" panose="02020603050405020304"/>
                <a:cs typeface="Times New Roman" panose="02020603050405020304"/>
              </a:defRPr>
            </a:pPr>
            <a:r>
              <a:rPr sz="1200" b="0" i="0">
                <a:solidFill>
                  <a:srgbClr val="6F665C"/>
                </a:solidFill>
                <a:latin typeface="Times New Roman" panose="02020603050405020304"/>
                <a:ea typeface="Times New Roman" panose="02020603050405020304"/>
                <a:cs typeface="Times New Roman" panose="02020603050405020304"/>
              </a:rPr>
              <a:t>The expected contribution is to identify path-dependent under-reliance after AI errors under matched average quality.</a:t>
            </a:r>
          </a:p>
        </p:txBody>
      </p:sp>
      <p:sp>
        <p:nvSpPr>
          <p:cNvPr id="7" name="圆角矩形 6"/>
          <p:cNvSpPr>
            <a:spLocks noGrp="1"/>
          </p:cNvSpPr>
          <p:nvPr/>
        </p:nvSpPr>
        <p:spPr>
          <a:xfrm>
            <a:off x="914400" y="2057400"/>
            <a:ext cx="5829300" cy="2990850"/>
          </a:xfrm>
          <a:prstGeom prst="roundRect">
            <a:avLst>
              <a:gd name="adj" fmla="val 3822"/>
            </a:avLst>
          </a:prstGeom>
          <a:solidFill>
            <a:srgbClr val="FFFFFF"/>
          </a:solidFill>
          <a:ln w="9525">
            <a:solidFill>
              <a:srgbClr val="D8CCBB"/>
            </a:solidFill>
            <a:prstDash val="solid"/>
          </a:ln>
        </p:spPr>
      </p:sp>
      <p:sp>
        <p:nvSpPr>
          <p:cNvPr id="8" name="矩形 7"/>
          <p:cNvSpPr>
            <a:spLocks noGrp="1"/>
          </p:cNvSpPr>
          <p:nvPr/>
        </p:nvSpPr>
        <p:spPr>
          <a:xfrm>
            <a:off x="1123950" y="2266950"/>
            <a:ext cx="20955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B77845"/>
                </a:solidFill>
                <a:latin typeface="Times New Roman" panose="02020603050405020304"/>
                <a:ea typeface="Times New Roman" panose="02020603050405020304"/>
                <a:cs typeface="Times New Roman" panose="02020603050405020304"/>
              </a:defRPr>
            </a:pPr>
            <a:r>
              <a:rPr sz="1350" b="1" i="0">
                <a:solidFill>
                  <a:srgbClr val="B77845"/>
                </a:solidFill>
                <a:latin typeface="Times New Roman" panose="02020603050405020304"/>
                <a:ea typeface="Times New Roman" panose="02020603050405020304"/>
                <a:cs typeface="Times New Roman" panose="02020603050405020304"/>
              </a:rPr>
              <a:t>Expected reliance path</a:t>
            </a:r>
          </a:p>
        </p:txBody>
      </p:sp>
      <p:graphicFrame>
        <p:nvGraphicFramePr>
          <p:cNvPr id="22" name="Chart"/>
          <p:cNvGraphicFramePr/>
          <p:nvPr/>
        </p:nvGraphicFramePr>
        <p:xfrm>
          <a:off x="1257300" y="2667000"/>
          <a:ext cx="5219700" cy="1962150"/>
        </p:xfrm>
        <a:graphic>
          <a:graphicData uri="http://schemas.openxmlformats.org/drawingml/2006/chart">
            <c:chart xmlns:c="http://schemas.openxmlformats.org/drawingml/2006/chart" xmlns:r="http://schemas.openxmlformats.org/officeDocument/2006/relationships" r:id="rId3"/>
          </a:graphicData>
        </a:graphic>
      </p:graphicFrame>
      <p:sp>
        <p:nvSpPr>
          <p:cNvPr id="9" name="圆角矩形 8"/>
          <p:cNvSpPr>
            <a:spLocks noGrp="1"/>
          </p:cNvSpPr>
          <p:nvPr/>
        </p:nvSpPr>
        <p:spPr>
          <a:xfrm>
            <a:off x="7239000" y="2057400"/>
            <a:ext cx="3962400" cy="2990850"/>
          </a:xfrm>
          <a:prstGeom prst="roundRect">
            <a:avLst>
              <a:gd name="adj" fmla="val 3822"/>
            </a:avLst>
          </a:prstGeom>
          <a:solidFill>
            <a:srgbClr val="FFFFFF"/>
          </a:solidFill>
          <a:ln w="9525">
            <a:solidFill>
              <a:srgbClr val="D8CCBB"/>
            </a:solidFill>
            <a:prstDash val="solid"/>
          </a:ln>
        </p:spPr>
      </p:sp>
      <p:sp>
        <p:nvSpPr>
          <p:cNvPr id="10" name="矩形 9"/>
          <p:cNvSpPr>
            <a:spLocks noGrp="1"/>
          </p:cNvSpPr>
          <p:nvPr/>
        </p:nvSpPr>
        <p:spPr>
          <a:xfrm>
            <a:off x="7448550" y="2266950"/>
            <a:ext cx="3048000" cy="228600"/>
          </a:xfrm>
          <a:prstGeom prst="rect">
            <a:avLst/>
          </a:prstGeom>
          <a:noFill/>
          <a:ln w="0">
            <a:noFill/>
            <a:prstDash val="solid"/>
          </a:ln>
        </p:spPr>
        <p:txBody>
          <a:bodyPr wrap="square" lIns="0" tIns="0" rIns="0" bIns="0" anchor="t">
            <a:normAutofit/>
          </a:bodyPr>
          <a:lstStyle/>
          <a:p>
            <a:pPr algn="l">
              <a:lnSpc>
                <a:spcPct val="108000"/>
              </a:lnSpc>
              <a:buNone/>
              <a:defRPr sz="1350" b="1" i="0">
                <a:solidFill>
                  <a:srgbClr val="818A68"/>
                </a:solidFill>
                <a:latin typeface="Times New Roman" panose="02020603050405020304"/>
                <a:ea typeface="Times New Roman" panose="02020603050405020304"/>
                <a:cs typeface="Times New Roman" panose="02020603050405020304"/>
              </a:defRPr>
            </a:pPr>
            <a:r>
              <a:rPr sz="1350" b="1" i="0">
                <a:solidFill>
                  <a:srgbClr val="818A68"/>
                </a:solidFill>
                <a:latin typeface="Times New Roman" panose="02020603050405020304"/>
                <a:ea typeface="Times New Roman" panose="02020603050405020304"/>
                <a:cs typeface="Times New Roman" panose="02020603050405020304"/>
              </a:rPr>
              <a:t>Contribution</a:t>
            </a:r>
          </a:p>
        </p:txBody>
      </p:sp>
      <p:sp>
        <p:nvSpPr>
          <p:cNvPr id="11" name="矩形 10"/>
          <p:cNvSpPr>
            <a:spLocks noGrp="1"/>
          </p:cNvSpPr>
          <p:nvPr/>
        </p:nvSpPr>
        <p:spPr>
          <a:xfrm>
            <a:off x="7448550" y="2686050"/>
            <a:ext cx="3295650" cy="1733550"/>
          </a:xfrm>
          <a:prstGeom prst="rect">
            <a:avLst/>
          </a:prstGeom>
          <a:noFill/>
          <a:ln w="0">
            <a:noFill/>
            <a:prstDash val="solid"/>
          </a:ln>
        </p:spPr>
        <p:txBody>
          <a:bodyPr wrap="square" lIns="0" tIns="0" rIns="0" bIns="0" anchor="t">
            <a:normAutofit/>
          </a:bodyPr>
          <a:lstStyle/>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Moves beyond one-shot algorithm aversion toward repeated dynamic reliance.</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Uses timing variation plus parity control to identify path effects rather than simple quality differences.</a:t>
            </a:r>
          </a:p>
          <a:p>
            <a:pPr marL="0" indent="0" algn="l">
              <a:lnSpc>
                <a:spcPct val="108000"/>
              </a:lnSpc>
              <a:spcAft>
                <a:spcPts val="10"/>
              </a:spcAft>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Links visible path divergence to asymmetric learning without letting the EWA layer dominate the story.</a:t>
            </a:r>
          </a:p>
        </p:txBody>
      </p:sp>
      <p:sp>
        <p:nvSpPr>
          <p:cNvPr id="12" name="圆角矩形 11"/>
          <p:cNvSpPr>
            <a:spLocks noGrp="1"/>
          </p:cNvSpPr>
          <p:nvPr/>
        </p:nvSpPr>
        <p:spPr>
          <a:xfrm>
            <a:off x="914400" y="5372100"/>
            <a:ext cx="10287000" cy="704850"/>
          </a:xfrm>
          <a:prstGeom prst="roundRect">
            <a:avLst>
              <a:gd name="adj" fmla="val 16216"/>
            </a:avLst>
          </a:prstGeom>
          <a:solidFill>
            <a:srgbClr val="F1E8DA"/>
          </a:solidFill>
          <a:ln w="9525">
            <a:solidFill>
              <a:srgbClr val="E7D4C3"/>
            </a:solidFill>
            <a:prstDash val="solid"/>
          </a:ln>
        </p:spPr>
      </p:sp>
      <p:sp>
        <p:nvSpPr>
          <p:cNvPr id="13" name="圆角矩形 12"/>
          <p:cNvSpPr>
            <a:spLocks noGrp="1"/>
          </p:cNvSpPr>
          <p:nvPr/>
        </p:nvSpPr>
        <p:spPr>
          <a:xfrm>
            <a:off x="914400" y="5372100"/>
            <a:ext cx="57150" cy="704850"/>
          </a:xfrm>
          <a:prstGeom prst="roundRect">
            <a:avLst>
              <a:gd name="adj" fmla="val 33333"/>
            </a:avLst>
          </a:prstGeom>
          <a:solidFill>
            <a:srgbClr val="B77845"/>
          </a:solidFill>
          <a:ln w="9525">
            <a:solidFill>
              <a:srgbClr val="B77845"/>
            </a:solidFill>
            <a:prstDash val="solid"/>
          </a:ln>
        </p:spPr>
      </p:sp>
      <p:sp>
        <p:nvSpPr>
          <p:cNvPr id="14" name="矩形 13"/>
          <p:cNvSpPr>
            <a:spLocks noGrp="1"/>
          </p:cNvSpPr>
          <p:nvPr/>
        </p:nvSpPr>
        <p:spPr>
          <a:xfrm>
            <a:off x="1162050" y="5581650"/>
            <a:ext cx="9715500" cy="266700"/>
          </a:xfrm>
          <a:prstGeom prst="rect">
            <a:avLst/>
          </a:prstGeom>
          <a:noFill/>
          <a:ln w="0">
            <a:noFill/>
            <a:prstDash val="solid"/>
          </a:ln>
        </p:spPr>
        <p:txBody>
          <a:bodyPr wrap="square" lIns="0" tIns="0" rIns="0" bIns="0" anchor="t">
            <a:normAutofit fontScale="84155"/>
          </a:bodyPr>
          <a:lstStyle/>
          <a:p>
            <a:pPr algn="ctr">
              <a:lnSpc>
                <a:spcPct val="108000"/>
              </a:lnSpc>
              <a:buNone/>
              <a:defRPr sz="1425" b="1" i="0">
                <a:solidFill>
                  <a:srgbClr val="231D17"/>
                </a:solidFill>
                <a:latin typeface="Times New Roman" panose="02020603050405020304"/>
                <a:ea typeface="Times New Roman" panose="02020603050405020304"/>
                <a:cs typeface="Times New Roman" panose="02020603050405020304"/>
              </a:defRPr>
            </a:pPr>
            <a:r>
              <a:rPr sz="1425" b="1" i="0">
                <a:solidFill>
                  <a:srgbClr val="231D17"/>
                </a:solidFill>
                <a:latin typeface="Times New Roman" panose="02020603050405020304"/>
                <a:ea typeface="Times New Roman" panose="02020603050405020304"/>
                <a:cs typeface="Times New Roman" panose="02020603050405020304"/>
              </a:rPr>
              <a:t>Takeaway: under matched average performance, early AI misses may generate a more persistent under-reliance path than later or distributed misses.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23364A"/>
        </a:solidFill>
        <a:effectLst/>
      </p:bgPr>
    </p:bg>
    <p:spTree>
      <p:nvGrpSpPr>
        <p:cNvPr id="1" name=""/>
        <p:cNvGrpSpPr/>
        <p:nvPr/>
      </p:nvGrpSpPr>
      <p:grpSpPr>
        <a:xfrm>
          <a:off x="0" y="0"/>
          <a:ext cx="0" cy="0"/>
          <a:chOff x="0" y="0"/>
          <a:chExt cx="0" cy="0"/>
        </a:xfrm>
      </p:grpSpPr>
      <p:sp>
        <p:nvSpPr>
          <p:cNvPr id="2" name="矩形 1"/>
          <p:cNvSpPr>
            <a:spLocks noGrp="1"/>
          </p:cNvSpPr>
          <p:nvPr/>
        </p:nvSpPr>
        <p:spPr>
          <a:xfrm>
            <a:off x="781050" y="800100"/>
            <a:ext cx="10287000" cy="2667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E7D4C3"/>
                </a:solidFill>
                <a:latin typeface="Times New Roman" panose="02020603050405020304"/>
                <a:ea typeface="Times New Roman" panose="02020603050405020304"/>
                <a:cs typeface="Times New Roman" panose="02020603050405020304"/>
              </a:defRPr>
            </a:pPr>
            <a:r>
              <a:rPr sz="900" b="1" i="0">
                <a:solidFill>
                  <a:srgbClr val="E7D4C3"/>
                </a:solidFill>
                <a:latin typeface="Times New Roman" panose="02020603050405020304"/>
                <a:ea typeface="Times New Roman" panose="02020603050405020304"/>
                <a:cs typeface="Times New Roman" panose="02020603050405020304"/>
              </a:rPr>
              <a:t>PAPER 3</a:t>
            </a:r>
          </a:p>
        </p:txBody>
      </p:sp>
      <p:sp>
        <p:nvSpPr>
          <p:cNvPr id="3" name="矩形 2"/>
          <p:cNvSpPr>
            <a:spLocks noGrp="1"/>
          </p:cNvSpPr>
          <p:nvPr/>
        </p:nvSpPr>
        <p:spPr>
          <a:xfrm>
            <a:off x="781050" y="1390650"/>
            <a:ext cx="9525000" cy="1143000"/>
          </a:xfrm>
          <a:prstGeom prst="rect">
            <a:avLst/>
          </a:prstGeom>
          <a:noFill/>
          <a:ln w="0">
            <a:noFill/>
            <a:prstDash val="solid"/>
          </a:ln>
        </p:spPr>
        <p:txBody>
          <a:bodyPr wrap="square" lIns="0" tIns="0" rIns="0" bIns="0" anchor="t">
            <a:normAutofit/>
          </a:bodyPr>
          <a:lstStyle/>
          <a:p>
            <a:pPr algn="l">
              <a:lnSpc>
                <a:spcPct val="98000"/>
              </a:lnSpc>
              <a:buNone/>
              <a:defRPr sz="3450" b="1" i="0">
                <a:solidFill>
                  <a:srgbClr val="F5F0E6"/>
                </a:solidFill>
                <a:latin typeface="Times New Roman" panose="02020603050405020304"/>
                <a:ea typeface="Times New Roman" panose="02020603050405020304"/>
                <a:cs typeface="Times New Roman" panose="02020603050405020304"/>
              </a:defRPr>
            </a:pPr>
            <a:r>
              <a:rPr sz="3450" b="1" i="0">
                <a:solidFill>
                  <a:srgbClr val="F5F0E6"/>
                </a:solidFill>
                <a:latin typeface="Times New Roman" panose="02020603050405020304"/>
                <a:ea typeface="Times New Roman" panose="02020603050405020304"/>
                <a:cs typeface="Times New Roman" panose="02020603050405020304"/>
              </a:rPr>
              <a:t>Paper 3: AI Responsibility Design and Escalatory Risk</a:t>
            </a:r>
          </a:p>
        </p:txBody>
      </p:sp>
      <p:sp>
        <p:nvSpPr>
          <p:cNvPr id="4" name="矩形 3"/>
          <p:cNvSpPr>
            <a:spLocks noGrp="1"/>
          </p:cNvSpPr>
          <p:nvPr/>
        </p:nvSpPr>
        <p:spPr>
          <a:xfrm>
            <a:off x="781050" y="2724150"/>
            <a:ext cx="8858250" cy="704850"/>
          </a:xfrm>
          <a:prstGeom prst="rect">
            <a:avLst/>
          </a:prstGeom>
          <a:noFill/>
          <a:ln w="0">
            <a:noFill/>
            <a:prstDash val="solid"/>
          </a:ln>
        </p:spPr>
        <p:txBody>
          <a:bodyPr wrap="square" lIns="0" tIns="0" rIns="0" bIns="0" anchor="t">
            <a:normAutofit/>
          </a:bodyPr>
          <a:lstStyle/>
          <a:p>
            <a:pPr algn="l">
              <a:lnSpc>
                <a:spcPct val="106000"/>
              </a:lnSpc>
              <a:buNone/>
              <a:defRPr sz="1650" b="0" i="0">
                <a:solidFill>
                  <a:srgbClr val="D8CDC1"/>
                </a:solidFill>
                <a:latin typeface="Times New Roman" panose="02020603050405020304"/>
                <a:ea typeface="Times New Roman" panose="02020603050405020304"/>
                <a:cs typeface="Times New Roman" panose="02020603050405020304"/>
              </a:defRPr>
            </a:pPr>
            <a:r>
              <a:rPr sz="1650" b="0" i="0">
                <a:solidFill>
                  <a:srgbClr val="D8CDC1"/>
                </a:solidFill>
                <a:latin typeface="Times New Roman" panose="02020603050405020304"/>
                <a:ea typeface="Times New Roman" panose="02020603050405020304"/>
                <a:cs typeface="Times New Roman" panose="02020603050405020304"/>
              </a:rPr>
              <a:t>AI-supported decisions can change not only what people know, but whether they still feel accountable for the final move.</a:t>
            </a:r>
          </a:p>
        </p:txBody>
      </p:sp>
      <p:sp>
        <p:nvSpPr>
          <p:cNvPr id="5" name="矩形 4"/>
          <p:cNvSpPr>
            <a:spLocks noGrp="1"/>
          </p:cNvSpPr>
          <p:nvPr/>
        </p:nvSpPr>
        <p:spPr>
          <a:xfrm>
            <a:off x="781050" y="3771900"/>
            <a:ext cx="9144000" cy="11430"/>
          </a:xfrm>
          <a:prstGeom prst="rect">
            <a:avLst/>
          </a:prstGeom>
          <a:solidFill>
            <a:srgbClr val="A99384"/>
          </a:solidFill>
          <a:ln w="0">
            <a:solidFill>
              <a:srgbClr val="A99384"/>
            </a:solidFill>
            <a:prstDash val="solid"/>
          </a:ln>
        </p:spPr>
      </p:sp>
      <p:sp>
        <p:nvSpPr>
          <p:cNvPr id="6" name="矩形 5"/>
          <p:cNvSpPr>
            <a:spLocks noGrp="1"/>
          </p:cNvSpPr>
          <p:nvPr/>
        </p:nvSpPr>
        <p:spPr>
          <a:xfrm>
            <a:off x="7810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Belief formation</a:t>
            </a:r>
          </a:p>
        </p:txBody>
      </p:sp>
      <p:sp>
        <p:nvSpPr>
          <p:cNvPr id="7" name="矩形 6"/>
          <p:cNvSpPr>
            <a:spLocks noGrp="1"/>
          </p:cNvSpPr>
          <p:nvPr/>
        </p:nvSpPr>
        <p:spPr>
          <a:xfrm>
            <a:off x="7810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1</a:t>
            </a:r>
          </a:p>
        </p:txBody>
      </p:sp>
      <p:sp>
        <p:nvSpPr>
          <p:cNvPr id="8" name="矩形 7"/>
          <p:cNvSpPr>
            <a:spLocks noGrp="1"/>
          </p:cNvSpPr>
          <p:nvPr/>
        </p:nvSpPr>
        <p:spPr>
          <a:xfrm>
            <a:off x="39433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Reliance calibration</a:t>
            </a:r>
          </a:p>
        </p:txBody>
      </p:sp>
      <p:sp>
        <p:nvSpPr>
          <p:cNvPr id="9" name="矩形 8"/>
          <p:cNvSpPr>
            <a:spLocks noGrp="1"/>
          </p:cNvSpPr>
          <p:nvPr/>
        </p:nvSpPr>
        <p:spPr>
          <a:xfrm>
            <a:off x="39433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2</a:t>
            </a:r>
          </a:p>
        </p:txBody>
      </p:sp>
      <p:sp>
        <p:nvSpPr>
          <p:cNvPr id="10" name="矩形 9"/>
          <p:cNvSpPr>
            <a:spLocks noGrp="1"/>
          </p:cNvSpPr>
          <p:nvPr/>
        </p:nvSpPr>
        <p:spPr>
          <a:xfrm>
            <a:off x="7105650" y="4171950"/>
            <a:ext cx="2381250" cy="209550"/>
          </a:xfrm>
          <a:prstGeom prst="rect">
            <a:avLst/>
          </a:prstGeom>
          <a:noFill/>
          <a:ln w="0">
            <a:noFill/>
            <a:prstDash val="solid"/>
          </a:ln>
        </p:spPr>
        <p:txBody>
          <a:bodyPr/>
          <a:lstStyle/>
          <a:p>
            <a:pPr>
              <a:buNone/>
              <a:defRPr sz="1350">
                <a:solidFill>
                  <a:srgbClr val="E8E2D8"/>
                </a:solidFill>
              </a:defRPr>
            </a:pPr>
            <a:r>
              <a:rPr sz="1350">
                <a:solidFill>
                  <a:srgbClr val="E8E2D8"/>
                </a:solidFill>
              </a:rPr>
              <a:t>Responsibility design</a:t>
            </a:r>
          </a:p>
        </p:txBody>
      </p:sp>
      <p:sp>
        <p:nvSpPr>
          <p:cNvPr id="11" name="矩形 10"/>
          <p:cNvSpPr>
            <a:spLocks noGrp="1"/>
          </p:cNvSpPr>
          <p:nvPr/>
        </p:nvSpPr>
        <p:spPr>
          <a:xfrm>
            <a:off x="7105650" y="4495800"/>
            <a:ext cx="2095500" cy="190500"/>
          </a:xfrm>
          <a:prstGeom prst="rect">
            <a:avLst/>
          </a:prstGeom>
          <a:noFill/>
          <a:ln w="0">
            <a:noFill/>
            <a:prstDash val="solid"/>
          </a:ln>
        </p:spPr>
        <p:txBody>
          <a:bodyPr/>
          <a:lstStyle/>
          <a:p>
            <a:pPr>
              <a:buNone/>
              <a:defRPr sz="1200" b="1">
                <a:solidFill>
                  <a:srgbClr val="C8A98D"/>
                </a:solidFill>
              </a:defRPr>
            </a:pPr>
            <a:r>
              <a:rPr sz="1200" b="1">
                <a:solidFill>
                  <a:srgbClr val="C8A98D"/>
                </a:solidFill>
              </a:rPr>
              <a:t>Paper 3</a:t>
            </a:r>
          </a:p>
        </p:txBody>
      </p:sp>
      <p:sp>
        <p:nvSpPr>
          <p:cNvPr id="12" name="矩形 11"/>
          <p:cNvSpPr>
            <a:spLocks noGrp="1"/>
          </p:cNvSpPr>
          <p:nvPr/>
        </p:nvSpPr>
        <p:spPr>
          <a:xfrm>
            <a:off x="781050" y="5981700"/>
            <a:ext cx="2857500" cy="171450"/>
          </a:xfrm>
          <a:prstGeom prst="rect">
            <a:avLst/>
          </a:prstGeom>
          <a:noFill/>
          <a:ln w="0">
            <a:noFill/>
            <a:prstDash val="solid"/>
          </a:ln>
        </p:spPr>
        <p:txBody>
          <a:bodyPr/>
          <a:lstStyle/>
          <a:p>
            <a:pPr>
              <a:buNone/>
              <a:defRPr sz="1050" i="1">
                <a:solidFill>
                  <a:srgbClr val="D7D4CE"/>
                </a:solidFill>
              </a:defRPr>
            </a:pPr>
            <a:r>
              <a:rPr sz="1050" i="1">
                <a:solidFill>
                  <a:srgbClr val="D7D4CE"/>
                </a:solidFill>
              </a:rPr>
              <a:t>Action → responsibility</a:t>
            </a:r>
          </a:p>
        </p:txBody>
      </p:sp>
      <p:sp>
        <p:nvSpPr>
          <p:cNvPr id="13" name="矩形 12"/>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4" name="矩形 13"/>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15" name="矩形 14"/>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1</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243747"/>
        </a:solidFill>
        <a:effectLst/>
      </p:bgPr>
    </p:bg>
    <p:spTree>
      <p:nvGrpSpPr>
        <p:cNvPr id="1" name=""/>
        <p:cNvGrpSpPr/>
        <p:nvPr/>
      </p:nvGrpSpPr>
      <p:grpSpPr>
        <a:xfrm>
          <a:off x="0" y="0"/>
          <a:ext cx="0" cy="0"/>
          <a:chOff x="0" y="0"/>
          <a:chExt cx="0" cy="0"/>
        </a:xfrm>
      </p:grpSpPr>
      <p:sp>
        <p:nvSpPr>
          <p:cNvPr id="2" name="left-accent-rule"/>
          <p:cNvSpPr>
            <a:spLocks noGrp="1"/>
          </p:cNvSpPr>
          <p:nvPr/>
        </p:nvSpPr>
        <p:spPr>
          <a:xfrm>
            <a:off x="685800" y="628650"/>
            <a:ext cx="19050" cy="5619750"/>
          </a:xfrm>
          <a:prstGeom prst="rect">
            <a:avLst/>
          </a:prstGeom>
          <a:solidFill>
            <a:srgbClr val="BE7A46"/>
          </a:solidFill>
          <a:ln w="0">
            <a:noFill/>
            <a:prstDash val="solid"/>
          </a:ln>
        </p:spPr>
      </p:sp>
      <p:sp>
        <p:nvSpPr>
          <p:cNvPr id="3" name="bottom-rule"/>
          <p:cNvSpPr>
            <a:spLocks noGrp="1"/>
          </p:cNvSpPr>
          <p:nvPr/>
        </p:nvSpPr>
        <p:spPr>
          <a:xfrm>
            <a:off x="685800" y="6172200"/>
            <a:ext cx="10820400" cy="11430"/>
          </a:xfrm>
          <a:prstGeom prst="rect">
            <a:avLst/>
          </a:prstGeom>
          <a:solidFill>
            <a:srgbClr val="D9C7AA"/>
          </a:solidFill>
          <a:ln w="0">
            <a:noFill/>
            <a:prstDash val="solid"/>
          </a:ln>
        </p:spPr>
      </p:sp>
      <p:sp>
        <p:nvSpPr>
          <p:cNvPr id="4" name="eyebrow"/>
          <p:cNvSpPr>
            <a:spLocks noGrp="1"/>
          </p:cNvSpPr>
          <p:nvPr/>
        </p:nvSpPr>
        <p:spPr>
          <a:xfrm>
            <a:off x="895350" y="742950"/>
            <a:ext cx="4381500" cy="266700"/>
          </a:xfrm>
          <a:prstGeom prst="rect">
            <a:avLst/>
          </a:prstGeom>
          <a:noFill/>
          <a:ln w="0">
            <a:noFill/>
            <a:prstDash val="solid"/>
          </a:ln>
        </p:spPr>
        <p:txBody>
          <a:bodyPr wrap="none" lIns="0" tIns="0" rIns="0" bIns="0"/>
          <a:lstStyle/>
          <a:p>
            <a:pPr>
              <a:defRPr sz="1125" b="1">
                <a:solidFill>
                  <a:srgbClr val="D6A06F"/>
                </a:solidFill>
                <a:latin typeface="Times New Roman" panose="02020603050405020304"/>
                <a:ea typeface="Times New Roman" panose="02020603050405020304"/>
                <a:cs typeface="Times New Roman" panose="02020603050405020304"/>
              </a:defRPr>
            </a:pPr>
            <a:r>
              <a:rPr sz="1125" b="1">
                <a:solidFill>
                  <a:srgbClr val="D6A06F"/>
                </a:solidFill>
                <a:latin typeface="Times New Roman" panose="02020603050405020304"/>
                <a:ea typeface="Times New Roman" panose="02020603050405020304"/>
                <a:cs typeface="Times New Roman" panose="02020603050405020304"/>
              </a:rPr>
              <a:t>PAPER 3  ·  CONCRETE ENTRY POINT</a:t>
            </a:r>
          </a:p>
        </p:txBody>
      </p:sp>
      <p:sp>
        <p:nvSpPr>
          <p:cNvPr id="5" name="title"/>
          <p:cNvSpPr>
            <a:spLocks noGrp="1"/>
          </p:cNvSpPr>
          <p:nvPr/>
        </p:nvSpPr>
        <p:spPr>
          <a:xfrm>
            <a:off x="895350" y="1200150"/>
            <a:ext cx="5143500" cy="1695450"/>
          </a:xfrm>
          <a:prstGeom prst="rect">
            <a:avLst/>
          </a:prstGeom>
          <a:noFill/>
          <a:ln w="0">
            <a:noFill/>
            <a:prstDash val="solid"/>
          </a:ln>
        </p:spPr>
        <p:txBody>
          <a:bodyPr lIns="0" tIns="0" rIns="0" bIns="0"/>
          <a:lstStyle/>
          <a:p>
            <a:pPr>
              <a:lnSpc>
                <a:spcPct val="90000"/>
              </a:lnSpc>
              <a:buNone/>
              <a:defRPr sz="3525" b="1">
                <a:solidFill>
                  <a:srgbClr val="F3EBDD"/>
                </a:solidFill>
                <a:latin typeface="Times New Roman" panose="02020603050405020304"/>
                <a:ea typeface="Times New Roman" panose="02020603050405020304"/>
                <a:cs typeface="Times New Roman" panose="02020603050405020304"/>
              </a:defRPr>
            </a:pPr>
            <a:r>
              <a:rPr lang="en-US" altLang="zh-CN" sz="3525" b="1">
                <a:solidFill>
                  <a:srgbClr val="F3EBDD"/>
                </a:solidFill>
                <a:latin typeface="Times New Roman" panose="02020603050405020304"/>
                <a:ea typeface="Times New Roman" panose="02020603050405020304"/>
                <a:cs typeface="Times New Roman" panose="02020603050405020304"/>
              </a:rPr>
              <a:t>Claude has reportedly been used in U.S. military operations related to Iran.</a:t>
            </a:r>
          </a:p>
          <a:p>
            <a:pPr>
              <a:lnSpc>
                <a:spcPct val="90000"/>
              </a:lnSpc>
              <a:buNone/>
              <a:defRPr sz="3525" b="1">
                <a:solidFill>
                  <a:srgbClr val="F3EBDD"/>
                </a:solidFill>
                <a:latin typeface="Times New Roman" panose="02020603050405020304"/>
                <a:ea typeface="Times New Roman" panose="02020603050405020304"/>
                <a:cs typeface="Times New Roman" panose="02020603050405020304"/>
              </a:defRPr>
            </a:pPr>
            <a:endParaRPr lang="en-US" altLang="zh-CN" sz="3525" b="1">
              <a:solidFill>
                <a:srgbClr val="F3EBDD"/>
              </a:solidFill>
              <a:latin typeface="Times New Roman" panose="02020603050405020304"/>
              <a:ea typeface="Times New Roman" panose="02020603050405020304"/>
              <a:cs typeface="Times New Roman" panose="02020603050405020304"/>
            </a:endParaRPr>
          </a:p>
        </p:txBody>
      </p:sp>
      <p:sp>
        <p:nvSpPr>
          <p:cNvPr id="6" name="subtitle"/>
          <p:cNvSpPr>
            <a:spLocks noGrp="1"/>
          </p:cNvSpPr>
          <p:nvPr/>
        </p:nvSpPr>
        <p:spPr>
          <a:xfrm>
            <a:off x="895350" y="3105150"/>
            <a:ext cx="5191125" cy="914400"/>
          </a:xfrm>
          <a:prstGeom prst="rect">
            <a:avLst/>
          </a:prstGeom>
          <a:noFill/>
          <a:ln w="0">
            <a:noFill/>
            <a:prstDash val="solid"/>
          </a:ln>
        </p:spPr>
        <p:txBody>
          <a:bodyPr lIns="0" tIns="0" rIns="0" bIns="0"/>
          <a:lstStyle/>
          <a:p>
            <a:pPr>
              <a:lnSpc>
                <a:spcPct val="114000"/>
              </a:lnSpc>
              <a:buNone/>
              <a:defRPr sz="1725">
                <a:solidFill>
                  <a:srgbClr val="E7DDCD"/>
                </a:solidFill>
                <a:latin typeface="Times New Roman" panose="02020603050405020304"/>
                <a:ea typeface="Times New Roman" panose="02020603050405020304"/>
                <a:cs typeface="Times New Roman" panose="02020603050405020304"/>
              </a:defRPr>
            </a:pPr>
            <a:r>
              <a:rPr sz="1725">
                <a:solidFill>
                  <a:srgbClr val="E7DDCD"/>
                </a:solidFill>
                <a:latin typeface="Times New Roman" panose="02020603050405020304"/>
                <a:ea typeface="Times New Roman" panose="02020603050405020304"/>
                <a:cs typeface="Times New Roman" panose="02020603050405020304"/>
              </a:rPr>
              <a:t>AI may not choose the final action. It can still analyze intelligence, simulate options, and structure what a human sees as actionable.</a:t>
            </a:r>
          </a:p>
        </p:txBody>
      </p:sp>
      <p:sp>
        <p:nvSpPr>
          <p:cNvPr id="7" name="workflow-step-1"/>
          <p:cNvSpPr>
            <a:spLocks noGrp="1"/>
          </p:cNvSpPr>
          <p:nvPr/>
        </p:nvSpPr>
        <p:spPr>
          <a:xfrm>
            <a:off x="895350" y="4343400"/>
            <a:ext cx="1543050" cy="876300"/>
          </a:xfrm>
          <a:prstGeom prst="roundRect">
            <a:avLst>
              <a:gd name="adj" fmla="val 8696"/>
            </a:avLst>
          </a:prstGeom>
          <a:solidFill>
            <a:srgbClr val="182A38"/>
          </a:solidFill>
          <a:ln w="9525">
            <a:solidFill>
              <a:srgbClr val="7F8B77"/>
            </a:solidFill>
            <a:prstDash val="solid"/>
          </a:ln>
        </p:spPr>
      </p:sp>
      <p:sp>
        <p:nvSpPr>
          <p:cNvPr id="8" name="workflow-step-1-head"/>
          <p:cNvSpPr>
            <a:spLocks noGrp="1"/>
          </p:cNvSpPr>
          <p:nvPr/>
        </p:nvSpPr>
        <p:spPr>
          <a:xfrm>
            <a:off x="10477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AI analyzes</a:t>
            </a:r>
          </a:p>
        </p:txBody>
      </p:sp>
      <p:sp>
        <p:nvSpPr>
          <p:cNvPr id="9" name="workflow-step-1-body"/>
          <p:cNvSpPr>
            <a:spLocks noGrp="1"/>
          </p:cNvSpPr>
          <p:nvPr/>
        </p:nvSpPr>
        <p:spPr>
          <a:xfrm>
            <a:off x="10477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intelligence</a:t>
            </a: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simulation</a:t>
            </a:r>
          </a:p>
        </p:txBody>
      </p:sp>
      <p:sp>
        <p:nvSpPr>
          <p:cNvPr id="10" name="workflow-arrow-1"/>
          <p:cNvSpPr>
            <a:spLocks noGrp="1"/>
          </p:cNvSpPr>
          <p:nvPr/>
        </p:nvSpPr>
        <p:spPr>
          <a:xfrm>
            <a:off x="2486025" y="4629150"/>
            <a:ext cx="247650" cy="266700"/>
          </a:xfrm>
          <a:prstGeom prst="rect">
            <a:avLst/>
          </a:prstGeom>
          <a:noFill/>
          <a:ln w="0">
            <a:noFill/>
            <a:prstDash val="solid"/>
          </a:ln>
        </p:spPr>
        <p:txBody>
          <a:bodyPr wrap="none" lIns="0" tIns="0" rIns="0" bIns="0"/>
          <a:lstStyle/>
          <a:p>
            <a:pPr algn="ctr">
              <a:defRPr sz="1800">
                <a:solidFill>
                  <a:srgbClr val="D6A06F"/>
                </a:solidFill>
                <a:latin typeface="Times New Roman" panose="02020603050405020304"/>
                <a:ea typeface="Times New Roman" panose="02020603050405020304"/>
                <a:cs typeface="Times New Roman" panose="02020603050405020304"/>
              </a:defRPr>
            </a:pPr>
            <a:r>
              <a:rPr sz="1800">
                <a:solidFill>
                  <a:srgbClr val="D6A06F"/>
                </a:solidFill>
                <a:latin typeface="Times New Roman" panose="02020603050405020304"/>
                <a:ea typeface="Times New Roman" panose="02020603050405020304"/>
                <a:cs typeface="Times New Roman" panose="02020603050405020304"/>
              </a:rPr>
              <a:t>→</a:t>
            </a:r>
          </a:p>
        </p:txBody>
      </p:sp>
      <p:sp>
        <p:nvSpPr>
          <p:cNvPr id="11" name="workflow-step-2"/>
          <p:cNvSpPr>
            <a:spLocks noGrp="1"/>
          </p:cNvSpPr>
          <p:nvPr/>
        </p:nvSpPr>
        <p:spPr>
          <a:xfrm>
            <a:off x="2647950" y="4343400"/>
            <a:ext cx="1543050" cy="876300"/>
          </a:xfrm>
          <a:prstGeom prst="roundRect">
            <a:avLst>
              <a:gd name="adj" fmla="val 8696"/>
            </a:avLst>
          </a:prstGeom>
          <a:noFill/>
          <a:ln w="9525">
            <a:solidFill>
              <a:srgbClr val="7F8B77"/>
            </a:solidFill>
            <a:prstDash val="solid"/>
          </a:ln>
        </p:spPr>
      </p:sp>
      <p:sp>
        <p:nvSpPr>
          <p:cNvPr id="12" name="workflow-step-2-head"/>
          <p:cNvSpPr>
            <a:spLocks noGrp="1"/>
          </p:cNvSpPr>
          <p:nvPr/>
        </p:nvSpPr>
        <p:spPr>
          <a:xfrm>
            <a:off x="28003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Human approves</a:t>
            </a:r>
          </a:p>
        </p:txBody>
      </p:sp>
      <p:sp>
        <p:nvSpPr>
          <p:cNvPr id="13" name="workflow-step-2-body"/>
          <p:cNvSpPr>
            <a:spLocks noGrp="1"/>
          </p:cNvSpPr>
          <p:nvPr/>
        </p:nvSpPr>
        <p:spPr>
          <a:xfrm>
            <a:off x="28003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verify</a:t>
            </a: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reject</a:t>
            </a:r>
          </a:p>
        </p:txBody>
      </p:sp>
      <p:sp>
        <p:nvSpPr>
          <p:cNvPr id="14" name="workflow-arrow-2"/>
          <p:cNvSpPr>
            <a:spLocks noGrp="1"/>
          </p:cNvSpPr>
          <p:nvPr/>
        </p:nvSpPr>
        <p:spPr>
          <a:xfrm>
            <a:off x="4238625" y="4629150"/>
            <a:ext cx="247650" cy="266700"/>
          </a:xfrm>
          <a:prstGeom prst="rect">
            <a:avLst/>
          </a:prstGeom>
          <a:noFill/>
          <a:ln w="0">
            <a:noFill/>
            <a:prstDash val="solid"/>
          </a:ln>
        </p:spPr>
        <p:txBody>
          <a:bodyPr wrap="none" lIns="0" tIns="0" rIns="0" bIns="0"/>
          <a:lstStyle/>
          <a:p>
            <a:pPr algn="ctr">
              <a:defRPr sz="1800">
                <a:solidFill>
                  <a:srgbClr val="D6A06F"/>
                </a:solidFill>
                <a:latin typeface="Times New Roman" panose="02020603050405020304"/>
                <a:ea typeface="Times New Roman" panose="02020603050405020304"/>
                <a:cs typeface="Times New Roman" panose="02020603050405020304"/>
              </a:defRPr>
            </a:pPr>
            <a:r>
              <a:rPr sz="1800">
                <a:solidFill>
                  <a:srgbClr val="D6A06F"/>
                </a:solidFill>
                <a:latin typeface="Times New Roman" panose="02020603050405020304"/>
                <a:ea typeface="Times New Roman" panose="02020603050405020304"/>
                <a:cs typeface="Times New Roman" panose="02020603050405020304"/>
              </a:rPr>
              <a:t>→</a:t>
            </a:r>
          </a:p>
        </p:txBody>
      </p:sp>
      <p:sp>
        <p:nvSpPr>
          <p:cNvPr id="15" name="workflow-step-3"/>
          <p:cNvSpPr>
            <a:spLocks noGrp="1"/>
          </p:cNvSpPr>
          <p:nvPr/>
        </p:nvSpPr>
        <p:spPr>
          <a:xfrm>
            <a:off x="4400550" y="4343400"/>
            <a:ext cx="1543050" cy="876300"/>
          </a:xfrm>
          <a:prstGeom prst="roundRect">
            <a:avLst>
              <a:gd name="adj" fmla="val 8696"/>
            </a:avLst>
          </a:prstGeom>
          <a:noFill/>
          <a:ln w="9525">
            <a:solidFill>
              <a:srgbClr val="BE7A46"/>
            </a:solidFill>
            <a:prstDash val="solid"/>
          </a:ln>
        </p:spPr>
      </p:sp>
      <p:sp>
        <p:nvSpPr>
          <p:cNvPr id="16" name="workflow-step-3-head"/>
          <p:cNvSpPr>
            <a:spLocks noGrp="1"/>
          </p:cNvSpPr>
          <p:nvPr/>
        </p:nvSpPr>
        <p:spPr>
          <a:xfrm>
            <a:off x="4552950" y="4476750"/>
            <a:ext cx="1238250" cy="228600"/>
          </a:xfrm>
          <a:prstGeom prst="rect">
            <a:avLst/>
          </a:prstGeom>
          <a:noFill/>
          <a:ln w="0">
            <a:noFill/>
            <a:prstDash val="solid"/>
          </a:ln>
        </p:spPr>
        <p:txBody>
          <a:bodyPr wrap="none" lIns="0" tIns="0" rIns="0" bIns="0"/>
          <a:lstStyle/>
          <a:p>
            <a:pPr>
              <a:defRPr sz="1350" b="1">
                <a:solidFill>
                  <a:srgbClr val="F3EBDD"/>
                </a:solidFill>
                <a:latin typeface="Times New Roman" panose="02020603050405020304"/>
                <a:ea typeface="Times New Roman" panose="02020603050405020304"/>
                <a:cs typeface="Times New Roman" panose="02020603050405020304"/>
              </a:defRPr>
            </a:pPr>
            <a:r>
              <a:rPr sz="1350" b="1">
                <a:solidFill>
                  <a:srgbClr val="F3EBDD"/>
                </a:solidFill>
                <a:latin typeface="Times New Roman" panose="02020603050405020304"/>
                <a:ea typeface="Times New Roman" panose="02020603050405020304"/>
                <a:cs typeface="Times New Roman" panose="02020603050405020304"/>
              </a:rPr>
              <a:t>Ownership shifts</a:t>
            </a:r>
          </a:p>
        </p:txBody>
      </p:sp>
      <p:sp>
        <p:nvSpPr>
          <p:cNvPr id="17" name="workflow-step-3-body"/>
          <p:cNvSpPr>
            <a:spLocks noGrp="1"/>
          </p:cNvSpPr>
          <p:nvPr/>
        </p:nvSpPr>
        <p:spPr>
          <a:xfrm>
            <a:off x="4552950" y="4743450"/>
            <a:ext cx="1238250" cy="438150"/>
          </a:xfrm>
          <a:prstGeom prst="rect">
            <a:avLst/>
          </a:prstGeom>
          <a:noFill/>
          <a:ln w="0">
            <a:noFill/>
            <a:prstDash val="solid"/>
          </a:ln>
        </p:spPr>
        <p:txBody>
          <a:bodyPr lIns="0" tIns="0" rIns="0" bIns="0"/>
          <a:lstStyle/>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feels</a:t>
            </a:r>
          </a:p>
          <a:p>
            <a:pPr>
              <a:lnSpc>
                <a:spcPct val="104000"/>
              </a:lnSpc>
              <a:buNone/>
              <a:defRPr sz="1110">
                <a:solidFill>
                  <a:srgbClr val="CFC5B6"/>
                </a:solidFill>
                <a:latin typeface="Times New Roman" panose="02020603050405020304"/>
                <a:ea typeface="Times New Roman" panose="02020603050405020304"/>
                <a:cs typeface="Times New Roman" panose="02020603050405020304"/>
              </a:defRPr>
            </a:pPr>
            <a:r>
              <a:rPr sz="1110">
                <a:solidFill>
                  <a:srgbClr val="CFC5B6"/>
                </a:solidFill>
                <a:latin typeface="Times New Roman" panose="02020603050405020304"/>
                <a:ea typeface="Times New Roman" panose="02020603050405020304"/>
                <a:cs typeface="Times New Roman" panose="02020603050405020304"/>
              </a:rPr>
              <a:t>shared</a:t>
            </a:r>
          </a:p>
        </p:txBody>
      </p:sp>
      <p:sp>
        <p:nvSpPr>
          <p:cNvPr id="18" name="image-frame"/>
          <p:cNvSpPr>
            <a:spLocks noGrp="1"/>
          </p:cNvSpPr>
          <p:nvPr/>
        </p:nvSpPr>
        <p:spPr>
          <a:xfrm>
            <a:off x="6524625" y="876300"/>
            <a:ext cx="5010150" cy="2838450"/>
          </a:xfrm>
          <a:prstGeom prst="roundRect">
            <a:avLst>
              <a:gd name="adj" fmla="val 2685"/>
            </a:avLst>
          </a:prstGeom>
          <a:solidFill>
            <a:srgbClr val="0E1114"/>
          </a:solidFill>
          <a:ln w="9525">
            <a:solidFill>
              <a:srgbClr val="D9C7AA"/>
            </a:solidFill>
            <a:prstDash val="solid"/>
          </a:ln>
        </p:spPr>
      </p:sp>
      <p:pic>
        <p:nvPicPr>
          <p:cNvPr id="43" name="图片 42"/>
          <p:cNvPicPr>
            <a:picLocks noChangeAspect="1"/>
          </p:cNvPicPr>
          <p:nvPr/>
        </p:nvPicPr>
        <p:blipFill>
          <a:blip r:embed="rId3"/>
          <a:stretch>
            <a:fillRect/>
          </a:stretch>
        </p:blipFill>
        <p:spPr>
          <a:xfrm>
            <a:off x="6630449" y="933450"/>
            <a:ext cx="4798503" cy="2724150"/>
          </a:xfrm>
          <a:prstGeom prst="roundRect">
            <a:avLst>
              <a:gd name="adj" fmla="val 2797"/>
            </a:avLst>
          </a:prstGeom>
        </p:spPr>
      </p:pic>
      <p:sp>
        <p:nvSpPr>
          <p:cNvPr id="19" name="case-card"/>
          <p:cNvSpPr>
            <a:spLocks noGrp="1"/>
          </p:cNvSpPr>
          <p:nvPr/>
        </p:nvSpPr>
        <p:spPr>
          <a:xfrm>
            <a:off x="6524625" y="3943350"/>
            <a:ext cx="5010150" cy="1352550"/>
          </a:xfrm>
          <a:prstGeom prst="roundRect">
            <a:avLst>
              <a:gd name="adj" fmla="val 5634"/>
            </a:avLst>
          </a:prstGeom>
          <a:solidFill>
            <a:srgbClr val="F3EBDD"/>
          </a:solidFill>
          <a:ln w="9525">
            <a:solidFill>
              <a:srgbClr val="D9C7AA"/>
            </a:solidFill>
            <a:prstDash val="solid"/>
          </a:ln>
        </p:spPr>
      </p:sp>
      <p:sp>
        <p:nvSpPr>
          <p:cNvPr id="20" name="case-label"/>
          <p:cNvSpPr>
            <a:spLocks noGrp="1"/>
          </p:cNvSpPr>
          <p:nvPr/>
        </p:nvSpPr>
        <p:spPr>
          <a:xfrm>
            <a:off x="6791325" y="4133850"/>
            <a:ext cx="1714500" cy="209550"/>
          </a:xfrm>
          <a:prstGeom prst="rect">
            <a:avLst/>
          </a:prstGeom>
          <a:noFill/>
          <a:ln w="0">
            <a:noFill/>
            <a:prstDash val="solid"/>
          </a:ln>
        </p:spPr>
        <p:txBody>
          <a:bodyPr wrap="none" lIns="0" tIns="0" rIns="0" bIns="0"/>
          <a:lstStyle/>
          <a:p>
            <a:pPr>
              <a:defRPr sz="1050" b="1">
                <a:solidFill>
                  <a:srgbClr val="BE7A46"/>
                </a:solidFill>
                <a:latin typeface="Times New Roman" panose="02020603050405020304"/>
                <a:ea typeface="Times New Roman" panose="02020603050405020304"/>
                <a:cs typeface="Times New Roman" panose="02020603050405020304"/>
              </a:defRPr>
            </a:pPr>
            <a:r>
              <a:rPr sz="1050" b="1">
                <a:solidFill>
                  <a:srgbClr val="BE7A46"/>
                </a:solidFill>
                <a:latin typeface="Times New Roman" panose="02020603050405020304"/>
                <a:ea typeface="Times New Roman" panose="02020603050405020304"/>
                <a:cs typeface="Times New Roman" panose="02020603050405020304"/>
              </a:rPr>
              <a:t>REPORTED CASE</a:t>
            </a:r>
          </a:p>
        </p:txBody>
      </p:sp>
      <p:sp>
        <p:nvSpPr>
          <p:cNvPr id="21" name="case-copy"/>
          <p:cNvSpPr>
            <a:spLocks noGrp="1"/>
          </p:cNvSpPr>
          <p:nvPr/>
        </p:nvSpPr>
        <p:spPr>
          <a:xfrm>
            <a:off x="6791325" y="4400550"/>
            <a:ext cx="4400550" cy="838200"/>
          </a:xfrm>
          <a:prstGeom prst="rect">
            <a:avLst/>
          </a:prstGeom>
          <a:noFill/>
          <a:ln w="0">
            <a:noFill/>
            <a:prstDash val="solid"/>
          </a:ln>
        </p:spPr>
        <p:txBody>
          <a:bodyPr lIns="0" tIns="0" rIns="0" bIns="0"/>
          <a:lstStyle/>
          <a:p>
            <a:pPr>
              <a:lnSpc>
                <a:spcPct val="102000"/>
              </a:lnSpc>
              <a:buNone/>
              <a:defRPr sz="1260">
                <a:solidFill>
                  <a:srgbClr val="1F2F3A"/>
                </a:solidFill>
                <a:latin typeface="Times New Roman" panose="02020603050405020304"/>
                <a:ea typeface="Times New Roman" panose="02020603050405020304"/>
                <a:cs typeface="Times New Roman" panose="02020603050405020304"/>
              </a:defRPr>
            </a:pPr>
            <a:r>
              <a:rPr sz="1260">
                <a:solidFill>
                  <a:srgbClr val="1F2F3A"/>
                </a:solidFill>
                <a:latin typeface="Times New Roman" panose="02020603050405020304"/>
                <a:ea typeface="Times New Roman" panose="02020603050405020304"/>
                <a:cs typeface="Times New Roman" panose="02020603050405020304"/>
              </a:rPr>
              <a:t>CBS: Claude was reportedly used during the Iran operation; the exact role was not publicly disclosed.</a:t>
            </a:r>
          </a:p>
          <a:p>
            <a:pPr>
              <a:lnSpc>
                <a:spcPct val="102000"/>
              </a:lnSpc>
              <a:buNone/>
              <a:defRPr sz="1260">
                <a:solidFill>
                  <a:srgbClr val="1F2F3A"/>
                </a:solidFill>
                <a:latin typeface="Times New Roman" panose="02020603050405020304"/>
                <a:ea typeface="Times New Roman" panose="02020603050405020304"/>
                <a:cs typeface="Times New Roman" panose="02020603050405020304"/>
              </a:defRPr>
            </a:pPr>
            <a:r>
              <a:rPr sz="1260">
                <a:solidFill>
                  <a:srgbClr val="1F2F3A"/>
                </a:solidFill>
                <a:latin typeface="Times New Roman" panose="02020603050405020304"/>
                <a:ea typeface="Times New Roman" panose="02020603050405020304"/>
                <a:cs typeface="Times New Roman" panose="02020603050405020304"/>
              </a:rPr>
              <a:t>Anthropic: Claude is described in intelligence analysis, simulation, operational planning, and cyber operations.</a:t>
            </a:r>
          </a:p>
        </p:txBody>
      </p:sp>
      <p:sp>
        <p:nvSpPr>
          <p:cNvPr id="22" name="paper3-question"/>
          <p:cNvSpPr>
            <a:spLocks noGrp="1"/>
          </p:cNvSpPr>
          <p:nvPr/>
        </p:nvSpPr>
        <p:spPr>
          <a:xfrm>
            <a:off x="895350" y="5772150"/>
            <a:ext cx="10429875" cy="304800"/>
          </a:xfrm>
          <a:prstGeom prst="rect">
            <a:avLst/>
          </a:prstGeom>
          <a:noFill/>
          <a:ln w="0">
            <a:noFill/>
            <a:prstDash val="solid"/>
          </a:ln>
        </p:spPr>
        <p:txBody>
          <a:bodyPr wrap="none" lIns="0" tIns="0" rIns="0" bIns="0"/>
          <a:lstStyle/>
          <a:p>
            <a:pPr>
              <a:defRPr sz="1725" i="1">
                <a:solidFill>
                  <a:srgbClr val="F3EBDD"/>
                </a:solidFill>
                <a:latin typeface="Times New Roman" panose="02020603050405020304"/>
                <a:ea typeface="Times New Roman" panose="02020603050405020304"/>
                <a:cs typeface="Times New Roman" panose="02020603050405020304"/>
              </a:defRPr>
            </a:pPr>
            <a:r>
              <a:rPr sz="1725" i="1">
                <a:solidFill>
                  <a:srgbClr val="F3EBDD"/>
                </a:solidFill>
                <a:latin typeface="Times New Roman" panose="02020603050405020304"/>
                <a:ea typeface="Times New Roman" panose="02020603050405020304"/>
                <a:cs typeface="Times New Roman" panose="02020603050405020304"/>
              </a:rPr>
              <a:t>Paper 3 asks whether AI role proximity changes decisional ownership and felt accountability before a high-risk action is taken.</a:t>
            </a:r>
          </a:p>
        </p:txBody>
      </p:sp>
      <p:sp>
        <p:nvSpPr>
          <p:cNvPr id="23" name="source-note"/>
          <p:cNvSpPr>
            <a:spLocks noGrp="1"/>
          </p:cNvSpPr>
          <p:nvPr/>
        </p:nvSpPr>
        <p:spPr>
          <a:xfrm>
            <a:off x="895350" y="6381750"/>
            <a:ext cx="10191750" cy="171450"/>
          </a:xfrm>
          <a:prstGeom prst="rect">
            <a:avLst/>
          </a:prstGeom>
          <a:noFill/>
          <a:ln w="0">
            <a:noFill/>
            <a:prstDash val="solid"/>
          </a:ln>
        </p:spPr>
        <p:txBody>
          <a:bodyPr wrap="none" lIns="0" tIns="0" rIns="0" bIns="0"/>
          <a:lstStyle/>
          <a:p>
            <a:pPr>
              <a:defRPr sz="865">
                <a:solidFill>
                  <a:srgbClr val="AAB2B7"/>
                </a:solidFill>
                <a:latin typeface="Times New Roman" panose="02020603050405020304"/>
                <a:ea typeface="Times New Roman" panose="02020603050405020304"/>
                <a:cs typeface="Times New Roman" panose="02020603050405020304"/>
              </a:defRPr>
            </a:pPr>
            <a:r>
              <a:rPr sz="865">
                <a:solidFill>
                  <a:srgbClr val="AAB2B7"/>
                </a:solidFill>
                <a:latin typeface="Times New Roman" panose="02020603050405020304"/>
                <a:ea typeface="Times New Roman" panose="02020603050405020304"/>
                <a:cs typeface="Times New Roman" panose="02020603050405020304"/>
              </a:rPr>
              <a:t>Sources: CBS News; Anthropic public statements and DoD agreement. Image: user-provided Maven Smart System illustration; visual entry point only.</a:t>
            </a:r>
          </a:p>
        </p:txBody>
      </p:sp>
      <p:sp>
        <p:nvSpPr>
          <p:cNvPr id="24" name="footer-left"/>
          <p:cNvSpPr>
            <a:spLocks noGrp="1"/>
          </p:cNvSpPr>
          <p:nvPr/>
        </p:nvSpPr>
        <p:spPr>
          <a:xfrm>
            <a:off x="895350" y="6610350"/>
            <a:ext cx="1143000" cy="152400"/>
          </a:xfrm>
          <a:prstGeom prst="rect">
            <a:avLst/>
          </a:prstGeom>
          <a:noFill/>
          <a:ln w="0">
            <a:noFill/>
            <a:prstDash val="solid"/>
          </a:ln>
        </p:spPr>
        <p:txBody>
          <a:bodyPr wrap="none" lIns="0" tIns="0" rIns="0" bIns="0"/>
          <a:lstStyle/>
          <a:p>
            <a:pPr>
              <a:defRPr sz="825" b="1">
                <a:solidFill>
                  <a:srgbClr val="91A0A9"/>
                </a:solidFill>
                <a:latin typeface="Times New Roman" panose="02020603050405020304"/>
                <a:ea typeface="Times New Roman" panose="02020603050405020304"/>
                <a:cs typeface="Times New Roman" panose="02020603050405020304"/>
              </a:defRPr>
            </a:pPr>
            <a:r>
              <a:rPr sz="825" b="1">
                <a:solidFill>
                  <a:srgbClr val="91A0A9"/>
                </a:solidFill>
                <a:latin typeface="Times New Roman" panose="02020603050405020304"/>
                <a:ea typeface="Times New Roman" panose="02020603050405020304"/>
                <a:cs typeface="Times New Roman" panose="02020603050405020304"/>
              </a:rPr>
              <a:t>PAPER 3</a:t>
            </a:r>
          </a:p>
        </p:txBody>
      </p:sp>
      <p:sp>
        <p:nvSpPr>
          <p:cNvPr id="25" name="footer-right"/>
          <p:cNvSpPr>
            <a:spLocks noGrp="1"/>
          </p:cNvSpPr>
          <p:nvPr/>
        </p:nvSpPr>
        <p:spPr>
          <a:xfrm>
            <a:off x="11258550" y="6610350"/>
            <a:ext cx="266700" cy="152400"/>
          </a:xfrm>
          <a:prstGeom prst="rect">
            <a:avLst/>
          </a:prstGeom>
          <a:noFill/>
          <a:ln w="0">
            <a:noFill/>
            <a:prstDash val="solid"/>
          </a:ln>
        </p:spPr>
        <p:txBody>
          <a:bodyPr wrap="none" lIns="0" tIns="0" rIns="0" bIns="0"/>
          <a:lstStyle/>
          <a:p>
            <a:pPr algn="r">
              <a:defRPr sz="825">
                <a:solidFill>
                  <a:srgbClr val="91A0A9"/>
                </a:solidFill>
                <a:latin typeface="Times New Roman" panose="02020603050405020304"/>
                <a:ea typeface="Times New Roman" panose="02020603050405020304"/>
                <a:cs typeface="Times New Roman" panose="02020603050405020304"/>
              </a:defRPr>
            </a:pPr>
            <a:r>
              <a:rPr sz="825">
                <a:solidFill>
                  <a:srgbClr val="91A0A9"/>
                </a:solidFill>
                <a:latin typeface="Times New Roman" panose="02020603050405020304"/>
                <a:ea typeface="Times New Roman" panose="02020603050405020304"/>
                <a:cs typeface="Times New Roman" panose="02020603050405020304"/>
              </a:rPr>
              <a:t>2</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矩形 36"/>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直接连接符 1"/>
          <p:cNvSpPr>
            <a:spLocks noGrp="1"/>
          </p:cNvSpPr>
          <p:nvPr/>
        </p:nvSpPr>
        <p:spPr>
          <a:xfrm>
            <a:off x="552450" y="457200"/>
            <a:ext cx="0" cy="5943600"/>
          </a:xfrm>
          <a:prstGeom prst="line">
            <a:avLst/>
          </a:prstGeom>
          <a:ln w="9525">
            <a:solidFill>
              <a:srgbClr val="D8CCBB"/>
            </a:solidFill>
            <a:prstDash val="solid"/>
          </a:ln>
        </p:spPr>
      </p:sp>
      <p:sp>
        <p:nvSpPr>
          <p:cNvPr id="3" name="椭圆 2"/>
          <p:cNvSpPr>
            <a:spLocks noGrp="1"/>
          </p:cNvSpPr>
          <p:nvPr/>
        </p:nvSpPr>
        <p:spPr>
          <a:xfrm>
            <a:off x="914400" y="657225"/>
            <a:ext cx="171450" cy="171450"/>
          </a:xfrm>
          <a:prstGeom prst="ellipse">
            <a:avLst/>
          </a:prstGeom>
          <a:solidFill>
            <a:srgbClr val="B77845"/>
          </a:solidFill>
          <a:ln w="9525">
            <a:solidFill>
              <a:srgbClr val="B77845"/>
            </a:solidFill>
            <a:prstDash val="solid"/>
          </a:ln>
        </p:spPr>
      </p:sp>
      <p:sp>
        <p:nvSpPr>
          <p:cNvPr id="4" name="矩形 3"/>
          <p:cNvSpPr>
            <a:spLocks noGrp="1"/>
          </p:cNvSpPr>
          <p:nvPr/>
        </p:nvSpPr>
        <p:spPr>
          <a:xfrm>
            <a:off x="1219200" y="590550"/>
            <a:ext cx="2476500" cy="2286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EXISTING WORK</a:t>
            </a:r>
          </a:p>
        </p:txBody>
      </p:sp>
      <p:sp>
        <p:nvSpPr>
          <p:cNvPr id="5" name="矩形 4"/>
          <p:cNvSpPr>
            <a:spLocks noGrp="1"/>
          </p:cNvSpPr>
          <p:nvPr/>
        </p:nvSpPr>
        <p:spPr>
          <a:xfrm>
            <a:off x="914400" y="952500"/>
            <a:ext cx="9715500" cy="438150"/>
          </a:xfrm>
          <a:prstGeom prst="rect">
            <a:avLst/>
          </a:prstGeom>
          <a:noFill/>
          <a:ln w="0">
            <a:noFill/>
            <a:prstDash val="solid"/>
          </a:ln>
        </p:spPr>
        <p:txBody>
          <a:bodyPr wrap="square" lIns="0" tIns="0" rIns="0" bIns="0" anchor="t">
            <a:normAutofit/>
          </a:bodyPr>
          <a:lstStyle/>
          <a:p>
            <a:pPr algn="l">
              <a:lnSpc>
                <a:spcPct val="96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Responsibility Depends on How AI Enters the Decision Process</a:t>
            </a:r>
          </a:p>
        </p:txBody>
      </p:sp>
      <p:sp>
        <p:nvSpPr>
          <p:cNvPr id="6" name="矩形 5"/>
          <p:cNvSpPr>
            <a:spLocks noGrp="1"/>
          </p:cNvSpPr>
          <p:nvPr/>
        </p:nvSpPr>
        <p:spPr>
          <a:xfrm>
            <a:off x="914400" y="1466850"/>
            <a:ext cx="10096500" cy="400050"/>
          </a:xfrm>
          <a:prstGeom prst="rect">
            <a:avLst/>
          </a:prstGeom>
          <a:noFill/>
          <a:ln w="0">
            <a:noFill/>
            <a:prstDash val="solid"/>
          </a:ln>
        </p:spPr>
        <p:txBody>
          <a:bodyPr wrap="square" lIns="0" tIns="0" rIns="0" bIns="0" anchor="t">
            <a:normAutofit fontScale="96899" lnSpcReduction="10000"/>
          </a:bodyPr>
          <a:lstStyle/>
          <a:p>
            <a:pPr algn="l">
              <a:lnSpc>
                <a:spcPct val="105000"/>
              </a:lnSpc>
              <a:buNone/>
              <a:defRPr sz="1290" b="0" i="0">
                <a:solidFill>
                  <a:srgbClr val="6F665C"/>
                </a:solidFill>
                <a:latin typeface="Times New Roman" panose="02020603050405020304"/>
                <a:ea typeface="Times New Roman" panose="02020603050405020304"/>
                <a:cs typeface="Times New Roman" panose="02020603050405020304"/>
              </a:defRPr>
            </a:pPr>
            <a:r>
              <a:rPr sz="1290" b="0" i="0">
                <a:solidFill>
                  <a:srgbClr val="6F665C"/>
                </a:solidFill>
                <a:latin typeface="Times New Roman" panose="02020603050405020304"/>
                <a:ea typeface="Times New Roman" panose="02020603050405020304"/>
                <a:cs typeface="Times New Roman" panose="02020603050405020304"/>
              </a:rPr>
              <a:t>Three literatures motivate Paper 3: AI workflow design, delegation as responsibility management, and the gap between external accountability and felt accountability.</a:t>
            </a:r>
          </a:p>
        </p:txBody>
      </p:sp>
      <p:sp>
        <p:nvSpPr>
          <p:cNvPr id="7" name="圆角矩形 6"/>
          <p:cNvSpPr>
            <a:spLocks noGrp="1"/>
          </p:cNvSpPr>
          <p:nvPr/>
        </p:nvSpPr>
        <p:spPr>
          <a:xfrm>
            <a:off x="914400" y="2114550"/>
            <a:ext cx="3257550" cy="3028950"/>
          </a:xfrm>
          <a:prstGeom prst="roundRect">
            <a:avLst>
              <a:gd name="adj" fmla="val 3774"/>
            </a:avLst>
          </a:prstGeom>
          <a:solidFill>
            <a:srgbClr val="FFFFFF"/>
          </a:solidFill>
          <a:ln w="9525">
            <a:solidFill>
              <a:srgbClr val="D8CCBB"/>
            </a:solidFill>
            <a:prstDash val="solid"/>
          </a:ln>
        </p:spPr>
      </p:sp>
      <p:sp>
        <p:nvSpPr>
          <p:cNvPr id="8" name="矩形 7"/>
          <p:cNvSpPr>
            <a:spLocks noGrp="1"/>
          </p:cNvSpPr>
          <p:nvPr/>
        </p:nvSpPr>
        <p:spPr>
          <a:xfrm>
            <a:off x="914400" y="2114550"/>
            <a:ext cx="3257550" cy="76200"/>
          </a:xfrm>
          <a:prstGeom prst="rect">
            <a:avLst/>
          </a:prstGeom>
          <a:solidFill>
            <a:srgbClr val="B77845"/>
          </a:solidFill>
          <a:ln w="0">
            <a:solidFill>
              <a:srgbClr val="B77845"/>
            </a:solidFill>
            <a:prstDash val="solid"/>
          </a:ln>
        </p:spPr>
      </p:sp>
      <p:sp>
        <p:nvSpPr>
          <p:cNvPr id="9" name="椭圆 8"/>
          <p:cNvSpPr>
            <a:spLocks noGrp="1"/>
          </p:cNvSpPr>
          <p:nvPr/>
        </p:nvSpPr>
        <p:spPr>
          <a:xfrm>
            <a:off x="1123950" y="2381250"/>
            <a:ext cx="323850" cy="323850"/>
          </a:xfrm>
          <a:prstGeom prst="ellipse">
            <a:avLst/>
          </a:prstGeom>
          <a:solidFill>
            <a:srgbClr val="B77845"/>
          </a:solidFill>
          <a:ln w="9525">
            <a:solidFill>
              <a:srgbClr val="B77845"/>
            </a:solidFill>
            <a:prstDash val="solid"/>
          </a:ln>
        </p:spPr>
      </p:sp>
      <p:sp>
        <p:nvSpPr>
          <p:cNvPr id="10" name="矩形 9"/>
          <p:cNvSpPr>
            <a:spLocks noGrp="1"/>
          </p:cNvSpPr>
          <p:nvPr/>
        </p:nvSpPr>
        <p:spPr>
          <a:xfrm>
            <a:off x="12287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1</a:t>
            </a:r>
          </a:p>
        </p:txBody>
      </p:sp>
      <p:sp>
        <p:nvSpPr>
          <p:cNvPr id="11" name="矩形 10"/>
          <p:cNvSpPr>
            <a:spLocks noGrp="1"/>
          </p:cNvSpPr>
          <p:nvPr/>
        </p:nvSpPr>
        <p:spPr>
          <a:xfrm>
            <a:off x="16002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AI workflow position is a design variable</a:t>
            </a:r>
          </a:p>
        </p:txBody>
      </p:sp>
      <p:sp>
        <p:nvSpPr>
          <p:cNvPr id="12" name="矩形 11"/>
          <p:cNvSpPr>
            <a:spLocks noGrp="1"/>
          </p:cNvSpPr>
          <p:nvPr/>
        </p:nvSpPr>
        <p:spPr>
          <a:xfrm>
            <a:off x="11430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AI does not merely improve or replace prediction. It can enter before, during, or after human judgment, changing roles, authority, and process control.</a:t>
            </a:r>
          </a:p>
        </p:txBody>
      </p:sp>
      <p:sp>
        <p:nvSpPr>
          <p:cNvPr id="13" name="矩形 12"/>
          <p:cNvSpPr>
            <a:spLocks noGrp="1"/>
          </p:cNvSpPr>
          <p:nvPr/>
        </p:nvSpPr>
        <p:spPr>
          <a:xfrm>
            <a:off x="11430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(Shrestha et al., 2019; Raisch &amp; Krakowski, 2021; Yin et al., 2025; Krakowski et al., 2026)</a:t>
            </a:r>
          </a:p>
        </p:txBody>
      </p:sp>
      <p:sp>
        <p:nvSpPr>
          <p:cNvPr id="14" name="圆角矩形 13"/>
          <p:cNvSpPr>
            <a:spLocks noGrp="1"/>
          </p:cNvSpPr>
          <p:nvPr/>
        </p:nvSpPr>
        <p:spPr>
          <a:xfrm>
            <a:off x="1123950" y="4362450"/>
            <a:ext cx="2838450" cy="552450"/>
          </a:xfrm>
          <a:prstGeom prst="roundRect">
            <a:avLst>
              <a:gd name="adj" fmla="val 10345"/>
            </a:avLst>
          </a:prstGeom>
          <a:solidFill>
            <a:srgbClr val="F3EBDD"/>
          </a:solidFill>
          <a:ln w="9525">
            <a:solidFill>
              <a:srgbClr val="E4D5C2"/>
            </a:solidFill>
            <a:prstDash val="solid"/>
          </a:ln>
        </p:spPr>
      </p:sp>
      <p:sp>
        <p:nvSpPr>
          <p:cNvPr id="15" name="矩形 14"/>
          <p:cNvSpPr>
            <a:spLocks noGrp="1"/>
          </p:cNvSpPr>
          <p:nvPr/>
        </p:nvSpPr>
        <p:spPr>
          <a:xfrm>
            <a:off x="12954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Paper 3 treats AI role position as responsibility architecture.</a:t>
            </a:r>
          </a:p>
        </p:txBody>
      </p:sp>
      <p:sp>
        <p:nvSpPr>
          <p:cNvPr id="16" name="圆角矩形 15"/>
          <p:cNvSpPr>
            <a:spLocks noGrp="1"/>
          </p:cNvSpPr>
          <p:nvPr/>
        </p:nvSpPr>
        <p:spPr>
          <a:xfrm>
            <a:off x="4457700" y="2114550"/>
            <a:ext cx="3257550" cy="3028950"/>
          </a:xfrm>
          <a:prstGeom prst="roundRect">
            <a:avLst>
              <a:gd name="adj" fmla="val 3774"/>
            </a:avLst>
          </a:prstGeom>
          <a:solidFill>
            <a:srgbClr val="FFFFFF"/>
          </a:solidFill>
          <a:ln w="9525">
            <a:solidFill>
              <a:srgbClr val="D8CCBB"/>
            </a:solidFill>
            <a:prstDash val="solid"/>
          </a:ln>
        </p:spPr>
      </p:sp>
      <p:sp>
        <p:nvSpPr>
          <p:cNvPr id="17" name="矩形 16"/>
          <p:cNvSpPr>
            <a:spLocks noGrp="1"/>
          </p:cNvSpPr>
          <p:nvPr/>
        </p:nvSpPr>
        <p:spPr>
          <a:xfrm>
            <a:off x="4457700" y="2114550"/>
            <a:ext cx="3257550" cy="76200"/>
          </a:xfrm>
          <a:prstGeom prst="rect">
            <a:avLst/>
          </a:prstGeom>
          <a:solidFill>
            <a:srgbClr val="818A68"/>
          </a:solidFill>
          <a:ln w="0">
            <a:solidFill>
              <a:srgbClr val="818A68"/>
            </a:solidFill>
            <a:prstDash val="solid"/>
          </a:ln>
        </p:spPr>
      </p:sp>
      <p:sp>
        <p:nvSpPr>
          <p:cNvPr id="18" name="椭圆 17"/>
          <p:cNvSpPr>
            <a:spLocks noGrp="1"/>
          </p:cNvSpPr>
          <p:nvPr/>
        </p:nvSpPr>
        <p:spPr>
          <a:xfrm>
            <a:off x="4667250" y="2381250"/>
            <a:ext cx="323850" cy="323850"/>
          </a:xfrm>
          <a:prstGeom prst="ellipse">
            <a:avLst/>
          </a:prstGeom>
          <a:solidFill>
            <a:srgbClr val="818A68"/>
          </a:solidFill>
          <a:ln w="9525">
            <a:solidFill>
              <a:srgbClr val="818A68"/>
            </a:solidFill>
            <a:prstDash val="solid"/>
          </a:ln>
        </p:spPr>
      </p:sp>
      <p:sp>
        <p:nvSpPr>
          <p:cNvPr id="19" name="矩形 18"/>
          <p:cNvSpPr>
            <a:spLocks noGrp="1"/>
          </p:cNvSpPr>
          <p:nvPr/>
        </p:nvSpPr>
        <p:spPr>
          <a:xfrm>
            <a:off x="47720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2</a:t>
            </a:r>
          </a:p>
        </p:txBody>
      </p:sp>
      <p:sp>
        <p:nvSpPr>
          <p:cNvPr id="20" name="矩形 19"/>
          <p:cNvSpPr>
            <a:spLocks noGrp="1"/>
          </p:cNvSpPr>
          <p:nvPr/>
        </p:nvSpPr>
        <p:spPr>
          <a:xfrm>
            <a:off x="51435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Delegation can shift blame and moral cost</a:t>
            </a:r>
          </a:p>
        </p:txBody>
      </p:sp>
      <p:sp>
        <p:nvSpPr>
          <p:cNvPr id="21" name="矩形 20"/>
          <p:cNvSpPr>
            <a:spLocks noGrp="1"/>
          </p:cNvSpPr>
          <p:nvPr/>
        </p:nvSpPr>
        <p:spPr>
          <a:xfrm>
            <a:off x="46863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Delegating difficult choices can reduce personal responsibility and redistribute blame across users, systems, programmers, and machine intermediaries.</a:t>
            </a:r>
          </a:p>
        </p:txBody>
      </p:sp>
      <p:sp>
        <p:nvSpPr>
          <p:cNvPr id="22" name="矩形 21"/>
          <p:cNvSpPr>
            <a:spLocks noGrp="1"/>
          </p:cNvSpPr>
          <p:nvPr/>
        </p:nvSpPr>
        <p:spPr>
          <a:xfrm>
            <a:off x="46863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(Steffel et al., 2016; Kirchkamp &amp; Strobel, 2019; Chevrier &amp; Teixeira, 2024; Kobis et al., 2025)</a:t>
            </a:r>
          </a:p>
        </p:txBody>
      </p:sp>
      <p:sp>
        <p:nvSpPr>
          <p:cNvPr id="23" name="圆角矩形 22"/>
          <p:cNvSpPr>
            <a:spLocks noGrp="1"/>
          </p:cNvSpPr>
          <p:nvPr/>
        </p:nvSpPr>
        <p:spPr>
          <a:xfrm>
            <a:off x="4667250" y="4362450"/>
            <a:ext cx="2838450" cy="552450"/>
          </a:xfrm>
          <a:prstGeom prst="roundRect">
            <a:avLst>
              <a:gd name="adj" fmla="val 10345"/>
            </a:avLst>
          </a:prstGeom>
          <a:solidFill>
            <a:srgbClr val="F3EBDD"/>
          </a:solidFill>
          <a:ln w="9525">
            <a:solidFill>
              <a:srgbClr val="E4D5C2"/>
            </a:solidFill>
            <a:prstDash val="solid"/>
          </a:ln>
        </p:spPr>
      </p:sp>
      <p:sp>
        <p:nvSpPr>
          <p:cNvPr id="24" name="矩形 23"/>
          <p:cNvSpPr>
            <a:spLocks noGrp="1"/>
          </p:cNvSpPr>
          <p:nvPr/>
        </p:nvSpPr>
        <p:spPr>
          <a:xfrm>
            <a:off x="48387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The question is when AI support weakens decision ownership before action.</a:t>
            </a:r>
          </a:p>
        </p:txBody>
      </p:sp>
      <p:sp>
        <p:nvSpPr>
          <p:cNvPr id="25" name="圆角矩形 24"/>
          <p:cNvSpPr>
            <a:spLocks noGrp="1"/>
          </p:cNvSpPr>
          <p:nvPr/>
        </p:nvSpPr>
        <p:spPr>
          <a:xfrm>
            <a:off x="8001000" y="2114550"/>
            <a:ext cx="3257550" cy="3028950"/>
          </a:xfrm>
          <a:prstGeom prst="roundRect">
            <a:avLst>
              <a:gd name="adj" fmla="val 3774"/>
            </a:avLst>
          </a:prstGeom>
          <a:solidFill>
            <a:srgbClr val="FFFFFF"/>
          </a:solidFill>
          <a:ln w="9525">
            <a:solidFill>
              <a:srgbClr val="D8CCBB"/>
            </a:solidFill>
            <a:prstDash val="solid"/>
          </a:ln>
        </p:spPr>
      </p:sp>
      <p:sp>
        <p:nvSpPr>
          <p:cNvPr id="26" name="矩形 25"/>
          <p:cNvSpPr>
            <a:spLocks noGrp="1"/>
          </p:cNvSpPr>
          <p:nvPr/>
        </p:nvSpPr>
        <p:spPr>
          <a:xfrm>
            <a:off x="8001000" y="2114550"/>
            <a:ext cx="3257550" cy="76200"/>
          </a:xfrm>
          <a:prstGeom prst="rect">
            <a:avLst/>
          </a:prstGeom>
          <a:solidFill>
            <a:srgbClr val="23384A"/>
          </a:solidFill>
          <a:ln w="0">
            <a:solidFill>
              <a:srgbClr val="23384A"/>
            </a:solidFill>
            <a:prstDash val="solid"/>
          </a:ln>
        </p:spPr>
      </p:sp>
      <p:sp>
        <p:nvSpPr>
          <p:cNvPr id="27" name="椭圆 26"/>
          <p:cNvSpPr>
            <a:spLocks noGrp="1"/>
          </p:cNvSpPr>
          <p:nvPr/>
        </p:nvSpPr>
        <p:spPr>
          <a:xfrm>
            <a:off x="8210550" y="2381250"/>
            <a:ext cx="323850" cy="323850"/>
          </a:xfrm>
          <a:prstGeom prst="ellipse">
            <a:avLst/>
          </a:prstGeom>
          <a:solidFill>
            <a:srgbClr val="23384A"/>
          </a:solidFill>
          <a:ln w="9525">
            <a:solidFill>
              <a:srgbClr val="23384A"/>
            </a:solidFill>
            <a:prstDash val="solid"/>
          </a:ln>
        </p:spPr>
      </p:sp>
      <p:sp>
        <p:nvSpPr>
          <p:cNvPr id="28" name="矩形 27"/>
          <p:cNvSpPr>
            <a:spLocks noGrp="1"/>
          </p:cNvSpPr>
          <p:nvPr/>
        </p:nvSpPr>
        <p:spPr>
          <a:xfrm>
            <a:off x="8315325" y="2466975"/>
            <a:ext cx="114300" cy="133350"/>
          </a:xfrm>
          <a:prstGeom prst="rect">
            <a:avLst/>
          </a:prstGeom>
          <a:noFill/>
          <a:ln w="0">
            <a:noFill/>
            <a:prstDash val="solid"/>
          </a:ln>
        </p:spPr>
        <p:txBody>
          <a:bodyPr wrap="square" lIns="0" tIns="0" rIns="0" bIns="0" anchor="t">
            <a:normAutofit fontScale="79365"/>
          </a:bodyPr>
          <a:lstStyle/>
          <a:p>
            <a:pPr algn="ctr">
              <a:lnSpc>
                <a:spcPct val="105000"/>
              </a:lnSpc>
              <a:buNone/>
              <a:defRPr sz="1050" b="1" i="0">
                <a:solidFill>
                  <a:srgbClr val="F5F0E6"/>
                </a:solidFill>
                <a:latin typeface="Times New Roman" panose="02020603050405020304"/>
                <a:ea typeface="Times New Roman" panose="02020603050405020304"/>
                <a:cs typeface="Times New Roman" panose="02020603050405020304"/>
              </a:defRPr>
            </a:pPr>
            <a:r>
              <a:rPr sz="1050" b="1" i="0">
                <a:solidFill>
                  <a:srgbClr val="F5F0E6"/>
                </a:solidFill>
                <a:latin typeface="Times New Roman" panose="02020603050405020304"/>
                <a:ea typeface="Times New Roman" panose="02020603050405020304"/>
                <a:cs typeface="Times New Roman" panose="02020603050405020304"/>
              </a:rPr>
              <a:t>3</a:t>
            </a:r>
          </a:p>
        </p:txBody>
      </p:sp>
      <p:sp>
        <p:nvSpPr>
          <p:cNvPr id="29" name="矩形 28"/>
          <p:cNvSpPr>
            <a:spLocks noGrp="1"/>
          </p:cNvSpPr>
          <p:nvPr/>
        </p:nvSpPr>
        <p:spPr>
          <a:xfrm>
            <a:off x="8686800" y="2352675"/>
            <a:ext cx="2343150" cy="457200"/>
          </a:xfrm>
          <a:prstGeom prst="rect">
            <a:avLst/>
          </a:prstGeom>
          <a:noFill/>
          <a:ln w="0">
            <a:noFill/>
            <a:prstDash val="solid"/>
          </a:ln>
        </p:spPr>
        <p:txBody>
          <a:bodyPr wrap="square" lIns="0" tIns="0" rIns="0" bIns="0" anchor="t">
            <a:normAutofit/>
          </a:bodyPr>
          <a:lstStyle/>
          <a:p>
            <a:pPr algn="l">
              <a:lnSpc>
                <a:spcPct val="98000"/>
              </a:lnSpc>
              <a:buNone/>
              <a:defRPr sz="1500" b="1" i="0">
                <a:solidFill>
                  <a:srgbClr val="231D17"/>
                </a:solidFill>
                <a:latin typeface="Times New Roman" panose="02020603050405020304"/>
                <a:ea typeface="Times New Roman" panose="02020603050405020304"/>
                <a:cs typeface="Times New Roman" panose="02020603050405020304"/>
              </a:defRPr>
            </a:pPr>
            <a:r>
              <a:rPr sz="1500" b="1" i="0">
                <a:solidFill>
                  <a:srgbClr val="231D17"/>
                </a:solidFill>
                <a:latin typeface="Times New Roman" panose="02020603050405020304"/>
                <a:ea typeface="Times New Roman" panose="02020603050405020304"/>
                <a:cs typeface="Times New Roman" panose="02020603050405020304"/>
              </a:rPr>
              <a:t>Accountability design is not felt accountability</a:t>
            </a:r>
          </a:p>
        </p:txBody>
      </p:sp>
      <p:sp>
        <p:nvSpPr>
          <p:cNvPr id="30" name="矩形 29"/>
          <p:cNvSpPr>
            <a:spLocks noGrp="1"/>
          </p:cNvSpPr>
          <p:nvPr/>
        </p:nvSpPr>
        <p:spPr>
          <a:xfrm>
            <a:off x="8229600" y="2990850"/>
            <a:ext cx="2800350" cy="742950"/>
          </a:xfrm>
          <a:prstGeom prst="rect">
            <a:avLst/>
          </a:prstGeom>
          <a:noFill/>
          <a:ln w="0">
            <a:noFill/>
            <a:prstDash val="solid"/>
          </a:ln>
        </p:spPr>
        <p:txBody>
          <a:bodyPr wrap="square" lIns="0" tIns="0" rIns="0" bIns="0" anchor="t">
            <a:normAutofit/>
          </a:bodyPr>
          <a:lstStyle/>
          <a:p>
            <a:pPr algn="l">
              <a:lnSpc>
                <a:spcPct val="107000"/>
              </a:lnSpc>
              <a:buNone/>
              <a:defRPr sz="1135" b="0" i="0">
                <a:solidFill>
                  <a:srgbClr val="231D17"/>
                </a:solidFill>
                <a:latin typeface="Times New Roman" panose="02020603050405020304"/>
                <a:ea typeface="Times New Roman" panose="02020603050405020304"/>
                <a:cs typeface="Times New Roman" panose="02020603050405020304"/>
              </a:defRPr>
            </a:pPr>
            <a:r>
              <a:rPr sz="1135" b="0" i="0">
                <a:solidFill>
                  <a:srgbClr val="231D17"/>
                </a:solidFill>
                <a:latin typeface="Times New Roman" panose="02020603050405020304"/>
                <a:ea typeface="Times New Roman" panose="02020603050405020304"/>
                <a:cs typeface="Times New Roman" panose="02020603050405020304"/>
              </a:rPr>
              <a:t>Disclosure, approval, audit trails, and justification requirements create external accountability, but they may not automatically make people feel responsible.</a:t>
            </a:r>
          </a:p>
        </p:txBody>
      </p:sp>
      <p:sp>
        <p:nvSpPr>
          <p:cNvPr id="31" name="矩形 30"/>
          <p:cNvSpPr>
            <a:spLocks noGrp="1"/>
          </p:cNvSpPr>
          <p:nvPr/>
        </p:nvSpPr>
        <p:spPr>
          <a:xfrm>
            <a:off x="8229600" y="3829050"/>
            <a:ext cx="2800350" cy="342900"/>
          </a:xfrm>
          <a:prstGeom prst="rect">
            <a:avLst/>
          </a:prstGeom>
          <a:noFill/>
          <a:ln w="0">
            <a:noFill/>
            <a:prstDash val="solid"/>
          </a:ln>
        </p:spPr>
        <p:txBody>
          <a:bodyPr wrap="square" lIns="0" tIns="0" rIns="0" bIns="0" anchor="t">
            <a:normAutofit/>
          </a:bodyPr>
          <a:lstStyle/>
          <a:p>
            <a:pPr algn="l">
              <a:lnSpc>
                <a:spcPct val="105000"/>
              </a:lnSpc>
              <a:buNone/>
              <a:defRPr sz="930" b="0" i="1">
                <a:solidFill>
                  <a:srgbClr val="6F665C"/>
                </a:solidFill>
                <a:latin typeface="Times New Roman" panose="02020603050405020304"/>
                <a:ea typeface="Times New Roman" panose="02020603050405020304"/>
                <a:cs typeface="Times New Roman" panose="02020603050405020304"/>
              </a:defRPr>
            </a:pPr>
            <a:r>
              <a:rPr sz="930" b="0" i="1">
                <a:solidFill>
                  <a:srgbClr val="6F665C"/>
                </a:solidFill>
                <a:latin typeface="Times New Roman" panose="02020603050405020304"/>
                <a:ea typeface="Times New Roman" panose="02020603050405020304"/>
                <a:cs typeface="Times New Roman" panose="02020603050405020304"/>
              </a:rPr>
              <a:t>(Lerner &amp; Tetlock, 1999; Hall et al., 2017; Aleksovska et al., 2019)</a:t>
            </a:r>
          </a:p>
        </p:txBody>
      </p:sp>
      <p:sp>
        <p:nvSpPr>
          <p:cNvPr id="32" name="圆角矩形 31"/>
          <p:cNvSpPr>
            <a:spLocks noGrp="1"/>
          </p:cNvSpPr>
          <p:nvPr/>
        </p:nvSpPr>
        <p:spPr>
          <a:xfrm>
            <a:off x="8210550" y="4362450"/>
            <a:ext cx="2838450" cy="552450"/>
          </a:xfrm>
          <a:prstGeom prst="roundRect">
            <a:avLst>
              <a:gd name="adj" fmla="val 10345"/>
            </a:avLst>
          </a:prstGeom>
          <a:solidFill>
            <a:srgbClr val="F3EBDD"/>
          </a:solidFill>
          <a:ln w="9525">
            <a:solidFill>
              <a:srgbClr val="E4D5C2"/>
            </a:solidFill>
            <a:prstDash val="solid"/>
          </a:ln>
        </p:spPr>
      </p:sp>
      <p:sp>
        <p:nvSpPr>
          <p:cNvPr id="33" name="矩形 32"/>
          <p:cNvSpPr>
            <a:spLocks noGrp="1"/>
          </p:cNvSpPr>
          <p:nvPr/>
        </p:nvSpPr>
        <p:spPr>
          <a:xfrm>
            <a:off x="8382000" y="4476750"/>
            <a:ext cx="2495550" cy="323850"/>
          </a:xfrm>
          <a:prstGeom prst="rect">
            <a:avLst/>
          </a:prstGeom>
          <a:noFill/>
          <a:ln w="0">
            <a:noFill/>
            <a:prstDash val="solid"/>
          </a:ln>
        </p:spPr>
        <p:txBody>
          <a:bodyPr wrap="square" lIns="0" tIns="0" rIns="0" bIns="0" anchor="t">
            <a:normAutofit fontScale="99892"/>
          </a:bodyPr>
          <a:lstStyle/>
          <a:p>
            <a:pPr algn="ctr">
              <a:lnSpc>
                <a:spcPct val="105000"/>
              </a:lnSpc>
              <a:buNone/>
              <a:defRPr sz="1015" b="1" i="0">
                <a:solidFill>
                  <a:srgbClr val="231D17"/>
                </a:solidFill>
                <a:latin typeface="Times New Roman" panose="02020603050405020304"/>
                <a:ea typeface="Times New Roman" panose="02020603050405020304"/>
                <a:cs typeface="Times New Roman" panose="02020603050405020304"/>
              </a:defRPr>
            </a:pPr>
            <a:r>
              <a:rPr sz="1015" b="1" i="0">
                <a:solidFill>
                  <a:srgbClr val="231D17"/>
                </a:solidFill>
                <a:latin typeface="Times New Roman" panose="02020603050405020304"/>
                <a:ea typeface="Times New Roman" panose="02020603050405020304"/>
                <a:cs typeface="Times New Roman" panose="02020603050405020304"/>
              </a:rPr>
              <a:t>The experiment asks whether justification re-anchors responsibility to the human.</a:t>
            </a:r>
          </a:p>
        </p:txBody>
      </p:sp>
      <p:sp>
        <p:nvSpPr>
          <p:cNvPr id="34" name="圆角矩形 33"/>
          <p:cNvSpPr>
            <a:spLocks noGrp="1"/>
          </p:cNvSpPr>
          <p:nvPr/>
        </p:nvSpPr>
        <p:spPr>
          <a:xfrm>
            <a:off x="914400" y="5467350"/>
            <a:ext cx="10325100" cy="704850"/>
          </a:xfrm>
          <a:prstGeom prst="roundRect">
            <a:avLst>
              <a:gd name="adj" fmla="val 16216"/>
            </a:avLst>
          </a:prstGeom>
          <a:solidFill>
            <a:srgbClr val="23384A"/>
          </a:solidFill>
          <a:ln w="9525">
            <a:solidFill>
              <a:srgbClr val="23384A"/>
            </a:solidFill>
            <a:prstDash val="solid"/>
          </a:ln>
        </p:spPr>
      </p:sp>
      <p:sp>
        <p:nvSpPr>
          <p:cNvPr id="35" name="矩形 34"/>
          <p:cNvSpPr>
            <a:spLocks noGrp="1"/>
          </p:cNvSpPr>
          <p:nvPr/>
        </p:nvSpPr>
        <p:spPr>
          <a:xfrm>
            <a:off x="1219200" y="5638800"/>
            <a:ext cx="2000250" cy="209550"/>
          </a:xfrm>
          <a:prstGeom prst="rect">
            <a:avLst/>
          </a:prstGeom>
          <a:noFill/>
          <a:ln w="0">
            <a:noFill/>
            <a:prstDash val="solid"/>
          </a:ln>
        </p:spPr>
        <p:txBody>
          <a:bodyPr wrap="square" lIns="0" tIns="0" rIns="0" bIns="0" anchor="t">
            <a:normAutofit fontScale="91896"/>
          </a:bodyPr>
          <a:lstStyle/>
          <a:p>
            <a:pPr algn="l">
              <a:lnSpc>
                <a:spcPct val="105000"/>
              </a:lnSpc>
              <a:buNone/>
              <a:defRPr sz="1425" b="1" i="0">
                <a:solidFill>
                  <a:srgbClr val="E7D4C3"/>
                </a:solidFill>
                <a:latin typeface="Times New Roman" panose="02020603050405020304"/>
                <a:ea typeface="Times New Roman" panose="02020603050405020304"/>
                <a:cs typeface="Times New Roman" panose="02020603050405020304"/>
              </a:defRPr>
            </a:pPr>
            <a:r>
              <a:rPr sz="1425" b="1" i="0">
                <a:solidFill>
                  <a:srgbClr val="E7D4C3"/>
                </a:solidFill>
                <a:latin typeface="Times New Roman" panose="02020603050405020304"/>
                <a:ea typeface="Times New Roman" panose="02020603050405020304"/>
                <a:cs typeface="Times New Roman" panose="02020603050405020304"/>
              </a:rPr>
              <a:t>Paper 3's move</a:t>
            </a:r>
          </a:p>
        </p:txBody>
      </p:sp>
      <p:sp>
        <p:nvSpPr>
          <p:cNvPr id="36" name="矩形 35"/>
          <p:cNvSpPr>
            <a:spLocks noGrp="1"/>
          </p:cNvSpPr>
          <p:nvPr/>
        </p:nvSpPr>
        <p:spPr>
          <a:xfrm>
            <a:off x="3429000" y="5619750"/>
            <a:ext cx="7239000" cy="323850"/>
          </a:xfrm>
          <a:prstGeom prst="rect">
            <a:avLst/>
          </a:prstGeom>
          <a:noFill/>
          <a:ln w="0">
            <a:noFill/>
            <a:prstDash val="solid"/>
          </a:ln>
        </p:spPr>
        <p:txBody>
          <a:bodyPr wrap="square" lIns="0" tIns="0" rIns="0" bIns="0" anchor="t">
            <a:normAutofit fontScale="74249"/>
          </a:bodyPr>
          <a:lstStyle/>
          <a:p>
            <a:pPr algn="ctr">
              <a:lnSpc>
                <a:spcPct val="106000"/>
              </a:lnSpc>
              <a:buNone/>
              <a:defRPr sz="1350" b="1" i="0">
                <a:solidFill>
                  <a:srgbClr val="F5F0E6"/>
                </a:solidFill>
                <a:latin typeface="Times New Roman" panose="02020603050405020304"/>
                <a:ea typeface="Times New Roman" panose="02020603050405020304"/>
                <a:cs typeface="Times New Roman" panose="02020603050405020304"/>
              </a:defRPr>
            </a:pPr>
            <a:r>
              <a:rPr sz="1350" b="1" i="0">
                <a:solidFill>
                  <a:srgbClr val="F5F0E6"/>
                </a:solidFill>
                <a:latin typeface="Times New Roman" panose="02020603050405020304"/>
                <a:ea typeface="Times New Roman" panose="02020603050405020304"/>
                <a:cs typeface="Times New Roman" panose="02020603050405020304"/>
              </a:rPr>
              <a:t>AI role proximity + justification requirement -&gt; decisional ownership, felt accountability, responsibility sharing, and escalatory choice.</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矩形 17"/>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pitchFamily="18" charset="0"/>
                <a:ea typeface="Times New Roman" panose="02020603050405020304"/>
                <a:cs typeface="Times New Roman" panose="02020603050405020304" pitchFamily="18" charset="0"/>
              </a:rPr>
              <a:t>TRADITIONAL THEORIES</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pitchFamily="18" charset="0"/>
                <a:ea typeface="Times New Roman" panose="02020603050405020304"/>
                <a:cs typeface="Times New Roman" panose="02020603050405020304" pitchFamily="18" charset="0"/>
              </a:rPr>
              <a:t>Traditional theories usually treat responsibility cost as given</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custDataLst>
              <p:tags r:id="rId1"/>
            </p:custDataLst>
          </p:nvPr>
        </p:nvSpPr>
        <p:spPr>
          <a:xfrm>
            <a:off x="914400" y="1752600"/>
            <a:ext cx="4857750" cy="2171700"/>
          </a:xfrm>
          <a:prstGeom prst="roundRect">
            <a:avLst>
              <a:gd name="adj" fmla="val 5263"/>
            </a:avLst>
          </a:prstGeom>
          <a:solidFill>
            <a:srgbClr val="F9F6F0"/>
          </a:solidFill>
          <a:ln w="9525">
            <a:solidFill>
              <a:srgbClr val="B7ADA0"/>
            </a:solidFill>
            <a:prstDash val="solid"/>
          </a:ln>
        </p:spPr>
      </p:sp>
      <p:sp>
        <p:nvSpPr>
          <p:cNvPr id="6" name="矩形 5"/>
          <p:cNvSpPr>
            <a:spLocks noGrp="1"/>
          </p:cNvSpPr>
          <p:nvPr>
            <p:custDataLst>
              <p:tags r:id="rId2"/>
            </p:custDataLst>
          </p:nvPr>
        </p:nvSpPr>
        <p:spPr>
          <a:xfrm>
            <a:off x="1199515" y="1845310"/>
            <a:ext cx="2571750" cy="228600"/>
          </a:xfrm>
          <a:prstGeom prst="rect">
            <a:avLst/>
          </a:prstGeom>
          <a:noFill/>
          <a:ln w="0">
            <a:noFill/>
            <a:prstDash val="solid"/>
          </a:ln>
        </p:spPr>
        <p:txBody>
          <a:bodyPr/>
          <a:lstStyle/>
          <a:p>
            <a:pPr>
              <a:buNone/>
              <a:defRPr sz="1875" b="1">
                <a:solidFill>
                  <a:srgbClr val="23364A"/>
                </a:solidFill>
              </a:defRPr>
            </a:pPr>
            <a:r>
              <a:rPr sz="1875" b="1">
                <a:solidFill>
                  <a:srgbClr val="23364A"/>
                </a:solidFill>
                <a:latin typeface="Times New Roman" panose="02020603050405020304" pitchFamily="18" charset="0"/>
                <a:cs typeface="Times New Roman" panose="02020603050405020304" pitchFamily="18" charset="0"/>
              </a:rPr>
              <a:t>Rationalist conflict theories</a:t>
            </a:r>
          </a:p>
        </p:txBody>
      </p:sp>
      <p:sp>
        <p:nvSpPr>
          <p:cNvPr id="7" name="矩形 6"/>
          <p:cNvSpPr>
            <a:spLocks noGrp="1"/>
          </p:cNvSpPr>
          <p:nvPr>
            <p:custDataLst>
              <p:tags r:id="rId3"/>
            </p:custDataLst>
          </p:nvPr>
        </p:nvSpPr>
        <p:spPr>
          <a:xfrm>
            <a:off x="1162050" y="2400300"/>
            <a:ext cx="4095750" cy="609600"/>
          </a:xfrm>
          <a:prstGeom prst="rect">
            <a:avLst/>
          </a:prstGeom>
          <a:noFill/>
          <a:ln w="0">
            <a:noFill/>
            <a:prstDash val="solid"/>
          </a:ln>
        </p:spPr>
        <p:txBody>
          <a:bodyPr/>
          <a:lstStyle/>
          <a:p>
            <a:pPr>
              <a:buNone/>
              <a:defRPr sz="1425">
                <a:solidFill>
                  <a:srgbClr val="1C2430"/>
                </a:solidFill>
              </a:defRPr>
            </a:pPr>
            <a:r>
              <a:rPr sz="1425">
                <a:solidFill>
                  <a:srgbClr val="1C2430"/>
                </a:solidFill>
                <a:latin typeface="Times New Roman" panose="02020603050405020304" pitchFamily="18" charset="0"/>
                <a:cs typeface="Times New Roman" panose="02020603050405020304" pitchFamily="18" charset="0"/>
              </a:rPr>
              <a:t>• Conflict escalates because of bargaining failure, information asymmetry, or commitment problems.</a:t>
            </a:r>
          </a:p>
          <a:p>
            <a:pPr>
              <a:buNone/>
              <a:defRPr sz="1425">
                <a:solidFill>
                  <a:srgbClr val="1C2430"/>
                </a:solidFill>
              </a:defRPr>
            </a:pPr>
            <a:r>
              <a:rPr sz="1425">
                <a:solidFill>
                  <a:srgbClr val="1C2430"/>
                </a:solidFill>
                <a:latin typeface="Times New Roman" panose="02020603050405020304" pitchFamily="18" charset="0"/>
                <a:cs typeface="Times New Roman" panose="02020603050405020304" pitchFamily="18" charset="0"/>
              </a:rPr>
              <a:t>• The decision maker is still assumed to bear the consequences of the choice.</a:t>
            </a:r>
          </a:p>
        </p:txBody>
      </p:sp>
      <p:sp>
        <p:nvSpPr>
          <p:cNvPr id="8" name="矩形 7"/>
          <p:cNvSpPr>
            <a:spLocks noGrp="1"/>
          </p:cNvSpPr>
          <p:nvPr>
            <p:custDataLst>
              <p:tags r:id="rId4"/>
            </p:custDataLst>
          </p:nvPr>
        </p:nvSpPr>
        <p:spPr>
          <a:xfrm>
            <a:off x="1162050" y="3429000"/>
            <a:ext cx="3429000" cy="304800"/>
          </a:xfrm>
          <a:prstGeom prst="rect">
            <a:avLst/>
          </a:prstGeom>
          <a:noFill/>
          <a:ln w="0">
            <a:noFill/>
            <a:prstDash val="solid"/>
          </a:ln>
        </p:spPr>
        <p:txBody>
          <a:bodyPr/>
          <a:lstStyle/>
          <a:p>
            <a:pPr>
              <a:buNone/>
              <a:defRPr sz="1125" i="1">
                <a:solidFill>
                  <a:srgbClr val="5F6875"/>
                </a:solidFill>
              </a:defRPr>
            </a:pPr>
            <a:r>
              <a:rPr sz="1125" i="1">
                <a:solidFill>
                  <a:srgbClr val="5F6875"/>
                </a:solidFill>
                <a:latin typeface="Times New Roman" panose="02020603050405020304" pitchFamily="18" charset="0"/>
                <a:cs typeface="Times New Roman" panose="02020603050405020304" pitchFamily="18" charset="0"/>
              </a:rPr>
              <a:t>Fearon (1995); Powell (2006)</a:t>
            </a:r>
          </a:p>
        </p:txBody>
      </p:sp>
      <p:sp>
        <p:nvSpPr>
          <p:cNvPr id="9" name="圆角矩形 8"/>
          <p:cNvSpPr>
            <a:spLocks noGrp="1"/>
          </p:cNvSpPr>
          <p:nvPr>
            <p:custDataLst>
              <p:tags r:id="rId5"/>
            </p:custDataLst>
          </p:nvPr>
        </p:nvSpPr>
        <p:spPr>
          <a:xfrm>
            <a:off x="6400800" y="1752600"/>
            <a:ext cx="4857750" cy="2171700"/>
          </a:xfrm>
          <a:prstGeom prst="roundRect">
            <a:avLst>
              <a:gd name="adj" fmla="val 5263"/>
            </a:avLst>
          </a:prstGeom>
          <a:solidFill>
            <a:srgbClr val="F9F6F0"/>
          </a:solidFill>
          <a:ln w="9525">
            <a:solidFill>
              <a:srgbClr val="B7ADA0"/>
            </a:solidFill>
            <a:prstDash val="solid"/>
          </a:ln>
        </p:spPr>
      </p:sp>
      <p:sp>
        <p:nvSpPr>
          <p:cNvPr id="10" name="矩形 9"/>
          <p:cNvSpPr>
            <a:spLocks noGrp="1"/>
          </p:cNvSpPr>
          <p:nvPr>
            <p:custDataLst>
              <p:tags r:id="rId6"/>
            </p:custDataLst>
          </p:nvPr>
        </p:nvSpPr>
        <p:spPr>
          <a:xfrm>
            <a:off x="6648450" y="2000250"/>
            <a:ext cx="2667000" cy="228600"/>
          </a:xfrm>
          <a:prstGeom prst="rect">
            <a:avLst/>
          </a:prstGeom>
          <a:noFill/>
          <a:ln w="0">
            <a:noFill/>
            <a:prstDash val="solid"/>
          </a:ln>
        </p:spPr>
        <p:txBody>
          <a:bodyPr/>
          <a:lstStyle/>
          <a:p>
            <a:pPr>
              <a:buNone/>
              <a:defRPr sz="1875" b="1">
                <a:solidFill>
                  <a:srgbClr val="23364A"/>
                </a:solidFill>
              </a:defRPr>
            </a:pPr>
            <a:r>
              <a:rPr sz="1875" b="1">
                <a:solidFill>
                  <a:srgbClr val="23364A"/>
                </a:solidFill>
                <a:latin typeface="Times New Roman" panose="02020603050405020304" pitchFamily="18" charset="0"/>
                <a:cs typeface="Times New Roman" panose="02020603050405020304" pitchFamily="18" charset="0"/>
              </a:rPr>
              <a:t>Behavioral risk theories</a:t>
            </a:r>
          </a:p>
        </p:txBody>
      </p:sp>
      <p:sp>
        <p:nvSpPr>
          <p:cNvPr id="11" name="矩形 10"/>
          <p:cNvSpPr>
            <a:spLocks noGrp="1"/>
          </p:cNvSpPr>
          <p:nvPr>
            <p:custDataLst>
              <p:tags r:id="rId7"/>
            </p:custDataLst>
          </p:nvPr>
        </p:nvSpPr>
        <p:spPr>
          <a:xfrm>
            <a:off x="6648450" y="2400300"/>
            <a:ext cx="4095750" cy="609600"/>
          </a:xfrm>
          <a:prstGeom prst="rect">
            <a:avLst/>
          </a:prstGeom>
          <a:noFill/>
          <a:ln w="0">
            <a:noFill/>
            <a:prstDash val="solid"/>
          </a:ln>
        </p:spPr>
        <p:txBody>
          <a:bodyPr/>
          <a:lstStyle/>
          <a:p>
            <a:pPr>
              <a:buNone/>
              <a:defRPr sz="1425">
                <a:solidFill>
                  <a:srgbClr val="1C2430"/>
                </a:solidFill>
              </a:defRPr>
            </a:pPr>
            <a:r>
              <a:rPr sz="1425">
                <a:solidFill>
                  <a:srgbClr val="1C2430"/>
                </a:solidFill>
                <a:latin typeface="Times New Roman" panose="02020603050405020304" pitchFamily="18" charset="0"/>
                <a:cs typeface="Times New Roman" panose="02020603050405020304" pitchFamily="18" charset="0"/>
              </a:rPr>
              <a:t>• Loss aversion, framing, and affect can change whether people escalate or restrain.</a:t>
            </a:r>
          </a:p>
          <a:p>
            <a:pPr>
              <a:buNone/>
              <a:defRPr sz="1425">
                <a:solidFill>
                  <a:srgbClr val="1C2430"/>
                </a:solidFill>
              </a:defRPr>
            </a:pPr>
            <a:r>
              <a:rPr sz="1425">
                <a:solidFill>
                  <a:srgbClr val="1C2430"/>
                </a:solidFill>
                <a:latin typeface="Times New Roman" panose="02020603050405020304" pitchFamily="18" charset="0"/>
                <a:cs typeface="Times New Roman" panose="02020603050405020304" pitchFamily="18" charset="0"/>
              </a:rPr>
              <a:t>• But responsibility structure itself is rarely modeled as the variable that shifts choice.</a:t>
            </a:r>
          </a:p>
        </p:txBody>
      </p:sp>
      <p:sp>
        <p:nvSpPr>
          <p:cNvPr id="12" name="矩形 11"/>
          <p:cNvSpPr>
            <a:spLocks noGrp="1"/>
          </p:cNvSpPr>
          <p:nvPr>
            <p:custDataLst>
              <p:tags r:id="rId8"/>
            </p:custDataLst>
          </p:nvPr>
        </p:nvSpPr>
        <p:spPr>
          <a:xfrm>
            <a:off x="6648450" y="3429000"/>
            <a:ext cx="3429000" cy="304800"/>
          </a:xfrm>
          <a:prstGeom prst="rect">
            <a:avLst/>
          </a:prstGeom>
          <a:noFill/>
          <a:ln w="0">
            <a:noFill/>
            <a:prstDash val="solid"/>
          </a:ln>
        </p:spPr>
        <p:txBody>
          <a:bodyPr/>
          <a:lstStyle/>
          <a:p>
            <a:pPr>
              <a:buNone/>
              <a:defRPr sz="1125" i="1">
                <a:solidFill>
                  <a:srgbClr val="5F6875"/>
                </a:solidFill>
              </a:defRPr>
            </a:pPr>
            <a:r>
              <a:rPr sz="1125" i="1">
                <a:solidFill>
                  <a:srgbClr val="5F6875"/>
                </a:solidFill>
                <a:latin typeface="Times New Roman" panose="02020603050405020304" pitchFamily="18" charset="0"/>
                <a:cs typeface="Times New Roman" panose="02020603050405020304" pitchFamily="18" charset="0"/>
              </a:rPr>
              <a:t>Kahneman &amp; Tversky (1979); Loewenstein et al. (2001)</a:t>
            </a:r>
          </a:p>
        </p:txBody>
      </p:sp>
      <p:sp>
        <p:nvSpPr>
          <p:cNvPr id="13" name="圆角矩形 12"/>
          <p:cNvSpPr>
            <a:spLocks noGrp="1"/>
          </p:cNvSpPr>
          <p:nvPr/>
        </p:nvSpPr>
        <p:spPr>
          <a:xfrm>
            <a:off x="1733550" y="4476750"/>
            <a:ext cx="8724900" cy="1181100"/>
          </a:xfrm>
          <a:prstGeom prst="roundRect">
            <a:avLst>
              <a:gd name="adj" fmla="val 12903"/>
            </a:avLst>
          </a:prstGeom>
          <a:solidFill>
            <a:srgbClr val="23364A"/>
          </a:solidFill>
          <a:ln w="0">
            <a:solidFill>
              <a:srgbClr val="23364A"/>
            </a:solidFill>
            <a:prstDash val="solid"/>
          </a:ln>
        </p:spPr>
      </p:sp>
      <p:sp>
        <p:nvSpPr>
          <p:cNvPr id="14" name="矩形 13"/>
          <p:cNvSpPr>
            <a:spLocks noGrp="1"/>
          </p:cNvSpPr>
          <p:nvPr/>
        </p:nvSpPr>
        <p:spPr>
          <a:xfrm>
            <a:off x="2171700" y="4781550"/>
            <a:ext cx="7810500" cy="590550"/>
          </a:xfrm>
          <a:prstGeom prst="rect">
            <a:avLst/>
          </a:prstGeom>
          <a:noFill/>
          <a:ln w="0">
            <a:noFill/>
            <a:prstDash val="solid"/>
          </a:ln>
        </p:spPr>
        <p:txBody>
          <a:bodyPr wrap="square" lIns="0" tIns="0" rIns="0" bIns="0" anchor="t">
            <a:normAutofit/>
          </a:bodyPr>
          <a:lstStyle/>
          <a:p>
            <a:pPr algn="l">
              <a:lnSpc>
                <a:spcPct val="105000"/>
              </a:lnSpc>
              <a:buNone/>
              <a:defRPr sz="1425" b="1" i="0">
                <a:solidFill>
                  <a:srgbClr val="231D17"/>
                </a:solidFill>
                <a:latin typeface="Times New Roman" panose="02020603050405020304"/>
                <a:ea typeface="Times New Roman" panose="02020603050405020304"/>
                <a:cs typeface="Times New Roman" panose="02020603050405020304"/>
              </a:defRPr>
            </a:pPr>
            <a:r>
              <a:rPr sz="1425" i="0">
                <a:solidFill>
                  <a:schemeClr val="bg1"/>
                </a:solidFill>
                <a:latin typeface="Times New Roman" panose="02020603050405020304" pitchFamily="18" charset="0"/>
                <a:ea typeface="Times New Roman" panose="02020603050405020304"/>
                <a:cs typeface="Times New Roman" panose="02020603050405020304" pitchFamily="18" charset="0"/>
              </a:rPr>
              <a:t>The missing variable is not only belief or payoff perception, but the structure of accountability itself.</a:t>
            </a:r>
          </a:p>
        </p:txBody>
      </p:sp>
      <p:sp>
        <p:nvSpPr>
          <p:cNvPr id="15" name="矩形 14"/>
          <p:cNvSpPr>
            <a:spLocks noGrp="1"/>
          </p:cNvSpPr>
          <p:nvPr/>
        </p:nvSpPr>
        <p:spPr>
          <a:xfrm>
            <a:off x="438150" y="6885305"/>
            <a:ext cx="10820400" cy="11430"/>
          </a:xfrm>
          <a:prstGeom prst="rect">
            <a:avLst/>
          </a:prstGeom>
          <a:solidFill>
            <a:srgbClr val="B7ADA0"/>
          </a:solidFill>
          <a:ln w="0">
            <a:solidFill>
              <a:srgbClr val="B7ADA0"/>
            </a:solidFill>
            <a:prstDash val="solid"/>
          </a:ln>
        </p:spPr>
      </p:sp>
      <p:sp>
        <p:nvSpPr>
          <p:cNvPr id="16" name="矩形 15"/>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latin typeface="Times New Roman" panose="02020603050405020304" pitchFamily="18" charset="0"/>
                <a:cs typeface="Times New Roman" panose="02020603050405020304" pitchFamily="18" charset="0"/>
              </a:rPr>
              <a:t>PAPER 3</a:t>
            </a:r>
          </a:p>
        </p:txBody>
      </p:sp>
      <p:sp>
        <p:nvSpPr>
          <p:cNvPr id="17" name="矩形 16"/>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latin typeface="Times New Roman" panose="02020603050405020304" pitchFamily="18" charset="0"/>
                <a:cs typeface="Times New Roman" panose="02020603050405020304" pitchFamily="18" charset="0"/>
              </a:rPr>
              <a:t>4</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RESEARCH GAP</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97119"/>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What is still missing: responsibility design inside AI-supported decisions</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pic>
        <p:nvPicPr>
          <p:cNvPr id="13" name="图片 11"/>
          <p:cNvPicPr>
            <a:picLocks noChangeAspect="1"/>
          </p:cNvPicPr>
          <p:nvPr/>
        </p:nvPicPr>
        <p:blipFill>
          <a:blip r:embed="rId3"/>
          <a:stretch>
            <a:fillRect/>
          </a:stretch>
        </p:blipFill>
        <p:spPr>
          <a:xfrm>
            <a:off x="818787" y="1257300"/>
            <a:ext cx="10535376" cy="4762500"/>
          </a:xfrm>
          <a:prstGeom prst="rect">
            <a:avLst/>
          </a:prstGeom>
        </p:spPr>
      </p:pic>
      <p:sp>
        <p:nvSpPr>
          <p:cNvPr id="5" name="矩形 4"/>
          <p:cNvSpPr>
            <a:spLocks noGrp="1"/>
          </p:cNvSpPr>
          <p:nvPr/>
        </p:nvSpPr>
        <p:spPr>
          <a:xfrm>
            <a:off x="819150" y="6076950"/>
            <a:ext cx="8953500" cy="171450"/>
          </a:xfrm>
          <a:prstGeom prst="rect">
            <a:avLst/>
          </a:prstGeom>
          <a:noFill/>
          <a:ln w="0">
            <a:noFill/>
            <a:prstDash val="solid"/>
          </a:ln>
        </p:spPr>
        <p:txBody>
          <a:bodyPr wrap="square" lIns="0" tIns="0" rIns="0" bIns="0" anchor="t">
            <a:normAutofit fontScale="95230"/>
          </a:bodyPr>
          <a:lstStyle/>
          <a:p>
            <a:pPr algn="l">
              <a:lnSpc>
                <a:spcPct val="105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The gap is not simply whether AI affects responsibility. It is how visibility, traceability, attribution, and evaluability shape felt accountability before action.</a:t>
            </a:r>
          </a:p>
        </p:txBody>
      </p:sp>
      <p:sp>
        <p:nvSpPr>
          <p:cNvPr id="6" name="矩形 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7" name="矩形 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8" name="矩形 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5</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矩形 19"/>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RESEARCH QUESTIONS</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82533"/>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The paper asks how AI intervention and accountability design reshape high-risk choice</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nvSpPr>
        <p:spPr>
          <a:xfrm>
            <a:off x="838200" y="1638300"/>
            <a:ext cx="3009900" cy="3219450"/>
          </a:xfrm>
          <a:prstGeom prst="roundRect">
            <a:avLst>
              <a:gd name="adj" fmla="val 3797"/>
            </a:avLst>
          </a:prstGeom>
          <a:solidFill>
            <a:srgbClr val="23364A"/>
          </a:solidFill>
          <a:ln w="0">
            <a:solidFill>
              <a:srgbClr val="23364A"/>
            </a:solidFill>
            <a:prstDash val="solid"/>
          </a:ln>
        </p:spPr>
      </p:sp>
      <p:sp>
        <p:nvSpPr>
          <p:cNvPr id="6" name="矩形 5"/>
          <p:cNvSpPr>
            <a:spLocks noGrp="1"/>
          </p:cNvSpPr>
          <p:nvPr/>
        </p:nvSpPr>
        <p:spPr>
          <a:xfrm>
            <a:off x="1104900" y="2000250"/>
            <a:ext cx="2438400" cy="1143000"/>
          </a:xfrm>
          <a:prstGeom prst="rect">
            <a:avLst/>
          </a:prstGeom>
          <a:noFill/>
          <a:ln w="0">
            <a:noFill/>
            <a:prstDash val="solid"/>
          </a:ln>
        </p:spPr>
        <p:txBody>
          <a:bodyPr wrap="square" lIns="0" tIns="0" rIns="0" bIns="0" anchor="t">
            <a:normAutofit/>
          </a:bodyPr>
          <a:lstStyle/>
          <a:p>
            <a:pPr algn="l">
              <a:lnSpc>
                <a:spcPct val="105000"/>
              </a:lnSpc>
              <a:buNone/>
              <a:defRPr sz="1800" b="1" i="0">
                <a:solidFill>
                  <a:srgbClr val="F5F0E6"/>
                </a:solidFill>
                <a:latin typeface="Times New Roman" panose="02020603050405020304"/>
                <a:ea typeface="Times New Roman" panose="02020603050405020304"/>
                <a:cs typeface="Times New Roman" panose="02020603050405020304"/>
              </a:defRPr>
            </a:pPr>
            <a:r>
              <a:rPr lang="en-US" altLang="zh-CN" sz="1800" b="1" i="0">
                <a:solidFill>
                  <a:srgbClr val="F5F0E6"/>
                </a:solidFill>
                <a:latin typeface="Times New Roman" panose="02020603050405020304"/>
                <a:ea typeface="Times New Roman" panose="02020603050405020304"/>
                <a:cs typeface="Times New Roman" panose="02020603050405020304"/>
              </a:rPr>
              <a:t>Overall Research Question</a:t>
            </a:r>
          </a:p>
        </p:txBody>
      </p:sp>
      <p:sp>
        <p:nvSpPr>
          <p:cNvPr id="7" name="矩形 6"/>
          <p:cNvSpPr>
            <a:spLocks noGrp="1"/>
          </p:cNvSpPr>
          <p:nvPr/>
        </p:nvSpPr>
        <p:spPr>
          <a:xfrm>
            <a:off x="1104900" y="2929255"/>
            <a:ext cx="2286000" cy="1376045"/>
          </a:xfrm>
          <a:prstGeom prst="rect">
            <a:avLst/>
          </a:prstGeom>
          <a:noFill/>
          <a:ln w="0">
            <a:noFill/>
            <a:prstDash val="solid"/>
          </a:ln>
        </p:spPr>
        <p:txBody>
          <a:bodyPr wrap="square" lIns="0" tIns="0" rIns="0" bIns="0" anchor="t">
            <a:normAutofit fontScale="90000"/>
          </a:bodyPr>
          <a:lstStyle/>
          <a:p>
            <a:pPr algn="l">
              <a:lnSpc>
                <a:spcPct val="108000"/>
              </a:lnSpc>
              <a:buNone/>
              <a:defRPr sz="1350" b="0" i="0">
                <a:solidFill>
                  <a:srgbClr val="E7D4C3"/>
                </a:solidFill>
                <a:latin typeface="Times New Roman" panose="02020603050405020304"/>
                <a:ea typeface="Times New Roman" panose="02020603050405020304"/>
                <a:cs typeface="Times New Roman" panose="02020603050405020304"/>
              </a:defRPr>
            </a:pPr>
            <a:r>
              <a:rPr lang="en-US" altLang="zh-CN" sz="1350" b="0" i="0">
                <a:solidFill>
                  <a:srgbClr val="E7D4C3"/>
                </a:solidFill>
                <a:latin typeface="Times New Roman" panose="02020603050405020304"/>
                <a:ea typeface="Times New Roman" panose="02020603050405020304"/>
                <a:cs typeface="Times New Roman" panose="02020603050405020304"/>
              </a:rPr>
              <a:t>How do accountability interventions in AI-supported high-risk strategic decision systems reshape felt accountability, decisional ownership, responsibility attribution, and escalatory choice?</a:t>
            </a:r>
          </a:p>
        </p:txBody>
      </p:sp>
      <p:sp>
        <p:nvSpPr>
          <p:cNvPr id="8" name="圆角矩形 7"/>
          <p:cNvSpPr>
            <a:spLocks noGrp="1"/>
          </p:cNvSpPr>
          <p:nvPr/>
        </p:nvSpPr>
        <p:spPr>
          <a:xfrm>
            <a:off x="4229100" y="1619250"/>
            <a:ext cx="7010400" cy="742950"/>
          </a:xfrm>
          <a:prstGeom prst="roundRect">
            <a:avLst>
              <a:gd name="adj" fmla="val 15385"/>
            </a:avLst>
          </a:prstGeom>
          <a:solidFill>
            <a:srgbClr val="F9F6F0"/>
          </a:solidFill>
          <a:ln w="9525">
            <a:solidFill>
              <a:srgbClr val="B7ADA0"/>
            </a:solidFill>
            <a:prstDash val="solid"/>
          </a:ln>
        </p:spPr>
      </p:sp>
      <p:sp>
        <p:nvSpPr>
          <p:cNvPr id="9" name="矩形 8"/>
          <p:cNvSpPr>
            <a:spLocks noGrp="1"/>
          </p:cNvSpPr>
          <p:nvPr/>
        </p:nvSpPr>
        <p:spPr>
          <a:xfrm>
            <a:off x="4495800" y="179070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RQ1. Does AI decision support itself change high-risk strategic choice?</a:t>
            </a:r>
          </a:p>
        </p:txBody>
      </p:sp>
      <p:sp>
        <p:nvSpPr>
          <p:cNvPr id="10" name="圆角矩形 9"/>
          <p:cNvSpPr>
            <a:spLocks noGrp="1"/>
          </p:cNvSpPr>
          <p:nvPr/>
        </p:nvSpPr>
        <p:spPr>
          <a:xfrm>
            <a:off x="4229100" y="2552700"/>
            <a:ext cx="7010400" cy="742950"/>
          </a:xfrm>
          <a:prstGeom prst="roundRect">
            <a:avLst>
              <a:gd name="adj" fmla="val 15385"/>
            </a:avLst>
          </a:prstGeom>
          <a:solidFill>
            <a:srgbClr val="EFE7DD"/>
          </a:solidFill>
          <a:ln w="9525">
            <a:solidFill>
              <a:srgbClr val="B7ADA0"/>
            </a:solidFill>
            <a:prstDash val="solid"/>
          </a:ln>
        </p:spPr>
        <p:txBody>
          <a:bodyPr/>
          <a:lstStyle/>
          <a:p>
            <a:endParaRPr lang="zh-CN" altLang="en-US"/>
          </a:p>
        </p:txBody>
      </p:sp>
      <p:sp>
        <p:nvSpPr>
          <p:cNvPr id="11" name="矩形 10"/>
          <p:cNvSpPr>
            <a:spLocks noGrp="1"/>
          </p:cNvSpPr>
          <p:nvPr/>
        </p:nvSpPr>
        <p:spPr>
          <a:xfrm>
            <a:off x="4495800" y="272415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RQ2.</a:t>
            </a:r>
            <a:r>
              <a:rPr lang="en-US" altLang="zh-CN" sz="1275" b="0" i="0">
                <a:solidFill>
                  <a:srgbClr val="231D17"/>
                </a:solidFill>
                <a:latin typeface="Times New Roman" panose="02020603050405020304"/>
                <a:ea typeface="Times New Roman" panose="02020603050405020304"/>
                <a:cs typeface="Times New Roman" panose="02020603050405020304"/>
              </a:rPr>
              <a:t>Does process confirmation increase ownership and felt accountability?</a:t>
            </a:r>
          </a:p>
        </p:txBody>
      </p:sp>
      <p:sp>
        <p:nvSpPr>
          <p:cNvPr id="12" name="圆角矩形 11"/>
          <p:cNvSpPr>
            <a:spLocks noGrp="1"/>
          </p:cNvSpPr>
          <p:nvPr/>
        </p:nvSpPr>
        <p:spPr>
          <a:xfrm>
            <a:off x="4229100" y="3486150"/>
            <a:ext cx="7010400" cy="742950"/>
          </a:xfrm>
          <a:prstGeom prst="roundRect">
            <a:avLst>
              <a:gd name="adj" fmla="val 15385"/>
            </a:avLst>
          </a:prstGeom>
          <a:solidFill>
            <a:srgbClr val="F9F6F0"/>
          </a:solidFill>
          <a:ln w="9525">
            <a:solidFill>
              <a:srgbClr val="B7ADA0"/>
            </a:solidFill>
            <a:prstDash val="solid"/>
          </a:ln>
        </p:spPr>
      </p:sp>
      <p:sp>
        <p:nvSpPr>
          <p:cNvPr id="13" name="矩形 12"/>
          <p:cNvSpPr>
            <a:spLocks noGrp="1"/>
          </p:cNvSpPr>
          <p:nvPr/>
        </p:nvSpPr>
        <p:spPr>
          <a:xfrm>
            <a:off x="4495800" y="365760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RQ3. Can external accountability requirements increase felt accountability and decisional ownership?</a:t>
            </a:r>
          </a:p>
        </p:txBody>
      </p:sp>
      <p:sp>
        <p:nvSpPr>
          <p:cNvPr id="14" name="圆角矩形 13"/>
          <p:cNvSpPr>
            <a:spLocks noGrp="1"/>
          </p:cNvSpPr>
          <p:nvPr/>
        </p:nvSpPr>
        <p:spPr>
          <a:xfrm>
            <a:off x="4229100" y="4419600"/>
            <a:ext cx="7010400" cy="742950"/>
          </a:xfrm>
          <a:prstGeom prst="roundRect">
            <a:avLst>
              <a:gd name="adj" fmla="val 15385"/>
            </a:avLst>
          </a:prstGeom>
          <a:solidFill>
            <a:srgbClr val="EFE7DD"/>
          </a:solidFill>
          <a:ln w="9525">
            <a:solidFill>
              <a:srgbClr val="B7ADA0"/>
            </a:solidFill>
            <a:prstDash val="solid"/>
          </a:ln>
        </p:spPr>
      </p:sp>
      <p:sp>
        <p:nvSpPr>
          <p:cNvPr id="15" name="矩形 14"/>
          <p:cNvSpPr>
            <a:spLocks noGrp="1"/>
          </p:cNvSpPr>
          <p:nvPr/>
        </p:nvSpPr>
        <p:spPr>
          <a:xfrm>
            <a:off x="4495800" y="4591050"/>
            <a:ext cx="6477000" cy="419100"/>
          </a:xfrm>
          <a:prstGeom prst="rect">
            <a:avLst/>
          </a:prstGeom>
          <a:noFill/>
          <a:ln w="0">
            <a:noFill/>
            <a:prstDash val="solid"/>
          </a:ln>
        </p:spPr>
        <p:txBody>
          <a:bodyPr wrap="square" lIns="0" tIns="0" rIns="0" bIns="0" anchor="t">
            <a:normAutofit/>
          </a:bodyPr>
          <a:lstStyle/>
          <a:p>
            <a:pPr algn="l">
              <a:lnSpc>
                <a:spcPct val="105000"/>
              </a:lnSpc>
              <a:buNone/>
              <a:defRPr sz="1275" b="0" i="0">
                <a:solidFill>
                  <a:srgbClr val="231D17"/>
                </a:solidFill>
                <a:latin typeface="Times New Roman" panose="02020603050405020304"/>
                <a:ea typeface="Times New Roman" panose="02020603050405020304"/>
                <a:cs typeface="Times New Roman" panose="02020603050405020304"/>
              </a:defRPr>
            </a:pPr>
            <a:r>
              <a:rPr sz="1275" b="0" i="0">
                <a:solidFill>
                  <a:srgbClr val="231D17"/>
                </a:solidFill>
                <a:latin typeface="Times New Roman" panose="02020603050405020304"/>
                <a:ea typeface="Times New Roman" panose="02020603050405020304"/>
                <a:cs typeface="Times New Roman" panose="02020603050405020304"/>
              </a:rPr>
              <a:t>RQ4. </a:t>
            </a:r>
            <a:r>
              <a:rPr lang="en-US" altLang="zh-CN" sz="1275" b="0" i="0">
                <a:solidFill>
                  <a:srgbClr val="231D17"/>
                </a:solidFill>
                <a:latin typeface="Times New Roman" panose="02020603050405020304"/>
                <a:ea typeface="Times New Roman" panose="02020603050405020304"/>
                <a:cs typeface="Times New Roman" panose="02020603050405020304"/>
              </a:rPr>
              <a:t>Do different accountability designs lead to different patterns of escalation behavior?</a:t>
            </a:r>
          </a:p>
        </p:txBody>
      </p:sp>
      <p:sp>
        <p:nvSpPr>
          <p:cNvPr id="16" name="矩形 15"/>
          <p:cNvSpPr>
            <a:spLocks noGrp="1"/>
          </p:cNvSpPr>
          <p:nvPr/>
        </p:nvSpPr>
        <p:spPr>
          <a:xfrm>
            <a:off x="4248150" y="5543550"/>
            <a:ext cx="6667500" cy="381000"/>
          </a:xfrm>
          <a:prstGeom prst="rect">
            <a:avLst/>
          </a:prstGeom>
          <a:noFill/>
          <a:ln w="0">
            <a:noFill/>
            <a:prstDash val="solid"/>
          </a:ln>
        </p:spPr>
        <p:txBody>
          <a:bodyPr wrap="square" lIns="0" tIns="0" rIns="0" bIns="0" anchor="t">
            <a:normAutofit fontScale="73542"/>
          </a:bodyPr>
          <a:lstStyle/>
          <a:p>
            <a:pPr algn="l">
              <a:lnSpc>
                <a:spcPct val="105000"/>
              </a:lnSpc>
              <a:buNone/>
              <a:defRPr sz="1425" b="1" i="0">
                <a:solidFill>
                  <a:srgbClr val="231D17"/>
                </a:solidFill>
                <a:latin typeface="Times New Roman" panose="02020603050405020304"/>
                <a:ea typeface="Times New Roman" panose="02020603050405020304"/>
                <a:cs typeface="Times New Roman" panose="02020603050405020304"/>
              </a:defRPr>
            </a:pPr>
            <a:r>
              <a:rPr sz="1425" b="1" i="0">
                <a:solidFill>
                  <a:srgbClr val="231D17"/>
                </a:solidFill>
                <a:latin typeface="Times New Roman" panose="02020603050405020304"/>
                <a:ea typeface="Times New Roman" panose="02020603050405020304"/>
                <a:cs typeface="Times New Roman" panose="02020603050405020304"/>
              </a:rPr>
              <a:t>The question is not who gets blamed after failure. It is how responsibility design changes choices before the outcome is known.</a:t>
            </a:r>
          </a:p>
        </p:txBody>
      </p:sp>
      <p:sp>
        <p:nvSpPr>
          <p:cNvPr id="17" name="矩形 16"/>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8" name="矩形 17"/>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19" name="矩形 18"/>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6</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6F0E6"/>
        </a:solidFill>
        <a:effectLst/>
      </p:bgPr>
    </p:bg>
    <p:spTree>
      <p:nvGrpSpPr>
        <p:cNvPr id="1" name=""/>
        <p:cNvGrpSpPr/>
        <p:nvPr/>
      </p:nvGrpSpPr>
      <p:grpSpPr>
        <a:xfrm>
          <a:off x="0" y="0"/>
          <a:ext cx="0" cy="0"/>
          <a:chOff x="0" y="0"/>
          <a:chExt cx="0" cy="0"/>
        </a:xfrm>
      </p:grpSpPr>
      <p:sp>
        <p:nvSpPr>
          <p:cNvPr id="2" name="椭圆 1">
            <a:extLst>
              <a:ext uri="{FF2B5EF4-FFF2-40B4-BE49-F238E27FC236}">
                <a16:creationId xmlns:a16="http://schemas.microsoft.com/office/drawing/2014/main" id="{0B7BD0D2-4D81-8805-EA0B-C2F2B016C553}"/>
              </a:ext>
            </a:extLst>
          </p:cNvPr>
          <p:cNvSpPr/>
          <p:nvPr/>
        </p:nvSpPr>
        <p:spPr>
          <a:xfrm>
            <a:off x="9652000" y="-914400"/>
            <a:ext cx="2921000" cy="2921000"/>
          </a:xfrm>
          <a:prstGeom prst="ellipse">
            <a:avLst/>
          </a:prstGeom>
          <a:solidFill>
            <a:srgbClr val="EADFCE"/>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a:extLst>
              <a:ext uri="{FF2B5EF4-FFF2-40B4-BE49-F238E27FC236}">
                <a16:creationId xmlns:a16="http://schemas.microsoft.com/office/drawing/2014/main" id="{E1BAE7BC-11FC-F090-BBBD-1F5CE3FE1A01}"/>
              </a:ext>
            </a:extLst>
          </p:cNvPr>
          <p:cNvSpPr/>
          <p:nvPr/>
        </p:nvSpPr>
        <p:spPr>
          <a:xfrm>
            <a:off x="685800" y="546100"/>
            <a:ext cx="15240" cy="5588000"/>
          </a:xfrm>
          <a:prstGeom prst="rect">
            <a:avLst/>
          </a:prstGeom>
          <a:solidFill>
            <a:srgbClr val="D8C9B7"/>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a:extLst>
              <a:ext uri="{FF2B5EF4-FFF2-40B4-BE49-F238E27FC236}">
                <a16:creationId xmlns:a16="http://schemas.microsoft.com/office/drawing/2014/main" id="{4BD347AA-3CC5-C289-B96A-993B567005C7}"/>
              </a:ext>
            </a:extLst>
          </p:cNvPr>
          <p:cNvSpPr/>
          <p:nvPr/>
        </p:nvSpPr>
        <p:spPr>
          <a:xfrm>
            <a:off x="889000" y="609600"/>
            <a:ext cx="152400" cy="152400"/>
          </a:xfrm>
          <a:prstGeom prst="rect">
            <a:avLst/>
          </a:prstGeom>
          <a:solidFill>
            <a:srgbClr val="B65A3C"/>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a:extLst>
              <a:ext uri="{FF2B5EF4-FFF2-40B4-BE49-F238E27FC236}">
                <a16:creationId xmlns:a16="http://schemas.microsoft.com/office/drawing/2014/main" id="{75575E93-7214-8B5E-292A-BC9C5C2400F3}"/>
              </a:ext>
            </a:extLst>
          </p:cNvPr>
          <p:cNvSpPr txBox="1"/>
          <p:nvPr/>
        </p:nvSpPr>
        <p:spPr>
          <a:xfrm>
            <a:off x="1155700" y="584200"/>
            <a:ext cx="2667000" cy="369332"/>
          </a:xfrm>
          <a:prstGeom prst="rect">
            <a:avLst/>
          </a:prstGeom>
          <a:noFill/>
        </p:spPr>
        <p:txBody>
          <a:bodyPr vert="horz" wrap="square" lIns="0" tIns="0" rIns="0" bIns="0" rtlCol="0">
            <a:noAutofit/>
          </a:bodyPr>
          <a:lstStyle/>
          <a:p>
            <a:r>
              <a:rPr lang="en-US" altLang="zh-CN" sz="950" b="1">
                <a:solidFill>
                  <a:srgbClr val="B65A3C"/>
                </a:solidFill>
                <a:latin typeface="Times New Roman" panose="02020603050405020304" pitchFamily="18" charset="0"/>
              </a:rPr>
              <a:t>DESIGN</a:t>
            </a:r>
            <a:endParaRPr lang="zh-CN" altLang="en-US" sz="950" b="1">
              <a:solidFill>
                <a:srgbClr val="B65A3C"/>
              </a:solidFill>
              <a:latin typeface="Times New Roman" panose="02020603050405020304" pitchFamily="18" charset="0"/>
            </a:endParaRPr>
          </a:p>
        </p:txBody>
      </p:sp>
      <p:sp>
        <p:nvSpPr>
          <p:cNvPr id="6" name="文本框 5">
            <a:extLst>
              <a:ext uri="{FF2B5EF4-FFF2-40B4-BE49-F238E27FC236}">
                <a16:creationId xmlns:a16="http://schemas.microsoft.com/office/drawing/2014/main" id="{45358A37-9EA8-BF7D-983B-93E6A1DE19BB}"/>
              </a:ext>
            </a:extLst>
          </p:cNvPr>
          <p:cNvSpPr txBox="1"/>
          <p:nvPr/>
        </p:nvSpPr>
        <p:spPr>
          <a:xfrm>
            <a:off x="889000" y="914400"/>
            <a:ext cx="10223500" cy="369332"/>
          </a:xfrm>
          <a:prstGeom prst="rect">
            <a:avLst/>
          </a:prstGeom>
          <a:noFill/>
        </p:spPr>
        <p:txBody>
          <a:bodyPr vert="horz" wrap="square" lIns="0" tIns="0" rIns="0" bIns="0" rtlCol="0">
            <a:noAutofit/>
          </a:bodyPr>
          <a:lstStyle/>
          <a:p>
            <a:r>
              <a:rPr lang="en-US" altLang="zh-CN" sz="2600" b="1">
                <a:solidFill>
                  <a:srgbClr val="203443"/>
                </a:solidFill>
                <a:latin typeface="Times New Roman" panose="02020603050405020304" pitchFamily="18" charset="0"/>
              </a:rPr>
              <a:t>From Research Questions to Experimental Conditions</a:t>
            </a:r>
            <a:endParaRPr lang="zh-CN" altLang="en-US" sz="2600" b="1">
              <a:solidFill>
                <a:srgbClr val="203443"/>
              </a:solidFill>
              <a:latin typeface="Times New Roman" panose="02020603050405020304" pitchFamily="18" charset="0"/>
            </a:endParaRPr>
          </a:p>
        </p:txBody>
      </p:sp>
      <p:sp>
        <p:nvSpPr>
          <p:cNvPr id="7" name="文本框 6">
            <a:extLst>
              <a:ext uri="{FF2B5EF4-FFF2-40B4-BE49-F238E27FC236}">
                <a16:creationId xmlns:a16="http://schemas.microsoft.com/office/drawing/2014/main" id="{F8DC1859-8A01-64D2-6A8F-7D5C721E1F0A}"/>
              </a:ext>
            </a:extLst>
          </p:cNvPr>
          <p:cNvSpPr txBox="1"/>
          <p:nvPr/>
        </p:nvSpPr>
        <p:spPr>
          <a:xfrm>
            <a:off x="889000" y="1511300"/>
            <a:ext cx="10287000" cy="369332"/>
          </a:xfrm>
          <a:prstGeom prst="rect">
            <a:avLst/>
          </a:prstGeom>
          <a:noFill/>
        </p:spPr>
        <p:txBody>
          <a:bodyPr vert="horz" wrap="square" lIns="0" tIns="0" rIns="0" bIns="0" rtlCol="0">
            <a:noAutofit/>
          </a:bodyPr>
          <a:lstStyle/>
          <a:p>
            <a:r>
              <a:rPr lang="en-US" altLang="zh-CN" sz="1350">
                <a:solidFill>
                  <a:srgbClr val="5E6663"/>
                </a:solidFill>
                <a:latin typeface="Times New Roman" panose="02020603050405020304" pitchFamily="18" charset="0"/>
              </a:rPr>
              <a:t>The experiment holds the strategic environment and AI analysis constant, while varying the responsibility architecture around AI support.</a:t>
            </a:r>
            <a:endParaRPr lang="zh-CN" altLang="en-US" sz="1350">
              <a:solidFill>
                <a:srgbClr val="5E6663"/>
              </a:solidFill>
              <a:latin typeface="Times New Roman" panose="02020603050405020304" pitchFamily="18" charset="0"/>
            </a:endParaRPr>
          </a:p>
        </p:txBody>
      </p:sp>
      <p:sp>
        <p:nvSpPr>
          <p:cNvPr id="8" name="文本框 7">
            <a:extLst>
              <a:ext uri="{FF2B5EF4-FFF2-40B4-BE49-F238E27FC236}">
                <a16:creationId xmlns:a16="http://schemas.microsoft.com/office/drawing/2014/main" id="{E85E05DF-E068-E5B1-A94A-B3157EC792AA}"/>
              </a:ext>
            </a:extLst>
          </p:cNvPr>
          <p:cNvSpPr txBox="1"/>
          <p:nvPr/>
        </p:nvSpPr>
        <p:spPr>
          <a:xfrm>
            <a:off x="889000" y="1930400"/>
            <a:ext cx="3556000" cy="369332"/>
          </a:xfrm>
          <a:prstGeom prst="rect">
            <a:avLst/>
          </a:prstGeom>
          <a:noFill/>
        </p:spPr>
        <p:txBody>
          <a:bodyPr vert="horz" wrap="square" lIns="0" tIns="0" rIns="0" bIns="0" rtlCol="0">
            <a:noAutofit/>
          </a:bodyPr>
          <a:lstStyle/>
          <a:p>
            <a:r>
              <a:rPr lang="en-US" altLang="zh-CN" sz="1050" b="1">
                <a:solidFill>
                  <a:srgbClr val="B65A3C"/>
                </a:solidFill>
                <a:latin typeface="Times New Roman" panose="02020603050405020304" pitchFamily="18" charset="0"/>
              </a:rPr>
              <a:t>Four experimental conditions</a:t>
            </a:r>
            <a:endParaRPr lang="zh-CN" altLang="en-US" sz="1050" b="1">
              <a:solidFill>
                <a:srgbClr val="B65A3C"/>
              </a:solidFill>
              <a:latin typeface="Times New Roman" panose="02020603050405020304" pitchFamily="18" charset="0"/>
            </a:endParaRPr>
          </a:p>
        </p:txBody>
      </p:sp>
      <p:sp>
        <p:nvSpPr>
          <p:cNvPr id="9" name="矩形: 圆角 8">
            <a:extLst>
              <a:ext uri="{FF2B5EF4-FFF2-40B4-BE49-F238E27FC236}">
                <a16:creationId xmlns:a16="http://schemas.microsoft.com/office/drawing/2014/main" id="{6CC547B2-77B9-52D6-1E20-D9CA7CE83A10}"/>
              </a:ext>
            </a:extLst>
          </p:cNvPr>
          <p:cNvSpPr/>
          <p:nvPr/>
        </p:nvSpPr>
        <p:spPr>
          <a:xfrm>
            <a:off x="889000" y="2260600"/>
            <a:ext cx="2489200" cy="1625600"/>
          </a:xfrm>
          <a:prstGeom prst="roundRect">
            <a:avLst/>
          </a:prstGeom>
          <a:solidFill>
            <a:srgbClr val="FFFDF8"/>
          </a:solidFill>
          <a:ln w="9525">
            <a:solidFill>
              <a:srgbClr val="D8C9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DCEF7C18-0BCD-89CF-3581-A2C743D8DEA9}"/>
              </a:ext>
            </a:extLst>
          </p:cNvPr>
          <p:cNvSpPr/>
          <p:nvPr/>
        </p:nvSpPr>
        <p:spPr>
          <a:xfrm>
            <a:off x="889000" y="2260600"/>
            <a:ext cx="2489200" cy="63500"/>
          </a:xfrm>
          <a:prstGeom prst="rect">
            <a:avLst/>
          </a:prstGeom>
          <a:solidFill>
            <a:srgbClr val="687C6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C799BD8E-F422-1ECC-5C01-CF6257B3DD08}"/>
              </a:ext>
            </a:extLst>
          </p:cNvPr>
          <p:cNvSpPr txBox="1"/>
          <p:nvPr/>
        </p:nvSpPr>
        <p:spPr>
          <a:xfrm>
            <a:off x="1054100" y="2476500"/>
            <a:ext cx="2159000" cy="369332"/>
          </a:xfrm>
          <a:prstGeom prst="rect">
            <a:avLst/>
          </a:prstGeom>
          <a:noFill/>
        </p:spPr>
        <p:txBody>
          <a:bodyPr vert="horz" wrap="square" lIns="0" tIns="0" rIns="0" bIns="0" rtlCol="0">
            <a:noAutofit/>
          </a:bodyPr>
          <a:lstStyle/>
          <a:p>
            <a:r>
              <a:rPr lang="en-US" altLang="zh-CN" sz="1250" b="1">
                <a:solidFill>
                  <a:srgbClr val="687C63"/>
                </a:solidFill>
                <a:latin typeface="Times New Roman" panose="02020603050405020304" pitchFamily="18" charset="0"/>
              </a:rPr>
              <a:t>1. Human-only</a:t>
            </a:r>
            <a:endParaRPr lang="zh-CN" altLang="en-US" sz="1250" b="1">
              <a:solidFill>
                <a:srgbClr val="687C63"/>
              </a:solidFill>
              <a:latin typeface="Times New Roman" panose="02020603050405020304" pitchFamily="18" charset="0"/>
            </a:endParaRPr>
          </a:p>
        </p:txBody>
      </p:sp>
      <p:sp>
        <p:nvSpPr>
          <p:cNvPr id="12" name="文本框 11">
            <a:extLst>
              <a:ext uri="{FF2B5EF4-FFF2-40B4-BE49-F238E27FC236}">
                <a16:creationId xmlns:a16="http://schemas.microsoft.com/office/drawing/2014/main" id="{86C28FDA-EA26-9491-E4FC-A6760B64EBA0}"/>
              </a:ext>
            </a:extLst>
          </p:cNvPr>
          <p:cNvSpPr txBox="1"/>
          <p:nvPr/>
        </p:nvSpPr>
        <p:spPr>
          <a:xfrm>
            <a:off x="1054100" y="2768600"/>
            <a:ext cx="2159000" cy="369332"/>
          </a:xfrm>
          <a:prstGeom prst="rect">
            <a:avLst/>
          </a:prstGeom>
          <a:noFill/>
        </p:spPr>
        <p:txBody>
          <a:bodyPr vert="horz" wrap="square" lIns="0" tIns="0" rIns="0" bIns="0" rtlCol="0">
            <a:noAutofit/>
          </a:bodyPr>
          <a:lstStyle/>
          <a:p>
            <a:r>
              <a:rPr lang="en-US" altLang="zh-CN" sz="1450" b="1">
                <a:solidFill>
                  <a:srgbClr val="203443"/>
                </a:solidFill>
                <a:latin typeface="Times New Roman" panose="02020603050405020304" pitchFamily="18" charset="0"/>
              </a:rPr>
              <a:t>No AI support</a:t>
            </a:r>
            <a:endParaRPr lang="zh-CN" altLang="en-US" sz="1450" b="1">
              <a:solidFill>
                <a:srgbClr val="203443"/>
              </a:solidFill>
              <a:latin typeface="Times New Roman" panose="02020603050405020304" pitchFamily="18" charset="0"/>
            </a:endParaRPr>
          </a:p>
        </p:txBody>
      </p:sp>
      <p:sp>
        <p:nvSpPr>
          <p:cNvPr id="13" name="文本框 12">
            <a:extLst>
              <a:ext uri="{FF2B5EF4-FFF2-40B4-BE49-F238E27FC236}">
                <a16:creationId xmlns:a16="http://schemas.microsoft.com/office/drawing/2014/main" id="{11915124-FB5C-3C8B-1EC2-87D7C1298E71}"/>
              </a:ext>
            </a:extLst>
          </p:cNvPr>
          <p:cNvSpPr txBox="1"/>
          <p:nvPr/>
        </p:nvSpPr>
        <p:spPr>
          <a:xfrm>
            <a:off x="1054100" y="3175000"/>
            <a:ext cx="2159000" cy="369332"/>
          </a:xfrm>
          <a:prstGeom prst="rect">
            <a:avLst/>
          </a:prstGeom>
          <a:noFill/>
        </p:spPr>
        <p:txBody>
          <a:bodyPr vert="horz" wrap="square" lIns="0" tIns="0" rIns="0" bIns="0" rtlCol="0">
            <a:noAutofit/>
          </a:bodyPr>
          <a:lstStyle/>
          <a:p>
            <a:r>
              <a:rPr lang="en-US" altLang="zh-CN" sz="1170">
                <a:solidFill>
                  <a:srgbClr val="5E6663"/>
                </a:solidFill>
                <a:latin typeface="Times New Roman" panose="02020603050405020304" pitchFamily="18" charset="0"/>
              </a:rPr>
              <a:t>Participants make the high-risk choice based only on the payoff structure.</a:t>
            </a:r>
            <a:endParaRPr lang="zh-CN" altLang="en-US" sz="1170">
              <a:solidFill>
                <a:srgbClr val="5E6663"/>
              </a:solidFill>
              <a:latin typeface="Times New Roman" panose="02020603050405020304" pitchFamily="18" charset="0"/>
            </a:endParaRPr>
          </a:p>
        </p:txBody>
      </p:sp>
      <p:sp>
        <p:nvSpPr>
          <p:cNvPr id="14" name="矩形: 圆角 13">
            <a:extLst>
              <a:ext uri="{FF2B5EF4-FFF2-40B4-BE49-F238E27FC236}">
                <a16:creationId xmlns:a16="http://schemas.microsoft.com/office/drawing/2014/main" id="{EB2EA341-ECB4-2B46-3F91-012EB3401135}"/>
              </a:ext>
            </a:extLst>
          </p:cNvPr>
          <p:cNvSpPr/>
          <p:nvPr/>
        </p:nvSpPr>
        <p:spPr>
          <a:xfrm>
            <a:off x="3606800" y="2260600"/>
            <a:ext cx="2489200" cy="1625600"/>
          </a:xfrm>
          <a:prstGeom prst="roundRect">
            <a:avLst/>
          </a:prstGeom>
          <a:solidFill>
            <a:srgbClr val="F5EFE4"/>
          </a:solidFill>
          <a:ln w="9525">
            <a:solidFill>
              <a:srgbClr val="D8C9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0CDDDDBA-0F8A-3C81-908B-11D56EBDE871}"/>
              </a:ext>
            </a:extLst>
          </p:cNvPr>
          <p:cNvSpPr/>
          <p:nvPr/>
        </p:nvSpPr>
        <p:spPr>
          <a:xfrm>
            <a:off x="3606800" y="2260600"/>
            <a:ext cx="2489200" cy="63500"/>
          </a:xfrm>
          <a:prstGeom prst="rect">
            <a:avLst/>
          </a:prstGeom>
          <a:solidFill>
            <a:srgbClr val="456A78"/>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文本框 15">
            <a:extLst>
              <a:ext uri="{FF2B5EF4-FFF2-40B4-BE49-F238E27FC236}">
                <a16:creationId xmlns:a16="http://schemas.microsoft.com/office/drawing/2014/main" id="{33D594A9-D8F9-5E3D-D5DD-8B1DBE3E62D4}"/>
              </a:ext>
            </a:extLst>
          </p:cNvPr>
          <p:cNvSpPr txBox="1"/>
          <p:nvPr/>
        </p:nvSpPr>
        <p:spPr>
          <a:xfrm>
            <a:off x="3771900" y="2476500"/>
            <a:ext cx="2159000" cy="369332"/>
          </a:xfrm>
          <a:prstGeom prst="rect">
            <a:avLst/>
          </a:prstGeom>
          <a:noFill/>
        </p:spPr>
        <p:txBody>
          <a:bodyPr vert="horz" wrap="square" lIns="0" tIns="0" rIns="0" bIns="0" rtlCol="0">
            <a:noAutofit/>
          </a:bodyPr>
          <a:lstStyle/>
          <a:p>
            <a:r>
              <a:rPr lang="en-US" altLang="zh-CN" sz="1250" b="1">
                <a:solidFill>
                  <a:srgbClr val="456A78"/>
                </a:solidFill>
                <a:latin typeface="Times New Roman" panose="02020603050405020304" pitchFamily="18" charset="0"/>
              </a:rPr>
              <a:t>2. AI-baseline</a:t>
            </a:r>
            <a:endParaRPr lang="zh-CN" altLang="en-US" sz="1250" b="1">
              <a:solidFill>
                <a:srgbClr val="456A78"/>
              </a:solidFill>
              <a:latin typeface="Times New Roman" panose="02020603050405020304" pitchFamily="18" charset="0"/>
            </a:endParaRPr>
          </a:p>
        </p:txBody>
      </p:sp>
      <p:sp>
        <p:nvSpPr>
          <p:cNvPr id="17" name="文本框 16">
            <a:extLst>
              <a:ext uri="{FF2B5EF4-FFF2-40B4-BE49-F238E27FC236}">
                <a16:creationId xmlns:a16="http://schemas.microsoft.com/office/drawing/2014/main" id="{F1507C8F-4B0D-28B9-786B-C5B820F18987}"/>
              </a:ext>
            </a:extLst>
          </p:cNvPr>
          <p:cNvSpPr txBox="1"/>
          <p:nvPr/>
        </p:nvSpPr>
        <p:spPr>
          <a:xfrm>
            <a:off x="3771900" y="2768600"/>
            <a:ext cx="2159000" cy="369332"/>
          </a:xfrm>
          <a:prstGeom prst="rect">
            <a:avLst/>
          </a:prstGeom>
          <a:noFill/>
        </p:spPr>
        <p:txBody>
          <a:bodyPr vert="horz" wrap="square" lIns="0" tIns="0" rIns="0" bIns="0" rtlCol="0">
            <a:noAutofit/>
          </a:bodyPr>
          <a:lstStyle/>
          <a:p>
            <a:r>
              <a:rPr lang="en-US" altLang="zh-CN" sz="1450" b="1">
                <a:solidFill>
                  <a:srgbClr val="203443"/>
                </a:solidFill>
                <a:latin typeface="Times New Roman" panose="02020603050405020304" pitchFamily="18" charset="0"/>
              </a:rPr>
              <a:t>AI analytical support</a:t>
            </a:r>
            <a:endParaRPr lang="zh-CN" altLang="en-US" sz="1450" b="1">
              <a:solidFill>
                <a:srgbClr val="203443"/>
              </a:solidFill>
              <a:latin typeface="Times New Roman" panose="02020603050405020304" pitchFamily="18" charset="0"/>
            </a:endParaRPr>
          </a:p>
        </p:txBody>
      </p:sp>
      <p:sp>
        <p:nvSpPr>
          <p:cNvPr id="18" name="文本框 17">
            <a:extLst>
              <a:ext uri="{FF2B5EF4-FFF2-40B4-BE49-F238E27FC236}">
                <a16:creationId xmlns:a16="http://schemas.microsoft.com/office/drawing/2014/main" id="{022917A8-66FA-0F2E-8851-A8494180930B}"/>
              </a:ext>
            </a:extLst>
          </p:cNvPr>
          <p:cNvSpPr txBox="1"/>
          <p:nvPr/>
        </p:nvSpPr>
        <p:spPr>
          <a:xfrm>
            <a:off x="3771900" y="3175000"/>
            <a:ext cx="2159000" cy="369332"/>
          </a:xfrm>
          <a:prstGeom prst="rect">
            <a:avLst/>
          </a:prstGeom>
          <a:noFill/>
        </p:spPr>
        <p:txBody>
          <a:bodyPr vert="horz" wrap="square" lIns="0" tIns="0" rIns="0" bIns="0" rtlCol="0">
            <a:noAutofit/>
          </a:bodyPr>
          <a:lstStyle/>
          <a:p>
            <a:r>
              <a:rPr lang="en-US" altLang="zh-CN" sz="1170">
                <a:solidFill>
                  <a:srgbClr val="5E6663"/>
                </a:solidFill>
                <a:latin typeface="Times New Roman" panose="02020603050405020304" pitchFamily="18" charset="0"/>
              </a:rPr>
              <a:t>Participants see AI-generated analysis before choosing, with no additional accountability intervention.</a:t>
            </a:r>
            <a:endParaRPr lang="zh-CN" altLang="en-US" sz="1170">
              <a:solidFill>
                <a:srgbClr val="5E6663"/>
              </a:solidFill>
              <a:latin typeface="Times New Roman" panose="02020603050405020304" pitchFamily="18" charset="0"/>
            </a:endParaRPr>
          </a:p>
        </p:txBody>
      </p:sp>
      <p:sp>
        <p:nvSpPr>
          <p:cNvPr id="65" name="矩形: 圆角 64">
            <a:extLst>
              <a:ext uri="{FF2B5EF4-FFF2-40B4-BE49-F238E27FC236}">
                <a16:creationId xmlns:a16="http://schemas.microsoft.com/office/drawing/2014/main" id="{54C24C02-C22C-C00E-1CD1-8AEC34CEA874}"/>
              </a:ext>
            </a:extLst>
          </p:cNvPr>
          <p:cNvSpPr/>
          <p:nvPr/>
        </p:nvSpPr>
        <p:spPr>
          <a:xfrm>
            <a:off x="6324600" y="2260600"/>
            <a:ext cx="2489200" cy="1625600"/>
          </a:xfrm>
          <a:prstGeom prst="roundRect">
            <a:avLst/>
          </a:prstGeom>
          <a:solidFill>
            <a:srgbClr val="F1EEE1"/>
          </a:solidFill>
          <a:ln w="9525">
            <a:solidFill>
              <a:srgbClr val="D8C9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矩形 65">
            <a:extLst>
              <a:ext uri="{FF2B5EF4-FFF2-40B4-BE49-F238E27FC236}">
                <a16:creationId xmlns:a16="http://schemas.microsoft.com/office/drawing/2014/main" id="{19D1C206-AA25-9654-EBED-47CF6400E1BF}"/>
              </a:ext>
            </a:extLst>
          </p:cNvPr>
          <p:cNvSpPr/>
          <p:nvPr/>
        </p:nvSpPr>
        <p:spPr>
          <a:xfrm>
            <a:off x="6324600" y="2260600"/>
            <a:ext cx="2489200" cy="63500"/>
          </a:xfrm>
          <a:prstGeom prst="rect">
            <a:avLst/>
          </a:prstGeom>
          <a:solidFill>
            <a:srgbClr val="BE8C3F"/>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7" name="文本框 66">
            <a:extLst>
              <a:ext uri="{FF2B5EF4-FFF2-40B4-BE49-F238E27FC236}">
                <a16:creationId xmlns:a16="http://schemas.microsoft.com/office/drawing/2014/main" id="{9A1252D6-4A77-73C8-3D67-EB50D4F46ABC}"/>
              </a:ext>
            </a:extLst>
          </p:cNvPr>
          <p:cNvSpPr txBox="1"/>
          <p:nvPr/>
        </p:nvSpPr>
        <p:spPr>
          <a:xfrm>
            <a:off x="6489700" y="2476500"/>
            <a:ext cx="2159000" cy="369332"/>
          </a:xfrm>
          <a:prstGeom prst="rect">
            <a:avLst/>
          </a:prstGeom>
          <a:noFill/>
        </p:spPr>
        <p:txBody>
          <a:bodyPr vert="horz" wrap="square" lIns="0" tIns="0" rIns="0" bIns="0" rtlCol="0">
            <a:noAutofit/>
          </a:bodyPr>
          <a:lstStyle/>
          <a:p>
            <a:r>
              <a:rPr lang="en-US" altLang="zh-CN" sz="1250" b="1">
                <a:solidFill>
                  <a:srgbClr val="BE8C3F"/>
                </a:solidFill>
                <a:latin typeface="Times New Roman" panose="02020603050405020304" pitchFamily="18" charset="0"/>
              </a:rPr>
              <a:t>3. AI-confirm</a:t>
            </a:r>
            <a:endParaRPr lang="zh-CN" altLang="en-US" sz="1250" b="1">
              <a:solidFill>
                <a:srgbClr val="BE8C3F"/>
              </a:solidFill>
              <a:latin typeface="Times New Roman" panose="02020603050405020304" pitchFamily="18" charset="0"/>
            </a:endParaRPr>
          </a:p>
        </p:txBody>
      </p:sp>
      <p:sp>
        <p:nvSpPr>
          <p:cNvPr id="68" name="文本框 67">
            <a:extLst>
              <a:ext uri="{FF2B5EF4-FFF2-40B4-BE49-F238E27FC236}">
                <a16:creationId xmlns:a16="http://schemas.microsoft.com/office/drawing/2014/main" id="{DBC31AFB-949E-F213-1B8D-36E78471F8DB}"/>
              </a:ext>
            </a:extLst>
          </p:cNvPr>
          <p:cNvSpPr txBox="1"/>
          <p:nvPr/>
        </p:nvSpPr>
        <p:spPr>
          <a:xfrm>
            <a:off x="6489700" y="2768600"/>
            <a:ext cx="2159000" cy="369332"/>
          </a:xfrm>
          <a:prstGeom prst="rect">
            <a:avLst/>
          </a:prstGeom>
          <a:noFill/>
        </p:spPr>
        <p:txBody>
          <a:bodyPr vert="horz" wrap="square" lIns="0" tIns="0" rIns="0" bIns="0" rtlCol="0">
            <a:noAutofit/>
          </a:bodyPr>
          <a:lstStyle/>
          <a:p>
            <a:r>
              <a:rPr lang="en-US" altLang="zh-CN" sz="1450" b="1">
                <a:solidFill>
                  <a:srgbClr val="203443"/>
                </a:solidFill>
                <a:latin typeface="Times New Roman" panose="02020603050405020304" pitchFamily="18" charset="0"/>
              </a:rPr>
              <a:t>Explicit human passage</a:t>
            </a:r>
            <a:endParaRPr lang="zh-CN" altLang="en-US" sz="1450" b="1">
              <a:solidFill>
                <a:srgbClr val="203443"/>
              </a:solidFill>
              <a:latin typeface="Times New Roman" panose="02020603050405020304" pitchFamily="18" charset="0"/>
            </a:endParaRPr>
          </a:p>
        </p:txBody>
      </p:sp>
      <p:sp>
        <p:nvSpPr>
          <p:cNvPr id="69" name="文本框 68">
            <a:extLst>
              <a:ext uri="{FF2B5EF4-FFF2-40B4-BE49-F238E27FC236}">
                <a16:creationId xmlns:a16="http://schemas.microsoft.com/office/drawing/2014/main" id="{0A77BB9C-77FD-4437-2CA2-B47A43841CF8}"/>
              </a:ext>
            </a:extLst>
          </p:cNvPr>
          <p:cNvSpPr txBox="1"/>
          <p:nvPr/>
        </p:nvSpPr>
        <p:spPr>
          <a:xfrm>
            <a:off x="6489700" y="3175000"/>
            <a:ext cx="2159000" cy="369332"/>
          </a:xfrm>
          <a:prstGeom prst="rect">
            <a:avLst/>
          </a:prstGeom>
          <a:noFill/>
        </p:spPr>
        <p:txBody>
          <a:bodyPr vert="horz" wrap="square" lIns="0" tIns="0" rIns="0" bIns="0" rtlCol="0">
            <a:noAutofit/>
          </a:bodyPr>
          <a:lstStyle/>
          <a:p>
            <a:r>
              <a:rPr lang="en-US" altLang="zh-CN" sz="1170">
                <a:solidFill>
                  <a:srgbClr val="5E6663"/>
                </a:solidFill>
                <a:latin typeface="Times New Roman" panose="02020603050405020304" pitchFamily="18" charset="0"/>
              </a:rPr>
              <a:t>Participants see the same AI analysis and must confirm they have reviewed it before acting.</a:t>
            </a:r>
            <a:endParaRPr lang="zh-CN" altLang="en-US" sz="1170">
              <a:solidFill>
                <a:srgbClr val="5E6663"/>
              </a:solidFill>
              <a:latin typeface="Times New Roman" panose="02020603050405020304" pitchFamily="18" charset="0"/>
            </a:endParaRPr>
          </a:p>
        </p:txBody>
      </p:sp>
      <p:sp>
        <p:nvSpPr>
          <p:cNvPr id="70" name="矩形: 圆角 69">
            <a:extLst>
              <a:ext uri="{FF2B5EF4-FFF2-40B4-BE49-F238E27FC236}">
                <a16:creationId xmlns:a16="http://schemas.microsoft.com/office/drawing/2014/main" id="{C7035F5B-AC76-78E8-0BE6-6CBE082C085D}"/>
              </a:ext>
            </a:extLst>
          </p:cNvPr>
          <p:cNvSpPr/>
          <p:nvPr/>
        </p:nvSpPr>
        <p:spPr>
          <a:xfrm>
            <a:off x="9042400" y="2260600"/>
            <a:ext cx="2489200" cy="1625600"/>
          </a:xfrm>
          <a:prstGeom prst="roundRect">
            <a:avLst/>
          </a:prstGeom>
          <a:solidFill>
            <a:srgbClr val="F3E9E2"/>
          </a:solidFill>
          <a:ln w="9525">
            <a:solidFill>
              <a:srgbClr val="D8C9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1" name="矩形 70">
            <a:extLst>
              <a:ext uri="{FF2B5EF4-FFF2-40B4-BE49-F238E27FC236}">
                <a16:creationId xmlns:a16="http://schemas.microsoft.com/office/drawing/2014/main" id="{FF5CF5E0-8F46-B4D4-5CFD-84FCA8F2AC99}"/>
              </a:ext>
            </a:extLst>
          </p:cNvPr>
          <p:cNvSpPr/>
          <p:nvPr/>
        </p:nvSpPr>
        <p:spPr>
          <a:xfrm>
            <a:off x="9042400" y="2260600"/>
            <a:ext cx="2489200" cy="63500"/>
          </a:xfrm>
          <a:prstGeom prst="rect">
            <a:avLst/>
          </a:prstGeom>
          <a:solidFill>
            <a:srgbClr val="A85B55"/>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2" name="文本框 71">
            <a:extLst>
              <a:ext uri="{FF2B5EF4-FFF2-40B4-BE49-F238E27FC236}">
                <a16:creationId xmlns:a16="http://schemas.microsoft.com/office/drawing/2014/main" id="{DEA66BED-8E34-F2AF-AD85-689DFC221DAF}"/>
              </a:ext>
            </a:extLst>
          </p:cNvPr>
          <p:cNvSpPr txBox="1"/>
          <p:nvPr/>
        </p:nvSpPr>
        <p:spPr>
          <a:xfrm>
            <a:off x="9207500" y="2476500"/>
            <a:ext cx="2159000" cy="369332"/>
          </a:xfrm>
          <a:prstGeom prst="rect">
            <a:avLst/>
          </a:prstGeom>
          <a:noFill/>
        </p:spPr>
        <p:txBody>
          <a:bodyPr vert="horz" wrap="square" lIns="0" tIns="0" rIns="0" bIns="0" rtlCol="0">
            <a:noAutofit/>
          </a:bodyPr>
          <a:lstStyle/>
          <a:p>
            <a:r>
              <a:rPr lang="en-US" altLang="zh-CN" sz="1250" b="1">
                <a:solidFill>
                  <a:srgbClr val="A85B55"/>
                </a:solidFill>
                <a:latin typeface="Times New Roman" panose="02020603050405020304" pitchFamily="18" charset="0"/>
              </a:rPr>
              <a:t>4. AI-disclosure</a:t>
            </a:r>
            <a:endParaRPr lang="zh-CN" altLang="en-US" sz="1250" b="1">
              <a:solidFill>
                <a:srgbClr val="A85B55"/>
              </a:solidFill>
              <a:latin typeface="Times New Roman" panose="02020603050405020304" pitchFamily="18" charset="0"/>
            </a:endParaRPr>
          </a:p>
        </p:txBody>
      </p:sp>
      <p:sp>
        <p:nvSpPr>
          <p:cNvPr id="73" name="文本框 72">
            <a:extLst>
              <a:ext uri="{FF2B5EF4-FFF2-40B4-BE49-F238E27FC236}">
                <a16:creationId xmlns:a16="http://schemas.microsoft.com/office/drawing/2014/main" id="{BA817C82-95E6-DD0F-15EB-6D42E63A7B10}"/>
              </a:ext>
            </a:extLst>
          </p:cNvPr>
          <p:cNvSpPr txBox="1"/>
          <p:nvPr/>
        </p:nvSpPr>
        <p:spPr>
          <a:xfrm>
            <a:off x="9207500" y="2768600"/>
            <a:ext cx="2159000" cy="369332"/>
          </a:xfrm>
          <a:prstGeom prst="rect">
            <a:avLst/>
          </a:prstGeom>
          <a:noFill/>
        </p:spPr>
        <p:txBody>
          <a:bodyPr vert="horz" wrap="square" lIns="0" tIns="0" rIns="0" bIns="0" rtlCol="0">
            <a:noAutofit/>
          </a:bodyPr>
          <a:lstStyle/>
          <a:p>
            <a:r>
              <a:rPr lang="en-US" altLang="zh-CN" sz="1450" b="1">
                <a:solidFill>
                  <a:srgbClr val="203443"/>
                </a:solidFill>
                <a:latin typeface="Times New Roman" panose="02020603050405020304" pitchFamily="18" charset="0"/>
              </a:rPr>
              <a:t>Visible AI use</a:t>
            </a:r>
            <a:endParaRPr lang="zh-CN" altLang="en-US" sz="1450" b="1">
              <a:solidFill>
                <a:srgbClr val="203443"/>
              </a:solidFill>
              <a:latin typeface="Times New Roman" panose="02020603050405020304" pitchFamily="18" charset="0"/>
            </a:endParaRPr>
          </a:p>
        </p:txBody>
      </p:sp>
      <p:sp>
        <p:nvSpPr>
          <p:cNvPr id="74" name="文本框 73">
            <a:extLst>
              <a:ext uri="{FF2B5EF4-FFF2-40B4-BE49-F238E27FC236}">
                <a16:creationId xmlns:a16="http://schemas.microsoft.com/office/drawing/2014/main" id="{143FF6E4-38E9-B5B5-A896-599A9DC84E80}"/>
              </a:ext>
            </a:extLst>
          </p:cNvPr>
          <p:cNvSpPr txBox="1"/>
          <p:nvPr/>
        </p:nvSpPr>
        <p:spPr>
          <a:xfrm>
            <a:off x="9207500" y="3175000"/>
            <a:ext cx="2159000" cy="369332"/>
          </a:xfrm>
          <a:prstGeom prst="rect">
            <a:avLst/>
          </a:prstGeom>
          <a:noFill/>
        </p:spPr>
        <p:txBody>
          <a:bodyPr vert="horz" wrap="square" lIns="0" tIns="0" rIns="0" bIns="0" rtlCol="0">
            <a:noAutofit/>
          </a:bodyPr>
          <a:lstStyle/>
          <a:p>
            <a:r>
              <a:rPr lang="en-US" altLang="zh-CN" sz="1170">
                <a:solidFill>
                  <a:srgbClr val="5E6663"/>
                </a:solidFill>
                <a:latin typeface="Times New Roman" panose="02020603050405020304" pitchFamily="18" charset="0"/>
              </a:rPr>
              <a:t>Participants see the same AI analysis and must disclose AI use and its influence.</a:t>
            </a:r>
            <a:endParaRPr lang="zh-CN" altLang="en-US" sz="1170">
              <a:solidFill>
                <a:srgbClr val="5E6663"/>
              </a:solidFill>
              <a:latin typeface="Times New Roman" panose="02020603050405020304" pitchFamily="18" charset="0"/>
            </a:endParaRPr>
          </a:p>
        </p:txBody>
      </p:sp>
      <p:sp>
        <p:nvSpPr>
          <p:cNvPr id="75" name="文本框 74">
            <a:extLst>
              <a:ext uri="{FF2B5EF4-FFF2-40B4-BE49-F238E27FC236}">
                <a16:creationId xmlns:a16="http://schemas.microsoft.com/office/drawing/2014/main" id="{97D6B8D8-C07E-8F83-7CEF-67F40C59ED18}"/>
              </a:ext>
            </a:extLst>
          </p:cNvPr>
          <p:cNvSpPr txBox="1"/>
          <p:nvPr/>
        </p:nvSpPr>
        <p:spPr>
          <a:xfrm>
            <a:off x="889000" y="4089400"/>
            <a:ext cx="3048000" cy="369332"/>
          </a:xfrm>
          <a:prstGeom prst="rect">
            <a:avLst/>
          </a:prstGeom>
          <a:noFill/>
        </p:spPr>
        <p:txBody>
          <a:bodyPr vert="horz" wrap="square" lIns="0" tIns="0" rIns="0" bIns="0" rtlCol="0">
            <a:noAutofit/>
          </a:bodyPr>
          <a:lstStyle/>
          <a:p>
            <a:r>
              <a:rPr lang="en-US" altLang="zh-CN" sz="1050" b="1">
                <a:solidFill>
                  <a:srgbClr val="B65A3C"/>
                </a:solidFill>
                <a:latin typeface="Times New Roman" panose="02020603050405020304" pitchFamily="18" charset="0"/>
              </a:rPr>
              <a:t>Identification logic</a:t>
            </a:r>
            <a:endParaRPr lang="zh-CN" altLang="en-US" sz="1050" b="1">
              <a:solidFill>
                <a:srgbClr val="B65A3C"/>
              </a:solidFill>
              <a:latin typeface="Times New Roman" panose="02020603050405020304" pitchFamily="18" charset="0"/>
            </a:endParaRPr>
          </a:p>
        </p:txBody>
      </p:sp>
      <p:sp>
        <p:nvSpPr>
          <p:cNvPr id="76" name="矩形: 圆角 75">
            <a:extLst>
              <a:ext uri="{FF2B5EF4-FFF2-40B4-BE49-F238E27FC236}">
                <a16:creationId xmlns:a16="http://schemas.microsoft.com/office/drawing/2014/main" id="{1B49FB31-BE79-0673-A90B-25E2B8E42A3C}"/>
              </a:ext>
            </a:extLst>
          </p:cNvPr>
          <p:cNvSpPr/>
          <p:nvPr/>
        </p:nvSpPr>
        <p:spPr>
          <a:xfrm>
            <a:off x="889000" y="4343400"/>
            <a:ext cx="10414000" cy="1422400"/>
          </a:xfrm>
          <a:prstGeom prst="roundRect">
            <a:avLst/>
          </a:prstGeom>
          <a:solidFill>
            <a:srgbClr val="FFFDF8"/>
          </a:solidFill>
          <a:ln w="9525">
            <a:solidFill>
              <a:srgbClr val="D8C9B7"/>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7" name="文本框 76">
            <a:extLst>
              <a:ext uri="{FF2B5EF4-FFF2-40B4-BE49-F238E27FC236}">
                <a16:creationId xmlns:a16="http://schemas.microsoft.com/office/drawing/2014/main" id="{A444B5EB-CE02-AE26-D174-D93C1BF0051F}"/>
              </a:ext>
            </a:extLst>
          </p:cNvPr>
          <p:cNvSpPr txBox="1"/>
          <p:nvPr/>
        </p:nvSpPr>
        <p:spPr>
          <a:xfrm>
            <a:off x="1143000" y="4495800"/>
            <a:ext cx="3302000" cy="369332"/>
          </a:xfrm>
          <a:prstGeom prst="rect">
            <a:avLst/>
          </a:prstGeom>
          <a:noFill/>
        </p:spPr>
        <p:txBody>
          <a:bodyPr vert="horz" wrap="square" lIns="0" tIns="0" rIns="0" bIns="0" rtlCol="0">
            <a:noAutofit/>
          </a:bodyPr>
          <a:lstStyle/>
          <a:p>
            <a:r>
              <a:rPr lang="en-US" altLang="zh-CN" sz="1120" b="1">
                <a:solidFill>
                  <a:srgbClr val="203443"/>
                </a:solidFill>
                <a:latin typeface="Times New Roman" panose="02020603050405020304" pitchFamily="18" charset="0"/>
              </a:rPr>
              <a:t>Comparison</a:t>
            </a:r>
            <a:endParaRPr lang="zh-CN" altLang="en-US" sz="1120" b="1">
              <a:solidFill>
                <a:srgbClr val="203443"/>
              </a:solidFill>
              <a:latin typeface="Times New Roman" panose="02020603050405020304" pitchFamily="18" charset="0"/>
            </a:endParaRPr>
          </a:p>
        </p:txBody>
      </p:sp>
      <p:sp>
        <p:nvSpPr>
          <p:cNvPr id="78" name="文本框 77">
            <a:extLst>
              <a:ext uri="{FF2B5EF4-FFF2-40B4-BE49-F238E27FC236}">
                <a16:creationId xmlns:a16="http://schemas.microsoft.com/office/drawing/2014/main" id="{7495BC63-C472-A48D-AE27-0D54AEABBC98}"/>
              </a:ext>
            </a:extLst>
          </p:cNvPr>
          <p:cNvSpPr txBox="1"/>
          <p:nvPr/>
        </p:nvSpPr>
        <p:spPr>
          <a:xfrm>
            <a:off x="4673600" y="4495800"/>
            <a:ext cx="6096000" cy="369332"/>
          </a:xfrm>
          <a:prstGeom prst="rect">
            <a:avLst/>
          </a:prstGeom>
          <a:noFill/>
        </p:spPr>
        <p:txBody>
          <a:bodyPr vert="horz" wrap="square" lIns="0" tIns="0" rIns="0" bIns="0" rtlCol="0">
            <a:noAutofit/>
          </a:bodyPr>
          <a:lstStyle/>
          <a:p>
            <a:r>
              <a:rPr lang="en-US" altLang="zh-CN" sz="1120" b="1">
                <a:solidFill>
                  <a:srgbClr val="203443"/>
                </a:solidFill>
                <a:latin typeface="Times New Roman" panose="02020603050405020304" pitchFamily="18" charset="0"/>
              </a:rPr>
              <a:t>What it identifies</a:t>
            </a:r>
            <a:endParaRPr lang="zh-CN" altLang="en-US" sz="1120" b="1">
              <a:solidFill>
                <a:srgbClr val="203443"/>
              </a:solidFill>
              <a:latin typeface="Times New Roman" panose="02020603050405020304" pitchFamily="18" charset="0"/>
            </a:endParaRPr>
          </a:p>
        </p:txBody>
      </p:sp>
      <p:sp>
        <p:nvSpPr>
          <p:cNvPr id="79" name="文本框 78">
            <a:extLst>
              <a:ext uri="{FF2B5EF4-FFF2-40B4-BE49-F238E27FC236}">
                <a16:creationId xmlns:a16="http://schemas.microsoft.com/office/drawing/2014/main" id="{6B832AEA-0BC8-77E2-23C1-68BFD8C8B68A}"/>
              </a:ext>
            </a:extLst>
          </p:cNvPr>
          <p:cNvSpPr txBox="1"/>
          <p:nvPr/>
        </p:nvSpPr>
        <p:spPr>
          <a:xfrm>
            <a:off x="1143000" y="4787900"/>
            <a:ext cx="3175000" cy="369332"/>
          </a:xfrm>
          <a:prstGeom prst="rect">
            <a:avLst/>
          </a:prstGeom>
          <a:noFill/>
        </p:spPr>
        <p:txBody>
          <a:bodyPr vert="horz" wrap="square" lIns="0" tIns="0" rIns="0" bIns="0" rtlCol="0">
            <a:noAutofit/>
          </a:bodyPr>
          <a:lstStyle/>
          <a:p>
            <a:r>
              <a:rPr lang="en-US" altLang="zh-CN" sz="1060" b="1">
                <a:solidFill>
                  <a:srgbClr val="203443"/>
                </a:solidFill>
                <a:latin typeface="Times New Roman" panose="02020603050405020304" pitchFamily="18" charset="0"/>
              </a:rPr>
              <a:t>Human-only vs AI-baseline</a:t>
            </a:r>
            <a:endParaRPr lang="zh-CN" altLang="en-US" sz="1060" b="1">
              <a:solidFill>
                <a:srgbClr val="203443"/>
              </a:solidFill>
              <a:latin typeface="Times New Roman" panose="02020603050405020304" pitchFamily="18" charset="0"/>
            </a:endParaRPr>
          </a:p>
        </p:txBody>
      </p:sp>
      <p:sp>
        <p:nvSpPr>
          <p:cNvPr id="80" name="文本框 79">
            <a:extLst>
              <a:ext uri="{FF2B5EF4-FFF2-40B4-BE49-F238E27FC236}">
                <a16:creationId xmlns:a16="http://schemas.microsoft.com/office/drawing/2014/main" id="{3AC37692-0801-82C7-AB90-602DB72EB17C}"/>
              </a:ext>
            </a:extLst>
          </p:cNvPr>
          <p:cNvSpPr txBox="1"/>
          <p:nvPr/>
        </p:nvSpPr>
        <p:spPr>
          <a:xfrm>
            <a:off x="4673600" y="4787900"/>
            <a:ext cx="6350000" cy="369332"/>
          </a:xfrm>
          <a:prstGeom prst="rect">
            <a:avLst/>
          </a:prstGeom>
          <a:noFill/>
        </p:spPr>
        <p:txBody>
          <a:bodyPr vert="horz" wrap="square" lIns="0" tIns="0" rIns="0" bIns="0" rtlCol="0">
            <a:noAutofit/>
          </a:bodyPr>
          <a:lstStyle/>
          <a:p>
            <a:r>
              <a:rPr lang="en-US" altLang="zh-CN" sz="1060">
                <a:solidFill>
                  <a:srgbClr val="5E6663"/>
                </a:solidFill>
                <a:latin typeface="Times New Roman" panose="02020603050405020304" pitchFamily="18" charset="0"/>
              </a:rPr>
              <a:t>Effect of AI analytical support</a:t>
            </a:r>
            <a:endParaRPr lang="zh-CN" altLang="en-US" sz="1060">
              <a:solidFill>
                <a:srgbClr val="5E6663"/>
              </a:solidFill>
              <a:latin typeface="Times New Roman" panose="02020603050405020304" pitchFamily="18" charset="0"/>
            </a:endParaRPr>
          </a:p>
        </p:txBody>
      </p:sp>
      <p:cxnSp>
        <p:nvCxnSpPr>
          <p:cNvPr id="81" name="直接连接符 80">
            <a:extLst>
              <a:ext uri="{FF2B5EF4-FFF2-40B4-BE49-F238E27FC236}">
                <a16:creationId xmlns:a16="http://schemas.microsoft.com/office/drawing/2014/main" id="{234D3B2B-AB1A-C0C7-DD83-92B6B68FB6ED}"/>
              </a:ext>
            </a:extLst>
          </p:cNvPr>
          <p:cNvCxnSpPr/>
          <p:nvPr/>
        </p:nvCxnSpPr>
        <p:spPr>
          <a:xfrm>
            <a:off x="1117600" y="4965700"/>
            <a:ext cx="9956800" cy="0"/>
          </a:xfrm>
          <a:prstGeom prst="line">
            <a:avLst/>
          </a:prstGeom>
          <a:ln w="6350">
            <a:solidFill>
              <a:srgbClr val="E7DDCE"/>
            </a:solidFill>
          </a:ln>
        </p:spPr>
        <p:style>
          <a:lnRef idx="1">
            <a:schemeClr val="accent1"/>
          </a:lnRef>
          <a:fillRef idx="0">
            <a:schemeClr val="accent1"/>
          </a:fillRef>
          <a:effectRef idx="0">
            <a:schemeClr val="accent1"/>
          </a:effectRef>
          <a:fontRef idx="minor">
            <a:schemeClr val="tx1"/>
          </a:fontRef>
        </p:style>
      </p:cxnSp>
      <p:sp>
        <p:nvSpPr>
          <p:cNvPr id="82" name="文本框 81">
            <a:extLst>
              <a:ext uri="{FF2B5EF4-FFF2-40B4-BE49-F238E27FC236}">
                <a16:creationId xmlns:a16="http://schemas.microsoft.com/office/drawing/2014/main" id="{C71FD899-05C9-16B9-6165-F34E722B856B}"/>
              </a:ext>
            </a:extLst>
          </p:cNvPr>
          <p:cNvSpPr txBox="1"/>
          <p:nvPr/>
        </p:nvSpPr>
        <p:spPr>
          <a:xfrm>
            <a:off x="1143000" y="5016500"/>
            <a:ext cx="3175000" cy="369332"/>
          </a:xfrm>
          <a:prstGeom prst="rect">
            <a:avLst/>
          </a:prstGeom>
          <a:noFill/>
        </p:spPr>
        <p:txBody>
          <a:bodyPr vert="horz" wrap="square" lIns="0" tIns="0" rIns="0" bIns="0" rtlCol="0">
            <a:noAutofit/>
          </a:bodyPr>
          <a:lstStyle/>
          <a:p>
            <a:r>
              <a:rPr lang="en-US" altLang="zh-CN" sz="1060" b="1">
                <a:solidFill>
                  <a:srgbClr val="203443"/>
                </a:solidFill>
                <a:latin typeface="Times New Roman" panose="02020603050405020304" pitchFamily="18" charset="0"/>
              </a:rPr>
              <a:t>AI-baseline vs AI-confirm</a:t>
            </a:r>
            <a:endParaRPr lang="zh-CN" altLang="en-US" sz="1060" b="1">
              <a:solidFill>
                <a:srgbClr val="203443"/>
              </a:solidFill>
              <a:latin typeface="Times New Roman" panose="02020603050405020304" pitchFamily="18" charset="0"/>
            </a:endParaRPr>
          </a:p>
        </p:txBody>
      </p:sp>
      <p:sp>
        <p:nvSpPr>
          <p:cNvPr id="83" name="文本框 82">
            <a:extLst>
              <a:ext uri="{FF2B5EF4-FFF2-40B4-BE49-F238E27FC236}">
                <a16:creationId xmlns:a16="http://schemas.microsoft.com/office/drawing/2014/main" id="{0D20ECE2-DD35-F0E8-CE0A-8BDE481DC6DE}"/>
              </a:ext>
            </a:extLst>
          </p:cNvPr>
          <p:cNvSpPr txBox="1"/>
          <p:nvPr/>
        </p:nvSpPr>
        <p:spPr>
          <a:xfrm>
            <a:off x="4673600" y="5016500"/>
            <a:ext cx="6350000" cy="369332"/>
          </a:xfrm>
          <a:prstGeom prst="rect">
            <a:avLst/>
          </a:prstGeom>
          <a:noFill/>
        </p:spPr>
        <p:txBody>
          <a:bodyPr vert="horz" wrap="square" lIns="0" tIns="0" rIns="0" bIns="0" rtlCol="0">
            <a:noAutofit/>
          </a:bodyPr>
          <a:lstStyle/>
          <a:p>
            <a:r>
              <a:rPr lang="en-US" altLang="zh-CN" sz="1060">
                <a:solidFill>
                  <a:srgbClr val="5E6663"/>
                </a:solidFill>
                <a:latin typeface="Times New Roman" panose="02020603050405020304" pitchFamily="18" charset="0"/>
              </a:rPr>
              <a:t>Effect of explicit human passage and decisional ownership</a:t>
            </a:r>
            <a:endParaRPr lang="zh-CN" altLang="en-US" sz="1060">
              <a:solidFill>
                <a:srgbClr val="5E6663"/>
              </a:solidFill>
              <a:latin typeface="Times New Roman" panose="02020603050405020304" pitchFamily="18" charset="0"/>
            </a:endParaRPr>
          </a:p>
        </p:txBody>
      </p:sp>
      <p:cxnSp>
        <p:nvCxnSpPr>
          <p:cNvPr id="84" name="直接连接符 83">
            <a:extLst>
              <a:ext uri="{FF2B5EF4-FFF2-40B4-BE49-F238E27FC236}">
                <a16:creationId xmlns:a16="http://schemas.microsoft.com/office/drawing/2014/main" id="{DCBF982B-6FCE-FDA6-1788-FD295B2D6E29}"/>
              </a:ext>
            </a:extLst>
          </p:cNvPr>
          <p:cNvCxnSpPr/>
          <p:nvPr/>
        </p:nvCxnSpPr>
        <p:spPr>
          <a:xfrm>
            <a:off x="1117600" y="5194300"/>
            <a:ext cx="9956800" cy="0"/>
          </a:xfrm>
          <a:prstGeom prst="line">
            <a:avLst/>
          </a:prstGeom>
          <a:ln w="6350">
            <a:solidFill>
              <a:srgbClr val="E7DDCE"/>
            </a:solidFill>
          </a:ln>
        </p:spPr>
        <p:style>
          <a:lnRef idx="1">
            <a:schemeClr val="accent1"/>
          </a:lnRef>
          <a:fillRef idx="0">
            <a:schemeClr val="accent1"/>
          </a:fillRef>
          <a:effectRef idx="0">
            <a:schemeClr val="accent1"/>
          </a:effectRef>
          <a:fontRef idx="minor">
            <a:schemeClr val="tx1"/>
          </a:fontRef>
        </p:style>
      </p:cxnSp>
      <p:sp>
        <p:nvSpPr>
          <p:cNvPr id="85" name="文本框 84">
            <a:extLst>
              <a:ext uri="{FF2B5EF4-FFF2-40B4-BE49-F238E27FC236}">
                <a16:creationId xmlns:a16="http://schemas.microsoft.com/office/drawing/2014/main" id="{E402506D-3B0F-DAFF-1269-3E2ACB011EC5}"/>
              </a:ext>
            </a:extLst>
          </p:cNvPr>
          <p:cNvSpPr txBox="1"/>
          <p:nvPr/>
        </p:nvSpPr>
        <p:spPr>
          <a:xfrm>
            <a:off x="1143000" y="5245100"/>
            <a:ext cx="3175000" cy="369332"/>
          </a:xfrm>
          <a:prstGeom prst="rect">
            <a:avLst/>
          </a:prstGeom>
          <a:noFill/>
        </p:spPr>
        <p:txBody>
          <a:bodyPr vert="horz" wrap="square" lIns="0" tIns="0" rIns="0" bIns="0" rtlCol="0">
            <a:noAutofit/>
          </a:bodyPr>
          <a:lstStyle/>
          <a:p>
            <a:r>
              <a:rPr lang="en-US" altLang="zh-CN" sz="1060" b="1">
                <a:solidFill>
                  <a:srgbClr val="203443"/>
                </a:solidFill>
                <a:latin typeface="Times New Roman" panose="02020603050405020304" pitchFamily="18" charset="0"/>
              </a:rPr>
              <a:t>AI-baseline vs AI-disclosure</a:t>
            </a:r>
            <a:endParaRPr lang="zh-CN" altLang="en-US" sz="1060" b="1">
              <a:solidFill>
                <a:srgbClr val="203443"/>
              </a:solidFill>
              <a:latin typeface="Times New Roman" panose="02020603050405020304" pitchFamily="18" charset="0"/>
            </a:endParaRPr>
          </a:p>
        </p:txBody>
      </p:sp>
      <p:sp>
        <p:nvSpPr>
          <p:cNvPr id="86" name="文本框 85">
            <a:extLst>
              <a:ext uri="{FF2B5EF4-FFF2-40B4-BE49-F238E27FC236}">
                <a16:creationId xmlns:a16="http://schemas.microsoft.com/office/drawing/2014/main" id="{ECDB52D3-7E5C-CA3F-6D63-CB8909211938}"/>
              </a:ext>
            </a:extLst>
          </p:cNvPr>
          <p:cNvSpPr txBox="1"/>
          <p:nvPr/>
        </p:nvSpPr>
        <p:spPr>
          <a:xfrm>
            <a:off x="4673600" y="5245100"/>
            <a:ext cx="6350000" cy="369332"/>
          </a:xfrm>
          <a:prstGeom prst="rect">
            <a:avLst/>
          </a:prstGeom>
          <a:noFill/>
        </p:spPr>
        <p:txBody>
          <a:bodyPr vert="horz" wrap="square" lIns="0" tIns="0" rIns="0" bIns="0" rtlCol="0">
            <a:noAutofit/>
          </a:bodyPr>
          <a:lstStyle/>
          <a:p>
            <a:r>
              <a:rPr lang="en-US" altLang="zh-CN" sz="1060">
                <a:solidFill>
                  <a:srgbClr val="5E6663"/>
                </a:solidFill>
                <a:latin typeface="Times New Roman" panose="02020603050405020304" pitchFamily="18" charset="0"/>
              </a:rPr>
              <a:t>Effect of AI-use visibility and traceability</a:t>
            </a:r>
            <a:endParaRPr lang="zh-CN" altLang="en-US" sz="1060">
              <a:solidFill>
                <a:srgbClr val="5E6663"/>
              </a:solidFill>
              <a:latin typeface="Times New Roman" panose="02020603050405020304" pitchFamily="18" charset="0"/>
            </a:endParaRPr>
          </a:p>
        </p:txBody>
      </p:sp>
      <p:cxnSp>
        <p:nvCxnSpPr>
          <p:cNvPr id="87" name="直接连接符 86">
            <a:extLst>
              <a:ext uri="{FF2B5EF4-FFF2-40B4-BE49-F238E27FC236}">
                <a16:creationId xmlns:a16="http://schemas.microsoft.com/office/drawing/2014/main" id="{971F2E35-18E9-C427-DDBB-6AF6381B085F}"/>
              </a:ext>
            </a:extLst>
          </p:cNvPr>
          <p:cNvCxnSpPr/>
          <p:nvPr/>
        </p:nvCxnSpPr>
        <p:spPr>
          <a:xfrm>
            <a:off x="1117600" y="5422900"/>
            <a:ext cx="9956800" cy="0"/>
          </a:xfrm>
          <a:prstGeom prst="line">
            <a:avLst/>
          </a:prstGeom>
          <a:ln w="6350">
            <a:solidFill>
              <a:srgbClr val="E7DDCE"/>
            </a:solidFill>
          </a:ln>
        </p:spPr>
        <p:style>
          <a:lnRef idx="1">
            <a:schemeClr val="accent1"/>
          </a:lnRef>
          <a:fillRef idx="0">
            <a:schemeClr val="accent1"/>
          </a:fillRef>
          <a:effectRef idx="0">
            <a:schemeClr val="accent1"/>
          </a:effectRef>
          <a:fontRef idx="minor">
            <a:schemeClr val="tx1"/>
          </a:fontRef>
        </p:style>
      </p:cxnSp>
      <p:sp>
        <p:nvSpPr>
          <p:cNvPr id="88" name="文本框 87">
            <a:extLst>
              <a:ext uri="{FF2B5EF4-FFF2-40B4-BE49-F238E27FC236}">
                <a16:creationId xmlns:a16="http://schemas.microsoft.com/office/drawing/2014/main" id="{D8D1E47A-B5FD-E654-739B-225E0E1119C8}"/>
              </a:ext>
            </a:extLst>
          </p:cNvPr>
          <p:cNvSpPr txBox="1"/>
          <p:nvPr/>
        </p:nvSpPr>
        <p:spPr>
          <a:xfrm>
            <a:off x="1143000" y="5473700"/>
            <a:ext cx="3175000" cy="369332"/>
          </a:xfrm>
          <a:prstGeom prst="rect">
            <a:avLst/>
          </a:prstGeom>
          <a:noFill/>
        </p:spPr>
        <p:txBody>
          <a:bodyPr vert="horz" wrap="square" lIns="0" tIns="0" rIns="0" bIns="0" rtlCol="0">
            <a:noAutofit/>
          </a:bodyPr>
          <a:lstStyle/>
          <a:p>
            <a:r>
              <a:rPr lang="en-US" altLang="zh-CN" sz="1060" b="1">
                <a:solidFill>
                  <a:srgbClr val="203443"/>
                </a:solidFill>
                <a:latin typeface="Times New Roman" panose="02020603050405020304" pitchFamily="18" charset="0"/>
              </a:rPr>
              <a:t>AI-confirm vs AI-disclosure</a:t>
            </a:r>
            <a:endParaRPr lang="zh-CN" altLang="en-US" sz="1060" b="1">
              <a:solidFill>
                <a:srgbClr val="203443"/>
              </a:solidFill>
              <a:latin typeface="Times New Roman" panose="02020603050405020304" pitchFamily="18" charset="0"/>
            </a:endParaRPr>
          </a:p>
        </p:txBody>
      </p:sp>
      <p:sp>
        <p:nvSpPr>
          <p:cNvPr id="89" name="文本框 88">
            <a:extLst>
              <a:ext uri="{FF2B5EF4-FFF2-40B4-BE49-F238E27FC236}">
                <a16:creationId xmlns:a16="http://schemas.microsoft.com/office/drawing/2014/main" id="{F13E5D76-7B36-CD54-D916-9CFA53CDD521}"/>
              </a:ext>
            </a:extLst>
          </p:cNvPr>
          <p:cNvSpPr txBox="1"/>
          <p:nvPr/>
        </p:nvSpPr>
        <p:spPr>
          <a:xfrm>
            <a:off x="4673600" y="5473700"/>
            <a:ext cx="6350000" cy="369332"/>
          </a:xfrm>
          <a:prstGeom prst="rect">
            <a:avLst/>
          </a:prstGeom>
          <a:noFill/>
        </p:spPr>
        <p:txBody>
          <a:bodyPr vert="horz" wrap="square" lIns="0" tIns="0" rIns="0" bIns="0" rtlCol="0">
            <a:noAutofit/>
          </a:bodyPr>
          <a:lstStyle/>
          <a:p>
            <a:r>
              <a:rPr lang="en-US" altLang="zh-CN" sz="1060">
                <a:solidFill>
                  <a:srgbClr val="5E6663"/>
                </a:solidFill>
                <a:latin typeface="Times New Roman" panose="02020603050405020304" pitchFamily="18" charset="0"/>
              </a:rPr>
              <a:t>Different accountability designs and responsibility mechanisms</a:t>
            </a:r>
            <a:endParaRPr lang="zh-CN" altLang="en-US" sz="1060">
              <a:solidFill>
                <a:srgbClr val="5E6663"/>
              </a:solidFill>
              <a:latin typeface="Times New Roman" panose="02020603050405020304" pitchFamily="18" charset="0"/>
            </a:endParaRPr>
          </a:p>
        </p:txBody>
      </p:sp>
      <p:sp>
        <p:nvSpPr>
          <p:cNvPr id="90" name="矩形: 圆角 89">
            <a:extLst>
              <a:ext uri="{FF2B5EF4-FFF2-40B4-BE49-F238E27FC236}">
                <a16:creationId xmlns:a16="http://schemas.microsoft.com/office/drawing/2014/main" id="{6B9D3A40-A820-2E11-5488-2F6773D912D0}"/>
              </a:ext>
            </a:extLst>
          </p:cNvPr>
          <p:cNvSpPr/>
          <p:nvPr/>
        </p:nvSpPr>
        <p:spPr>
          <a:xfrm>
            <a:off x="1676400" y="5918200"/>
            <a:ext cx="8839200" cy="495300"/>
          </a:xfrm>
          <a:prstGeom prst="roundRect">
            <a:avLst/>
          </a:prstGeom>
          <a:solidFill>
            <a:srgbClr val="203443"/>
          </a:solidFill>
          <a:ln w="19050">
            <a:noFill/>
            <a:prstDash val="solid"/>
          </a:ln>
          <a:effectLst/>
          <a:extLst>
            <a:ext uri="{91240B29-F687-4F45-9708-019B960494DF}">
              <a14:hiddenLine xmlns:a14="http://schemas.microsoft.com/office/drawing/2010/main" w="19050">
                <a:solidFill>
                  <a:schemeClr val="accent1">
                    <a:shade val="15000"/>
                  </a:schemeClr>
                </a:solidFill>
                <a:prstDash val="solid"/>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1" name="文本框 90">
            <a:extLst>
              <a:ext uri="{FF2B5EF4-FFF2-40B4-BE49-F238E27FC236}">
                <a16:creationId xmlns:a16="http://schemas.microsoft.com/office/drawing/2014/main" id="{5C833E5C-30D2-4E2A-4ABF-316D65C2A55A}"/>
              </a:ext>
            </a:extLst>
          </p:cNvPr>
          <p:cNvSpPr txBox="1"/>
          <p:nvPr/>
        </p:nvSpPr>
        <p:spPr>
          <a:xfrm>
            <a:off x="2032000" y="6057900"/>
            <a:ext cx="8128000" cy="369332"/>
          </a:xfrm>
          <a:prstGeom prst="rect">
            <a:avLst/>
          </a:prstGeom>
          <a:noFill/>
        </p:spPr>
        <p:txBody>
          <a:bodyPr vert="horz" wrap="square" lIns="0" tIns="0" rIns="0" bIns="0" rtlCol="0">
            <a:noAutofit/>
          </a:bodyPr>
          <a:lstStyle/>
          <a:p>
            <a:pPr algn="ctr"/>
            <a:r>
              <a:rPr lang="en-US" altLang="zh-CN" sz="1550" b="1">
                <a:solidFill>
                  <a:srgbClr val="FFFFFF"/>
                </a:solidFill>
                <a:latin typeface="Times New Roman" panose="02020603050405020304" pitchFamily="18" charset="0"/>
              </a:rPr>
              <a:t>Same game. Same AI analysis. Different responsibility architecture.</a:t>
            </a:r>
            <a:endParaRPr lang="zh-CN" altLang="en-US" sz="1550" b="1">
              <a:solidFill>
                <a:srgbClr val="FFFFFF"/>
              </a:solidFill>
              <a:latin typeface="Times New Roman" panose="02020603050405020304" pitchFamily="18" charset="0"/>
            </a:endParaRPr>
          </a:p>
        </p:txBody>
      </p:sp>
      <p:sp>
        <p:nvSpPr>
          <p:cNvPr id="92" name="文本框 91">
            <a:extLst>
              <a:ext uri="{FF2B5EF4-FFF2-40B4-BE49-F238E27FC236}">
                <a16:creationId xmlns:a16="http://schemas.microsoft.com/office/drawing/2014/main" id="{63CE87BD-2137-D191-8F69-20726C23DFDC}"/>
              </a:ext>
            </a:extLst>
          </p:cNvPr>
          <p:cNvSpPr txBox="1"/>
          <p:nvPr/>
        </p:nvSpPr>
        <p:spPr>
          <a:xfrm>
            <a:off x="685800" y="6540500"/>
            <a:ext cx="1143000" cy="369332"/>
          </a:xfrm>
          <a:prstGeom prst="rect">
            <a:avLst/>
          </a:prstGeom>
          <a:noFill/>
        </p:spPr>
        <p:txBody>
          <a:bodyPr vert="horz" wrap="square" lIns="0" tIns="0" rIns="0" bIns="0" rtlCol="0">
            <a:noAutofit/>
          </a:bodyPr>
          <a:lstStyle/>
          <a:p>
            <a:r>
              <a:rPr lang="en-US" altLang="zh-CN" sz="750" b="1">
                <a:solidFill>
                  <a:srgbClr val="203443"/>
                </a:solidFill>
                <a:latin typeface="Times New Roman" panose="02020603050405020304" pitchFamily="18" charset="0"/>
              </a:rPr>
              <a:t>PAPER 3</a:t>
            </a:r>
            <a:endParaRPr lang="zh-CN" altLang="en-US" sz="750" b="1">
              <a:solidFill>
                <a:srgbClr val="203443"/>
              </a:solidFill>
              <a:latin typeface="Times New Roman" panose="02020603050405020304" pitchFamily="18" charset="0"/>
            </a:endParaRPr>
          </a:p>
        </p:txBody>
      </p:sp>
      <p:sp>
        <p:nvSpPr>
          <p:cNvPr id="93" name="文本框 92">
            <a:extLst>
              <a:ext uri="{FF2B5EF4-FFF2-40B4-BE49-F238E27FC236}">
                <a16:creationId xmlns:a16="http://schemas.microsoft.com/office/drawing/2014/main" id="{C6383E66-1594-A315-776B-B409690AEB15}"/>
              </a:ext>
            </a:extLst>
          </p:cNvPr>
          <p:cNvSpPr txBox="1"/>
          <p:nvPr/>
        </p:nvSpPr>
        <p:spPr>
          <a:xfrm>
            <a:off x="10972800" y="6540500"/>
            <a:ext cx="228600" cy="369332"/>
          </a:xfrm>
          <a:prstGeom prst="rect">
            <a:avLst/>
          </a:prstGeom>
          <a:noFill/>
        </p:spPr>
        <p:txBody>
          <a:bodyPr vert="horz" wrap="square" lIns="0" tIns="0" rIns="0" bIns="0" rtlCol="0">
            <a:noAutofit/>
          </a:bodyPr>
          <a:lstStyle/>
          <a:p>
            <a:pPr algn="ctr"/>
            <a:r>
              <a:rPr lang="en-US" altLang="zh-CN" sz="750">
                <a:solidFill>
                  <a:srgbClr val="203443"/>
                </a:solidFill>
                <a:latin typeface="Times New Roman" panose="02020603050405020304" pitchFamily="18" charset="0"/>
              </a:rPr>
              <a:t>38</a:t>
            </a:r>
            <a:endParaRPr lang="zh-CN" altLang="en-US" sz="750">
              <a:solidFill>
                <a:srgbClr val="203443"/>
              </a:solidFill>
              <a:latin typeface="Times New Roman" panose="02020603050405020304" pitchFamily="18" charset="0"/>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 name="矩形 50"/>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EXPERIMENTAL PROTOTYPE</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Why a repeated Hawk-Dove </a:t>
            </a:r>
            <a:r>
              <a:rPr lang="en-US" sz="2550" b="1" i="0">
                <a:solidFill>
                  <a:srgbClr val="231D17"/>
                </a:solidFill>
                <a:latin typeface="Times New Roman" panose="02020603050405020304"/>
                <a:ea typeface="Times New Roman" panose="02020603050405020304"/>
                <a:cs typeface="Times New Roman" panose="02020603050405020304"/>
              </a:rPr>
              <a:t>game </a:t>
            </a:r>
            <a:r>
              <a:rPr sz="2550" b="1" i="0">
                <a:solidFill>
                  <a:srgbClr val="231D17"/>
                </a:solidFill>
                <a:latin typeface="Times New Roman" panose="02020603050405020304"/>
                <a:ea typeface="Times New Roman" panose="02020603050405020304"/>
                <a:cs typeface="Times New Roman" panose="02020603050405020304"/>
              </a:rPr>
              <a:t>is the right prototype</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nvSpPr>
        <p:spPr>
          <a:xfrm>
            <a:off x="838200" y="1581150"/>
            <a:ext cx="3543300" cy="3924300"/>
          </a:xfrm>
          <a:prstGeom prst="roundRect">
            <a:avLst>
              <a:gd name="adj" fmla="val 3226"/>
            </a:avLst>
          </a:prstGeom>
          <a:solidFill>
            <a:srgbClr val="F9F6F0"/>
          </a:solidFill>
          <a:ln w="9525">
            <a:solidFill>
              <a:srgbClr val="B7ADA0"/>
            </a:solidFill>
            <a:prstDash val="solid"/>
          </a:ln>
        </p:spPr>
      </p:sp>
      <p:sp>
        <p:nvSpPr>
          <p:cNvPr id="6" name="矩形 5"/>
          <p:cNvSpPr>
            <a:spLocks noGrp="1"/>
          </p:cNvSpPr>
          <p:nvPr/>
        </p:nvSpPr>
        <p:spPr>
          <a:xfrm>
            <a:off x="1085850" y="1828800"/>
            <a:ext cx="2286000" cy="228600"/>
          </a:xfrm>
          <a:prstGeom prst="rect">
            <a:avLst/>
          </a:prstGeom>
          <a:noFill/>
          <a:ln w="0">
            <a:noFill/>
            <a:prstDash val="solid"/>
          </a:ln>
        </p:spPr>
        <p:txBody>
          <a:bodyPr/>
          <a:lstStyle/>
          <a:p>
            <a:pPr>
              <a:buNone/>
              <a:defRPr sz="1800" b="1">
                <a:solidFill>
                  <a:srgbClr val="23364A"/>
                </a:solidFill>
              </a:defRPr>
            </a:pPr>
            <a:r>
              <a:rPr sz="1800" b="1">
                <a:solidFill>
                  <a:srgbClr val="23364A"/>
                </a:solidFill>
              </a:rPr>
              <a:t>Why this prototype</a:t>
            </a:r>
          </a:p>
        </p:txBody>
      </p:sp>
      <p:sp>
        <p:nvSpPr>
          <p:cNvPr id="7" name="矩形 6"/>
          <p:cNvSpPr>
            <a:spLocks noGrp="1"/>
          </p:cNvSpPr>
          <p:nvPr/>
        </p:nvSpPr>
        <p:spPr>
          <a:xfrm>
            <a:off x="1085850" y="2247900"/>
            <a:ext cx="2933700" cy="1085850"/>
          </a:xfrm>
          <a:prstGeom prst="rect">
            <a:avLst/>
          </a:prstGeom>
          <a:noFill/>
          <a:ln w="0">
            <a:noFill/>
            <a:prstDash val="solid"/>
          </a:ln>
        </p:spPr>
        <p:txBody>
          <a:bodyPr/>
          <a:lstStyle/>
          <a:p>
            <a:pPr>
              <a:buNone/>
              <a:defRPr sz="1350">
                <a:solidFill>
                  <a:srgbClr val="1C2430"/>
                </a:solidFill>
              </a:defRPr>
            </a:pPr>
            <a:r>
              <a:rPr sz="1350">
                <a:solidFill>
                  <a:srgbClr val="1C2430"/>
                </a:solidFill>
              </a:rPr>
              <a:t>• Escalation can deliver a unilateral gain.</a:t>
            </a:r>
          </a:p>
          <a:p>
            <a:pPr>
              <a:buNone/>
              <a:defRPr sz="1350">
                <a:solidFill>
                  <a:srgbClr val="1C2430"/>
                </a:solidFill>
              </a:defRPr>
            </a:pPr>
            <a:r>
              <a:rPr sz="1350">
                <a:solidFill>
                  <a:srgbClr val="1C2430"/>
                </a:solidFill>
              </a:rPr>
              <a:t>• Mutual escalation generates shared loss.</a:t>
            </a:r>
          </a:p>
          <a:p>
            <a:pPr>
              <a:buNone/>
              <a:defRPr sz="1350">
                <a:solidFill>
                  <a:srgbClr val="1C2430"/>
                </a:solidFill>
              </a:defRPr>
            </a:pPr>
            <a:r>
              <a:rPr sz="1350">
                <a:solidFill>
                  <a:srgbClr val="1C2430"/>
                </a:solidFill>
              </a:rPr>
              <a:t>• The choice is both risky and consequential for another party.</a:t>
            </a:r>
          </a:p>
          <a:p>
            <a:pPr>
              <a:buNone/>
              <a:defRPr sz="1350">
                <a:solidFill>
                  <a:srgbClr val="1C2430"/>
                </a:solidFill>
              </a:defRPr>
            </a:pPr>
            <a:r>
              <a:rPr sz="1350">
                <a:solidFill>
                  <a:srgbClr val="1C2430"/>
                </a:solidFill>
              </a:rPr>
              <a:t>• That makes responsibility structure behaviorally meaningful.</a:t>
            </a:r>
          </a:p>
        </p:txBody>
      </p:sp>
      <p:sp>
        <p:nvSpPr>
          <p:cNvPr id="8" name="矩形 7"/>
          <p:cNvSpPr>
            <a:spLocks noGrp="1"/>
          </p:cNvSpPr>
          <p:nvPr/>
        </p:nvSpPr>
        <p:spPr>
          <a:xfrm>
            <a:off x="1085850" y="4095750"/>
            <a:ext cx="2000250" cy="190500"/>
          </a:xfrm>
          <a:prstGeom prst="rect">
            <a:avLst/>
          </a:prstGeom>
          <a:noFill/>
          <a:ln w="0">
            <a:noFill/>
            <a:prstDash val="solid"/>
          </a:ln>
        </p:spPr>
        <p:txBody>
          <a:bodyPr/>
          <a:lstStyle/>
          <a:p>
            <a:pPr>
              <a:buNone/>
              <a:defRPr sz="1200" i="1">
                <a:solidFill>
                  <a:srgbClr val="5F6875"/>
                </a:solidFill>
              </a:defRPr>
            </a:pPr>
            <a:r>
              <a:rPr sz="1200" i="1">
                <a:solidFill>
                  <a:srgbClr val="5F6875"/>
                </a:solidFill>
              </a:rPr>
              <a:t>Illustrative payoff logic</a:t>
            </a:r>
          </a:p>
        </p:txBody>
      </p:sp>
      <p:sp>
        <p:nvSpPr>
          <p:cNvPr id="9" name="圆角矩形 8"/>
          <p:cNvSpPr>
            <a:spLocks noGrp="1"/>
          </p:cNvSpPr>
          <p:nvPr/>
        </p:nvSpPr>
        <p:spPr>
          <a:xfrm>
            <a:off x="2000250" y="4381500"/>
            <a:ext cx="838200" cy="400050"/>
          </a:xfrm>
          <a:prstGeom prst="roundRect">
            <a:avLst>
              <a:gd name="adj" fmla="val 4762"/>
            </a:avLst>
          </a:prstGeom>
          <a:solidFill>
            <a:srgbClr val="23364A"/>
          </a:solidFill>
          <a:ln w="0">
            <a:solidFill>
              <a:srgbClr val="23364A"/>
            </a:solidFill>
            <a:prstDash val="solid"/>
          </a:ln>
        </p:spPr>
      </p:sp>
      <p:sp>
        <p:nvSpPr>
          <p:cNvPr id="10" name="圆角矩形 9"/>
          <p:cNvSpPr>
            <a:spLocks noGrp="1"/>
          </p:cNvSpPr>
          <p:nvPr/>
        </p:nvSpPr>
        <p:spPr>
          <a:xfrm>
            <a:off x="2838450" y="4381500"/>
            <a:ext cx="838200" cy="400050"/>
          </a:xfrm>
          <a:prstGeom prst="roundRect">
            <a:avLst>
              <a:gd name="adj" fmla="val 4762"/>
            </a:avLst>
          </a:prstGeom>
          <a:solidFill>
            <a:srgbClr val="23364A"/>
          </a:solidFill>
          <a:ln w="0">
            <a:solidFill>
              <a:srgbClr val="23364A"/>
            </a:solidFill>
            <a:prstDash val="solid"/>
          </a:ln>
        </p:spPr>
      </p:sp>
      <p:sp>
        <p:nvSpPr>
          <p:cNvPr id="11" name="矩形 10"/>
          <p:cNvSpPr>
            <a:spLocks noGrp="1"/>
          </p:cNvSpPr>
          <p:nvPr/>
        </p:nvSpPr>
        <p:spPr>
          <a:xfrm>
            <a:off x="2152650" y="4476750"/>
            <a:ext cx="533400" cy="15240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R</a:t>
            </a:r>
          </a:p>
        </p:txBody>
      </p:sp>
      <p:sp>
        <p:nvSpPr>
          <p:cNvPr id="12" name="矩形 11"/>
          <p:cNvSpPr>
            <a:spLocks noGrp="1"/>
          </p:cNvSpPr>
          <p:nvPr/>
        </p:nvSpPr>
        <p:spPr>
          <a:xfrm>
            <a:off x="2990850" y="4476750"/>
            <a:ext cx="533400" cy="15240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E</a:t>
            </a:r>
          </a:p>
        </p:txBody>
      </p:sp>
      <p:sp>
        <p:nvSpPr>
          <p:cNvPr id="13" name="矩形 12"/>
          <p:cNvSpPr>
            <a:spLocks noGrp="1"/>
          </p:cNvSpPr>
          <p:nvPr/>
        </p:nvSpPr>
        <p:spPr>
          <a:xfrm>
            <a:off x="1487170" y="4838700"/>
            <a:ext cx="552450" cy="171450"/>
          </a:xfrm>
          <a:prstGeom prst="rect">
            <a:avLst/>
          </a:prstGeom>
          <a:noFill/>
          <a:ln w="0">
            <a:noFill/>
            <a:prstDash val="solid"/>
          </a:ln>
        </p:spPr>
        <p:txBody>
          <a:bodyPr/>
          <a:lstStyle/>
          <a:p>
            <a:pPr>
              <a:buNone/>
              <a:defRPr sz="1350" b="1">
                <a:solidFill>
                  <a:srgbClr val="23364A"/>
                </a:solidFill>
              </a:defRPr>
            </a:pPr>
            <a:r>
              <a:rPr sz="1350" b="1">
                <a:solidFill>
                  <a:srgbClr val="23364A"/>
                </a:solidFill>
              </a:rPr>
              <a:t>R</a:t>
            </a:r>
          </a:p>
        </p:txBody>
      </p:sp>
      <p:sp>
        <p:nvSpPr>
          <p:cNvPr id="14" name="矩形 13"/>
          <p:cNvSpPr>
            <a:spLocks noGrp="1"/>
          </p:cNvSpPr>
          <p:nvPr/>
        </p:nvSpPr>
        <p:spPr>
          <a:xfrm>
            <a:off x="1487170" y="5334000"/>
            <a:ext cx="552450" cy="171450"/>
          </a:xfrm>
          <a:prstGeom prst="rect">
            <a:avLst/>
          </a:prstGeom>
          <a:noFill/>
          <a:ln w="0">
            <a:noFill/>
            <a:prstDash val="solid"/>
          </a:ln>
        </p:spPr>
        <p:txBody>
          <a:bodyPr/>
          <a:lstStyle/>
          <a:p>
            <a:pPr>
              <a:buNone/>
              <a:defRPr sz="1350" b="1">
                <a:solidFill>
                  <a:srgbClr val="23364A"/>
                </a:solidFill>
              </a:defRPr>
            </a:pPr>
            <a:r>
              <a:rPr sz="1350" b="1">
                <a:solidFill>
                  <a:srgbClr val="23364A"/>
                </a:solidFill>
              </a:rPr>
              <a:t>E</a:t>
            </a:r>
          </a:p>
        </p:txBody>
      </p:sp>
      <p:sp>
        <p:nvSpPr>
          <p:cNvPr id="15" name="圆角矩形 14"/>
          <p:cNvSpPr>
            <a:spLocks noGrp="1"/>
          </p:cNvSpPr>
          <p:nvPr/>
        </p:nvSpPr>
        <p:spPr>
          <a:xfrm>
            <a:off x="2000250" y="4838700"/>
            <a:ext cx="838200" cy="400050"/>
          </a:xfrm>
          <a:prstGeom prst="roundRect">
            <a:avLst>
              <a:gd name="adj" fmla="val 4762"/>
            </a:avLst>
          </a:prstGeom>
          <a:solidFill>
            <a:srgbClr val="F4EFE6"/>
          </a:solidFill>
          <a:ln w="9525">
            <a:solidFill>
              <a:srgbClr val="B7ADA0"/>
            </a:solidFill>
            <a:prstDash val="solid"/>
          </a:ln>
        </p:spPr>
      </p:sp>
      <p:sp>
        <p:nvSpPr>
          <p:cNvPr id="16" name="矩形 15"/>
          <p:cNvSpPr>
            <a:spLocks noGrp="1"/>
          </p:cNvSpPr>
          <p:nvPr/>
        </p:nvSpPr>
        <p:spPr>
          <a:xfrm>
            <a:off x="2095500" y="49339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50, 50</a:t>
            </a:r>
          </a:p>
        </p:txBody>
      </p:sp>
      <p:sp>
        <p:nvSpPr>
          <p:cNvPr id="17" name="圆角矩形 16"/>
          <p:cNvSpPr>
            <a:spLocks noGrp="1"/>
          </p:cNvSpPr>
          <p:nvPr/>
        </p:nvSpPr>
        <p:spPr>
          <a:xfrm>
            <a:off x="2838450" y="4838700"/>
            <a:ext cx="838200" cy="400050"/>
          </a:xfrm>
          <a:prstGeom prst="roundRect">
            <a:avLst>
              <a:gd name="adj" fmla="val 4762"/>
            </a:avLst>
          </a:prstGeom>
          <a:solidFill>
            <a:srgbClr val="F4EFE6"/>
          </a:solidFill>
          <a:ln w="9525">
            <a:solidFill>
              <a:srgbClr val="B7ADA0"/>
            </a:solidFill>
            <a:prstDash val="solid"/>
          </a:ln>
        </p:spPr>
      </p:sp>
      <p:sp>
        <p:nvSpPr>
          <p:cNvPr id="18" name="矩形 17"/>
          <p:cNvSpPr>
            <a:spLocks noGrp="1"/>
          </p:cNvSpPr>
          <p:nvPr/>
        </p:nvSpPr>
        <p:spPr>
          <a:xfrm>
            <a:off x="2933700" y="49339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20, 80</a:t>
            </a:r>
          </a:p>
        </p:txBody>
      </p:sp>
      <p:sp>
        <p:nvSpPr>
          <p:cNvPr id="19" name="圆角矩形 18"/>
          <p:cNvSpPr>
            <a:spLocks noGrp="1"/>
          </p:cNvSpPr>
          <p:nvPr/>
        </p:nvSpPr>
        <p:spPr>
          <a:xfrm>
            <a:off x="2000250" y="5295900"/>
            <a:ext cx="838200" cy="400050"/>
          </a:xfrm>
          <a:prstGeom prst="roundRect">
            <a:avLst>
              <a:gd name="adj" fmla="val 4762"/>
            </a:avLst>
          </a:prstGeom>
          <a:solidFill>
            <a:srgbClr val="F4EFE6"/>
          </a:solidFill>
          <a:ln w="9525">
            <a:solidFill>
              <a:srgbClr val="B7ADA0"/>
            </a:solidFill>
            <a:prstDash val="solid"/>
          </a:ln>
        </p:spPr>
      </p:sp>
      <p:sp>
        <p:nvSpPr>
          <p:cNvPr id="20" name="矩形 19"/>
          <p:cNvSpPr>
            <a:spLocks noGrp="1"/>
          </p:cNvSpPr>
          <p:nvPr/>
        </p:nvSpPr>
        <p:spPr>
          <a:xfrm>
            <a:off x="2095500" y="53911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80, 20</a:t>
            </a:r>
          </a:p>
        </p:txBody>
      </p:sp>
      <p:sp>
        <p:nvSpPr>
          <p:cNvPr id="21" name="圆角矩形 20"/>
          <p:cNvSpPr>
            <a:spLocks noGrp="1"/>
          </p:cNvSpPr>
          <p:nvPr/>
        </p:nvSpPr>
        <p:spPr>
          <a:xfrm>
            <a:off x="2838450" y="5295900"/>
            <a:ext cx="838200" cy="400050"/>
          </a:xfrm>
          <a:prstGeom prst="roundRect">
            <a:avLst>
              <a:gd name="adj" fmla="val 4762"/>
            </a:avLst>
          </a:prstGeom>
          <a:solidFill>
            <a:srgbClr val="F4EFE6"/>
          </a:solidFill>
          <a:ln w="9525">
            <a:solidFill>
              <a:srgbClr val="B7ADA0"/>
            </a:solidFill>
            <a:prstDash val="solid"/>
          </a:ln>
        </p:spPr>
      </p:sp>
      <p:sp>
        <p:nvSpPr>
          <p:cNvPr id="22" name="矩形 21"/>
          <p:cNvSpPr>
            <a:spLocks noGrp="1"/>
          </p:cNvSpPr>
          <p:nvPr/>
        </p:nvSpPr>
        <p:spPr>
          <a:xfrm>
            <a:off x="2933700" y="5391150"/>
            <a:ext cx="647700" cy="152400"/>
          </a:xfrm>
          <a:prstGeom prst="rect">
            <a:avLst/>
          </a:prstGeom>
          <a:noFill/>
          <a:ln w="0">
            <a:noFill/>
            <a:prstDash val="solid"/>
          </a:ln>
        </p:spPr>
        <p:txBody>
          <a:bodyPr/>
          <a:lstStyle/>
          <a:p>
            <a:pPr algn="ctr">
              <a:buNone/>
              <a:defRPr sz="1200">
                <a:solidFill>
                  <a:srgbClr val="1C2430"/>
                </a:solidFill>
              </a:defRPr>
            </a:pPr>
            <a:r>
              <a:rPr sz="1200">
                <a:solidFill>
                  <a:srgbClr val="1C2430"/>
                </a:solidFill>
              </a:rPr>
              <a:t>10, 10</a:t>
            </a:r>
          </a:p>
        </p:txBody>
      </p:sp>
      <p:sp>
        <p:nvSpPr>
          <p:cNvPr id="23" name="矩形 22"/>
          <p:cNvSpPr>
            <a:spLocks noGrp="1"/>
          </p:cNvSpPr>
          <p:nvPr/>
        </p:nvSpPr>
        <p:spPr>
          <a:xfrm>
            <a:off x="4819650" y="1657350"/>
            <a:ext cx="3619500" cy="209550"/>
          </a:xfrm>
          <a:prstGeom prst="rect">
            <a:avLst/>
          </a:prstGeom>
          <a:noFill/>
          <a:ln w="0">
            <a:noFill/>
            <a:prstDash val="solid"/>
          </a:ln>
        </p:spPr>
        <p:txBody>
          <a:bodyPr/>
          <a:lstStyle/>
          <a:p>
            <a:pPr>
              <a:buNone/>
              <a:defRPr sz="1650" b="1">
                <a:solidFill>
                  <a:srgbClr val="23364A"/>
                </a:solidFill>
              </a:defRPr>
            </a:pPr>
            <a:r>
              <a:rPr sz="1650" b="1">
                <a:solidFill>
                  <a:srgbClr val="23364A"/>
                </a:solidFill>
              </a:rPr>
              <a:t>Condition logic</a:t>
            </a:r>
          </a:p>
        </p:txBody>
      </p:sp>
      <p:sp>
        <p:nvSpPr>
          <p:cNvPr id="24" name="圆角矩形 23"/>
          <p:cNvSpPr>
            <a:spLocks noGrp="1"/>
          </p:cNvSpPr>
          <p:nvPr/>
        </p:nvSpPr>
        <p:spPr>
          <a:xfrm>
            <a:off x="4800600" y="2038350"/>
            <a:ext cx="1485900" cy="514350"/>
          </a:xfrm>
          <a:prstGeom prst="roundRect">
            <a:avLst>
              <a:gd name="adj" fmla="val 14815"/>
            </a:avLst>
          </a:prstGeom>
          <a:solidFill>
            <a:srgbClr val="23364A"/>
          </a:solidFill>
          <a:ln w="0">
            <a:solidFill>
              <a:srgbClr val="23364A"/>
            </a:solidFill>
            <a:prstDash val="solid"/>
          </a:ln>
        </p:spPr>
      </p:sp>
      <p:sp>
        <p:nvSpPr>
          <p:cNvPr id="25" name="矩形 24"/>
          <p:cNvSpPr>
            <a:spLocks noGrp="1"/>
          </p:cNvSpPr>
          <p:nvPr/>
        </p:nvSpPr>
        <p:spPr>
          <a:xfrm>
            <a:off x="480060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Human-only</a:t>
            </a:r>
          </a:p>
        </p:txBody>
      </p:sp>
      <p:sp>
        <p:nvSpPr>
          <p:cNvPr id="26" name="圆角矩形 25"/>
          <p:cNvSpPr>
            <a:spLocks noGrp="1"/>
          </p:cNvSpPr>
          <p:nvPr/>
        </p:nvSpPr>
        <p:spPr>
          <a:xfrm>
            <a:off x="6419850" y="2038350"/>
            <a:ext cx="1485900" cy="514350"/>
          </a:xfrm>
          <a:prstGeom prst="roundRect">
            <a:avLst>
              <a:gd name="adj" fmla="val 14815"/>
            </a:avLst>
          </a:prstGeom>
          <a:solidFill>
            <a:srgbClr val="A66A4D"/>
          </a:solidFill>
          <a:ln w="0">
            <a:solidFill>
              <a:srgbClr val="A66A4D"/>
            </a:solidFill>
            <a:prstDash val="solid"/>
          </a:ln>
        </p:spPr>
      </p:sp>
      <p:sp>
        <p:nvSpPr>
          <p:cNvPr id="27" name="矩形 26"/>
          <p:cNvSpPr>
            <a:spLocks noGrp="1"/>
          </p:cNvSpPr>
          <p:nvPr/>
        </p:nvSpPr>
        <p:spPr>
          <a:xfrm>
            <a:off x="641985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AI-baseline</a:t>
            </a:r>
          </a:p>
        </p:txBody>
      </p:sp>
      <p:sp>
        <p:nvSpPr>
          <p:cNvPr id="28" name="圆角矩形 27"/>
          <p:cNvSpPr>
            <a:spLocks noGrp="1"/>
          </p:cNvSpPr>
          <p:nvPr/>
        </p:nvSpPr>
        <p:spPr>
          <a:xfrm>
            <a:off x="8039100" y="2038350"/>
            <a:ext cx="1485900" cy="514350"/>
          </a:xfrm>
          <a:prstGeom prst="roundRect">
            <a:avLst>
              <a:gd name="adj" fmla="val 14815"/>
            </a:avLst>
          </a:prstGeom>
          <a:solidFill>
            <a:srgbClr val="6F7C60"/>
          </a:solidFill>
          <a:ln w="0">
            <a:solidFill>
              <a:srgbClr val="6F7C60"/>
            </a:solidFill>
            <a:prstDash val="solid"/>
          </a:ln>
        </p:spPr>
      </p:sp>
      <p:sp>
        <p:nvSpPr>
          <p:cNvPr id="29" name="矩形 28"/>
          <p:cNvSpPr>
            <a:spLocks noGrp="1"/>
          </p:cNvSpPr>
          <p:nvPr/>
        </p:nvSpPr>
        <p:spPr>
          <a:xfrm>
            <a:off x="803910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AI-confirm</a:t>
            </a:r>
          </a:p>
        </p:txBody>
      </p:sp>
      <p:sp>
        <p:nvSpPr>
          <p:cNvPr id="30" name="圆角矩形 29"/>
          <p:cNvSpPr>
            <a:spLocks noGrp="1"/>
          </p:cNvSpPr>
          <p:nvPr/>
        </p:nvSpPr>
        <p:spPr>
          <a:xfrm>
            <a:off x="9658350" y="2038350"/>
            <a:ext cx="1485900" cy="514350"/>
          </a:xfrm>
          <a:prstGeom prst="roundRect">
            <a:avLst>
              <a:gd name="adj" fmla="val 14815"/>
            </a:avLst>
          </a:prstGeom>
          <a:solidFill>
            <a:srgbClr val="9B5D58"/>
          </a:solidFill>
          <a:ln w="0">
            <a:solidFill>
              <a:srgbClr val="9B5D58"/>
            </a:solidFill>
            <a:prstDash val="solid"/>
          </a:ln>
        </p:spPr>
      </p:sp>
      <p:sp>
        <p:nvSpPr>
          <p:cNvPr id="31" name="矩形 30"/>
          <p:cNvSpPr>
            <a:spLocks noGrp="1"/>
          </p:cNvSpPr>
          <p:nvPr/>
        </p:nvSpPr>
        <p:spPr>
          <a:xfrm>
            <a:off x="9658350" y="2209800"/>
            <a:ext cx="1485900" cy="171450"/>
          </a:xfrm>
          <a:prstGeom prst="rect">
            <a:avLst/>
          </a:prstGeom>
          <a:noFill/>
          <a:ln w="0">
            <a:noFill/>
            <a:prstDash val="solid"/>
          </a:ln>
        </p:spPr>
        <p:txBody>
          <a:bodyPr/>
          <a:lstStyle/>
          <a:p>
            <a:pPr algn="ctr">
              <a:buNone/>
              <a:defRPr sz="1350" b="1">
                <a:solidFill>
                  <a:srgbClr val="FFFFFF"/>
                </a:solidFill>
              </a:defRPr>
            </a:pPr>
            <a:r>
              <a:rPr sz="1350" b="1">
                <a:solidFill>
                  <a:srgbClr val="FFFFFF"/>
                </a:solidFill>
              </a:rPr>
              <a:t>AI-disclosure</a:t>
            </a:r>
          </a:p>
        </p:txBody>
      </p:sp>
      <p:sp>
        <p:nvSpPr>
          <p:cNvPr id="32" name="矩形 31"/>
          <p:cNvSpPr>
            <a:spLocks noGrp="1"/>
          </p:cNvSpPr>
          <p:nvPr/>
        </p:nvSpPr>
        <p:spPr>
          <a:xfrm>
            <a:off x="4819650" y="3048000"/>
            <a:ext cx="4000500" cy="209550"/>
          </a:xfrm>
          <a:prstGeom prst="rect">
            <a:avLst/>
          </a:prstGeom>
          <a:noFill/>
          <a:ln w="0">
            <a:noFill/>
            <a:prstDash val="solid"/>
          </a:ln>
        </p:spPr>
        <p:txBody>
          <a:bodyPr/>
          <a:lstStyle/>
          <a:p>
            <a:pPr>
              <a:buNone/>
              <a:defRPr sz="1650" b="1">
                <a:solidFill>
                  <a:srgbClr val="23364A"/>
                </a:solidFill>
              </a:defRPr>
            </a:pPr>
            <a:r>
              <a:rPr sz="1650" b="1">
                <a:solidFill>
                  <a:srgbClr val="23364A"/>
                </a:solidFill>
              </a:rPr>
              <a:t>One participant, one round</a:t>
            </a:r>
          </a:p>
        </p:txBody>
      </p:sp>
      <p:sp>
        <p:nvSpPr>
          <p:cNvPr id="33" name="圆角矩形 32"/>
          <p:cNvSpPr>
            <a:spLocks noGrp="1"/>
          </p:cNvSpPr>
          <p:nvPr/>
        </p:nvSpPr>
        <p:spPr>
          <a:xfrm>
            <a:off x="4800600" y="3429000"/>
            <a:ext cx="1162050" cy="1123950"/>
          </a:xfrm>
          <a:prstGeom prst="roundRect">
            <a:avLst>
              <a:gd name="adj" fmla="val 6780"/>
            </a:avLst>
          </a:prstGeom>
          <a:solidFill>
            <a:srgbClr val="F9F6F0"/>
          </a:solidFill>
          <a:ln w="9525">
            <a:solidFill>
              <a:srgbClr val="B7ADA0"/>
            </a:solidFill>
            <a:prstDash val="solid"/>
          </a:ln>
        </p:spPr>
      </p:sp>
      <p:sp>
        <p:nvSpPr>
          <p:cNvPr id="34" name="矩形 33"/>
          <p:cNvSpPr>
            <a:spLocks noGrp="1"/>
          </p:cNvSpPr>
          <p:nvPr/>
        </p:nvSpPr>
        <p:spPr>
          <a:xfrm>
            <a:off x="49149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See payoff matrix</a:t>
            </a:r>
          </a:p>
        </p:txBody>
      </p:sp>
      <p:sp>
        <p:nvSpPr>
          <p:cNvPr id="35" name="矩形 34"/>
          <p:cNvSpPr>
            <a:spLocks noGrp="1"/>
          </p:cNvSpPr>
          <p:nvPr/>
        </p:nvSpPr>
        <p:spPr>
          <a:xfrm>
            <a:off x="59436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36" name="圆角矩形 35"/>
          <p:cNvSpPr>
            <a:spLocks noGrp="1"/>
          </p:cNvSpPr>
          <p:nvPr/>
        </p:nvSpPr>
        <p:spPr>
          <a:xfrm>
            <a:off x="6096000" y="3429000"/>
            <a:ext cx="1162050" cy="1123950"/>
          </a:xfrm>
          <a:prstGeom prst="roundRect">
            <a:avLst>
              <a:gd name="adj" fmla="val 6780"/>
            </a:avLst>
          </a:prstGeom>
          <a:solidFill>
            <a:srgbClr val="EFE7DD"/>
          </a:solidFill>
          <a:ln w="9525">
            <a:solidFill>
              <a:srgbClr val="B7ADA0"/>
            </a:solidFill>
            <a:prstDash val="solid"/>
          </a:ln>
        </p:spPr>
      </p:sp>
      <p:sp>
        <p:nvSpPr>
          <p:cNvPr id="37" name="矩形 36"/>
          <p:cNvSpPr>
            <a:spLocks noGrp="1"/>
          </p:cNvSpPr>
          <p:nvPr/>
        </p:nvSpPr>
        <p:spPr>
          <a:xfrm>
            <a:off x="62103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See AI analysis if assigned</a:t>
            </a:r>
          </a:p>
        </p:txBody>
      </p:sp>
      <p:sp>
        <p:nvSpPr>
          <p:cNvPr id="38" name="矩形 37"/>
          <p:cNvSpPr>
            <a:spLocks noGrp="1"/>
          </p:cNvSpPr>
          <p:nvPr/>
        </p:nvSpPr>
        <p:spPr>
          <a:xfrm>
            <a:off x="72390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39" name="圆角矩形 38"/>
          <p:cNvSpPr>
            <a:spLocks noGrp="1"/>
          </p:cNvSpPr>
          <p:nvPr/>
        </p:nvSpPr>
        <p:spPr>
          <a:xfrm>
            <a:off x="7391400" y="3429000"/>
            <a:ext cx="1162050" cy="1123950"/>
          </a:xfrm>
          <a:prstGeom prst="roundRect">
            <a:avLst>
              <a:gd name="adj" fmla="val 6780"/>
            </a:avLst>
          </a:prstGeom>
          <a:solidFill>
            <a:srgbClr val="F9F6F0"/>
          </a:solidFill>
          <a:ln w="9525">
            <a:solidFill>
              <a:srgbClr val="B7ADA0"/>
            </a:solidFill>
            <a:prstDash val="solid"/>
          </a:ln>
        </p:spPr>
      </p:sp>
      <p:sp>
        <p:nvSpPr>
          <p:cNvPr id="40" name="矩形 39"/>
          <p:cNvSpPr>
            <a:spLocks noGrp="1"/>
          </p:cNvSpPr>
          <p:nvPr/>
        </p:nvSpPr>
        <p:spPr>
          <a:xfrm>
            <a:off x="75057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Confirm or disclose if assigned</a:t>
            </a:r>
          </a:p>
        </p:txBody>
      </p:sp>
      <p:sp>
        <p:nvSpPr>
          <p:cNvPr id="41" name="矩形 40"/>
          <p:cNvSpPr>
            <a:spLocks noGrp="1"/>
          </p:cNvSpPr>
          <p:nvPr/>
        </p:nvSpPr>
        <p:spPr>
          <a:xfrm>
            <a:off x="85344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42" name="圆角矩形 41"/>
          <p:cNvSpPr>
            <a:spLocks noGrp="1"/>
          </p:cNvSpPr>
          <p:nvPr/>
        </p:nvSpPr>
        <p:spPr>
          <a:xfrm>
            <a:off x="8686800" y="3429000"/>
            <a:ext cx="1162050" cy="1123950"/>
          </a:xfrm>
          <a:prstGeom prst="roundRect">
            <a:avLst>
              <a:gd name="adj" fmla="val 6780"/>
            </a:avLst>
          </a:prstGeom>
          <a:solidFill>
            <a:srgbClr val="EFE7DD"/>
          </a:solidFill>
          <a:ln w="9525">
            <a:solidFill>
              <a:srgbClr val="B7ADA0"/>
            </a:solidFill>
            <a:prstDash val="solid"/>
          </a:ln>
        </p:spPr>
      </p:sp>
      <p:sp>
        <p:nvSpPr>
          <p:cNvPr id="43" name="矩形 42"/>
          <p:cNvSpPr>
            <a:spLocks noGrp="1"/>
          </p:cNvSpPr>
          <p:nvPr/>
        </p:nvSpPr>
        <p:spPr>
          <a:xfrm>
            <a:off x="88011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Choose escalate or restrain</a:t>
            </a:r>
          </a:p>
        </p:txBody>
      </p:sp>
      <p:sp>
        <p:nvSpPr>
          <p:cNvPr id="44" name="矩形 43"/>
          <p:cNvSpPr>
            <a:spLocks noGrp="1"/>
          </p:cNvSpPr>
          <p:nvPr/>
        </p:nvSpPr>
        <p:spPr>
          <a:xfrm>
            <a:off x="9829800" y="3867150"/>
            <a:ext cx="209550" cy="190500"/>
          </a:xfrm>
          <a:prstGeom prst="rect">
            <a:avLst/>
          </a:prstGeom>
          <a:noFill/>
          <a:ln w="0">
            <a:noFill/>
            <a:prstDash val="solid"/>
          </a:ln>
        </p:spPr>
        <p:txBody>
          <a:bodyPr/>
          <a:lstStyle/>
          <a:p>
            <a:pPr algn="ctr">
              <a:buNone/>
              <a:defRPr sz="1650" b="1">
                <a:solidFill>
                  <a:srgbClr val="5F6875"/>
                </a:solidFill>
              </a:defRPr>
            </a:pPr>
            <a:r>
              <a:rPr sz="1650" b="1">
                <a:solidFill>
                  <a:srgbClr val="5F6875"/>
                </a:solidFill>
              </a:rPr>
              <a:t>→</a:t>
            </a:r>
          </a:p>
        </p:txBody>
      </p:sp>
      <p:sp>
        <p:nvSpPr>
          <p:cNvPr id="45" name="圆角矩形 44"/>
          <p:cNvSpPr>
            <a:spLocks noGrp="1"/>
          </p:cNvSpPr>
          <p:nvPr/>
        </p:nvSpPr>
        <p:spPr>
          <a:xfrm>
            <a:off x="9982200" y="3429000"/>
            <a:ext cx="1162050" cy="1123950"/>
          </a:xfrm>
          <a:prstGeom prst="roundRect">
            <a:avLst>
              <a:gd name="adj" fmla="val 6780"/>
            </a:avLst>
          </a:prstGeom>
          <a:solidFill>
            <a:srgbClr val="F9F6F0"/>
          </a:solidFill>
          <a:ln w="9525">
            <a:solidFill>
              <a:srgbClr val="B7ADA0"/>
            </a:solidFill>
            <a:prstDash val="solid"/>
          </a:ln>
        </p:spPr>
      </p:sp>
      <p:sp>
        <p:nvSpPr>
          <p:cNvPr id="46" name="矩形 45"/>
          <p:cNvSpPr>
            <a:spLocks noGrp="1"/>
          </p:cNvSpPr>
          <p:nvPr/>
        </p:nvSpPr>
        <p:spPr>
          <a:xfrm>
            <a:off x="10096500" y="3714750"/>
            <a:ext cx="933450" cy="552450"/>
          </a:xfrm>
          <a:prstGeom prst="rect">
            <a:avLst/>
          </a:prstGeom>
          <a:noFill/>
          <a:ln w="0">
            <a:noFill/>
            <a:prstDash val="solid"/>
          </a:ln>
        </p:spPr>
        <p:txBody>
          <a:bodyPr/>
          <a:lstStyle/>
          <a:p>
            <a:pPr algn="ctr">
              <a:buNone/>
              <a:defRPr sz="1275">
                <a:solidFill>
                  <a:srgbClr val="1C2430"/>
                </a:solidFill>
              </a:defRPr>
            </a:pPr>
            <a:r>
              <a:rPr sz="1275">
                <a:solidFill>
                  <a:srgbClr val="1C2430"/>
                </a:solidFill>
              </a:rPr>
              <a:t>Observe round outcome</a:t>
            </a:r>
          </a:p>
        </p:txBody>
      </p:sp>
      <p:sp>
        <p:nvSpPr>
          <p:cNvPr id="47" name="矩形 46"/>
          <p:cNvSpPr>
            <a:spLocks noGrp="1"/>
          </p:cNvSpPr>
          <p:nvPr/>
        </p:nvSpPr>
        <p:spPr>
          <a:xfrm>
            <a:off x="4819650" y="4953000"/>
            <a:ext cx="6000750" cy="438150"/>
          </a:xfrm>
          <a:prstGeom prst="rect">
            <a:avLst/>
          </a:prstGeom>
          <a:noFill/>
          <a:ln w="0">
            <a:noFill/>
            <a:prstDash val="solid"/>
          </a:ln>
        </p:spPr>
        <p:txBody>
          <a:bodyPr/>
          <a:lstStyle/>
          <a:p>
            <a:pPr>
              <a:buNone/>
              <a:defRPr sz="1425" i="1">
                <a:solidFill>
                  <a:srgbClr val="9B5D58"/>
                </a:solidFill>
              </a:defRPr>
            </a:pPr>
            <a:r>
              <a:rPr sz="1425" i="1">
                <a:solidFill>
                  <a:srgbClr val="9B5D58"/>
                </a:solidFill>
              </a:rPr>
              <a:t>The prototype holds the strategic environment fixed and varies the responsibility architecture inside the same risky choice structure.</a:t>
            </a:r>
          </a:p>
        </p:txBody>
      </p:sp>
      <p:sp>
        <p:nvSpPr>
          <p:cNvPr id="48" name="矩形 47"/>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49" name="矩形 48"/>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50" name="矩形 49"/>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8</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a:ea typeface="Times New Roman" panose="02020603050405020304"/>
                <a:cs typeface="Times New Roman" panose="02020603050405020304"/>
              </a:rPr>
              <a:t>METHOD MAP</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a:ea typeface="Times New Roman" panose="02020603050405020304"/>
                <a:cs typeface="Times New Roman" panose="02020603050405020304"/>
              </a:rPr>
              <a:t>RQ -&gt; manipulation -&gt; comparison -&gt; what each contrast identifies</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pic>
        <p:nvPicPr>
          <p:cNvPr id="13" name="图片 11"/>
          <p:cNvPicPr>
            <a:picLocks noChangeAspect="1"/>
          </p:cNvPicPr>
          <p:nvPr/>
        </p:nvPicPr>
        <p:blipFill>
          <a:blip r:embed="rId3"/>
          <a:stretch>
            <a:fillRect/>
          </a:stretch>
        </p:blipFill>
        <p:spPr>
          <a:xfrm>
            <a:off x="800100" y="1718265"/>
            <a:ext cx="10591800" cy="3764369"/>
          </a:xfrm>
          <a:prstGeom prst="rect">
            <a:avLst/>
          </a:prstGeom>
        </p:spPr>
      </p:pic>
      <p:sp>
        <p:nvSpPr>
          <p:cNvPr id="5" name="矩形 4"/>
          <p:cNvSpPr>
            <a:spLocks noGrp="1"/>
          </p:cNvSpPr>
          <p:nvPr/>
        </p:nvSpPr>
        <p:spPr>
          <a:xfrm>
            <a:off x="819150" y="6019800"/>
            <a:ext cx="9239250" cy="171450"/>
          </a:xfrm>
          <a:prstGeom prst="rect">
            <a:avLst/>
          </a:prstGeom>
          <a:noFill/>
          <a:ln w="0">
            <a:noFill/>
            <a:prstDash val="solid"/>
          </a:ln>
        </p:spPr>
        <p:txBody>
          <a:bodyPr wrap="square" lIns="0" tIns="0" rIns="0" bIns="0" anchor="t">
            <a:normAutofit fontScale="95238" lnSpcReduction="10000"/>
          </a:bodyPr>
          <a:lstStyle/>
          <a:p>
            <a:pPr algn="l">
              <a:lnSpc>
                <a:spcPct val="105000"/>
              </a:lnSpc>
              <a:buNone/>
              <a:defRPr sz="1125" b="1" i="0">
                <a:solidFill>
                  <a:srgbClr val="231D17"/>
                </a:solidFill>
                <a:latin typeface="Times New Roman" panose="02020603050405020304"/>
                <a:ea typeface="Times New Roman" panose="02020603050405020304"/>
                <a:cs typeface="Times New Roman" panose="02020603050405020304"/>
              </a:defRPr>
            </a:pPr>
            <a:r>
              <a:rPr sz="1125" b="1" i="0">
                <a:solidFill>
                  <a:srgbClr val="231D17"/>
                </a:solidFill>
                <a:latin typeface="Times New Roman" panose="02020603050405020304"/>
                <a:ea typeface="Times New Roman" panose="02020603050405020304"/>
                <a:cs typeface="Times New Roman" panose="02020603050405020304"/>
              </a:rPr>
              <a:t>The method page should make the four conditions readable: Human-only, AI-baseline, AI-confirm, and AI-disclosure.</a:t>
            </a:r>
          </a:p>
        </p:txBody>
      </p:sp>
      <p:sp>
        <p:nvSpPr>
          <p:cNvPr id="6" name="矩形 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7" name="矩形 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rPr>
              <a:t>PAPER 3</a:t>
            </a:r>
          </a:p>
        </p:txBody>
      </p:sp>
      <p:sp>
        <p:nvSpPr>
          <p:cNvPr id="8" name="矩形 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rPr>
              <a:t>9</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矩形 18"/>
          <p:cNvSpPr>
            <a:spLocks noGrp="1"/>
          </p:cNvSpPr>
          <p:nvPr/>
        </p:nvSpPr>
        <p:spPr>
          <a:xfrm>
            <a:off x="7620" y="14605"/>
            <a:ext cx="12184380" cy="6843395"/>
          </a:xfrm>
          <a:prstGeom prst="rect">
            <a:avLst/>
          </a:prstGeom>
          <a:solidFill>
            <a:srgbClr val="F6F1E8"/>
          </a:solidFill>
          <a:ln w="0">
            <a:solidFill>
              <a:srgbClr val="F6F1E8"/>
            </a:solidFill>
            <a:prstDash val="solid"/>
          </a:ln>
        </p:spPr>
        <p:txBody>
          <a:bodyPr/>
          <a:lstStyle/>
          <a:p>
            <a:endParaRPr/>
          </a:p>
        </p:txBody>
      </p:sp>
      <p:sp>
        <p:nvSpPr>
          <p:cNvPr id="2" name="矩形 1"/>
          <p:cNvSpPr>
            <a:spLocks noGrp="1"/>
          </p:cNvSpPr>
          <p:nvPr/>
        </p:nvSpPr>
        <p:spPr>
          <a:xfrm>
            <a:off x="685800" y="590550"/>
            <a:ext cx="9677400" cy="152400"/>
          </a:xfrm>
          <a:prstGeom prst="rect">
            <a:avLst/>
          </a:prstGeom>
          <a:noFill/>
          <a:ln w="0">
            <a:noFill/>
            <a:prstDash val="solid"/>
          </a:ln>
        </p:spPr>
        <p:txBody>
          <a:bodyPr wrap="square" lIns="0" tIns="0" rIns="0" bIns="0" anchor="t">
            <a:normAutofit/>
          </a:bodyPr>
          <a:lstStyle/>
          <a:p>
            <a:pPr algn="l">
              <a:lnSpc>
                <a:spcPct val="105000"/>
              </a:lnSpc>
              <a:buNone/>
              <a:defRPr sz="900" b="1" i="0">
                <a:solidFill>
                  <a:srgbClr val="B77845"/>
                </a:solidFill>
                <a:latin typeface="Times New Roman" panose="02020603050405020304"/>
                <a:ea typeface="Times New Roman" panose="02020603050405020304"/>
                <a:cs typeface="Times New Roman" panose="02020603050405020304"/>
              </a:defRPr>
            </a:pPr>
            <a:r>
              <a:rPr sz="900" b="1" i="0">
                <a:solidFill>
                  <a:srgbClr val="B77845"/>
                </a:solidFill>
                <a:latin typeface="Times New Roman" panose="02020603050405020304" pitchFamily="18" charset="0"/>
                <a:ea typeface="Times New Roman" panose="02020603050405020304"/>
                <a:cs typeface="Times New Roman" panose="02020603050405020304" pitchFamily="18" charset="0"/>
              </a:rPr>
              <a:t>CONTRIBUTION</a:t>
            </a:r>
          </a:p>
        </p:txBody>
      </p:sp>
      <p:sp>
        <p:nvSpPr>
          <p:cNvPr id="3" name="矩形 2"/>
          <p:cNvSpPr>
            <a:spLocks noGrp="1"/>
          </p:cNvSpPr>
          <p:nvPr/>
        </p:nvSpPr>
        <p:spPr>
          <a:xfrm>
            <a:off x="685800" y="742950"/>
            <a:ext cx="9677400" cy="628650"/>
          </a:xfrm>
          <a:prstGeom prst="rect">
            <a:avLst/>
          </a:prstGeom>
          <a:noFill/>
          <a:ln w="0">
            <a:noFill/>
            <a:prstDash val="solid"/>
          </a:ln>
        </p:spPr>
        <p:txBody>
          <a:bodyPr wrap="square" lIns="0" tIns="0" rIns="0" bIns="0" anchor="t">
            <a:normAutofit fontScale="82533"/>
          </a:bodyPr>
          <a:lstStyle/>
          <a:p>
            <a:pPr algn="l">
              <a:lnSpc>
                <a:spcPct val="98000"/>
              </a:lnSpc>
              <a:buNone/>
              <a:defRPr sz="2550" b="1" i="0">
                <a:solidFill>
                  <a:srgbClr val="231D17"/>
                </a:solidFill>
                <a:latin typeface="Times New Roman" panose="02020603050405020304"/>
                <a:ea typeface="Times New Roman" panose="02020603050405020304"/>
                <a:cs typeface="Times New Roman" panose="02020603050405020304"/>
              </a:defRPr>
            </a:pPr>
            <a:r>
              <a:rPr sz="2550" b="1" i="0">
                <a:solidFill>
                  <a:srgbClr val="231D17"/>
                </a:solidFill>
                <a:latin typeface="Times New Roman" panose="02020603050405020304" pitchFamily="18" charset="0"/>
                <a:ea typeface="Times New Roman" panose="02020603050405020304"/>
                <a:cs typeface="Times New Roman" panose="02020603050405020304" pitchFamily="18" charset="0"/>
              </a:rPr>
              <a:t>The contribution is to identify where AI changes responsibility before outcomes occur</a:t>
            </a:r>
          </a:p>
        </p:txBody>
      </p:sp>
      <p:sp>
        <p:nvSpPr>
          <p:cNvPr id="4" name="矩形 3"/>
          <p:cNvSpPr>
            <a:spLocks noGrp="1"/>
          </p:cNvSpPr>
          <p:nvPr/>
        </p:nvSpPr>
        <p:spPr>
          <a:xfrm>
            <a:off x="685800" y="1409700"/>
            <a:ext cx="10820400" cy="11430"/>
          </a:xfrm>
          <a:prstGeom prst="rect">
            <a:avLst/>
          </a:prstGeom>
          <a:solidFill>
            <a:srgbClr val="B7ADA0"/>
          </a:solidFill>
          <a:ln w="0">
            <a:solidFill>
              <a:srgbClr val="B7ADA0"/>
            </a:solidFill>
            <a:prstDash val="solid"/>
          </a:ln>
        </p:spPr>
      </p:sp>
      <p:sp>
        <p:nvSpPr>
          <p:cNvPr id="5" name="圆角矩形 4"/>
          <p:cNvSpPr>
            <a:spLocks noGrp="1"/>
          </p:cNvSpPr>
          <p:nvPr>
            <p:custDataLst>
              <p:tags r:id="rId1"/>
            </p:custDataLst>
          </p:nvPr>
        </p:nvSpPr>
        <p:spPr>
          <a:xfrm>
            <a:off x="838200" y="1714500"/>
            <a:ext cx="3048000" cy="3219450"/>
          </a:xfrm>
          <a:prstGeom prst="roundRect">
            <a:avLst>
              <a:gd name="adj" fmla="val 3750"/>
            </a:avLst>
          </a:prstGeom>
          <a:solidFill>
            <a:srgbClr val="E9EDF1"/>
          </a:solidFill>
          <a:ln w="9525">
            <a:solidFill>
              <a:srgbClr val="B7ADA0"/>
            </a:solidFill>
            <a:prstDash val="solid"/>
          </a:ln>
        </p:spPr>
      </p:sp>
      <p:sp>
        <p:nvSpPr>
          <p:cNvPr id="6" name="矩形 5"/>
          <p:cNvSpPr>
            <a:spLocks noGrp="1"/>
          </p:cNvSpPr>
          <p:nvPr>
            <p:custDataLst>
              <p:tags r:id="rId2"/>
            </p:custDataLst>
          </p:nvPr>
        </p:nvSpPr>
        <p:spPr>
          <a:xfrm>
            <a:off x="1066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pitchFamily="18" charset="0"/>
                <a:cs typeface="Times New Roman" panose="02020603050405020304" pitchFamily="18" charset="0"/>
              </a:rPr>
              <a:t>Expected pattern</a:t>
            </a:r>
          </a:p>
        </p:txBody>
      </p:sp>
      <p:sp>
        <p:nvSpPr>
          <p:cNvPr id="7" name="矩形 6"/>
          <p:cNvSpPr>
            <a:spLocks noGrp="1"/>
          </p:cNvSpPr>
          <p:nvPr>
            <p:custDataLst>
              <p:tags r:id="rId3"/>
            </p:custDataLst>
          </p:nvPr>
        </p:nvSpPr>
        <p:spPr>
          <a:xfrm>
            <a:off x="1066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AI support may already shift escalation and responsibility perception.</a:t>
            </a: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Confirm may raise ownership by making human passage explicit.</a:t>
            </a: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Disclosure may strengthen answerability or normalize responsibility sharing.</a:t>
            </a:r>
          </a:p>
        </p:txBody>
      </p:sp>
      <p:sp>
        <p:nvSpPr>
          <p:cNvPr id="8" name="圆角矩形 7"/>
          <p:cNvSpPr>
            <a:spLocks noGrp="1"/>
          </p:cNvSpPr>
          <p:nvPr>
            <p:custDataLst>
              <p:tags r:id="rId4"/>
            </p:custDataLst>
          </p:nvPr>
        </p:nvSpPr>
        <p:spPr>
          <a:xfrm>
            <a:off x="4267200" y="1714500"/>
            <a:ext cx="3048000" cy="3219450"/>
          </a:xfrm>
          <a:prstGeom prst="roundRect">
            <a:avLst>
              <a:gd name="adj" fmla="val 3750"/>
            </a:avLst>
          </a:prstGeom>
          <a:solidFill>
            <a:srgbClr val="E9DED5"/>
          </a:solidFill>
          <a:ln w="9525">
            <a:solidFill>
              <a:srgbClr val="B7ADA0"/>
            </a:solidFill>
            <a:prstDash val="solid"/>
          </a:ln>
        </p:spPr>
      </p:sp>
      <p:sp>
        <p:nvSpPr>
          <p:cNvPr id="9" name="矩形 8"/>
          <p:cNvSpPr>
            <a:spLocks noGrp="1"/>
          </p:cNvSpPr>
          <p:nvPr>
            <p:custDataLst>
              <p:tags r:id="rId5"/>
            </p:custDataLst>
          </p:nvPr>
        </p:nvSpPr>
        <p:spPr>
          <a:xfrm>
            <a:off x="4495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pitchFamily="18" charset="0"/>
                <a:cs typeface="Times New Roman" panose="02020603050405020304" pitchFamily="18" charset="0"/>
              </a:rPr>
              <a:t>Mechanism interpretation</a:t>
            </a:r>
          </a:p>
        </p:txBody>
      </p:sp>
      <p:sp>
        <p:nvSpPr>
          <p:cNvPr id="10" name="矩形 9"/>
          <p:cNvSpPr>
            <a:spLocks noGrp="1"/>
          </p:cNvSpPr>
          <p:nvPr>
            <p:custDataLst>
              <p:tags r:id="rId6"/>
            </p:custDataLst>
          </p:nvPr>
        </p:nvSpPr>
        <p:spPr>
          <a:xfrm>
            <a:off x="4495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Structural accountability and felt accountability do not have to move together.</a:t>
            </a: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If behavior changes move with ownership and answerability, the responsibility mechanism is more credible.</a:t>
            </a: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If not, competing mechanisms remain on the table.</a:t>
            </a:r>
          </a:p>
        </p:txBody>
      </p:sp>
      <p:sp>
        <p:nvSpPr>
          <p:cNvPr id="11" name="圆角矩形 10"/>
          <p:cNvSpPr>
            <a:spLocks noGrp="1"/>
          </p:cNvSpPr>
          <p:nvPr>
            <p:custDataLst>
              <p:tags r:id="rId7"/>
            </p:custDataLst>
          </p:nvPr>
        </p:nvSpPr>
        <p:spPr>
          <a:xfrm>
            <a:off x="7696200" y="1714500"/>
            <a:ext cx="3048000" cy="3219450"/>
          </a:xfrm>
          <a:prstGeom prst="roundRect">
            <a:avLst>
              <a:gd name="adj" fmla="val 3750"/>
            </a:avLst>
          </a:prstGeom>
          <a:solidFill>
            <a:srgbClr val="E7E9E0"/>
          </a:solidFill>
          <a:ln w="9525">
            <a:solidFill>
              <a:srgbClr val="B7ADA0"/>
            </a:solidFill>
            <a:prstDash val="solid"/>
          </a:ln>
        </p:spPr>
      </p:sp>
      <p:sp>
        <p:nvSpPr>
          <p:cNvPr id="12" name="矩形 11"/>
          <p:cNvSpPr>
            <a:spLocks noGrp="1"/>
          </p:cNvSpPr>
          <p:nvPr>
            <p:custDataLst>
              <p:tags r:id="rId8"/>
            </p:custDataLst>
          </p:nvPr>
        </p:nvSpPr>
        <p:spPr>
          <a:xfrm>
            <a:off x="7924800" y="1981200"/>
            <a:ext cx="2286000" cy="266700"/>
          </a:xfrm>
          <a:prstGeom prst="rect">
            <a:avLst/>
          </a:prstGeom>
          <a:noFill/>
          <a:ln w="0">
            <a:noFill/>
            <a:prstDash val="solid"/>
          </a:ln>
        </p:spPr>
        <p:txBody>
          <a:bodyPr/>
          <a:lstStyle/>
          <a:p>
            <a:pPr>
              <a:buNone/>
              <a:defRPr sz="1800" b="1">
                <a:solidFill>
                  <a:srgbClr val="23364A"/>
                </a:solidFill>
              </a:defRPr>
            </a:pPr>
            <a:r>
              <a:rPr sz="1800" b="1">
                <a:solidFill>
                  <a:srgbClr val="23364A"/>
                </a:solidFill>
                <a:latin typeface="Times New Roman" panose="02020603050405020304" pitchFamily="18" charset="0"/>
                <a:cs typeface="Times New Roman" panose="02020603050405020304" pitchFamily="18" charset="0"/>
              </a:rPr>
              <a:t>Dissertation role</a:t>
            </a:r>
          </a:p>
        </p:txBody>
      </p:sp>
      <p:sp>
        <p:nvSpPr>
          <p:cNvPr id="13" name="矩形 12"/>
          <p:cNvSpPr>
            <a:spLocks noGrp="1"/>
          </p:cNvSpPr>
          <p:nvPr>
            <p:custDataLst>
              <p:tags r:id="rId9"/>
            </p:custDataLst>
          </p:nvPr>
        </p:nvSpPr>
        <p:spPr>
          <a:xfrm>
            <a:off x="7924800" y="2476500"/>
            <a:ext cx="2438400" cy="838200"/>
          </a:xfrm>
          <a:prstGeom prst="rect">
            <a:avLst/>
          </a:prstGeom>
          <a:noFill/>
          <a:ln w="0">
            <a:noFill/>
            <a:prstDash val="solid"/>
          </a:ln>
        </p:spPr>
        <p:txBody>
          <a:bodyPr/>
          <a:lstStyle/>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Paper 1 studies how AI changes evidence and belief formation.</a:t>
            </a: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Paper 2 studies how repeated feedback reshapes reliance calibration.</a:t>
            </a:r>
          </a:p>
          <a:p>
            <a:pPr>
              <a:buNone/>
              <a:defRPr sz="1350">
                <a:solidFill>
                  <a:srgbClr val="1C2430"/>
                </a:solidFill>
              </a:defRPr>
            </a:pPr>
            <a:r>
              <a:rPr sz="1350">
                <a:solidFill>
                  <a:srgbClr val="1C2430"/>
                </a:solidFill>
                <a:latin typeface="Times New Roman" panose="02020603050405020304" pitchFamily="18" charset="0"/>
                <a:cs typeface="Times New Roman" panose="02020603050405020304" pitchFamily="18" charset="0"/>
              </a:rPr>
              <a:t>• Paper 3 studies how AI-supported action reorganizes responsibility.</a:t>
            </a:r>
          </a:p>
        </p:txBody>
      </p:sp>
      <p:sp>
        <p:nvSpPr>
          <p:cNvPr id="14" name="圆角矩形 13"/>
          <p:cNvSpPr>
            <a:spLocks noGrp="1"/>
          </p:cNvSpPr>
          <p:nvPr/>
        </p:nvSpPr>
        <p:spPr>
          <a:xfrm>
            <a:off x="1619250" y="5257800"/>
            <a:ext cx="8934450" cy="781050"/>
          </a:xfrm>
          <a:prstGeom prst="roundRect">
            <a:avLst>
              <a:gd name="adj" fmla="val 19512"/>
            </a:avLst>
          </a:prstGeom>
          <a:solidFill>
            <a:srgbClr val="23364A"/>
          </a:solidFill>
          <a:ln w="0">
            <a:solidFill>
              <a:srgbClr val="23364A"/>
            </a:solidFill>
            <a:prstDash val="solid"/>
          </a:ln>
        </p:spPr>
      </p:sp>
      <p:sp>
        <p:nvSpPr>
          <p:cNvPr id="15" name="矩形 14"/>
          <p:cNvSpPr>
            <a:spLocks noGrp="1"/>
          </p:cNvSpPr>
          <p:nvPr/>
        </p:nvSpPr>
        <p:spPr>
          <a:xfrm>
            <a:off x="2019300" y="5448300"/>
            <a:ext cx="8096250" cy="476250"/>
          </a:xfrm>
          <a:prstGeom prst="rect">
            <a:avLst/>
          </a:prstGeom>
          <a:noFill/>
          <a:ln w="0">
            <a:noFill/>
            <a:prstDash val="solid"/>
          </a:ln>
        </p:spPr>
        <p:txBody>
          <a:bodyPr wrap="square" lIns="0" tIns="0" rIns="0" bIns="0" anchor="t">
            <a:normAutofit fontScale="94482" lnSpcReduction="10000"/>
          </a:bodyPr>
          <a:lstStyle/>
          <a:p>
            <a:pPr algn="l">
              <a:lnSpc>
                <a:spcPct val="105000"/>
              </a:lnSpc>
              <a:buNone/>
              <a:defRPr sz="1575" b="1" i="0">
                <a:solidFill>
                  <a:srgbClr val="231D17"/>
                </a:solidFill>
                <a:latin typeface="Times New Roman" panose="02020603050405020304"/>
                <a:ea typeface="Times New Roman" panose="02020603050405020304"/>
                <a:cs typeface="Times New Roman" panose="02020603050405020304"/>
              </a:defRPr>
            </a:pPr>
            <a:r>
              <a:rPr sz="1575" b="1" i="0">
                <a:solidFill>
                  <a:schemeClr val="bg1"/>
                </a:solidFill>
                <a:latin typeface="Times New Roman" panose="02020603050405020304" pitchFamily="18" charset="0"/>
                <a:ea typeface="Times New Roman" panose="02020603050405020304"/>
                <a:cs typeface="Times New Roman" panose="02020603050405020304" pitchFamily="18" charset="0"/>
              </a:rPr>
              <a:t>The key question is not only whether people use AI, but how AI system design reorganizes responsibility before action is taken.</a:t>
            </a:r>
          </a:p>
        </p:txBody>
      </p:sp>
      <p:sp>
        <p:nvSpPr>
          <p:cNvPr id="16" name="矩形 15"/>
          <p:cNvSpPr>
            <a:spLocks noGrp="1"/>
          </p:cNvSpPr>
          <p:nvPr/>
        </p:nvSpPr>
        <p:spPr>
          <a:xfrm>
            <a:off x="685800" y="6457950"/>
            <a:ext cx="10820400" cy="11430"/>
          </a:xfrm>
          <a:prstGeom prst="rect">
            <a:avLst/>
          </a:prstGeom>
          <a:solidFill>
            <a:srgbClr val="B7ADA0"/>
          </a:solidFill>
          <a:ln w="0">
            <a:solidFill>
              <a:srgbClr val="B7ADA0"/>
            </a:solidFill>
            <a:prstDash val="solid"/>
          </a:ln>
        </p:spPr>
      </p:sp>
      <p:sp>
        <p:nvSpPr>
          <p:cNvPr id="17" name="矩形 16"/>
          <p:cNvSpPr>
            <a:spLocks noGrp="1"/>
          </p:cNvSpPr>
          <p:nvPr/>
        </p:nvSpPr>
        <p:spPr>
          <a:xfrm>
            <a:off x="685800" y="6534150"/>
            <a:ext cx="1905000" cy="171450"/>
          </a:xfrm>
          <a:prstGeom prst="rect">
            <a:avLst/>
          </a:prstGeom>
          <a:noFill/>
          <a:ln w="0">
            <a:noFill/>
            <a:prstDash val="solid"/>
          </a:ln>
        </p:spPr>
        <p:txBody>
          <a:bodyPr/>
          <a:lstStyle/>
          <a:p>
            <a:pPr>
              <a:buNone/>
              <a:defRPr sz="900" b="1">
                <a:solidFill>
                  <a:srgbClr val="5F6875"/>
                </a:solidFill>
              </a:defRPr>
            </a:pPr>
            <a:r>
              <a:rPr sz="900" b="1">
                <a:solidFill>
                  <a:srgbClr val="5F6875"/>
                </a:solidFill>
                <a:latin typeface="Times New Roman" panose="02020603050405020304" pitchFamily="18" charset="0"/>
                <a:cs typeface="Times New Roman" panose="02020603050405020304" pitchFamily="18" charset="0"/>
              </a:rPr>
              <a:t>PAPER 3</a:t>
            </a:r>
          </a:p>
        </p:txBody>
      </p:sp>
      <p:sp>
        <p:nvSpPr>
          <p:cNvPr id="18" name="矩形 17"/>
          <p:cNvSpPr>
            <a:spLocks noGrp="1"/>
          </p:cNvSpPr>
          <p:nvPr/>
        </p:nvSpPr>
        <p:spPr>
          <a:xfrm>
            <a:off x="11125200" y="6534150"/>
            <a:ext cx="381000" cy="171450"/>
          </a:xfrm>
          <a:prstGeom prst="rect">
            <a:avLst/>
          </a:prstGeom>
          <a:noFill/>
          <a:ln w="0">
            <a:noFill/>
            <a:prstDash val="solid"/>
          </a:ln>
        </p:spPr>
        <p:txBody>
          <a:bodyPr/>
          <a:lstStyle/>
          <a:p>
            <a:pPr algn="r">
              <a:buNone/>
              <a:defRPr sz="900">
                <a:solidFill>
                  <a:srgbClr val="5F6875"/>
                </a:solidFill>
              </a:defRPr>
            </a:pPr>
            <a:r>
              <a:rPr sz="900">
                <a:solidFill>
                  <a:srgbClr val="5F6875"/>
                </a:solidFill>
                <a:latin typeface="Times New Roman" panose="02020603050405020304" pitchFamily="18" charset="0"/>
                <a:cs typeface="Times New Roman" panose="02020603050405020304" pitchFamily="18" charset="0"/>
              </a:rPr>
              <a:t>10</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214.5,&quot;left&quot;:72,&quot;top&quot;:172.5,&quot;width&quot;:813}"/>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276.25,&quot;left&quot;:60.45,&quot;top&quot;:145.25,&quot;width&quot;:824.55}"/>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1.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2.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3.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4.xml><?xml version="1.0" encoding="utf-8"?>
<p:tagLst xmlns:a="http://schemas.openxmlformats.org/drawingml/2006/main" xmlns:r="http://schemas.openxmlformats.org/officeDocument/2006/relationships" xmlns:p="http://schemas.openxmlformats.org/presentationml/2006/main">
  <p:tag name="KSO_WM_DIAGRAM_VIRTUALLY_FRAME" val="{&quot;height&quot;:171,&quot;left&quot;:72,&quot;top&quot;:138,&quot;width&quot;:814.5}"/>
</p:tagLst>
</file>

<file path=ppt/tags/tag25.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26.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27.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28.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29.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30.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31.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32.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ags/tag33.xml><?xml version="1.0" encoding="utf-8"?>
<p:tagLst xmlns:a="http://schemas.openxmlformats.org/drawingml/2006/main" xmlns:r="http://schemas.openxmlformats.org/officeDocument/2006/relationships" xmlns:p="http://schemas.openxmlformats.org/presentationml/2006/main">
  <p:tag name="KSO_WM_DIAGRAM_VIRTUALLY_FRAME" val="{&quot;height&quot;:253.5,&quot;left&quot;:66,&quot;top&quot;:135,&quot;width&quot;:780}"/>
</p:tagLst>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10111</Words>
  <Application>Microsoft Office PowerPoint</Application>
  <PresentationFormat>宽屏</PresentationFormat>
  <Paragraphs>1060</Paragraphs>
  <Slides>41</Slides>
  <Notes>41</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41</vt:i4>
      </vt:variant>
    </vt:vector>
  </HeadingPairs>
  <TitlesOfParts>
    <vt:vector size="46" baseType="lpstr">
      <vt:lpstr>Aptos</vt:lpstr>
      <vt:lpstr>Aptos Mono</vt:lpstr>
      <vt:lpstr>Calibri</vt:lpstr>
      <vt:lpstr>Times New Roman</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Xiangyu XU</cp:lastModifiedBy>
  <cp:revision>24</cp:revision>
  <dcterms:created xsi:type="dcterms:W3CDTF">2026-07-05T17:54:00Z</dcterms:created>
  <dcterms:modified xsi:type="dcterms:W3CDTF">2026-07-07T03:49:53Z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FC4ED24489424AEB9888716CB5877813_12</vt:lpwstr>
  </property>
</Properties>
</file>