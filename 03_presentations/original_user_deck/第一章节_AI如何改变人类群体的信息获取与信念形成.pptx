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1" r:id="rId7"/>
    <p:sldId id="269" r:id="rId8"/>
    <p:sldId id="265" r:id="rId9"/>
    <p:sldId id="271" r:id="rId10"/>
    <p:sldId id="274" r:id="rId12"/>
    <p:sldId id="272" r:id="rId13"/>
    <p:sldId id="27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我们采用四层验证。第一层验证代码是否正确实现消息、选择和更新三个函数；第二层使用人类实验分别校准并验证三个函数；第三层比较纯规则</a:t>
            </a:r>
            <a:r>
              <a:rPr lang="en-US" altLang="zh-CN"/>
              <a:t>ABM</a:t>
            </a:r>
            <a:r>
              <a:rPr lang="zh-CN" altLang="en-US"/>
              <a:t>与混合</a:t>
            </a:r>
            <a:r>
              <a:rPr lang="en-US" altLang="zh-CN"/>
              <a:t>ABM，</a:t>
            </a:r>
            <a:r>
              <a:rPr lang="zh-CN" altLang="en-US"/>
              <a:t>看加入</a:t>
            </a:r>
            <a:r>
              <a:rPr lang="en-US" altLang="zh-CN"/>
              <a:t>LLM</a:t>
            </a:r>
            <a:r>
              <a:rPr lang="zh-CN" altLang="en-US"/>
              <a:t>代理能否提高对保留议题和保留参与者的预测；第四层用小规模真实群体数据检验意见分布、聚类和传播轨迹等宏观模式。最后通过函数消融和敏感性分析判断结果来自哪个函数。混合模型如果不能超过纯规则模型，我们就不主张</a:t>
            </a:r>
            <a:r>
              <a:rPr lang="en-US" altLang="zh-CN"/>
              <a:t>LLM</a:t>
            </a:r>
            <a:r>
              <a:rPr lang="zh-CN" altLang="en-US"/>
              <a:t>代理具有额外方法价值。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1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image" Target="../media/image2.png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8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7.xml"/><Relationship Id="rId2" Type="http://schemas.openxmlformats.org/officeDocument/2006/relationships/image" Target="../media/image8.png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zh-CN"/>
              <a:t>第一章节</a:t>
            </a:r>
            <a:r>
              <a:rPr lang="en-US" altLang="zh-CN"/>
              <a:t> AI</a:t>
            </a:r>
            <a:r>
              <a:rPr lang="zh-CN" altLang="en-US"/>
              <a:t>如何改变人类群体的信息获取与意见形成？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研究背景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2741295"/>
          </a:xfrm>
        </p:spPr>
        <p:txBody>
          <a:bodyPr/>
          <a:p>
            <a:r>
              <a:rPr lang="zh-CN" altLang="en-US"/>
              <a:t>搜索引擎通常向用户展示多个来源、链接和证据线索，</a:t>
            </a:r>
            <a:endParaRPr lang="zh-CN" altLang="en-US"/>
          </a:p>
          <a:p>
            <a:r>
              <a:rPr lang="zh-CN" altLang="en-US"/>
              <a:t>生成式</a:t>
            </a:r>
            <a:r>
              <a:rPr lang="en-US" altLang="zh-CN"/>
              <a:t>AI</a:t>
            </a:r>
            <a:r>
              <a:rPr lang="zh-CN" altLang="en-US"/>
              <a:t>则越来越多地以“直接答案—综合解释—继续追问”的形式组织信息。</a:t>
            </a:r>
            <a:endParaRPr lang="zh-CN" altLang="en-US"/>
          </a:p>
          <a:p>
            <a:r>
              <a:rPr lang="en-US" altLang="zh-CN"/>
              <a:t>research problem</a:t>
            </a:r>
            <a:r>
              <a:rPr lang="zh-CN" altLang="en-US"/>
              <a:t>的诞生：群体层面上，如果大量成员依赖相同模型、相似训练数据、相同检索系统和相近的回答生成逻辑，他们看似独立作出的判断，实际上可能包含相同的信息遗漏、叙事框架和错误。另一种可能是，不同观点的群体在和</a:t>
            </a:r>
            <a:r>
              <a:rPr lang="en-US" altLang="zh-CN"/>
              <a:t>LLM</a:t>
            </a:r>
            <a:r>
              <a:rPr lang="zh-CN" altLang="en-US"/>
              <a:t>交互之后，可能会强化其</a:t>
            </a:r>
            <a:r>
              <a:rPr lang="zh-CN" altLang="en-US"/>
              <a:t>观点</a:t>
            </a:r>
            <a:endParaRPr lang="zh-CN" altLang="en-US"/>
          </a:p>
          <a:p>
            <a:r>
              <a:rPr lang="zh-CN" altLang="en-US"/>
              <a:t>现实举例：比如微博智搜，微信智搜等融合了搜索引擎的</a:t>
            </a:r>
            <a:r>
              <a:rPr lang="en-US" altLang="zh-CN"/>
              <a:t>AI</a:t>
            </a:r>
            <a:r>
              <a:rPr lang="zh-CN" altLang="en-US"/>
              <a:t>搜索</a:t>
            </a:r>
            <a:r>
              <a:rPr lang="zh-CN" altLang="en-US"/>
              <a:t>助手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研究背景：</a:t>
            </a:r>
            <a:r>
              <a:rPr lang="en-US" altLang="zh-CN"/>
              <a:t>LLM</a:t>
            </a:r>
            <a:r>
              <a:rPr lang="zh-CN" altLang="en-US"/>
              <a:t>为何可能产生相反的群体</a:t>
            </a:r>
            <a:r>
              <a:rPr lang="zh-CN" altLang="en-US"/>
              <a:t>影响？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6940" y="1593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路径一：共同信息来源 → 群体收敛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21080" y="20656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模型输出同质性：</a:t>
            </a:r>
            <a:r>
              <a:rPr lang="en-US" altLang="zh-CN"/>
              <a:t>Artificial Hivemind </a:t>
            </a:r>
            <a:r>
              <a:rPr lang="zh-CN" altLang="en-US"/>
              <a:t>发现，开放式生成存在模型内重复和模型间同质性。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21080" y="309118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算法单一化：多个决策者使用同一算法时，其判断可能产生相关性；个体层面的算法性能无法直接保证系统层面的结果。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1080" y="4393565"/>
            <a:ext cx="4064000" cy="1025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这部分</a:t>
            </a:r>
            <a:r>
              <a:rPr lang="zh-CN" altLang="en-US"/>
              <a:t>研究认为，当成员反复接触共同信息并对其赋予正向权重时，初始意见差距可能缩小。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862445" y="1593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路径二：立场条件化生成 → 群体分化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990080" y="216916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动机性怀疑与偏向性吸收：人们更容易接受与既有态度一致的论据，并反驳不一致的论据。</a:t>
            </a:r>
            <a:r>
              <a:rPr lang="en-US" altLang="zh-CN"/>
              <a:t>Taber &amp; Lodge, 2006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059295" y="322961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用户条件化生成：当初始立场进入提示或对话历史时，</a:t>
            </a:r>
            <a:r>
              <a:rPr lang="en-US" altLang="zh-CN"/>
              <a:t>LLM</a:t>
            </a:r>
            <a:r>
              <a:rPr lang="zh-CN" altLang="en-US"/>
              <a:t>可能生成更多立场一致的信息。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990080" y="422338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LLM</a:t>
            </a:r>
            <a:r>
              <a:rPr lang="zh-CN" altLang="en-US"/>
              <a:t>代理模拟已经发现：一般提示下代理趋向共识；加入确认偏误提示后，系统出现意见碎片化。</a:t>
            </a:r>
            <a:r>
              <a:rPr lang="en-US" altLang="zh-CN"/>
              <a:t>Chuang et al., 2024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6862445" y="54940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这部分研究</a:t>
            </a:r>
            <a:r>
              <a:rPr lang="zh-CN" altLang="en-US"/>
              <a:t>认为：算法个性化模型筛选信息可能与网络结构共同产生意见聚类和极化。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</a:t>
            </a:r>
            <a:r>
              <a:rPr lang="zh-CN" altLang="en-US"/>
              <a:t>缺口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输出—暴露缺口：</a:t>
            </a:r>
            <a:r>
              <a:rPr lang="en-US" altLang="zh-CN"/>
              <a:t>LLM</a:t>
            </a:r>
            <a:r>
              <a:rPr lang="zh-CN" altLang="en-US"/>
              <a:t>回答相似是否会转化为成员实际信息暴露和传播的相似，尚不清楚。</a:t>
            </a:r>
            <a:endParaRPr lang="zh-CN" altLang="en-US"/>
          </a:p>
          <a:p>
            <a:r>
              <a:rPr lang="zh-CN" altLang="en-US"/>
              <a:t>信息—意见缺口：暴露与传播的变化如何进入个体意见更新并形成群体分布，尚未得到分层识别。</a:t>
            </a:r>
            <a:endParaRPr lang="zh-CN" altLang="en-US"/>
          </a:p>
          <a:p>
            <a:r>
              <a:rPr lang="zh-CN" altLang="en-US"/>
              <a:t>干预缺口：改变</a:t>
            </a:r>
            <a:r>
              <a:rPr lang="en-US" altLang="zh-CN"/>
              <a:t>LLM</a:t>
            </a:r>
            <a:r>
              <a:rPr lang="zh-CN" altLang="en-US"/>
              <a:t>使用结构能否改变信息过程，并减弱已经观察到的群体意见演化现象，尚未检验。</a:t>
            </a:r>
            <a:endParaRPr lang="zh-CN" altLang="en-US"/>
          </a:p>
          <a:p>
            <a:r>
              <a:rPr lang="zh-CN" altLang="en-US"/>
              <a:t>缺口四：现有</a:t>
            </a:r>
            <a:r>
              <a:rPr lang="en-US" altLang="zh-CN"/>
              <a:t>LLM</a:t>
            </a:r>
            <a:r>
              <a:rPr lang="zh-CN" altLang="en-US"/>
              <a:t>社会仿真存在循环效度问题</a:t>
            </a:r>
            <a:endParaRPr lang="en-US" altLang="zh-CN"/>
          </a:p>
          <a:p>
            <a:r>
              <a:rPr lang="zh-CN" altLang="en-US"/>
              <a:t>已有研究已经证明可以根据调查或访谈构造</a:t>
            </a:r>
            <a:r>
              <a:rPr lang="en-US" altLang="zh-CN"/>
              <a:t>LLM</a:t>
            </a:r>
            <a:r>
              <a:rPr lang="zh-CN" altLang="en-US"/>
              <a:t>代理。例如，</a:t>
            </a:r>
            <a:r>
              <a:rPr lang="en-US" altLang="zh-CN"/>
              <a:t>Argyle</a:t>
            </a:r>
            <a:r>
              <a:rPr lang="zh-CN" altLang="en-US"/>
              <a:t>等人使用真实调查背景构造“硅样本”，</a:t>
            </a:r>
            <a:r>
              <a:rPr lang="en-US" altLang="zh-CN"/>
              <a:t>Park</a:t>
            </a:r>
            <a:r>
              <a:rPr lang="zh-CN" altLang="en-US"/>
              <a:t>等人使用1,052人的访谈和调查建立生成式代理。但如果同一个</a:t>
            </a:r>
            <a:r>
              <a:rPr lang="en-US" altLang="zh-CN"/>
              <a:t>LLM</a:t>
            </a:r>
            <a:r>
              <a:rPr lang="zh-CN" altLang="en-US"/>
              <a:t>同时扮演人类代理和共同信息源，模型自身的偏好会同时进入行为生成和信息生成，机械地产生同质化。</a:t>
            </a:r>
            <a:endParaRPr lang="zh-CN" altLang="en-US"/>
          </a:p>
          <a:p>
            <a:r>
              <a:rPr lang="zh-CN" altLang="en-US"/>
              <a:t>缺口五：缺少可验证的微观—宏观桥梁</a:t>
            </a:r>
            <a:endParaRPr lang="en-US" altLang="zh-CN"/>
          </a:p>
          <a:p>
            <a:r>
              <a:rPr lang="zh-CN" altLang="en-US"/>
              <a:t>真实人群实验通常规模有限，难以观察数千或数万使用者长期使用共同</a:t>
            </a:r>
            <a:r>
              <a:rPr lang="en-US" altLang="zh-CN"/>
              <a:t>LLM</a:t>
            </a:r>
            <a:r>
              <a:rPr lang="zh-CN" altLang="en-US"/>
              <a:t>的系统结果。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理论</a:t>
            </a:r>
            <a:r>
              <a:rPr lang="zh-CN" altLang="en-US"/>
              <a:t>框架：群体意见如何从个体互动中涌现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775450" y="1313815"/>
            <a:ext cx="51047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ABM</a:t>
            </a:r>
            <a:r>
              <a:rPr lang="zh-CN" altLang="en-US"/>
              <a:t>建模：</a:t>
            </a:r>
            <a:endParaRPr lang="zh-CN" altLang="en-US"/>
          </a:p>
          <a:p>
            <a:r>
              <a:rPr lang="en-US" altLang="zh-CN"/>
              <a:t>ABM</a:t>
            </a:r>
            <a:r>
              <a:rPr lang="zh-CN" altLang="en-US"/>
              <a:t>适合研究局部互动如何形成信息扩散、规范、集体行动等宏观模式，尤其适用于“群体结果无法由个体属性简单相加得到”的问题。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2676525"/>
            <a:ext cx="9486900" cy="18954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375660" y="4815522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意见动力学提供更新规则　</a:t>
            </a:r>
            <a:r>
              <a:rPr lang="en-US" altLang="zh-CN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alt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　</a:t>
            </a:r>
            <a:r>
              <a:rPr lang="en-US" altLang="zh-CN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ABM</a:t>
            </a:r>
            <a:r>
              <a:rPr lang="zh-CN" alt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进行多主体、多轮交互模拟</a:t>
            </a:r>
            <a:endParaRPr lang="zh-CN" altLang="en-US" sz="16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ctr"/>
            <a:endParaRPr lang="zh-CN" altLang="en-US" sz="16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0" indent="0" algn="ctr"/>
            <a:r>
              <a:rPr lang="en-US" altLang="zh-CN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LLM</a:t>
            </a:r>
            <a:r>
              <a:rPr lang="zh-CN" alt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生成信息；显式规则更新意见；人类数据校准</a:t>
            </a:r>
            <a:r>
              <a:rPr lang="en-US" altLang="zh-CN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ABM</a:t>
            </a:r>
            <a:r>
              <a:rPr lang="zh-CN" alt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参数。</a:t>
            </a:r>
            <a:endParaRPr lang="zh-CN" altLang="en-US" sz="16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8330" y="1454785"/>
            <a:ext cx="498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理论基础：意见动力学</a:t>
            </a:r>
            <a:endParaRPr lang="zh-CN" altLang="en-US"/>
          </a:p>
          <a:p>
            <a:r>
              <a:rPr lang="zh-CN" altLang="en-US"/>
              <a:t>解释个体如何依据外部信息与社会影响更新立场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大语言模型如何改变群体意见分布？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590040"/>
            <a:ext cx="10968990" cy="1838960"/>
          </a:xfrm>
        </p:spPr>
        <p:txBody>
          <a:bodyPr/>
          <a:p>
            <a:r>
              <a:rPr lang="en-US" altLang="zh-CN"/>
              <a:t>research question1</a:t>
            </a:r>
            <a:r>
              <a:rPr lang="zh-CN" altLang="en-US"/>
              <a:t>，大语言模型信息</a:t>
            </a:r>
            <a:r>
              <a:rPr lang="zh-CN" altLang="en-US"/>
              <a:t>源如何改变群体中的信息暴露与信息传播？</a:t>
            </a:r>
            <a:endParaRPr lang="zh-CN" altLang="en-US"/>
          </a:p>
          <a:p>
            <a:r>
              <a:rPr lang="en-US" altLang="zh-CN">
                <a:sym typeface="+mn-ea"/>
              </a:rPr>
              <a:t>research question2</a:t>
            </a:r>
            <a:r>
              <a:rPr lang="zh-CN" altLang="en-US"/>
              <a:t>，信息暴露与传播的变化如何影响个体意见更新和群体意见演化？</a:t>
            </a:r>
            <a:endParaRPr lang="zh-CN" altLang="en-US"/>
          </a:p>
          <a:p>
            <a:r>
              <a:rPr lang="en-US" altLang="zh-CN">
                <a:sym typeface="+mn-ea"/>
              </a:rPr>
              <a:t>research question3</a:t>
            </a:r>
            <a:r>
              <a:rPr lang="zh-CN" altLang="en-US"/>
              <a:t>：如果上述群体意见演化现象存在，在</a:t>
            </a:r>
            <a:r>
              <a:rPr lang="en-US" altLang="zh-CN"/>
              <a:t>LLM</a:t>
            </a:r>
            <a:r>
              <a:rPr lang="zh-CN" altLang="en-US"/>
              <a:t>侧进行技术调整能否抑制这些现象？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8330" y="4057015"/>
            <a:ext cx="80879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可能出现</a:t>
            </a:r>
            <a:r>
              <a:rPr lang="zh-CN" altLang="en-US"/>
              <a:t>的结果：</a:t>
            </a:r>
            <a:endParaRPr lang="zh-CN" altLang="en-US"/>
          </a:p>
          <a:p>
            <a:r>
              <a:rPr lang="zh-CN" altLang="en-US"/>
              <a:t>1. 相同的</a:t>
            </a:r>
            <a:r>
              <a:rPr lang="en-US" altLang="zh-CN"/>
              <a:t>LLM</a:t>
            </a:r>
            <a:r>
              <a:rPr lang="zh-CN" altLang="en-US"/>
              <a:t>信息来源推动</a:t>
            </a:r>
            <a:r>
              <a:rPr lang="zh-CN" altLang="en-US"/>
              <a:t>群体意见趋于收敛；</a:t>
            </a:r>
            <a:endParaRPr lang="zh-CN" altLang="en-US"/>
          </a:p>
          <a:p>
            <a:r>
              <a:rPr lang="zh-CN" altLang="en-US"/>
              <a:t>2. 初始立场条件化生成、选择性分享或有界接受推动不同阵营沿各自方向更新，群体出现聚类、极化或碎片化；</a:t>
            </a:r>
            <a:endParaRPr lang="zh-CN" altLang="en-US"/>
          </a:p>
          <a:p>
            <a:r>
              <a:rPr lang="zh-CN" altLang="en-US"/>
              <a:t>3. 变化仅仅发生在群体间的信息暴露和传播中，最终的群体意见分布没有出现</a:t>
            </a:r>
            <a:r>
              <a:rPr lang="zh-CN" altLang="en-US"/>
              <a:t>显著变化。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研究方法：</a:t>
            </a:r>
            <a:r>
              <a:rPr lang="en-US" altLang="zh-CN"/>
              <a:t>ABM</a:t>
            </a:r>
            <a:r>
              <a:rPr lang="zh-CN" altLang="en-US"/>
              <a:t>动力学混合</a:t>
            </a:r>
            <a:r>
              <a:rPr lang="zh-CN" altLang="en-US"/>
              <a:t>建模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89305" y="1551940"/>
            <a:ext cx="1088517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       LLM</a:t>
            </a:r>
            <a:r>
              <a:rPr lang="zh-CN" altLang="en-US"/>
              <a:t>角色1：被研究的信息源</a:t>
            </a:r>
            <a:endParaRPr lang="zh-CN" altLang="en-US"/>
          </a:p>
          <a:p>
            <a:r>
              <a:rPr lang="zh-CN" altLang="en-US"/>
              <a:t>          生成政策回答；模型、提示、路由为处理条件</a:t>
            </a:r>
            <a:endParaRPr lang="zh-CN" altLang="en-US"/>
          </a:p>
          <a:p>
            <a:r>
              <a:rPr lang="en-US" altLang="zh-CN"/>
              <a:t>                         ↓</a:t>
            </a:r>
            <a:endParaRPr lang="en-US" altLang="zh-CN"/>
          </a:p>
          <a:p>
            <a:r>
              <a:rPr lang="zh-CN" altLang="en-US"/>
              <a:t>真实人类数据  →  ┌──────── 混合</a:t>
            </a:r>
            <a:r>
              <a:rPr lang="en-US" altLang="zh-CN"/>
              <a:t>ABM</a:t>
            </a:r>
            <a:r>
              <a:rPr lang="zh-CN" altLang="en-US"/>
              <a:t>群体 ────────┐  →  模型验证</a:t>
            </a:r>
            <a:endParaRPr lang="zh-CN" altLang="en-US"/>
          </a:p>
          <a:p>
            <a:r>
              <a:rPr lang="en-US" altLang="zh-CN"/>
              <a:t>                 │                             │</a:t>
            </a:r>
            <a:endParaRPr lang="en-US" altLang="zh-CN"/>
          </a:p>
          <a:p>
            <a:r>
              <a:rPr lang="zh-CN" altLang="en-US"/>
              <a:t>问卷与实验       │  </a:t>
            </a:r>
            <a:r>
              <a:rPr lang="en-US" altLang="zh-CN"/>
              <a:t>LLM</a:t>
            </a:r>
            <a:r>
              <a:rPr lang="zh-CN" altLang="en-US"/>
              <a:t>角色2：</a:t>
            </a:r>
            <a:r>
              <a:rPr lang="en-US" altLang="zh-CN"/>
              <a:t>LLM</a:t>
            </a:r>
            <a:r>
              <a:rPr lang="zh-CN" altLang="en-US"/>
              <a:t>代理节点       │     微观更新</a:t>
            </a:r>
            <a:endParaRPr lang="zh-CN" altLang="en-US"/>
          </a:p>
          <a:p>
            <a:r>
              <a:rPr lang="zh-CN" altLang="en-US"/>
              <a:t>                 │          ↕ 双向交互           │     分享行为</a:t>
            </a:r>
            <a:endParaRPr lang="zh-CN" altLang="en-US"/>
          </a:p>
          <a:p>
            <a:r>
              <a:rPr lang="zh-CN" altLang="en-US"/>
              <a:t>初始化与校准     │  规则代理：意见动力学节点     │     群体分布</a:t>
            </a:r>
            <a:endParaRPr lang="zh-CN" altLang="en-US"/>
          </a:p>
          <a:p>
            <a:r>
              <a:rPr lang="zh-CN" altLang="en-US"/>
              <a:t>                 │                             │     保留议题</a:t>
            </a:r>
            <a:endParaRPr lang="zh-CN" altLang="en-US"/>
          </a:p>
          <a:p>
            <a:r>
              <a:rPr lang="en-US" altLang="zh-CN"/>
              <a:t>                 └─────────────────────────────┘</a:t>
            </a:r>
            <a:endParaRPr lang="en-US" altLang="zh-CN"/>
          </a:p>
          <a:p>
            <a:r>
              <a:rPr lang="en-US" altLang="zh-CN"/>
              <a:t>                         ↓</a:t>
            </a:r>
            <a:endParaRPr lang="en-US" altLang="zh-CN"/>
          </a:p>
          <a:p>
            <a:r>
              <a:rPr lang="zh-CN" altLang="en-US"/>
              <a:t>                更新意见 · 分享信息 · 进入下一轮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024380" y="5553075"/>
            <a:ext cx="85236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混合方法保留 </a:t>
            </a:r>
            <a:r>
              <a:rPr lang="en-US" altLang="zh-CN"/>
              <a:t>ABM </a:t>
            </a:r>
            <a:r>
              <a:rPr lang="zh-CN" altLang="en-US"/>
              <a:t>的人口、网络、时间步和互动环境，并将部分代理的消息函数和意见更新函数交给 </a:t>
            </a:r>
            <a:r>
              <a:rPr lang="en-US" altLang="zh-CN"/>
              <a:t>LLM </a:t>
            </a:r>
            <a:r>
              <a:rPr lang="zh-CN" altLang="en-US"/>
              <a:t>实现。其他代理继续使用传统意见动力学方程。两类代理共享相同的输入输出接口，因此可以在同一个 </a:t>
            </a:r>
            <a:r>
              <a:rPr lang="en-US" altLang="zh-CN"/>
              <a:t>ABM </a:t>
            </a:r>
            <a:r>
              <a:rPr lang="zh-CN" altLang="en-US"/>
              <a:t>中互动。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研究方法：意见更新</a:t>
            </a:r>
            <a:r>
              <a:rPr lang="zh-CN" altLang="en-US"/>
              <a:t>函数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68490" y="228092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**Selection function，$f_{\text{selection}}$：** </a:t>
            </a:r>
            <a:r>
              <a:rPr lang="zh-CN" altLang="en-US"/>
              <a:t>决定哪些来源 $</a:t>
            </a:r>
            <a:r>
              <a:rPr lang="en-US" altLang="zh-CN"/>
              <a:t>j$ </a:t>
            </a:r>
            <a:r>
              <a:rPr lang="zh-CN" altLang="en-US"/>
              <a:t>进入 $</a:t>
            </a:r>
            <a:r>
              <a:rPr lang="en-US" altLang="zh-CN"/>
              <a:t>J_{i,t}$。</a:t>
            </a:r>
            <a:r>
              <a:rPr lang="zh-CN" altLang="en-US"/>
              <a:t>它回答“成员实际接触谁的信息”。</a:t>
            </a:r>
            <a:endParaRPr lang="zh-CN" altLang="en-US"/>
          </a:p>
          <a:p>
            <a:r>
              <a:rPr lang="en-US" altLang="zh-CN"/>
              <a:t>2. **Message function，$f_{\text{message}}$：** </a:t>
            </a:r>
            <a:r>
              <a:rPr lang="zh-CN" altLang="en-US"/>
              <a:t>决定来源状态如何形成消息 $</a:t>
            </a:r>
            <a:r>
              <a:rPr lang="en-US" altLang="zh-CN"/>
              <a:t>m_{j,t}$。</a:t>
            </a:r>
            <a:r>
              <a:rPr lang="zh-CN" altLang="en-US"/>
              <a:t>经典数值模型通常令 $</a:t>
            </a:r>
            <a:r>
              <a:rPr lang="en-US" altLang="zh-CN"/>
              <a:t>m_{j,t}=a_{j,t}$。</a:t>
            </a:r>
            <a:endParaRPr lang="en-US" altLang="zh-CN"/>
          </a:p>
          <a:p>
            <a:r>
              <a:rPr lang="en-US" altLang="zh-CN"/>
              <a:t>3. **Update function，$f_{\text{update}}$：** </a:t>
            </a:r>
            <a:r>
              <a:rPr lang="zh-CN" altLang="en-US"/>
              <a:t>决定收到消息后，成员的意见状态如何变化。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608330" y="2196465"/>
                <a:ext cx="5299075" cy="1122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𝑚𝑒𝑠𝑠𝑎𝑔𝑒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𝑠𝑒𝑙𝑒𝑐𝑡𝑖𝑜𝑛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,{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},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𝑢𝑝𝑑𝑎𝑡𝑒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,{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𝑗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: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},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330" y="2196465"/>
                <a:ext cx="5299075" cy="11220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1226185" y="367157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$x_{i,t}$</a:t>
            </a:r>
            <a:r>
              <a:rPr lang="zh-CN" altLang="en-US"/>
              <a:t>表示代理$</a:t>
            </a:r>
            <a:r>
              <a:rPr lang="en-US" altLang="zh-CN"/>
              <a:t>i$</a:t>
            </a:r>
            <a:r>
              <a:rPr lang="zh-CN" altLang="en-US"/>
              <a:t>在$</a:t>
            </a:r>
            <a:r>
              <a:rPr lang="en-US" altLang="zh-CN"/>
              <a:t>t$</a:t>
            </a:r>
            <a:r>
              <a:rPr lang="zh-CN" altLang="en-US"/>
              <a:t>轮的意见状态，$</a:t>
            </a:r>
            <a:r>
              <a:rPr lang="en-US" altLang="zh-CN"/>
              <a:t>z_i$</a:t>
            </a:r>
            <a:r>
              <a:rPr lang="zh-CN" altLang="en-US"/>
              <a:t>表示由人类数据支持的个体特征，$</a:t>
            </a:r>
            <a:r>
              <a:rPr lang="en-US" altLang="zh-CN"/>
              <a:t>H_{i,t}$</a:t>
            </a:r>
            <a:r>
              <a:rPr lang="zh-CN" altLang="en-US"/>
              <a:t>表示历史记忆，$</a:t>
            </a:r>
            <a:r>
              <a:rPr lang="en-US" altLang="zh-CN"/>
              <a:t>E_t$</a:t>
            </a:r>
            <a:r>
              <a:rPr lang="zh-CN" altLang="en-US"/>
              <a:t>表示外部信息环境，$</a:t>
            </a:r>
            <a:r>
              <a:rPr lang="en-US" altLang="zh-CN"/>
              <a:t>G_t$</a:t>
            </a:r>
            <a:r>
              <a:rPr lang="zh-CN" altLang="en-US"/>
              <a:t>表示互动网络，$</a:t>
            </a:r>
            <a:r>
              <a:rPr lang="en-US" altLang="zh-CN"/>
              <a:t>J_{i,t}$</a:t>
            </a:r>
            <a:r>
              <a:rPr lang="zh-CN" altLang="en-US"/>
              <a:t>表示本轮实际进入代理$</a:t>
            </a:r>
            <a:r>
              <a:rPr lang="en-US" altLang="zh-CN"/>
              <a:t>i$</a:t>
            </a:r>
            <a:r>
              <a:rPr lang="zh-CN" altLang="en-US"/>
              <a:t>暴露集合的信息来源。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假设</a:t>
            </a:r>
            <a:r>
              <a:rPr lang="zh-CN" altLang="en-US"/>
              <a:t>验证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62940" y="14020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SQ1</a:t>
            </a:r>
            <a:r>
              <a:rPr lang="zh-CN" altLang="en-US"/>
              <a:t>：改变消息来源，观察</a:t>
            </a:r>
            <a:r>
              <a:rPr lang="en-US" altLang="zh-CN"/>
              <a:t>fmessage</a:t>
            </a:r>
            <a:r>
              <a:rPr lang="zh-CN" altLang="en-US"/>
              <a:t>与</a:t>
            </a:r>
            <a:r>
              <a:rPr lang="en-US" altLang="zh-CN"/>
              <a:t>fse</a:t>
            </a:r>
            <a:r>
              <a:rPr lang="en-US" altLang="zh-CN"/>
              <a:t>lection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635" y="608330"/>
            <a:ext cx="4200525" cy="30194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635" y="3359785"/>
            <a:ext cx="3914775" cy="1143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135505"/>
            <a:ext cx="4105275" cy="762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30" y="2897505"/>
            <a:ext cx="3705225" cy="27241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010" y="4502785"/>
            <a:ext cx="3962400" cy="17621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稳健性验证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163435" y="1423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验证混合架构的</a:t>
            </a:r>
            <a:r>
              <a:rPr lang="zh-CN" altLang="en-US"/>
              <a:t>必要性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63435" y="204343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关键比较</a:t>
            </a:r>
            <a:r>
              <a:rPr lang="zh-CN" altLang="en-US"/>
              <a:t>为：加入</a:t>
            </a:r>
            <a:r>
              <a:rPr lang="en-US" altLang="zh-CN"/>
              <a:t>LLM</a:t>
            </a:r>
            <a:r>
              <a:rPr lang="zh-CN" altLang="en-US"/>
              <a:t>代理后，能否提高对保留数据中意见变化、消息表达、分享行为和群体分布的预测？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8330" y="160401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程序验证：这一层验证代码分别对三个函数做单元测试看模型代码、</a:t>
            </a:r>
            <a:r>
              <a:rPr lang="zh-CN" altLang="en-US"/>
              <a:t>输出是否符合</a:t>
            </a:r>
            <a:r>
              <a:rPr lang="en-US" altLang="zh-CN"/>
              <a:t>ODD</a:t>
            </a:r>
            <a:r>
              <a:rPr lang="zh-CN" altLang="en-US"/>
              <a:t>协议完整</a:t>
            </a:r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163435" y="3947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验证群体涌现结果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63435" y="45478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可以组织规模较小、轮数有限的人类群体实验，用来验证群体轨迹。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潜在</a:t>
            </a:r>
            <a:r>
              <a:rPr lang="zh-CN" altLang="en-US"/>
              <a:t>贡献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6295" y="1581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从个体人机交互推进到群体意见形成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78230" y="1991360"/>
            <a:ext cx="40640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建立从个体</a:t>
            </a:r>
            <a:r>
              <a:rPr lang="en-US" altLang="zh-CN" sz="1400"/>
              <a:t>LLM</a:t>
            </a:r>
            <a:r>
              <a:rPr lang="zh-CN" altLang="en-US" sz="1400"/>
              <a:t>交互到群体意见分布的微观—宏观解释：</a:t>
            </a:r>
            <a:endParaRPr lang="zh-CN" altLang="en-US" sz="1400"/>
          </a:p>
          <a:p>
            <a:endParaRPr lang="zh-CN" altLang="en-US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95" y="2425065"/>
            <a:ext cx="6467475" cy="3524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6295" y="3139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将自然语言信息过程纳入意见动力学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6295" y="41897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：扩展</a:t>
            </a:r>
            <a:r>
              <a:rPr lang="en-US" altLang="zh-CN"/>
              <a:t>ABM</a:t>
            </a:r>
            <a:r>
              <a:rPr lang="zh-CN" altLang="en-US"/>
              <a:t>的解释范围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91870" y="483489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\[</a:t>
            </a:r>
            <a:endParaRPr lang="en-US" altLang="zh-CN"/>
          </a:p>
          <a:p>
            <a:r>
              <a:rPr lang="en-US" altLang="zh-CN"/>
              <a:t>\text{</a:t>
            </a:r>
            <a:r>
              <a:rPr lang="zh-CN" altLang="en-US"/>
              <a:t>显式动力学规则}</a:t>
            </a:r>
            <a:endParaRPr lang="zh-CN" altLang="en-US"/>
          </a:p>
          <a:p>
            <a:r>
              <a:rPr lang="en-US" altLang="zh-CN"/>
              <a:t>+</a:t>
            </a:r>
            <a:endParaRPr lang="en-US" altLang="zh-CN"/>
          </a:p>
          <a:p>
            <a:r>
              <a:rPr lang="en-US" altLang="zh-CN"/>
              <a:t>\text{</a:t>
            </a:r>
            <a:r>
              <a:rPr lang="zh-CN" altLang="en-US"/>
              <a:t>自然语言过程记录}</a:t>
            </a:r>
            <a:endParaRPr lang="zh-CN" altLang="en-US"/>
          </a:p>
          <a:p>
            <a:r>
              <a:rPr lang="zh-CN" altLang="en-US"/>
              <a:t>\]同时观察消息、暴露、传播路径和意见变化，使群体结果可以沿信息路径追溯。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734935" y="1313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探究</a:t>
            </a:r>
            <a:r>
              <a:rPr lang="en-US" altLang="zh-CN"/>
              <a:t>LLM</a:t>
            </a:r>
            <a:r>
              <a:rPr lang="zh-CN" altLang="en-US"/>
              <a:t>输出同质性研究的群体</a:t>
            </a:r>
            <a:r>
              <a:rPr lang="zh-CN" altLang="en-US"/>
              <a:t>效应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34935" y="178244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LLM</a:t>
            </a:r>
            <a:r>
              <a:rPr lang="zh-CN" altLang="en-US"/>
              <a:t>同质性研究</a:t>
            </a:r>
            <a:r>
              <a:rPr lang="zh-CN" altLang="en-US"/>
              <a:t>预测：不同成员在共同提示下使用相同模型，可能获得相似论点、证据和来源</a:t>
            </a:r>
            <a:endParaRPr lang="zh-CN" altLang="en-US"/>
          </a:p>
          <a:p>
            <a:r>
              <a:rPr lang="zh-CN" altLang="en-US"/>
              <a:t>算法个性化和有界信任研究则</a:t>
            </a:r>
            <a:r>
              <a:rPr lang="zh-CN" altLang="en-US"/>
              <a:t>相反。</a:t>
            </a:r>
            <a:endParaRPr lang="zh-CN" altLang="en-US"/>
          </a:p>
          <a:p>
            <a:r>
              <a:rPr lang="zh-CN" altLang="en-US"/>
              <a:t>本研究的结果可以为这两种理论找到各自边界</a:t>
            </a:r>
            <a:r>
              <a:rPr lang="zh-CN" altLang="en-US"/>
              <a:t>条件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WPS 演示</Application>
  <PresentationFormat>宽屏</PresentationFormat>
  <Paragraphs>131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Noto Sans SC</vt:lpstr>
      <vt:lpstr>Cambria Math</vt:lpstr>
      <vt:lpstr>微软雅黑</vt:lpstr>
      <vt:lpstr>Arial Unicode MS</vt:lpstr>
      <vt:lpstr>Calibri</vt:lpstr>
      <vt:lpstr>WPS</vt:lpstr>
      <vt:lpstr>第一章节 AI如何改变人类群体的信息获取与意见形成？</vt:lpstr>
      <vt:lpstr>研究背景</vt:lpstr>
      <vt:lpstr>研究背景</vt:lpstr>
      <vt:lpstr>研究缺口</vt:lpstr>
      <vt:lpstr>理论框架：群体意见如何从个体互动中涌现</vt:lpstr>
      <vt:lpstr>大语言模型如何改变群体意见分布？</vt:lpstr>
      <vt:lpstr>研究方法：ABM动力学混合建模</vt:lpstr>
      <vt:lpstr>研究方法：意见更新函数</vt:lpstr>
      <vt:lpstr>假设验证</vt:lpstr>
      <vt:lpstr>稳健性验证</vt:lpstr>
      <vt:lpstr>潜在贡献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汉克克克克克克克</cp:lastModifiedBy>
  <cp:revision>163</cp:revision>
  <dcterms:created xsi:type="dcterms:W3CDTF">2019-06-19T02:08:00Z</dcterms:created>
  <dcterms:modified xsi:type="dcterms:W3CDTF">2026-08-25T17:37:08Z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B54028C19F3A4C0BAD038A34C6C516B0_11</vt:lpwstr>
  </property>
</Properties>
</file>