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8" r:id="rId15"/>
    <p:sldId id="270" r:id="rId16"/>
  </p:sldIdLst>
  <p:sldSz cx="12192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 d="1"/>
          <a:sy n="1" d="1"/>
        </p:scale>
        <p:origin x="0" y="0"/>
      </p:cViewPr>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此处要介绍一下</a:t>
            </a:r>
            <a:r>
              <a:t>wisdom of </a:t>
            </a:r>
            <a:r>
              <a:t>crowds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group size</a:t>
            </a:r>
            <a:r>
              <a: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p:sp>
        <p:nvSpPr>
          <p:cNvPr id="2" name="标题 1"/>
          <p:cNvSpPr>
            <a:spLocks noGrp="1"/>
          </p:cNvSpPr>
          <p:nvPr>
            <p:ph type="ctrTitle"/>
          </p:nvPr>
        </p:nvSpPr>
        <p:spPr>
          <a:xfrm>
            <a:off x="1198800" y="914400"/>
            <a:ext cx="9799200" cy="2570400"/>
          </a:xfrm>
        </p:spPr>
        <p:txBody>
          <a:bodyPr lIns="90000" tIns="46800" rIns="90000" bIns="46800" anchor="b">
            <a:normAutofit/>
          </a:bodyPr>
          <a:lstStyle>
            <a:lvl1pPr algn="ctr">
              <a:buNone/>
              <a:defRPr sz="6000"/>
            </a:lvl1pPr>
          </a:lstStyle>
          <a:p>
            <a:r>
              <a:t>单击此处编辑母版标题样式</a:t>
            </a:r>
          </a:p>
        </p:txBody>
      </p:sp>
      <p:sp>
        <p:nvSpPr>
          <p:cNvPr id="3" name="副标题 2"/>
          <p:cNvSpPr>
            <a:spLocks noGrp="1"/>
          </p:cNvSpPr>
          <p:nvPr>
            <p:ph type="subTitle" idx="1"/>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单击此处编辑母版副标题样式</a:t>
            </a:r>
          </a:p>
        </p:txBody>
      </p:sp>
      <p:sp>
        <p:nvSpPr>
          <p:cNvPr id="16" name="日期占位符 15"/>
          <p:cNvSpPr>
            <a:spLocks noGrp="1"/>
          </p:cNvSpPr>
          <p:nvPr>
            <p:ph type="dt" idx="10"/>
          </p:nvPr>
        </p:nvSpPr>
        <p:spPr/>
        <p:txBody>
          <a:bodyPr/>
          <a:lstStyle/>
          <a:p/>
        </p:txBody>
      </p:sp>
      <p:sp>
        <p:nvSpPr>
          <p:cNvPr id="17" name="页脚占位符 16"/>
          <p:cNvSpPr>
            <a:spLocks noGrp="1"/>
          </p:cNvSpPr>
          <p:nvPr>
            <p:ph type="ftr" idx="11"/>
          </p:nvPr>
        </p:nvSpPr>
        <p:spPr/>
        <p:txBody>
          <a:bodyPr/>
          <a:lstStyle/>
          <a:p/>
        </p:txBody>
      </p:sp>
      <p:sp>
        <p:nvSpPr>
          <p:cNvPr id="18" name="灯片编号占位符 17"/>
          <p:cNvSpPr>
            <a:spLocks noGrp="1"/>
          </p:cNvSpPr>
          <p:nvPr>
            <p:ph type="sldNum" idx="12"/>
          </p:nvPr>
        </p:nvSpPr>
        <p:spPr/>
        <p:txBody>
          <a:body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p:sp>
        <p:nvSpPr>
          <p:cNvPr id="2" name="标题 1"/>
          <p:cNvSpPr>
            <a:spLocks noGrp="1"/>
          </p:cNvSpPr>
          <p:nvPr>
            <p:ph type="title"/>
          </p:nvPr>
        </p:nvSpPr>
        <p:spPr>
          <a:xfrm>
            <a:off x="608400" y="608400"/>
            <a:ext cx="10969200" cy="705600"/>
          </a:xfrm>
        </p:spPr>
        <p:txBody>
          <a:bodyPr vert="horz" lIns="90000" tIns="46800" rIns="90000" bIns="46800" anchor="ctr">
            <a:normAutofit/>
          </a:bodyPr>
          <a:lstStyle/>
          <a:p>
            <a:pPr lvl="0">
              <a:buNone/>
            </a:pPr>
            <a:r>
              <a:t>单击此处编辑母版标题样式</a:t>
            </a:r>
          </a:p>
        </p:txBody>
      </p:sp>
      <p:sp>
        <p:nvSpPr>
          <p:cNvPr id="3" name="内容占位符 2"/>
          <p:cNvSpPr>
            <a:spLocks noGrp="1"/>
          </p:cNvSpPr>
          <p:nvPr>
            <p:ph idx="1"/>
          </p:nvPr>
        </p:nvSpPr>
        <p:spPr>
          <a:xfrm>
            <a:off x="608400" y="1490400"/>
            <a:ext cx="10969200" cy="4759200"/>
          </a:xfrm>
        </p:spPr>
        <p:txBody>
          <a:bodyPr vert="horz" lIns="90000" tIns="46800" rIns="90000" bIns="46800">
            <a:normAutofit/>
          </a:bodyPr>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4" name="日期占位符 3"/>
          <p:cNvSpPr>
            <a:spLocks noGrp="1"/>
          </p:cNvSpPr>
          <p:nvPr>
            <p:ph type="dt" idx="10"/>
          </p:nvPr>
        </p:nvSpPr>
        <p:spPr/>
        <p:txBody>
          <a:bodyPr/>
          <a:lstStyle/>
          <a:p/>
        </p:txBody>
      </p:sp>
      <p:sp>
        <p:nvSpPr>
          <p:cNvPr id="5" name="页脚占位符 4"/>
          <p:cNvSpPr>
            <a:spLocks noGrp="1"/>
          </p:cNvSpPr>
          <p:nvPr>
            <p:ph type="ftr" idx="11"/>
          </p:nvPr>
        </p:nvSpPr>
        <p:spPr/>
        <p:txBody>
          <a:bodyPr/>
          <a:lstStyle/>
          <a:p/>
        </p:txBody>
      </p:sp>
      <p:sp>
        <p:nvSpPr>
          <p:cNvPr id="6" name="灯片编号占位符 5"/>
          <p:cNvSpPr>
            <a:spLocks noGrp="1"/>
          </p:cNvSpPr>
          <p:nvPr>
            <p:ph type="sldNum" idx="12"/>
          </p:nvPr>
        </p:nvSpPr>
        <p:spPr/>
        <p:txBody>
          <a:body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p:sp>
        <p:nvSpPr>
          <p:cNvPr id="2" name="标题 1"/>
          <p:cNvSpPr>
            <a:spLocks noGrp="1"/>
          </p:cNvSpPr>
          <p:nvPr>
            <p:ph type="title" hasCustomPrompt="1"/>
          </p:nvPr>
        </p:nvSpPr>
        <p:spPr>
          <a:xfrm>
            <a:off x="1990800" y="3848400"/>
            <a:ext cx="7768800" cy="766800"/>
          </a:xfrm>
        </p:spPr>
        <p:txBody>
          <a:bodyPr lIns="90000" tIns="46800" rIns="90000" bIns="46800" anchor="b">
            <a:normAutofit/>
          </a:bodyPr>
          <a:lstStyle>
            <a:lvl1pPr>
              <a:buNone/>
              <a:defRPr sz="4400"/>
            </a:lvl1pPr>
          </a:lstStyle>
          <a:p>
            <a:r>
              <a:t>单击此处编辑标题</a:t>
            </a:r>
          </a:p>
        </p:txBody>
      </p:sp>
      <p:sp>
        <p:nvSpPr>
          <p:cNvPr id="3" name="文本占位符 2"/>
          <p:cNvSpPr>
            <a:spLocks noGrp="1"/>
          </p:cNvSpPr>
          <p:nvPr>
            <p:ph type="body" idx="1" hasCustomPrompt="1"/>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buNone/>
            </a:pPr>
            <a:r>
              <a:t>单击此处编辑文本</a:t>
            </a:r>
          </a:p>
        </p:txBody>
      </p:sp>
      <p:sp>
        <p:nvSpPr>
          <p:cNvPr id="4" name="日期占位符 3"/>
          <p:cNvSpPr>
            <a:spLocks noGrp="1"/>
          </p:cNvSpPr>
          <p:nvPr>
            <p:ph type="dt" idx="10"/>
          </p:nvPr>
        </p:nvSpPr>
        <p:spPr/>
        <p:txBody>
          <a:bodyPr/>
          <a:lstStyle/>
          <a:p/>
        </p:txBody>
      </p:sp>
      <p:sp>
        <p:nvSpPr>
          <p:cNvPr id="5" name="页脚占位符 4"/>
          <p:cNvSpPr>
            <a:spLocks noGrp="1"/>
          </p:cNvSpPr>
          <p:nvPr>
            <p:ph type="ftr" idx="11"/>
          </p:nvPr>
        </p:nvSpPr>
        <p:spPr/>
        <p:txBody>
          <a:bodyPr/>
          <a:lstStyle/>
          <a:p/>
        </p:txBody>
      </p:sp>
      <p:sp>
        <p:nvSpPr>
          <p:cNvPr id="6" name="灯片编号占位符 5"/>
          <p:cNvSpPr>
            <a:spLocks noGrp="1"/>
          </p:cNvSpPr>
          <p:nvPr>
            <p:ph type="sldNum" idx="12"/>
          </p:nvPr>
        </p:nvSpPr>
        <p:spPr/>
        <p:txBody>
          <a:body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p:sp>
        <p:nvSpPr>
          <p:cNvPr id="2" name="标题 1"/>
          <p:cNvSpPr>
            <a:spLocks noGrp="1"/>
          </p:cNvSpPr>
          <p:nvPr>
            <p:ph type="title"/>
          </p:nvPr>
        </p:nvSpPr>
        <p:spPr>
          <a:xfrm>
            <a:off x="608400" y="608400"/>
            <a:ext cx="10969200" cy="705600"/>
          </a:xfrm>
        </p:spPr>
        <p:txBody>
          <a:bodyPr vert="horz" lIns="90000" tIns="46800" rIns="90000" bIns="46800" anchor="ctr">
            <a:normAutofit/>
          </a:bodyPr>
          <a:lstStyle/>
          <a:p>
            <a:pPr lvl="0">
              <a:buNone/>
            </a:pPr>
            <a:r>
              <a:t>单击此处编辑母版标题样式</a:t>
            </a:r>
          </a:p>
        </p:txBody>
      </p:sp>
      <p:sp>
        <p:nvSpPr>
          <p:cNvPr id="3" name="内容占位符 2"/>
          <p:cNvSpPr>
            <a:spLocks noGrp="1"/>
          </p:cNvSpPr>
          <p:nvPr>
            <p:ph idx="1"/>
          </p:nvPr>
        </p:nvSpPr>
        <p:spPr>
          <a:xfrm>
            <a:off x="608400" y="1501200"/>
            <a:ext cx="5176800" cy="4748400"/>
          </a:xfrm>
        </p:spPr>
        <p:txBody>
          <a:bodyPr vert="horz" lIns="90000" tIns="46800" rIns="90000" bIns="46800">
            <a:normAutofit/>
          </a:bodyPr>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4" name="内容占位符 3"/>
          <p:cNvSpPr>
            <a:spLocks noGrp="1"/>
          </p:cNvSpPr>
          <p:nvPr>
            <p:ph idx="2"/>
          </p:nvPr>
        </p:nvSpPr>
        <p:spPr>
          <a:xfrm>
            <a:off x="6411600" y="1501200"/>
            <a:ext cx="5176800" cy="4748400"/>
          </a:xfrm>
        </p:spPr>
        <p:txBody>
          <a:bodyPr lIns="90000" tIns="46800" rIns="90000" bIns="46800">
            <a:normAutofit/>
          </a:bodyPr>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5" name="日期占位符 4"/>
          <p:cNvSpPr>
            <a:spLocks noGrp="1"/>
          </p:cNvSpPr>
          <p:nvPr>
            <p:ph type="dt" idx="10"/>
          </p:nvPr>
        </p:nvSpPr>
        <p:spPr/>
        <p:txBody>
          <a:bodyPr/>
          <a:lstStyle/>
          <a:p/>
        </p:txBody>
      </p:sp>
      <p:sp>
        <p:nvSpPr>
          <p:cNvPr id="6" name="页脚占位符 5"/>
          <p:cNvSpPr>
            <a:spLocks noGrp="1"/>
          </p:cNvSpPr>
          <p:nvPr>
            <p:ph type="ftr" idx="11"/>
          </p:nvPr>
        </p:nvSpPr>
        <p:spPr/>
        <p:txBody>
          <a:bodyPr/>
          <a:lstStyle/>
          <a:p/>
        </p:txBody>
      </p:sp>
      <p:sp>
        <p:nvSpPr>
          <p:cNvPr id="7" name="灯片编号占位符 6"/>
          <p:cNvSpPr>
            <a:spLocks noGrp="1"/>
          </p:cNvSpPr>
          <p:nvPr>
            <p:ph type="sldNum" idx="12"/>
          </p:nvPr>
        </p:nvSpPr>
        <p:spPr/>
        <p:txBody>
          <a:body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p:sp>
        <p:nvSpPr>
          <p:cNvPr id="2" name="标题 1"/>
          <p:cNvSpPr>
            <a:spLocks noGrp="1"/>
          </p:cNvSpPr>
          <p:nvPr>
            <p:ph type="title"/>
          </p:nvPr>
        </p:nvSpPr>
        <p:spPr>
          <a:xfrm>
            <a:off x="608400" y="608400"/>
            <a:ext cx="10969200" cy="705600"/>
          </a:xfrm>
        </p:spPr>
        <p:txBody>
          <a:bodyPr vert="horz" lIns="90000" tIns="46800" rIns="90000" bIns="46800" anchor="ctr">
            <a:normAutofit/>
          </a:bodyPr>
          <a:lstStyle/>
          <a:p>
            <a:pPr lvl="0">
              <a:buNone/>
            </a:pPr>
            <a:r>
              <a:t>单击此处编辑母版标题样式</a:t>
            </a:r>
          </a:p>
        </p:txBody>
      </p:sp>
      <p:sp>
        <p:nvSpPr>
          <p:cNvPr id="3" name="文本占位符 2"/>
          <p:cNvSpPr>
            <a:spLocks noGrp="1"/>
          </p:cNvSpPr>
          <p:nvPr>
            <p:ph type="body" idx="1" hasCustomPrompt="1"/>
          </p:nvPr>
        </p:nvSpPr>
        <p:spPr>
          <a:xfrm>
            <a:off x="608400" y="1429200"/>
            <a:ext cx="5342400" cy="381600"/>
          </a:xfrm>
        </p:spPr>
        <p:txBody>
          <a:bodyPr lIns="101600" tIns="38100" rIns="76200" bIns="38100" anchor="t">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单击此处编辑文本</a:t>
            </a:r>
          </a:p>
        </p:txBody>
      </p:sp>
      <p:sp>
        <p:nvSpPr>
          <p:cNvPr id="4" name="内容占位符 3"/>
          <p:cNvSpPr>
            <a:spLocks noGrp="1"/>
          </p:cNvSpPr>
          <p:nvPr>
            <p:ph idx="2"/>
          </p:nvPr>
        </p:nvSpPr>
        <p:spPr>
          <a:xfrm>
            <a:off x="608400" y="1854000"/>
            <a:ext cx="5342400" cy="4395600"/>
          </a:xfrm>
        </p:spPr>
        <p:txBody>
          <a:bodyPr vert="horz" lIns="101600" tIns="0" rIns="82550" bIns="0">
            <a:normAutofit/>
          </a:bodyPr>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5" name="文本占位符 4"/>
          <p:cNvSpPr>
            <a:spLocks noGrp="1"/>
          </p:cNvSpPr>
          <p:nvPr>
            <p:ph type="body" idx="3" hasCustomPrompt="1"/>
          </p:nvPr>
        </p:nvSpPr>
        <p:spPr>
          <a:xfrm>
            <a:off x="6235750" y="1421729"/>
            <a:ext cx="5342400" cy="381600"/>
          </a:xfrm>
        </p:spPr>
        <p:txBody>
          <a:bodyPr vert="horz" lIns="101600" tIns="38100" rIns="76200" bIns="38100" anchor="t">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单击此处编辑文本</a:t>
            </a:r>
          </a:p>
        </p:txBody>
      </p:sp>
      <p:sp>
        <p:nvSpPr>
          <p:cNvPr id="6" name="内容占位符 5"/>
          <p:cNvSpPr>
            <a:spLocks noGrp="1"/>
          </p:cNvSpPr>
          <p:nvPr>
            <p:ph idx="4"/>
          </p:nvPr>
        </p:nvSpPr>
        <p:spPr>
          <a:xfrm>
            <a:off x="6235750" y="1854000"/>
            <a:ext cx="5342400" cy="4395600"/>
          </a:xfrm>
        </p:spPr>
        <p:txBody>
          <a:bodyPr vert="horz" lIns="101600" tIns="0" rIns="82550" bIns="0">
            <a:normAutofit/>
          </a:bodyPr>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7" name="日期占位符 6"/>
          <p:cNvSpPr>
            <a:spLocks noGrp="1"/>
          </p:cNvSpPr>
          <p:nvPr>
            <p:ph type="dt" idx="10"/>
          </p:nvPr>
        </p:nvSpPr>
        <p:spPr/>
        <p:txBody>
          <a:bodyPr/>
          <a:lstStyle/>
          <a:p/>
        </p:txBody>
      </p:sp>
      <p:sp>
        <p:nvSpPr>
          <p:cNvPr id="8" name="页脚占位符 7"/>
          <p:cNvSpPr>
            <a:spLocks noGrp="1"/>
          </p:cNvSpPr>
          <p:nvPr>
            <p:ph type="ftr" idx="11"/>
          </p:nvPr>
        </p:nvSpPr>
        <p:spPr/>
        <p:txBody>
          <a:bodyPr/>
          <a:lstStyle/>
          <a:p/>
        </p:txBody>
      </p:sp>
      <p:sp>
        <p:nvSpPr>
          <p:cNvPr id="9" name="灯片编号占位符 8"/>
          <p:cNvSpPr>
            <a:spLocks noGrp="1"/>
          </p:cNvSpPr>
          <p:nvPr>
            <p:ph type="sldNum" idx="12"/>
          </p:nvPr>
        </p:nvSpPr>
        <p:spPr/>
        <p:txBody>
          <a:body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p:sp>
        <p:nvSpPr>
          <p:cNvPr id="2" name="标题 1"/>
          <p:cNvSpPr>
            <a:spLocks noGrp="1"/>
          </p:cNvSpPr>
          <p:nvPr>
            <p:ph type="title"/>
          </p:nvPr>
        </p:nvSpPr>
        <p:spPr>
          <a:xfrm>
            <a:off x="608400" y="608400"/>
            <a:ext cx="10969200" cy="705600"/>
          </a:xfrm>
        </p:spPr>
        <p:txBody>
          <a:bodyPr vert="horz" lIns="90000" tIns="46800" rIns="90000" bIns="46800" anchor="ctr">
            <a:normAutofit/>
          </a:bodyPr>
          <a:lstStyle/>
          <a:p>
            <a:pPr lvl="0">
              <a:buNone/>
            </a:pPr>
            <a:r>
              <a:t>单击此处编辑母版标题样式</a:t>
            </a:r>
          </a:p>
        </p:txBody>
      </p:sp>
      <p:sp>
        <p:nvSpPr>
          <p:cNvPr id="3" name="日期占位符 2"/>
          <p:cNvSpPr>
            <a:spLocks noGrp="1"/>
          </p:cNvSpPr>
          <p:nvPr>
            <p:ph type="dt" idx="10"/>
          </p:nvPr>
        </p:nvSpPr>
        <p:spPr/>
        <p:txBody>
          <a:bodyPr/>
          <a:lstStyle/>
          <a:p/>
        </p:txBody>
      </p:sp>
      <p:sp>
        <p:nvSpPr>
          <p:cNvPr id="4" name="页脚占位符 3"/>
          <p:cNvSpPr>
            <a:spLocks noGrp="1"/>
          </p:cNvSpPr>
          <p:nvPr>
            <p:ph type="ftr" idx="11"/>
          </p:nvPr>
        </p:nvSpPr>
        <p:spPr/>
        <p:txBody>
          <a:bodyPr/>
          <a:lstStyle/>
          <a:p/>
        </p:txBody>
      </p:sp>
      <p:sp>
        <p:nvSpPr>
          <p:cNvPr id="5" name="灯片编号占位符 4"/>
          <p:cNvSpPr>
            <a:spLocks noGrp="1"/>
          </p:cNvSpPr>
          <p:nvPr>
            <p:ph type="sldNum" idx="12"/>
          </p:nvPr>
        </p:nvSpPr>
        <p:spPr/>
        <p:txBody>
          <a:body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p:sp>
        <p:nvSpPr>
          <p:cNvPr id="2" name="日期占位符 1"/>
          <p:cNvSpPr>
            <a:spLocks noGrp="1"/>
          </p:cNvSpPr>
          <p:nvPr>
            <p:ph type="dt" idx="10"/>
          </p:nvPr>
        </p:nvSpPr>
        <p:spPr/>
        <p:txBody>
          <a:bodyPr/>
          <a:lstStyle/>
          <a:p/>
        </p:txBody>
      </p:sp>
      <p:sp>
        <p:nvSpPr>
          <p:cNvPr id="3" name="页脚占位符 2"/>
          <p:cNvSpPr>
            <a:spLocks noGrp="1"/>
          </p:cNvSpPr>
          <p:nvPr>
            <p:ph type="ftr" idx="11"/>
          </p:nvPr>
        </p:nvSpPr>
        <p:spPr/>
        <p:txBody>
          <a:bodyPr/>
          <a:lstStyle/>
          <a:p/>
        </p:txBody>
      </p:sp>
      <p:sp>
        <p:nvSpPr>
          <p:cNvPr id="4" name="灯片编号占位符 3"/>
          <p:cNvSpPr>
            <a:spLocks noGrp="1"/>
          </p:cNvSpPr>
          <p:nvPr>
            <p:ph type="sldNum" idx="12"/>
          </p:nvPr>
        </p:nvSpPr>
        <p:spPr/>
        <p:txBody>
          <a:body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p:sp>
        <p:nvSpPr>
          <p:cNvPr id="3" name="图片占位符 2"/>
          <p:cNvSpPr>
            <a:spLocks noGrp="1"/>
          </p:cNvSpPr>
          <p:nvPr>
            <p:ph type="pic" idx="1"/>
          </p:nvPr>
        </p:nvSpPr>
        <p:spPr>
          <a:xfrm>
            <a:off x="608400" y="1555200"/>
            <a:ext cx="5233077" cy="4608000"/>
          </a:xfrm>
        </p:spPr>
        <p:txBody>
          <a:bodyPr vert="horz" lIns="90000" tIns="46800" rIns="90000" bIns="46800">
            <a:normAutofit/>
          </a:bodyPr>
          <a:lstStyle>
            <a:lvl1pPr>
              <a:buNone/>
              <a:defRPr sz="1600"/>
            </a:lvl1pPr>
          </a:lstStyle>
          <a:p>
            <a:pPr lvl="0">
              <a:buNone/>
            </a:pPr>
          </a:p>
        </p:txBody>
      </p:sp>
      <p:sp>
        <p:nvSpPr>
          <p:cNvPr id="4" name="文本占位符 3"/>
          <p:cNvSpPr>
            <a:spLocks noGrp="1"/>
          </p:cNvSpPr>
          <p:nvPr>
            <p:ph type="body" idx="2"/>
          </p:nvPr>
        </p:nvSpPr>
        <p:spPr>
          <a:xfrm>
            <a:off x="6350400" y="1555200"/>
            <a:ext cx="5227200" cy="4608000"/>
          </a:xfrm>
        </p:spPr>
        <p:txBody>
          <a:bodyPr vert="horz" lIns="90000" tIns="46800" rIns="90000" bIns="46800">
            <a:normAutofit/>
          </a:bodyPr>
          <a:lstStyle>
            <a:lvl1pPr>
              <a:buNone/>
              <a:defRPr sz="1600"/>
            </a:lvl1pPr>
          </a:lstStyle>
          <a:p>
            <a:pPr lvl="0">
              <a:buNone/>
            </a:pPr>
            <a:r>
              <a:t>单击此处编辑母版文本样式</a:t>
            </a:r>
          </a:p>
        </p:txBody>
      </p:sp>
      <p:sp>
        <p:nvSpPr>
          <p:cNvPr id="5" name="日期占位符 4"/>
          <p:cNvSpPr>
            <a:spLocks noGrp="1"/>
          </p:cNvSpPr>
          <p:nvPr>
            <p:ph type="dt" idx="10"/>
          </p:nvPr>
        </p:nvSpPr>
        <p:spPr/>
        <p:txBody>
          <a:bodyPr/>
          <a:lstStyle/>
          <a:p/>
        </p:txBody>
      </p:sp>
      <p:sp>
        <p:nvSpPr>
          <p:cNvPr id="6" name="页脚占位符 5"/>
          <p:cNvSpPr>
            <a:spLocks noGrp="1"/>
          </p:cNvSpPr>
          <p:nvPr>
            <p:ph type="ftr" idx="11"/>
          </p:nvPr>
        </p:nvSpPr>
        <p:spPr/>
        <p:txBody>
          <a:bodyPr/>
          <a:lstStyle/>
          <a:p/>
        </p:txBody>
      </p:sp>
      <p:sp>
        <p:nvSpPr>
          <p:cNvPr id="7" name="灯片编号占位符 6"/>
          <p:cNvSpPr>
            <a:spLocks noGrp="1"/>
          </p:cNvSpPr>
          <p:nvPr>
            <p:ph type="sldNum" idx="12"/>
          </p:nvPr>
        </p:nvSpPr>
        <p:spPr/>
        <p:txBody>
          <a:bodyPr/>
          <a:lstStyle/>
          <a:p/>
        </p:txBody>
      </p:sp>
      <p:sp>
        <p:nvSpPr>
          <p:cNvPr id="9" name="标题 8"/>
          <p:cNvSpPr>
            <a:spLocks noGrp="1"/>
          </p:cNvSpPr>
          <p:nvPr>
            <p:ph type="title"/>
          </p:nvPr>
        </p:nvSpPr>
        <p:spPr/>
        <p:txBody>
          <a:bodyPr/>
          <a:lstStyle/>
          <a:p>
            <a:r>
              <a:t>单击此处编辑母版标题样式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p:sp>
        <p:nvSpPr>
          <p:cNvPr id="2" name="竖排标题 1"/>
          <p:cNvSpPr>
            <a:spLocks noGrp="1"/>
          </p:cNvSpPr>
          <p:nvPr>
            <p:ph type="title" hasCustomPrompt="1"/>
          </p:nvPr>
        </p:nvSpPr>
        <p:spPr>
          <a:xfrm>
            <a:off x="10234800" y="914400"/>
            <a:ext cx="1044000" cy="5029200"/>
          </a:xfrm>
        </p:spPr>
        <p:txBody>
          <a:bodyPr vert="eaVert" lIns="90000" tIns="46800" rIns="90000" bIns="46800" anchor="ctr">
            <a:normAutofit/>
          </a:bodyPr>
          <a:lstStyle>
            <a:lvl1pPr>
              <a:buNone/>
              <a:defRPr sz="2800"/>
            </a:lvl1pPr>
          </a:lstStyle>
          <a:p>
            <a:pPr lvl="0">
              <a:buNone/>
            </a:pPr>
            <a:r>
              <a:t>单击此处编辑标题</a:t>
            </a:r>
          </a:p>
        </p:txBody>
      </p:sp>
      <p:sp>
        <p:nvSpPr>
          <p:cNvPr id="3" name="竖排文字占位符 2"/>
          <p:cNvSpPr>
            <a:spLocks noGrp="1"/>
          </p:cNvSpPr>
          <p:nvPr>
            <p:ph type="body" idx="1"/>
          </p:nvPr>
        </p:nvSpPr>
        <p:spPr>
          <a:xfrm>
            <a:off x="914400" y="914400"/>
            <a:ext cx="9169200" cy="5029200"/>
          </a:xfrm>
        </p:spPr>
        <p:txBody>
          <a:bodyPr vert="eaVert" lIns="46800" tIns="46800" rIns="46800" bIns="46800"/>
          <a:lstStyle>
            <a:lvl1pPr marL="228600" indent="-228600">
              <a:spcAft>
                <a:spcPts val="1000"/>
              </a:spcAft>
              <a:buNone/>
              <a:defRPr spc="300"/>
            </a:lvl1pPr>
            <a:lvl2pPr marL="685800" indent="-228600">
              <a:buNone/>
              <a:defRPr spc="300"/>
            </a:lvl2pPr>
            <a:lvl3pPr marL="1143000" indent="-228600">
              <a:buNone/>
              <a:defRPr spc="300"/>
            </a:lvl3pPr>
            <a:lvl4pPr marL="1600200" indent="-228600">
              <a:buNone/>
              <a:defRPr spc="300"/>
            </a:lvl4pPr>
            <a:lvl5pPr marL="2057400" indent="-228600">
              <a:buNone/>
              <a:defRPr spc="300"/>
            </a:lvl5pPr>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4" name="日期占位符 3"/>
          <p:cNvSpPr>
            <a:spLocks noGrp="1"/>
          </p:cNvSpPr>
          <p:nvPr>
            <p:ph type="dt" idx="10"/>
          </p:nvPr>
        </p:nvSpPr>
        <p:spPr/>
        <p:txBody>
          <a:bodyPr/>
          <a:lstStyle/>
          <a:p/>
        </p:txBody>
      </p:sp>
      <p:sp>
        <p:nvSpPr>
          <p:cNvPr id="5" name="页脚占位符 4"/>
          <p:cNvSpPr>
            <a:spLocks noGrp="1"/>
          </p:cNvSpPr>
          <p:nvPr>
            <p:ph type="ftr" idx="11"/>
          </p:nvPr>
        </p:nvSpPr>
        <p:spPr/>
        <p:txBody>
          <a:bodyPr/>
          <a:lstStyle/>
          <a:p/>
        </p:txBody>
      </p:sp>
      <p:sp>
        <p:nvSpPr>
          <p:cNvPr id="6" name="灯片编号占位符 5"/>
          <p:cNvSpPr>
            <a:spLocks noGrp="1"/>
          </p:cNvSpPr>
          <p:nvPr>
            <p:ph type="sldNum" idx="12"/>
          </p:nvPr>
        </p:nvSpPr>
        <p:spPr/>
        <p:txBody>
          <a:body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p:sp>
        <p:nvSpPr>
          <p:cNvPr id="3" name="日期占位符 2"/>
          <p:cNvSpPr>
            <a:spLocks noGrp="1"/>
          </p:cNvSpPr>
          <p:nvPr>
            <p:ph type="dt" idx="10"/>
          </p:nvPr>
        </p:nvSpPr>
        <p:spPr/>
        <p:txBody>
          <a:bodyPr/>
          <a:lstStyle/>
          <a:p/>
        </p:txBody>
      </p:sp>
      <p:sp>
        <p:nvSpPr>
          <p:cNvPr id="4" name="页脚占位符 3"/>
          <p:cNvSpPr>
            <a:spLocks noGrp="1"/>
          </p:cNvSpPr>
          <p:nvPr>
            <p:ph type="ftr" idx="11"/>
          </p:nvPr>
        </p:nvSpPr>
        <p:spPr/>
        <p:txBody>
          <a:bodyPr/>
          <a:lstStyle/>
          <a:p/>
        </p:txBody>
      </p:sp>
      <p:sp>
        <p:nvSpPr>
          <p:cNvPr id="5" name="灯片编号占位符 4"/>
          <p:cNvSpPr>
            <a:spLocks noGrp="1"/>
          </p:cNvSpPr>
          <p:nvPr>
            <p:ph type="sldNum" idx="12"/>
          </p:nvPr>
        </p:nvSpPr>
        <p:spPr/>
        <p:txBody>
          <a:bodyPr/>
          <a:lstStyle/>
          <a:p/>
        </p:txBody>
      </p:sp>
      <p:sp>
        <p:nvSpPr>
          <p:cNvPr id="7" name="内容占位符 6"/>
          <p:cNvSpPr>
            <a:spLocks noGrp="1"/>
          </p:cNvSpPr>
          <p:nvPr>
            <p:ph idx="13"/>
          </p:nvPr>
        </p:nvSpPr>
        <p:spPr>
          <a:xfrm>
            <a:off x="608400" y="774000"/>
            <a:ext cx="10972800" cy="5482800"/>
          </a:xfrm>
        </p:spPr>
        <p:txBody>
          <a:bodyPr/>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p:sp>
        <p:nvSpPr>
          <p:cNvPr id="3" name="日期占位符 2"/>
          <p:cNvSpPr>
            <a:spLocks noGrp="1"/>
          </p:cNvSpPr>
          <p:nvPr>
            <p:ph type="dt" idx="10"/>
          </p:nvPr>
        </p:nvSpPr>
        <p:spPr/>
        <p:txBody>
          <a:bodyPr/>
          <a:lstStyle/>
          <a:p/>
        </p:txBody>
      </p:sp>
      <p:sp>
        <p:nvSpPr>
          <p:cNvPr id="4" name="页脚占位符 3"/>
          <p:cNvSpPr>
            <a:spLocks noGrp="1"/>
          </p:cNvSpPr>
          <p:nvPr>
            <p:ph type="ftr" idx="11"/>
          </p:nvPr>
        </p:nvSpPr>
        <p:spPr/>
        <p:txBody>
          <a:bodyPr/>
          <a:lstStyle/>
          <a:p/>
        </p:txBody>
      </p:sp>
      <p:sp>
        <p:nvSpPr>
          <p:cNvPr id="5" name="灯片编号占位符 4"/>
          <p:cNvSpPr>
            <a:spLocks noGrp="1"/>
          </p:cNvSpPr>
          <p:nvPr>
            <p:ph type="sldNum" idx="12"/>
          </p:nvPr>
        </p:nvSpPr>
        <p:spPr/>
        <p:txBody>
          <a:bodyPr/>
          <a:lstStyle/>
          <a:p/>
        </p:txBody>
      </p:sp>
      <p:sp>
        <p:nvSpPr>
          <p:cNvPr id="2" name="标题 1"/>
          <p:cNvSpPr>
            <a:spLocks noGrp="1"/>
          </p:cNvSpPr>
          <p:nvPr>
            <p:ph type="title" hasCustomPrompt="1"/>
          </p:nvPr>
        </p:nvSpPr>
        <p:spPr>
          <a:xfrm>
            <a:off x="1198800" y="2484000"/>
            <a:ext cx="9799200" cy="1018800"/>
          </a:xfrm>
        </p:spPr>
        <p:txBody>
          <a:bodyPr vert="horz" lIns="90000" tIns="46800" rIns="90000" bIns="46800" anchor="t">
            <a:normAutofit/>
          </a:bodyPr>
          <a:lstStyle>
            <a:lvl1pPr algn="ctr">
              <a:buNone/>
              <a:defRPr sz="6000"/>
            </a:lvl1pPr>
          </a:lstStyle>
          <a:p>
            <a:pPr lvl="0">
              <a:buNone/>
            </a:pPr>
            <a:r>
              <a:t>单击此处编辑标题</a:t>
            </a:r>
          </a:p>
        </p:txBody>
      </p:sp>
      <p:sp>
        <p:nvSpPr>
          <p:cNvPr id="7" name="文本占位符 6"/>
          <p:cNvSpPr>
            <a:spLocks noGrp="1"/>
          </p:cNvSpPr>
          <p:nvPr>
            <p:ph type="body" idx="13"/>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buNone/>
            </a:pPr>
            <a:r>
              <a:t>单击此处编辑母版文本样式</a:t>
            </a: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标题占位符 1"/>
          <p:cNvSpPr>
            <a:spLocks noGrp="1"/>
          </p:cNvSpPr>
          <p:nvPr>
            <p:ph type="title"/>
          </p:nvPr>
        </p:nvSpPr>
        <p:spPr>
          <a:xfrm>
            <a:off x="608400" y="608400"/>
            <a:ext cx="10969200" cy="705600"/>
          </a:xfrm>
          <a:prstGeom prst="rect">
            <a:avLst/>
          </a:prstGeom>
        </p:spPr>
        <p:txBody>
          <a:bodyPr vert="horz" lIns="90170" tIns="46990" rIns="90170" bIns="46990" anchor="ctr">
            <a:normAutofit/>
          </a:bodyPr>
          <a:lstStyle/>
          <a:p>
            <a:r>
              <a:t>单击此处编辑母版标题样式</a:t>
            </a:r>
          </a:p>
        </p:txBody>
      </p:sp>
      <p:sp>
        <p:nvSpPr>
          <p:cNvPr id="3" name="文本占位符 2"/>
          <p:cNvSpPr>
            <a:spLocks noGrp="1"/>
          </p:cNvSpPr>
          <p:nvPr>
            <p:ph type="body" idx="1"/>
          </p:nvPr>
        </p:nvSpPr>
        <p:spPr>
          <a:xfrm>
            <a:off x="608400" y="1490400"/>
            <a:ext cx="10969200" cy="4759200"/>
          </a:xfrm>
          <a:prstGeom prst="rect">
            <a:avLst/>
          </a:prstGeom>
        </p:spPr>
        <p:txBody>
          <a:bodyPr vert="horz" lIns="90000" tIns="46800" rIns="90000" bIns="46800">
            <a:normAutofit/>
          </a:bodyPr>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4" name="日期占位符 3"/>
          <p:cNvSpPr>
            <a:spLocks noGrp="1"/>
          </p:cNvSpPr>
          <p:nvPr>
            <p:ph type="dt" idx="2"/>
          </p:nvPr>
        </p:nvSpPr>
        <p:spPr>
          <a:xfrm>
            <a:off x="612000" y="6314400"/>
            <a:ext cx="2700000" cy="316800"/>
          </a:xfrm>
          <a:prstGeom prst="rect">
            <a:avLst/>
          </a:prstGeom>
        </p:spPr>
        <p:txBody>
          <a:bodyPr vert="horz" lIns="91440" tIns="45720" rIns="91440" bIns="45720" anchor="ctr">
            <a:normAutofit/>
          </a:bodyPr>
          <a:lstStyle>
            <a:lvl1pPr algn="l">
              <a:buNone/>
              <a:defRPr sz="1000" baseline="0">
                <a:solidFill>
                  <a:schemeClr val="tx1">
                    <a:tint val="75000"/>
                  </a:schemeClr>
                </a:solidFill>
              </a:defRPr>
            </a:lvl1pPr>
          </a:lstStyle>
          <a:p/>
        </p:txBody>
      </p:sp>
      <p:sp>
        <p:nvSpPr>
          <p:cNvPr id="5" name="页脚占位符 4"/>
          <p:cNvSpPr>
            <a:spLocks noGrp="1"/>
          </p:cNvSpPr>
          <p:nvPr>
            <p:ph type="ftr" idx="3"/>
          </p:nvPr>
        </p:nvSpPr>
        <p:spPr>
          <a:xfrm>
            <a:off x="4116000" y="6314400"/>
            <a:ext cx="3960000" cy="316800"/>
          </a:xfrm>
          <a:prstGeom prst="rect">
            <a:avLst/>
          </a:prstGeom>
        </p:spPr>
        <p:txBody>
          <a:bodyPr vert="horz" lIns="91440" tIns="45720" rIns="91440" bIns="45720" anchor="ctr">
            <a:normAutofit/>
          </a:bodyPr>
          <a:lstStyle>
            <a:lvl1pPr algn="ctr">
              <a:buNone/>
              <a:defRPr sz="1000" baseline="0">
                <a:solidFill>
                  <a:schemeClr val="tx1">
                    <a:tint val="75000"/>
                  </a:schemeClr>
                </a:solidFill>
              </a:defRPr>
            </a:lvl1pPr>
          </a:lstStyle>
          <a:p/>
        </p:txBody>
      </p:sp>
      <p:sp>
        <p:nvSpPr>
          <p:cNvPr id="6" name="灯片编号占位符 5"/>
          <p:cNvSpPr>
            <a:spLocks noGrp="1"/>
          </p:cNvSpPr>
          <p:nvPr>
            <p:ph type="sldNum" idx="4"/>
          </p:nvPr>
        </p:nvSpPr>
        <p:spPr>
          <a:xfrm>
            <a:off x="8877600" y="6314400"/>
            <a:ext cx="2700000" cy="316800"/>
          </a:xfrm>
          <a:prstGeom prst="rect">
            <a:avLst/>
          </a:prstGeom>
        </p:spPr>
        <p:txBody>
          <a:bodyPr vert="horz" lIns="91440" tIns="45720" rIns="91440" bIns="45720" anchor="ctr">
            <a:normAutofit/>
          </a:bodyPr>
          <a:lstStyle>
            <a:lvl1pPr algn="r">
              <a:buNone/>
              <a:defRPr sz="1000" baseline="0">
                <a:solidFill>
                  <a:schemeClr val="tx1">
                    <a:tint val="75000"/>
                  </a:schemeClr>
                </a:solidFill>
              </a:defRPr>
            </a:lvl1pPr>
          </a:lstStyl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a:lnSpc>
          <a:spcPct val="100000"/>
        </a:lnSpc>
        <a:spcBef>
          <a:spcPct val="0"/>
        </a:spcBef>
        <a:buNone/>
        <a:defRPr sz="3600" b="0" u="none" kern="1200" cap="none" spc="300" baseline="0">
          <a:solidFill>
            <a:schemeClr val="tx1">
              <a:lumMod val="85000"/>
              <a:lumOff val="15000"/>
            </a:schemeClr>
          </a:solidFill>
          <a:latin typeface="+mj-lt"/>
          <a:ea typeface="+mj-lt"/>
          <a:cs typeface="+mj-lt"/>
        </a:defRPr>
      </a:lvl1pPr>
    </p:titleStyle>
    <p:bodyStyle>
      <a:lvl1pPr marL="228600" indent="-228600" algn="l" defTabSz="914400">
        <a:lnSpc>
          <a:spcPct val="130000"/>
        </a:lnSpc>
        <a:spcBef>
          <a:spcPts val="0"/>
        </a:spcBef>
        <a:spcAft>
          <a:spcPts val="1000"/>
        </a:spcAft>
        <a:buFont typeface="Arial" panose="020B0604020202020204"/>
        <a:buChar char="●"/>
        <a:defRPr sz="1800" u="none" kern="1200" cap="none" spc="150" baseline="0">
          <a:solidFill>
            <a:schemeClr val="tx1">
              <a:lumMod val="65000"/>
              <a:lumOff val="35000"/>
            </a:schemeClr>
          </a:solidFill>
          <a:latin typeface="+mn-lt"/>
          <a:ea typeface="+mn-lt"/>
          <a:cs typeface="+mn-lt"/>
        </a:defRPr>
      </a:lvl1pPr>
      <a:lvl2pPr marL="685800" indent="-228600" algn="l" defTabSz="914400">
        <a:lnSpc>
          <a:spcPct val="120000"/>
        </a:lnSpc>
        <a:spcBef>
          <a:spcPts val="0"/>
        </a:spcBef>
        <a:spcAft>
          <a:spcPts val="600"/>
        </a:spcAft>
        <a:buFont typeface="Arial" panose="020B0604020202020204"/>
        <a:buChar char="●"/>
        <a:tabLst>
          <a:tab pos="1609725" algn="l"/>
          <a:tab pos="1609725" algn="l"/>
          <a:tab pos="1609725" algn="l"/>
          <a:tab pos="1609725" algn="l"/>
        </a:tabLst>
        <a:defRPr sz="1600" u="none" kern="1200" cap="none" spc="150" baseline="0">
          <a:solidFill>
            <a:schemeClr val="tx1">
              <a:lumMod val="65000"/>
              <a:lumOff val="35000"/>
            </a:schemeClr>
          </a:solidFill>
          <a:latin typeface="+mn-lt"/>
          <a:ea typeface="+mn-lt"/>
          <a:cs typeface="+mn-lt"/>
        </a:defRPr>
      </a:lvl2pPr>
      <a:lvl3pPr marL="1143000" indent="-228600" algn="l" defTabSz="914400">
        <a:lnSpc>
          <a:spcPct val="120000"/>
        </a:lnSpc>
        <a:spcBef>
          <a:spcPts val="0"/>
        </a:spcBef>
        <a:spcAft>
          <a:spcPts val="600"/>
        </a:spcAft>
        <a:buFont typeface="Arial" panose="020B0604020202020204"/>
        <a:buChar char="●"/>
        <a:defRPr sz="1600" u="none" kern="1200" cap="none" spc="150" baseline="0">
          <a:solidFill>
            <a:schemeClr val="tx1">
              <a:lumMod val="65000"/>
              <a:lumOff val="35000"/>
            </a:schemeClr>
          </a:solidFill>
          <a:latin typeface="+mn-lt"/>
          <a:ea typeface="+mn-lt"/>
          <a:cs typeface="+mn-lt"/>
        </a:defRPr>
      </a:lvl3pPr>
      <a:lvl4pPr marL="1600200" indent="-228600" algn="l" defTabSz="914400">
        <a:lnSpc>
          <a:spcPct val="120000"/>
        </a:lnSpc>
        <a:spcBef>
          <a:spcPts val="0"/>
        </a:spcBef>
        <a:spcAft>
          <a:spcPts val="300"/>
        </a:spcAft>
        <a:buFont typeface="Wingdings" panose="05000000000000000000"/>
        <a:buChar char=""/>
        <a:defRPr sz="1400" u="none" kern="1200" cap="none" spc="150" baseline="0">
          <a:solidFill>
            <a:schemeClr val="tx1">
              <a:lumMod val="65000"/>
              <a:lumOff val="35000"/>
            </a:schemeClr>
          </a:solidFill>
          <a:latin typeface="+mn-lt"/>
          <a:ea typeface="+mn-lt"/>
          <a:cs typeface="+mn-lt"/>
        </a:defRPr>
      </a:lvl4pPr>
      <a:lvl5pPr marL="2057400" indent="-228600" algn="l" defTabSz="914400">
        <a:lnSpc>
          <a:spcPct val="120000"/>
        </a:lnSpc>
        <a:spcBef>
          <a:spcPts val="0"/>
        </a:spcBef>
        <a:spcAft>
          <a:spcPts val="300"/>
        </a:spcAft>
        <a:buFont typeface="Arial" panose="020B0604020202020204"/>
        <a:buChar char="•"/>
        <a:defRPr sz="1400" u="none" kern="1200" cap="none" spc="150" baseline="0">
          <a:solidFill>
            <a:schemeClr val="tx1">
              <a:lumMod val="65000"/>
              <a:lumOff val="35000"/>
            </a:schemeClr>
          </a:solidFill>
          <a:latin typeface="+mn-lt"/>
          <a:ea typeface="+mn-lt"/>
          <a:cs typeface="+mn-lt"/>
        </a:defRPr>
      </a:lvl5pPr>
      <a:lvl6pPr marL="25146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F33"/>
        </a:solidFill>
        <a:effectLst/>
      </p:bgPr>
    </p:bg>
    <p:spTree>
      <p:nvGrpSpPr>
        <p:cNvPr id="1" name=""/>
        <p:cNvGrpSpPr/>
        <p:nvPr/>
      </p:nvGrpSpPr>
      <p:grpSpPr/>
      <p:sp>
        <p:nvSpPr>
          <p:cNvPr id="2" name="标题 1"/>
          <p:cNvSpPr>
            <a:spLocks noGrp="1"/>
          </p:cNvSpPr>
          <p:nvPr>
            <p:ph type="ctrTitle"/>
          </p:nvPr>
        </p:nvSpPr>
        <p:spPr>
          <a:xfrm>
            <a:off x="781050" y="2076450"/>
            <a:ext cx="10572750" cy="2714625"/>
          </a:xfrm>
        </p:spPr>
        <p:txBody>
          <a:bodyPr wrap="square" lIns="0" tIns="0" rIns="0" bIns="0" anchor="t">
            <a:normAutofit/>
          </a:bodyPr>
          <a:lstStyle/>
          <a:p>
            <a:pPr>
              <a:buNone/>
              <a:defRPr sz="3600" b="1">
                <a:solidFill>
                  <a:srgbClr val="FFFFFF"/>
                </a:solidFill>
                <a:latin typeface="Aptos Display"/>
                <a:ea typeface="Aptos Display"/>
                <a:cs typeface="Aptos Display"/>
              </a:defRPr>
            </a:pPr>
            <a:r>
              <a:rPr sz="3600" b="1">
                <a:solidFill>
                  <a:srgbClr val="FFFFFF"/>
                </a:solidFill>
                <a:latin typeface="Aptos Display"/>
                <a:ea typeface="Aptos Display"/>
                <a:cs typeface="Aptos Display"/>
              </a:rPr>
              <a:t>CHAPTER 1</a:t>
            </a:r>
            <a:endParaRPr sz="3600" b="1">
              <a:solidFill>
                <a:srgbClr val="FFFFFF"/>
              </a:solidFill>
              <a:latin typeface="Aptos Display"/>
              <a:ea typeface="Aptos Display"/>
              <a:cs typeface="Aptos Display"/>
            </a:endParaRPr>
          </a:p>
          <a:p>
            <a:pPr>
              <a:buNone/>
              <a:defRPr sz="3600" b="1">
                <a:solidFill>
                  <a:srgbClr val="FFFFFF"/>
                </a:solidFill>
                <a:latin typeface="Aptos Display"/>
                <a:ea typeface="Aptos Display"/>
                <a:cs typeface="Aptos Display"/>
              </a:defRPr>
            </a:pPr>
            <a:r>
              <a:rPr sz="3600" b="1">
                <a:solidFill>
                  <a:srgbClr val="FFFFFF"/>
                </a:solidFill>
                <a:latin typeface="Aptos Display"/>
                <a:ea typeface="Aptos Display"/>
                <a:cs typeface="Aptos Display"/>
              </a:rPr>
              <a:t>How Does AI Reshape Information Acquisition and Belief Formation in Human Groups?</a:t>
            </a:r>
            <a:endParaRPr sz="3600" b="1">
              <a:solidFill>
                <a:srgbClr val="FFFFFF"/>
              </a:solidFill>
              <a:latin typeface="Aptos Display"/>
              <a:ea typeface="Aptos Display"/>
              <a:cs typeface="Aptos Display"/>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p:sp>
        <p:nvSpPr>
          <p:cNvPr id="2" name="标题 1"/>
          <p:cNvSpPr>
            <a:spLocks noGrp="1"/>
          </p:cNvSpPr>
          <p:nvPr>
            <p:ph type="title"/>
          </p:nvPr>
        </p:nvSpPr>
        <p:spPr>
          <a:xfrm>
            <a:off x="609600" y="400050"/>
            <a:ext cx="10972800" cy="742950"/>
          </a:xfrm>
        </p:spPr>
        <p:txBody>
          <a:bodyPr wrap="square" lIns="0" tIns="0" rIns="0" bIns="0" anchor="t">
            <a:normAutofit/>
          </a:bodyPr>
          <a:lstStyle/>
          <a:p>
            <a:pPr>
              <a:buNone/>
              <a:defRPr sz="2700" b="1">
                <a:solidFill>
                  <a:srgbClr val="102A43"/>
                </a:solidFill>
                <a:latin typeface="Aptos Display"/>
                <a:ea typeface="Aptos Display"/>
                <a:cs typeface="Aptos Display"/>
              </a:defRPr>
            </a:pPr>
            <a:r>
              <a:rPr sz="2700" b="1">
                <a:solidFill>
                  <a:srgbClr val="102A43"/>
                </a:solidFill>
                <a:latin typeface="Aptos Display"/>
                <a:ea typeface="Aptos Display"/>
                <a:cs typeface="Aptos Display"/>
              </a:rPr>
              <a:t>Research Background</a:t>
            </a:r>
            <a:endParaRPr sz="2700" b="1">
              <a:solidFill>
                <a:srgbClr val="102A43"/>
              </a:solidFill>
              <a:latin typeface="Aptos Display"/>
              <a:ea typeface="Aptos Display"/>
              <a:cs typeface="Aptos Display"/>
            </a:endParaRPr>
          </a:p>
        </p:txBody>
      </p:sp>
      <p:sp>
        <p:nvSpPr>
          <p:cNvPr id="3" name="内容占位符 2"/>
          <p:cNvSpPr>
            <a:spLocks noGrp="1"/>
          </p:cNvSpPr>
          <p:nvPr>
            <p:ph idx="1"/>
          </p:nvPr>
        </p:nvSpPr>
        <p:spPr>
          <a:xfrm>
            <a:off x="685800" y="1314450"/>
            <a:ext cx="10820400" cy="4953000"/>
          </a:xfrm>
        </p:spPr>
        <p:txBody>
          <a:bodyPr wrap="square" lIns="0" tIns="0" rIns="0" bIns="0" anchor="t">
            <a:normAutofit/>
          </a:bodyPr>
          <a:lstStyle/>
          <a:p>
            <a:pPr marL="0" indent="0">
              <a:buNone/>
              <a:defRPr sz="1575">
                <a:solidFill>
                  <a:srgbClr val="22313F"/>
                </a:solidFill>
                <a:latin typeface="Aptos"/>
                <a:ea typeface="Aptos"/>
                <a:cs typeface="Aptos"/>
              </a:defRPr>
            </a:pPr>
            <a:r>
              <a:rPr sz="1575">
                <a:solidFill>
                  <a:srgbClr val="22313F"/>
                </a:solidFill>
                <a:latin typeface="Aptos"/>
                <a:ea typeface="Aptos"/>
                <a:cs typeface="Aptos"/>
              </a:rPr>
              <a:t>Search engines typically present users with multiple sources, links, and evidentiary cues.</a:t>
            </a:r>
            <a:endParaRPr sz="1575">
              <a:solidFill>
                <a:srgbClr val="22313F"/>
              </a:solidFill>
              <a:latin typeface="Aptos"/>
              <a:ea typeface="Aptos"/>
              <a:cs typeface="Aptos"/>
            </a:endParaRPr>
          </a:p>
          <a:p>
            <a:pPr marL="0" indent="0">
              <a:buNone/>
              <a:defRPr sz="1575">
                <a:solidFill>
                  <a:srgbClr val="22313F"/>
                </a:solidFill>
                <a:latin typeface="Aptos"/>
                <a:ea typeface="Aptos"/>
                <a:cs typeface="Aptos"/>
              </a:defRPr>
            </a:pPr>
            <a:r>
              <a:rPr sz="1575">
                <a:solidFill>
                  <a:srgbClr val="22313F"/>
                </a:solidFill>
                <a:latin typeface="Aptos"/>
                <a:ea typeface="Aptos"/>
                <a:cs typeface="Aptos"/>
              </a:rPr>
              <a:t>Generative AI increasingly organizes information as “direct answer → integrated explanation → follow-up questions.”</a:t>
            </a:r>
            <a:endParaRPr sz="1575">
              <a:solidFill>
                <a:srgbClr val="22313F"/>
              </a:solidFill>
              <a:latin typeface="Aptos"/>
              <a:ea typeface="Aptos"/>
              <a:cs typeface="Aptos"/>
            </a:endParaRPr>
          </a:p>
          <a:p>
            <a:pPr marL="0" indent="0">
              <a:buNone/>
              <a:defRPr sz="1575">
                <a:solidFill>
                  <a:srgbClr val="22313F"/>
                </a:solidFill>
                <a:latin typeface="Aptos"/>
                <a:ea typeface="Aptos"/>
                <a:cs typeface="Aptos"/>
              </a:defRPr>
            </a:pPr>
            <a:r>
              <a:rPr sz="1575">
                <a:solidFill>
                  <a:srgbClr val="22313F"/>
                </a:solidFill>
                <a:latin typeface="Aptos"/>
                <a:ea typeface="Aptos"/>
                <a:cs typeface="Aptos"/>
              </a:rPr>
              <a:t>Research problem: At the group level, if many members rely on the same model, similar training data, the same retrieval system, and similar answer-generation logic, their seemingly independent judgments may contain the same omissions, narrative frames, and errors. The number of judgments continues to grow, but the number of independent information samples does not grow proportionally.</a:t>
            </a:r>
            <a:endParaRPr sz="1575">
              <a:solidFill>
                <a:srgbClr val="22313F"/>
              </a:solidFill>
              <a:latin typeface="Aptos"/>
              <a:ea typeface="Aptos"/>
              <a:cs typeface="Aptos"/>
            </a:endParaRPr>
          </a:p>
          <a:p>
            <a:pPr marL="0" indent="0">
              <a:buNone/>
              <a:defRPr sz="1575">
                <a:solidFill>
                  <a:srgbClr val="22313F"/>
                </a:solidFill>
                <a:latin typeface="Aptos"/>
                <a:ea typeface="Aptos"/>
                <a:cs typeface="Aptos"/>
              </a:defRPr>
            </a:pPr>
            <a:r>
              <a:rPr sz="1575">
                <a:solidFill>
                  <a:srgbClr val="22313F"/>
                </a:solidFill>
                <a:latin typeface="Aptos"/>
                <a:ea typeface="Aptos"/>
                <a:cs typeface="Aptos"/>
              </a:rPr>
              <a:t>Real-world examples include AI search assistants embedded in Weibo and WeChat.</a:t>
            </a:r>
            <a:endParaRPr sz="1575">
              <a:solidFill>
                <a:srgbClr val="22313F"/>
              </a:solidFill>
              <a:latin typeface="Aptos"/>
              <a:ea typeface="Aptos"/>
              <a:cs typeface="Apto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p:sp>
        <p:nvSpPr>
          <p:cNvPr id="2" name="标题 1"/>
          <p:cNvSpPr>
            <a:spLocks noGrp="1"/>
          </p:cNvSpPr>
          <p:nvPr>
            <p:ph type="title"/>
          </p:nvPr>
        </p:nvSpPr>
        <p:spPr>
          <a:xfrm>
            <a:off x="609600" y="400050"/>
            <a:ext cx="10972800" cy="742950"/>
          </a:xfrm>
        </p:spPr>
        <p:txBody>
          <a:bodyPr wrap="square" lIns="0" tIns="0" rIns="0" bIns="0" anchor="t">
            <a:normAutofit/>
          </a:bodyPr>
          <a:lstStyle/>
          <a:p>
            <a:pPr>
              <a:buNone/>
              <a:defRPr sz="2700" b="1">
                <a:solidFill>
                  <a:srgbClr val="102A43"/>
                </a:solidFill>
                <a:latin typeface="Aptos Display"/>
                <a:ea typeface="Aptos Display"/>
                <a:cs typeface="Aptos Display"/>
              </a:defRPr>
            </a:pPr>
            <a:r>
              <a:rPr sz="2700" b="1">
                <a:solidFill>
                  <a:srgbClr val="102A43"/>
                </a:solidFill>
                <a:latin typeface="Aptos Display"/>
                <a:ea typeface="Aptos Display"/>
                <a:cs typeface="Aptos Display"/>
              </a:rPr>
              <a:t>Research Background</a:t>
            </a:r>
            <a:endParaRPr sz="2700" b="1">
              <a:solidFill>
                <a:srgbClr val="102A43"/>
              </a:solidFill>
              <a:latin typeface="Aptos Display"/>
              <a:ea typeface="Aptos Display"/>
              <a:cs typeface="Aptos Display"/>
            </a:endParaRPr>
          </a:p>
        </p:txBody>
      </p:sp>
      <p:sp>
        <p:nvSpPr>
          <p:cNvPr id="3" name="内容占位符 2"/>
          <p:cNvSpPr>
            <a:spLocks noGrp="1"/>
          </p:cNvSpPr>
          <p:nvPr>
            <p:ph idx="1"/>
          </p:nvPr>
        </p:nvSpPr>
        <p:spPr>
          <a:xfrm>
            <a:off x="685800" y="1314450"/>
            <a:ext cx="10820400" cy="4953000"/>
          </a:xfrm>
        </p:spPr>
        <p:txBody>
          <a:bodyPr wrap="square" lIns="0" tIns="0" rIns="0" bIns="0" anchor="t">
            <a:normAutofit/>
          </a:bodyPr>
          <a:lstStyle/>
          <a:p>
            <a:pPr marL="0" indent="0">
              <a:buNone/>
              <a:defRPr sz="1390">
                <a:solidFill>
                  <a:srgbClr val="22313F"/>
                </a:solidFill>
                <a:latin typeface="Aptos"/>
                <a:ea typeface="Aptos"/>
                <a:cs typeface="Aptos"/>
              </a:defRPr>
            </a:pPr>
            <a:r>
              <a:rPr sz="1390" b="1">
                <a:solidFill>
                  <a:srgbClr val="22313F"/>
                </a:solidFill>
                <a:latin typeface="Aptos"/>
                <a:ea typeface="Aptos"/>
                <a:cs typeface="Aptos"/>
              </a:rPr>
              <a:t>DIRECT EVIDENCE ON AI-ASSISTED WISDOM OF CROWDS</a:t>
            </a:r>
            <a:endParaRPr sz="1390" b="1">
              <a:solidFill>
                <a:srgbClr val="22313F"/>
              </a:solidFill>
              <a:latin typeface="Aptos"/>
              <a:ea typeface="Aptos"/>
              <a:cs typeface="Aptos"/>
            </a:endParaRPr>
          </a:p>
          <a:p>
            <a:pPr marL="0" indent="0">
              <a:buNone/>
              <a:defRPr sz="1390">
                <a:solidFill>
                  <a:srgbClr val="22313F"/>
                </a:solidFill>
                <a:latin typeface="Aptos"/>
                <a:ea typeface="Aptos"/>
                <a:cs typeface="Aptos"/>
              </a:defRPr>
            </a:pPr>
            <a:r>
              <a:rPr sz="1390">
                <a:solidFill>
                  <a:srgbClr val="22313F"/>
                </a:solidFill>
                <a:latin typeface="Aptos"/>
                <a:ea typeface="Aptos"/>
                <a:cs typeface="Aptos"/>
              </a:rPr>
              <a:t>• Pal, Palley &amp; Satopää (2026), “Enhancing Crowd Accuracy in AI-Assisted Judgmental Forecasting.” The same AI advice is shared information that can be counted repeatedly and overrepresented when judgments are averaged. Across three experiments (N = 3,188), the authors propose correcting shared AI signals with participants’ pre-AI judgments.</a:t>
            </a:r>
            <a:endParaRPr sz="1390">
              <a:solidFill>
                <a:srgbClr val="22313F"/>
              </a:solidFill>
              <a:latin typeface="Aptos"/>
              <a:ea typeface="Aptos"/>
              <a:cs typeface="Aptos"/>
            </a:endParaRPr>
          </a:p>
          <a:p>
            <a:pPr marL="0" indent="0">
              <a:buNone/>
              <a:defRPr sz="1390">
                <a:solidFill>
                  <a:srgbClr val="22313F"/>
                </a:solidFill>
                <a:latin typeface="Aptos"/>
                <a:ea typeface="Aptos"/>
                <a:cs typeface="Aptos"/>
              </a:defRPr>
            </a:pPr>
            <a:r>
              <a:rPr sz="1390">
                <a:solidFill>
                  <a:srgbClr val="22313F"/>
                </a:solidFill>
                <a:latin typeface="Aptos"/>
                <a:ea typeface="Aptos"/>
                <a:cs typeface="Aptos"/>
              </a:rPr>
              <a:t>• Schoenegger et al. (2024), “AI-Augmented Predictions: LLM Assistants Improve Human Forecasting Accuracy.” Among 991 participants answering six forecasting questions, access to an assigned LLM improved individual accuracy by 24%–28%. The study also tests whether lower judgment diversity harms the wisdom of crowds.</a:t>
            </a:r>
            <a:endParaRPr sz="1390">
              <a:solidFill>
                <a:srgbClr val="22313F"/>
              </a:solidFill>
              <a:latin typeface="Aptos"/>
              <a:ea typeface="Aptos"/>
              <a:cs typeface="Aptos"/>
            </a:endParaRPr>
          </a:p>
          <a:p>
            <a:pPr marL="0" indent="0">
              <a:buNone/>
              <a:defRPr sz="1390">
                <a:solidFill>
                  <a:srgbClr val="22313F"/>
                </a:solidFill>
                <a:latin typeface="Aptos"/>
                <a:ea typeface="Aptos"/>
                <a:cs typeface="Aptos"/>
              </a:defRPr>
            </a:pPr>
            <a:r>
              <a:rPr sz="1390" b="1">
                <a:solidFill>
                  <a:srgbClr val="22313F"/>
                </a:solidFill>
                <a:latin typeface="Aptos"/>
                <a:ea typeface="Aptos"/>
                <a:cs typeface="Aptos"/>
              </a:rPr>
              <a:t>BOUNDARY</a:t>
            </a:r>
            <a:endParaRPr sz="1390" b="1">
              <a:solidFill>
                <a:srgbClr val="22313F"/>
              </a:solidFill>
              <a:latin typeface="Aptos"/>
              <a:ea typeface="Aptos"/>
              <a:cs typeface="Aptos"/>
            </a:endParaRPr>
          </a:p>
          <a:p>
            <a:pPr marL="0" indent="0">
              <a:buNone/>
              <a:defRPr sz="1390">
                <a:solidFill>
                  <a:srgbClr val="22313F"/>
                </a:solidFill>
                <a:latin typeface="Aptos"/>
                <a:ea typeface="Aptos"/>
                <a:cs typeface="Aptos"/>
              </a:defRPr>
            </a:pPr>
            <a:r>
              <a:rPr sz="1390">
                <a:solidFill>
                  <a:srgbClr val="22313F"/>
                </a:solidFill>
                <a:latin typeface="Aptos"/>
                <a:ea typeface="Aptos"/>
                <a:cs typeface="Aptos"/>
              </a:rPr>
              <a:t>AI may have only a small average effect on each member, yet a shared model can expose members to similar evidence, frames, and arguments. This raises error correlation and weakens collective intelligence based on independent judgment. This boundary is consistent with Artificial Hivemind: repeated outputs from the same model and outputs across models were homogeneous, but the study measured model responses—not human political attitudes or organizational decisions.</a:t>
            </a:r>
            <a:endParaRPr sz="1390">
              <a:solidFill>
                <a:srgbClr val="22313F"/>
              </a:solidFill>
              <a:latin typeface="Aptos"/>
              <a:ea typeface="Aptos"/>
              <a:cs typeface="Apto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p:sp>
        <p:nvSpPr>
          <p:cNvPr id="2" name="标题 1"/>
          <p:cNvSpPr>
            <a:spLocks noGrp="1"/>
          </p:cNvSpPr>
          <p:nvPr>
            <p:ph type="title"/>
          </p:nvPr>
        </p:nvSpPr>
        <p:spPr>
          <a:xfrm>
            <a:off x="609600" y="400050"/>
            <a:ext cx="10972800" cy="742950"/>
          </a:xfrm>
        </p:spPr>
        <p:txBody>
          <a:bodyPr wrap="square" lIns="0" tIns="0" rIns="0" bIns="0" anchor="t">
            <a:normAutofit/>
          </a:bodyPr>
          <a:lstStyle/>
          <a:p>
            <a:pPr>
              <a:buNone/>
              <a:defRPr sz="2700" b="1">
                <a:solidFill>
                  <a:srgbClr val="102A43"/>
                </a:solidFill>
                <a:latin typeface="Aptos Display"/>
                <a:ea typeface="Aptos Display"/>
                <a:cs typeface="Aptos Display"/>
              </a:defRPr>
            </a:pPr>
            <a:r>
              <a:rPr sz="2700" b="1">
                <a:solidFill>
                  <a:srgbClr val="102A43"/>
                </a:solidFill>
                <a:latin typeface="Aptos Display"/>
                <a:ea typeface="Aptos Display"/>
                <a:cs typeface="Aptos Display"/>
              </a:rPr>
              <a:t>Research Gaps</a:t>
            </a:r>
            <a:endParaRPr sz="2700" b="1">
              <a:solidFill>
                <a:srgbClr val="102A43"/>
              </a:solidFill>
              <a:latin typeface="Aptos Display"/>
              <a:ea typeface="Aptos Display"/>
              <a:cs typeface="Aptos Display"/>
            </a:endParaRPr>
          </a:p>
        </p:txBody>
      </p:sp>
      <p:sp>
        <p:nvSpPr>
          <p:cNvPr id="3" name="内容占位符 2"/>
          <p:cNvSpPr>
            <a:spLocks noGrp="1"/>
          </p:cNvSpPr>
          <p:nvPr>
            <p:ph idx="1"/>
          </p:nvPr>
        </p:nvSpPr>
        <p:spPr>
          <a:xfrm>
            <a:off x="685800" y="1314450"/>
            <a:ext cx="5200650" cy="4953000"/>
          </a:xfrm>
        </p:spPr>
        <p:txBody>
          <a:bodyPr wrap="square" lIns="0" tIns="0" rIns="0" bIns="0" anchor="t">
            <a:normAutofit fontScale="96629" lnSpcReduction="20000"/>
          </a:bodyPr>
          <a:lstStyle/>
          <a:p>
            <a:pPr marL="0" indent="0">
              <a:buNone/>
              <a:defRPr sz="1425">
                <a:solidFill>
                  <a:srgbClr val="22313F"/>
                </a:solidFill>
                <a:latin typeface="Aptos"/>
                <a:ea typeface="Aptos"/>
                <a:cs typeface="Aptos"/>
              </a:defRPr>
            </a:pPr>
            <a:r>
              <a:rPr sz="1425" b="1">
                <a:solidFill>
                  <a:srgbClr val="22313F"/>
                </a:solidFill>
                <a:latin typeface="Aptos"/>
                <a:ea typeface="Aptos"/>
                <a:cs typeface="Aptos"/>
              </a:rPr>
              <a:t>GAP 1 — Existing work largely stops at the model-output layer</a:t>
            </a:r>
            <a:endParaRPr sz="1425" b="1">
              <a:solidFill>
                <a:srgbClr val="22313F"/>
              </a:solidFill>
              <a:latin typeface="Aptos"/>
              <a:ea typeface="Aptos"/>
              <a:cs typeface="Aptos"/>
            </a:endParaRPr>
          </a:p>
          <a:p>
            <a:pPr marL="0" indent="0">
              <a:buNone/>
              <a:defRPr sz="1425">
                <a:solidFill>
                  <a:srgbClr val="22313F"/>
                </a:solidFill>
                <a:latin typeface="Aptos"/>
                <a:ea typeface="Aptos"/>
                <a:cs typeface="Aptos"/>
              </a:defRPr>
            </a:pPr>
            <a:r>
              <a:rPr sz="1425">
                <a:solidFill>
                  <a:srgbClr val="22313F"/>
                </a:solidFill>
                <a:latin typeface="Aptos"/>
                <a:ea typeface="Aptos"/>
                <a:cs typeface="Aptos"/>
              </a:rPr>
              <a:t>Artificial Hivemind and related error studies show that LLM responses may be similar, but not how this similarity becomes human information selection, belief updating, and group-level judgment.</a:t>
            </a:r>
            <a:endParaRPr sz="1425">
              <a:solidFill>
                <a:srgbClr val="22313F"/>
              </a:solidFill>
              <a:latin typeface="Aptos"/>
              <a:ea typeface="Aptos"/>
              <a:cs typeface="Aptos"/>
            </a:endParaRPr>
          </a:p>
          <a:p>
            <a:pPr marL="0" indent="0">
              <a:buNone/>
              <a:defRPr>
                <a:latin typeface="Aptos"/>
                <a:ea typeface="Aptos"/>
                <a:cs typeface="Aptos"/>
              </a:defRPr>
            </a:pPr>
            <a:r>
              <a:rPr sz="1425" b="1">
                <a:solidFill>
                  <a:srgbClr val="22313F"/>
                </a:solidFill>
                <a:latin typeface="Aptos"/>
                <a:ea typeface="Aptos"/>
                <a:cs typeface="Aptos"/>
              </a:rPr>
              <a:t>GAP 2 — Individual and group accuracy are often conflated</a:t>
            </a:r>
            <a:endParaRPr sz="1425" b="1">
              <a:solidFill>
                <a:srgbClr val="22313F"/>
              </a:solidFill>
              <a:latin typeface="Aptos"/>
              <a:ea typeface="Aptos"/>
              <a:cs typeface="Aptos"/>
            </a:endParaRPr>
          </a:p>
          <a:p>
            <a:pPr marL="0" indent="0">
              <a:buNone/>
              <a:defRPr sz="1425">
                <a:solidFill>
                  <a:srgbClr val="22313F"/>
                </a:solidFill>
                <a:latin typeface="Aptos"/>
                <a:ea typeface="Aptos"/>
                <a:cs typeface="Aptos"/>
              </a:defRPr>
            </a:pPr>
            <a:r>
              <a:rPr sz="1425">
                <a:solidFill>
                  <a:srgbClr val="22313F"/>
                </a:solidFill>
                <a:latin typeface="Aptos"/>
                <a:ea typeface="Aptos"/>
                <a:cs typeface="Aptos"/>
              </a:rPr>
              <a:t>Studies commonly ask whether AI improves individual judgment, but rarely whether higher judgment correlation reduces aggregation gains even when average individual quality is unchanged or improved.</a:t>
            </a:r>
            <a:endParaRPr sz="1425">
              <a:solidFill>
                <a:srgbClr val="22313F"/>
              </a:solidFill>
              <a:latin typeface="Aptos"/>
              <a:ea typeface="Aptos"/>
              <a:cs typeface="Aptos"/>
            </a:endParaRPr>
          </a:p>
          <a:p>
            <a:pPr marL="0" indent="0">
              <a:buNone/>
              <a:defRPr sz="1425">
                <a:solidFill>
                  <a:srgbClr val="22313F"/>
                </a:solidFill>
                <a:latin typeface="Aptos"/>
                <a:ea typeface="Aptos"/>
                <a:cs typeface="Aptos"/>
              </a:defRPr>
            </a:pPr>
            <a:r>
              <a:rPr sz="1425" b="1">
                <a:solidFill>
                  <a:srgbClr val="22313F"/>
                </a:solidFill>
                <a:latin typeface="Aptos"/>
                <a:ea typeface="Aptos"/>
                <a:cs typeface="Aptos"/>
              </a:rPr>
              <a:t>GAP 3 — Traditional opinion dynamics lacks an interactive generative source</a:t>
            </a:r>
            <a:endParaRPr sz="1425" b="1">
              <a:solidFill>
                <a:srgbClr val="22313F"/>
              </a:solidFill>
              <a:latin typeface="Aptos"/>
              <a:ea typeface="Aptos"/>
              <a:cs typeface="Aptos"/>
            </a:endParaRPr>
          </a:p>
          <a:p>
            <a:pPr marL="0" indent="0">
              <a:buNone/>
              <a:defRPr sz="1425">
                <a:solidFill>
                  <a:srgbClr val="22313F"/>
                </a:solidFill>
                <a:latin typeface="Aptos"/>
                <a:ea typeface="Aptos"/>
                <a:cs typeface="Aptos"/>
              </a:defRPr>
            </a:pPr>
            <a:r>
              <a:rPr sz="1425">
                <a:solidFill>
                  <a:srgbClr val="22313F"/>
                </a:solidFill>
                <a:latin typeface="Aptos"/>
                <a:ea typeface="Aptos"/>
                <a:cs typeface="Aptos"/>
              </a:rPr>
              <a:t>Traditional models focus on interpersonal averaging, imitation, and selective exposure. An LLM combines a shared model prior with user-conditioned output: it may repeat similar content to everyone or generate different content by user position. This shared-base/personalized-output structure remains under-modeled.</a:t>
            </a:r>
            <a:endParaRPr sz="1425">
              <a:solidFill>
                <a:srgbClr val="22313F"/>
              </a:solidFill>
              <a:latin typeface="Aptos"/>
              <a:ea typeface="Aptos"/>
              <a:cs typeface="Aptos"/>
            </a:endParaRPr>
          </a:p>
        </p:txBody>
      </p:sp>
      <p:sp>
        <p:nvSpPr>
          <p:cNvPr id="4" name="research-gaps-right-column"/>
          <p:cNvSpPr>
            <a:spLocks noGrp="1"/>
          </p:cNvSpPr>
          <p:nvPr/>
        </p:nvSpPr>
        <p:spPr>
          <a:xfrm>
            <a:off x="6305550" y="1314450"/>
            <a:ext cx="5200650" cy="4953000"/>
          </a:xfrm>
          <a:prstGeom prst="rect">
            <a:avLst/>
          </a:prstGeom>
          <a:noFill/>
          <a:ln w="0">
            <a:noFill/>
            <a:prstDash val="solid"/>
          </a:ln>
        </p:spPr>
        <p:txBody>
          <a:bodyPr wrap="square" lIns="0" tIns="0" rIns="0" bIns="0" anchor="t">
            <a:normAutofit/>
          </a:bodyPr>
          <a:lstStyle/>
          <a:p>
            <a:pPr marL="0" indent="0" algn="l">
              <a:lnSpc>
                <a:spcPct val="130000"/>
              </a:lnSpc>
              <a:buNone/>
              <a:defRPr sz="1425">
                <a:solidFill>
                  <a:srgbClr val="557A9D"/>
                </a:solidFill>
                <a:latin typeface="Aptos"/>
                <a:ea typeface="Aptos"/>
                <a:cs typeface="Aptos"/>
              </a:defRPr>
            </a:pPr>
            <a:r>
              <a:rPr sz="1425" b="1">
                <a:solidFill>
                  <a:srgbClr val="557A9D"/>
                </a:solidFill>
                <a:latin typeface="Aptos"/>
                <a:ea typeface="Aptos"/>
                <a:cs typeface="Aptos"/>
              </a:rPr>
              <a:t>GAP 4 — A testable micro–macro bridge is missing</a:t>
            </a:r>
            <a:endParaRPr sz="1425" b="1">
              <a:solidFill>
                <a:srgbClr val="557A9D"/>
              </a:solidFill>
              <a:latin typeface="Aptos"/>
              <a:ea typeface="Aptos"/>
              <a:cs typeface="Aptos"/>
            </a:endParaRPr>
          </a:p>
          <a:p>
            <a:pPr marL="0" indent="0" algn="l">
              <a:lnSpc>
                <a:spcPct val="130000"/>
              </a:lnSpc>
              <a:buNone/>
              <a:defRPr sz="1425">
                <a:solidFill>
                  <a:srgbClr val="557A9D"/>
                </a:solidFill>
                <a:latin typeface="Aptos"/>
                <a:ea typeface="Aptos"/>
                <a:cs typeface="Aptos"/>
              </a:defRPr>
            </a:pPr>
            <a:r>
              <a:rPr sz="1425">
                <a:solidFill>
                  <a:srgbClr val="557A9D"/>
                </a:solidFill>
                <a:latin typeface="Aptos"/>
                <a:ea typeface="Aptos"/>
                <a:cs typeface="Aptos"/>
              </a:rPr>
              <a:t>Real-world experiments are usually too small to observe the long-run system effects of thousands or tens of thousands of people using a shared LLM.</a:t>
            </a:r>
            <a:endParaRPr sz="1425">
              <a:solidFill>
                <a:srgbClr val="557A9D"/>
              </a:solidFill>
              <a:latin typeface="Aptos"/>
              <a:ea typeface="Aptos"/>
              <a:cs typeface="Apto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p:sp>
        <p:nvSpPr>
          <p:cNvPr id="2" name="标题 1"/>
          <p:cNvSpPr>
            <a:spLocks noGrp="1"/>
          </p:cNvSpPr>
          <p:nvPr>
            <p:ph type="title"/>
          </p:nvPr>
        </p:nvSpPr>
        <p:spPr>
          <a:xfrm>
            <a:off x="609600" y="400050"/>
            <a:ext cx="10972800" cy="742950"/>
          </a:xfrm>
        </p:spPr>
        <p:txBody>
          <a:bodyPr wrap="square" lIns="0" tIns="0" rIns="0" bIns="0" anchor="t">
            <a:normAutofit/>
          </a:bodyPr>
          <a:lstStyle/>
          <a:p>
            <a:pPr>
              <a:buNone/>
              <a:defRPr sz="2700" b="1">
                <a:solidFill>
                  <a:srgbClr val="102A43"/>
                </a:solidFill>
                <a:latin typeface="Aptos Display"/>
                <a:ea typeface="Aptos Display"/>
                <a:cs typeface="Aptos Display"/>
              </a:defRPr>
            </a:pPr>
            <a:r>
              <a:rPr sz="2700" b="1">
                <a:solidFill>
                  <a:srgbClr val="102A43"/>
                </a:solidFill>
                <a:latin typeface="Aptos Display"/>
                <a:ea typeface="Aptos Display"/>
                <a:cs typeface="Aptos Display"/>
              </a:rPr>
              <a:t>Theoretical Framework</a:t>
            </a:r>
            <a:endParaRPr sz="2700" b="1">
              <a:solidFill>
                <a:srgbClr val="102A43"/>
              </a:solidFill>
              <a:latin typeface="Aptos Display"/>
              <a:ea typeface="Aptos Display"/>
              <a:cs typeface="Aptos Display"/>
            </a:endParaRPr>
          </a:p>
        </p:txBody>
      </p:sp>
      <p:sp>
        <p:nvSpPr>
          <p:cNvPr id="3" name="内容占位符 2"/>
          <p:cNvSpPr>
            <a:spLocks noGrp="1"/>
          </p:cNvSpPr>
          <p:nvPr>
            <p:ph idx="1"/>
          </p:nvPr>
        </p:nvSpPr>
        <p:spPr>
          <a:xfrm>
            <a:off x="685800" y="1314450"/>
            <a:ext cx="10820400" cy="4953000"/>
          </a:xfrm>
        </p:spPr>
        <p:txBody>
          <a:bodyPr wrap="square" lIns="0" tIns="0" rIns="0" bIns="0" anchor="t">
            <a:normAutofit fontScale="88208" lnSpcReduction="20000"/>
          </a:bodyPr>
          <a:lstStyle/>
          <a:p>
            <a:pPr marL="0" indent="0">
              <a:buNone/>
              <a:defRPr sz="1425">
                <a:solidFill>
                  <a:srgbClr val="22313F"/>
                </a:solidFill>
                <a:latin typeface="Aptos"/>
                <a:ea typeface="Aptos"/>
                <a:cs typeface="Aptos"/>
              </a:defRPr>
            </a:pPr>
            <a:r>
              <a:rPr sz="1425">
                <a:solidFill>
                  <a:srgbClr val="22313F"/>
                </a:solidFill>
                <a:latin typeface="Aptos"/>
                <a:ea typeface="Aptos"/>
                <a:cs typeface="Aptos"/>
              </a:rPr>
              <a:t>WISDOM OF CROWDS AND THE DIVERSITY PREDICTION THEOREM</a:t>
            </a:r>
            <a:endParaRPr sz="1425">
              <a:solidFill>
                <a:srgbClr val="22313F"/>
              </a:solidFill>
              <a:latin typeface="Aptos"/>
              <a:ea typeface="Aptos"/>
              <a:cs typeface="Aptos"/>
            </a:endParaRPr>
          </a:p>
          <a:p>
            <a:pPr marL="0" indent="0">
              <a:buNone/>
            </a:pPr>
          </a:p>
          <a:p>
            <a:pPr marL="0" indent="0">
              <a:buNone/>
              <a:defRPr sz="1425">
                <a:solidFill>
                  <a:srgbClr val="22313F"/>
                </a:solidFill>
                <a:latin typeface="Aptos"/>
                <a:ea typeface="Aptos"/>
                <a:cs typeface="Aptos"/>
              </a:defRPr>
            </a:pPr>
            <a:r>
              <a:rPr sz="1425">
                <a:solidFill>
                  <a:srgbClr val="22313F"/>
                </a:solidFill>
                <a:latin typeface="Aptos"/>
                <a:ea typeface="Aptos"/>
                <a:cs typeface="Aptos"/>
              </a:rPr>
              <a:t>Wisdom of crowds (Surowiecki, 2004)</a:t>
            </a:r>
            <a:endParaRPr sz="1425">
              <a:solidFill>
                <a:srgbClr val="22313F"/>
              </a:solidFill>
              <a:latin typeface="Aptos"/>
              <a:ea typeface="Aptos"/>
              <a:cs typeface="Aptos"/>
            </a:endParaRPr>
          </a:p>
          <a:p>
            <a:pPr marL="0" indent="0">
              <a:buNone/>
              <a:defRPr sz="1425">
                <a:solidFill>
                  <a:srgbClr val="22313F"/>
                </a:solidFill>
                <a:latin typeface="Aptos"/>
                <a:ea typeface="Aptos"/>
                <a:cs typeface="Aptos"/>
              </a:defRPr>
            </a:pPr>
            <a:r>
              <a:rPr sz="1425">
                <a:solidFill>
                  <a:srgbClr val="22313F"/>
                </a:solidFill>
                <a:latin typeface="Aptos"/>
                <a:ea typeface="Aptos"/>
                <a:cs typeface="Aptos"/>
              </a:rPr>
              <a:t>Collective judgment outperforms individual judgment under three necessary conditions: diverse views, independent decisions, and dispersed private information. A common AI reference signal directly weakens independence and diversity.</a:t>
            </a:r>
            <a:endParaRPr sz="1425">
              <a:solidFill>
                <a:srgbClr val="22313F"/>
              </a:solidFill>
              <a:latin typeface="Aptos"/>
              <a:ea typeface="Aptos"/>
              <a:cs typeface="Aptos"/>
            </a:endParaRPr>
          </a:p>
          <a:p>
            <a:pPr marL="0" indent="0">
              <a:buNone/>
            </a:pPr>
          </a:p>
          <a:p>
            <a:pPr marL="0" indent="0">
              <a:buNone/>
              <a:defRPr sz="1425">
                <a:solidFill>
                  <a:srgbClr val="22313F"/>
                </a:solidFill>
                <a:latin typeface="Aptos"/>
                <a:ea typeface="Aptos"/>
                <a:cs typeface="Aptos"/>
              </a:defRPr>
            </a:pPr>
            <a:r>
              <a:rPr sz="1425">
                <a:solidFill>
                  <a:srgbClr val="22313F"/>
                </a:solidFill>
                <a:latin typeface="Aptos"/>
                <a:ea typeface="Aptos"/>
                <a:cs typeface="Aptos"/>
              </a:rPr>
              <a:t>Diversity prediction theorem (Page, 2007)</a:t>
            </a:r>
            <a:endParaRPr sz="1425">
              <a:solidFill>
                <a:srgbClr val="22313F"/>
              </a:solidFill>
              <a:latin typeface="Aptos"/>
              <a:ea typeface="Aptos"/>
              <a:cs typeface="Aptos"/>
            </a:endParaRPr>
          </a:p>
          <a:p>
            <a:pPr marL="0" indent="0">
              <a:buNone/>
              <a:defRPr sz="1425">
                <a:solidFill>
                  <a:srgbClr val="22313F"/>
                </a:solidFill>
                <a:latin typeface="Aptos"/>
                <a:ea typeface="Aptos"/>
                <a:cs typeface="Aptos"/>
              </a:defRPr>
            </a:pPr>
            <a:r>
              <a:rPr sz="1425">
                <a:solidFill>
                  <a:srgbClr val="22313F"/>
                </a:solidFill>
                <a:latin typeface="Aptos"/>
                <a:ea typeface="Aptos"/>
                <a:cs typeface="Aptos"/>
              </a:rPr>
              <a:t>Group error = average individual error − predictive diversity.</a:t>
            </a:r>
            <a:endParaRPr sz="1425">
              <a:solidFill>
                <a:srgbClr val="22313F"/>
              </a:solidFill>
              <a:latin typeface="Aptos"/>
              <a:ea typeface="Aptos"/>
              <a:cs typeface="Aptos"/>
            </a:endParaRPr>
          </a:p>
          <a:p>
            <a:pPr marL="0" indent="0">
              <a:buNone/>
              <a:defRPr sz="1425">
                <a:solidFill>
                  <a:srgbClr val="22313F"/>
                </a:solidFill>
                <a:latin typeface="Aptos"/>
                <a:ea typeface="Aptos"/>
                <a:cs typeface="Aptos"/>
              </a:defRPr>
            </a:pPr>
            <a:r>
              <a:rPr sz="1425">
                <a:solidFill>
                  <a:srgbClr val="22313F"/>
                </a:solidFill>
                <a:latin typeface="Aptos"/>
                <a:ea typeface="Aptos"/>
                <a:cs typeface="Aptos"/>
              </a:rPr>
              <a:t>AI can improve individual accuracy while reducing predictive diversity. These forces work in opposite directions. As group size grows, the weight of diversity rises; eventually, the loss of diversity may outweigh the gain in individual accuracy.</a:t>
            </a:r>
            <a:endParaRPr sz="1425">
              <a:solidFill>
                <a:srgbClr val="22313F"/>
              </a:solidFill>
              <a:latin typeface="Aptos"/>
              <a:ea typeface="Aptos"/>
              <a:cs typeface="Aptos"/>
            </a:endParaRPr>
          </a:p>
          <a:p>
            <a:pPr marL="0" indent="0">
              <a:buNone/>
            </a:pPr>
          </a:p>
          <a:p>
            <a:pPr marL="0" indent="0">
              <a:buNone/>
              <a:defRPr sz="1425">
                <a:solidFill>
                  <a:srgbClr val="22313F"/>
                </a:solidFill>
                <a:latin typeface="Aptos"/>
                <a:ea typeface="Aptos"/>
                <a:cs typeface="Aptos"/>
              </a:defRPr>
            </a:pPr>
            <a:r>
              <a:rPr sz="1425">
                <a:solidFill>
                  <a:srgbClr val="22313F"/>
                </a:solidFill>
                <a:latin typeface="Aptos"/>
                <a:ea typeface="Aptos"/>
                <a:cs typeface="Aptos"/>
              </a:rPr>
              <a:t>Social influence and diversity (Lorenz et al., 2011)</a:t>
            </a:r>
            <a:endParaRPr sz="1425">
              <a:solidFill>
                <a:srgbClr val="22313F"/>
              </a:solidFill>
              <a:latin typeface="Aptos"/>
              <a:ea typeface="Aptos"/>
              <a:cs typeface="Aptos"/>
            </a:endParaRPr>
          </a:p>
          <a:p>
            <a:pPr marL="0" indent="0">
              <a:buNone/>
              <a:defRPr sz="1425">
                <a:solidFill>
                  <a:srgbClr val="22313F"/>
                </a:solidFill>
                <a:latin typeface="Aptos"/>
                <a:ea typeface="Aptos"/>
                <a:cs typeface="Aptos"/>
              </a:defRPr>
            </a:pPr>
            <a:r>
              <a:rPr sz="1425">
                <a:solidFill>
                  <a:srgbClr val="22313F"/>
                </a:solidFill>
                <a:latin typeface="Aptos"/>
                <a:ea typeface="Aptos"/>
                <a:cs typeface="Aptos"/>
              </a:rPr>
              <a:t>A common external signal makes individual judgments converge and can weaken group forecasting. This study treats uniform AI advice as a global external signal and tests whether it actually reduces collective predictive performance.</a:t>
            </a:r>
            <a:endParaRPr sz="1425">
              <a:solidFill>
                <a:srgbClr val="22313F"/>
              </a:solidFill>
              <a:latin typeface="Aptos"/>
              <a:ea typeface="Aptos"/>
              <a:cs typeface="Apto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p:sp>
        <p:nvSpPr>
          <p:cNvPr id="2" name="标题 1"/>
          <p:cNvSpPr>
            <a:spLocks noGrp="1"/>
          </p:cNvSpPr>
          <p:nvPr>
            <p:ph type="title"/>
          </p:nvPr>
        </p:nvSpPr>
        <p:spPr>
          <a:xfrm>
            <a:off x="609600" y="400050"/>
            <a:ext cx="10972800" cy="742950"/>
          </a:xfrm>
        </p:spPr>
        <p:txBody>
          <a:bodyPr wrap="square" lIns="0" tIns="0" rIns="0" bIns="0" anchor="t">
            <a:normAutofit/>
          </a:bodyPr>
          <a:lstStyle/>
          <a:p>
            <a:pPr>
              <a:buNone/>
              <a:defRPr sz="2700" b="1">
                <a:solidFill>
                  <a:srgbClr val="102A43"/>
                </a:solidFill>
                <a:latin typeface="Aptos Display"/>
                <a:ea typeface="Aptos Display"/>
                <a:cs typeface="Aptos Display"/>
              </a:defRPr>
            </a:pPr>
            <a:r>
              <a:rPr sz="2700" b="1">
                <a:solidFill>
                  <a:srgbClr val="102A43"/>
                </a:solidFill>
                <a:latin typeface="Aptos Display"/>
                <a:ea typeface="Aptos Display"/>
                <a:cs typeface="Aptos Display"/>
              </a:rPr>
              <a:t>Research Question: Do LLMs Undermine the Wisdom of Crowds?</a:t>
            </a:r>
            <a:endParaRPr sz="2700" b="1">
              <a:solidFill>
                <a:srgbClr val="102A43"/>
              </a:solidFill>
              <a:latin typeface="Aptos Display"/>
              <a:ea typeface="Aptos Display"/>
              <a:cs typeface="Aptos Display"/>
            </a:endParaRPr>
          </a:p>
        </p:txBody>
      </p:sp>
      <p:sp>
        <p:nvSpPr>
          <p:cNvPr id="3" name="内容占位符 2"/>
          <p:cNvSpPr>
            <a:spLocks noGrp="1"/>
          </p:cNvSpPr>
          <p:nvPr>
            <p:ph idx="1"/>
          </p:nvPr>
        </p:nvSpPr>
        <p:spPr>
          <a:xfrm>
            <a:off x="685800" y="1314450"/>
            <a:ext cx="10820400" cy="4953000"/>
          </a:xfrm>
        </p:spPr>
        <p:txBody>
          <a:bodyPr wrap="square" lIns="0" tIns="0" rIns="0" bIns="0" anchor="t">
            <a:normAutofit/>
          </a:bodyPr>
          <a:lstStyle/>
          <a:p>
            <a:pPr marL="0" indent="0">
              <a:buNone/>
              <a:defRPr sz="1465">
                <a:solidFill>
                  <a:srgbClr val="22313F"/>
                </a:solidFill>
                <a:latin typeface="Aptos"/>
                <a:ea typeface="Aptos"/>
                <a:cs typeface="Aptos"/>
              </a:defRPr>
            </a:pPr>
            <a:r>
              <a:rPr sz="1465">
                <a:solidFill>
                  <a:srgbClr val="102A43"/>
                </a:solidFill>
                <a:latin typeface="Aptos"/>
                <a:ea typeface="Aptos"/>
                <a:cs typeface="Aptos"/>
              </a:rPr>
              <a:t>When individuals with heterogeneous initial positions independently and repeatedly interact with an LLM about the same public-policy issue, how does output homogeneity change the correlation structure of group judgment?</a:t>
            </a:r>
            <a:endParaRPr sz="1465">
              <a:solidFill>
                <a:srgbClr val="102A43"/>
              </a:solidFill>
              <a:latin typeface="Aptos"/>
              <a:ea typeface="Aptos"/>
              <a:cs typeface="Aptos"/>
            </a:endParaRPr>
          </a:p>
          <a:p>
            <a:pPr marL="0" indent="0">
              <a:buNone/>
            </a:pPr>
          </a:p>
          <a:p>
            <a:pPr marL="0" indent="0">
              <a:buNone/>
              <a:defRPr sz="1465">
                <a:solidFill>
                  <a:srgbClr val="22313F"/>
                </a:solidFill>
                <a:latin typeface="Aptos"/>
                <a:ea typeface="Aptos"/>
                <a:cs typeface="Aptos"/>
              </a:defRPr>
            </a:pPr>
            <a:r>
              <a:rPr sz="1465">
                <a:solidFill>
                  <a:srgbClr val="102A43"/>
                </a:solidFill>
                <a:latin typeface="Aptos"/>
                <a:ea typeface="Aptos"/>
                <a:cs typeface="Aptos"/>
              </a:rPr>
              <a:t>“Correlation structure” includes three possible outcomes:</a:t>
            </a:r>
            <a:endParaRPr sz="1465">
              <a:solidFill>
                <a:srgbClr val="102A43"/>
              </a:solidFill>
              <a:latin typeface="Aptos"/>
              <a:ea typeface="Aptos"/>
              <a:cs typeface="Aptos"/>
            </a:endParaRPr>
          </a:p>
          <a:p>
            <a:pPr marL="0" indent="0">
              <a:buNone/>
              <a:defRPr sz="1465">
                <a:solidFill>
                  <a:srgbClr val="22313F"/>
                </a:solidFill>
                <a:latin typeface="Aptos"/>
                <a:ea typeface="Aptos"/>
                <a:cs typeface="Aptos"/>
              </a:defRPr>
            </a:pPr>
            <a:r>
              <a:rPr sz="1465">
                <a:solidFill>
                  <a:srgbClr val="102A43"/>
                </a:solidFill>
                <a:latin typeface="Aptos"/>
                <a:ea typeface="Aptos"/>
                <a:cs typeface="Aptos"/>
              </a:rPr>
              <a:t>• convergence in information samples;</a:t>
            </a:r>
            <a:endParaRPr sz="1465">
              <a:solidFill>
                <a:srgbClr val="102A43"/>
              </a:solidFill>
              <a:latin typeface="Aptos"/>
              <a:ea typeface="Aptos"/>
              <a:cs typeface="Aptos"/>
            </a:endParaRPr>
          </a:p>
          <a:p>
            <a:pPr marL="0" indent="0">
              <a:buNone/>
              <a:defRPr sz="1465">
                <a:solidFill>
                  <a:srgbClr val="22313F"/>
                </a:solidFill>
                <a:latin typeface="Aptos"/>
                <a:ea typeface="Aptos"/>
                <a:cs typeface="Aptos"/>
              </a:defRPr>
            </a:pPr>
            <a:r>
              <a:rPr sz="1465">
                <a:solidFill>
                  <a:srgbClr val="102A43"/>
                </a:solidFill>
                <a:latin typeface="Aptos"/>
                <a:ea typeface="Aptos"/>
                <a:cs typeface="Aptos"/>
              </a:rPr>
              <a:t>• higher correlation in judgment errors;</a:t>
            </a:r>
            <a:endParaRPr sz="1465">
              <a:solidFill>
                <a:srgbClr val="102A43"/>
              </a:solidFill>
              <a:latin typeface="Aptos"/>
              <a:ea typeface="Aptos"/>
              <a:cs typeface="Aptos"/>
            </a:endParaRPr>
          </a:p>
          <a:p>
            <a:pPr marL="0" indent="0">
              <a:buNone/>
              <a:defRPr sz="1465">
                <a:solidFill>
                  <a:srgbClr val="22313F"/>
                </a:solidFill>
                <a:latin typeface="Aptos"/>
                <a:ea typeface="Aptos"/>
                <a:cs typeface="Aptos"/>
              </a:defRPr>
            </a:pPr>
            <a:r>
              <a:rPr sz="1465">
                <a:solidFill>
                  <a:srgbClr val="102A43"/>
                </a:solidFill>
                <a:latin typeface="Aptos"/>
                <a:ea typeface="Aptos"/>
                <a:cs typeface="Aptos"/>
              </a:rPr>
              <a:t>• convergence, persistent division, or further polarization of opinions.</a:t>
            </a:r>
            <a:endParaRPr sz="1465">
              <a:solidFill>
                <a:srgbClr val="102A43"/>
              </a:solidFill>
              <a:latin typeface="Aptos"/>
              <a:ea typeface="Aptos"/>
              <a:cs typeface="Aptos"/>
            </a:endParaRPr>
          </a:p>
          <a:p>
            <a:pPr marL="0" indent="0">
              <a:buNone/>
            </a:pPr>
          </a:p>
          <a:p>
            <a:pPr marL="0" indent="0">
              <a:buNone/>
              <a:defRPr sz="1465">
                <a:solidFill>
                  <a:srgbClr val="22313F"/>
                </a:solidFill>
                <a:latin typeface="Aptos"/>
                <a:ea typeface="Aptos"/>
                <a:cs typeface="Aptos"/>
              </a:defRPr>
            </a:pPr>
            <a:r>
              <a:rPr sz="1465">
                <a:solidFill>
                  <a:srgbClr val="102A43"/>
                </a:solidFill>
                <a:latin typeface="Aptos"/>
                <a:ea typeface="Aptos"/>
                <a:cs typeface="Aptos"/>
              </a:rPr>
              <a:t>When information quality and average individual accuracy are broadly comparable, does a shared LLM increase error correlation across members, thereby reducing the group’s effective amount of independent information and the quality of collective judgment?</a:t>
            </a:r>
            <a:endParaRPr sz="1465">
              <a:solidFill>
                <a:srgbClr val="102A43"/>
              </a:solidFill>
              <a:latin typeface="Aptos"/>
              <a:ea typeface="Aptos"/>
              <a:cs typeface="Aptos"/>
            </a:endParaRPr>
          </a:p>
          <a:p>
            <a:pPr marL="0" indent="0">
              <a:buNone/>
            </a:pPr>
          </a:p>
          <a:p>
            <a:pPr marL="0" indent="0">
              <a:buNone/>
              <a:defRPr sz="1465">
                <a:solidFill>
                  <a:srgbClr val="22313F"/>
                </a:solidFill>
                <a:latin typeface="Aptos"/>
                <a:ea typeface="Aptos"/>
                <a:cs typeface="Aptos"/>
              </a:defRPr>
            </a:pPr>
            <a:r>
              <a:rPr sz="1465">
                <a:solidFill>
                  <a:srgbClr val="102A43"/>
                </a:solidFill>
                <a:latin typeface="Aptos"/>
                <a:ea typeface="Aptos"/>
                <a:cs typeface="Aptos"/>
              </a:rPr>
              <a:t>MODEL-OUTPUT HOMOGENEITY → CORRELATED INFORMATION EXPOSURE → BELIEF UPDATING → GROUP JUDGMENT STRUCTURE</a:t>
            </a:r>
            <a:endParaRPr sz="1465">
              <a:solidFill>
                <a:srgbClr val="102A43"/>
              </a:solidFill>
              <a:latin typeface="Aptos"/>
              <a:ea typeface="Aptos"/>
              <a:cs typeface="Apto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p:sp>
        <p:nvSpPr>
          <p:cNvPr id="2" name="标题 1"/>
          <p:cNvSpPr>
            <a:spLocks noGrp="1"/>
          </p:cNvSpPr>
          <p:nvPr>
            <p:ph type="title"/>
          </p:nvPr>
        </p:nvSpPr>
        <p:spPr>
          <a:xfrm>
            <a:off x="609600" y="400050"/>
            <a:ext cx="10972800" cy="742950"/>
          </a:xfrm>
        </p:spPr>
        <p:txBody>
          <a:bodyPr wrap="square" lIns="0" tIns="0" rIns="0" bIns="0" anchor="ctr">
            <a:normAutofit/>
          </a:bodyPr>
          <a:lstStyle/>
          <a:p>
            <a:pPr algn="l">
              <a:buNone/>
              <a:defRPr sz="2700" b="1">
                <a:solidFill>
                  <a:srgbClr val="1F4E79"/>
                </a:solidFill>
                <a:latin typeface="Aptos Display"/>
                <a:ea typeface="Aptos Display"/>
                <a:cs typeface="Aptos Display"/>
              </a:defRPr>
            </a:pPr>
            <a:r>
              <a:rPr sz="2700" b="1">
                <a:solidFill>
                  <a:srgbClr val="1F4E79"/>
                </a:solidFill>
                <a:latin typeface="Aptos Display"/>
                <a:ea typeface="Aptos Display"/>
                <a:cs typeface="Aptos Display"/>
              </a:rPr>
              <a:t>Research Hypotheses</a:t>
            </a:r>
            <a:endParaRPr sz="2700" b="1">
              <a:solidFill>
                <a:srgbClr val="1F4E79"/>
              </a:solidFill>
              <a:latin typeface="Aptos Display"/>
              <a:ea typeface="Aptos Display"/>
              <a:cs typeface="Aptos Display"/>
            </a:endParaRPr>
          </a:p>
        </p:txBody>
      </p:sp>
      <p:sp>
        <p:nvSpPr>
          <p:cNvPr id="3" name="内容占位符 2"/>
          <p:cNvSpPr>
            <a:spLocks noGrp="1"/>
          </p:cNvSpPr>
          <p:nvPr>
            <p:ph idx="1"/>
          </p:nvPr>
        </p:nvSpPr>
        <p:spPr>
          <a:xfrm>
            <a:off x="685800" y="1314450"/>
            <a:ext cx="10820400" cy="4953000"/>
          </a:xfrm>
        </p:spPr>
        <p:txBody>
          <a:bodyPr wrap="square" lIns="0" tIns="0" rIns="0" bIns="0" anchor="t">
            <a:normAutofit/>
          </a:bodyPr>
          <a:lstStyle/>
          <a:p>
            <a:pPr marL="0" indent="0">
              <a:buNone/>
              <a:defRPr sz="1575">
                <a:solidFill>
                  <a:srgbClr val="22313F"/>
                </a:solidFill>
                <a:latin typeface="Aptos"/>
                <a:ea typeface="Aptos"/>
                <a:cs typeface="Aptos"/>
              </a:defRPr>
            </a:pPr>
            <a:r>
              <a:rPr sz="1575">
                <a:solidFill>
                  <a:srgbClr val="22313F"/>
                </a:solidFill>
                <a:latin typeface="Aptos"/>
                <a:ea typeface="Aptos"/>
                <a:cs typeface="Aptos"/>
              </a:rPr>
              <a:t>H1. A shared LLM increases the similarity of information obtained by members.</a:t>
            </a:r>
            <a:endParaRPr sz="1575">
              <a:solidFill>
                <a:srgbClr val="22313F"/>
              </a:solidFill>
              <a:latin typeface="Aptos"/>
              <a:ea typeface="Aptos"/>
              <a:cs typeface="Aptos"/>
            </a:endParaRPr>
          </a:p>
          <a:p>
            <a:pPr marL="0" indent="0">
              <a:buNone/>
            </a:pPr>
          </a:p>
          <a:p>
            <a:pPr marL="0" indent="0">
              <a:buNone/>
              <a:defRPr sz="1575">
                <a:solidFill>
                  <a:srgbClr val="22313F"/>
                </a:solidFill>
                <a:latin typeface="Aptos"/>
                <a:ea typeface="Aptos"/>
                <a:cs typeface="Aptos"/>
              </a:defRPr>
            </a:pPr>
            <a:r>
              <a:rPr sz="1575">
                <a:solidFill>
                  <a:srgbClr val="22313F"/>
                </a:solidFill>
                <a:latin typeface="Aptos"/>
                <a:ea typeface="Aptos"/>
                <a:cs typeface="Aptos"/>
              </a:rPr>
              <a:t>H2. A shared LLM increases correlation in members’ judgment errors.</a:t>
            </a:r>
            <a:endParaRPr sz="1575">
              <a:solidFill>
                <a:srgbClr val="22313F"/>
              </a:solidFill>
              <a:latin typeface="Aptos"/>
              <a:ea typeface="Aptos"/>
              <a:cs typeface="Aptos"/>
            </a:endParaRPr>
          </a:p>
          <a:p>
            <a:pPr marL="0" indent="0">
              <a:buNone/>
            </a:pPr>
          </a:p>
          <a:p>
            <a:pPr marL="0" indent="0">
              <a:buNone/>
              <a:defRPr sz="1575">
                <a:solidFill>
                  <a:srgbClr val="22313F"/>
                </a:solidFill>
                <a:latin typeface="Aptos"/>
                <a:ea typeface="Aptos"/>
                <a:cs typeface="Aptos"/>
              </a:defRPr>
            </a:pPr>
            <a:r>
              <a:rPr sz="1575">
                <a:solidFill>
                  <a:srgbClr val="22313F"/>
                </a:solidFill>
                <a:latin typeface="Aptos"/>
                <a:ea typeface="Aptos"/>
                <a:cs typeface="Aptos"/>
              </a:rPr>
              <a:t>H3. A shared LLM reduces the accuracy gain produced by judgment aggregation.</a:t>
            </a:r>
            <a:endParaRPr sz="1575">
              <a:solidFill>
                <a:srgbClr val="22313F"/>
              </a:solidFill>
              <a:latin typeface="Aptos"/>
              <a:ea typeface="Aptos"/>
              <a:cs typeface="Aptos"/>
            </a:endParaRPr>
          </a:p>
          <a:p>
            <a:pPr marL="0" indent="0">
              <a:buNone/>
            </a:pPr>
          </a:p>
          <a:p>
            <a:pPr marL="0" indent="0">
              <a:buNone/>
              <a:defRPr sz="1575">
                <a:solidFill>
                  <a:srgbClr val="22313F"/>
                </a:solidFill>
                <a:latin typeface="Aptos"/>
                <a:ea typeface="Aptos"/>
                <a:cs typeface="Aptos"/>
              </a:defRPr>
            </a:pPr>
            <a:r>
              <a:rPr sz="1575">
                <a:solidFill>
                  <a:srgbClr val="22313F"/>
                </a:solidFill>
                <a:latin typeface="Aptos"/>
                <a:ea typeface="Aptos"/>
                <a:cs typeface="Aptos"/>
              </a:rPr>
              <a:t>H4. Model diversity mitigates the loss of crowd wisdom caused by a shared LLM.</a:t>
            </a:r>
            <a:endParaRPr sz="1575">
              <a:solidFill>
                <a:srgbClr val="22313F"/>
              </a:solidFill>
              <a:latin typeface="Aptos"/>
              <a:ea typeface="Aptos"/>
              <a:cs typeface="Aptos"/>
            </a:endParaRPr>
          </a:p>
          <a:p>
            <a:pPr marL="0" indent="0">
              <a:buNone/>
            </a:pPr>
          </a:p>
          <a:p>
            <a:pPr marL="0" indent="0">
              <a:buNone/>
              <a:defRPr sz="1575">
                <a:solidFill>
                  <a:srgbClr val="22313F"/>
                </a:solidFill>
                <a:latin typeface="Aptos"/>
                <a:ea typeface="Aptos"/>
                <a:cs typeface="Aptos"/>
              </a:defRPr>
            </a:pPr>
            <a:r>
              <a:rPr sz="1575">
                <a:solidFill>
                  <a:srgbClr val="22313F"/>
                </a:solidFill>
                <a:latin typeface="Aptos"/>
                <a:ea typeface="Aptos"/>
                <a:cs typeface="Aptos"/>
              </a:rPr>
              <a:t>H4 also serves as a mechanism test. If model diversity first reduces error correlation and then restores aggregation gains, the core mechanism is supported. If it only increases linguistic variation without changing error correlation or aggregation outcomes, the mechanism is not validated.</a:t>
            </a:r>
            <a:endParaRPr sz="1575">
              <a:solidFill>
                <a:srgbClr val="22313F"/>
              </a:solidFill>
              <a:latin typeface="Aptos"/>
              <a:ea typeface="Aptos"/>
              <a:cs typeface="Apto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p:sp>
        <p:nvSpPr>
          <p:cNvPr id="2" name="标题 1"/>
          <p:cNvSpPr>
            <a:spLocks noGrp="1"/>
          </p:cNvSpPr>
          <p:nvPr>
            <p:ph type="title"/>
          </p:nvPr>
        </p:nvSpPr>
        <p:spPr>
          <a:xfrm>
            <a:off x="609600" y="400050"/>
            <a:ext cx="10972800" cy="742950"/>
          </a:xfrm>
        </p:spPr>
        <p:txBody>
          <a:bodyPr wrap="square" lIns="0" tIns="0" rIns="0" bIns="0" anchor="t">
            <a:normAutofit/>
          </a:bodyPr>
          <a:lstStyle/>
          <a:p>
            <a:pPr>
              <a:buNone/>
              <a:defRPr sz="2700" b="1">
                <a:solidFill>
                  <a:srgbClr val="102A43"/>
                </a:solidFill>
                <a:latin typeface="Aptos Display"/>
                <a:ea typeface="Aptos Display"/>
                <a:cs typeface="Aptos Display"/>
              </a:defRPr>
            </a:pPr>
            <a:r>
              <a:rPr sz="2700" b="1">
                <a:solidFill>
                  <a:srgbClr val="102A43"/>
                </a:solidFill>
                <a:latin typeface="Aptos Display"/>
                <a:ea typeface="Aptos Display"/>
                <a:cs typeface="Aptos Display"/>
              </a:rPr>
              <a:t>Modeling Foundation</a:t>
            </a:r>
            <a:endParaRPr sz="2700" b="1">
              <a:solidFill>
                <a:srgbClr val="102A43"/>
              </a:solidFill>
              <a:latin typeface="Aptos Display"/>
              <a:ea typeface="Aptos Display"/>
              <a:cs typeface="Aptos Display"/>
            </a:endParaRPr>
          </a:p>
        </p:txBody>
      </p:sp>
      <p:sp>
        <p:nvSpPr>
          <p:cNvPr id="3" name="内容占位符 2"/>
          <p:cNvSpPr>
            <a:spLocks noGrp="1"/>
          </p:cNvSpPr>
          <p:nvPr>
            <p:ph idx="1"/>
          </p:nvPr>
        </p:nvSpPr>
        <p:spPr>
          <a:xfrm>
            <a:off x="685800" y="1314450"/>
            <a:ext cx="10820400" cy="4953000"/>
          </a:xfrm>
        </p:spPr>
        <p:txBody>
          <a:bodyPr wrap="square" lIns="0" tIns="0" rIns="0" bIns="0" anchor="t">
            <a:normAutofit/>
          </a:bodyPr>
          <a:lstStyle/>
          <a:p>
            <a:pPr marL="0" indent="0">
              <a:buNone/>
              <a:defRPr sz="1575">
                <a:solidFill>
                  <a:srgbClr val="22313F"/>
                </a:solidFill>
                <a:latin typeface="Aptos"/>
                <a:ea typeface="Aptos"/>
                <a:cs typeface="Aptos"/>
              </a:defRPr>
            </a:pPr>
            <a:r>
              <a:rPr sz="1575">
                <a:solidFill>
                  <a:srgbClr val="22313F"/>
                </a:solidFill>
                <a:latin typeface="Aptos"/>
                <a:ea typeface="Aptos"/>
                <a:cs typeface="Aptos"/>
              </a:rPr>
              <a:t>OPINION DYNAMICS: WHEN DOES A SHARED MODEL PRODUCE CONVERGENCE OR DIVERGENCE?</a:t>
            </a:r>
            <a:endParaRPr sz="1575">
              <a:solidFill>
                <a:srgbClr val="22313F"/>
              </a:solidFill>
              <a:latin typeface="Aptos"/>
              <a:ea typeface="Aptos"/>
              <a:cs typeface="Aptos"/>
            </a:endParaRPr>
          </a:p>
          <a:p>
            <a:pPr marL="0" indent="0">
              <a:buNone/>
            </a:pPr>
          </a:p>
          <a:p>
            <a:pPr marL="0" indent="0">
              <a:buNone/>
              <a:defRPr sz="1575">
                <a:solidFill>
                  <a:srgbClr val="22313F"/>
                </a:solidFill>
                <a:latin typeface="Aptos"/>
                <a:ea typeface="Aptos"/>
                <a:cs typeface="Aptos"/>
              </a:defRPr>
            </a:pPr>
            <a:r>
              <a:rPr sz="1575">
                <a:solidFill>
                  <a:srgbClr val="22313F"/>
                </a:solidFill>
                <a:latin typeface="Aptos"/>
                <a:ea typeface="Aptos"/>
                <a:cs typeface="Aptos"/>
              </a:rPr>
              <a:t>Traditional opinion dynamics studies how people update judgments from others’ opinions. DeGroot models convergence through weighted averaging; Friedkin–Johnsen allows attachment to initial positions; Hegselmann–Krause bounded confidence assumes that people accept only information sufficiently close to their current view, allowing multiple opinion clusters.</a:t>
            </a:r>
            <a:endParaRPr sz="1575">
              <a:solidFill>
                <a:srgbClr val="22313F"/>
              </a:solidFill>
              <a:latin typeface="Aptos"/>
              <a:ea typeface="Aptos"/>
              <a:cs typeface="Aptos"/>
            </a:endParaRPr>
          </a:p>
          <a:p>
            <a:pPr marL="0" indent="0">
              <a:buNone/>
            </a:pPr>
          </a:p>
          <a:p>
            <a:pPr marL="0" indent="0">
              <a:buNone/>
              <a:defRPr sz="1575">
                <a:solidFill>
                  <a:srgbClr val="22313F"/>
                </a:solidFill>
                <a:latin typeface="Aptos"/>
                <a:ea typeface="Aptos"/>
                <a:cs typeface="Aptos"/>
              </a:defRPr>
            </a:pPr>
            <a:r>
              <a:rPr sz="1575">
                <a:solidFill>
                  <a:srgbClr val="22313F"/>
                </a:solidFill>
                <a:latin typeface="Aptos"/>
                <a:ea typeface="Aptos"/>
                <a:cs typeface="Aptos"/>
              </a:rPr>
              <a:t>Here, opinion dynamics is not mainly used to simulate interpersonal diffusion. It describes how members with different initial positions update sequentially in response to shared—but potentially personalized—LLM information.</a:t>
            </a:r>
            <a:endParaRPr sz="1575">
              <a:solidFill>
                <a:srgbClr val="22313F"/>
              </a:solidFill>
              <a:latin typeface="Aptos"/>
              <a:ea typeface="Aptos"/>
              <a:cs typeface="Apto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p:sp>
        <p:nvSpPr>
          <p:cNvPr id="2" name="标题 1"/>
          <p:cNvSpPr>
            <a:spLocks noGrp="1"/>
          </p:cNvSpPr>
          <p:nvPr>
            <p:ph type="title"/>
          </p:nvPr>
        </p:nvSpPr>
        <p:spPr>
          <a:xfrm>
            <a:off x="609600" y="400050"/>
            <a:ext cx="10972800" cy="742950"/>
          </a:xfrm>
        </p:spPr>
        <p:txBody>
          <a:bodyPr wrap="square" lIns="0" tIns="0" rIns="0" bIns="0" anchor="t">
            <a:normAutofit/>
          </a:bodyPr>
          <a:lstStyle/>
          <a:p>
            <a:pPr>
              <a:buNone/>
              <a:defRPr sz="2700" b="1">
                <a:solidFill>
                  <a:srgbClr val="102A43"/>
                </a:solidFill>
                <a:latin typeface="Aptos Display"/>
                <a:ea typeface="Aptos Display"/>
                <a:cs typeface="Aptos Display"/>
              </a:defRPr>
            </a:pPr>
            <a:r>
              <a:rPr sz="2700" b="1">
                <a:solidFill>
                  <a:srgbClr val="102A43"/>
                </a:solidFill>
                <a:latin typeface="Aptos Display"/>
                <a:ea typeface="Aptos Display"/>
                <a:cs typeface="Aptos Display"/>
              </a:rPr>
              <a:t>Method: Hybrid ABM–Dynamics Modeling</a:t>
            </a:r>
            <a:endParaRPr sz="2700" b="1">
              <a:solidFill>
                <a:srgbClr val="102A43"/>
              </a:solidFill>
              <a:latin typeface="Aptos Display"/>
              <a:ea typeface="Aptos Display"/>
              <a:cs typeface="Aptos Display"/>
            </a:endParaRPr>
          </a:p>
        </p:txBody>
      </p:sp>
      <p:sp>
        <p:nvSpPr>
          <p:cNvPr id="3" name="内容占位符 2"/>
          <p:cNvSpPr>
            <a:spLocks noGrp="1"/>
          </p:cNvSpPr>
          <p:nvPr>
            <p:ph idx="1"/>
          </p:nvPr>
        </p:nvSpPr>
        <p:spPr>
          <a:xfrm>
            <a:off x="685800" y="1314450"/>
            <a:ext cx="10820400" cy="4953000"/>
          </a:xfrm>
        </p:spPr>
        <p:txBody>
          <a:bodyPr wrap="square" lIns="0" tIns="0" rIns="0" bIns="0" anchor="t">
            <a:normAutofit/>
          </a:bodyPr>
          <a:lstStyle/>
          <a:p>
            <a:pPr marL="0" indent="0">
              <a:buNone/>
              <a:defRPr sz="1575">
                <a:solidFill>
                  <a:srgbClr val="22313F"/>
                </a:solidFill>
                <a:latin typeface="Aptos"/>
                <a:ea typeface="Aptos"/>
                <a:cs typeface="Aptos"/>
              </a:defRPr>
            </a:pPr>
            <a:r>
              <a:rPr sz="1575">
                <a:solidFill>
                  <a:srgbClr val="102A43"/>
                </a:solidFill>
                <a:latin typeface="Aptos"/>
                <a:ea typeface="Aptos"/>
                <a:cs typeface="Aptos"/>
              </a:rPr>
              <a:t>ABM connects three levels:</a:t>
            </a:r>
            <a:endParaRPr sz="1575">
              <a:solidFill>
                <a:srgbClr val="102A43"/>
              </a:solidFill>
              <a:latin typeface="Aptos"/>
              <a:ea typeface="Aptos"/>
              <a:cs typeface="Aptos"/>
            </a:endParaRPr>
          </a:p>
          <a:p>
            <a:pPr marL="0" indent="0">
              <a:buNone/>
            </a:pPr>
          </a:p>
          <a:p>
            <a:pPr marL="0" indent="0">
              <a:buNone/>
              <a:defRPr sz="1575">
                <a:solidFill>
                  <a:srgbClr val="22313F"/>
                </a:solidFill>
                <a:latin typeface="Aptos"/>
                <a:ea typeface="Aptos"/>
                <a:cs typeface="Aptos"/>
              </a:defRPr>
            </a:pPr>
            <a:r>
              <a:rPr sz="1575">
                <a:solidFill>
                  <a:srgbClr val="102A43"/>
                </a:solidFill>
                <a:latin typeface="Aptos"/>
                <a:ea typeface="Aptos"/>
                <a:cs typeface="Aptos"/>
              </a:rPr>
              <a:t>MODEL RESPONSE  →  INDIVIDUAL UPDATING  →  GROUP DISTRIBUTION</a:t>
            </a:r>
            <a:endParaRPr sz="1575">
              <a:solidFill>
                <a:srgbClr val="102A43"/>
              </a:solidFill>
              <a:latin typeface="Aptos"/>
              <a:ea typeface="Aptos"/>
              <a:cs typeface="Aptos"/>
            </a:endParaRPr>
          </a:p>
          <a:p>
            <a:pPr marL="0" indent="0">
              <a:buNone/>
            </a:pPr>
          </a:p>
          <a:p>
            <a:pPr marL="0" indent="0">
              <a:buNone/>
              <a:defRPr sz="1575">
                <a:solidFill>
                  <a:srgbClr val="22313F"/>
                </a:solidFill>
                <a:latin typeface="Aptos"/>
                <a:ea typeface="Aptos"/>
                <a:cs typeface="Aptos"/>
              </a:defRPr>
            </a:pPr>
            <a:r>
              <a:rPr sz="1575">
                <a:solidFill>
                  <a:srgbClr val="102A43"/>
                </a:solidFill>
                <a:latin typeface="Aptos"/>
                <a:ea typeface="Aptos"/>
                <a:cs typeface="Aptos"/>
              </a:rPr>
              <a:t>It can accommodate heterogeneous agents, repeated follow-up questions, nonlinear updating, personalized outputs, and large-scale group outcomes. The theoretical contribution comes from the mechanism relationships above; ABM provides mechanism tracing and counterfactual comparison.</a:t>
            </a:r>
            <a:endParaRPr sz="1575">
              <a:solidFill>
                <a:srgbClr val="102A43"/>
              </a:solidFill>
              <a:latin typeface="Aptos"/>
              <a:ea typeface="Aptos"/>
              <a:cs typeface="Apto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p:sp>
        <p:nvSpPr>
          <p:cNvPr id="2" name="标题 1"/>
          <p:cNvSpPr>
            <a:spLocks noGrp="1"/>
          </p:cNvSpPr>
          <p:nvPr>
            <p:ph type="title"/>
          </p:nvPr>
        </p:nvSpPr>
        <p:spPr>
          <a:xfrm>
            <a:off x="609600" y="400050"/>
            <a:ext cx="10972800" cy="742950"/>
          </a:xfrm>
        </p:spPr>
        <p:txBody>
          <a:bodyPr wrap="square" lIns="0" tIns="0" rIns="0" bIns="0" anchor="t">
            <a:normAutofit/>
          </a:bodyPr>
          <a:lstStyle/>
          <a:p>
            <a:pPr>
              <a:buNone/>
              <a:defRPr sz="2700" b="1">
                <a:solidFill>
                  <a:srgbClr val="102A43"/>
                </a:solidFill>
                <a:latin typeface="Aptos Display"/>
                <a:ea typeface="Aptos Display"/>
                <a:cs typeface="Aptos Display"/>
              </a:defRPr>
            </a:pPr>
            <a:r>
              <a:rPr sz="2700" b="1">
                <a:solidFill>
                  <a:srgbClr val="102A43"/>
                </a:solidFill>
                <a:latin typeface="Aptos Display"/>
                <a:ea typeface="Aptos Display"/>
                <a:cs typeface="Aptos Display"/>
              </a:rPr>
              <a:t>Opinion Dynamics Models Human Group Behavior</a:t>
            </a:r>
            <a:endParaRPr sz="2700" b="1">
              <a:solidFill>
                <a:srgbClr val="102A43"/>
              </a:solidFill>
              <a:latin typeface="Aptos Display"/>
              <a:ea typeface="Aptos Display"/>
              <a:cs typeface="Aptos Display"/>
            </a:endParaRPr>
          </a:p>
        </p:txBody>
      </p:sp>
      <p:sp>
        <p:nvSpPr>
          <p:cNvPr id="3" name="内容占位符 2"/>
          <p:cNvSpPr>
            <a:spLocks noGrp="1"/>
          </p:cNvSpPr>
          <p:nvPr>
            <p:ph idx="1"/>
          </p:nvPr>
        </p:nvSpPr>
        <p:spPr>
          <a:xfrm>
            <a:off x="685800" y="1314450"/>
            <a:ext cx="10820400" cy="4953000"/>
          </a:xfrm>
        </p:spPr>
        <p:txBody>
          <a:bodyPr wrap="square" lIns="0" tIns="0" rIns="0" bIns="0" anchor="t">
            <a:normAutofit fontScale="83210"/>
          </a:bodyPr>
          <a:lstStyle/>
          <a:p>
            <a:pPr marL="0" indent="0">
              <a:buNone/>
              <a:defRPr sz="1540">
                <a:solidFill>
                  <a:srgbClr val="22313F"/>
                </a:solidFill>
                <a:latin typeface="Aptos"/>
                <a:ea typeface="Aptos"/>
                <a:cs typeface="Aptos"/>
              </a:defRPr>
            </a:pPr>
            <a:r>
              <a:rPr sz="1540">
                <a:solidFill>
                  <a:srgbClr val="22313F"/>
                </a:solidFill>
                <a:latin typeface="Aptos"/>
                <a:ea typeface="Aptos"/>
                <a:cs typeface="Aptos"/>
              </a:rPr>
              <a:t>Opinion dynamics explains how users update their positions after receiving an LLM response.</a:t>
            </a:r>
            <a:endParaRPr sz="1540">
              <a:solidFill>
                <a:srgbClr val="22313F"/>
              </a:solidFill>
              <a:latin typeface="Aptos"/>
              <a:ea typeface="Aptos"/>
              <a:cs typeface="Aptos"/>
            </a:endParaRPr>
          </a:p>
          <a:p>
            <a:pPr marL="0" indent="0">
              <a:buNone/>
              <a:defRPr sz="1540">
                <a:solidFill>
                  <a:srgbClr val="22313F"/>
                </a:solidFill>
                <a:latin typeface="Aptos"/>
                <a:ea typeface="Aptos"/>
                <a:cs typeface="Aptos"/>
              </a:defRPr>
            </a:pPr>
            <a:r>
              <a:rPr sz="1540">
                <a:solidFill>
                  <a:srgbClr val="22313F"/>
                </a:solidFill>
                <a:latin typeface="Aptos"/>
                <a:ea typeface="Aptos"/>
                <a:cs typeface="Aptos"/>
              </a:rPr>
              <a:t>Agent i’s opinion in round t is xᵢ,ₜ, and the policy position implied by the LLM response is sᵢ,ₜ. The basic update rule is:</a:t>
            </a:r>
            <a:endParaRPr sz="1540">
              <a:solidFill>
                <a:srgbClr val="22313F"/>
              </a:solidFill>
              <a:latin typeface="Aptos"/>
              <a:ea typeface="Aptos"/>
              <a:cs typeface="Aptos"/>
            </a:endParaRPr>
          </a:p>
          <a:p>
            <a:pPr marL="0" indent="0">
              <a:buNone/>
              <a:defRPr sz="1540">
                <a:solidFill>
                  <a:srgbClr val="22313F"/>
                </a:solidFill>
                <a:latin typeface="Aptos"/>
                <a:ea typeface="Aptos"/>
                <a:cs typeface="Aptos"/>
              </a:defRPr>
            </a:pPr>
            <a:r>
              <a:rPr sz="1540">
                <a:solidFill>
                  <a:srgbClr val="22313F"/>
                </a:solidFill>
                <a:latin typeface="Aptos"/>
                <a:ea typeface="Aptos"/>
                <a:cs typeface="Aptos"/>
              </a:rPr>
              <a:t>xᵢ,ₜ₊₁ = (1 − λᵢ)xᵢ,ₜ + λᵢsᵢ,ₜ</a:t>
            </a:r>
            <a:endParaRPr sz="1540">
              <a:solidFill>
                <a:srgbClr val="22313F"/>
              </a:solidFill>
              <a:latin typeface="Aptos"/>
              <a:ea typeface="Aptos"/>
              <a:cs typeface="Aptos"/>
            </a:endParaRPr>
          </a:p>
          <a:p>
            <a:pPr marL="0" indent="0">
              <a:buNone/>
              <a:defRPr sz="1540">
                <a:solidFill>
                  <a:srgbClr val="22313F"/>
                </a:solidFill>
                <a:latin typeface="Aptos"/>
                <a:ea typeface="Aptos"/>
                <a:cs typeface="Aptos"/>
              </a:defRPr>
            </a:pPr>
            <a:r>
              <a:rPr sz="1540">
                <a:solidFill>
                  <a:srgbClr val="22313F"/>
                </a:solidFill>
                <a:latin typeface="Aptos"/>
                <a:ea typeface="Aptos"/>
                <a:cs typeface="Aptos"/>
              </a:rPr>
              <a:t>where λᵢ is the agent’s reliance on the LLM.</a:t>
            </a:r>
            <a:endParaRPr sz="1540">
              <a:solidFill>
                <a:srgbClr val="22313F"/>
              </a:solidFill>
              <a:latin typeface="Aptos"/>
              <a:ea typeface="Aptos"/>
              <a:cs typeface="Aptos"/>
            </a:endParaRPr>
          </a:p>
          <a:p>
            <a:pPr marL="0" indent="0">
              <a:buNone/>
            </a:pPr>
          </a:p>
          <a:p>
            <a:pPr marL="0" indent="0">
              <a:buNone/>
              <a:defRPr sz="1540">
                <a:solidFill>
                  <a:srgbClr val="22313F"/>
                </a:solidFill>
                <a:latin typeface="Aptos"/>
                <a:ea typeface="Aptos"/>
                <a:cs typeface="Aptos"/>
              </a:defRPr>
            </a:pPr>
            <a:r>
              <a:rPr sz="1540">
                <a:solidFill>
                  <a:srgbClr val="22313F"/>
                </a:solidFill>
                <a:latin typeface="Aptos"/>
                <a:ea typeface="Aptos"/>
                <a:cs typeface="Aptos"/>
              </a:rPr>
              <a:t>With bounded confidence, the agent accepts only information within a threshold of its current view:</a:t>
            </a:r>
            <a:endParaRPr sz="1540">
              <a:solidFill>
                <a:srgbClr val="22313F"/>
              </a:solidFill>
              <a:latin typeface="Aptos"/>
              <a:ea typeface="Aptos"/>
              <a:cs typeface="Aptos"/>
            </a:endParaRPr>
          </a:p>
          <a:p>
            <a:pPr marL="0" indent="0">
              <a:buNone/>
              <a:defRPr sz="1540">
                <a:solidFill>
                  <a:srgbClr val="22313F"/>
                </a:solidFill>
                <a:latin typeface="Aptos"/>
                <a:ea typeface="Aptos"/>
                <a:cs typeface="Aptos"/>
              </a:defRPr>
            </a:pPr>
            <a:r>
              <a:rPr sz="1540">
                <a:solidFill>
                  <a:srgbClr val="22313F"/>
                </a:solidFill>
                <a:latin typeface="Aptos"/>
                <a:ea typeface="Aptos"/>
                <a:cs typeface="Aptos"/>
              </a:rPr>
              <a:t>|sᵢ,ₜ − xᵢ,ₜ| ≤ τᵢ</a:t>
            </a:r>
            <a:endParaRPr sz="1540">
              <a:solidFill>
                <a:srgbClr val="22313F"/>
              </a:solidFill>
              <a:latin typeface="Aptos"/>
              <a:ea typeface="Aptos"/>
              <a:cs typeface="Aptos"/>
            </a:endParaRPr>
          </a:p>
          <a:p>
            <a:pPr marL="0" indent="0">
              <a:buNone/>
            </a:pPr>
          </a:p>
          <a:p>
            <a:pPr marL="0" indent="0">
              <a:buNone/>
              <a:defRPr sz="1540">
                <a:solidFill>
                  <a:srgbClr val="22313F"/>
                </a:solidFill>
                <a:latin typeface="Aptos"/>
                <a:ea typeface="Aptos"/>
                <a:cs typeface="Aptos"/>
              </a:defRPr>
            </a:pPr>
            <a:r>
              <a:rPr sz="1540">
                <a:solidFill>
                  <a:srgbClr val="22313F"/>
                </a:solidFill>
                <a:latin typeface="Aptos"/>
                <a:ea typeface="Aptos"/>
                <a:cs typeface="Aptos"/>
              </a:rPr>
              <a:t>This structure can produce two outcomes:</a:t>
            </a:r>
            <a:endParaRPr sz="1540">
              <a:solidFill>
                <a:srgbClr val="22313F"/>
              </a:solidFill>
              <a:latin typeface="Aptos"/>
              <a:ea typeface="Aptos"/>
              <a:cs typeface="Aptos"/>
            </a:endParaRPr>
          </a:p>
          <a:p>
            <a:pPr marL="0" indent="0">
              <a:buNone/>
              <a:defRPr sz="1540">
                <a:solidFill>
                  <a:srgbClr val="22313F"/>
                </a:solidFill>
                <a:latin typeface="Aptos"/>
                <a:ea typeface="Aptos"/>
                <a:cs typeface="Aptos"/>
              </a:defRPr>
            </a:pPr>
            <a:r>
              <a:rPr sz="1540">
                <a:solidFill>
                  <a:srgbClr val="22313F"/>
                </a:solidFill>
                <a:latin typeface="Aptos"/>
                <a:ea typeface="Aptos"/>
                <a:cs typeface="Aptos"/>
              </a:rPr>
              <a:t>• similar answers from a shared model generate convergence;</a:t>
            </a:r>
            <a:endParaRPr sz="1540">
              <a:solidFill>
                <a:srgbClr val="22313F"/>
              </a:solidFill>
              <a:latin typeface="Aptos"/>
              <a:ea typeface="Aptos"/>
              <a:cs typeface="Aptos"/>
            </a:endParaRPr>
          </a:p>
          <a:p>
            <a:pPr marL="0" indent="0">
              <a:buNone/>
              <a:defRPr sz="1540">
                <a:solidFill>
                  <a:srgbClr val="22313F"/>
                </a:solidFill>
                <a:latin typeface="Aptos"/>
                <a:ea typeface="Aptos"/>
                <a:cs typeface="Aptos"/>
              </a:defRPr>
            </a:pPr>
            <a:r>
              <a:rPr sz="1540">
                <a:solidFill>
                  <a:srgbClr val="22313F"/>
                </a:solidFill>
                <a:latin typeface="Aptos"/>
                <a:ea typeface="Aptos"/>
                <a:cs typeface="Aptos"/>
              </a:rPr>
              <a:t>• evidence selected by initial position gives opposing camps directionally different answers, generating division or polarization.</a:t>
            </a:r>
            <a:endParaRPr sz="1540">
              <a:solidFill>
                <a:srgbClr val="22313F"/>
              </a:solidFill>
              <a:latin typeface="Aptos"/>
              <a:ea typeface="Aptos"/>
              <a:cs typeface="Aptos"/>
            </a:endParaRPr>
          </a:p>
          <a:p>
            <a:pPr marL="0" indent="0">
              <a:buNone/>
            </a:pPr>
          </a:p>
          <a:p>
            <a:pPr marL="0" indent="0">
              <a:buNone/>
              <a:defRPr sz="1540">
                <a:solidFill>
                  <a:srgbClr val="22313F"/>
                </a:solidFill>
                <a:latin typeface="Aptos"/>
                <a:ea typeface="Aptos"/>
                <a:cs typeface="Aptos"/>
              </a:defRPr>
            </a:pPr>
            <a:r>
              <a:rPr sz="1540">
                <a:solidFill>
                  <a:srgbClr val="22313F"/>
                </a:solidFill>
                <a:latin typeface="Aptos"/>
                <a:ea typeface="Aptos"/>
                <a:cs typeface="Aptos"/>
              </a:rPr>
              <a:t>Sycophancy and personalization are therefore boundary conditions on the homogenizing effect of a shared model.</a:t>
            </a:r>
            <a:endParaRPr sz="1540">
              <a:solidFill>
                <a:srgbClr val="22313F"/>
              </a:solidFill>
              <a:latin typeface="Aptos"/>
              <a:ea typeface="Aptos"/>
              <a:cs typeface="Apto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p:sp>
        <p:nvSpPr>
          <p:cNvPr id="2" name="标题 1"/>
          <p:cNvSpPr>
            <a:spLocks noGrp="1"/>
          </p:cNvSpPr>
          <p:nvPr>
            <p:ph type="title"/>
          </p:nvPr>
        </p:nvSpPr>
        <p:spPr>
          <a:xfrm>
            <a:off x="609600" y="400050"/>
            <a:ext cx="10972800" cy="742950"/>
          </a:xfrm>
        </p:spPr>
        <p:txBody>
          <a:bodyPr wrap="square" lIns="0" tIns="0" rIns="0" bIns="0" anchor="t">
            <a:normAutofit/>
          </a:bodyPr>
          <a:lstStyle/>
          <a:p>
            <a:pPr>
              <a:buNone/>
              <a:defRPr sz="2700" b="1">
                <a:solidFill>
                  <a:srgbClr val="102A43"/>
                </a:solidFill>
                <a:latin typeface="Aptos Display"/>
                <a:ea typeface="Aptos Display"/>
                <a:cs typeface="Aptos Display"/>
              </a:defRPr>
            </a:pPr>
            <a:r>
              <a:rPr sz="2700" b="1">
                <a:solidFill>
                  <a:srgbClr val="102A43"/>
                </a:solidFill>
                <a:latin typeface="Aptos Display"/>
                <a:ea typeface="Aptos Display"/>
                <a:cs typeface="Aptos Display"/>
              </a:rPr>
              <a:t>Overall Model</a:t>
            </a:r>
            <a:endParaRPr sz="2700" b="1">
              <a:solidFill>
                <a:srgbClr val="102A43"/>
              </a:solidFill>
              <a:latin typeface="Aptos Display"/>
              <a:ea typeface="Aptos Display"/>
              <a:cs typeface="Aptos Display"/>
            </a:endParaRPr>
          </a:p>
        </p:txBody>
      </p:sp>
      <p:graphicFrame>
        <p:nvGraphicFramePr>
          <p:cNvPr id="9" name="表格 3"/>
          <p:cNvGraphicFramePr/>
          <p:nvPr/>
        </p:nvGraphicFramePr>
        <p:xfrm>
          <a:off x="680085" y="1708150"/>
          <a:ext cx="10485120" cy="1733550"/>
        </p:xfrm>
        <a:graphic>
          <a:graphicData uri="http://schemas.openxmlformats.org/drawingml/2006/table">
            <a:tbl>
              <a:tblPr firstRow="1" bandRow="1"/>
              <a:tblGrid>
                <a:gridCol w="2621280"/>
                <a:gridCol w="2621280"/>
                <a:gridCol w="2621280"/>
                <a:gridCol w="2621280"/>
              </a:tblGrid>
              <a:tr h="361950">
                <a:tc>
                  <a:txBody>
                    <a:bodyPr wrap="square">
                      <a:spAutoFit/>
                    </a:bodyPr>
                    <a:lstStyle/>
                    <a:p>
                      <a:r>
                        <a:rPr sz="1125" b="1">
                          <a:solidFill>
                            <a:srgbClr val="FFFFFF"/>
                          </a:solidFill>
                          <a:latin typeface="Aptos"/>
                          <a:ea typeface="Aptos"/>
                          <a:cs typeface="Aptos"/>
                        </a:rPr>
                        <a:t>Layer</a:t>
                      </a:r>
                      <a:endParaRPr sz="1125" b="1">
                        <a:solidFill>
                          <a:srgbClr val="FFFFFF"/>
                        </a:solidFill>
                        <a:latin typeface="Aptos"/>
                        <a:ea typeface="Aptos"/>
                        <a:cs typeface="Aptos"/>
                      </a:endParaRPr>
                    </a:p>
                  </a:txBody>
                  <a:tcPr marL="0" marR="0" marT="0" marB="0" anchor="ctr" anchorCtr="0">
                    <a:lnL>
                      <a:noFill/>
                    </a:lnL>
                    <a:lnR>
                      <a:noFill/>
                    </a:lnR>
                    <a:lnT>
                      <a:noFill/>
                    </a:lnT>
                    <a:lnB>
                      <a:noFill/>
                    </a:lnB>
                    <a:solidFill>
                      <a:srgbClr val="102A43"/>
                    </a:solidFill>
                  </a:tcPr>
                </a:tc>
                <a:tc>
                  <a:txBody>
                    <a:bodyPr wrap="square">
                      <a:spAutoFit/>
                    </a:bodyPr>
                    <a:lstStyle/>
                    <a:p>
                      <a:r>
                        <a:rPr sz="1125" b="1">
                          <a:solidFill>
                            <a:srgbClr val="FFFFFF"/>
                          </a:solidFill>
                          <a:latin typeface="Aptos"/>
                          <a:ea typeface="Aptos"/>
                          <a:cs typeface="Aptos"/>
                        </a:rPr>
                        <a:t>Input</a:t>
                      </a:r>
                      <a:endParaRPr sz="1125" b="1">
                        <a:solidFill>
                          <a:srgbClr val="FFFFFF"/>
                        </a:solidFill>
                        <a:latin typeface="Aptos"/>
                        <a:ea typeface="Aptos"/>
                        <a:cs typeface="Aptos"/>
                      </a:endParaRPr>
                    </a:p>
                  </a:txBody>
                  <a:tcPr marL="0" marR="0" marT="0" marB="0" anchor="ctr" anchorCtr="0">
                    <a:lnL>
                      <a:noFill/>
                    </a:lnL>
                    <a:lnR>
                      <a:noFill/>
                    </a:lnR>
                    <a:lnT>
                      <a:noFill/>
                    </a:lnT>
                    <a:lnB>
                      <a:noFill/>
                    </a:lnB>
                    <a:solidFill>
                      <a:srgbClr val="102A43"/>
                    </a:solidFill>
                  </a:tcPr>
                </a:tc>
                <a:tc>
                  <a:txBody>
                    <a:bodyPr wrap="square">
                      <a:spAutoFit/>
                    </a:bodyPr>
                    <a:lstStyle/>
                    <a:p>
                      <a:r>
                        <a:rPr sz="1125" b="1">
                          <a:solidFill>
                            <a:srgbClr val="FFFFFF"/>
                          </a:solidFill>
                          <a:latin typeface="Aptos"/>
                          <a:ea typeface="Aptos"/>
                          <a:cs typeface="Aptos"/>
                        </a:rPr>
                        <a:t>Output</a:t>
                      </a:r>
                      <a:endParaRPr sz="1125" b="1">
                        <a:solidFill>
                          <a:srgbClr val="FFFFFF"/>
                        </a:solidFill>
                        <a:latin typeface="Aptos"/>
                        <a:ea typeface="Aptos"/>
                        <a:cs typeface="Aptos"/>
                      </a:endParaRPr>
                    </a:p>
                  </a:txBody>
                  <a:tcPr marL="0" marR="0" marT="0" marB="0" anchor="ctr" anchorCtr="0">
                    <a:lnL>
                      <a:noFill/>
                    </a:lnL>
                    <a:lnR>
                      <a:noFill/>
                    </a:lnR>
                    <a:lnT>
                      <a:noFill/>
                    </a:lnT>
                    <a:lnB>
                      <a:noFill/>
                    </a:lnB>
                    <a:solidFill>
                      <a:srgbClr val="102A43"/>
                    </a:solidFill>
                  </a:tcPr>
                </a:tc>
                <a:tc>
                  <a:txBody>
                    <a:bodyPr wrap="square">
                      <a:spAutoFit/>
                    </a:bodyPr>
                    <a:lstStyle/>
                    <a:p>
                      <a:r>
                        <a:rPr sz="1125" b="1">
                          <a:solidFill>
                            <a:srgbClr val="FFFFFF"/>
                          </a:solidFill>
                          <a:latin typeface="Aptos"/>
                          <a:ea typeface="Aptos"/>
                          <a:cs typeface="Aptos"/>
                        </a:rPr>
                        <a:t>Function</a:t>
                      </a:r>
                      <a:endParaRPr sz="1125" b="1">
                        <a:solidFill>
                          <a:srgbClr val="FFFFFF"/>
                        </a:solidFill>
                        <a:latin typeface="Aptos"/>
                        <a:ea typeface="Aptos"/>
                        <a:cs typeface="Aptos"/>
                      </a:endParaRPr>
                    </a:p>
                  </a:txBody>
                  <a:tcPr marL="0" marR="0" marT="0" marB="0" anchor="ctr" anchorCtr="0">
                    <a:lnL>
                      <a:noFill/>
                    </a:lnL>
                    <a:lnR>
                      <a:noFill/>
                    </a:lnR>
                    <a:lnT>
                      <a:noFill/>
                    </a:lnT>
                    <a:lnB>
                      <a:noFill/>
                    </a:lnB>
                    <a:solidFill>
                      <a:srgbClr val="102A43"/>
                    </a:solidFill>
                  </a:tcPr>
                </a:tc>
              </a:tr>
              <a:tr h="457200">
                <a:tc>
                  <a:txBody>
                    <a:bodyPr wrap="square">
                      <a:spAutoFit/>
                    </a:bodyPr>
                    <a:lstStyle/>
                    <a:p>
                      <a:r>
                        <a:rPr sz="1050" b="0">
                          <a:solidFill>
                            <a:srgbClr val="22313F"/>
                          </a:solidFill>
                          <a:latin typeface="Aptos"/>
                          <a:ea typeface="Aptos"/>
                          <a:cs typeface="Aptos"/>
                        </a:rPr>
                        <a:t>LLM information layer</a:t>
                      </a:r>
                      <a:endParaRPr sz="1050" b="0">
                        <a:solidFill>
                          <a:srgbClr val="22313F"/>
                        </a:solidFill>
                        <a:latin typeface="Aptos"/>
                        <a:ea typeface="Aptos"/>
                        <a:cs typeface="Aptos"/>
                      </a:endParaRPr>
                    </a:p>
                  </a:txBody>
                  <a:tcPr marL="0" marR="0" marT="0" marB="0" anchor="ctr" anchorCtr="0">
                    <a:lnL>
                      <a:noFill/>
                    </a:lnL>
                    <a:lnR>
                      <a:noFill/>
                    </a:lnR>
                    <a:lnT>
                      <a:noFill/>
                    </a:lnT>
                    <a:lnB>
                      <a:noFill/>
                    </a:lnB>
                    <a:solidFill>
                      <a:srgbClr val="FFFFFF"/>
                    </a:solidFill>
                  </a:tcPr>
                </a:tc>
                <a:tc>
                  <a:txBody>
                    <a:bodyPr wrap="square">
                      <a:spAutoFit/>
                    </a:bodyPr>
                    <a:lstStyle/>
                    <a:p>
                      <a:r>
                        <a:rPr sz="1050" b="0">
                          <a:solidFill>
                            <a:srgbClr val="22313F"/>
                          </a:solidFill>
                          <a:latin typeface="Aptos"/>
                          <a:ea typeface="Aptos"/>
                          <a:cs typeface="Aptos"/>
                        </a:rPr>
                        <a:t>User question; model configuration</a:t>
                      </a:r>
                      <a:endParaRPr sz="1050" b="0">
                        <a:solidFill>
                          <a:srgbClr val="22313F"/>
                        </a:solidFill>
                        <a:latin typeface="Aptos"/>
                        <a:ea typeface="Aptos"/>
                        <a:cs typeface="Aptos"/>
                      </a:endParaRPr>
                    </a:p>
                  </a:txBody>
                  <a:tcPr marL="0" marR="0" marT="0" marB="0" anchor="ctr" anchorCtr="0">
                    <a:lnL>
                      <a:noFill/>
                    </a:lnL>
                    <a:lnR>
                      <a:noFill/>
                    </a:lnR>
                    <a:lnT>
                      <a:noFill/>
                    </a:lnT>
                    <a:lnB>
                      <a:noFill/>
                    </a:lnB>
                    <a:solidFill>
                      <a:srgbClr val="FFFFFF"/>
                    </a:solidFill>
                  </a:tcPr>
                </a:tc>
                <a:tc>
                  <a:txBody>
                    <a:bodyPr wrap="square">
                      <a:spAutoFit/>
                    </a:bodyPr>
                    <a:lstStyle/>
                    <a:p>
                      <a:r>
                        <a:rPr sz="1050" b="0">
                          <a:solidFill>
                            <a:srgbClr val="22313F"/>
                          </a:solidFill>
                          <a:latin typeface="Aptos"/>
                          <a:ea typeface="Aptos"/>
                          <a:cs typeface="Aptos"/>
                        </a:rPr>
                        <a:t>Natural-language response Rᵢₖₜ</a:t>
                      </a:r>
                      <a:endParaRPr sz="1050" b="0">
                        <a:solidFill>
                          <a:srgbClr val="22313F"/>
                        </a:solidFill>
                        <a:latin typeface="Aptos"/>
                        <a:ea typeface="Aptos"/>
                        <a:cs typeface="Aptos"/>
                      </a:endParaRPr>
                    </a:p>
                  </a:txBody>
                  <a:tcPr marL="0" marR="0" marT="0" marB="0" anchor="ctr" anchorCtr="0">
                    <a:lnL>
                      <a:noFill/>
                    </a:lnL>
                    <a:lnR>
                      <a:noFill/>
                    </a:lnR>
                    <a:lnT>
                      <a:noFill/>
                    </a:lnT>
                    <a:lnB>
                      <a:noFill/>
                    </a:lnB>
                    <a:solidFill>
                      <a:srgbClr val="FFFFFF"/>
                    </a:solidFill>
                  </a:tcPr>
                </a:tc>
                <a:tc>
                  <a:txBody>
                    <a:bodyPr wrap="square">
                      <a:spAutoFit/>
                    </a:bodyPr>
                    <a:lstStyle/>
                    <a:p>
                      <a:r>
                        <a:rPr sz="1050" b="0">
                          <a:solidFill>
                            <a:srgbClr val="22313F"/>
                          </a:solidFill>
                          <a:latin typeface="Aptos"/>
                          <a:ea typeface="Aptos"/>
                          <a:cs typeface="Aptos"/>
                        </a:rPr>
                        <a:t>Generate the information received by each member</a:t>
                      </a:r>
                      <a:endParaRPr sz="1050" b="0">
                        <a:solidFill>
                          <a:srgbClr val="22313F"/>
                        </a:solidFill>
                        <a:latin typeface="Aptos"/>
                        <a:ea typeface="Aptos"/>
                        <a:cs typeface="Aptos"/>
                      </a:endParaRPr>
                    </a:p>
                  </a:txBody>
                  <a:tcPr marL="0" marR="0" marT="0" marB="0" anchor="ctr" anchorCtr="0">
                    <a:lnL>
                      <a:noFill/>
                    </a:lnL>
                    <a:lnR>
                      <a:noFill/>
                    </a:lnR>
                    <a:lnT>
                      <a:noFill/>
                    </a:lnT>
                    <a:lnB>
                      <a:noFill/>
                    </a:lnB>
                    <a:solidFill>
                      <a:srgbClr val="FFFFFF"/>
                    </a:solidFill>
                  </a:tcPr>
                </a:tc>
              </a:tr>
              <a:tr h="457200">
                <a:tc>
                  <a:txBody>
                    <a:bodyPr wrap="square">
                      <a:spAutoFit/>
                    </a:bodyPr>
                    <a:lstStyle/>
                    <a:p>
                      <a:r>
                        <a:rPr sz="1050" b="0">
                          <a:solidFill>
                            <a:srgbClr val="22313F"/>
                          </a:solidFill>
                          <a:latin typeface="Aptos"/>
                          <a:ea typeface="Aptos"/>
                          <a:cs typeface="Aptos"/>
                        </a:rPr>
                        <a:t>Text-measurement layer</a:t>
                      </a:r>
                      <a:endParaRPr sz="1050" b="0">
                        <a:solidFill>
                          <a:srgbClr val="22313F"/>
                        </a:solidFill>
                        <a:latin typeface="Aptos"/>
                        <a:ea typeface="Aptos"/>
                        <a:cs typeface="Aptos"/>
                      </a:endParaRPr>
                    </a:p>
                  </a:txBody>
                  <a:tcPr marL="0" marR="0" marT="0" marB="0" anchor="ctr" anchorCtr="0">
                    <a:lnL>
                      <a:noFill/>
                    </a:lnL>
                    <a:lnR>
                      <a:noFill/>
                    </a:lnR>
                    <a:lnT>
                      <a:noFill/>
                    </a:lnT>
                    <a:lnB>
                      <a:noFill/>
                    </a:lnB>
                    <a:solidFill>
                      <a:srgbClr val="EDF3F6"/>
                    </a:solidFill>
                  </a:tcPr>
                </a:tc>
                <a:tc>
                  <a:txBody>
                    <a:bodyPr wrap="square">
                      <a:spAutoFit/>
                    </a:bodyPr>
                    <a:lstStyle/>
                    <a:p>
                      <a:r>
                        <a:rPr sz="1050" b="0">
                          <a:solidFill>
                            <a:srgbClr val="22313F"/>
                          </a:solidFill>
                          <a:latin typeface="Aptos"/>
                          <a:ea typeface="Aptos"/>
                          <a:cs typeface="Aptos"/>
                        </a:rPr>
                        <a:t>Response Rᵢₖₜ</a:t>
                      </a:r>
                      <a:endParaRPr sz="1050" b="0">
                        <a:solidFill>
                          <a:srgbClr val="22313F"/>
                        </a:solidFill>
                        <a:latin typeface="Aptos"/>
                        <a:ea typeface="Aptos"/>
                        <a:cs typeface="Aptos"/>
                      </a:endParaRPr>
                    </a:p>
                  </a:txBody>
                  <a:tcPr marL="0" marR="0" marT="0" marB="0" anchor="ctr" anchorCtr="0">
                    <a:lnL>
                      <a:noFill/>
                    </a:lnL>
                    <a:lnR>
                      <a:noFill/>
                    </a:lnR>
                    <a:lnT>
                      <a:noFill/>
                    </a:lnT>
                    <a:lnB>
                      <a:noFill/>
                    </a:lnB>
                    <a:solidFill>
                      <a:srgbClr val="EDF3F6"/>
                    </a:solidFill>
                  </a:tcPr>
                </a:tc>
                <a:tc>
                  <a:txBody>
                    <a:bodyPr wrap="square">
                      <a:spAutoFit/>
                    </a:bodyPr>
                    <a:lstStyle/>
                    <a:p>
                      <a:r>
                        <a:rPr sz="1050" b="0">
                          <a:solidFill>
                            <a:srgbClr val="22313F"/>
                          </a:solidFill>
                          <a:latin typeface="Aptos"/>
                          <a:ea typeface="Aptos"/>
                          <a:cs typeface="Aptos"/>
                        </a:rPr>
                        <a:t>Position signal sᵢₖₜ; information vector zᵢₖₜ</a:t>
                      </a:r>
                      <a:endParaRPr sz="1050" b="0">
                        <a:solidFill>
                          <a:srgbClr val="22313F"/>
                        </a:solidFill>
                        <a:latin typeface="Aptos"/>
                        <a:ea typeface="Aptos"/>
                        <a:cs typeface="Aptos"/>
                      </a:endParaRPr>
                    </a:p>
                  </a:txBody>
                  <a:tcPr marL="0" marR="0" marT="0" marB="0" anchor="ctr" anchorCtr="0">
                    <a:lnL>
                      <a:noFill/>
                    </a:lnL>
                    <a:lnR>
                      <a:noFill/>
                    </a:lnR>
                    <a:lnT>
                      <a:noFill/>
                    </a:lnT>
                    <a:lnB>
                      <a:noFill/>
                    </a:lnB>
                    <a:solidFill>
                      <a:srgbClr val="EDF3F6"/>
                    </a:solidFill>
                  </a:tcPr>
                </a:tc>
                <a:tc>
                  <a:txBody>
                    <a:bodyPr wrap="square">
                      <a:spAutoFit/>
                    </a:bodyPr>
                    <a:lstStyle/>
                    <a:p>
                      <a:r>
                        <a:rPr sz="1050" b="0">
                          <a:solidFill>
                            <a:srgbClr val="22313F"/>
                          </a:solidFill>
                          <a:latin typeface="Aptos"/>
                          <a:ea typeface="Aptos"/>
                          <a:cs typeface="Aptos"/>
                        </a:rPr>
                        <a:t>Convert text into computable variables</a:t>
                      </a:r>
                      <a:endParaRPr sz="1050" b="0">
                        <a:solidFill>
                          <a:srgbClr val="22313F"/>
                        </a:solidFill>
                        <a:latin typeface="Aptos"/>
                        <a:ea typeface="Aptos"/>
                        <a:cs typeface="Aptos"/>
                      </a:endParaRPr>
                    </a:p>
                  </a:txBody>
                  <a:tcPr marL="0" marR="0" marT="0" marB="0" anchor="ctr" anchorCtr="0">
                    <a:lnL>
                      <a:noFill/>
                    </a:lnL>
                    <a:lnR>
                      <a:noFill/>
                    </a:lnR>
                    <a:lnT>
                      <a:noFill/>
                    </a:lnT>
                    <a:lnB>
                      <a:noFill/>
                    </a:lnB>
                    <a:solidFill>
                      <a:srgbClr val="EDF3F6"/>
                    </a:solidFill>
                  </a:tcPr>
                </a:tc>
              </a:tr>
              <a:tr h="457200">
                <a:tc>
                  <a:txBody>
                    <a:bodyPr wrap="square">
                      <a:spAutoFit/>
                    </a:bodyPr>
                    <a:lstStyle/>
                    <a:p>
                      <a:r>
                        <a:rPr sz="1050" b="0">
                          <a:solidFill>
                            <a:srgbClr val="22313F"/>
                          </a:solidFill>
                          <a:latin typeface="Aptos"/>
                          <a:ea typeface="Aptos"/>
                          <a:cs typeface="Aptos"/>
                        </a:rPr>
                        <a:t>Opinion-updating layer</a:t>
                      </a:r>
                      <a:endParaRPr sz="1050" b="0">
                        <a:solidFill>
                          <a:srgbClr val="22313F"/>
                        </a:solidFill>
                        <a:latin typeface="Aptos"/>
                        <a:ea typeface="Aptos"/>
                        <a:cs typeface="Aptos"/>
                      </a:endParaRPr>
                    </a:p>
                  </a:txBody>
                  <a:tcPr marL="0" marR="0" marT="0" marB="0" anchor="ctr" anchorCtr="0">
                    <a:lnL>
                      <a:noFill/>
                    </a:lnL>
                    <a:lnR>
                      <a:noFill/>
                    </a:lnR>
                    <a:lnT>
                      <a:noFill/>
                    </a:lnT>
                    <a:lnB>
                      <a:noFill/>
                    </a:lnB>
                    <a:solidFill>
                      <a:srgbClr val="FFFFFF"/>
                    </a:solidFill>
                  </a:tcPr>
                </a:tc>
                <a:tc>
                  <a:txBody>
                    <a:bodyPr wrap="square">
                      <a:spAutoFit/>
                    </a:bodyPr>
                    <a:lstStyle/>
                    <a:p>
                      <a:r>
                        <a:rPr sz="1050" b="0">
                          <a:solidFill>
                            <a:srgbClr val="22313F"/>
                          </a:solidFill>
                          <a:latin typeface="Aptos"/>
                          <a:ea typeface="Aptos"/>
                          <a:cs typeface="Aptos"/>
                        </a:rPr>
                        <a:t>Prior position xᵢₖₜ; position signal sᵢₖₜ</a:t>
                      </a:r>
                      <a:endParaRPr sz="1050" b="0">
                        <a:solidFill>
                          <a:srgbClr val="22313F"/>
                        </a:solidFill>
                        <a:latin typeface="Aptos"/>
                        <a:ea typeface="Aptos"/>
                        <a:cs typeface="Aptos"/>
                      </a:endParaRPr>
                    </a:p>
                  </a:txBody>
                  <a:tcPr marL="0" marR="0" marT="0" marB="0" anchor="ctr" anchorCtr="0">
                    <a:lnL>
                      <a:noFill/>
                    </a:lnL>
                    <a:lnR>
                      <a:noFill/>
                    </a:lnR>
                    <a:lnT>
                      <a:noFill/>
                    </a:lnT>
                    <a:lnB>
                      <a:noFill/>
                    </a:lnB>
                    <a:solidFill>
                      <a:srgbClr val="FFFFFF"/>
                    </a:solidFill>
                  </a:tcPr>
                </a:tc>
                <a:tc>
                  <a:txBody>
                    <a:bodyPr wrap="square">
                      <a:spAutoFit/>
                    </a:bodyPr>
                    <a:lstStyle/>
                    <a:p>
                      <a:r>
                        <a:rPr sz="1050" b="0">
                          <a:solidFill>
                            <a:srgbClr val="22313F"/>
                          </a:solidFill>
                          <a:latin typeface="Aptos"/>
                          <a:ea typeface="Aptos"/>
                          <a:cs typeface="Aptos"/>
                        </a:rPr>
                        <a:t>New position xᵢₖ,ₜ₊₁</a:t>
                      </a:r>
                      <a:endParaRPr sz="1050" b="0">
                        <a:solidFill>
                          <a:srgbClr val="22313F"/>
                        </a:solidFill>
                        <a:latin typeface="Aptos"/>
                        <a:ea typeface="Aptos"/>
                        <a:cs typeface="Aptos"/>
                      </a:endParaRPr>
                    </a:p>
                  </a:txBody>
                  <a:tcPr marL="0" marR="0" marT="0" marB="0" anchor="ctr" anchorCtr="0">
                    <a:lnL>
                      <a:noFill/>
                    </a:lnL>
                    <a:lnR>
                      <a:noFill/>
                    </a:lnR>
                    <a:lnT>
                      <a:noFill/>
                    </a:lnT>
                    <a:lnB>
                      <a:noFill/>
                    </a:lnB>
                    <a:solidFill>
                      <a:srgbClr val="FFFFFF"/>
                    </a:solidFill>
                  </a:tcPr>
                </a:tc>
                <a:tc>
                  <a:txBody>
                    <a:bodyPr wrap="square">
                      <a:spAutoFit/>
                    </a:bodyPr>
                    <a:lstStyle/>
                    <a:p>
                      <a:r>
                        <a:rPr sz="1050" b="0">
                          <a:solidFill>
                            <a:srgbClr val="22313F"/>
                          </a:solidFill>
                          <a:latin typeface="Aptos"/>
                          <a:ea typeface="Aptos"/>
                          <a:cs typeface="Aptos"/>
                        </a:rPr>
                        <a:t>Simulate how members adopt the response</a:t>
                      </a:r>
                      <a:endParaRPr sz="1050" b="0">
                        <a:solidFill>
                          <a:srgbClr val="22313F"/>
                        </a:solidFill>
                        <a:latin typeface="Aptos"/>
                        <a:ea typeface="Aptos"/>
                        <a:cs typeface="Aptos"/>
                      </a:endParaRPr>
                    </a:p>
                  </a:txBody>
                  <a:tcPr marL="0" marR="0" marT="0" marB="0" anchor="ctr" anchorCtr="0">
                    <a:lnL>
                      <a:noFill/>
                    </a:lnL>
                    <a:lnR>
                      <a:noFill/>
                    </a:lnR>
                    <a:lnT>
                      <a:noFill/>
                    </a:lnT>
                    <a:lnB>
                      <a:noFill/>
                    </a:lnB>
                    <a:solidFill>
                      <a:srgbClr val="FFFFFF"/>
                    </a:solidFill>
                  </a:tcPr>
                </a:tc>
              </a:tr>
            </a:tbl>
          </a:graphicData>
        </a:graphic>
      </p:graphicFrame>
      <p:sp>
        <p:nvSpPr>
          <p:cNvPr id="5" name="文本框 4"/>
          <p:cNvSpPr>
            <a:spLocks noGrp="1"/>
          </p:cNvSpPr>
          <p:nvPr/>
        </p:nvSpPr>
        <p:spPr>
          <a:xfrm>
            <a:off x="685800" y="3857625"/>
            <a:ext cx="4762500" cy="2333625"/>
          </a:xfrm>
          <a:prstGeom prst="rect">
            <a:avLst/>
          </a:prstGeom>
          <a:noFill/>
          <a:ln w="0">
            <a:noFill/>
            <a:prstDash val="solid"/>
          </a:ln>
        </p:spPr>
        <p:txBody>
          <a:bodyPr wrap="square" lIns="0" tIns="0" rIns="0" bIns="0" anchor="t">
            <a:normAutofit/>
          </a:bodyPr>
          <a:lstStyle/>
          <a:p>
            <a:pPr marL="0" indent="0">
              <a:buNone/>
              <a:defRPr sz="1350">
                <a:solidFill>
                  <a:srgbClr val="22313F"/>
                </a:solidFill>
                <a:latin typeface="Aptos"/>
                <a:ea typeface="Aptos"/>
                <a:cs typeface="Aptos"/>
              </a:defRPr>
            </a:pPr>
            <a:r>
              <a:rPr sz="1350">
                <a:solidFill>
                  <a:srgbClr val="22313F"/>
                </a:solidFill>
                <a:latin typeface="Aptos"/>
                <a:ea typeface="Aptos"/>
                <a:cs typeface="Aptos"/>
              </a:rPr>
              <a:t>Notation</a:t>
            </a:r>
            <a:endParaRPr sz="1350">
              <a:solidFill>
                <a:srgbClr val="22313F"/>
              </a:solidFill>
              <a:latin typeface="Aptos"/>
              <a:ea typeface="Aptos"/>
              <a:cs typeface="Aptos"/>
            </a:endParaRPr>
          </a:p>
          <a:p>
            <a:pPr marL="0" indent="0">
              <a:buNone/>
            </a:pPr>
          </a:p>
          <a:p>
            <a:pPr marL="0" indent="0">
              <a:buNone/>
              <a:defRPr sz="1350">
                <a:solidFill>
                  <a:srgbClr val="22313F"/>
                </a:solidFill>
                <a:latin typeface="Aptos"/>
                <a:ea typeface="Aptos"/>
                <a:cs typeface="Aptos"/>
              </a:defRPr>
            </a:pPr>
            <a:r>
              <a:rPr sz="1350">
                <a:solidFill>
                  <a:srgbClr val="22313F"/>
                </a:solidFill>
                <a:latin typeface="Aptos"/>
                <a:ea typeface="Aptos"/>
                <a:cs typeface="Aptos"/>
              </a:rPr>
              <a:t>i: member</a:t>
            </a:r>
            <a:endParaRPr sz="1350">
              <a:solidFill>
                <a:srgbClr val="22313F"/>
              </a:solidFill>
              <a:latin typeface="Aptos"/>
              <a:ea typeface="Aptos"/>
              <a:cs typeface="Aptos"/>
            </a:endParaRPr>
          </a:p>
          <a:p>
            <a:pPr marL="0" indent="0">
              <a:buNone/>
              <a:defRPr sz="1350">
                <a:solidFill>
                  <a:srgbClr val="22313F"/>
                </a:solidFill>
                <a:latin typeface="Aptos"/>
                <a:ea typeface="Aptos"/>
                <a:cs typeface="Aptos"/>
              </a:defRPr>
            </a:pPr>
            <a:r>
              <a:rPr sz="1350">
                <a:solidFill>
                  <a:srgbClr val="22313F"/>
                </a:solidFill>
                <a:latin typeface="Aptos"/>
                <a:ea typeface="Aptos"/>
                <a:cs typeface="Aptos"/>
              </a:rPr>
              <a:t>k: policy issue</a:t>
            </a:r>
            <a:endParaRPr sz="1350">
              <a:solidFill>
                <a:srgbClr val="22313F"/>
              </a:solidFill>
              <a:latin typeface="Aptos"/>
              <a:ea typeface="Aptos"/>
              <a:cs typeface="Aptos"/>
            </a:endParaRPr>
          </a:p>
          <a:p>
            <a:pPr marL="0" indent="0">
              <a:buNone/>
              <a:defRPr sz="1350">
                <a:solidFill>
                  <a:srgbClr val="22313F"/>
                </a:solidFill>
                <a:latin typeface="Aptos"/>
                <a:ea typeface="Aptos"/>
                <a:cs typeface="Aptos"/>
              </a:defRPr>
            </a:pPr>
            <a:r>
              <a:rPr sz="1350">
                <a:solidFill>
                  <a:srgbClr val="22313F"/>
                </a:solidFill>
                <a:latin typeface="Aptos"/>
                <a:ea typeface="Aptos"/>
                <a:cs typeface="Aptos"/>
              </a:rPr>
              <a:t>t: interaction round</a:t>
            </a:r>
            <a:endParaRPr sz="1350">
              <a:solidFill>
                <a:srgbClr val="22313F"/>
              </a:solidFill>
              <a:latin typeface="Aptos"/>
              <a:ea typeface="Aptos"/>
              <a:cs typeface="Aptos"/>
            </a:endParaRPr>
          </a:p>
          <a:p>
            <a:pPr marL="0" indent="0">
              <a:buNone/>
              <a:defRPr sz="1350">
                <a:solidFill>
                  <a:srgbClr val="22313F"/>
                </a:solidFill>
                <a:latin typeface="Aptos"/>
                <a:ea typeface="Aptos"/>
                <a:cs typeface="Aptos"/>
              </a:defRPr>
            </a:pPr>
            <a:r>
              <a:rPr sz="1350">
                <a:solidFill>
                  <a:srgbClr val="22313F"/>
                </a:solidFill>
                <a:latin typeface="Aptos"/>
                <a:ea typeface="Aptos"/>
                <a:cs typeface="Aptos"/>
              </a:rPr>
              <a:t>xᵢₖₜ ∈ [−1, 1]: member’s current position</a:t>
            </a:r>
            <a:endParaRPr sz="1350">
              <a:solidFill>
                <a:srgbClr val="22313F"/>
              </a:solidFill>
              <a:latin typeface="Aptos"/>
              <a:ea typeface="Aptos"/>
              <a:cs typeface="Aptos"/>
            </a:endParaRPr>
          </a:p>
          <a:p>
            <a:pPr marL="0" indent="0">
              <a:buNone/>
              <a:defRPr sz="1350">
                <a:solidFill>
                  <a:srgbClr val="22313F"/>
                </a:solidFill>
                <a:latin typeface="Aptos"/>
                <a:ea typeface="Aptos"/>
                <a:cs typeface="Aptos"/>
              </a:defRPr>
            </a:pPr>
            <a:r>
              <a:rPr sz="1350">
                <a:solidFill>
                  <a:srgbClr val="22313F"/>
                </a:solidFill>
                <a:latin typeface="Aptos"/>
                <a:ea typeface="Aptos"/>
                <a:cs typeface="Aptos"/>
              </a:rPr>
              <a:t>sᵢₖₜ ∈ [−1, 1]: policy position implied by the LLM response</a:t>
            </a:r>
            <a:endParaRPr sz="1350">
              <a:solidFill>
                <a:srgbClr val="22313F"/>
              </a:solidFill>
              <a:latin typeface="Aptos"/>
              <a:ea typeface="Aptos"/>
              <a:cs typeface="Aptos"/>
            </a:endParaRPr>
          </a:p>
          <a:p>
            <a:pPr marL="0" indent="0">
              <a:buNone/>
              <a:defRPr sz="1350">
                <a:solidFill>
                  <a:srgbClr val="22313F"/>
                </a:solidFill>
                <a:latin typeface="Aptos"/>
                <a:ea typeface="Aptos"/>
                <a:cs typeface="Aptos"/>
              </a:defRPr>
            </a:pPr>
            <a:r>
              <a:rPr sz="1350">
                <a:solidFill>
                  <a:srgbClr val="22313F"/>
                </a:solidFill>
                <a:latin typeface="Aptos"/>
                <a:ea typeface="Aptos"/>
                <a:cs typeface="Aptos"/>
              </a:rPr>
              <a:t>zᵢₖₜ: arguments, facts, and policy frames contained in the response</a:t>
            </a:r>
            <a:endParaRPr sz="1350">
              <a:solidFill>
                <a:srgbClr val="22313F"/>
              </a:solidFill>
              <a:latin typeface="Aptos"/>
              <a:ea typeface="Aptos"/>
              <a:cs typeface="Aptos"/>
            </a:endParaRPr>
          </a:p>
        </p:txBody>
      </p:sp>
      <p:sp>
        <p:nvSpPr>
          <p:cNvPr id="6" name="文本框 5"/>
          <p:cNvSpPr>
            <a:spLocks noGrp="1"/>
          </p:cNvSpPr>
          <p:nvPr/>
        </p:nvSpPr>
        <p:spPr>
          <a:xfrm>
            <a:off x="6096000" y="3857625"/>
            <a:ext cx="5410200" cy="2333625"/>
          </a:xfrm>
          <a:prstGeom prst="rect">
            <a:avLst/>
          </a:prstGeom>
          <a:noFill/>
          <a:ln w="0">
            <a:noFill/>
            <a:prstDash val="solid"/>
          </a:ln>
        </p:spPr>
        <p:txBody>
          <a:bodyPr wrap="square" lIns="0" tIns="0" rIns="0" bIns="0" anchor="t">
            <a:normAutofit/>
          </a:bodyPr>
          <a:lstStyle/>
          <a:p>
            <a:pPr marL="0" indent="0">
              <a:buNone/>
              <a:defRPr sz="1350">
                <a:solidFill>
                  <a:srgbClr val="22313F"/>
                </a:solidFill>
                <a:latin typeface="Aptos"/>
                <a:ea typeface="Aptos"/>
                <a:cs typeface="Aptos"/>
              </a:defRPr>
            </a:pPr>
            <a:r>
              <a:rPr sz="1350">
                <a:solidFill>
                  <a:srgbClr val="22313F"/>
                </a:solidFill>
                <a:latin typeface="Aptos"/>
                <a:ea typeface="Aptos"/>
                <a:cs typeface="Aptos"/>
              </a:rPr>
              <a:t>Chuang et al. use a similar procedure: an LLM agent first generates a natural-language opinion, then an independent FLAN-T5-XXL classifier encodes the text as −2, −1, 0, 1, or 2. They manually validate 100 responses. Krippendorff’s α among three annotators is 0.81, and automatic classification agrees with the human majority vote in 84% of cases.</a:t>
            </a:r>
            <a:endParaRPr sz="1350">
              <a:solidFill>
                <a:srgbClr val="22313F"/>
              </a:solidFill>
              <a:latin typeface="Aptos"/>
              <a:ea typeface="Aptos"/>
              <a:cs typeface="Apto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p:sp>
        <p:nvSpPr>
          <p:cNvPr id="2" name="标题 1"/>
          <p:cNvSpPr>
            <a:spLocks noGrp="1"/>
          </p:cNvSpPr>
          <p:nvPr>
            <p:ph type="title"/>
          </p:nvPr>
        </p:nvSpPr>
        <p:spPr>
          <a:xfrm>
            <a:off x="609600" y="400050"/>
            <a:ext cx="10972800" cy="742950"/>
          </a:xfrm>
        </p:spPr>
        <p:txBody>
          <a:bodyPr wrap="square" lIns="0" tIns="0" rIns="0" bIns="0" anchor="t">
            <a:normAutofit/>
          </a:bodyPr>
          <a:lstStyle/>
          <a:p>
            <a:pPr>
              <a:buNone/>
              <a:defRPr sz="2700" b="1">
                <a:solidFill>
                  <a:srgbClr val="102A43"/>
                </a:solidFill>
                <a:latin typeface="Aptos Display"/>
                <a:ea typeface="Aptos Display"/>
                <a:cs typeface="Aptos Display"/>
              </a:defRPr>
            </a:pPr>
            <a:r>
              <a:rPr sz="2700" b="1">
                <a:solidFill>
                  <a:srgbClr val="102A43"/>
                </a:solidFill>
                <a:latin typeface="Aptos Display"/>
                <a:ea typeface="Aptos Display"/>
                <a:cs typeface="Aptos Display"/>
              </a:rPr>
              <a:t>Paper 1: Theoretical Framework</a:t>
            </a:r>
            <a:endParaRPr sz="2700" b="1">
              <a:solidFill>
                <a:srgbClr val="102A43"/>
              </a:solidFill>
              <a:latin typeface="Aptos Display"/>
              <a:ea typeface="Aptos Display"/>
              <a:cs typeface="Aptos Display"/>
            </a:endParaRPr>
          </a:p>
        </p:txBody>
      </p:sp>
      <p:sp>
        <p:nvSpPr>
          <p:cNvPr id="3" name="内容占位符 2"/>
          <p:cNvSpPr>
            <a:spLocks noGrp="1"/>
          </p:cNvSpPr>
          <p:nvPr>
            <p:ph idx="1"/>
          </p:nvPr>
        </p:nvSpPr>
        <p:spPr>
          <a:xfrm>
            <a:off x="685800" y="1428750"/>
            <a:ext cx="4686300" cy="4762500"/>
          </a:xfrm>
        </p:spPr>
        <p:txBody>
          <a:bodyPr wrap="square" lIns="0" tIns="0" rIns="0" bIns="0" anchor="t">
            <a:normAutofit fontScale="90252"/>
          </a:bodyPr>
          <a:lstStyle/>
          <a:p>
            <a:pPr marL="0" indent="0">
              <a:buNone/>
              <a:defRPr sz="1500">
                <a:solidFill>
                  <a:srgbClr val="22313F"/>
                </a:solidFill>
                <a:latin typeface="Aptos"/>
                <a:ea typeface="Aptos"/>
                <a:cs typeface="Aptos"/>
              </a:defRPr>
            </a:pPr>
            <a:r>
              <a:rPr sz="1500">
                <a:solidFill>
                  <a:srgbClr val="22313F"/>
                </a:solidFill>
                <a:latin typeface="Aptos"/>
                <a:ea typeface="Aptos"/>
                <a:cs typeface="Aptos"/>
              </a:rPr>
              <a:t>OPTIMAL STOPPING THEORY</a:t>
            </a:r>
            <a:endParaRPr sz="1500">
              <a:solidFill>
                <a:srgbClr val="22313F"/>
              </a:solidFill>
              <a:latin typeface="Aptos"/>
              <a:ea typeface="Aptos"/>
              <a:cs typeface="Aptos"/>
            </a:endParaRPr>
          </a:p>
          <a:p>
            <a:pPr marL="0" indent="0">
              <a:buNone/>
              <a:defRPr sz="1500">
                <a:solidFill>
                  <a:srgbClr val="22313F"/>
                </a:solidFill>
                <a:latin typeface="Aptos"/>
                <a:ea typeface="Aptos"/>
                <a:cs typeface="Aptos"/>
              </a:defRPr>
            </a:pPr>
            <a:r>
              <a:rPr sz="1500">
                <a:solidFill>
                  <a:srgbClr val="22313F"/>
                </a:solidFill>
                <a:latin typeface="Aptos"/>
                <a:ea typeface="Aptos"/>
                <a:cs typeface="Aptos"/>
              </a:rPr>
              <a:t>Theory type</a:t>
            </a:r>
            <a:endParaRPr sz="1500">
              <a:solidFill>
                <a:srgbClr val="22313F"/>
              </a:solidFill>
              <a:latin typeface="Aptos"/>
              <a:ea typeface="Aptos"/>
              <a:cs typeface="Aptos"/>
            </a:endParaRPr>
          </a:p>
          <a:p>
            <a:pPr marL="0" indent="0">
              <a:buNone/>
              <a:defRPr sz="1500">
                <a:solidFill>
                  <a:srgbClr val="22313F"/>
                </a:solidFill>
                <a:latin typeface="Aptos"/>
                <a:ea typeface="Aptos"/>
                <a:cs typeface="Aptos"/>
              </a:defRPr>
            </a:pPr>
            <a:r>
              <a:rPr sz="1500">
                <a:solidFill>
                  <a:srgbClr val="22313F"/>
                </a:solidFill>
                <a:latin typeface="Aptos"/>
                <a:ea typeface="Aptos"/>
                <a:cs typeface="Aptos"/>
              </a:rPr>
              <a:t>Normative decision theory and a mathematical decision framework.</a:t>
            </a:r>
            <a:endParaRPr sz="1500">
              <a:solidFill>
                <a:srgbClr val="22313F"/>
              </a:solidFill>
              <a:latin typeface="Aptos"/>
              <a:ea typeface="Aptos"/>
              <a:cs typeface="Aptos"/>
            </a:endParaRPr>
          </a:p>
          <a:p>
            <a:pPr marL="0" indent="0">
              <a:buNone/>
              <a:defRPr sz="1500">
                <a:solidFill>
                  <a:srgbClr val="22313F"/>
                </a:solidFill>
                <a:latin typeface="Aptos"/>
                <a:ea typeface="Aptos"/>
                <a:cs typeface="Aptos"/>
              </a:defRPr>
            </a:pPr>
            <a:r>
              <a:rPr sz="1500">
                <a:solidFill>
                  <a:srgbClr val="22313F"/>
                </a:solidFill>
                <a:latin typeface="Aptos"/>
                <a:ea typeface="Aptos"/>
                <a:cs typeface="Aptos"/>
              </a:rPr>
              <a:t>Disciplinary homes</a:t>
            </a:r>
            <a:endParaRPr sz="1500">
              <a:solidFill>
                <a:srgbClr val="22313F"/>
              </a:solidFill>
              <a:latin typeface="Aptos"/>
              <a:ea typeface="Aptos"/>
              <a:cs typeface="Aptos"/>
            </a:endParaRPr>
          </a:p>
          <a:p>
            <a:pPr marL="0" indent="0">
              <a:buNone/>
              <a:defRPr sz="1500">
                <a:solidFill>
                  <a:srgbClr val="22313F"/>
                </a:solidFill>
                <a:latin typeface="Aptos"/>
                <a:ea typeface="Aptos"/>
                <a:cs typeface="Aptos"/>
              </a:defRPr>
            </a:pPr>
            <a:r>
              <a:rPr sz="1500">
                <a:solidFill>
                  <a:srgbClr val="22313F"/>
                </a:solidFill>
                <a:latin typeface="Aptos"/>
                <a:ea typeface="Aptos"/>
                <a:cs typeface="Aptos"/>
              </a:rPr>
              <a:t>• Information economics and search theory</a:t>
            </a:r>
            <a:endParaRPr sz="1500">
              <a:solidFill>
                <a:srgbClr val="22313F"/>
              </a:solidFill>
              <a:latin typeface="Aptos"/>
              <a:ea typeface="Aptos"/>
              <a:cs typeface="Aptos"/>
            </a:endParaRPr>
          </a:p>
          <a:p>
            <a:pPr marL="0" indent="0">
              <a:buNone/>
              <a:defRPr sz="1500">
                <a:solidFill>
                  <a:srgbClr val="22313F"/>
                </a:solidFill>
                <a:latin typeface="Aptos"/>
                <a:ea typeface="Aptos"/>
                <a:cs typeface="Aptos"/>
              </a:defRPr>
            </a:pPr>
            <a:r>
              <a:rPr sz="1500">
                <a:solidFill>
                  <a:srgbClr val="22313F"/>
                </a:solidFill>
                <a:latin typeface="Aptos"/>
                <a:ea typeface="Aptos"/>
                <a:cs typeface="Aptos"/>
              </a:rPr>
              <a:t>• Microeconomic theory</a:t>
            </a:r>
            <a:endParaRPr sz="1500">
              <a:solidFill>
                <a:srgbClr val="22313F"/>
              </a:solidFill>
              <a:latin typeface="Aptos"/>
              <a:ea typeface="Aptos"/>
              <a:cs typeface="Aptos"/>
            </a:endParaRPr>
          </a:p>
          <a:p>
            <a:pPr marL="0" indent="0">
              <a:buNone/>
              <a:defRPr sz="1500">
                <a:solidFill>
                  <a:srgbClr val="22313F"/>
                </a:solidFill>
                <a:latin typeface="Aptos"/>
                <a:ea typeface="Aptos"/>
                <a:cs typeface="Aptos"/>
              </a:defRPr>
            </a:pPr>
            <a:r>
              <a:rPr sz="1500">
                <a:solidFill>
                  <a:srgbClr val="22313F"/>
                </a:solidFill>
                <a:latin typeface="Aptos"/>
                <a:ea typeface="Aptos"/>
                <a:cs typeface="Aptos"/>
              </a:rPr>
              <a:t>• Operations research and management science</a:t>
            </a:r>
            <a:endParaRPr sz="1500">
              <a:solidFill>
                <a:srgbClr val="22313F"/>
              </a:solidFill>
              <a:latin typeface="Aptos"/>
              <a:ea typeface="Aptos"/>
              <a:cs typeface="Aptos"/>
            </a:endParaRPr>
          </a:p>
          <a:p>
            <a:pPr marL="0" indent="0">
              <a:buNone/>
              <a:defRPr sz="1500">
                <a:solidFill>
                  <a:srgbClr val="22313F"/>
                </a:solidFill>
                <a:latin typeface="Aptos"/>
                <a:ea typeface="Aptos"/>
                <a:cs typeface="Aptos"/>
              </a:defRPr>
            </a:pPr>
            <a:r>
              <a:rPr sz="1500">
                <a:solidFill>
                  <a:srgbClr val="22313F"/>
                </a:solidFill>
                <a:latin typeface="Aptos"/>
                <a:ea typeface="Aptos"/>
                <a:cs typeface="Aptos"/>
              </a:rPr>
              <a:t>• Statistical decision theory</a:t>
            </a:r>
            <a:endParaRPr sz="1500">
              <a:solidFill>
                <a:srgbClr val="22313F"/>
              </a:solidFill>
              <a:latin typeface="Aptos"/>
              <a:ea typeface="Aptos"/>
              <a:cs typeface="Aptos"/>
            </a:endParaRPr>
          </a:p>
          <a:p>
            <a:pPr marL="0" indent="0">
              <a:buNone/>
              <a:defRPr sz="1500">
                <a:solidFill>
                  <a:srgbClr val="22313F"/>
                </a:solidFill>
                <a:latin typeface="Aptos"/>
                <a:ea typeface="Aptos"/>
                <a:cs typeface="Aptos"/>
              </a:defRPr>
            </a:pPr>
            <a:r>
              <a:rPr sz="1500">
                <a:solidFill>
                  <a:srgbClr val="22313F"/>
                </a:solidFill>
                <a:latin typeface="Aptos"/>
                <a:ea typeface="Aptos"/>
                <a:cs typeface="Aptos"/>
              </a:rPr>
              <a:t>• Behavioral decision research</a:t>
            </a:r>
            <a:endParaRPr sz="1500">
              <a:solidFill>
                <a:srgbClr val="22313F"/>
              </a:solidFill>
              <a:latin typeface="Aptos"/>
              <a:ea typeface="Aptos"/>
              <a:cs typeface="Aptos"/>
            </a:endParaRPr>
          </a:p>
          <a:p>
            <a:pPr marL="0" indent="0">
              <a:buNone/>
              <a:defRPr sz="1500">
                <a:solidFill>
                  <a:srgbClr val="22313F"/>
                </a:solidFill>
                <a:latin typeface="Aptos"/>
                <a:ea typeface="Aptos"/>
                <a:cs typeface="Aptos"/>
              </a:defRPr>
            </a:pPr>
            <a:r>
              <a:rPr sz="1500">
                <a:solidFill>
                  <a:srgbClr val="22313F"/>
                </a:solidFill>
                <a:latin typeface="Aptos"/>
                <a:ea typeface="Aptos"/>
                <a:cs typeface="Aptos"/>
              </a:rPr>
              <a:t>Representative journals</a:t>
            </a:r>
            <a:endParaRPr sz="1500">
              <a:solidFill>
                <a:srgbClr val="22313F"/>
              </a:solidFill>
              <a:latin typeface="Aptos"/>
              <a:ea typeface="Aptos"/>
              <a:cs typeface="Aptos"/>
            </a:endParaRPr>
          </a:p>
          <a:p>
            <a:pPr marL="0" indent="0">
              <a:buNone/>
              <a:defRPr sz="1500">
                <a:solidFill>
                  <a:srgbClr val="22313F"/>
                </a:solidFill>
                <a:latin typeface="Aptos"/>
                <a:ea typeface="Aptos"/>
                <a:cs typeface="Aptos"/>
              </a:defRPr>
            </a:pPr>
            <a:r>
              <a:rPr sz="1500">
                <a:solidFill>
                  <a:srgbClr val="22313F"/>
                </a:solidFill>
                <a:latin typeface="Aptos"/>
                <a:ea typeface="Aptos"/>
                <a:cs typeface="Aptos"/>
              </a:rPr>
              <a:t>Econometrica; Journal of Economic Theory; Economic Theory; Operations Research; Management Science; Decision Analysis.</a:t>
            </a:r>
            <a:endParaRPr sz="1500">
              <a:solidFill>
                <a:srgbClr val="22313F"/>
              </a:solidFill>
              <a:latin typeface="Aptos"/>
              <a:ea typeface="Aptos"/>
              <a:cs typeface="Aptos"/>
            </a:endParaRPr>
          </a:p>
        </p:txBody>
      </p:sp>
      <p:sp>
        <p:nvSpPr>
          <p:cNvPr id="4" name="paper1-optimal-stopping-detail"/>
          <p:cNvSpPr>
            <a:spLocks noGrp="1"/>
          </p:cNvSpPr>
          <p:nvPr/>
        </p:nvSpPr>
        <p:spPr>
          <a:xfrm>
            <a:off x="6191250" y="1428750"/>
            <a:ext cx="5314950" cy="4762500"/>
          </a:xfrm>
          <a:prstGeom prst="rect">
            <a:avLst/>
          </a:prstGeom>
          <a:noFill/>
          <a:ln w="0">
            <a:noFill/>
            <a:prstDash val="solid"/>
          </a:ln>
        </p:spPr>
        <p:txBody>
          <a:bodyPr wrap="square" lIns="0" tIns="0" rIns="0" bIns="0" anchor="t">
            <a:normAutofit/>
          </a:bodyPr>
          <a:lstStyle/>
          <a:p>
            <a:pPr marL="0" indent="0">
              <a:buNone/>
              <a:defRPr sz="1425">
                <a:solidFill>
                  <a:srgbClr val="22313F"/>
                </a:solidFill>
                <a:latin typeface="Aptos"/>
                <a:ea typeface="Aptos"/>
                <a:cs typeface="Aptos"/>
              </a:defRPr>
            </a:pPr>
            <a:r>
              <a:rPr sz="1425" b="1">
                <a:solidFill>
                  <a:srgbClr val="22313F"/>
                </a:solidFill>
                <a:latin typeface="Aptos"/>
                <a:ea typeface="Aptos"/>
                <a:cs typeface="Aptos"/>
              </a:rPr>
              <a:t>DETAILED EXPLANATION</a:t>
            </a:r>
            <a:endParaRPr sz="1425" b="1">
              <a:solidFill>
                <a:srgbClr val="22313F"/>
              </a:solidFill>
              <a:latin typeface="Aptos"/>
              <a:ea typeface="Aptos"/>
              <a:cs typeface="Aptos"/>
            </a:endParaRPr>
          </a:p>
          <a:p>
            <a:pPr marL="0" indent="0">
              <a:buNone/>
            </a:pPr>
          </a:p>
          <a:p>
            <a:pPr marL="0" indent="0">
              <a:buNone/>
              <a:defRPr sz="1425">
                <a:solidFill>
                  <a:srgbClr val="22313F"/>
                </a:solidFill>
                <a:latin typeface="Aptos"/>
                <a:ea typeface="Aptos"/>
                <a:cs typeface="Aptos"/>
              </a:defRPr>
            </a:pPr>
            <a:r>
              <a:rPr sz="1425">
                <a:solidFill>
                  <a:srgbClr val="22313F"/>
                </a:solidFill>
                <a:latin typeface="Aptos"/>
                <a:ea typeface="Aptos"/>
                <a:cs typeface="Aptos"/>
              </a:rPr>
              <a:t>Optimal stopping theory asks when a decision maker should stop when information or options arrive sequentially, continued observation is costly, and future gains are uncertain. Its core is not “more search is always better,” but a comparison between the expected marginal benefit and marginal cost of one more search.</a:t>
            </a:r>
            <a:endParaRPr sz="1425">
              <a:solidFill>
                <a:srgbClr val="22313F"/>
              </a:solidFill>
              <a:latin typeface="Aptos"/>
              <a:ea typeface="Aptos"/>
              <a:cs typeface="Aptos"/>
            </a:endParaRPr>
          </a:p>
          <a:p>
            <a:pPr marL="0" indent="0">
              <a:buNone/>
            </a:pPr>
          </a:p>
          <a:p>
            <a:pPr marL="0" indent="0">
              <a:buNone/>
              <a:defRPr sz="1425">
                <a:solidFill>
                  <a:srgbClr val="22313F"/>
                </a:solidFill>
                <a:latin typeface="Aptos"/>
                <a:ea typeface="Aptos"/>
                <a:cs typeface="Aptos"/>
              </a:defRPr>
            </a:pPr>
            <a:r>
              <a:rPr sz="1425">
                <a:solidFill>
                  <a:srgbClr val="22313F"/>
                </a:solidFill>
                <a:latin typeface="Aptos"/>
                <a:ea typeface="Aptos"/>
                <a:cs typeface="Aptos"/>
              </a:rPr>
              <a:t>Weitzman’s classic model converts search objects into reservation values. Search continues while an unchecked option still offers sufficient expected gain; it stops when the best observed outcome exceeds the reservation value of every unchecked option. Paper 1 is not exactly the same “find the best option” task, but it can use the central criterion: Is the expected information value of the next piece of evidence greater than the cost of obtaining it?</a:t>
            </a:r>
            <a:endParaRPr sz="1425">
              <a:solidFill>
                <a:srgbClr val="22313F"/>
              </a:solidFill>
              <a:latin typeface="Aptos"/>
              <a:ea typeface="Aptos"/>
              <a:cs typeface="Apto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p:sp>
        <p:nvSpPr>
          <p:cNvPr id="2" name="标题 1"/>
          <p:cNvSpPr>
            <a:spLocks noGrp="1"/>
          </p:cNvSpPr>
          <p:nvPr>
            <p:ph type="title"/>
          </p:nvPr>
        </p:nvSpPr>
        <p:spPr>
          <a:xfrm>
            <a:off x="609600" y="400050"/>
            <a:ext cx="10972800" cy="742950"/>
          </a:xfrm>
        </p:spPr>
        <p:txBody>
          <a:bodyPr wrap="square" lIns="0" tIns="0" rIns="0" bIns="0" anchor="t">
            <a:normAutofit/>
          </a:bodyPr>
          <a:lstStyle/>
          <a:p>
            <a:pPr>
              <a:buNone/>
              <a:defRPr sz="2700" b="1">
                <a:solidFill>
                  <a:srgbClr val="102A43"/>
                </a:solidFill>
                <a:latin typeface="Aptos Display"/>
                <a:ea typeface="Aptos Display"/>
                <a:cs typeface="Aptos Display"/>
              </a:defRPr>
            </a:pPr>
            <a:r>
              <a:rPr sz="2700" b="1">
                <a:solidFill>
                  <a:srgbClr val="102A43"/>
                </a:solidFill>
                <a:latin typeface="Aptos Display"/>
                <a:ea typeface="Aptos Display"/>
                <a:cs typeface="Aptos Display"/>
              </a:rPr>
              <a:t>More Specifically, Paper 1 Focuses on the Information-Collection Stage</a:t>
            </a:r>
            <a:endParaRPr sz="2700" b="1">
              <a:solidFill>
                <a:srgbClr val="102A43"/>
              </a:solidFill>
              <a:latin typeface="Aptos Display"/>
              <a:ea typeface="Aptos Display"/>
              <a:cs typeface="Aptos Display"/>
            </a:endParaRPr>
          </a:p>
        </p:txBody>
      </p:sp>
      <p:sp>
        <p:nvSpPr>
          <p:cNvPr id="3" name="内容占位符 2"/>
          <p:cNvSpPr>
            <a:spLocks noGrp="1"/>
          </p:cNvSpPr>
          <p:nvPr>
            <p:ph idx="1"/>
          </p:nvPr>
        </p:nvSpPr>
        <p:spPr>
          <a:xfrm>
            <a:off x="1238250" y="1809750"/>
            <a:ext cx="9715500" cy="3429000"/>
          </a:xfrm>
        </p:spPr>
        <p:txBody>
          <a:bodyPr wrap="square" lIns="0" tIns="0" rIns="0" bIns="0" anchor="t">
            <a:normAutofit/>
          </a:bodyPr>
          <a:lstStyle/>
          <a:p>
            <a:pPr marL="0" indent="0">
              <a:buNone/>
              <a:defRPr sz="2025">
                <a:solidFill>
                  <a:srgbClr val="22313F"/>
                </a:solidFill>
                <a:latin typeface="Aptos"/>
                <a:ea typeface="Aptos"/>
                <a:cs typeface="Aptos"/>
              </a:defRPr>
            </a:pPr>
            <a:r>
              <a:rPr sz="2025">
                <a:solidFill>
                  <a:srgbClr val="22313F"/>
                </a:solidFill>
                <a:latin typeface="Aptos"/>
                <a:ea typeface="Aptos"/>
                <a:cs typeface="Aptos"/>
              </a:rPr>
              <a:t>WHY DOES THIS MATTER?</a:t>
            </a:r>
            <a:endParaRPr sz="2025">
              <a:solidFill>
                <a:srgbClr val="22313F"/>
              </a:solidFill>
              <a:latin typeface="Aptos"/>
              <a:ea typeface="Aptos"/>
              <a:cs typeface="Aptos"/>
            </a:endParaRPr>
          </a:p>
          <a:p>
            <a:pPr marL="0" indent="0">
              <a:buNone/>
              <a:defRPr sz="2025">
                <a:solidFill>
                  <a:srgbClr val="22313F"/>
                </a:solidFill>
                <a:latin typeface="Aptos"/>
                <a:ea typeface="Aptos"/>
                <a:cs typeface="Aptos"/>
              </a:defRPr>
            </a:pPr>
            <a:r>
              <a:rPr sz="2025">
                <a:solidFill>
                  <a:srgbClr val="22313F"/>
                </a:solidFill>
                <a:latin typeface="Aptos"/>
                <a:ea typeface="Aptos"/>
                <a:cs typeface="Aptos"/>
              </a:rPr>
              <a:t>Information collection is one of the tasks most widely delegated to AI, so the affected audience is broad.</a:t>
            </a:r>
            <a:endParaRPr sz="2025">
              <a:solidFill>
                <a:srgbClr val="22313F"/>
              </a:solidFill>
              <a:latin typeface="Aptos"/>
              <a:ea typeface="Aptos"/>
              <a:cs typeface="Aptos"/>
            </a:endParaRPr>
          </a:p>
          <a:p>
            <a:pPr marL="0" indent="0">
              <a:buNone/>
            </a:pPr>
          </a:p>
          <a:p>
            <a:pPr marL="0" indent="0">
              <a:buNone/>
              <a:defRPr sz="2025">
                <a:solidFill>
                  <a:srgbClr val="22313F"/>
                </a:solidFill>
                <a:latin typeface="Aptos"/>
                <a:ea typeface="Aptos"/>
                <a:cs typeface="Aptos"/>
              </a:defRPr>
            </a:pPr>
            <a:r>
              <a:rPr sz="2025">
                <a:solidFill>
                  <a:srgbClr val="22313F"/>
                </a:solidFill>
                <a:latin typeface="Aptos"/>
                <a:ea typeface="Aptos"/>
                <a:cs typeface="Aptos"/>
              </a:rPr>
              <a:t>WHERE IS THE THEORETICAL GAP?</a:t>
            </a:r>
            <a:endParaRPr sz="2025">
              <a:solidFill>
                <a:srgbClr val="22313F"/>
              </a:solidFill>
              <a:latin typeface="Aptos"/>
              <a:ea typeface="Aptos"/>
              <a:cs typeface="Aptos"/>
            </a:endParaRPr>
          </a:p>
          <a:p>
            <a:pPr marL="0" indent="0">
              <a:buNone/>
              <a:defRPr sz="2025">
                <a:solidFill>
                  <a:srgbClr val="22313F"/>
                </a:solidFill>
                <a:latin typeface="Aptos"/>
                <a:ea typeface="Aptos"/>
                <a:cs typeface="Aptos"/>
              </a:defRPr>
            </a:pPr>
            <a:r>
              <a:rPr sz="2025">
                <a:solidFill>
                  <a:srgbClr val="22313F"/>
                </a:solidFill>
                <a:latin typeface="Aptos"/>
                <a:ea typeface="Aptos"/>
                <a:cs typeface="Aptos"/>
              </a:rPr>
              <a:t>Existing theories cannot clearly explain the consequences AI creates for people.</a:t>
            </a:r>
            <a:endParaRPr sz="2025">
              <a:solidFill>
                <a:srgbClr val="22313F"/>
              </a:solidFill>
              <a:latin typeface="Aptos"/>
              <a:ea typeface="Aptos"/>
              <a:cs typeface="Aptos"/>
            </a:endParaRPr>
          </a:p>
        </p:txBody>
      </p:sp>
    </p:spTree>
  </p:cSld>
  <p:clrMapOvr>
    <a:masterClrMapping/>
  </p:clrMapOvr>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gs>
            <a:gs pos="100000">
              <a:schemeClr val="phClr"/>
            </a:gs>
          </a:gsLst>
          <a:lin ang="2700000" scaled="0"/>
        </a:gradFill>
      </a:fillStyleLst>
      <a:lnStyleLst>
        <a:ln w="12700">
          <a:solidFill>
            <a:schemeClr val="phClr"/>
          </a:solidFill>
          <a:prstDash val="solid"/>
        </a:ln>
        <a:ln w="12700">
          <a:solidFill>
            <a:schemeClr val="phClr"/>
          </a:solidFill>
          <a:prstDash val="solid"/>
        </a:ln>
        <a:ln w="12700">
          <a:gradFill>
            <a:gsLst>
              <a:gs pos="0">
                <a:schemeClr val="phClr"/>
              </a:gs>
              <a:gs pos="100000">
                <a:schemeClr val="phClr"/>
              </a:gs>
            </a:gsLst>
            <a:lin ang="2700000" scaled="1"/>
          </a:gradFill>
          <a:prstDash val="solid"/>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gs>
            <a:gs pos="100000">
              <a:schemeClr val="phClr"/>
            </a:gs>
          </a:gsLst>
          <a:lin ang="2700000" scaled="0"/>
        </a:gradFill>
      </a:fillStyleLst>
      <a:lnStyleLst>
        <a:ln w="12700">
          <a:solidFill>
            <a:schemeClr val="phClr"/>
          </a:solidFill>
          <a:prstDash val="solid"/>
        </a:ln>
        <a:ln w="12700">
          <a:solidFill>
            <a:schemeClr val="phClr"/>
          </a:solidFill>
          <a:prstDash val="solid"/>
        </a:ln>
        <a:ln w="12700">
          <a:gradFill>
            <a:gsLst>
              <a:gs pos="0">
                <a:schemeClr val="phClr"/>
              </a:gs>
              <a:gs pos="100000">
                <a:schemeClr val="phClr"/>
              </a:gs>
            </a:gsLst>
            <a:lin ang="2700000" scaled="1"/>
          </a:gradFill>
          <a:prstDash val="solid"/>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9899</Words>
  <Application>WPS 演示</Application>
  <PresentationFormat>Converted Presentation</PresentationFormat>
  <Paragraphs>174</Paragraphs>
  <Slides>13</Slides>
  <Notes>0</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13</vt:i4>
      </vt:variant>
    </vt:vector>
  </HeadingPairs>
  <TitlesOfParts>
    <vt:vector size="29" baseType="lpstr">
      <vt:lpstr>Arial</vt:lpstr>
      <vt:lpstr>宋体</vt:lpstr>
      <vt:lpstr>Wingdings</vt:lpstr>
      <vt:lpstr>Arial</vt:lpstr>
      <vt:lpstr>Wingdings</vt:lpstr>
      <vt:lpstr>Aptos Display</vt:lpstr>
      <vt:lpstr>Segoe UI Variable Display</vt:lpstr>
      <vt:lpstr>Aptos</vt:lpstr>
      <vt:lpstr>微软雅黑</vt:lpstr>
      <vt:lpstr>Arial Unicode MS</vt:lpstr>
      <vt:lpstr>Calibri</vt:lpstr>
      <vt:lpstr>Segoe UI</vt:lpstr>
      <vt:lpstr>Aptos</vt:lpstr>
      <vt:lpstr>Aptos Display</vt:lpstr>
      <vt:lpstr>MS PGothic</vt:lpstr>
      <vt:lpstr>WPS</vt:lpstr>
      <vt:lpstr>How Does AI Reshape Information Acquisition and Belief Formation in Human Groups?</vt:lpstr>
      <vt:lpstr>Research Background</vt:lpstr>
      <vt:lpstr>Research Background</vt:lpstr>
      <vt:lpstr>Research Gaps</vt:lpstr>
      <vt:lpstr>Theoretical Framework</vt:lpstr>
      <vt:lpstr>Research Question: Do LLMs Undermine the Wisdom of Crowds?</vt:lpstr>
      <vt:lpstr>Research Hypotheses</vt:lpstr>
      <vt:lpstr>Modeling Foundation</vt:lpstr>
      <vt:lpstr>Method: Hybrid ABM–Dynamics Modeling</vt:lpstr>
      <vt:lpstr>Opinion Dynamics Models Human Group Behavior</vt:lpstr>
      <vt:lpstr>Overall Model</vt:lpstr>
      <vt:lpstr>Paper 1: Theoretical Framework</vt:lpstr>
      <vt:lpstr>More Specifically, Paper 1 Focuses on the Information-Collection Stage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How Does AI Reshape Information Acquisition and Belief Formation in Human Groups?</dc:title>
  <dc:creator>Walnut Exporter</dc:creator>
  <cp:lastModifiedBy>汉克克克克克克克</cp:lastModifiedBy>
  <cp:revision>1</cp:revision>
  <dcterms:created xsi:type="dcterms:W3CDTF">2026-08-04T18:02:40Z</dcterms:created>
  <dcterms:modified xsi:type="dcterms:W3CDTF">2026-08-04T18:02:40Z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2052-12.1.0.28043</vt:lpwstr>
  </property>
  <property fmtid="{D5CDD505-2E9C-101B-9397-08002B2CF9AE}" pid="3" name="ICV">
    <vt:lpwstr>4423170410AF4E6B898A0FC496683C53_12</vt:lpwstr>
  </property>
</Properties>
</file>