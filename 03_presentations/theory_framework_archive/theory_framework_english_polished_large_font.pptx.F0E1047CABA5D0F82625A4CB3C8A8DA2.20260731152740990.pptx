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1" r:id="rId8"/>
    <p:sldId id="262" r:id="rId9"/>
    <p:sldId id="263" r:id="rId10"/>
    <p:sldId id="264" r:id="rId11"/>
    <p:sldId id="265" r:id="rId12"/>
    <p:sldId id="266"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此处要介绍一下</a:t>
            </a:r>
            <a:r>
              <a:rPr lang="en-US" altLang="zh-CN"/>
              <a:t>wisdom of </a:t>
            </a:r>
            <a:r>
              <a:rPr lang="en-US" altLang="zh-CN"/>
              <a:t>crowds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t>group size</a:t>
            </a:r>
            <a:r>
              <a:rPr lang="zh-CN" altLang="en-US">
                <a:ea typeface="宋体" panose="02010600030101010101" pitchFamily="2" charset="-122"/>
              </a:rPr>
              <a:t>。</a:t>
            </a:r>
            <a:endParaRPr lang="zh-CN" altLang="en-US">
              <a:ea typeface="宋体" panose="02010600030101010101" pitchFamily="2"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更像一个章节题目，不像是一个研究问题。</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198800" y="914400"/>
            <a:ext cx="9799200" cy="2570400"/>
          </a:xfrm>
        </p:spPr>
        <p:txBody>
          <a:bodyPr lIns="90000" tIns="46800" rIns="90000" bIns="46800" anchor="b">
            <a:normAutofit/>
          </a:bodyPr>
          <a:lstStyle>
            <a:lvl1pPr algn="ctr">
              <a:buNone/>
              <a:defRPr sz="6000"/>
            </a:lvl1pPr>
          </a:lstStyle>
          <a:p>
            <a:r>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16" name="日期占位符 15"/>
          <p:cNvSpPr>
            <a:spLocks noGrp="1"/>
          </p:cNvSpPr>
          <p:nvPr>
            <p:ph type="dt" idx="10"/>
          </p:nvPr>
        </p:nvSpPr>
        <p:spPr/>
        <p:txBody>
          <a:bodyPr/>
          <a:lstStyle/>
          <a:p/>
        </p:txBody>
      </p:sp>
      <p:sp>
        <p:nvSpPr>
          <p:cNvPr id="17" name="页脚占位符 16"/>
          <p:cNvSpPr>
            <a:spLocks noGrp="1"/>
          </p:cNvSpPr>
          <p:nvPr>
            <p:ph type="ftr" idx="11"/>
          </p:nvPr>
        </p:nvSpPr>
        <p:spPr/>
        <p:txBody>
          <a:bodyPr/>
          <a:lstStyle/>
          <a:p/>
        </p:txBody>
      </p:sp>
      <p:sp>
        <p:nvSpPr>
          <p:cNvPr id="18" name="灯片编号占位符 17"/>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hasCustomPrompt="1"/>
          </p:nvPr>
        </p:nvSpPr>
        <p:spPr>
          <a:xfrm>
            <a:off x="1990800" y="3848400"/>
            <a:ext cx="7768800" cy="766800"/>
          </a:xfrm>
        </p:spPr>
        <p:txBody>
          <a:bodyPr lIns="90000" tIns="46800" rIns="90000" bIns="46800" anchor="b">
            <a:normAutofit/>
          </a:bodyPr>
          <a:lstStyle>
            <a:lvl1pPr>
              <a:buNone/>
              <a:defRPr sz="4400"/>
            </a:lvl1pPr>
          </a:lstStyle>
          <a:p>
            <a:r>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单击此处编辑文本</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501200"/>
            <a:ext cx="5176800" cy="47484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p:nvPr>
        </p:nvSpPr>
        <p:spPr>
          <a:xfrm>
            <a:off x="6411600" y="1501200"/>
            <a:ext cx="5176800" cy="4748400"/>
          </a:xfrm>
        </p:spPr>
        <p:txBody>
          <a:bodyPr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文本占位符 2"/>
          <p:cNvSpPr>
            <a:spLocks noGrp="1"/>
          </p:cNvSpPr>
          <p:nvPr>
            <p:ph type="body" idx="1" hasCustomPrompt="1"/>
          </p:nvPr>
        </p:nvSpPr>
        <p:spPr>
          <a:xfrm>
            <a:off x="608400" y="1429200"/>
            <a:ext cx="5342400" cy="381600"/>
          </a:xfrm>
        </p:spPr>
        <p:txBody>
          <a:bodyPr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4" name="内容占位符 3"/>
          <p:cNvSpPr>
            <a:spLocks noGrp="1"/>
          </p:cNvSpPr>
          <p:nvPr>
            <p:ph idx="2"/>
          </p:nvPr>
        </p:nvSpPr>
        <p:spPr>
          <a:xfrm>
            <a:off x="60840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hasCustomPrompt="1"/>
          </p:nvPr>
        </p:nvSpPr>
        <p:spPr>
          <a:xfrm>
            <a:off x="6235750" y="1421729"/>
            <a:ext cx="5342400" cy="381600"/>
          </a:xfrm>
        </p:spPr>
        <p:txBody>
          <a:bodyPr vert="horz"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6" name="内容占位符 5"/>
          <p:cNvSpPr>
            <a:spLocks noGrp="1"/>
          </p:cNvSpPr>
          <p:nvPr>
            <p:ph idx="4"/>
          </p:nvPr>
        </p:nvSpPr>
        <p:spPr>
          <a:xfrm>
            <a:off x="623575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p:sp>
        <p:nvSpPr>
          <p:cNvPr id="3" name="图片占位符 2"/>
          <p:cNvSpPr>
            <a:spLocks noGrp="1"/>
          </p:cNvSpPr>
          <p:nvPr>
            <p:ph type="pic" idx="1"/>
          </p:nvPr>
        </p:nvSpPr>
        <p:spPr>
          <a:xfrm>
            <a:off x="608400" y="1555200"/>
            <a:ext cx="5233077" cy="4608000"/>
          </a:xfrm>
        </p:spPr>
        <p:txBody>
          <a:bodyPr vert="horz" lIns="90000" tIns="46800" rIns="90000" bIns="46800">
            <a:normAutofit/>
          </a:bodyPr>
          <a:lstStyle>
            <a:lvl1pPr>
              <a:buNone/>
              <a:defRPr sz="1600"/>
            </a:lvl1pPr>
          </a:lstStyle>
          <a:p>
            <a:pPr lvl="0">
              <a:buNone/>
            </a:pPr>
          </a:p>
        </p:txBody>
      </p:sp>
      <p:sp>
        <p:nvSpPr>
          <p:cNvPr id="4" name="文本占位符 3"/>
          <p:cNvSpPr>
            <a:spLocks noGrp="1"/>
          </p:cNvSpPr>
          <p:nvPr>
            <p:ph type="body" idx="2"/>
          </p:nvPr>
        </p:nvSpPr>
        <p:spPr>
          <a:xfrm>
            <a:off x="6350400" y="1555200"/>
            <a:ext cx="5227200" cy="4608000"/>
          </a:xfrm>
        </p:spPr>
        <p:txBody>
          <a:bodyPr vert="horz" lIns="90000" tIns="46800" rIns="90000" bIns="46800">
            <a:normAutofit/>
          </a:bodyPr>
          <a:lstStyle>
            <a:lvl1pPr>
              <a:buNone/>
              <a:defRPr sz="1600"/>
            </a:lvl1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
        <p:nvSpPr>
          <p:cNvPr id="9" name="标题 8"/>
          <p:cNvSpPr>
            <a:spLocks noGrp="1"/>
          </p:cNvSpPr>
          <p:nvPr>
            <p:ph type="title"/>
          </p:nvPr>
        </p:nvSpPr>
        <p:spPr/>
        <p:txBody>
          <a:bodyPr/>
          <a:lstStyle/>
          <a:p>
            <a:r>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hasCustomPrompt="1"/>
          </p:nvPr>
        </p:nvSpPr>
        <p:spPr>
          <a:xfrm>
            <a:off x="10234800" y="914400"/>
            <a:ext cx="1044000" cy="5029200"/>
          </a:xfrm>
        </p:spPr>
        <p:txBody>
          <a:bodyPr vert="eaVert" lIns="90000" tIns="46800" rIns="90000" bIns="46800" anchor="ctr">
            <a:normAutofit/>
          </a:bodyPr>
          <a:lstStyle>
            <a:lvl1pPr>
              <a:buNone/>
              <a:defRPr sz="2800"/>
            </a:lvl1pPr>
          </a:lstStyle>
          <a:p>
            <a:pPr lvl="0">
              <a:buNone/>
            </a:pPr>
            <a:r>
              <a:t>单击此处编辑标题</a:t>
            </a:r>
          </a:p>
        </p:txBody>
      </p:sp>
      <p:sp>
        <p:nvSpPr>
          <p:cNvPr id="3" name="竖排文字占位符 2"/>
          <p:cNvSpPr>
            <a:spLocks noGrp="1"/>
          </p:cNvSpPr>
          <p:nvPr>
            <p:ph type="body" idx="1"/>
          </p:nvPr>
        </p:nvSpPr>
        <p:spPr>
          <a:xfrm>
            <a:off x="914400" y="914400"/>
            <a:ext cx="9169200" cy="5029200"/>
          </a:xfrm>
        </p:spPr>
        <p:txBody>
          <a:bodyPr vert="eaVert" lIns="46800" tIns="46800" rIns="46800" bIns="46800"/>
          <a:lstStyle>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7" name="内容占位符 6"/>
          <p:cNvSpPr>
            <a:spLocks noGrp="1"/>
          </p:cNvSpPr>
          <p:nvPr>
            <p:ph idx="13"/>
          </p:nvPr>
        </p:nvSpPr>
        <p:spPr>
          <a:xfrm>
            <a:off x="608400" y="774000"/>
            <a:ext cx="10972800" cy="5482800"/>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2" name="标题 1"/>
          <p:cNvSpPr>
            <a:spLocks noGrp="1"/>
          </p:cNvSpPr>
          <p:nvPr>
            <p:ph type="title" hasCustomPrompt="1"/>
          </p:nvPr>
        </p:nvSpPr>
        <p:spPr>
          <a:xfrm>
            <a:off x="1198800" y="2484000"/>
            <a:ext cx="9799200" cy="1018800"/>
          </a:xfrm>
        </p:spPr>
        <p:txBody>
          <a:bodyPr vert="horz" lIns="90000" tIns="46800" rIns="90000" bIns="46800" anchor="t">
            <a:normAutofit/>
          </a:bodyPr>
          <a:lstStyle>
            <a:lvl1pPr algn="ctr">
              <a:buNone/>
              <a:defRPr sz="6000"/>
            </a:lvl1pPr>
          </a:lstStyle>
          <a:p>
            <a:pPr lvl="0">
              <a:buNone/>
            </a:pPr>
            <a:r>
              <a:t>单击此处编辑标题</a:t>
            </a:r>
          </a:p>
        </p:txBody>
      </p:sp>
      <p:sp>
        <p:nvSpPr>
          <p:cNvPr id="7" name="文本占位符 6"/>
          <p:cNvSpPr>
            <a:spLocks noGrp="1"/>
          </p:cNvSpPr>
          <p:nvPr>
            <p:ph type="body" idx="13"/>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buNone/>
            </a:pPr>
            <a:r>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608400" y="608400"/>
            <a:ext cx="10969200" cy="705600"/>
          </a:xfrm>
          <a:prstGeom prst="rect">
            <a:avLst/>
          </a:prstGeom>
        </p:spPr>
        <p:txBody>
          <a:bodyPr vert="horz" lIns="90170" tIns="46990" rIns="90170" bIns="46990" anchor="ctr">
            <a:normAutofit/>
          </a:bodyPr>
          <a:lstStyle/>
          <a:p>
            <a:r>
              <a:t>单击此处编辑母版标题样式</a:t>
            </a:r>
          </a:p>
        </p:txBody>
      </p:sp>
      <p:sp>
        <p:nvSpPr>
          <p:cNvPr id="3" name="文本占位符 2"/>
          <p:cNvSpPr>
            <a:spLocks noGrp="1"/>
          </p:cNvSpPr>
          <p:nvPr>
            <p:ph type="body" idx="1"/>
          </p:nvPr>
        </p:nvSpPr>
        <p:spPr>
          <a:xfrm>
            <a:off x="608400" y="1490400"/>
            <a:ext cx="10969200" cy="4759200"/>
          </a:xfrm>
          <a:prstGeom prst="rect">
            <a:avLst/>
          </a:prstGeo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612000" y="6314400"/>
            <a:ext cx="2700000" cy="316800"/>
          </a:xfrm>
          <a:prstGeom prst="rect">
            <a:avLst/>
          </a:prstGeom>
        </p:spPr>
        <p:txBody>
          <a:bodyPr vert="horz" lIns="91440" tIns="45720" rIns="91440" bIns="45720" anchor="ctr">
            <a:normAutofit/>
          </a:bodyPr>
          <a:lstStyle>
            <a:lvl1pPr algn="l">
              <a:buNone/>
              <a:defRPr sz="1000" baseline="0">
                <a:solidFill>
                  <a:schemeClr val="tx1">
                    <a:tint val="75000"/>
                  </a:schemeClr>
                </a:solidFill>
              </a:defRPr>
            </a:lvl1pPr>
          </a:lstStyle>
          <a:p/>
        </p:txBody>
      </p:sp>
      <p:sp>
        <p:nvSpPr>
          <p:cNvPr id="5" name="页脚占位符 4"/>
          <p:cNvSpPr>
            <a:spLocks noGrp="1"/>
          </p:cNvSpPr>
          <p:nvPr>
            <p:ph type="ftr" idx="3"/>
          </p:nvPr>
        </p:nvSpPr>
        <p:spPr>
          <a:xfrm>
            <a:off x="4116000" y="6314400"/>
            <a:ext cx="3960000" cy="316800"/>
          </a:xfrm>
          <a:prstGeom prst="rect">
            <a:avLst/>
          </a:prstGeom>
        </p:spPr>
        <p:txBody>
          <a:bodyPr vert="horz" lIns="91440" tIns="45720" rIns="91440" bIns="45720" anchor="ctr">
            <a:normAutofit/>
          </a:bodyPr>
          <a:lstStyle>
            <a:lvl1pPr algn="ctr">
              <a:buNone/>
              <a:defRPr sz="1000" baseline="0">
                <a:solidFill>
                  <a:schemeClr val="tx1">
                    <a:tint val="75000"/>
                  </a:schemeClr>
                </a:solidFill>
              </a:defRPr>
            </a:lvl1pPr>
          </a:lstStyle>
          <a:p/>
        </p:txBody>
      </p:sp>
      <p:sp>
        <p:nvSpPr>
          <p:cNvPr id="6" name="灯片编号占位符 5"/>
          <p:cNvSpPr>
            <a:spLocks noGrp="1"/>
          </p:cNvSpPr>
          <p:nvPr>
            <p:ph type="sldNum" idx="4"/>
          </p:nvPr>
        </p:nvSpPr>
        <p:spPr>
          <a:xfrm>
            <a:off x="8877600" y="6314400"/>
            <a:ext cx="2700000" cy="316800"/>
          </a:xfrm>
          <a:prstGeom prst="rect">
            <a:avLst/>
          </a:prstGeom>
        </p:spPr>
        <p:txBody>
          <a:bodyPr vert="horz" lIns="91440" tIns="45720" rIns="91440" bIns="45720" anchor="ctr">
            <a:normAutofit/>
          </a:bodyPr>
          <a:lstStyle>
            <a:lvl1pPr algn="r">
              <a:buNone/>
              <a:defRPr sz="1000" baseline="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100000"/>
        </a:lnSpc>
        <a:spcBef>
          <a:spcPct val="0"/>
        </a:spcBef>
        <a:buNone/>
        <a:defRPr sz="3600" b="0" u="none" kern="1200" cap="none" spc="300" baseline="0">
          <a:solidFill>
            <a:schemeClr val="tx1">
              <a:lumMod val="85000"/>
              <a:lumOff val="15000"/>
            </a:schemeClr>
          </a:solidFill>
          <a:latin typeface="+mj-lt"/>
          <a:ea typeface="+mj-lt"/>
          <a:cs typeface="+mj-lt"/>
        </a:defRPr>
      </a:lvl1pPr>
    </p:titleStyle>
    <p:bodyStyle>
      <a:lvl1pPr marL="228600" indent="-228600" algn="l" defTabSz="914400">
        <a:lnSpc>
          <a:spcPct val="130000"/>
        </a:lnSpc>
        <a:spcBef>
          <a:spcPts val="0"/>
        </a:spcBef>
        <a:spcAft>
          <a:spcPts val="1000"/>
        </a:spcAft>
        <a:buFont typeface="Arial" panose="020B0604020202020204"/>
        <a:buChar char="●"/>
        <a:defRPr sz="1800" u="none" kern="1200" cap="none" spc="150" baseline="0">
          <a:solidFill>
            <a:schemeClr val="tx1">
              <a:lumMod val="65000"/>
              <a:lumOff val="35000"/>
            </a:schemeClr>
          </a:solidFill>
          <a:latin typeface="+mn-lt"/>
          <a:ea typeface="+mn-lt"/>
          <a:cs typeface="+mn-lt"/>
        </a:defRPr>
      </a:lvl1pPr>
      <a:lvl2pPr marL="685800" indent="-228600" algn="l" defTabSz="914400">
        <a:lnSpc>
          <a:spcPct val="120000"/>
        </a:lnSpc>
        <a:spcBef>
          <a:spcPts val="0"/>
        </a:spcBef>
        <a:spcAft>
          <a:spcPts val="600"/>
        </a:spcAft>
        <a:buFont typeface="Arial" panose="020B0604020202020204"/>
        <a:buChar char="●"/>
        <a:tabLst>
          <a:tab pos="1609725" algn="l"/>
          <a:tab pos="1609725" algn="l"/>
          <a:tab pos="1609725" algn="l"/>
          <a:tab pos="1609725" algn="l"/>
        </a:tabLst>
        <a:defRPr sz="1600" u="none" kern="1200" cap="none" spc="150" baseline="0">
          <a:solidFill>
            <a:schemeClr val="tx1">
              <a:lumMod val="65000"/>
              <a:lumOff val="35000"/>
            </a:schemeClr>
          </a:solidFill>
          <a:latin typeface="+mn-lt"/>
          <a:ea typeface="+mn-lt"/>
          <a:cs typeface="+mn-lt"/>
        </a:defRPr>
      </a:lvl2pPr>
      <a:lvl3pPr marL="1143000" indent="-228600" algn="l" defTabSz="914400">
        <a:lnSpc>
          <a:spcPct val="120000"/>
        </a:lnSpc>
        <a:spcBef>
          <a:spcPts val="0"/>
        </a:spcBef>
        <a:spcAft>
          <a:spcPts val="600"/>
        </a:spcAft>
        <a:buFont typeface="Arial" panose="020B0604020202020204"/>
        <a:buChar char="●"/>
        <a:defRPr sz="1600" u="none" kern="1200" cap="none" spc="150" baseline="0">
          <a:solidFill>
            <a:schemeClr val="tx1">
              <a:lumMod val="65000"/>
              <a:lumOff val="35000"/>
            </a:schemeClr>
          </a:solidFill>
          <a:latin typeface="+mn-lt"/>
          <a:ea typeface="+mn-lt"/>
          <a:cs typeface="+mn-lt"/>
        </a:defRPr>
      </a:lvl3pPr>
      <a:lvl4pPr marL="1600200" indent="-228600" algn="l" defTabSz="914400">
        <a:lnSpc>
          <a:spcPct val="120000"/>
        </a:lnSpc>
        <a:spcBef>
          <a:spcPts val="0"/>
        </a:spcBef>
        <a:spcAft>
          <a:spcPts val="300"/>
        </a:spcAft>
        <a:buFont typeface="Wingdings" panose="05000000000000000000"/>
        <a:buChar char=""/>
        <a:defRPr sz="1400" u="none" kern="1200" cap="none" spc="150" baseline="0">
          <a:solidFill>
            <a:schemeClr val="tx1">
              <a:lumMod val="65000"/>
              <a:lumOff val="35000"/>
            </a:schemeClr>
          </a:solidFill>
          <a:latin typeface="+mn-lt"/>
          <a:ea typeface="+mn-lt"/>
          <a:cs typeface="+mn-lt"/>
        </a:defRPr>
      </a:lvl4pPr>
      <a:lvl5pPr marL="2057400" indent="-228600" algn="l" defTabSz="914400">
        <a:lnSpc>
          <a:spcPct val="120000"/>
        </a:lnSpc>
        <a:spcBef>
          <a:spcPts val="0"/>
        </a:spcBef>
        <a:spcAft>
          <a:spcPts val="300"/>
        </a:spcAft>
        <a:buFont typeface="Arial" panose="020B0604020202020204"/>
        <a:buChar char="•"/>
        <a:defRPr sz="1400" u="none" kern="1200" cap="none" spc="150" baseline="0">
          <a:solidFill>
            <a:schemeClr val="tx1">
              <a:lumMod val="65000"/>
              <a:lumOff val="35000"/>
            </a:schemeClr>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p:sp>
        <p:nvSpPr>
          <p:cNvPr id="2" name="标题 1"/>
          <p:cNvSpPr>
            <a:spLocks noGrp="1"/>
          </p:cNvSpPr>
          <p:nvPr>
            <p:ph type="ctrTitle"/>
          </p:nvPr>
        </p:nvSpPr>
        <p:spPr>
          <a:xfrm>
            <a:off x="781050" y="2076450"/>
            <a:ext cx="10572750" cy="2714625"/>
          </a:xfrm>
        </p:spPr>
        <p:txBody>
          <a:bodyPr lIns="0" tIns="0" rIns="0" bIns="0" anchor="t">
            <a:normAutofit/>
          </a:bodyPr>
          <a:lstStyle/>
          <a:p>
            <a:pPr>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CHAPTER 1</a:t>
            </a:r>
            <a:endParaRPr sz="3600" b="1">
              <a:solidFill>
                <a:srgbClr val="FFFFFF"/>
              </a:solidFill>
              <a:latin typeface="Aptos Display"/>
              <a:ea typeface="Aptos Display"/>
              <a:cs typeface="Aptos Display"/>
            </a:endParaRPr>
          </a:p>
          <a:p>
            <a:pPr>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How Does AI Reshape Information Acquisition and Belief Formation in Human Groups?</a:t>
            </a:r>
            <a:endParaRPr sz="3600" b="1">
              <a:solidFill>
                <a:srgbClr val="FFFFFF"/>
              </a:solidFill>
              <a:latin typeface="Aptos Display"/>
              <a:ea typeface="Aptos Display"/>
              <a:cs typeface="Aptos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Background</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Search engines typically present users with multiple sources, links, and evidentiary cues.</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Generative AI increasingly organizes information as “direct answer → integrated explanation → follow-up questions.”</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Research problem: At the group level, if many members rely on the same model, similar training data, the same retrieval system, and similar answer-generation logic, their seemingly independent judgments may contain the same omissions, narrative frames, and errors. The number of judgments continues to grow, but the number of independent information samples does not grow proportionally.</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Real-world examples include AI search assistants embedded in Weibo and WeChat.</a:t>
            </a:r>
            <a:endParaRPr sz="1575">
              <a:solidFill>
                <a:srgbClr val="22313F"/>
              </a:solidFill>
              <a:latin typeface="Aptos"/>
              <a:ea typeface="Aptos"/>
              <a:cs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Background</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390">
                <a:solidFill>
                  <a:srgbClr val="22313F"/>
                </a:solidFill>
                <a:latin typeface="Aptos"/>
                <a:ea typeface="Aptos"/>
                <a:cs typeface="Aptos"/>
              </a:defRPr>
            </a:pPr>
            <a:r>
              <a:rPr sz="1390" b="1">
                <a:solidFill>
                  <a:srgbClr val="22313F"/>
                </a:solidFill>
                <a:latin typeface="Aptos"/>
                <a:ea typeface="Aptos"/>
                <a:cs typeface="Aptos"/>
              </a:rPr>
              <a:t>DIRECT EVIDENCE ON AI-ASSISTED WISDOM OF CROWDS</a:t>
            </a:r>
            <a:endParaRPr b="1"/>
          </a:p>
          <a:p>
            <a:pPr marL="0" indent="0">
              <a:buNone/>
              <a:defRPr sz="1390">
                <a:solidFill>
                  <a:srgbClr val="22313F"/>
                </a:solidFill>
                <a:latin typeface="Aptos"/>
                <a:ea typeface="Aptos"/>
                <a:cs typeface="Aptos"/>
              </a:defRPr>
            </a:pPr>
            <a:r>
              <a:rPr sz="1390">
                <a:solidFill>
                  <a:srgbClr val="22313F"/>
                </a:solidFill>
                <a:latin typeface="Aptos"/>
                <a:ea typeface="Aptos"/>
                <a:cs typeface="Aptos"/>
              </a:rPr>
              <a:t>• Pal, Palley &amp; Satopää (2026), “Enhancing Crowd Accuracy in AI-Assisted Judgmental Forecasting.” The same AI advice is shared information that can be counted repeatedly and overrepresented when judgments are averaged. Across three experiments (N = 3,188), the authors propose correcting shared AI signals with participants’ pre-AI judgments.</a:t>
            </a:r>
            <a:endParaRPr sz="1390">
              <a:solidFill>
                <a:srgbClr val="22313F"/>
              </a:solidFill>
              <a:latin typeface="Aptos"/>
              <a:ea typeface="Aptos"/>
              <a:cs typeface="Aptos"/>
            </a:endParaRPr>
          </a:p>
          <a:p>
            <a:pPr marL="0" indent="0">
              <a:buNone/>
              <a:defRPr sz="1390">
                <a:solidFill>
                  <a:srgbClr val="22313F"/>
                </a:solidFill>
                <a:latin typeface="Aptos"/>
                <a:ea typeface="Aptos"/>
                <a:cs typeface="Aptos"/>
              </a:defRPr>
            </a:pPr>
            <a:r>
              <a:rPr sz="1390">
                <a:solidFill>
                  <a:srgbClr val="22313F"/>
                </a:solidFill>
                <a:latin typeface="Aptos"/>
                <a:ea typeface="Aptos"/>
                <a:cs typeface="Aptos"/>
              </a:rPr>
              <a:t>• Schoenegger et al. (2024), “AI-Augmented Predictions: LLM Assistants Improve Human Forecasting Accuracy.” Among 991 participants answering six forecasting questions, access to an assigned LLM improved individual accuracy by 24%–28%. The study also tests whether lower judgment diversity harms the wisdom of crowds.</a:t>
            </a:r>
            <a:endParaRPr sz="1390">
              <a:solidFill>
                <a:srgbClr val="22313F"/>
              </a:solidFill>
              <a:latin typeface="Aptos"/>
              <a:ea typeface="Aptos"/>
              <a:cs typeface="Aptos"/>
            </a:endParaRPr>
          </a:p>
          <a:p>
            <a:pPr marL="0" indent="0">
              <a:buNone/>
              <a:defRPr sz="1390">
                <a:solidFill>
                  <a:srgbClr val="22313F"/>
                </a:solidFill>
                <a:latin typeface="Aptos"/>
                <a:ea typeface="Aptos"/>
                <a:cs typeface="Aptos"/>
              </a:defRPr>
            </a:pPr>
            <a:r>
              <a:rPr sz="1390" b="1">
                <a:solidFill>
                  <a:srgbClr val="22313F"/>
                </a:solidFill>
                <a:latin typeface="Aptos"/>
                <a:ea typeface="Aptos"/>
                <a:cs typeface="Aptos"/>
              </a:rPr>
              <a:t>BOUNDARY</a:t>
            </a:r>
            <a:endParaRPr sz="1390">
              <a:solidFill>
                <a:srgbClr val="22313F"/>
              </a:solidFill>
              <a:latin typeface="Aptos"/>
              <a:ea typeface="Aptos"/>
              <a:cs typeface="Aptos"/>
            </a:endParaRPr>
          </a:p>
          <a:p>
            <a:pPr marL="0" indent="0">
              <a:buNone/>
              <a:defRPr sz="1390">
                <a:solidFill>
                  <a:srgbClr val="22313F"/>
                </a:solidFill>
                <a:latin typeface="Aptos"/>
                <a:ea typeface="Aptos"/>
                <a:cs typeface="Aptos"/>
              </a:defRPr>
            </a:pPr>
            <a:r>
              <a:rPr sz="1390">
                <a:solidFill>
                  <a:srgbClr val="22313F"/>
                </a:solidFill>
                <a:latin typeface="Aptos"/>
                <a:ea typeface="Aptos"/>
                <a:cs typeface="Aptos"/>
              </a:rPr>
              <a:t>AI may have only a small average effect on each member, yet a shared model can expose members to similar evidence, frames, and arguments. This raises error correlation and weakens collective intelligence based on independent judgment. This boundary is consistent with Artificial Hivemind: repeated outputs from the same model and outputs across models were homogeneous, but the study measured model responses—not human political attitudes or organizational decisions.</a:t>
            </a:r>
            <a:endParaRPr sz="1390">
              <a:solidFill>
                <a:srgbClr val="22313F"/>
              </a:solidFill>
              <a:latin typeface="Aptos"/>
              <a:ea typeface="Aptos"/>
              <a:cs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Times New Roman" panose="02020603050405020304" charset="0"/>
                <a:ea typeface="Aptos Display"/>
                <a:cs typeface="Times New Roman" panose="02020603050405020304" charset="0"/>
              </a:rPr>
              <a:t>Research Gaps</a:t>
            </a:r>
            <a:endParaRPr sz="2700" b="1">
              <a:solidFill>
                <a:srgbClr val="102A43"/>
              </a:solidFill>
              <a:latin typeface="Times New Roman" panose="02020603050405020304" charset="0"/>
              <a:ea typeface="Aptos Display"/>
              <a:cs typeface="Times New Roman" panose="02020603050405020304" charset="0"/>
            </a:endParaRPr>
          </a:p>
        </p:txBody>
      </p:sp>
      <p:sp>
        <p:nvSpPr>
          <p:cNvPr id="3" name="内容占位符 2"/>
          <p:cNvSpPr>
            <a:spLocks noGrp="1"/>
          </p:cNvSpPr>
          <p:nvPr>
            <p:ph idx="1"/>
          </p:nvPr>
        </p:nvSpPr>
        <p:spPr>
          <a:xfrm>
            <a:off x="685800" y="1314450"/>
            <a:ext cx="5200650" cy="4953000"/>
          </a:xfrm>
        </p:spPr>
        <p:txBody>
          <a:bodyPr lIns="0" tIns="0" rIns="0" bIns="0" anchor="t">
            <a:normAutofit fontScale="87103" lnSpcReduction="20000"/>
          </a:bodyPr>
          <a:lstStyle/>
          <a:p>
            <a:pPr marL="0" indent="0">
              <a:buNone/>
              <a:defRPr sz="1425">
                <a:solidFill>
                  <a:srgbClr val="22313F"/>
                </a:solidFill>
                <a:latin typeface="Aptos"/>
                <a:ea typeface="Aptos"/>
                <a:cs typeface="Aptos"/>
              </a:defRPr>
            </a:pPr>
            <a:r>
              <a:rPr sz="1425" b="1">
                <a:solidFill>
                  <a:srgbClr val="22313F"/>
                </a:solidFill>
                <a:latin typeface="Times New Roman" panose="02020603050405020304" charset="0"/>
                <a:ea typeface="Aptos"/>
                <a:cs typeface="Times New Roman" panose="02020603050405020304" charset="0"/>
              </a:rPr>
              <a:t>GAP 1 — Existing work largely stops at the model-output layer</a:t>
            </a:r>
            <a:endParaRPr sz="1425" b="1">
              <a:solidFill>
                <a:srgbClr val="22313F"/>
              </a:solidFill>
              <a:latin typeface="Times New Roman" panose="02020603050405020304" charset="0"/>
              <a:ea typeface="Aptos"/>
              <a:cs typeface="Times New Roman" panose="02020603050405020304" charset="0"/>
            </a:endParaRPr>
          </a:p>
          <a:p>
            <a:pPr marL="0" indent="0">
              <a:buNone/>
              <a:defRPr sz="1425">
                <a:solidFill>
                  <a:srgbClr val="22313F"/>
                </a:solidFill>
                <a:latin typeface="Aptos"/>
                <a:ea typeface="Aptos"/>
                <a:cs typeface="Aptos"/>
              </a:defRPr>
            </a:pPr>
            <a:r>
              <a:rPr sz="1425">
                <a:solidFill>
                  <a:srgbClr val="22313F"/>
                </a:solidFill>
                <a:latin typeface="Times New Roman" panose="02020603050405020304" charset="0"/>
                <a:ea typeface="Aptos"/>
                <a:cs typeface="Times New Roman" panose="02020603050405020304" charset="0"/>
              </a:rPr>
              <a:t>Artificial Hivemind and related error studies show that LLM responses may be similar, but not how this similarity becomes human information selection, belief updating, and group-level judgment.</a:t>
            </a:r>
            <a:endParaRPr sz="1425">
              <a:solidFill>
                <a:srgbClr val="22313F"/>
              </a:solidFill>
              <a:latin typeface="Times New Roman" panose="02020603050405020304" charset="0"/>
              <a:ea typeface="Aptos"/>
              <a:cs typeface="Times New Roman" panose="02020603050405020304" charset="0"/>
            </a:endParaRPr>
          </a:p>
          <a:p>
            <a:pPr marL="0" indent="0">
              <a:buNone/>
            </a:pPr>
            <a:r>
              <a:rPr sz="1425" b="1">
                <a:solidFill>
                  <a:srgbClr val="22313F"/>
                </a:solidFill>
                <a:latin typeface="Times New Roman" panose="02020603050405020304" charset="0"/>
                <a:ea typeface="Aptos"/>
                <a:cs typeface="Times New Roman" panose="02020603050405020304" charset="0"/>
              </a:rPr>
              <a:t>GAP 2 — Individual and group accuracy are often conflated</a:t>
            </a:r>
            <a:endParaRPr sz="1425" b="1">
              <a:solidFill>
                <a:srgbClr val="22313F"/>
              </a:solidFill>
              <a:latin typeface="Times New Roman" panose="02020603050405020304" charset="0"/>
              <a:ea typeface="Aptos"/>
              <a:cs typeface="Times New Roman" panose="02020603050405020304" charset="0"/>
            </a:endParaRPr>
          </a:p>
          <a:p>
            <a:pPr marL="0" indent="0">
              <a:buNone/>
              <a:defRPr sz="1425">
                <a:solidFill>
                  <a:srgbClr val="22313F"/>
                </a:solidFill>
                <a:latin typeface="Aptos"/>
                <a:ea typeface="Aptos"/>
                <a:cs typeface="Aptos"/>
              </a:defRPr>
            </a:pPr>
            <a:r>
              <a:rPr sz="1425">
                <a:solidFill>
                  <a:srgbClr val="22313F"/>
                </a:solidFill>
                <a:latin typeface="Times New Roman" panose="02020603050405020304" charset="0"/>
                <a:ea typeface="Aptos"/>
                <a:cs typeface="Times New Roman" panose="02020603050405020304" charset="0"/>
              </a:rPr>
              <a:t>Studies commonly ask whether AI improves individual judgment, but rarely whether higher judgment correlation reduces aggregation gains even when average individual quality is unchanged or improved.</a:t>
            </a:r>
            <a:endParaRPr>
              <a:latin typeface="Times New Roman" panose="02020603050405020304" charset="0"/>
              <a:cs typeface="Times New Roman" panose="02020603050405020304" charset="0"/>
            </a:endParaRPr>
          </a:p>
          <a:p>
            <a:pPr marL="0" indent="0">
              <a:buNone/>
              <a:defRPr sz="1425">
                <a:solidFill>
                  <a:srgbClr val="22313F"/>
                </a:solidFill>
                <a:latin typeface="Aptos"/>
                <a:ea typeface="Aptos"/>
                <a:cs typeface="Aptos"/>
              </a:defRPr>
            </a:pPr>
            <a:r>
              <a:rPr sz="1425" b="1">
                <a:solidFill>
                  <a:srgbClr val="22313F"/>
                </a:solidFill>
                <a:latin typeface="Times New Roman" panose="02020603050405020304" charset="0"/>
                <a:ea typeface="Aptos"/>
                <a:cs typeface="Times New Roman" panose="02020603050405020304" charset="0"/>
              </a:rPr>
              <a:t>GAP 3 — Traditional opinion dynamics lacks an interactive generative source</a:t>
            </a:r>
            <a:endParaRPr sz="1425" b="1">
              <a:solidFill>
                <a:srgbClr val="22313F"/>
              </a:solidFill>
              <a:latin typeface="Times New Roman" panose="02020603050405020304" charset="0"/>
              <a:ea typeface="Aptos"/>
              <a:cs typeface="Times New Roman" panose="02020603050405020304" charset="0"/>
            </a:endParaRPr>
          </a:p>
          <a:p>
            <a:pPr marL="0" indent="0">
              <a:buNone/>
              <a:defRPr sz="1425">
                <a:solidFill>
                  <a:srgbClr val="22313F"/>
                </a:solidFill>
                <a:latin typeface="Aptos"/>
                <a:ea typeface="Aptos"/>
                <a:cs typeface="Aptos"/>
              </a:defRPr>
            </a:pPr>
            <a:r>
              <a:rPr sz="1425">
                <a:solidFill>
                  <a:srgbClr val="22313F"/>
                </a:solidFill>
                <a:latin typeface="Times New Roman" panose="02020603050405020304" charset="0"/>
                <a:ea typeface="Aptos"/>
                <a:cs typeface="Times New Roman" panose="02020603050405020304" charset="0"/>
              </a:rPr>
              <a:t>Traditional models focus on interpersonal averaging, imitation, and selective exposure. An LLM combines a shared model prior with user-conditioned output: it may repeat similar content to everyone or generate different content by user position. This shared-base/personalized-output structure remains under-modeled.</a:t>
            </a:r>
            <a:endParaRPr sz="1425">
              <a:solidFill>
                <a:srgbClr val="22313F"/>
              </a:solidFill>
              <a:latin typeface="Times New Roman" panose="02020603050405020304" charset="0"/>
              <a:ea typeface="Aptos"/>
              <a:cs typeface="Times New Roman" panose="02020603050405020304" charset="0"/>
            </a:endParaRPr>
          </a:p>
        </p:txBody>
      </p:sp>
      <p:sp>
        <p:nvSpPr>
          <p:cNvPr id="4" name="research-gaps-right-column"/>
          <p:cNvSpPr>
            <a:spLocks noGrp="1"/>
          </p:cNvSpPr>
          <p:nvPr/>
        </p:nvSpPr>
        <p:spPr>
          <a:xfrm>
            <a:off x="6305550" y="1314450"/>
            <a:ext cx="5200650" cy="4953000"/>
          </a:xfrm>
          <a:prstGeom prst="rect">
            <a:avLst/>
          </a:prstGeom>
          <a:noFill/>
          <a:ln w="0">
            <a:noFill/>
            <a:prstDash val="solid"/>
          </a:ln>
        </p:spPr>
        <p:txBody>
          <a:bodyPr lIns="0" tIns="0" rIns="0" bIns="0" anchor="t">
            <a:normAutofit/>
          </a:bodyPr>
          <a:lstStyle/>
          <a:p>
            <a:pPr marL="0" indent="0">
              <a:buNone/>
            </a:pPr>
            <a:endParaRPr>
              <a:latin typeface="Times New Roman" panose="02020603050405020304" charset="0"/>
              <a:cs typeface="Times New Roman" panose="02020603050405020304" charset="0"/>
            </a:endParaRPr>
          </a:p>
          <a:p>
            <a:pPr marL="0" indent="0">
              <a:buNone/>
              <a:defRPr sz="1425">
                <a:solidFill>
                  <a:srgbClr val="22313F"/>
                </a:solidFill>
                <a:latin typeface="Aptos"/>
                <a:ea typeface="Aptos"/>
                <a:cs typeface="Aptos"/>
              </a:defRPr>
            </a:pPr>
            <a:r>
              <a:rPr sz="1425" b="1">
                <a:solidFill>
                  <a:srgbClr val="22313F"/>
                </a:solidFill>
                <a:latin typeface="Times New Roman" panose="02020603050405020304" charset="0"/>
                <a:ea typeface="Aptos"/>
                <a:cs typeface="Times New Roman" panose="02020603050405020304" charset="0"/>
              </a:rPr>
              <a:t>GAP </a:t>
            </a:r>
            <a:r>
              <a:rPr lang="en-US" sz="1425" b="1">
                <a:solidFill>
                  <a:srgbClr val="22313F"/>
                </a:solidFill>
                <a:latin typeface="Times New Roman" panose="02020603050405020304" charset="0"/>
                <a:ea typeface="Aptos"/>
                <a:cs typeface="Times New Roman" panose="02020603050405020304" charset="0"/>
              </a:rPr>
              <a:t>4</a:t>
            </a:r>
            <a:r>
              <a:rPr sz="1425" b="1">
                <a:solidFill>
                  <a:srgbClr val="22313F"/>
                </a:solidFill>
                <a:latin typeface="Times New Roman" panose="02020603050405020304" charset="0"/>
                <a:ea typeface="Aptos"/>
                <a:cs typeface="Times New Roman" panose="02020603050405020304" charset="0"/>
              </a:rPr>
              <a:t> — A testable micro–macro bridge is missing</a:t>
            </a:r>
            <a:endParaRPr sz="1425" b="1">
              <a:solidFill>
                <a:srgbClr val="22313F"/>
              </a:solidFill>
              <a:latin typeface="Times New Roman" panose="02020603050405020304" charset="0"/>
              <a:ea typeface="Aptos"/>
              <a:cs typeface="Times New Roman" panose="02020603050405020304" charset="0"/>
            </a:endParaRPr>
          </a:p>
          <a:p>
            <a:pPr marL="0" indent="0">
              <a:buNone/>
              <a:defRPr sz="1425">
                <a:solidFill>
                  <a:srgbClr val="22313F"/>
                </a:solidFill>
                <a:latin typeface="Aptos"/>
                <a:ea typeface="Aptos"/>
                <a:cs typeface="Aptos"/>
              </a:defRPr>
            </a:pPr>
            <a:r>
              <a:rPr sz="1425">
                <a:solidFill>
                  <a:srgbClr val="22313F"/>
                </a:solidFill>
                <a:latin typeface="Times New Roman" panose="02020603050405020304" charset="0"/>
                <a:ea typeface="Aptos"/>
                <a:cs typeface="Times New Roman" panose="02020603050405020304" charset="0"/>
              </a:rPr>
              <a:t>Real-world experiments are usually too small to observe the long-run system effects of thousands or tens of thousands of people using a shared LLM.</a:t>
            </a:r>
            <a:endParaRPr sz="1425">
              <a:solidFill>
                <a:srgbClr val="22313F"/>
              </a:solidFill>
              <a:latin typeface="Times New Roman" panose="02020603050405020304" charset="0"/>
              <a:ea typeface="Aptos"/>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Theoretical Framework</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fontScale="88208" lnSpcReduction="20000"/>
          </a:bodyPr>
          <a:lstStyle/>
          <a:p>
            <a:pPr marL="0" indent="0">
              <a:buNone/>
              <a:defRPr sz="1425">
                <a:solidFill>
                  <a:srgbClr val="22313F"/>
                </a:solidFill>
                <a:latin typeface="Aptos"/>
                <a:ea typeface="Aptos"/>
                <a:cs typeface="Aptos"/>
              </a:defRPr>
            </a:pPr>
            <a:r>
              <a:rPr sz="1425">
                <a:solidFill>
                  <a:srgbClr val="22313F"/>
                </a:solidFill>
                <a:latin typeface="Aptos"/>
                <a:ea typeface="Aptos"/>
                <a:cs typeface="Aptos"/>
              </a:rPr>
              <a:t>WISDOM OF CROWDS AND THE DIVERSITY PREDICTION THEOREM</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Wisdom of crowds (Surowiecki, 2004)</a:t>
            </a:r>
            <a:endParaRPr sz="1425">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Collective judgment outperforms individual judgment under three necessary conditions: diverse views, independent decisions, and dispersed private information. A common AI reference signal directly weakens independence and diversity.</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Diversity prediction theorem (Page, 2007)</a:t>
            </a:r>
            <a:endParaRPr sz="1425">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Group error = average individual error − predictive diversity.</a:t>
            </a:r>
            <a:endParaRPr sz="1425">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AI can improve individual accuracy while reducing predictive diversity. These forces work in opposite directions. As group size grows, the weight of diversity rises; eventually, the loss of diversity may outweigh the gain in individual accuracy.</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Social influence and diversity (Lorenz et al., 2011)</a:t>
            </a:r>
            <a:endParaRPr sz="1425">
              <a:solidFill>
                <a:srgbClr val="22313F"/>
              </a:solidFill>
              <a:latin typeface="Aptos"/>
              <a:ea typeface="Aptos"/>
              <a:cs typeface="Aptos"/>
            </a:endParaR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A common external signal makes individual judgments converge and can weaken group forecasting. This study treats uniform AI advice as a global external signal and tests whether it actually reduces collective predictive performance.</a:t>
            </a:r>
            <a:endParaRPr sz="1425">
              <a:solidFill>
                <a:srgbClr val="22313F"/>
              </a:solidFill>
              <a:latin typeface="Aptos"/>
              <a:ea typeface="Aptos"/>
              <a:cs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Question: Do LLMs Undermine the Wisdom of Crowds?</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465">
                <a:solidFill>
                  <a:srgbClr val="22313F"/>
                </a:solidFill>
                <a:latin typeface="Aptos"/>
                <a:ea typeface="Aptos"/>
                <a:cs typeface="Aptos"/>
              </a:defRPr>
            </a:pPr>
            <a:r>
              <a:rPr sz="1465">
                <a:solidFill>
                  <a:srgbClr val="102A43"/>
                </a:solidFill>
                <a:latin typeface="Aptos"/>
                <a:ea typeface="Aptos"/>
                <a:cs typeface="Aptos"/>
              </a:rPr>
              <a:t>When individuals with heterogeneous initial positions independently and repeatedly interact with an LLM about the same public-policy issue, how does output homogeneity change the correlation structure of group judgment?</a:t>
            </a:r>
            <a:endParaRPr sz="1465">
              <a:solidFill>
                <a:srgbClr val="102A43"/>
              </a:solidFill>
              <a:latin typeface="Aptos"/>
              <a:ea typeface="Aptos"/>
              <a:cs typeface="Aptos"/>
            </a:endParaRPr>
          </a:p>
          <a:p>
            <a:pPr marL="0" indent="0">
              <a:buNone/>
            </a:p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“Correlation structure” includes three possible outcomes:</a:t>
            </a:r>
            <a:endParaRPr sz="1465">
              <a:solidFill>
                <a:srgbClr val="102A43"/>
              </a:solidFill>
              <a:latin typeface="Aptos"/>
              <a:ea typeface="Aptos"/>
              <a:cs typeface="Aptos"/>
            </a:endParaR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 convergence in information samples;</a:t>
            </a:r>
            <a:endParaRPr sz="1465">
              <a:solidFill>
                <a:srgbClr val="102A43"/>
              </a:solidFill>
              <a:latin typeface="Aptos"/>
              <a:ea typeface="Aptos"/>
              <a:cs typeface="Aptos"/>
            </a:endParaR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 higher correlation in judgment errors;</a:t>
            </a:r>
            <a:endParaRPr sz="1465">
              <a:solidFill>
                <a:srgbClr val="102A43"/>
              </a:solidFill>
              <a:latin typeface="Aptos"/>
              <a:ea typeface="Aptos"/>
              <a:cs typeface="Aptos"/>
            </a:endParaR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 convergence, persistent division, or further polarization of opinions.</a:t>
            </a:r>
            <a:endParaRPr sz="1465">
              <a:solidFill>
                <a:srgbClr val="102A43"/>
              </a:solidFill>
              <a:latin typeface="Aptos"/>
              <a:ea typeface="Aptos"/>
              <a:cs typeface="Aptos"/>
            </a:endParaRPr>
          </a:p>
          <a:p>
            <a:pPr marL="0" indent="0">
              <a:buNone/>
            </a:p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When information quality and average individual accuracy are broadly comparable, does a shared LLM increase error correlation across members, thereby reducing the group’s effective amount of independent information and the quality of collective judgment?</a:t>
            </a:r>
            <a:endParaRPr sz="1465">
              <a:solidFill>
                <a:srgbClr val="102A43"/>
              </a:solidFill>
              <a:latin typeface="Aptos"/>
              <a:ea typeface="Aptos"/>
              <a:cs typeface="Aptos"/>
            </a:endParaRPr>
          </a:p>
          <a:p>
            <a:pPr marL="0" indent="0">
              <a:buNone/>
            </a:pPr>
          </a:p>
          <a:p>
            <a:pPr marL="0" indent="0">
              <a:buNone/>
              <a:defRPr sz="1465">
                <a:solidFill>
                  <a:srgbClr val="22313F"/>
                </a:solidFill>
                <a:latin typeface="Aptos"/>
                <a:ea typeface="Aptos"/>
                <a:cs typeface="Aptos"/>
              </a:defRPr>
            </a:pPr>
            <a:r>
              <a:rPr sz="1465">
                <a:solidFill>
                  <a:srgbClr val="102A43"/>
                </a:solidFill>
                <a:latin typeface="Aptos"/>
                <a:ea typeface="Aptos"/>
                <a:cs typeface="Aptos"/>
              </a:rPr>
              <a:t>MODEL-OUTPUT HOMOGENEITY → CORRELATED INFORMATION EXPOSURE → BELIEF UPDATING → GROUP JUDGMENT STRUCTURE</a:t>
            </a:r>
            <a:endParaRPr sz="1465">
              <a:solidFill>
                <a:srgbClr val="102A43"/>
              </a:solidFill>
              <a:latin typeface="Aptos"/>
              <a:ea typeface="Aptos"/>
              <a:cs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Hypotheses</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H1. A shared LLM increases the similarity of information obtained by members.</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H2. A shared LLM increases correlation in members’ judgment errors.</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H3. A shared LLM reduces the accuracy gain produced by judgment aggregation.</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H4. Model diversity mitigates the loss of crowd wisdom caused by a shared LLM.</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H4 also serves as a mechanism test. If model diversity first reduces error correlation and then restores aggregation gains, the core mechanism is supported. If it only increases linguistic variation without changing error correlation or aggregation outcomes, the mechanism is not validated.</a:t>
            </a:r>
            <a:endParaRPr sz="1575">
              <a:solidFill>
                <a:srgbClr val="22313F"/>
              </a:solidFill>
              <a:latin typeface="Aptos"/>
              <a:ea typeface="Aptos"/>
              <a:cs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Modeling Foundation</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OPINION DYNAMICS: WHEN DOES A SHARED MODEL PRODUCE CONVERGENCE OR DIVERGENCE?</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Traditional opinion dynamics studies how people update judgments from others’ opinions. DeGroot models convergence through weighted averaging; Friedkin–Johnsen allows attachment to initial positions; Hegselmann–Krause bounded confidence assumes that people accept only information sufficiently close to their current view, allowing multiple opinion clusters.</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Here, opinion dynamics is not mainly used to simulate interpersonal diffusion. It describes how members with different initial positions update sequentially in response to shared—but potentially personalized—LLM information.</a:t>
            </a:r>
            <a:endParaRPr sz="1575">
              <a:solidFill>
                <a:srgbClr val="22313F"/>
              </a:solidFill>
              <a:latin typeface="Aptos"/>
              <a:ea typeface="Aptos"/>
              <a:cs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Method: Hybrid ABM–Dynamics Modeling</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575">
                <a:solidFill>
                  <a:srgbClr val="22313F"/>
                </a:solidFill>
                <a:latin typeface="Aptos"/>
                <a:ea typeface="Aptos"/>
                <a:cs typeface="Aptos"/>
              </a:defRPr>
            </a:pPr>
            <a:r>
              <a:rPr sz="1575">
                <a:solidFill>
                  <a:srgbClr val="102A43"/>
                </a:solidFill>
                <a:latin typeface="Aptos"/>
                <a:ea typeface="Aptos"/>
                <a:cs typeface="Aptos"/>
              </a:rPr>
              <a:t>ABM connects three levels:</a:t>
            </a:r>
            <a:endParaRPr sz="1575">
              <a:solidFill>
                <a:srgbClr val="102A43"/>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102A43"/>
                </a:solidFill>
                <a:latin typeface="Aptos"/>
                <a:ea typeface="Aptos"/>
                <a:cs typeface="Aptos"/>
              </a:rPr>
              <a:t>MODEL RESPONSE  →  INDIVIDUAL UPDATING  →  GROUP DISTRIBUTION</a:t>
            </a:r>
            <a:endParaRPr sz="1575">
              <a:solidFill>
                <a:srgbClr val="102A43"/>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102A43"/>
                </a:solidFill>
                <a:latin typeface="Aptos"/>
                <a:ea typeface="Aptos"/>
                <a:cs typeface="Aptos"/>
              </a:rPr>
              <a:t>It can accommodate heterogeneous agents, repeated follow-up questions, nonlinear updating, personalized outputs, and large-scale group outcomes. The theoretical contribution comes from the mechanism relationships above; ABM provides mechanism tracing and counterfactual comparison.</a:t>
            </a:r>
            <a:endParaRPr sz="1575">
              <a:solidFill>
                <a:srgbClr val="102A43"/>
              </a:solidFill>
              <a:latin typeface="Aptos"/>
              <a:ea typeface="Aptos"/>
              <a:cs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Opinion Dynamics Models Human Group Behavior</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fontScale="83290"/>
          </a:bodyPr>
          <a:lstStyle/>
          <a:p>
            <a:pPr marL="0" indent="0">
              <a:buNone/>
              <a:defRPr sz="1540">
                <a:solidFill>
                  <a:srgbClr val="22313F"/>
                </a:solidFill>
                <a:latin typeface="Aptos"/>
                <a:ea typeface="Aptos"/>
                <a:cs typeface="Aptos"/>
              </a:defRPr>
            </a:pPr>
            <a:r>
              <a:rPr sz="1540">
                <a:solidFill>
                  <a:srgbClr val="22313F"/>
                </a:solidFill>
                <a:latin typeface="Aptos"/>
                <a:ea typeface="Aptos"/>
                <a:cs typeface="Aptos"/>
              </a:rPr>
              <a:t>Opinion dynamics explains how users update their positions after receiving an LLM response.</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Agent i’s opinion in round t is xᵢ,ₜ, and the policy position implied by the LLM response is sᵢ,ₜ. The basic update rule is:</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xᵢ,ₜ₊₁ = (1 − λᵢ)xᵢ,ₜ + λᵢsᵢ,ₜ</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where λᵢ is the agent’s reliance on the LLM.</a:t>
            </a:r>
            <a:endParaRPr sz="1540">
              <a:solidFill>
                <a:srgbClr val="22313F"/>
              </a:solidFill>
              <a:latin typeface="Aptos"/>
              <a:ea typeface="Aptos"/>
              <a:cs typeface="Aptos"/>
            </a:endParaRPr>
          </a:p>
          <a:p>
            <a:pPr marL="0" indent="0">
              <a:buNone/>
            </a:p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With bounded confidence, the agent accepts only information within a threshold of its current view:</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|sᵢ,ₜ − xᵢ,ₜ| ≤ τᵢ</a:t>
            </a:r>
            <a:endParaRPr sz="1540">
              <a:solidFill>
                <a:srgbClr val="22313F"/>
              </a:solidFill>
              <a:latin typeface="Aptos"/>
              <a:ea typeface="Aptos"/>
              <a:cs typeface="Aptos"/>
            </a:endParaRPr>
          </a:p>
          <a:p>
            <a:pPr marL="0" indent="0">
              <a:buNone/>
            </a:p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This structure can produce two outcomes:</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 similar answers from a shared model generate convergence;</a:t>
            </a:r>
            <a:endParaRPr sz="1540">
              <a:solidFill>
                <a:srgbClr val="22313F"/>
              </a:solidFill>
              <a:latin typeface="Aptos"/>
              <a:ea typeface="Aptos"/>
              <a:cs typeface="Aptos"/>
            </a:endParaR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 evidence selected by initial position gives opposing camps directionally different answers, generating division or polarization.</a:t>
            </a:r>
            <a:endParaRPr sz="1540">
              <a:solidFill>
                <a:srgbClr val="22313F"/>
              </a:solidFill>
              <a:latin typeface="Aptos"/>
              <a:ea typeface="Aptos"/>
              <a:cs typeface="Aptos"/>
            </a:endParaRPr>
          </a:p>
          <a:p>
            <a:pPr marL="0" indent="0">
              <a:buNone/>
            </a:pPr>
          </a:p>
          <a:p>
            <a:pPr marL="0" indent="0">
              <a:buNone/>
              <a:defRPr sz="1540">
                <a:solidFill>
                  <a:srgbClr val="22313F"/>
                </a:solidFill>
                <a:latin typeface="Aptos"/>
                <a:ea typeface="Aptos"/>
                <a:cs typeface="Aptos"/>
              </a:defRPr>
            </a:pPr>
            <a:r>
              <a:rPr sz="1540">
                <a:solidFill>
                  <a:srgbClr val="22313F"/>
                </a:solidFill>
                <a:latin typeface="Aptos"/>
                <a:ea typeface="Aptos"/>
                <a:cs typeface="Aptos"/>
              </a:rPr>
              <a:t>Sycophancy and personalization are therefore boundary conditions on the homogenizing effect of a shared model.</a:t>
            </a:r>
            <a:endParaRPr sz="1540">
              <a:solidFill>
                <a:srgbClr val="22313F"/>
              </a:solidFill>
              <a:latin typeface="Aptos"/>
              <a:ea typeface="Aptos"/>
              <a:cs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Overall Model</a:t>
            </a:r>
            <a:endParaRPr sz="2700" b="1">
              <a:solidFill>
                <a:srgbClr val="102A43"/>
              </a:solidFill>
              <a:latin typeface="Aptos Display"/>
              <a:ea typeface="Aptos Display"/>
              <a:cs typeface="Aptos Display"/>
            </a:endParaRPr>
          </a:p>
        </p:txBody>
      </p:sp>
      <p:graphicFrame>
        <p:nvGraphicFramePr>
          <p:cNvPr id="9" name="表格 3"/>
          <p:cNvGraphicFramePr/>
          <p:nvPr/>
        </p:nvGraphicFramePr>
        <p:xfrm>
          <a:off x="680085" y="1708150"/>
          <a:ext cx="10485120" cy="1733550"/>
        </p:xfrm>
        <a:graphic>
          <a:graphicData uri="http://schemas.openxmlformats.org/drawingml/2006/table">
            <a:tbl>
              <a:tblPr firstRow="1" bandRow="1"/>
              <a:tblGrid>
                <a:gridCol w="2621280"/>
                <a:gridCol w="2621280"/>
                <a:gridCol w="2621280"/>
                <a:gridCol w="2621280"/>
              </a:tblGrid>
              <a:tr h="361950">
                <a:tc>
                  <a:txBody>
                    <a:bodyPr/>
                    <a:lstStyle/>
                    <a:p>
                      <a:r>
                        <a:rPr sz="1125" b="1">
                          <a:solidFill>
                            <a:srgbClr val="FFFFFF"/>
                          </a:solidFill>
                          <a:latin typeface="Aptos"/>
                          <a:ea typeface="Aptos"/>
                          <a:cs typeface="Aptos"/>
                        </a:rPr>
                        <a:t>Layer</a:t>
                      </a:r>
                      <a:endParaRPr sz="1125" b="1">
                        <a:solidFill>
                          <a:srgbClr val="FFFFFF"/>
                        </a:solidFill>
                        <a:latin typeface="Aptos"/>
                        <a:ea typeface="Aptos"/>
                        <a:cs typeface="Aptos"/>
                      </a:endParaRPr>
                    </a:p>
                  </a:txBody>
                  <a:tcPr marL="0" marR="0" marT="0" marB="0" anchor="ctr" anchorCtr="0">
                    <a:lnL>
                      <a:noFill/>
                    </a:lnL>
                    <a:lnR>
                      <a:noFill/>
                    </a:lnR>
                    <a:lnT>
                      <a:noFill/>
                    </a:lnT>
                    <a:lnB>
                      <a:noFill/>
                    </a:lnB>
                    <a:solidFill>
                      <a:srgbClr val="102A43"/>
                    </a:solidFill>
                  </a:tcPr>
                </a:tc>
                <a:tc>
                  <a:txBody>
                    <a:bodyPr/>
                    <a:lstStyle/>
                    <a:p>
                      <a:r>
                        <a:rPr sz="1125" b="1">
                          <a:solidFill>
                            <a:srgbClr val="FFFFFF"/>
                          </a:solidFill>
                          <a:latin typeface="Aptos"/>
                          <a:ea typeface="Aptos"/>
                          <a:cs typeface="Aptos"/>
                        </a:rPr>
                        <a:t>Input</a:t>
                      </a:r>
                      <a:endParaRPr sz="1125" b="1">
                        <a:solidFill>
                          <a:srgbClr val="FFFFFF"/>
                        </a:solidFill>
                        <a:latin typeface="Aptos"/>
                        <a:ea typeface="Aptos"/>
                        <a:cs typeface="Aptos"/>
                      </a:endParaRPr>
                    </a:p>
                  </a:txBody>
                  <a:tcPr marL="0" marR="0" marT="0" marB="0" anchor="ctr" anchorCtr="0">
                    <a:lnL>
                      <a:noFill/>
                    </a:lnL>
                    <a:lnR>
                      <a:noFill/>
                    </a:lnR>
                    <a:lnT>
                      <a:noFill/>
                    </a:lnT>
                    <a:lnB>
                      <a:noFill/>
                    </a:lnB>
                    <a:solidFill>
                      <a:srgbClr val="102A43"/>
                    </a:solidFill>
                  </a:tcPr>
                </a:tc>
                <a:tc>
                  <a:txBody>
                    <a:bodyPr/>
                    <a:lstStyle/>
                    <a:p>
                      <a:r>
                        <a:rPr sz="1125" b="1">
                          <a:solidFill>
                            <a:srgbClr val="FFFFFF"/>
                          </a:solidFill>
                          <a:latin typeface="Aptos"/>
                          <a:ea typeface="Aptos"/>
                          <a:cs typeface="Aptos"/>
                        </a:rPr>
                        <a:t>Output</a:t>
                      </a:r>
                      <a:endParaRPr sz="1125" b="1">
                        <a:solidFill>
                          <a:srgbClr val="FFFFFF"/>
                        </a:solidFill>
                        <a:latin typeface="Aptos"/>
                        <a:ea typeface="Aptos"/>
                        <a:cs typeface="Aptos"/>
                      </a:endParaRPr>
                    </a:p>
                  </a:txBody>
                  <a:tcPr marL="0" marR="0" marT="0" marB="0" anchor="ctr" anchorCtr="0">
                    <a:lnL>
                      <a:noFill/>
                    </a:lnL>
                    <a:lnR>
                      <a:noFill/>
                    </a:lnR>
                    <a:lnT>
                      <a:noFill/>
                    </a:lnT>
                    <a:lnB>
                      <a:noFill/>
                    </a:lnB>
                    <a:solidFill>
                      <a:srgbClr val="102A43"/>
                    </a:solidFill>
                  </a:tcPr>
                </a:tc>
                <a:tc>
                  <a:txBody>
                    <a:bodyPr/>
                    <a:lstStyle/>
                    <a:p>
                      <a:r>
                        <a:rPr sz="1125" b="1">
                          <a:solidFill>
                            <a:srgbClr val="FFFFFF"/>
                          </a:solidFill>
                          <a:latin typeface="Aptos"/>
                          <a:ea typeface="Aptos"/>
                          <a:cs typeface="Aptos"/>
                        </a:rPr>
                        <a:t>Function</a:t>
                      </a:r>
                      <a:endParaRPr sz="1125" b="1">
                        <a:solidFill>
                          <a:srgbClr val="FFFFFF"/>
                        </a:solidFill>
                        <a:latin typeface="Aptos"/>
                        <a:ea typeface="Aptos"/>
                        <a:cs typeface="Aptos"/>
                      </a:endParaRPr>
                    </a:p>
                  </a:txBody>
                  <a:tcPr marL="0" marR="0" marT="0" marB="0" anchor="ctr" anchorCtr="0">
                    <a:lnL>
                      <a:noFill/>
                    </a:lnL>
                    <a:lnR>
                      <a:noFill/>
                    </a:lnR>
                    <a:lnT>
                      <a:noFill/>
                    </a:lnT>
                    <a:lnB>
                      <a:noFill/>
                    </a:lnB>
                    <a:solidFill>
                      <a:srgbClr val="102A43"/>
                    </a:solidFill>
                  </a:tcPr>
                </a:tc>
              </a:tr>
              <a:tr h="457200">
                <a:tc>
                  <a:txBody>
                    <a:bodyPr/>
                    <a:lstStyle/>
                    <a:p>
                      <a:r>
                        <a:rPr sz="1050" b="0">
                          <a:solidFill>
                            <a:srgbClr val="22313F"/>
                          </a:solidFill>
                          <a:latin typeface="Aptos"/>
                          <a:ea typeface="Aptos"/>
                          <a:cs typeface="Aptos"/>
                        </a:rPr>
                        <a:t>LLM information layer</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a:lstStyle/>
                    <a:p>
                      <a:r>
                        <a:rPr sz="1050" b="0">
                          <a:solidFill>
                            <a:srgbClr val="22313F"/>
                          </a:solidFill>
                          <a:latin typeface="Aptos"/>
                          <a:ea typeface="Aptos"/>
                          <a:cs typeface="Aptos"/>
                        </a:rPr>
                        <a:t>User question; model configuration</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a:lstStyle/>
                    <a:p>
                      <a:r>
                        <a:rPr sz="1050" b="0">
                          <a:solidFill>
                            <a:srgbClr val="22313F"/>
                          </a:solidFill>
                          <a:latin typeface="Aptos"/>
                          <a:ea typeface="Aptos"/>
                          <a:cs typeface="Aptos"/>
                        </a:rPr>
                        <a:t>Natural-language response Rᵢₖₜ</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a:lstStyle/>
                    <a:p>
                      <a:r>
                        <a:rPr sz="1050" b="0">
                          <a:solidFill>
                            <a:srgbClr val="22313F"/>
                          </a:solidFill>
                          <a:latin typeface="Aptos"/>
                          <a:ea typeface="Aptos"/>
                          <a:cs typeface="Aptos"/>
                        </a:rPr>
                        <a:t>Generate the information received by each member</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r>
              <a:tr h="457200">
                <a:tc>
                  <a:txBody>
                    <a:bodyPr/>
                    <a:lstStyle/>
                    <a:p>
                      <a:r>
                        <a:rPr sz="1050" b="0">
                          <a:solidFill>
                            <a:srgbClr val="22313F"/>
                          </a:solidFill>
                          <a:latin typeface="Aptos"/>
                          <a:ea typeface="Aptos"/>
                          <a:cs typeface="Aptos"/>
                        </a:rPr>
                        <a:t>Text-measurement layer</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EDF3F6"/>
                    </a:solidFill>
                  </a:tcPr>
                </a:tc>
                <a:tc>
                  <a:txBody>
                    <a:bodyPr/>
                    <a:lstStyle/>
                    <a:p>
                      <a:r>
                        <a:rPr sz="1050" b="0">
                          <a:solidFill>
                            <a:srgbClr val="22313F"/>
                          </a:solidFill>
                          <a:latin typeface="Aptos"/>
                          <a:ea typeface="Aptos"/>
                          <a:cs typeface="Aptos"/>
                        </a:rPr>
                        <a:t>Response Rᵢₖₜ</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EDF3F6"/>
                    </a:solidFill>
                  </a:tcPr>
                </a:tc>
                <a:tc>
                  <a:txBody>
                    <a:bodyPr/>
                    <a:lstStyle/>
                    <a:p>
                      <a:r>
                        <a:rPr sz="1050" b="0">
                          <a:solidFill>
                            <a:srgbClr val="22313F"/>
                          </a:solidFill>
                          <a:latin typeface="Aptos"/>
                          <a:ea typeface="Aptos"/>
                          <a:cs typeface="Aptos"/>
                        </a:rPr>
                        <a:t>Position signal sᵢₖₜ; information vector zᵢₖₜ</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EDF3F6"/>
                    </a:solidFill>
                  </a:tcPr>
                </a:tc>
                <a:tc>
                  <a:txBody>
                    <a:bodyPr/>
                    <a:lstStyle/>
                    <a:p>
                      <a:r>
                        <a:rPr sz="1050" b="0">
                          <a:solidFill>
                            <a:srgbClr val="22313F"/>
                          </a:solidFill>
                          <a:latin typeface="Aptos"/>
                          <a:ea typeface="Aptos"/>
                          <a:cs typeface="Aptos"/>
                        </a:rPr>
                        <a:t>Convert text into computable variables</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EDF3F6"/>
                    </a:solidFill>
                  </a:tcPr>
                </a:tc>
              </a:tr>
              <a:tr h="457200">
                <a:tc>
                  <a:txBody>
                    <a:bodyPr/>
                    <a:lstStyle/>
                    <a:p>
                      <a:r>
                        <a:rPr sz="1050" b="0">
                          <a:solidFill>
                            <a:srgbClr val="22313F"/>
                          </a:solidFill>
                          <a:latin typeface="Aptos"/>
                          <a:ea typeface="Aptos"/>
                          <a:cs typeface="Aptos"/>
                        </a:rPr>
                        <a:t>Opinion-updating layer</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a:lstStyle/>
                    <a:p>
                      <a:r>
                        <a:rPr sz="1050" b="0">
                          <a:solidFill>
                            <a:srgbClr val="22313F"/>
                          </a:solidFill>
                          <a:latin typeface="Aptos"/>
                          <a:ea typeface="Aptos"/>
                          <a:cs typeface="Aptos"/>
                        </a:rPr>
                        <a:t>Prior position xᵢₖₜ; position signal sᵢₖₜ</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a:lstStyle/>
                    <a:p>
                      <a:r>
                        <a:rPr sz="1050" b="0">
                          <a:solidFill>
                            <a:srgbClr val="22313F"/>
                          </a:solidFill>
                          <a:latin typeface="Aptos"/>
                          <a:ea typeface="Aptos"/>
                          <a:cs typeface="Aptos"/>
                        </a:rPr>
                        <a:t>New position xᵢₖ,ₜ₊₁</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c>
                  <a:txBody>
                    <a:bodyPr/>
                    <a:lstStyle/>
                    <a:p>
                      <a:r>
                        <a:rPr sz="1050" b="0">
                          <a:solidFill>
                            <a:srgbClr val="22313F"/>
                          </a:solidFill>
                          <a:latin typeface="Aptos"/>
                          <a:ea typeface="Aptos"/>
                          <a:cs typeface="Aptos"/>
                        </a:rPr>
                        <a:t>Simulate how members adopt the response</a:t>
                      </a:r>
                      <a:endParaRPr sz="1050" b="0">
                        <a:solidFill>
                          <a:srgbClr val="22313F"/>
                        </a:solidFill>
                        <a:latin typeface="Aptos"/>
                        <a:ea typeface="Aptos"/>
                        <a:cs typeface="Aptos"/>
                      </a:endParaRPr>
                    </a:p>
                  </a:txBody>
                  <a:tcPr marL="0" marR="0" marT="0" marB="0" anchor="ctr" anchorCtr="0">
                    <a:lnL>
                      <a:noFill/>
                    </a:lnL>
                    <a:lnR>
                      <a:noFill/>
                    </a:lnR>
                    <a:lnT>
                      <a:noFill/>
                    </a:lnT>
                    <a:lnB>
                      <a:noFill/>
                    </a:lnB>
                    <a:solidFill>
                      <a:srgbClr val="FFFFFF"/>
                    </a:solidFill>
                  </a:tcPr>
                </a:tc>
              </a:tr>
            </a:tbl>
          </a:graphicData>
        </a:graphic>
      </p:graphicFrame>
      <p:sp>
        <p:nvSpPr>
          <p:cNvPr id="5" name="文本框 4"/>
          <p:cNvSpPr>
            <a:spLocks noGrp="1"/>
          </p:cNvSpPr>
          <p:nvPr/>
        </p:nvSpPr>
        <p:spPr>
          <a:xfrm>
            <a:off x="685800" y="3857625"/>
            <a:ext cx="4762500" cy="2333625"/>
          </a:xfrm>
          <a:prstGeom prst="rect">
            <a:avLst/>
          </a:prstGeom>
          <a:noFill/>
          <a:ln w="0">
            <a:noFill/>
            <a:prstDash val="solid"/>
          </a:ln>
        </p:spPr>
        <p:txBody>
          <a:bodyPr lIns="0" tIns="0" rIns="0" bIns="0" anchor="t">
            <a:normAutofit/>
          </a:bodyPr>
          <a:lstStyle/>
          <a:p>
            <a:pPr marL="0" indent="0">
              <a:buNone/>
              <a:defRPr sz="1350">
                <a:solidFill>
                  <a:srgbClr val="22313F"/>
                </a:solidFill>
                <a:latin typeface="Aptos"/>
                <a:ea typeface="Aptos"/>
                <a:cs typeface="Aptos"/>
              </a:defRPr>
            </a:pPr>
            <a:r>
              <a:rPr sz="1350">
                <a:solidFill>
                  <a:srgbClr val="22313F"/>
                </a:solidFill>
                <a:latin typeface="Aptos"/>
                <a:ea typeface="Aptos"/>
                <a:cs typeface="Aptos"/>
              </a:rPr>
              <a:t>Notation</a:t>
            </a:r>
            <a:endParaRPr sz="1350">
              <a:solidFill>
                <a:srgbClr val="22313F"/>
              </a:solidFill>
              <a:latin typeface="Aptos"/>
              <a:ea typeface="Aptos"/>
              <a:cs typeface="Aptos"/>
            </a:endParaRPr>
          </a:p>
          <a:p>
            <a:pPr marL="0" indent="0">
              <a:buNone/>
            </a:p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i: member</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k: policy issue</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t: interaction round</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xᵢₖₜ ∈ [−1, 1]: member’s current position</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sᵢₖₜ ∈ [−1, 1]: policy position implied by the LLM response</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zᵢₖₜ: arguments, facts, and policy frames contained in the response</a:t>
            </a:r>
            <a:endParaRPr sz="1350">
              <a:solidFill>
                <a:srgbClr val="22313F"/>
              </a:solidFill>
              <a:latin typeface="Aptos"/>
              <a:ea typeface="Aptos"/>
              <a:cs typeface="Aptos"/>
            </a:endParaRPr>
          </a:p>
        </p:txBody>
      </p:sp>
      <p:sp>
        <p:nvSpPr>
          <p:cNvPr id="6" name="文本框 5"/>
          <p:cNvSpPr>
            <a:spLocks noGrp="1"/>
          </p:cNvSpPr>
          <p:nvPr/>
        </p:nvSpPr>
        <p:spPr>
          <a:xfrm>
            <a:off x="6096000" y="3857625"/>
            <a:ext cx="5410200" cy="2333625"/>
          </a:xfrm>
          <a:prstGeom prst="rect">
            <a:avLst/>
          </a:prstGeom>
          <a:noFill/>
          <a:ln w="0">
            <a:noFill/>
            <a:prstDash val="solid"/>
          </a:ln>
        </p:spPr>
        <p:txBody>
          <a:bodyPr lIns="0" tIns="0" rIns="0" bIns="0" anchor="t">
            <a:normAutofit/>
          </a:bodyPr>
          <a:lstStyle/>
          <a:p>
            <a:pPr marL="0" indent="0">
              <a:buNone/>
              <a:defRPr sz="1350">
                <a:solidFill>
                  <a:srgbClr val="22313F"/>
                </a:solidFill>
                <a:latin typeface="Aptos"/>
                <a:ea typeface="Aptos"/>
                <a:cs typeface="Aptos"/>
              </a:defRPr>
            </a:pPr>
            <a:r>
              <a:rPr sz="1350">
                <a:solidFill>
                  <a:srgbClr val="22313F"/>
                </a:solidFill>
                <a:latin typeface="Aptos"/>
                <a:ea typeface="Aptos"/>
                <a:cs typeface="Aptos"/>
              </a:rPr>
              <a:t>Chuang et al. use a similar procedure: an LLM agent first generates a natural-language opinion, then an independent FLAN-T5-XXL classifier encodes the text as −2, −1, 0, 1, or 2. They manually validate 100 responses. Krippendorff’s α among three annotators is 0.81, and automatic classification agrees with the human majority vote in 84% of cases.</a:t>
            </a:r>
            <a:endParaRPr sz="1350">
              <a:solidFill>
                <a:srgbClr val="22313F"/>
              </a:solidFill>
              <a:latin typeface="Aptos"/>
              <a:ea typeface="Aptos"/>
              <a:cs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Revision Plan</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1428750" y="2000250"/>
            <a:ext cx="9334500" cy="2476500"/>
          </a:xfrm>
        </p:spPr>
        <p:txBody>
          <a:bodyPr lIns="0" tIns="0" rIns="0" bIns="0" anchor="t">
            <a:normAutofit/>
          </a:bodyPr>
          <a:lstStyle/>
          <a:p>
            <a:pPr marL="0" indent="0">
              <a:buNone/>
              <a:defRPr sz="2100">
                <a:solidFill>
                  <a:srgbClr val="22313F"/>
                </a:solidFill>
                <a:latin typeface="Aptos"/>
                <a:ea typeface="Aptos"/>
                <a:cs typeface="Aptos"/>
              </a:defRPr>
            </a:pPr>
            <a:r>
              <a:rPr sz="2100">
                <a:solidFill>
                  <a:srgbClr val="22313F"/>
                </a:solidFill>
                <a:latin typeface="Aptos"/>
                <a:ea typeface="Aptos"/>
                <a:cs typeface="Aptos"/>
              </a:rPr>
              <a:t>In the previous version, I focused the research objective on AI’s effect on individuals’ information acquisition.</a:t>
            </a:r>
            <a:endParaRPr sz="2100">
              <a:solidFill>
                <a:srgbClr val="22313F"/>
              </a:solidFill>
              <a:latin typeface="Aptos"/>
              <a:ea typeface="Aptos"/>
              <a:cs typeface="Aptos"/>
            </a:endParaRPr>
          </a:p>
          <a:p>
            <a:pPr marL="0" indent="0">
              <a:buNone/>
            </a:pPr>
          </a:p>
          <a:p>
            <a:pPr marL="0" indent="0">
              <a:buNone/>
              <a:defRPr sz="2100">
                <a:solidFill>
                  <a:srgbClr val="22313F"/>
                </a:solidFill>
                <a:latin typeface="Aptos"/>
                <a:ea typeface="Aptos"/>
                <a:cs typeface="Aptos"/>
              </a:defRPr>
            </a:pPr>
            <a:r>
              <a:rPr sz="2100">
                <a:solidFill>
                  <a:srgbClr val="22313F"/>
                </a:solidFill>
                <a:latin typeface="Aptos"/>
                <a:ea typeface="Aptos"/>
                <a:cs typeface="Aptos"/>
              </a:rPr>
              <a:t>The instructor identified the following problem:</a:t>
            </a:r>
            <a:endParaRPr sz="2100">
              <a:solidFill>
                <a:srgbClr val="22313F"/>
              </a:solidFill>
              <a:latin typeface="Aptos"/>
              <a:ea typeface="Aptos"/>
              <a:cs typeface="Aptos"/>
            </a:endParaRPr>
          </a:p>
          <a:p>
            <a:pPr marL="0" indent="0">
              <a:buNone/>
              <a:defRPr sz="2100">
                <a:solidFill>
                  <a:srgbClr val="22313F"/>
                </a:solidFill>
                <a:latin typeface="Aptos"/>
                <a:ea typeface="Aptos"/>
                <a:cs typeface="Aptos"/>
              </a:defRPr>
            </a:pPr>
            <a:r>
              <a:rPr sz="2100">
                <a:solidFill>
                  <a:srgbClr val="22313F"/>
                </a:solidFill>
                <a:latin typeface="Aptos"/>
                <a:ea typeface="Aptos"/>
                <a:cs typeface="Aptos"/>
              </a:rPr>
              <a:t>The theoretical background was insufficient.</a:t>
            </a:r>
            <a:endParaRPr sz="2100">
              <a:solidFill>
                <a:srgbClr val="22313F"/>
              </a:solidFill>
              <a:latin typeface="Aptos"/>
              <a:ea typeface="Aptos"/>
              <a:cs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Paper 1: Theoretical Framework</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428750"/>
            <a:ext cx="4810125" cy="4762500"/>
          </a:xfrm>
        </p:spPr>
        <p:txBody>
          <a:bodyPr lIns="0" tIns="0" rIns="0" bIns="0" anchor="t">
            <a:normAutofit fontScale="90401"/>
          </a:bodyPr>
          <a:lstStyle/>
          <a:p>
            <a:pPr marL="0" indent="0">
              <a:buNone/>
              <a:defRPr sz="1500">
                <a:solidFill>
                  <a:srgbClr val="22313F"/>
                </a:solidFill>
                <a:latin typeface="Aptos"/>
                <a:ea typeface="Aptos"/>
                <a:cs typeface="Aptos"/>
              </a:defRPr>
            </a:pPr>
            <a:r>
              <a:rPr sz="1500">
                <a:solidFill>
                  <a:srgbClr val="22313F"/>
                </a:solidFill>
                <a:latin typeface="Aptos"/>
                <a:ea typeface="Aptos"/>
                <a:cs typeface="Aptos"/>
              </a:rPr>
              <a:t>OPTIMAL STOPPING THEORY</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Theory type</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Normative decision theory and a mathematical decision framework.</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Disciplinary homes</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Information economics and search theory</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Microeconomic theory</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Operations research and management science</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Statistical decision theory</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Behavioral decision research</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Representative journals</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Econometrica; Journal of Economic Theory; Economic Theory; Operations Research; Management Science; Decision Analysis.</a:t>
            </a:r>
            <a:endParaRPr sz="1500">
              <a:solidFill>
                <a:srgbClr val="22313F"/>
              </a:solidFill>
              <a:latin typeface="Aptos"/>
              <a:ea typeface="Aptos"/>
              <a:cs typeface="Aptos"/>
            </a:endParaRPr>
          </a:p>
        </p:txBody>
      </p:sp>
      <p:sp>
        <p:nvSpPr>
          <p:cNvPr id="4" name="paper1-optimal-stopping-detail"/>
          <p:cNvSpPr>
            <a:spLocks noGrp="1"/>
          </p:cNvSpPr>
          <p:nvPr/>
        </p:nvSpPr>
        <p:spPr>
          <a:xfrm>
            <a:off x="6096000" y="1428750"/>
            <a:ext cx="5410200" cy="4762500"/>
          </a:xfrm>
          <a:prstGeom prst="rect">
            <a:avLst/>
          </a:prstGeom>
          <a:noFill/>
          <a:ln w="0">
            <a:noFill/>
            <a:prstDash val="solid"/>
          </a:ln>
        </p:spPr>
        <p:txBody>
          <a:bodyPr lIns="0" tIns="0" rIns="0" bIns="0" anchor="t">
            <a:normAutofit/>
          </a:bodyPr>
          <a:lstStyle/>
          <a:p>
            <a:pPr marL="0" indent="0">
              <a:buNone/>
              <a:defRPr sz="1425">
                <a:solidFill>
                  <a:srgbClr val="22313F"/>
                </a:solidFill>
                <a:latin typeface="Aptos"/>
                <a:ea typeface="Aptos"/>
                <a:cs typeface="Aptos"/>
              </a:defRPr>
            </a:pPr>
            <a:r>
              <a:rPr sz="1425">
                <a:solidFill>
                  <a:srgbClr val="22313F"/>
                </a:solidFill>
                <a:latin typeface="Aptos"/>
                <a:ea typeface="Aptos"/>
                <a:cs typeface="Aptos"/>
              </a:rPr>
              <a:t>DETAILED EXPLANATION</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Optimal stopping theory asks when a decision maker should stop when information or options arrive sequentially, continued observation is costly, and future gains are uncertain. Its core is not “more search is always better,” but a comparison between the expected marginal benefit and marginal cost of one more search.</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Weitzman’s classic model converts search objects into reservation values. Search continues while an unchecked option still offers sufficient expected gain; it stops when the best observed outcome exceeds the reservation value of every unchecked option. Paper 1 is not exactly the same “find the best option” task, but it can use the central criterion: Is the expected information value of the next piece of evidence greater than the cost of obtaining it?</a:t>
            </a:r>
            <a:endParaRPr sz="1425">
              <a:solidFill>
                <a:srgbClr val="22313F"/>
              </a:solidFill>
              <a:latin typeface="Aptos"/>
              <a:ea typeface="Aptos"/>
              <a:cs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990600"/>
          </a:xfrm>
        </p:spPr>
        <p:txBody>
          <a:bodyPr lIns="0" tIns="0" rIns="0" bIns="0" anchor="t">
            <a:normAutofit/>
          </a:bodyPr>
          <a:lstStyle/>
          <a:p>
            <a:pPr>
              <a:defRPr sz="2250" b="1">
                <a:solidFill>
                  <a:srgbClr val="102A43"/>
                </a:solidFill>
                <a:latin typeface="Aptos Display"/>
                <a:ea typeface="Aptos Display"/>
                <a:cs typeface="Aptos Display"/>
              </a:defRPr>
            </a:pPr>
            <a:r>
              <a:rPr sz="2250" b="1">
                <a:solidFill>
                  <a:srgbClr val="102A43"/>
                </a:solidFill>
                <a:latin typeface="Aptos Display"/>
                <a:ea typeface="Aptos Display"/>
                <a:cs typeface="Aptos Display"/>
              </a:rPr>
              <a:t>AI Improves Current Task Performance, Yet May Not Build the Capability Needed to Perform the Task—Paper 1’s Tension</a:t>
            </a:r>
            <a:endParaRPr sz="225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52550"/>
            <a:ext cx="10820400" cy="419100"/>
          </a:xfrm>
        </p:spPr>
        <p:txBody>
          <a:bodyPr lIns="0" tIns="0" rIns="0" bIns="0" anchor="t">
            <a:normAutofit/>
          </a:bodyPr>
          <a:lstStyle/>
          <a:p>
            <a:pPr marL="0" indent="0">
              <a:buNone/>
              <a:defRPr sz="1650">
                <a:solidFill>
                  <a:srgbClr val="22313F"/>
                </a:solidFill>
                <a:latin typeface="Aptos"/>
                <a:ea typeface="Aptos"/>
                <a:cs typeface="Aptos"/>
              </a:defRPr>
            </a:pPr>
            <a:r>
              <a:rPr sz="1650">
                <a:solidFill>
                  <a:srgbClr val="22313F"/>
                </a:solidFill>
                <a:latin typeface="Aptos"/>
                <a:ea typeface="Aptos"/>
                <a:cs typeface="Aptos"/>
              </a:rPr>
              <a:t>Broadly, we aim to examine the following phenomenon:</a:t>
            </a:r>
            <a:endParaRPr sz="1650">
              <a:solidFill>
                <a:srgbClr val="22313F"/>
              </a:solidFill>
              <a:latin typeface="Aptos"/>
              <a:ea typeface="Aptos"/>
              <a:cs typeface="Aptos"/>
            </a:endParaRPr>
          </a:p>
        </p:txBody>
      </p:sp>
      <p:graphicFrame>
        <p:nvGraphicFramePr>
          <p:cNvPr id="9" name="表格 3"/>
          <p:cNvGraphicFramePr/>
          <p:nvPr/>
        </p:nvGraphicFramePr>
        <p:xfrm>
          <a:off x="853440" y="2255520"/>
          <a:ext cx="10485120" cy="0"/>
        </p:xfrm>
        <a:graphic>
          <a:graphicData uri="http://schemas.openxmlformats.org/drawingml/2006/table">
            <a:tbl>
              <a:tblPr/>
              <a:tblGrid>
                <a:gridCol w="2621280"/>
                <a:gridCol w="2621280"/>
                <a:gridCol w="2621280"/>
                <a:gridCol w="2621280"/>
              </a:tblGrid>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r h="0">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c>
                  <a:txBody>
                    <a:bodyPr/>
                    <a:lstStyle/>
                    <a:p>
                      <a:endParaRPr sz="1100"/>
                    </a:p>
                  </a:txBody>
                  <a:tcPr marL="0" marR="0" marT="0" marB="0" anchor="ctr" anchorCtr="0">
                    <a:lnL>
                      <a:noFill/>
                    </a:lnL>
                    <a:lnR>
                      <a:noFill/>
                    </a:lnR>
                    <a:lnT>
                      <a:noFill/>
                    </a:lnT>
                    <a:lnB>
                      <a:noFill/>
                    </a:lnB>
                    <a:noFill/>
                  </a:tcPr>
                </a:tc>
              </a:tr>
            </a:tbl>
          </a:graphicData>
        </a:graphic>
      </p:graphicFrame>
      <p:graphicFrame>
        <p:nvGraphicFramePr>
          <p:cNvPr id="10" name="表格 9"/>
          <p:cNvGraphicFramePr/>
          <p:nvPr/>
        </p:nvGraphicFramePr>
        <p:xfrm>
          <a:off x="685800" y="2000250"/>
          <a:ext cx="10820400" cy="2286000"/>
        </p:xfrm>
        <a:graphic>
          <a:graphicData uri="http://schemas.openxmlformats.org/drawingml/2006/table">
            <a:tbl>
              <a:tblPr firstRow="1" bandRow="1"/>
              <a:tblGrid>
                <a:gridCol w="1762125"/>
                <a:gridCol w="2476500"/>
                <a:gridCol w="3810000"/>
                <a:gridCol w="2771775"/>
              </a:tblGrid>
              <a:tr h="323850">
                <a:tc>
                  <a:txBody>
                    <a:bodyPr/>
                    <a:lstStyle/>
                    <a:p>
                      <a:r>
                        <a:rPr sz="1090" b="1">
                          <a:solidFill>
                            <a:srgbClr val="FFFFFF"/>
                          </a:solidFill>
                          <a:latin typeface="Aptos"/>
                          <a:ea typeface="Aptos"/>
                          <a:cs typeface="Aptos"/>
                        </a:rPr>
                        <a:t>Domain</a:t>
                      </a:r>
                      <a:endParaRPr sz="1090" b="1">
                        <a:solidFill>
                          <a:srgbClr val="FFFFFF"/>
                        </a:solidFill>
                        <a:latin typeface="Aptos"/>
                        <a:ea typeface="Aptos"/>
                        <a:cs typeface="Aptos"/>
                      </a:endParaRPr>
                    </a:p>
                  </a:txBody>
                  <a:tcPr>
                    <a:solidFill>
                      <a:srgbClr val="102A43"/>
                    </a:solidFill>
                  </a:tcPr>
                </a:tc>
                <a:tc>
                  <a:txBody>
                    <a:bodyPr/>
                    <a:lstStyle/>
                    <a:p>
                      <a:r>
                        <a:rPr sz="1090" b="1">
                          <a:solidFill>
                            <a:srgbClr val="FFFFFF"/>
                          </a:solidFill>
                          <a:latin typeface="Aptos"/>
                          <a:ea typeface="Aptos"/>
                          <a:cs typeface="Aptos"/>
                        </a:rPr>
                        <a:t>Surface gain from AI</a:t>
                      </a:r>
                      <a:endParaRPr sz="1090" b="1">
                        <a:solidFill>
                          <a:srgbClr val="FFFFFF"/>
                        </a:solidFill>
                        <a:latin typeface="Aptos"/>
                        <a:ea typeface="Aptos"/>
                        <a:cs typeface="Aptos"/>
                      </a:endParaRPr>
                    </a:p>
                  </a:txBody>
                  <a:tcPr>
                    <a:solidFill>
                      <a:srgbClr val="102A43"/>
                    </a:solidFill>
                  </a:tcPr>
                </a:tc>
                <a:tc>
                  <a:txBody>
                    <a:bodyPr/>
                    <a:lstStyle/>
                    <a:p>
                      <a:r>
                        <a:rPr sz="1090" b="1">
                          <a:solidFill>
                            <a:srgbClr val="FFFFFF"/>
                          </a:solidFill>
                          <a:latin typeface="Aptos"/>
                          <a:ea typeface="Aptos"/>
                          <a:cs typeface="Aptos"/>
                        </a:rPr>
                        <a:t>Capability gap that may be hidden</a:t>
                      </a:r>
                      <a:endParaRPr sz="1090" b="1">
                        <a:solidFill>
                          <a:srgbClr val="FFFFFF"/>
                        </a:solidFill>
                        <a:latin typeface="Aptos"/>
                        <a:ea typeface="Aptos"/>
                        <a:cs typeface="Aptos"/>
                      </a:endParaRPr>
                    </a:p>
                  </a:txBody>
                  <a:tcPr>
                    <a:solidFill>
                      <a:srgbClr val="102A43"/>
                    </a:solidFill>
                  </a:tcPr>
                </a:tc>
                <a:tc>
                  <a:txBody>
                    <a:bodyPr/>
                    <a:lstStyle/>
                    <a:p>
                      <a:r>
                        <a:rPr sz="1090" b="1">
                          <a:solidFill>
                            <a:srgbClr val="FFFFFF"/>
                          </a:solidFill>
                          <a:latin typeface="Aptos"/>
                          <a:ea typeface="Aptos"/>
                          <a:cs typeface="Aptos"/>
                        </a:rPr>
                        <a:t>Disciplinary home</a:t>
                      </a:r>
                      <a:endParaRPr sz="1090" b="1">
                        <a:solidFill>
                          <a:srgbClr val="FFFFFF"/>
                        </a:solidFill>
                        <a:latin typeface="Aptos"/>
                        <a:ea typeface="Aptos"/>
                        <a:cs typeface="Aptos"/>
                      </a:endParaRPr>
                    </a:p>
                  </a:txBody>
                  <a:tcPr>
                    <a:solidFill>
                      <a:srgbClr val="102A43"/>
                    </a:solidFill>
                  </a:tcPr>
                </a:tc>
              </a:tr>
              <a:tr h="381000">
                <a:tc>
                  <a:txBody>
                    <a:bodyPr/>
                    <a:lstStyle/>
                    <a:p>
                      <a:r>
                        <a:rPr sz="1015" b="1">
                          <a:solidFill>
                            <a:srgbClr val="22313F"/>
                          </a:solidFill>
                          <a:latin typeface="Aptos"/>
                          <a:ea typeface="Aptos"/>
                          <a:cs typeface="Aptos"/>
                        </a:rPr>
                        <a:t>Academic research</a:t>
                      </a:r>
                      <a:endParaRPr sz="1015" b="1">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Rapid reviews, hypotheses, paper explanation, and drafting</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Cannot evaluate evidence, detect errors, identify theoretical boundaries, or formulate questions independently</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Science studies; research policy; higher education; JDM</a:t>
                      </a:r>
                      <a:endParaRPr sz="1015" b="0">
                        <a:solidFill>
                          <a:srgbClr val="22313F"/>
                        </a:solidFill>
                        <a:latin typeface="Aptos"/>
                        <a:ea typeface="Aptos"/>
                        <a:cs typeface="Aptos"/>
                      </a:endParaRPr>
                    </a:p>
                  </a:txBody>
                  <a:tcPr>
                    <a:solidFill>
                      <a:srgbClr val="FFFFFF"/>
                    </a:solidFill>
                  </a:tcPr>
                </a:tc>
              </a:tr>
              <a:tr h="381000">
                <a:tc>
                  <a:txBody>
                    <a:bodyPr/>
                    <a:lstStyle/>
                    <a:p>
                      <a:r>
                        <a:rPr sz="1015" b="1">
                          <a:solidFill>
                            <a:srgbClr val="22313F"/>
                          </a:solidFill>
                          <a:latin typeface="Aptos"/>
                          <a:ea typeface="Aptos"/>
                          <a:cs typeface="Aptos"/>
                        </a:rPr>
                        <a:t>Organizational knowledge work</a:t>
                      </a:r>
                      <a:endParaRPr sz="1015" b="1">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Rapid reports, plans, and analysis</a:t>
                      </a:r>
                      <a:endParaRPr sz="1015" b="0">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Assumptions remain unexamined; counterexamples are hard to handle; knowledge does not accumulate</a:t>
                      </a:r>
                      <a:endParaRPr sz="1015" b="0">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Information systems; organizational behavior; knowledge management</a:t>
                      </a:r>
                      <a:endParaRPr sz="1015" b="0">
                        <a:solidFill>
                          <a:srgbClr val="22313F"/>
                        </a:solidFill>
                        <a:latin typeface="Aptos"/>
                        <a:ea typeface="Aptos"/>
                        <a:cs typeface="Aptos"/>
                      </a:endParaRPr>
                    </a:p>
                  </a:txBody>
                  <a:tcPr>
                    <a:solidFill>
                      <a:srgbClr val="EDF3F6"/>
                    </a:solidFill>
                  </a:tcPr>
                </a:tc>
              </a:tr>
              <a:tr h="381000">
                <a:tc>
                  <a:txBody>
                    <a:bodyPr/>
                    <a:lstStyle/>
                    <a:p>
                      <a:r>
                        <a:rPr sz="1015" b="1">
                          <a:solidFill>
                            <a:srgbClr val="22313F"/>
                          </a:solidFill>
                          <a:latin typeface="Aptos"/>
                          <a:ea typeface="Aptos"/>
                          <a:cs typeface="Aptos"/>
                        </a:rPr>
                        <a:t>Professional learning and training</a:t>
                      </a:r>
                      <a:endParaRPr sz="1015" b="1">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Novices achieve high immediate performance with AI</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Cannot transfer, diagnose, or solve problems independently without AI</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Learning sciences; professional education; skill formation</a:t>
                      </a:r>
                      <a:endParaRPr sz="1015" b="0">
                        <a:solidFill>
                          <a:srgbClr val="22313F"/>
                        </a:solidFill>
                        <a:latin typeface="Aptos"/>
                        <a:ea typeface="Aptos"/>
                        <a:cs typeface="Aptos"/>
                      </a:endParaRPr>
                    </a:p>
                  </a:txBody>
                  <a:tcPr>
                    <a:solidFill>
                      <a:srgbClr val="FFFFFF"/>
                    </a:solidFill>
                  </a:tcPr>
                </a:tc>
              </a:tr>
              <a:tr h="381000">
                <a:tc>
                  <a:txBody>
                    <a:bodyPr/>
                    <a:lstStyle/>
                    <a:p>
                      <a:r>
                        <a:rPr sz="1015" b="1">
                          <a:solidFill>
                            <a:srgbClr val="22313F"/>
                          </a:solidFill>
                          <a:latin typeface="Aptos"/>
                          <a:ea typeface="Aptos"/>
                          <a:cs typeface="Aptos"/>
                        </a:rPr>
                        <a:t>Management and strategy</a:t>
                      </a:r>
                      <a:endParaRPr sz="1015" b="1">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Rapid, well-structured recommendations</a:t>
                      </a:r>
                      <a:endParaRPr sz="1015" b="0">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Managers cannot judge applicability boundaries or detect false premises</a:t>
                      </a:r>
                      <a:endParaRPr sz="1015" b="0">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Management; strategy; JDM</a:t>
                      </a:r>
                      <a:endParaRPr sz="1015" b="0">
                        <a:solidFill>
                          <a:srgbClr val="22313F"/>
                        </a:solidFill>
                        <a:latin typeface="Aptos"/>
                        <a:ea typeface="Aptos"/>
                        <a:cs typeface="Aptos"/>
                      </a:endParaRPr>
                    </a:p>
                  </a:txBody>
                  <a:tcPr>
                    <a:solidFill>
                      <a:srgbClr val="EDF3F6"/>
                    </a:solidFill>
                  </a:tcPr>
                </a:tc>
              </a:tr>
              <a:tr h="381000">
                <a:tc>
                  <a:txBody>
                    <a:bodyPr/>
                    <a:lstStyle/>
                    <a:p>
                      <a:r>
                        <a:rPr sz="1015" b="1">
                          <a:solidFill>
                            <a:srgbClr val="22313F"/>
                          </a:solidFill>
                          <a:latin typeface="Aptos"/>
                          <a:ea typeface="Aptos"/>
                          <a:cs typeface="Aptos"/>
                        </a:rPr>
                        <a:t>Medical decisions</a:t>
                      </a:r>
                      <a:endParaRPr sz="1015" b="1">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Diagnostic advice and case explanation</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Clinicians cannot independently validate or explain anomalous cases</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Medical decision making; professional judgment</a:t>
                      </a:r>
                      <a:endParaRPr sz="1015" b="0">
                        <a:solidFill>
                          <a:srgbClr val="22313F"/>
                        </a:solidFill>
                        <a:latin typeface="Aptos"/>
                        <a:ea typeface="Aptos"/>
                        <a:cs typeface="Aptos"/>
                      </a:endParaRPr>
                    </a:p>
                  </a:txBody>
                  <a:tcPr>
                    <a:solidFill>
                      <a:srgbClr val="FFFFFF"/>
                    </a:solidFill>
                  </a:tcPr>
                </a:tc>
              </a:tr>
            </a:tbl>
          </a:graphicData>
        </a:graphic>
      </p:graphicFrame>
      <p:graphicFrame>
        <p:nvGraphicFramePr>
          <p:cNvPr id="11" name="表格 10"/>
          <p:cNvGraphicFramePr/>
          <p:nvPr/>
        </p:nvGraphicFramePr>
        <p:xfrm>
          <a:off x="685800" y="4457700"/>
          <a:ext cx="10820400" cy="2000250"/>
        </p:xfrm>
        <a:graphic>
          <a:graphicData uri="http://schemas.openxmlformats.org/drawingml/2006/table">
            <a:tbl>
              <a:tblPr firstRow="1" bandRow="1"/>
              <a:tblGrid>
                <a:gridCol w="1762125"/>
                <a:gridCol w="2476500"/>
                <a:gridCol w="3810000"/>
                <a:gridCol w="2771775"/>
              </a:tblGrid>
              <a:tr h="323850">
                <a:tc>
                  <a:txBody>
                    <a:bodyPr/>
                    <a:lstStyle/>
                    <a:p>
                      <a:r>
                        <a:rPr sz="1090" b="1">
                          <a:solidFill>
                            <a:srgbClr val="FFFFFF"/>
                          </a:solidFill>
                          <a:latin typeface="Aptos"/>
                          <a:ea typeface="Aptos"/>
                          <a:cs typeface="Aptos"/>
                        </a:rPr>
                        <a:t>Domain</a:t>
                      </a:r>
                      <a:endParaRPr sz="1090" b="1">
                        <a:solidFill>
                          <a:srgbClr val="FFFFFF"/>
                        </a:solidFill>
                        <a:latin typeface="Aptos"/>
                        <a:ea typeface="Aptos"/>
                        <a:cs typeface="Aptos"/>
                      </a:endParaRPr>
                    </a:p>
                  </a:txBody>
                  <a:tcPr>
                    <a:solidFill>
                      <a:srgbClr val="102A43"/>
                    </a:solidFill>
                  </a:tcPr>
                </a:tc>
                <a:tc>
                  <a:txBody>
                    <a:bodyPr/>
                    <a:lstStyle/>
                    <a:p>
                      <a:r>
                        <a:rPr sz="1090" b="1">
                          <a:solidFill>
                            <a:srgbClr val="FFFFFF"/>
                          </a:solidFill>
                          <a:latin typeface="Aptos"/>
                          <a:ea typeface="Aptos"/>
                          <a:cs typeface="Aptos"/>
                        </a:rPr>
                        <a:t>Surface gain from AI</a:t>
                      </a:r>
                      <a:endParaRPr sz="1090" b="1">
                        <a:solidFill>
                          <a:srgbClr val="FFFFFF"/>
                        </a:solidFill>
                        <a:latin typeface="Aptos"/>
                        <a:ea typeface="Aptos"/>
                        <a:cs typeface="Aptos"/>
                      </a:endParaRPr>
                    </a:p>
                  </a:txBody>
                  <a:tcPr>
                    <a:solidFill>
                      <a:srgbClr val="102A43"/>
                    </a:solidFill>
                  </a:tcPr>
                </a:tc>
                <a:tc>
                  <a:txBody>
                    <a:bodyPr/>
                    <a:lstStyle/>
                    <a:p>
                      <a:r>
                        <a:rPr sz="1090" b="1">
                          <a:solidFill>
                            <a:srgbClr val="FFFFFF"/>
                          </a:solidFill>
                          <a:latin typeface="Aptos"/>
                          <a:ea typeface="Aptos"/>
                          <a:cs typeface="Aptos"/>
                        </a:rPr>
                        <a:t>Capability gap that may be hidden</a:t>
                      </a:r>
                      <a:endParaRPr sz="1090" b="1">
                        <a:solidFill>
                          <a:srgbClr val="FFFFFF"/>
                        </a:solidFill>
                        <a:latin typeface="Aptos"/>
                        <a:ea typeface="Aptos"/>
                        <a:cs typeface="Aptos"/>
                      </a:endParaRPr>
                    </a:p>
                  </a:txBody>
                  <a:tcPr>
                    <a:solidFill>
                      <a:srgbClr val="102A43"/>
                    </a:solidFill>
                  </a:tcPr>
                </a:tc>
                <a:tc>
                  <a:txBody>
                    <a:bodyPr/>
                    <a:lstStyle/>
                    <a:p>
                      <a:r>
                        <a:rPr sz="1090" b="1">
                          <a:solidFill>
                            <a:srgbClr val="FFFFFF"/>
                          </a:solidFill>
                          <a:latin typeface="Aptos"/>
                          <a:ea typeface="Aptos"/>
                          <a:cs typeface="Aptos"/>
                        </a:rPr>
                        <a:t>Disciplinary home</a:t>
                      </a:r>
                      <a:endParaRPr sz="1090" b="1">
                        <a:solidFill>
                          <a:srgbClr val="FFFFFF"/>
                        </a:solidFill>
                        <a:latin typeface="Aptos"/>
                        <a:ea typeface="Aptos"/>
                        <a:cs typeface="Aptos"/>
                      </a:endParaRPr>
                    </a:p>
                  </a:txBody>
                  <a:tcPr>
                    <a:solidFill>
                      <a:srgbClr val="102A43"/>
                    </a:solidFill>
                  </a:tcPr>
                </a:tc>
              </a:tr>
              <a:tr h="400050">
                <a:tc>
                  <a:txBody>
                    <a:bodyPr/>
                    <a:lstStyle/>
                    <a:p>
                      <a:r>
                        <a:rPr sz="1015" b="1">
                          <a:solidFill>
                            <a:srgbClr val="22313F"/>
                          </a:solidFill>
                          <a:latin typeface="Aptos"/>
                          <a:ea typeface="Aptos"/>
                          <a:cs typeface="Aptos"/>
                        </a:rPr>
                        <a:t>Law and compliance</a:t>
                      </a:r>
                      <a:endParaRPr sz="1015" b="1">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Rapid regulatory explanation and legal opinions</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Cannot identify exceptions, jurisdictional differences, or reasoning flaws</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Law and society; professional services</a:t>
                      </a:r>
                      <a:endParaRPr sz="1015" b="0">
                        <a:solidFill>
                          <a:srgbClr val="22313F"/>
                        </a:solidFill>
                        <a:latin typeface="Aptos"/>
                        <a:ea typeface="Aptos"/>
                        <a:cs typeface="Aptos"/>
                      </a:endParaRPr>
                    </a:p>
                  </a:txBody>
                  <a:tcPr>
                    <a:solidFill>
                      <a:srgbClr val="FFFFFF"/>
                    </a:solidFill>
                  </a:tcPr>
                </a:tc>
              </a:tr>
              <a:tr h="400050">
                <a:tc>
                  <a:txBody>
                    <a:bodyPr/>
                    <a:lstStyle/>
                    <a:p>
                      <a:r>
                        <a:rPr sz="1015" b="1">
                          <a:solidFill>
                            <a:srgbClr val="22313F"/>
                          </a:solidFill>
                          <a:latin typeface="Aptos"/>
                          <a:ea typeface="Aptos"/>
                          <a:cs typeface="Aptos"/>
                        </a:rPr>
                        <a:t>News and public information</a:t>
                      </a:r>
                      <a:endParaRPr sz="1015" b="1">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Rapid summaries of complex events</a:t>
                      </a:r>
                      <a:endParaRPr sz="1015" b="0">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Cannot verify sources or separate evidence from inference</a:t>
                      </a:r>
                      <a:endParaRPr sz="1015" b="0">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Communication; information behavior; misinformation</a:t>
                      </a:r>
                      <a:endParaRPr sz="1015" b="0">
                        <a:solidFill>
                          <a:srgbClr val="22313F"/>
                        </a:solidFill>
                        <a:latin typeface="Aptos"/>
                        <a:ea typeface="Aptos"/>
                        <a:cs typeface="Aptos"/>
                      </a:endParaRPr>
                    </a:p>
                  </a:txBody>
                  <a:tcPr>
                    <a:solidFill>
                      <a:srgbClr val="EDF3F6"/>
                    </a:solidFill>
                  </a:tcPr>
                </a:tc>
              </a:tr>
              <a:tr h="400050">
                <a:tc>
                  <a:txBody>
                    <a:bodyPr/>
                    <a:lstStyle/>
                    <a:p>
                      <a:r>
                        <a:rPr sz="1015" b="1">
                          <a:solidFill>
                            <a:srgbClr val="22313F"/>
                          </a:solidFill>
                          <a:latin typeface="Aptos"/>
                          <a:ea typeface="Aptos"/>
                          <a:cs typeface="Aptos"/>
                        </a:rPr>
                        <a:t>Citizen decisions</a:t>
                      </a:r>
                      <a:endParaRPr sz="1015" b="1">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Rapid understanding of health, finance, or policy information</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Subjective understanding improves, but actual judgment and questioning do not</a:t>
                      </a:r>
                      <a:endParaRPr sz="1015" b="0">
                        <a:solidFill>
                          <a:srgbClr val="22313F"/>
                        </a:solidFill>
                        <a:latin typeface="Aptos"/>
                        <a:ea typeface="Aptos"/>
                        <a:cs typeface="Aptos"/>
                      </a:endParaRPr>
                    </a:p>
                  </a:txBody>
                  <a:tcPr>
                    <a:solidFill>
                      <a:srgbClr val="FFFFFF"/>
                    </a:solidFill>
                  </a:tcPr>
                </a:tc>
                <a:tc>
                  <a:txBody>
                    <a:bodyPr/>
                    <a:lstStyle/>
                    <a:p>
                      <a:r>
                        <a:rPr sz="1015" b="0">
                          <a:solidFill>
                            <a:srgbClr val="22313F"/>
                          </a:solidFill>
                          <a:latin typeface="Aptos"/>
                          <a:ea typeface="Aptos"/>
                          <a:cs typeface="Aptos"/>
                        </a:rPr>
                        <a:t>Behavioral public policy; risk communication; consumer decision making</a:t>
                      </a:r>
                      <a:endParaRPr sz="1015" b="0">
                        <a:solidFill>
                          <a:srgbClr val="22313F"/>
                        </a:solidFill>
                        <a:latin typeface="Aptos"/>
                        <a:ea typeface="Aptos"/>
                        <a:cs typeface="Aptos"/>
                      </a:endParaRPr>
                    </a:p>
                  </a:txBody>
                  <a:tcPr>
                    <a:solidFill>
                      <a:srgbClr val="FFFFFF"/>
                    </a:solidFill>
                  </a:tcPr>
                </a:tc>
              </a:tr>
              <a:tr h="400050">
                <a:tc>
                  <a:txBody>
                    <a:bodyPr/>
                    <a:lstStyle/>
                    <a:p>
                      <a:r>
                        <a:rPr sz="1015" b="1">
                          <a:solidFill>
                            <a:srgbClr val="22313F"/>
                          </a:solidFill>
                          <a:latin typeface="Aptos"/>
                          <a:ea typeface="Aptos"/>
                          <a:cs typeface="Aptos"/>
                        </a:rPr>
                        <a:t>Public administration</a:t>
                      </a:r>
                      <a:endParaRPr sz="1015" b="1">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Rapid policy explanation and case processing</a:t>
                      </a:r>
                      <a:endParaRPr sz="1015" b="0">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Officials cannot independently explain, review, and apply rules</a:t>
                      </a:r>
                      <a:endParaRPr sz="1015" b="0">
                        <a:solidFill>
                          <a:srgbClr val="22313F"/>
                        </a:solidFill>
                        <a:latin typeface="Aptos"/>
                        <a:ea typeface="Aptos"/>
                        <a:cs typeface="Aptos"/>
                      </a:endParaRPr>
                    </a:p>
                  </a:txBody>
                  <a:tcPr>
                    <a:solidFill>
                      <a:srgbClr val="EDF3F6"/>
                    </a:solidFill>
                  </a:tcPr>
                </a:tc>
                <a:tc>
                  <a:txBody>
                    <a:bodyPr/>
                    <a:lstStyle/>
                    <a:p>
                      <a:r>
                        <a:rPr sz="1015" b="0">
                          <a:solidFill>
                            <a:srgbClr val="22313F"/>
                          </a:solidFill>
                          <a:latin typeface="Aptos"/>
                          <a:ea typeface="Aptos"/>
                          <a:cs typeface="Aptos"/>
                        </a:rPr>
                        <a:t>Public administration; administrative discretion; accountability</a:t>
                      </a:r>
                      <a:endParaRPr sz="1015" b="0">
                        <a:solidFill>
                          <a:srgbClr val="22313F"/>
                        </a:solidFill>
                        <a:latin typeface="Aptos"/>
                        <a:ea typeface="Aptos"/>
                        <a:cs typeface="Aptos"/>
                      </a:endParaRPr>
                    </a:p>
                  </a:txBody>
                  <a:tcPr>
                    <a:solidFill>
                      <a:srgbClr val="EDF3F6"/>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More Specifically, Paper 1 Focuses on the Information-Collection Stage</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1238250" y="1809750"/>
            <a:ext cx="9715500" cy="3429000"/>
          </a:xfrm>
        </p:spPr>
        <p:txBody>
          <a:bodyPr lIns="0" tIns="0" rIns="0" bIns="0" anchor="t">
            <a:normAutofit/>
          </a:bodyPr>
          <a:lstStyle/>
          <a:p>
            <a:pPr marL="0" indent="0">
              <a:buNone/>
              <a:defRPr sz="2025">
                <a:solidFill>
                  <a:srgbClr val="22313F"/>
                </a:solidFill>
                <a:latin typeface="Aptos"/>
                <a:ea typeface="Aptos"/>
                <a:cs typeface="Aptos"/>
              </a:defRPr>
            </a:pPr>
            <a:r>
              <a:rPr sz="2025">
                <a:solidFill>
                  <a:srgbClr val="22313F"/>
                </a:solidFill>
                <a:latin typeface="Aptos"/>
                <a:ea typeface="Aptos"/>
                <a:cs typeface="Aptos"/>
              </a:rPr>
              <a:t>WHY DOES THIS MATTER?</a:t>
            </a:r>
            <a:endParaRPr sz="2025">
              <a:solidFill>
                <a:srgbClr val="22313F"/>
              </a:solidFill>
              <a:latin typeface="Aptos"/>
              <a:ea typeface="Aptos"/>
              <a:cs typeface="Aptos"/>
            </a:endParaRPr>
          </a:p>
          <a:p>
            <a:pPr marL="0" indent="0">
              <a:buNone/>
              <a:defRPr sz="2025">
                <a:solidFill>
                  <a:srgbClr val="22313F"/>
                </a:solidFill>
                <a:latin typeface="Aptos"/>
                <a:ea typeface="Aptos"/>
                <a:cs typeface="Aptos"/>
              </a:defRPr>
            </a:pPr>
            <a:r>
              <a:rPr sz="2025">
                <a:solidFill>
                  <a:srgbClr val="22313F"/>
                </a:solidFill>
                <a:latin typeface="Aptos"/>
                <a:ea typeface="Aptos"/>
                <a:cs typeface="Aptos"/>
              </a:rPr>
              <a:t>Information collection is one of the tasks most widely delegated to AI, so the affected audience is broad.</a:t>
            </a:r>
            <a:endParaRPr sz="2025">
              <a:solidFill>
                <a:srgbClr val="22313F"/>
              </a:solidFill>
              <a:latin typeface="Aptos"/>
              <a:ea typeface="Aptos"/>
              <a:cs typeface="Aptos"/>
            </a:endParaRPr>
          </a:p>
          <a:p>
            <a:pPr marL="0" indent="0">
              <a:buNone/>
            </a:pPr>
          </a:p>
          <a:p>
            <a:pPr marL="0" indent="0">
              <a:buNone/>
              <a:defRPr sz="2025">
                <a:solidFill>
                  <a:srgbClr val="22313F"/>
                </a:solidFill>
                <a:latin typeface="Aptos"/>
                <a:ea typeface="Aptos"/>
                <a:cs typeface="Aptos"/>
              </a:defRPr>
            </a:pPr>
            <a:r>
              <a:rPr sz="2025">
                <a:solidFill>
                  <a:srgbClr val="22313F"/>
                </a:solidFill>
                <a:latin typeface="Aptos"/>
                <a:ea typeface="Aptos"/>
                <a:cs typeface="Aptos"/>
              </a:rPr>
              <a:t>WHERE IS THE THEORETICAL GAP?</a:t>
            </a:r>
            <a:endParaRPr sz="2025">
              <a:solidFill>
                <a:srgbClr val="22313F"/>
              </a:solidFill>
              <a:latin typeface="Aptos"/>
              <a:ea typeface="Aptos"/>
              <a:cs typeface="Aptos"/>
            </a:endParaRPr>
          </a:p>
          <a:p>
            <a:pPr marL="0" indent="0">
              <a:buNone/>
              <a:defRPr sz="2025">
                <a:solidFill>
                  <a:srgbClr val="22313F"/>
                </a:solidFill>
                <a:latin typeface="Aptos"/>
                <a:ea typeface="Aptos"/>
                <a:cs typeface="Aptos"/>
              </a:defRPr>
            </a:pPr>
            <a:r>
              <a:rPr sz="2025">
                <a:solidFill>
                  <a:srgbClr val="22313F"/>
                </a:solidFill>
                <a:latin typeface="Aptos"/>
                <a:ea typeface="Aptos"/>
                <a:cs typeface="Aptos"/>
              </a:rPr>
              <a:t>Existing theories cannot clearly explain the consequences AI creates for people.</a:t>
            </a:r>
            <a:endParaRPr sz="2025">
              <a:solidFill>
                <a:srgbClr val="22313F"/>
              </a:solidFill>
              <a:latin typeface="Aptos"/>
              <a:ea typeface="Aptos"/>
              <a:cs typeface="Apto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p:sp>
        <p:nvSpPr>
          <p:cNvPr id="2" name="标题 1"/>
          <p:cNvSpPr>
            <a:spLocks noGrp="1"/>
          </p:cNvSpPr>
          <p:nvPr>
            <p:ph type="title"/>
          </p:nvPr>
        </p:nvSpPr>
        <p:spPr>
          <a:xfrm>
            <a:off x="781050" y="2076450"/>
            <a:ext cx="10572750" cy="2714625"/>
          </a:xfrm>
        </p:spPr>
        <p:txBody>
          <a:bodyPr lIns="0" tIns="0" rIns="0" bIns="0" anchor="t">
            <a:normAutofit/>
          </a:bodyPr>
          <a:lstStyle/>
          <a:p>
            <a:pPr>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CHAPTER 2</a:t>
            </a:r>
            <a:endParaRPr sz="3150" b="1">
              <a:solidFill>
                <a:srgbClr val="FFFFFF"/>
              </a:solidFill>
              <a:latin typeface="Aptos Display"/>
              <a:ea typeface="Aptos Display"/>
              <a:cs typeface="Aptos Display"/>
            </a:endParaRPr>
          </a:p>
          <a:p>
            <a:pPr>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How Can AI Governance Promote Trust Calibration, Aligning Individual Reliance with AI’s Actual Performance?</a:t>
            </a:r>
            <a:endParaRPr sz="3150" b="1">
              <a:solidFill>
                <a:srgbClr val="FFFFFF"/>
              </a:solidFill>
              <a:latin typeface="Aptos Display"/>
              <a:ea typeface="Aptos Display"/>
              <a:cs typeface="Aptos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Candidate Theoretical Frameworks</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257300"/>
            <a:ext cx="2476500" cy="2857500"/>
          </a:xfrm>
        </p:spPr>
        <p:txBody>
          <a:bodyPr lIns="0" tIns="0" rIns="0" bIns="0" anchor="t">
            <a:normAutofit fontScale="94102"/>
          </a:bodyPr>
          <a:lstStyle/>
          <a:p>
            <a:pPr marL="0" indent="0">
              <a:buNone/>
              <a:defRPr sz="1650">
                <a:solidFill>
                  <a:srgbClr val="22313F"/>
                </a:solidFill>
                <a:latin typeface="Aptos"/>
                <a:ea typeface="Aptos"/>
                <a:cs typeface="Aptos"/>
              </a:defRPr>
            </a:pPr>
            <a:r>
              <a:rPr sz="1650">
                <a:solidFill>
                  <a:srgbClr val="22313F"/>
                </a:solidFill>
                <a:latin typeface="Aptos"/>
                <a:ea typeface="Aptos"/>
                <a:cs typeface="Aptos"/>
              </a:rPr>
              <a:t>The theoretical core remains:</a:t>
            </a:r>
            <a:endParaRPr sz="1650">
              <a:solidFill>
                <a:srgbClr val="22313F"/>
              </a:solidFill>
              <a:latin typeface="Aptos"/>
              <a:ea typeface="Aptos"/>
              <a:cs typeface="Aptos"/>
            </a:endParaRPr>
          </a:p>
          <a:p>
            <a:pPr marL="0" indent="0">
              <a:buNone/>
            </a:pPr>
          </a:p>
          <a:p>
            <a:pPr marL="0" indent="0">
              <a:buNone/>
              <a:defRPr sz="1650">
                <a:solidFill>
                  <a:srgbClr val="22313F"/>
                </a:solidFill>
                <a:latin typeface="Aptos"/>
                <a:ea typeface="Aptos"/>
                <a:cs typeface="Aptos"/>
              </a:defRPr>
            </a:pPr>
            <a:r>
              <a:rPr sz="1650">
                <a:solidFill>
                  <a:srgbClr val="22313F"/>
                </a:solidFill>
                <a:latin typeface="Aptos"/>
                <a:ea typeface="Aptos"/>
                <a:cs typeface="Aptos"/>
              </a:rPr>
              <a:t>• trust in automation;</a:t>
            </a:r>
            <a:endParaRPr sz="1650">
              <a:solidFill>
                <a:srgbClr val="22313F"/>
              </a:solidFill>
              <a:latin typeface="Aptos"/>
              <a:ea typeface="Aptos"/>
              <a:cs typeface="Aptos"/>
            </a:endParaRPr>
          </a:p>
          <a:p>
            <a:pPr marL="0" indent="0">
              <a:buNone/>
              <a:defRPr sz="1650">
                <a:solidFill>
                  <a:srgbClr val="22313F"/>
                </a:solidFill>
                <a:latin typeface="Aptos"/>
                <a:ea typeface="Aptos"/>
                <a:cs typeface="Aptos"/>
              </a:defRPr>
            </a:pPr>
            <a:r>
              <a:rPr sz="1650">
                <a:solidFill>
                  <a:srgbClr val="22313F"/>
                </a:solidFill>
                <a:latin typeface="Aptos"/>
                <a:ea typeface="Aptos"/>
                <a:cs typeface="Aptos"/>
              </a:rPr>
              <a:t>• human adoption of machine advice;</a:t>
            </a:r>
            <a:endParaRPr sz="1650">
              <a:solidFill>
                <a:srgbClr val="22313F"/>
              </a:solidFill>
              <a:latin typeface="Aptos"/>
              <a:ea typeface="Aptos"/>
              <a:cs typeface="Aptos"/>
            </a:endParaRPr>
          </a:p>
          <a:p>
            <a:pPr marL="0" indent="0">
              <a:buNone/>
              <a:defRPr sz="1650">
                <a:solidFill>
                  <a:srgbClr val="22313F"/>
                </a:solidFill>
                <a:latin typeface="Aptos"/>
                <a:ea typeface="Aptos"/>
                <a:cs typeface="Aptos"/>
              </a:defRPr>
            </a:pPr>
            <a:r>
              <a:rPr sz="1650">
                <a:solidFill>
                  <a:srgbClr val="22313F"/>
                </a:solidFill>
                <a:latin typeface="Aptos"/>
                <a:ea typeface="Aptos"/>
                <a:cs typeface="Aptos"/>
              </a:rPr>
              <a:t>• algorithm aversion and algorithm appreciation.</a:t>
            </a:r>
            <a:endParaRPr sz="1650">
              <a:solidFill>
                <a:srgbClr val="22313F"/>
              </a:solidFill>
              <a:latin typeface="Aptos"/>
              <a:ea typeface="Aptos"/>
              <a:cs typeface="Aptos"/>
            </a:endParaRPr>
          </a:p>
        </p:txBody>
      </p:sp>
      <p:sp>
        <p:nvSpPr>
          <p:cNvPr id="5" name="文本框 4"/>
          <p:cNvSpPr>
            <a:spLocks noGrp="1"/>
          </p:cNvSpPr>
          <p:nvPr/>
        </p:nvSpPr>
        <p:spPr>
          <a:xfrm>
            <a:off x="3524250" y="1200150"/>
            <a:ext cx="4000500" cy="5191125"/>
          </a:xfrm>
          <a:prstGeom prst="rect">
            <a:avLst/>
          </a:prstGeom>
          <a:noFill/>
          <a:ln w="0">
            <a:noFill/>
            <a:prstDash val="solid"/>
          </a:ln>
        </p:spPr>
        <p:txBody>
          <a:bodyPr lIns="0" tIns="0" rIns="0" bIns="0" anchor="t">
            <a:normAutofit/>
          </a:bodyPr>
          <a:lstStyle/>
          <a:p>
            <a:pPr marL="0" indent="0">
              <a:buNone/>
              <a:defRPr sz="1315">
                <a:solidFill>
                  <a:srgbClr val="22313F"/>
                </a:solidFill>
                <a:latin typeface="Aptos"/>
                <a:ea typeface="Aptos"/>
                <a:cs typeface="Aptos"/>
              </a:defRPr>
            </a:pPr>
            <a:r>
              <a:rPr sz="1315">
                <a:solidFill>
                  <a:srgbClr val="22313F"/>
                </a:solidFill>
                <a:latin typeface="Aptos"/>
                <a:ea typeface="Aptos"/>
                <a:cs typeface="Aptos"/>
              </a:rPr>
              <a:t>JUDGMENT AND DECISION MAKING (JDM)</a:t>
            </a:r>
            <a:endParaRPr sz="1315">
              <a:solidFill>
                <a:srgbClr val="22313F"/>
              </a:solidFill>
              <a:latin typeface="Aptos"/>
              <a:ea typeface="Aptos"/>
              <a:cs typeface="Aptos"/>
            </a:endParaRPr>
          </a:p>
          <a:p>
            <a:pPr marL="0" indent="0">
              <a:buNone/>
            </a:pPr>
          </a:p>
          <a:p>
            <a:pPr marL="0" indent="0">
              <a:buNone/>
              <a:defRPr sz="1315">
                <a:solidFill>
                  <a:srgbClr val="22313F"/>
                </a:solidFill>
                <a:latin typeface="Aptos"/>
                <a:ea typeface="Aptos"/>
                <a:cs typeface="Aptos"/>
              </a:defRPr>
            </a:pPr>
            <a:r>
              <a:rPr sz="1315">
                <a:solidFill>
                  <a:srgbClr val="22313F"/>
                </a:solidFill>
                <a:latin typeface="Aptos"/>
                <a:ea typeface="Aptos"/>
                <a:cs typeface="Aptos"/>
              </a:rPr>
              <a:t>The Journal of Behavioral Decision Making is a leading journal in this field, and the foundational roots of all these terms lie here:</a:t>
            </a:r>
            <a:endParaRPr sz="1315">
              <a:solidFill>
                <a:srgbClr val="22313F"/>
              </a:solidFill>
              <a:latin typeface="Aptos"/>
              <a:ea typeface="Aptos"/>
              <a:cs typeface="Aptos"/>
            </a:endParaRPr>
          </a:p>
          <a:p>
            <a:pPr marL="0" indent="0">
              <a:buNone/>
            </a:pPr>
          </a:p>
          <a:p>
            <a:pPr marL="0" indent="0">
              <a:buNone/>
              <a:defRPr sz="1315">
                <a:solidFill>
                  <a:srgbClr val="22313F"/>
                </a:solidFill>
                <a:latin typeface="Aptos"/>
                <a:ea typeface="Aptos"/>
                <a:cs typeface="Aptos"/>
              </a:defRPr>
            </a:pPr>
            <a:r>
              <a:rPr sz="1315">
                <a:solidFill>
                  <a:srgbClr val="22313F"/>
                </a:solidFill>
                <a:latin typeface="Aptos"/>
                <a:ea typeface="Aptos"/>
                <a:cs typeface="Aptos"/>
              </a:rPr>
              <a:t>Algorithm aversion</a:t>
            </a:r>
            <a:endParaRPr sz="1315">
              <a:solidFill>
                <a:srgbClr val="22313F"/>
              </a:solidFill>
              <a:latin typeface="Aptos"/>
              <a:ea typeface="Aptos"/>
              <a:cs typeface="Aptos"/>
            </a:endParaRPr>
          </a:p>
          <a:p>
            <a:pPr marL="0" indent="0">
              <a:buNone/>
              <a:defRPr sz="1315">
                <a:solidFill>
                  <a:srgbClr val="22313F"/>
                </a:solidFill>
                <a:latin typeface="Aptos"/>
                <a:ea typeface="Aptos"/>
                <a:cs typeface="Aptos"/>
              </a:defRPr>
            </a:pPr>
            <a:r>
              <a:rPr sz="1315">
                <a:solidFill>
                  <a:srgbClr val="22313F"/>
                </a:solidFill>
                <a:latin typeface="Aptos"/>
                <a:ea typeface="Aptos"/>
                <a:cs typeface="Aptos"/>
              </a:rPr>
              <a:t>A signature JDM concept formally named in 2015, describing the cognitive bias of deliberately rejecting algorithmic advice that performs better.</a:t>
            </a:r>
            <a:endParaRPr sz="1315">
              <a:solidFill>
                <a:srgbClr val="22313F"/>
              </a:solidFill>
              <a:latin typeface="Aptos"/>
              <a:ea typeface="Aptos"/>
              <a:cs typeface="Aptos"/>
            </a:endParaRPr>
          </a:p>
          <a:p>
            <a:pPr marL="0" indent="0">
              <a:buNone/>
            </a:pPr>
          </a:p>
          <a:p>
            <a:pPr marL="0" indent="0">
              <a:buNone/>
              <a:defRPr sz="1315">
                <a:solidFill>
                  <a:srgbClr val="22313F"/>
                </a:solidFill>
                <a:latin typeface="Aptos"/>
                <a:ea typeface="Aptos"/>
                <a:cs typeface="Aptos"/>
              </a:defRPr>
            </a:pPr>
            <a:r>
              <a:rPr sz="1315">
                <a:solidFill>
                  <a:srgbClr val="22313F"/>
                </a:solidFill>
                <a:latin typeface="Aptos"/>
                <a:ea typeface="Aptos"/>
                <a:cs typeface="Aptos"/>
              </a:rPr>
              <a:t>Expectations and expertise</a:t>
            </a:r>
            <a:endParaRPr sz="1315">
              <a:solidFill>
                <a:srgbClr val="22313F"/>
              </a:solidFill>
              <a:latin typeface="Aptos"/>
              <a:ea typeface="Aptos"/>
              <a:cs typeface="Aptos"/>
            </a:endParaRPr>
          </a:p>
          <a:p>
            <a:pPr marL="0" indent="0">
              <a:buNone/>
              <a:defRPr sz="1315">
                <a:solidFill>
                  <a:srgbClr val="22313F"/>
                </a:solidFill>
                <a:latin typeface="Aptos"/>
                <a:ea typeface="Aptos"/>
                <a:cs typeface="Aptos"/>
              </a:defRPr>
            </a:pPr>
            <a:r>
              <a:rPr sz="1315">
                <a:solidFill>
                  <a:srgbClr val="22313F"/>
                </a:solidFill>
                <a:latin typeface="Aptos"/>
                <a:ea typeface="Aptos"/>
                <a:cs typeface="Aptos"/>
              </a:rPr>
              <a:t>From cognitive psychology and behavioral decision research: expectation bias, overconfidence, and domain-expert bias are classic JDM variables.</a:t>
            </a:r>
            <a:endParaRPr sz="1315">
              <a:solidFill>
                <a:srgbClr val="22313F"/>
              </a:solidFill>
              <a:latin typeface="Aptos"/>
              <a:ea typeface="Aptos"/>
              <a:cs typeface="Aptos"/>
            </a:endParaRPr>
          </a:p>
          <a:p>
            <a:pPr marL="0" indent="0">
              <a:buNone/>
            </a:pPr>
          </a:p>
          <a:p>
            <a:pPr marL="0" indent="0">
              <a:buNone/>
              <a:defRPr sz="1315">
                <a:solidFill>
                  <a:srgbClr val="22313F"/>
                </a:solidFill>
                <a:latin typeface="Aptos"/>
                <a:ea typeface="Aptos"/>
                <a:cs typeface="Aptos"/>
              </a:defRPr>
            </a:pPr>
            <a:r>
              <a:rPr sz="1315">
                <a:solidFill>
                  <a:srgbClr val="22313F"/>
                </a:solidFill>
                <a:latin typeface="Aptos"/>
                <a:ea typeface="Aptos"/>
                <a:cs typeface="Aptos"/>
              </a:rPr>
              <a:t>Decision autonomy / decisional agency</a:t>
            </a:r>
            <a:endParaRPr sz="1315">
              <a:solidFill>
                <a:srgbClr val="22313F"/>
              </a:solidFill>
              <a:latin typeface="Aptos"/>
              <a:ea typeface="Aptos"/>
              <a:cs typeface="Aptos"/>
            </a:endParaRPr>
          </a:p>
          <a:p>
            <a:pPr marL="0" indent="0">
              <a:buNone/>
              <a:defRPr sz="1315">
                <a:solidFill>
                  <a:srgbClr val="22313F"/>
                </a:solidFill>
                <a:latin typeface="Aptos"/>
                <a:ea typeface="Aptos"/>
                <a:cs typeface="Aptos"/>
              </a:defRPr>
            </a:pPr>
            <a:r>
              <a:rPr sz="1315">
                <a:solidFill>
                  <a:srgbClr val="22313F"/>
                </a:solidFill>
                <a:latin typeface="Aptos"/>
                <a:ea typeface="Aptos"/>
                <a:cs typeface="Aptos"/>
              </a:rPr>
              <a:t>A core decision-psychology concept linked to locus of control and the psychological need to retain control over decisions.</a:t>
            </a:r>
            <a:endParaRPr sz="1315">
              <a:solidFill>
                <a:srgbClr val="22313F"/>
              </a:solidFill>
              <a:latin typeface="Aptos"/>
              <a:ea typeface="Aptos"/>
              <a:cs typeface="Aptos"/>
            </a:endParaRPr>
          </a:p>
        </p:txBody>
      </p:sp>
      <p:sp>
        <p:nvSpPr>
          <p:cNvPr id="6" name="jdm-terminology-right-column"/>
          <p:cNvSpPr>
            <a:spLocks noGrp="1"/>
          </p:cNvSpPr>
          <p:nvPr/>
        </p:nvSpPr>
        <p:spPr>
          <a:xfrm>
            <a:off x="7905750" y="1200150"/>
            <a:ext cx="3600450" cy="5191125"/>
          </a:xfrm>
          <a:prstGeom prst="rect">
            <a:avLst/>
          </a:prstGeom>
          <a:noFill/>
          <a:ln w="0">
            <a:noFill/>
            <a:prstDash val="solid"/>
          </a:ln>
        </p:spPr>
        <p:txBody>
          <a:bodyPr lIns="0" tIns="0" rIns="0" bIns="0" anchor="t">
            <a:normAutofit/>
          </a:bodyPr>
          <a:lstStyle/>
          <a:p>
            <a:pPr marL="0" indent="0">
              <a:buNone/>
              <a:defRPr sz="1350">
                <a:solidFill>
                  <a:srgbClr val="22313F"/>
                </a:solidFill>
                <a:latin typeface="Aptos"/>
                <a:ea typeface="Aptos"/>
                <a:cs typeface="Aptos"/>
              </a:defRPr>
            </a:pPr>
            <a:r>
              <a:rPr sz="1350">
                <a:solidFill>
                  <a:srgbClr val="22313F"/>
                </a:solidFill>
                <a:latin typeface="Aptos"/>
                <a:ea typeface="Aptos"/>
                <a:cs typeface="Aptos"/>
              </a:rPr>
              <a:t>Incentivization</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A classic behavioral-decision and behavioral-economics variable distinguishing material incentives from social-reputation incentives.</a:t>
            </a:r>
            <a:endParaRPr sz="1350">
              <a:solidFill>
                <a:srgbClr val="22313F"/>
              </a:solidFill>
              <a:latin typeface="Aptos"/>
              <a:ea typeface="Aptos"/>
              <a:cs typeface="Aptos"/>
            </a:endParaRPr>
          </a:p>
          <a:p>
            <a:pPr marL="0" indent="0">
              <a:buNone/>
            </a:p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Cognitive compatibility</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A cognitive-psychology and information-processing term comparing intuitive human processing with algorithmic logic.</a:t>
            </a:r>
            <a:endParaRPr sz="1350">
              <a:solidFill>
                <a:srgbClr val="22313F"/>
              </a:solidFill>
              <a:latin typeface="Aptos"/>
              <a:ea typeface="Aptos"/>
              <a:cs typeface="Aptos"/>
            </a:endParaRPr>
          </a:p>
          <a:p>
            <a:pPr marL="0" indent="0">
              <a:buNone/>
            </a:p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Divergent rationalities</a:t>
            </a:r>
            <a:endParaRPr sz="1350">
              <a:solidFill>
                <a:srgbClr val="22313F"/>
              </a:solidFill>
              <a:latin typeface="Aptos"/>
              <a:ea typeface="Aptos"/>
              <a:cs typeface="Aptos"/>
            </a:endParaRPr>
          </a:p>
          <a:p>
            <a:pPr marL="0" indent="0">
              <a:buNone/>
              <a:defRPr sz="1350">
                <a:solidFill>
                  <a:srgbClr val="22313F"/>
                </a:solidFill>
                <a:latin typeface="Aptos"/>
                <a:ea typeface="Aptos"/>
                <a:cs typeface="Aptos"/>
              </a:defRPr>
            </a:pPr>
            <a:r>
              <a:rPr sz="1350">
                <a:solidFill>
                  <a:srgbClr val="22313F"/>
                </a:solidFill>
                <a:latin typeface="Aptos"/>
                <a:ea typeface="Aptos"/>
                <a:cs typeface="Aptos"/>
              </a:rPr>
              <a:t>A term derived from the contrast between the heuristics-and-biases paradigm and fast-and-frugal ecological rationality, asking what counts as rational decision making.</a:t>
            </a:r>
            <a:endParaRPr sz="1350">
              <a:solidFill>
                <a:srgbClr val="22313F"/>
              </a:solidFill>
              <a:latin typeface="Aptos"/>
              <a:ea typeface="Aptos"/>
              <a:cs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6191250" cy="838200"/>
          </a:xfrm>
        </p:spPr>
        <p:txBody>
          <a:bodyPr lIns="0" tIns="0" rIns="0" bIns="0" anchor="t">
            <a:normAutofit/>
          </a:bodyPr>
          <a:lstStyle/>
          <a:p>
            <a:pPr>
              <a:defRPr sz="2550" b="1">
                <a:solidFill>
                  <a:srgbClr val="102A43"/>
                </a:solidFill>
                <a:latin typeface="Aptos Display"/>
                <a:ea typeface="Aptos Display"/>
                <a:cs typeface="Aptos Display"/>
              </a:defRPr>
            </a:pPr>
            <a:r>
              <a:rPr sz="2550" b="1">
                <a:solidFill>
                  <a:srgbClr val="102A43"/>
                </a:solidFill>
                <a:latin typeface="Aptos Display"/>
                <a:ea typeface="Aptos Display"/>
                <a:cs typeface="Aptos Display"/>
              </a:rPr>
              <a:t>AI Trust Is Highly Interdisciplinary</a:t>
            </a:r>
            <a:endParaRPr sz="2550" b="1">
              <a:solidFill>
                <a:srgbClr val="102A43"/>
              </a:solidFill>
              <a:latin typeface="Aptos Display"/>
              <a:ea typeface="Aptos Display"/>
              <a:cs typeface="Aptos Display"/>
            </a:endParaRPr>
          </a:p>
        </p:txBody>
      </p:sp>
      <p:pic>
        <p:nvPicPr>
          <p:cNvPr id="8" name="内容占位符 3"/>
          <p:cNvPicPr>
            <a:picLocks noChangeAspect="1"/>
          </p:cNvPicPr>
          <p:nvPr>
            <p:ph idx="1"/>
          </p:nvPr>
        </p:nvPicPr>
        <p:blipFill>
          <a:blip r:embed="rId1"/>
          <a:stretch>
            <a:fillRect/>
          </a:stretch>
        </p:blipFill>
        <p:spPr>
          <a:xfrm>
            <a:off x="7402830" y="147320"/>
            <a:ext cx="4029075" cy="6563360"/>
          </a:xfrm>
          <a:prstGeom prst="rect">
            <a:avLst/>
          </a:prstGeom>
        </p:spPr>
      </p:pic>
      <p:sp>
        <p:nvSpPr>
          <p:cNvPr id="5" name="文本框 4"/>
          <p:cNvSpPr>
            <a:spLocks noGrp="1"/>
          </p:cNvSpPr>
          <p:nvPr/>
        </p:nvSpPr>
        <p:spPr>
          <a:xfrm>
            <a:off x="609600" y="1504950"/>
            <a:ext cx="6000750" cy="3714750"/>
          </a:xfrm>
          <a:prstGeom prst="rect">
            <a:avLst/>
          </a:prstGeom>
          <a:noFill/>
          <a:ln w="0">
            <a:noFill/>
            <a:prstDash val="solid"/>
          </a:ln>
        </p:spPr>
        <p:txBody>
          <a:bodyPr lIns="0" tIns="0" rIns="0" bIns="0" anchor="t">
            <a:normAutofit/>
          </a:bodyPr>
          <a:lstStyle/>
          <a:p>
            <a:pPr marL="0" indent="0">
              <a:buNone/>
              <a:defRPr sz="1650">
                <a:solidFill>
                  <a:srgbClr val="22313F"/>
                </a:solidFill>
                <a:latin typeface="Aptos"/>
                <a:ea typeface="Aptos"/>
                <a:cs typeface="Aptos"/>
              </a:defRPr>
            </a:pPr>
            <a:r>
              <a:rPr sz="1650">
                <a:solidFill>
                  <a:srgbClr val="22313F"/>
                </a:solidFill>
                <a:latin typeface="Aptos"/>
                <a:ea typeface="Aptos"/>
                <a:cs typeface="Aptos"/>
              </a:rPr>
              <a:t>Research on trust in AI is highly interdisciplinary, involving psychology, philosophy, computer science, and other fields. Its theoretical foundations are correspondingly complex.</a:t>
            </a:r>
            <a:endParaRPr sz="1650">
              <a:solidFill>
                <a:srgbClr val="22313F"/>
              </a:solidFill>
              <a:latin typeface="Aptos"/>
              <a:ea typeface="Aptos"/>
              <a:cs typeface="Aptos"/>
            </a:endParaRPr>
          </a:p>
          <a:p>
            <a:pPr marL="0" indent="0">
              <a:buNone/>
            </a:pPr>
          </a:p>
          <a:p>
            <a:pPr marL="0" indent="0">
              <a:buNone/>
              <a:defRPr sz="1650">
                <a:solidFill>
                  <a:srgbClr val="22313F"/>
                </a:solidFill>
                <a:latin typeface="Aptos"/>
                <a:ea typeface="Aptos"/>
                <a:cs typeface="Aptos"/>
              </a:defRPr>
            </a:pPr>
            <a:r>
              <a:rPr sz="1650">
                <a:solidFill>
                  <a:srgbClr val="22313F"/>
                </a:solidFill>
                <a:latin typeface="Aptos"/>
                <a:ea typeface="Aptos"/>
                <a:cs typeface="Aptos"/>
              </a:rPr>
              <a:t>The literature covers general trust in artificial intelligence, human resistance to AI, AI in moral decision making, AI in managerial decisions, and trust in autonomous driving.</a:t>
            </a:r>
            <a:endParaRPr sz="1650">
              <a:solidFill>
                <a:srgbClr val="22313F"/>
              </a:solidFill>
              <a:latin typeface="Aptos"/>
              <a:ea typeface="Aptos"/>
              <a:cs typeface="Apto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Defining Trust</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The classic three-factor model of interpersonal trust proposes that trust and trustworthiness derive not only from perceived ability, but also from integrity and benevolence.</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Trust in AI likewise has two dimensions: performance/capability (can it complete the task?) and morality (is the system directed toward good, and are its processes and purposes legitimate?). Research has not consistently separated performance trust from moral trust, and many studies conflate them. People care about both AI performance and its design intent, operating logic, benevolence, and fairness. An AI system can be highly capable but deceptive, stable but unethical, or morally aligned but inaccurate.</a:t>
            </a:r>
            <a:endParaRPr sz="1575">
              <a:solidFill>
                <a:srgbClr val="22313F"/>
              </a:solidFill>
              <a:latin typeface="Aptos"/>
              <a:ea typeface="Aptos"/>
              <a:cs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Algorithm Appreciation and Algorithm Aversion</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200150"/>
            <a:ext cx="10820400" cy="1162050"/>
          </a:xfrm>
        </p:spPr>
        <p:txBody>
          <a:bodyPr lIns="0" tIns="0" rIns="0" bIns="0" anchor="t">
            <a:normAutofit fontScale="95486" lnSpcReduction="10000"/>
          </a:bodyPr>
          <a:lstStyle/>
          <a:p>
            <a:pPr marL="0" indent="0">
              <a:buNone/>
              <a:defRPr sz="1500">
                <a:solidFill>
                  <a:srgbClr val="22313F"/>
                </a:solidFill>
                <a:latin typeface="Aptos"/>
                <a:ea typeface="Aptos"/>
                <a:cs typeface="Aptos"/>
              </a:defRPr>
            </a:pPr>
            <a:r>
              <a:rPr sz="1500">
                <a:solidFill>
                  <a:srgbClr val="22313F"/>
                </a:solidFill>
                <a:latin typeface="Aptos"/>
                <a:ea typeface="Aptos"/>
                <a:cs typeface="Aptos"/>
              </a:rPr>
              <a:t>At present, these theories remain largely descriptive accounts of phenomena and objectively have limitations.</a:t>
            </a:r>
            <a:endParaRPr sz="1500">
              <a:solidFill>
                <a:srgbClr val="22313F"/>
              </a:solidFill>
              <a:latin typeface="Aptos"/>
              <a:ea typeface="Aptos"/>
              <a:cs typeface="Aptos"/>
            </a:endParaRPr>
          </a:p>
          <a:p>
            <a:pPr marL="0" indent="0">
              <a:buNone/>
            </a:p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Placing both preference for and aversion to AI within one theoretical framework nevertheless has practical relevance and theoretical value.</a:t>
            </a:r>
            <a:endParaRPr sz="1500">
              <a:solidFill>
                <a:srgbClr val="22313F"/>
              </a:solidFill>
              <a:latin typeface="Aptos"/>
              <a:ea typeface="Aptos"/>
              <a:cs typeface="Aptos"/>
            </a:endParaRPr>
          </a:p>
        </p:txBody>
      </p:sp>
      <p:sp>
        <p:nvSpPr>
          <p:cNvPr id="4" name="文本框 3"/>
          <p:cNvSpPr>
            <a:spLocks noGrp="1"/>
          </p:cNvSpPr>
          <p:nvPr/>
        </p:nvSpPr>
        <p:spPr>
          <a:xfrm>
            <a:off x="685800" y="2647950"/>
            <a:ext cx="5048250" cy="3381375"/>
          </a:xfrm>
          <a:prstGeom prst="rect">
            <a:avLst/>
          </a:prstGeom>
          <a:noFill/>
          <a:ln w="0">
            <a:noFill/>
            <a:prstDash val="solid"/>
          </a:ln>
        </p:spPr>
        <p:txBody>
          <a:bodyPr lIns="0" tIns="0" rIns="0" bIns="0" anchor="t">
            <a:normAutofit/>
          </a:bodyPr>
          <a:lstStyle/>
          <a:p>
            <a:pPr marL="0" indent="0">
              <a:buNone/>
              <a:defRPr sz="1500">
                <a:solidFill>
                  <a:srgbClr val="22313F"/>
                </a:solidFill>
                <a:latin typeface="Aptos"/>
                <a:ea typeface="Aptos"/>
                <a:cs typeface="Aptos"/>
              </a:defRPr>
            </a:pPr>
            <a:r>
              <a:rPr sz="1500">
                <a:solidFill>
                  <a:srgbClr val="22313F"/>
                </a:solidFill>
                <a:latin typeface="Aptos"/>
                <a:ea typeface="Aptos"/>
                <a:cs typeface="Aptos"/>
              </a:rPr>
              <a:t>2. A few early errors determine whether an entire system continues to use AI</a:t>
            </a:r>
            <a:endParaRPr sz="1500">
              <a:solidFill>
                <a:srgbClr val="22313F"/>
              </a:solidFill>
              <a:latin typeface="Aptos"/>
              <a:ea typeface="Aptos"/>
              <a:cs typeface="Aptos"/>
            </a:endParaRPr>
          </a:p>
          <a:p>
            <a:pPr marL="0" indent="0">
              <a:buNone/>
            </a:p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Real-world AI applications often begin as pilots:</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an organization deploys on a small scale;</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users observe early performance;</a:t>
            </a:r>
            <a:endParaRPr sz="1500">
              <a:solidFill>
                <a:srgbClr val="22313F"/>
              </a:solidFill>
              <a:latin typeface="Aptos"/>
              <a:ea typeface="Aptos"/>
              <a:cs typeface="Aptos"/>
            </a:endParaR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 the organization decides whether to expand, restrict, or terminate use.</a:t>
            </a:r>
            <a:endParaRPr sz="1500">
              <a:solidFill>
                <a:srgbClr val="22313F"/>
              </a:solidFill>
              <a:latin typeface="Aptos"/>
              <a:ea typeface="Aptos"/>
              <a:cs typeface="Aptos"/>
            </a:endParaRPr>
          </a:p>
          <a:p>
            <a:pPr marL="0" indent="0">
              <a:buNone/>
            </a:p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This directly affects monitoring, correction, and exit mechanisms for the AI system.</a:t>
            </a:r>
            <a:endParaRPr sz="1500">
              <a:solidFill>
                <a:srgbClr val="22313F"/>
              </a:solidFill>
              <a:latin typeface="Aptos"/>
              <a:ea typeface="Aptos"/>
              <a:cs typeface="Aptos"/>
            </a:endParaRPr>
          </a:p>
        </p:txBody>
      </p:sp>
      <p:sp>
        <p:nvSpPr>
          <p:cNvPr id="5" name="文本框 4"/>
          <p:cNvSpPr>
            <a:spLocks noGrp="1"/>
          </p:cNvSpPr>
          <p:nvPr/>
        </p:nvSpPr>
        <p:spPr>
          <a:xfrm>
            <a:off x="6191250" y="2647950"/>
            <a:ext cx="5314950" cy="3381375"/>
          </a:xfrm>
          <a:prstGeom prst="rect">
            <a:avLst/>
          </a:prstGeom>
          <a:noFill/>
          <a:ln w="0">
            <a:noFill/>
            <a:prstDash val="solid"/>
          </a:ln>
        </p:spPr>
        <p:txBody>
          <a:bodyPr lIns="0" tIns="0" rIns="0" bIns="0" anchor="t">
            <a:normAutofit/>
          </a:bodyPr>
          <a:lstStyle/>
          <a:p>
            <a:pPr marL="0" indent="0">
              <a:buNone/>
              <a:defRPr sz="1500">
                <a:solidFill>
                  <a:srgbClr val="22313F"/>
                </a:solidFill>
                <a:latin typeface="Aptos"/>
                <a:ea typeface="Aptos"/>
                <a:cs typeface="Aptos"/>
              </a:defRPr>
            </a:pPr>
            <a:r>
              <a:rPr sz="1500">
                <a:solidFill>
                  <a:srgbClr val="22313F"/>
                </a:solidFill>
                <a:latin typeface="Aptos"/>
                <a:ea typeface="Aptos"/>
                <a:cs typeface="Aptos"/>
              </a:rPr>
              <a:t>Why does this topic matter in objective terms?</a:t>
            </a:r>
            <a:endParaRPr sz="1500">
              <a:solidFill>
                <a:srgbClr val="22313F"/>
              </a:solidFill>
              <a:latin typeface="Aptos"/>
              <a:ea typeface="Aptos"/>
              <a:cs typeface="Aptos"/>
            </a:endParaRPr>
          </a:p>
          <a:p>
            <a:pPr marL="0" indent="0">
              <a:buNone/>
            </a:pPr>
          </a:p>
          <a:p>
            <a:pPr marL="0" indent="0">
              <a:buNone/>
              <a:defRPr sz="1500">
                <a:solidFill>
                  <a:srgbClr val="22313F"/>
                </a:solidFill>
                <a:latin typeface="Aptos"/>
                <a:ea typeface="Aptos"/>
                <a:cs typeface="Aptos"/>
              </a:defRPr>
            </a:pPr>
            <a:r>
              <a:rPr sz="1500">
                <a:solidFill>
                  <a:srgbClr val="22313F"/>
                </a:solidFill>
                <a:latin typeface="Aptos"/>
                <a:ea typeface="Aptos"/>
                <a:cs typeface="Aptos"/>
              </a:rPr>
              <a:t>In the past, evaluating an algorithm was relatively simple: accuracy could represent everything. AI, however, crosses the boundary between algorithms and humans. It already displays part of human intelligence while remaining nonhuman. Its monitoring, correction, and exit mechanisms therefore need a scientific basis.</a:t>
            </a:r>
            <a:endParaRPr sz="1500">
              <a:solidFill>
                <a:srgbClr val="22313F"/>
              </a:solidFill>
              <a:latin typeface="Aptos"/>
              <a:ea typeface="Aptos"/>
              <a:cs typeface="Apto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pic>
        <p:nvPicPr>
          <p:cNvPr id="10" name="内容占位符 6"/>
          <p:cNvPicPr>
            <a:picLocks noChangeAspect="1"/>
          </p:cNvPicPr>
          <p:nvPr>
            <p:ph idx="1"/>
          </p:nvPr>
        </p:nvPicPr>
        <p:blipFill>
          <a:blip r:embed="rId1"/>
          <a:stretch>
            <a:fillRect/>
          </a:stretch>
        </p:blipFill>
        <p:spPr>
          <a:xfrm>
            <a:off x="1363980" y="1490345"/>
            <a:ext cx="9457055" cy="4759325"/>
          </a:xfrm>
          <a:prstGeom prst="rect">
            <a:avLst/>
          </a:prstGeom>
        </p:spPr>
      </p:pic>
      <p:sp>
        <p:nvSpPr>
          <p:cNvPr id="8" name="标题 1"/>
          <p:cNvSpPr>
            <a:spLocks noGrp="1"/>
          </p:cNvSpPr>
          <p:nvPr/>
        </p:nvSpPr>
        <p:spPr>
          <a:xfrm>
            <a:off x="609600" y="400050"/>
            <a:ext cx="10972800" cy="742950"/>
          </a:xfrm>
          <a:prstGeom prst="rect">
            <a:avLst/>
          </a:prstGeom>
          <a:noFill/>
          <a:ln w="0">
            <a:noFill/>
            <a:prstDash val="solid"/>
          </a:ln>
        </p:spPr>
        <p:txBody>
          <a:bodyPr vert="horz" lIns="0" tIns="0" rIns="0" bIns="0" anchor="t">
            <a:normAutofit/>
          </a:bodyPr>
          <a:lstStyle>
            <a:lvl1pPr algn="l" defTabSz="914400">
              <a:lnSpc>
                <a:spcPct val="100000"/>
              </a:lnSpc>
              <a:spcBef>
                <a:spcPct val="0"/>
              </a:spcBef>
              <a:buNone/>
              <a:defRPr sz="3600" b="0" u="none" kern="1200" cap="none" spc="300" baseline="0">
                <a:solidFill>
                  <a:schemeClr val="tx1">
                    <a:lumMod val="85000"/>
                    <a:lumOff val="15000"/>
                  </a:schemeClr>
                </a:solidFill>
                <a:latin typeface="+mj-lt"/>
                <a:ea typeface="+mj-lt"/>
                <a:cs typeface="+mj-lt"/>
              </a:defRPr>
            </a:lvl1p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The Complex Nature of Trust in AI</a:t>
            </a:r>
            <a:endParaRPr sz="2700" b="1">
              <a:solidFill>
                <a:srgbClr val="102A43"/>
              </a:solidFill>
              <a:latin typeface="Aptos Display"/>
              <a:ea typeface="Aptos Display"/>
              <a:cs typeface="Aptos Display"/>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Research Gaps</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390">
                <a:solidFill>
                  <a:srgbClr val="22313F"/>
                </a:solidFill>
                <a:latin typeface="Aptos"/>
                <a:ea typeface="Aptos"/>
                <a:cs typeface="Aptos"/>
              </a:defRPr>
            </a:pPr>
            <a:r>
              <a:rPr sz="1390">
                <a:solidFill>
                  <a:srgbClr val="22313F"/>
                </a:solidFill>
                <a:latin typeface="Aptos"/>
                <a:ea typeface="Aptos"/>
                <a:cs typeface="Aptos"/>
              </a:rPr>
              <a:t>• AI-governance research analyzes institutions but rarely measures individuals’ actual reliance.</a:t>
            </a:r>
            <a:endParaRPr sz="1390">
              <a:solidFill>
                <a:srgbClr val="22313F"/>
              </a:solidFill>
              <a:latin typeface="Aptos"/>
              <a:ea typeface="Aptos"/>
              <a:cs typeface="Aptos"/>
            </a:endParaRPr>
          </a:p>
          <a:p>
            <a:pPr marL="0" indent="0">
              <a:buNone/>
            </a:pPr>
          </a:p>
          <a:p>
            <a:pPr marL="0" indent="0">
              <a:buNone/>
              <a:defRPr sz="1390">
                <a:solidFill>
                  <a:srgbClr val="22313F"/>
                </a:solidFill>
                <a:latin typeface="Aptos"/>
                <a:ea typeface="Aptos"/>
                <a:cs typeface="Aptos"/>
              </a:defRPr>
            </a:pPr>
            <a:r>
              <a:rPr sz="1390">
                <a:solidFill>
                  <a:srgbClr val="22313F"/>
                </a:solidFill>
                <a:latin typeface="Aptos"/>
                <a:ea typeface="Aptos"/>
                <a:cs typeface="Aptos"/>
              </a:rPr>
              <a:t>• AI-trust research measures individual reliance, but often treats interface prompts, explanations, or labels as “governance,” without a real institutional basis.</a:t>
            </a:r>
            <a:endParaRPr sz="1390">
              <a:solidFill>
                <a:srgbClr val="22313F"/>
              </a:solidFill>
              <a:latin typeface="Aptos"/>
              <a:ea typeface="Aptos"/>
              <a:cs typeface="Aptos"/>
            </a:endParaRPr>
          </a:p>
          <a:p>
            <a:pPr marL="0" indent="0">
              <a:buNone/>
            </a:pPr>
          </a:p>
          <a:p>
            <a:pPr marL="0" indent="0">
              <a:buNone/>
              <a:defRPr sz="1390">
                <a:solidFill>
                  <a:srgbClr val="22313F"/>
                </a:solidFill>
                <a:latin typeface="Aptos"/>
                <a:ea typeface="Aptos"/>
                <a:cs typeface="Aptos"/>
              </a:defRPr>
            </a:pPr>
            <a:r>
              <a:rPr sz="1390">
                <a:solidFill>
                  <a:srgbClr val="22313F"/>
                </a:solidFill>
                <a:latin typeface="Aptos"/>
                <a:ea typeface="Aptos"/>
                <a:cs typeface="Aptos"/>
              </a:rPr>
              <a:t>• Research is scarce on person–context fit as a moderator of AI-system features. The effect of the same AI feature—explainability, anthropomorphism, or high accuracy—depends on whether users perceive the AI as fitting themselves and the task, yet this moderation is rarely examined directly.</a:t>
            </a:r>
            <a:endParaRPr sz="1390">
              <a:solidFill>
                <a:srgbClr val="22313F"/>
              </a:solidFill>
              <a:latin typeface="Aptos"/>
              <a:ea typeface="Aptos"/>
              <a:cs typeface="Aptos"/>
            </a:endParaRPr>
          </a:p>
          <a:p>
            <a:pPr marL="0" indent="0">
              <a:buNone/>
            </a:pPr>
          </a:p>
          <a:p>
            <a:pPr marL="0" indent="0">
              <a:buNone/>
              <a:defRPr sz="1390">
                <a:solidFill>
                  <a:srgbClr val="22313F"/>
                </a:solidFill>
                <a:latin typeface="Aptos"/>
                <a:ea typeface="Aptos"/>
                <a:cs typeface="Aptos"/>
              </a:defRPr>
            </a:pPr>
            <a:r>
              <a:rPr sz="1390">
                <a:solidFill>
                  <a:srgbClr val="22313F"/>
                </a:solidFill>
                <a:latin typeface="Aptos"/>
                <a:ea typeface="Aptos"/>
                <a:cs typeface="Aptos"/>
              </a:rPr>
              <a:t>• Much of the literature is cross-sectional and static rather than longitudinal. AI changes rapidly, so findings about conventional automation and early algorithms may lack temporal validity for current large models. Almost no work tracks how public trust changes over time with technological diffusion and social events.</a:t>
            </a:r>
            <a:endParaRPr sz="1390">
              <a:solidFill>
                <a:srgbClr val="22313F"/>
              </a:solidFill>
              <a:latin typeface="Aptos"/>
              <a:ea typeface="Aptos"/>
              <a:cs typeface="Apto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990600"/>
          </a:xfrm>
        </p:spPr>
        <p:txBody>
          <a:bodyPr lIns="0" tIns="0" rIns="0" bIns="0" anchor="t">
            <a:normAutofit/>
          </a:bodyPr>
          <a:lstStyle/>
          <a:p>
            <a:pPr>
              <a:defRPr sz="2250" b="1">
                <a:solidFill>
                  <a:srgbClr val="102A43"/>
                </a:solidFill>
                <a:latin typeface="Aptos Display"/>
                <a:ea typeface="Aptos Display"/>
                <a:cs typeface="Aptos Display"/>
              </a:defRPr>
            </a:pPr>
            <a:r>
              <a:rPr sz="2250" b="1">
                <a:solidFill>
                  <a:srgbClr val="102A43"/>
                </a:solidFill>
                <a:latin typeface="Aptos Display"/>
                <a:ea typeface="Aptos Display"/>
                <a:cs typeface="Aptos Display"/>
              </a:rPr>
              <a:t>The Goal of Trust Governance Is Not More Trust, but Reliance That Matches the System’s Real Capability</a:t>
            </a:r>
            <a:endParaRPr sz="225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52550"/>
            <a:ext cx="10820400" cy="1619250"/>
          </a:xfrm>
        </p:spPr>
        <p:txBody>
          <a:bodyPr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Governance objective: align actual reliance with the system’s real capability.</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Mechanism objective: examine the relationships among actual trustworthiness, perceived trustworthiness, trust attitude, and reliance behavior—and identify which link is easiest to change so that final reliance moves toward actual trustworthiness.</a:t>
            </a:r>
            <a:endParaRPr sz="1575">
              <a:solidFill>
                <a:srgbClr val="22313F"/>
              </a:solidFill>
              <a:latin typeface="Aptos"/>
              <a:ea typeface="Aptos"/>
              <a:cs typeface="Aptos"/>
            </a:endParaRPr>
          </a:p>
        </p:txBody>
      </p:sp>
      <p:sp>
        <p:nvSpPr>
          <p:cNvPr id="4" name="文本框 3"/>
          <p:cNvSpPr>
            <a:spLocks noGrp="1"/>
          </p:cNvSpPr>
          <p:nvPr/>
        </p:nvSpPr>
        <p:spPr>
          <a:xfrm>
            <a:off x="800100" y="3952875"/>
            <a:ext cx="10096500" cy="857250"/>
          </a:xfrm>
          <a:prstGeom prst="rect">
            <a:avLst/>
          </a:prstGeom>
          <a:noFill/>
          <a:ln w="0">
            <a:noFill/>
            <a:prstDash val="solid"/>
          </a:ln>
        </p:spPr>
        <p:txBody>
          <a:bodyPr lIns="0" tIns="0" rIns="0" bIns="0" anchor="t">
            <a:normAutofit/>
          </a:bodyPr>
          <a:lstStyle/>
          <a:p>
            <a:pPr marL="0" indent="0">
              <a:buNone/>
              <a:defRPr sz="1800" b="1">
                <a:solidFill>
                  <a:srgbClr val="102A43"/>
                </a:solidFill>
                <a:latin typeface="Aptos"/>
                <a:ea typeface="Aptos"/>
                <a:cs typeface="Aptos"/>
              </a:defRPr>
            </a:pPr>
            <a:r>
              <a:rPr sz="1800" b="1">
                <a:solidFill>
                  <a:srgbClr val="102A43"/>
                </a:solidFill>
                <a:latin typeface="Aptos"/>
                <a:ea typeface="Aptos"/>
                <a:cs typeface="Aptos"/>
              </a:rPr>
              <a:t>ACTUAL TRUSTWORTHINESS  →  PERCEIVED TRUSTWORTHINESS  →  TRUST ATTITUDE  →  ACTUAL RELIANCE</a:t>
            </a:r>
            <a:endParaRPr sz="1800" b="1">
              <a:solidFill>
                <a:srgbClr val="102A43"/>
              </a:solidFill>
              <a:latin typeface="Aptos"/>
              <a:ea typeface="Aptos"/>
              <a:cs typeface="Aptos"/>
            </a:endParaRPr>
          </a:p>
        </p:txBody>
      </p:sp>
      <p:sp>
        <p:nvSpPr>
          <p:cNvPr id="5" name="文本框 4"/>
          <p:cNvSpPr>
            <a:spLocks noGrp="1"/>
          </p:cNvSpPr>
          <p:nvPr/>
        </p:nvSpPr>
        <p:spPr>
          <a:xfrm>
            <a:off x="800100" y="3409950"/>
            <a:ext cx="4762500" cy="381000"/>
          </a:xfrm>
          <a:prstGeom prst="rect">
            <a:avLst/>
          </a:prstGeom>
          <a:noFill/>
          <a:ln w="0">
            <a:noFill/>
            <a:prstDash val="solid"/>
          </a:ln>
        </p:spPr>
        <p:txBody>
          <a:bodyPr lIns="0" tIns="0" rIns="0" bIns="0" anchor="t">
            <a:normAutofit/>
          </a:bodyPr>
          <a:lstStyle/>
          <a:p>
            <a:pPr marL="0" indent="0">
              <a:buNone/>
              <a:defRPr sz="1650" b="1">
                <a:solidFill>
                  <a:srgbClr val="187E7A"/>
                </a:solidFill>
                <a:latin typeface="Aptos"/>
                <a:ea typeface="Aptos"/>
                <a:cs typeface="Aptos"/>
              </a:defRPr>
            </a:pPr>
            <a:r>
              <a:rPr sz="1650" b="1">
                <a:solidFill>
                  <a:srgbClr val="187E7A"/>
                </a:solidFill>
                <a:latin typeface="Aptos"/>
                <a:ea typeface="Aptos"/>
                <a:cs typeface="Aptos"/>
              </a:rPr>
              <a:t>Meaning of trust calibration</a:t>
            </a:r>
            <a:endParaRPr sz="1650" b="1">
              <a:solidFill>
                <a:srgbClr val="187E7A"/>
              </a:solidFill>
              <a:latin typeface="Aptos"/>
              <a:ea typeface="Aptos"/>
              <a:cs typeface="Apto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Trust Calibration Bias</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Perceptual calibration bias = subjectively judged AI reliability − actual reliability</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Behavioral calibration bias = actual degree of reliance − the degree of reliance warranted by relative capability</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Algorithm aversion and algorithm appreciation are therefore no longer isolated phenomena:</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 underestimating AI capability is a negative perceptual bias;</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 knowing AI is better but not adopting it is under-reliance;</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 knowing AI is unreliable but continuing to use it is over-reliance.</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Regulators should test different intervention combinations for different conditions so that user reliance approaches a reasonable level.</a:t>
            </a:r>
            <a:endParaRPr sz="1575">
              <a:solidFill>
                <a:srgbClr val="22313F"/>
              </a:solidFill>
              <a:latin typeface="Aptos"/>
              <a:ea typeface="Aptos"/>
              <a:cs typeface="Apto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Practical Relevance</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For example, when will people think AI should be introduced into a particular stage?</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In the past, this was simple: once an algorithm’s accuracy was high enough, including it in the decision process seemed natural. AI is different.</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AI enters more complex human settings—not only settings where accuracy is measurable, but also consultation, emotional decisions, and others.</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The framework must therefore expand and first clarify questions that past theories could not resolve:</a:t>
            </a:r>
            <a:endParaRPr sz="1575">
              <a:solidFill>
                <a:srgbClr val="22313F"/>
              </a:solidFill>
              <a:latin typeface="Aptos"/>
              <a:ea typeface="Aptos"/>
              <a:cs typeface="Aptos"/>
            </a:endParaR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How should traditional algorithms, AI, and humans be distinguished? How are these actors perceived differently?</a:t>
            </a:r>
            <a:endParaRPr sz="1575">
              <a:solidFill>
                <a:srgbClr val="22313F"/>
              </a:solidFill>
              <a:latin typeface="Aptos"/>
              <a:ea typeface="Aptos"/>
              <a:cs typeface="Apto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p:sp>
        <p:nvSpPr>
          <p:cNvPr id="2" name="标题 1"/>
          <p:cNvSpPr>
            <a:spLocks noGrp="1"/>
          </p:cNvSpPr>
          <p:nvPr>
            <p:ph type="title"/>
          </p:nvPr>
        </p:nvSpPr>
        <p:spPr>
          <a:xfrm>
            <a:off x="781050" y="2076450"/>
            <a:ext cx="10572750" cy="2714625"/>
          </a:xfrm>
        </p:spPr>
        <p:txBody>
          <a:bodyPr lIns="0" tIns="0" rIns="0" bIns="0" anchor="t">
            <a:normAutofit/>
          </a:bodyPr>
          <a:lstStyle/>
          <a:p>
            <a:pPr>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CHAPTER 3</a:t>
            </a:r>
            <a:endParaRPr sz="3600" b="1">
              <a:solidFill>
                <a:srgbClr val="FFFFFF"/>
              </a:solidFill>
              <a:latin typeface="Aptos Display"/>
              <a:ea typeface="Aptos Display"/>
              <a:cs typeface="Aptos Display"/>
            </a:endParaRPr>
          </a:p>
          <a:p>
            <a:pPr>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Responsibility Attribution</a:t>
            </a:r>
            <a:endParaRPr sz="3600" b="1">
              <a:solidFill>
                <a:srgbClr val="FFFFFF"/>
              </a:solidFill>
              <a:latin typeface="Aptos Display"/>
              <a:ea typeface="Aptos Display"/>
              <a:cs typeface="Aptos Display"/>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400050"/>
            <a:ext cx="10972800" cy="742950"/>
          </a:xfrm>
        </p:spPr>
        <p:txBody>
          <a:bodyPr lIns="0" tIns="0" rIns="0" bIns="0" anchor="t">
            <a:normAutofit/>
          </a:bodyPr>
          <a:lstStyle/>
          <a:p>
            <a:pPr>
              <a:defRPr sz="2700" b="1">
                <a:solidFill>
                  <a:srgbClr val="102A43"/>
                </a:solidFill>
                <a:latin typeface="Aptos Display"/>
                <a:ea typeface="Aptos Display"/>
                <a:cs typeface="Aptos Display"/>
              </a:defRPr>
            </a:pPr>
            <a:r>
              <a:rPr sz="2700" b="1">
                <a:solidFill>
                  <a:srgbClr val="102A43"/>
                </a:solidFill>
                <a:latin typeface="Aptos Display"/>
                <a:ea typeface="Aptos Display"/>
                <a:cs typeface="Aptos Display"/>
              </a:rPr>
              <a:t>Responsibility Attribution</a:t>
            </a:r>
            <a:endParaRPr sz="270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314450"/>
            <a:ext cx="10820400" cy="4953000"/>
          </a:xfrm>
        </p:spPr>
        <p:txBody>
          <a:bodyPr lIns="0" tIns="0" rIns="0" bIns="0" anchor="t">
            <a:normAutofit/>
          </a:bodyPr>
          <a:lstStyle/>
          <a:p>
            <a:pPr marL="0" indent="0">
              <a:buNone/>
              <a:defRPr sz="1575">
                <a:solidFill>
                  <a:srgbClr val="22313F"/>
                </a:solidFill>
                <a:latin typeface="Aptos"/>
                <a:ea typeface="Aptos"/>
                <a:cs typeface="Aptos"/>
              </a:defRPr>
            </a:pPr>
            <a:r>
              <a:rPr sz="1575">
                <a:solidFill>
                  <a:srgbClr val="22313F"/>
                </a:solidFill>
                <a:latin typeface="Aptos"/>
                <a:ea typeface="Aptos"/>
                <a:cs typeface="Aptos"/>
              </a:rPr>
              <a:t>Current theory has reached the claim that people believe AI clearly changes where responsibility is assigned.</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The next question is whether responsibility assigned to AI resembles shifting blame to another human or the traditional shifting of blame to an algorithm.</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Both types of responsibility transfer are theoretically mature. Yet many studies still treat AI as a conventional algorithm, which clearly cannot explain the emotional dependence that people sometimes develop toward AI.</a:t>
            </a:r>
            <a:endParaRPr sz="1575">
              <a:solidFill>
                <a:srgbClr val="22313F"/>
              </a:solidFill>
              <a:latin typeface="Aptos"/>
              <a:ea typeface="Aptos"/>
              <a:cs typeface="Aptos"/>
            </a:endParaRPr>
          </a:p>
          <a:p>
            <a:pPr marL="0" indent="0">
              <a:buNone/>
            </a:pPr>
          </a:p>
          <a:p>
            <a:pPr marL="0" indent="0">
              <a:buNone/>
              <a:defRPr sz="1575">
                <a:solidFill>
                  <a:srgbClr val="22313F"/>
                </a:solidFill>
                <a:latin typeface="Aptos"/>
                <a:ea typeface="Aptos"/>
                <a:cs typeface="Aptos"/>
              </a:defRPr>
            </a:pPr>
            <a:r>
              <a:rPr sz="1575">
                <a:solidFill>
                  <a:srgbClr val="22313F"/>
                </a:solidFill>
                <a:latin typeface="Aptos"/>
                <a:ea typeface="Aptos"/>
                <a:cs typeface="Aptos"/>
              </a:rPr>
              <a:t>Practical relevance: If we can show that responsibility transfer to AI follows a genuinely new path, the result will influence future ethics, law, and regulation.</a:t>
            </a:r>
            <a:endParaRPr sz="1575">
              <a:solidFill>
                <a:srgbClr val="22313F"/>
              </a:solidFill>
              <a:latin typeface="Aptos"/>
              <a:ea typeface="Aptos"/>
              <a:cs typeface="Apto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552450"/>
            <a:ext cx="10972800" cy="1066800"/>
          </a:xfrm>
        </p:spPr>
        <p:txBody>
          <a:bodyPr lIns="0" tIns="0" rIns="0" bIns="0" anchor="t">
            <a:normAutofit/>
          </a:bodyPr>
          <a:lstStyle/>
          <a:p>
            <a:pPr>
              <a:defRPr sz="2550" b="1">
                <a:solidFill>
                  <a:srgbClr val="102A43"/>
                </a:solidFill>
                <a:latin typeface="Aptos Display"/>
                <a:ea typeface="Aptos Display"/>
                <a:cs typeface="Aptos Display"/>
              </a:defRPr>
            </a:pPr>
            <a:r>
              <a:rPr sz="2550" b="1">
                <a:solidFill>
                  <a:srgbClr val="102A43"/>
                </a:solidFill>
                <a:latin typeface="Aptos Display"/>
                <a:ea typeface="Aptos Display"/>
                <a:cs typeface="Aptos Display"/>
              </a:rPr>
              <a:t>The Work Does Not Identify Which Assumption in Existing Theory Is Wrong or Incomplete</a:t>
            </a:r>
            <a:endParaRPr sz="2550" b="1">
              <a:solidFill>
                <a:srgbClr val="102A43"/>
              </a:solidFill>
              <a:latin typeface="Aptos Display"/>
              <a:ea typeface="Aptos Display"/>
              <a:cs typeface="Aptos Display"/>
            </a:endParaRPr>
          </a:p>
        </p:txBody>
      </p:sp>
      <p:sp>
        <p:nvSpPr>
          <p:cNvPr id="4" name="文本框 3"/>
          <p:cNvSpPr>
            <a:spLocks noGrp="1"/>
          </p:cNvSpPr>
          <p:nvPr/>
        </p:nvSpPr>
        <p:spPr>
          <a:xfrm>
            <a:off x="1428750" y="2362200"/>
            <a:ext cx="9334500" cy="2190750"/>
          </a:xfrm>
          <a:prstGeom prst="rect">
            <a:avLst/>
          </a:prstGeom>
          <a:noFill/>
          <a:ln w="0">
            <a:noFill/>
            <a:prstDash val="solid"/>
          </a:ln>
        </p:spPr>
        <p:txBody>
          <a:bodyPr lIns="0" tIns="0" rIns="0" bIns="0" anchor="t">
            <a:normAutofit/>
          </a:bodyPr>
          <a:lstStyle/>
          <a:p>
            <a:pPr marL="0" indent="0">
              <a:buNone/>
              <a:defRPr sz="2175">
                <a:solidFill>
                  <a:srgbClr val="22313F"/>
                </a:solidFill>
                <a:latin typeface="Aptos"/>
                <a:ea typeface="Aptos"/>
                <a:cs typeface="Aptos"/>
              </a:defRPr>
            </a:pPr>
            <a:r>
              <a:rPr sz="2175">
                <a:solidFill>
                  <a:srgbClr val="22313F"/>
                </a:solidFill>
                <a:latin typeface="Aptos"/>
                <a:ea typeface="Aptos"/>
                <a:cs typeface="Aptos"/>
              </a:rPr>
              <a:t>The work does not derive a counterintuitive, falsifiable prediction.</a:t>
            </a:r>
            <a:endParaRPr sz="2175">
              <a:solidFill>
                <a:srgbClr val="22313F"/>
              </a:solidFill>
              <a:latin typeface="Aptos"/>
              <a:ea typeface="Aptos"/>
              <a:cs typeface="Aptos"/>
            </a:endParaRPr>
          </a:p>
          <a:p>
            <a:pPr marL="0" indent="0">
              <a:buNone/>
            </a:pPr>
          </a:p>
          <a:p>
            <a:pPr marL="0" indent="0">
              <a:buNone/>
              <a:defRPr sz="2175">
                <a:solidFill>
                  <a:srgbClr val="22313F"/>
                </a:solidFill>
                <a:latin typeface="Aptos"/>
                <a:ea typeface="Aptos"/>
                <a:cs typeface="Aptos"/>
              </a:defRPr>
            </a:pPr>
            <a:r>
              <a:rPr sz="2175">
                <a:solidFill>
                  <a:srgbClr val="22313F"/>
                </a:solidFill>
                <a:latin typeface="Aptos"/>
                <a:ea typeface="Aptos"/>
                <a:cs typeface="Aptos"/>
              </a:rPr>
              <a:t>It does not explain why an AI environment would cause classic responsibility theories to fail.</a:t>
            </a:r>
            <a:endParaRPr sz="2175">
              <a:solidFill>
                <a:srgbClr val="22313F"/>
              </a:solidFill>
              <a:latin typeface="Aptos"/>
              <a:ea typeface="Aptos"/>
              <a:cs typeface="Apto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p:sp>
        <p:nvSpPr>
          <p:cNvPr id="2" name="标题 1"/>
          <p:cNvSpPr>
            <a:spLocks noGrp="1"/>
          </p:cNvSpPr>
          <p:nvPr>
            <p:ph type="title"/>
          </p:nvPr>
        </p:nvSpPr>
        <p:spPr>
          <a:xfrm>
            <a:off x="609600" y="285750"/>
            <a:ext cx="10972800" cy="1238250"/>
          </a:xfrm>
        </p:spPr>
        <p:txBody>
          <a:bodyPr lIns="0" tIns="0" rIns="0" bIns="0" anchor="t">
            <a:normAutofit/>
          </a:bodyPr>
          <a:lstStyle/>
          <a:p>
            <a:pPr>
              <a:defRPr sz="2250" b="1">
                <a:solidFill>
                  <a:srgbClr val="102A43"/>
                </a:solidFill>
                <a:latin typeface="Aptos Display"/>
                <a:ea typeface="Aptos Display"/>
                <a:cs typeface="Aptos Display"/>
              </a:defRPr>
            </a:pPr>
            <a:r>
              <a:rPr sz="2250" b="1">
                <a:solidFill>
                  <a:srgbClr val="102A43"/>
                </a:solidFill>
                <a:latin typeface="Aptos Display"/>
                <a:ea typeface="Aptos Display"/>
                <a:cs typeface="Aptos Display"/>
              </a:rPr>
              <a:t>When AI Has Substantively Participated in a Decision, Does Requiring a Human to “Confirm and Take Responsibility” Restore Human Agency—or Merely Push Responsibility Back onto Someone Without Adequate Control?</a:t>
            </a:r>
            <a:endParaRPr sz="2250" b="1">
              <a:solidFill>
                <a:srgbClr val="102A43"/>
              </a:solidFill>
              <a:latin typeface="Aptos Display"/>
              <a:ea typeface="Aptos Display"/>
              <a:cs typeface="Aptos Display"/>
            </a:endParaRPr>
          </a:p>
        </p:txBody>
      </p:sp>
      <p:sp>
        <p:nvSpPr>
          <p:cNvPr id="3" name="内容占位符 2"/>
          <p:cNvSpPr>
            <a:spLocks noGrp="1"/>
          </p:cNvSpPr>
          <p:nvPr>
            <p:ph idx="1"/>
          </p:nvPr>
        </p:nvSpPr>
        <p:spPr>
          <a:xfrm>
            <a:off x="685800" y="1752600"/>
            <a:ext cx="10820400" cy="4524375"/>
          </a:xfrm>
        </p:spPr>
        <p:txBody>
          <a:bodyPr lIns="0" tIns="0" rIns="0" bIns="0" anchor="t">
            <a:normAutofit/>
          </a:bodyPr>
          <a:lstStyle/>
          <a:p>
            <a:pPr marL="0" indent="0">
              <a:buNone/>
              <a:defRPr sz="1425">
                <a:solidFill>
                  <a:srgbClr val="22313F"/>
                </a:solidFill>
                <a:latin typeface="Aptos"/>
                <a:ea typeface="Aptos"/>
                <a:cs typeface="Aptos"/>
              </a:defRPr>
            </a:pPr>
            <a:r>
              <a:rPr sz="1425">
                <a:solidFill>
                  <a:srgbClr val="22313F"/>
                </a:solidFill>
                <a:latin typeface="Aptos"/>
                <a:ea typeface="Aptos"/>
                <a:cs typeface="Aptos"/>
              </a:rPr>
              <a:t>Accountability theory argues that being observed, evaluated, and required to explain increases a person’s sense of accountability.</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Responsibility/control theory argues that responsibility should be grounded in actual control, causal contribution, and decision authority.</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AI systems can separate the two: a person may be required to sign, explain, and bear the consequences without genuinely forming or controlling the decision.</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Work on meaningful human control explicitly argues that responsibility should be proportionate to actual control and authority. The “moral crumple zone” identifies how automated systems can concentrate failure responsibility on human operators with limited control.</a:t>
            </a:r>
            <a:endParaRPr sz="1425">
              <a:solidFill>
                <a:srgbClr val="22313F"/>
              </a:solidFill>
              <a:latin typeface="Aptos"/>
              <a:ea typeface="Aptos"/>
              <a:cs typeface="Aptos"/>
            </a:endParaRPr>
          </a:p>
          <a:p>
            <a:pPr marL="0" indent="0">
              <a:buNone/>
            </a:pPr>
          </a:p>
          <a:p>
            <a:pPr marL="0" indent="0">
              <a:buNone/>
              <a:defRPr sz="1425">
                <a:solidFill>
                  <a:srgbClr val="22313F"/>
                </a:solidFill>
                <a:latin typeface="Aptos"/>
                <a:ea typeface="Aptos"/>
                <a:cs typeface="Aptos"/>
              </a:defRPr>
            </a:pPr>
            <a:r>
              <a:rPr sz="1425">
                <a:solidFill>
                  <a:srgbClr val="22313F"/>
                </a:solidFill>
                <a:latin typeface="Aptos"/>
                <a:ea typeface="Aptos"/>
                <a:cs typeface="Aptos"/>
              </a:rPr>
              <a:t>Meaningful Human Control · Moral Crumple Zones</a:t>
            </a:r>
            <a:endParaRPr sz="1425">
              <a:solidFill>
                <a:srgbClr val="22313F"/>
              </a:solidFill>
              <a:latin typeface="Aptos"/>
              <a:ea typeface="Aptos"/>
              <a:cs typeface="Aptos"/>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20315</Words>
  <Application>WPS 演示</Application>
  <PresentationFormat>Converted Presentation</PresentationFormat>
  <Paragraphs>414</Paragraphs>
  <Slides>29</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29</vt:i4>
      </vt:variant>
    </vt:vector>
  </HeadingPairs>
  <TitlesOfParts>
    <vt:vector size="45" baseType="lpstr">
      <vt:lpstr>Arial</vt:lpstr>
      <vt:lpstr>宋体</vt:lpstr>
      <vt:lpstr>Wingdings</vt:lpstr>
      <vt:lpstr>Arial</vt:lpstr>
      <vt:lpstr>Wingdings</vt:lpstr>
      <vt:lpstr>Aptos Display</vt:lpstr>
      <vt:lpstr>Segoe UI Variable Display</vt:lpstr>
      <vt:lpstr>Aptos</vt:lpstr>
      <vt:lpstr>Times New Roman</vt:lpstr>
      <vt:lpstr>微软雅黑</vt:lpstr>
      <vt:lpstr>Arial Unicode MS</vt:lpstr>
      <vt:lpstr>Calibri</vt:lpstr>
      <vt:lpstr>Segoe UI</vt:lpstr>
      <vt:lpstr>Aptos</vt:lpstr>
      <vt:lpstr>Aptos Display</vt:lpstr>
      <vt:lpstr>WPS</vt:lpstr>
      <vt:lpstr>How Does AI Reshape Information Acquisition and Belief Formation in Human Groups?</vt:lpstr>
      <vt:lpstr>Research Background</vt:lpstr>
      <vt:lpstr>Research Background</vt:lpstr>
      <vt:lpstr>Research Gaps</vt:lpstr>
      <vt:lpstr>Theoretical Framework</vt:lpstr>
      <vt:lpstr>Research Question: Do LLMs Undermine the Wisdom of Crowds?</vt:lpstr>
      <vt:lpstr>Research Hypotheses</vt:lpstr>
      <vt:lpstr>Modeling Foundation</vt:lpstr>
      <vt:lpstr>Method: Hybrid ABM–Dynamics Modeling</vt:lpstr>
      <vt:lpstr>Opinion Dynamics Models Human Group Behavior</vt:lpstr>
      <vt:lpstr>Overall Model</vt:lpstr>
      <vt:lpstr>Revision Plan</vt:lpstr>
      <vt:lpstr>Paper 1: Theoretical Framework</vt:lpstr>
      <vt:lpstr>AI Improves Current Task Performance, Yet May Not Build the Capability Needed to Perform the Task—Paper 1’s Tension</vt:lpstr>
      <vt:lpstr>More Specifically, Paper 1 Focuses on the Information-Collection Stage</vt:lpstr>
      <vt:lpstr>How Can AI Governance Promote Trust Calibration, Aligning Individual Reliance with AI’s Actual Performance?</vt:lpstr>
      <vt:lpstr>Candidate Theoretical Frameworks</vt:lpstr>
      <vt:lpstr>AI Trust Is Highly Interdisciplinary</vt:lpstr>
      <vt:lpstr>Defining Trust</vt:lpstr>
      <vt:lpstr>Algorithm Appreciation and Algorithm Aversion</vt:lpstr>
      <vt:lpstr>PowerPoint 演示文稿</vt:lpstr>
      <vt:lpstr>Research Gaps</vt:lpstr>
      <vt:lpstr>The Goal of Trust Governance Is Not More Trust, but Reliance That Matches the System’s Real Capability</vt:lpstr>
      <vt:lpstr>Trust Calibration Bias</vt:lpstr>
      <vt:lpstr>Practical Relevance</vt:lpstr>
      <vt:lpstr>Responsibility Attribution</vt:lpstr>
      <vt:lpstr>Responsibility Attribution</vt:lpstr>
      <vt:lpstr>The Work Does Not Identify Which Assumption in Existing Theory Is Wrong or Incomplete</vt:lpstr>
      <vt:lpstr>When AI Has Substantively Participated in a Decision, Does Requiring a Human to “Confirm and Take Responsibility” Restore Human Agency—or Merely Push Responsibility Back onto Someone Without Adequate Control?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How Does AI Reshape Information Acquisition and Belief Formation in Human Groups?</dc:title>
  <dc:creator>Walnut Exporter</dc:creator>
  <cp:lastModifiedBy>汉克克克克克克克</cp:lastModifiedBy>
  <cp:revision>4</cp:revision>
  <dcterms:created xsi:type="dcterms:W3CDTF">2026-07-29T08:30:00Z</dcterms:created>
  <dcterms:modified xsi:type="dcterms:W3CDTF">2026-08-04T15:20:49Z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946E5EE61EE94DCCA293433E2D44430C_12</vt:lpwstr>
  </property>
</Properties>
</file>