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3"/>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9" Type="http://schemas.openxmlformats.org/officeDocument/2006/relationships/tableStyles" Target="tableStyles.xml"/><Relationship Id="rId18" Type="http://schemas.openxmlformats.org/officeDocument/2006/relationships/viewProps" Target="viewProps.xml"/><Relationship Id="rId17" Type="http://schemas.openxmlformats.org/officeDocument/2006/relationships/presProps" Target="presProps.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这一章讨论生成式人工智能如何改变人的信息获取，并进一步影响群体判断。核心对象不是单个模型输出，而是多人依赖共享模型之后形成的集体后果。</a:t>
            </a:r>
            <a:endParaRPr lang="zh-CN"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搜索引擎通常保留多个来源和证据线索，而生成式人工智能更常提供整合后的直接答案。当群体成员依赖相同模型、训练数据和检索逻辑时，判断数量虽然增加，独立信息样本却未必同步增加。微博和微信中的 AI 搜索助手说明这种信息入口已经进入日常使用场景。</a:t>
            </a:r>
            <a:endParaRPr lang="zh-CN"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这里先引入 wisdom of crowds：群体优势依赖独立信息的有效聚合。Pal 等人的研究指出，同一条 AI 建议可能被多人重复计入；Schoenegger 等人的研究则显示，LLM 可以提高个体预测准确率，同时也需要检验多样性下降是否损害群体智慧。Artificial Hivemind 提供的是模型输出同质性的边界证据，不能直接外推为人类态度或组织决策已经同质化。</a:t>
            </a:r>
            <a:endParaRPr lang="zh-CN"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四个缺口构成从微观到宏观的连续链条。已有研究较少解释模型输出相似性如何转化为人的信息选择和信念更新，也容易把个体准确率与群体聚合收益混为一谈。现有意见动力学尚未充分建模共享基础与个性化输出并存的生成式信息源，真实实验也很难直接观察大规模长期效应。</a:t>
            </a:r>
            <a:endParaRPr lang="zh-CN"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理论上的核心张力来自个体准确率与预测多样性之间的反向变化。共同 AI 信号可能提高每个人的判断质量，却同时削弱独立性和多样性。随着群体规模扩大，需要检验多样性损失是否最终超过个体准确率收益。</a:t>
            </a:r>
            <a:endParaRPr lang="zh-CN"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研究问题锁定在共享 LLM 如何改变群体判断的相关结构。我们关注信息暴露是否趋同、判断误差相关性是否上升，以及意见分布最终表现为收敛、持续分裂还是极化。机制链从模型输出同质性开始，经由相关的信息暴露和信念更新，落到群体判断结构。</a:t>
            </a:r>
            <a:endParaRPr lang="zh-CN"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H1 到 H3 分别对应信息相似性、误差相关性和聚合收益。H4 引入模型多样性作为机制检验：只有当它先降低误差相关性，再恢复聚合收益时，核心机制才得到支持。仅出现语言表述差异不能视为机制成立。</a:t>
            </a:r>
            <a:endParaRPr lang="zh-CN"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DeGroot、Friedkin–Johnsen 和 Hegselmann–Krause 分别提供加权平均、初始立场黏着和有限信任的更新结构。本研究借用这些结构描述成员如何连续回应共享但可能个性化的 LLM 信息。重点不是模拟人与人之间的扩散，而是模拟人对生成式信息源的序贯更新。</a:t>
            </a:r>
            <a:endParaRPr lang="zh-CN"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混合模型连接模型响应、个体更新和群体分布三个层级。ABM 允许代理异质性、重复追问、非线性更新和个性化输出，并可以扩展到大群体。理论贡献来自机制关系，ABM 的作用是追踪机制并进行反事实比较。</a:t>
            </a:r>
            <a:endParaRPr lang="zh-CN"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基本更新式用 λ 表示个体对 LLM 的依赖，有限信任条件用 τ 表示可接受的信息距离。共享模型给出相似答案时，意见可能收敛；当证据选择依赖初始立场时，不同阵营可能获得方向相反的信息，从而分裂或极化。这里还要明确检验 group size，因为群体规模会影响多样性在聚合表现中的权重。</a:t>
            </a:r>
            <a:endParaRPr lang="zh-CN" dirty="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总体模型包含 LLM 信息、文本测量和意见更新三层。自然语言响应先被转化为立场信号和信息向量，再进入个体更新过程。Chuang 等人的程序说明文本立场可以通过独立分类器编码并进行人工验证，但本研究仍需单独报告自身的测量可靠性。</a:t>
            </a:r>
            <a:endParaRPr lang="zh-CN"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最优停止理论处理信息序贯到达、继续观察有成本且未来收益不确定的决策。核心不是搜索越多越好，而是比较下一次搜索的期望边际收益与边际成本。Paper 1 借用的是这一停止准则，而不是完整复制 Weitzman 的最优选项搜索任务。</a:t>
            </a:r>
            <a:endParaRPr lang="zh-CN" dirty="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zh-CN" dirty="0"/>
              <a:t>Paper 1 将分析范围收窄到信息收集阶段，因为这是最广泛委托给 AI 的任务之一。理论缺口是现有理论尚不能清楚解释这种委托给人的判断和信息行为带来的后果。后续模型和实证设计都应围绕这一阶段保持一致。</a:t>
            </a:r>
            <a:endParaRPr lang="zh-CN"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1.xml"/><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9FC"/>
            </a:solidFill>
            <a:ln>
              <a:noFill/>
            </a:ln>
          </p:spPr>
        </p:sp>
        <p:sp>
          <p:nvSpPr>
            <p:cNvPr id="3" name="Line 3"/>
            <p:cNvSpPr/>
            <p:nvPr/>
          </p:nvSpPr>
          <p:spPr>
            <a:xfrm>
              <a:off x="685800" y="838200"/>
              <a:ext cx="10820400" cy="9525"/>
            </a:xfrm>
            <a:custGeom>
              <a:avLst/>
              <a:gdLst/>
              <a:ahLst/>
              <a:cxnLst/>
              <a:rect l="l" t="t" r="r" b="b"/>
              <a:pathLst>
                <a:path w="10820400" h="9525">
                  <a:moveTo>
                    <a:pt x="0" y="0"/>
                  </a:moveTo>
                  <a:lnTo>
                    <a:pt x="10820400" y="0"/>
                  </a:lnTo>
                </a:path>
              </a:pathLst>
            </a:custGeom>
            <a:noFill/>
            <a:ln w="9525">
              <a:solidFill>
                <a:srgbClr val="DDE5ED"/>
              </a:solidFill>
            </a:ln>
          </p:spPr>
        </p:sp>
      </p:grpSp>
      <p:grpSp>
        <p:nvGrpSpPr>
          <p:cNvPr id="7" name="Group 7"/>
          <p:cNvGrpSpPr/>
          <p:nvPr/>
        </p:nvGrpSpPr>
        <p:grpSpPr>
          <a:xfrm>
            <a:off x="685800" y="514350"/>
            <a:ext cx="1162050" cy="297656"/>
            <a:chOff x="685800" y="514350"/>
            <a:chExt cx="1162050" cy="297656"/>
          </a:xfrm>
        </p:grpSpPr>
        <p:sp>
          <p:nvSpPr>
            <p:cNvPr id="5" name="Rectangle 5"/>
            <p:cNvSpPr/>
            <p:nvPr/>
          </p:nvSpPr>
          <p:spPr>
            <a:xfrm>
              <a:off x="685800" y="514350"/>
              <a:ext cx="1162050" cy="266700"/>
            </a:xfrm>
            <a:prstGeom prst="rect">
              <a:avLst/>
            </a:prstGeom>
            <a:solidFill>
              <a:srgbClr val="163A5F"/>
            </a:solidFill>
            <a:ln>
              <a:noFill/>
            </a:ln>
          </p:spPr>
        </p:sp>
        <p:sp>
          <p:nvSpPr>
            <p:cNvPr id="6" name="TextBox 6"/>
            <p:cNvSpPr txBox="1"/>
            <p:nvPr/>
          </p:nvSpPr>
          <p:spPr>
            <a:xfrm>
              <a:off x="882366" y="583406"/>
              <a:ext cx="768918"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CHAPTER 1</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grpSp>
        <p:nvGrpSpPr>
          <p:cNvPr id="9" name="Group 9"/>
          <p:cNvGrpSpPr/>
          <p:nvPr/>
        </p:nvGrpSpPr>
        <p:grpSpPr>
          <a:xfrm>
            <a:off x="624840" y="1672590"/>
            <a:ext cx="7386828" cy="2461260"/>
            <a:chOff x="624840" y="1672590"/>
            <a:chExt cx="7386828" cy="2461260"/>
          </a:xfrm>
        </p:grpSpPr>
        <p:sp>
          <p:nvSpPr>
            <p:cNvPr id="8" name="TextBox 8"/>
            <p:cNvSpPr txBox="1"/>
            <p:nvPr/>
          </p:nvSpPr>
          <p:spPr>
            <a:xfrm>
              <a:off x="624840" y="1672590"/>
              <a:ext cx="7386828" cy="2461260"/>
            </a:xfrm>
            <a:prstGeom prst="rect">
              <a:avLst/>
            </a:prstGeom>
            <a:noFill/>
            <a:ln>
              <a:noFill/>
            </a:ln>
          </p:spPr>
          <p:txBody>
            <a:bodyPr wrap="square" lIns="0" tIns="0" rIns="0" bIns="0" anchor="t" anchorCtr="0"/>
            <a:lstStyle/>
            <a:p>
              <a:pPr algn="l">
                <a:lnSpc>
                  <a:spcPts val="5850"/>
                </a:lnSpc>
              </a:pPr>
              <a:r>
                <a:rPr lang="zh-CN" sz="4800" b="1" dirty="0">
                  <a:solidFill>
                    <a:srgbClr val="163A5F"/>
                  </a:solidFill>
                  <a:latin typeface="Segoe UI" panose="020B0502040204020203"/>
                  <a:ea typeface="微软雅黑" panose="020B0503020204020204" charset="-122"/>
                  <a:cs typeface="Segoe UI" panose="020B0502040204020203"/>
                </a:rPr>
                <a:t>How Does AI Reshape </a:t>
              </a:r>
              <a:r>
                <a:rPr lang="zh-CN" sz="4800" b="1" dirty="0">
                  <a:solidFill>
                    <a:srgbClr val="163A5F"/>
                  </a:solidFill>
                  <a:latin typeface="Segoe UI" panose="020B0502040204020203"/>
                  <a:ea typeface="微软雅黑" panose="020B0503020204020204" charset="-122"/>
                  <a:cs typeface="Segoe UI" panose="020B0502040204020203"/>
                </a:rPr>
                <a:t>Information Acquisition </a:t>
              </a:r>
              <a:r>
                <a:rPr lang="zh-CN" sz="4800" b="1" dirty="0">
                  <a:solidFill>
                    <a:srgbClr val="163A5F"/>
                  </a:solidFill>
                  <a:latin typeface="Segoe UI" panose="020B0502040204020203"/>
                  <a:ea typeface="微软雅黑" panose="020B0503020204020204" charset="-122"/>
                  <a:cs typeface="Segoe UI" panose="020B0502040204020203"/>
                </a:rPr>
                <a:t>and Belief Formation?</a:t>
              </a:r>
              <a:endParaRPr lang="zh-CN" sz="4800" b="1" dirty="0">
                <a:solidFill>
                  <a:srgbClr val="163A5F"/>
                </a:solidFill>
                <a:latin typeface="Segoe UI" panose="020B0502040204020203"/>
                <a:ea typeface="微软雅黑" panose="020B0503020204020204" charset="-122"/>
                <a:cs typeface="Segoe UI" panose="020B0502040204020203"/>
              </a:endParaRPr>
            </a:p>
          </p:txBody>
        </p:sp>
      </p:grpSp>
      <p:grpSp>
        <p:nvGrpSpPr>
          <p:cNvPr id="13" name="Group 13"/>
          <p:cNvGrpSpPr/>
          <p:nvPr/>
        </p:nvGrpSpPr>
        <p:grpSpPr>
          <a:xfrm>
            <a:off x="685800" y="4905375"/>
            <a:ext cx="6950643" cy="742950"/>
            <a:chOff x="685800" y="4905375"/>
            <a:chExt cx="6950643" cy="742950"/>
          </a:xfrm>
        </p:grpSpPr>
        <p:sp>
          <p:nvSpPr>
            <p:cNvPr id="10" name="Rectangle 10"/>
            <p:cNvSpPr/>
            <p:nvPr/>
          </p:nvSpPr>
          <p:spPr>
            <a:xfrm>
              <a:off x="685800" y="4905375"/>
              <a:ext cx="76200" cy="742950"/>
            </a:xfrm>
            <a:prstGeom prst="rect">
              <a:avLst/>
            </a:prstGeom>
            <a:solidFill>
              <a:srgbClr val="B42318"/>
            </a:solidFill>
            <a:ln>
              <a:noFill/>
            </a:ln>
          </p:spPr>
        </p:sp>
        <p:sp>
          <p:nvSpPr>
            <p:cNvPr id="11" name="TextBox 11"/>
            <p:cNvSpPr txBox="1"/>
            <p:nvPr/>
          </p:nvSpPr>
          <p:spPr>
            <a:xfrm>
              <a:off x="965835" y="5009198"/>
              <a:ext cx="6670608" cy="396240"/>
            </a:xfrm>
            <a:prstGeom prst="rect">
              <a:avLst/>
            </a:prstGeom>
            <a:noFill/>
            <a:ln>
              <a:noFill/>
            </a:ln>
          </p:spPr>
          <p:txBody>
            <a:bodyPr wrap="none" lIns="0" tIns="0" rIns="0" bIns="0" anchor="t" anchorCtr="0">
              <a:spAutoFit/>
            </a:bodyPr>
            <a:lstStyle/>
            <a:p>
              <a:pPr algn="l"/>
              <a:r>
                <a:rPr lang="zh-CN" sz="1950" b="1" dirty="0">
                  <a:solidFill>
                    <a:srgbClr val="1F2A37"/>
                  </a:solidFill>
                  <a:latin typeface="Segoe UI" panose="020B0502040204020203"/>
                  <a:ea typeface="微软雅黑" panose="020B0503020204020204" charset="-122"/>
                  <a:cs typeface="Segoe UI" panose="020B0502040204020203"/>
                </a:rPr>
                <a:t>Human groups · shared LLMs · collective judgment</a:t>
              </a:r>
              <a:endParaRPr lang="zh-CN" sz="1950" b="1" dirty="0">
                <a:solidFill>
                  <a:srgbClr val="1F2A37"/>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974408" y="5386864"/>
              <a:ext cx="3390305" cy="259080"/>
            </a:xfrm>
            <a:prstGeom prst="rect">
              <a:avLst/>
            </a:prstGeom>
            <a:noFill/>
            <a:ln>
              <a:noFill/>
            </a:ln>
          </p:spPr>
          <p:txBody>
            <a:bodyPr wrap="none" lIns="0" tIns="0" rIns="0" bIns="0" anchor="t" anchorCtr="0">
              <a:spAutoFit/>
            </a:bodyPr>
            <a:lstStyle/>
            <a:p>
              <a:pPr algn="l"/>
              <a:r>
                <a:rPr lang="zh-CN" sz="1275" dirty="0">
                  <a:solidFill>
                    <a:srgbClr val="526273"/>
                  </a:solidFill>
                  <a:latin typeface="Segoe UI" panose="020B0502040204020203"/>
                  <a:ea typeface="微软雅黑" panose="020B0503020204020204" charset="-122"/>
                  <a:cs typeface="Segoe UI" panose="020B0502040204020203"/>
                </a:rPr>
                <a:t>Research framework and modeling design</a:t>
              </a:r>
              <a:endParaRPr lang="zh-CN" sz="1275" dirty="0">
                <a:solidFill>
                  <a:srgbClr val="526273"/>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9744075" y="4257675"/>
            <a:ext cx="1476375" cy="1381125"/>
            <a:chOff x="9744075" y="4257675"/>
            <a:chExt cx="1476375" cy="1381125"/>
          </a:xfrm>
        </p:grpSpPr>
        <p:sp>
          <p:nvSpPr>
            <p:cNvPr id="14" name="Ellipse 14"/>
            <p:cNvSpPr/>
            <p:nvPr/>
          </p:nvSpPr>
          <p:spPr>
            <a:xfrm>
              <a:off x="9744075" y="4267200"/>
              <a:ext cx="1371600" cy="1371600"/>
            </a:xfrm>
            <a:prstGeom prst="ellipse">
              <a:avLst/>
            </a:prstGeom>
            <a:solidFill>
              <a:srgbClr val="EAF0F7"/>
            </a:solidFill>
            <a:ln w="19050">
              <a:solidFill>
                <a:srgbClr val="CCD6E1"/>
              </a:solidFill>
            </a:ln>
          </p:spPr>
        </p:sp>
        <p:grpSp>
          <p:nvGrpSpPr>
            <p:cNvPr id="23" name="Group 23"/>
            <p:cNvGrpSpPr/>
            <p:nvPr/>
          </p:nvGrpSpPr>
          <p:grpSpPr>
            <a:xfrm>
              <a:off x="10172700" y="4695825"/>
              <a:ext cx="514350" cy="542925"/>
              <a:chOff x="10172700" y="4695825"/>
              <a:chExt cx="514350" cy="542925"/>
            </a:xfrm>
          </p:grpSpPr>
          <p:sp>
            <p:nvSpPr>
              <p:cNvPr id="15" name="Freeform 15"/>
              <p:cNvSpPr/>
              <p:nvPr/>
            </p:nvSpPr>
            <p:spPr>
              <a:xfrm>
                <a:off x="10258425" y="4695825"/>
                <a:ext cx="342900" cy="342900"/>
              </a:xfrm>
              <a:custGeom>
                <a:avLst/>
                <a:gdLst/>
                <a:ahLst/>
                <a:cxnLst/>
                <a:rect l="l" t="t" r="r" b="b"/>
                <a:pathLst>
                  <a:path w="342900" h="342900">
                    <a:moveTo>
                      <a:pt x="0" y="171450"/>
                    </a:moveTo>
                    <a:cubicBezTo>
                      <a:pt x="0" y="266139"/>
                      <a:pt x="76761" y="342900"/>
                      <a:pt x="171450" y="342900"/>
                    </a:cubicBezTo>
                    <a:cubicBezTo>
                      <a:pt x="266139" y="342900"/>
                      <a:pt x="342900" y="266139"/>
                      <a:pt x="342900" y="171450"/>
                    </a:cubicBezTo>
                    <a:cubicBezTo>
                      <a:pt x="342900" y="76761"/>
                      <a:pt x="266139" y="0"/>
                      <a:pt x="171450" y="0"/>
                    </a:cubicBezTo>
                    <a:cubicBezTo>
                      <a:pt x="76761" y="0"/>
                      <a:pt x="0" y="76761"/>
                      <a:pt x="0" y="171450"/>
                    </a:cubicBezTo>
                  </a:path>
                </a:pathLst>
              </a:custGeom>
              <a:noFill/>
              <a:ln w="19050">
                <a:solidFill>
                  <a:srgbClr val="163A5F"/>
                </a:solidFill>
              </a:ln>
            </p:spPr>
          </p:sp>
          <p:sp>
            <p:nvSpPr>
              <p:cNvPr id="16" name="Freeform 16"/>
              <p:cNvSpPr/>
              <p:nvPr/>
            </p:nvSpPr>
            <p:spPr>
              <a:xfrm>
                <a:off x="10429875" y="4695825"/>
                <a:ext cx="57150" cy="342900"/>
              </a:xfrm>
              <a:custGeom>
                <a:avLst/>
                <a:gdLst/>
                <a:ahLst/>
                <a:cxnLst/>
                <a:rect l="l" t="t" r="r" b="b"/>
                <a:pathLst>
                  <a:path w="57150" h="342900">
                    <a:moveTo>
                      <a:pt x="0" y="0"/>
                    </a:moveTo>
                    <a:cubicBezTo>
                      <a:pt x="38090" y="9515"/>
                      <a:pt x="57150" y="66665"/>
                      <a:pt x="57150" y="171450"/>
                    </a:cubicBezTo>
                    <a:cubicBezTo>
                      <a:pt x="57150" y="276235"/>
                      <a:pt x="38090" y="333385"/>
                      <a:pt x="0" y="342900"/>
                    </a:cubicBezTo>
                  </a:path>
                </a:pathLst>
              </a:custGeom>
              <a:noFill/>
              <a:ln w="19050">
                <a:solidFill>
                  <a:srgbClr val="163A5F"/>
                </a:solidFill>
              </a:ln>
            </p:spPr>
          </p:sp>
          <p:sp>
            <p:nvSpPr>
              <p:cNvPr id="17" name="Freeform 17"/>
              <p:cNvSpPr/>
              <p:nvPr/>
            </p:nvSpPr>
            <p:spPr>
              <a:xfrm>
                <a:off x="10372725" y="4695825"/>
                <a:ext cx="57150" cy="342900"/>
              </a:xfrm>
              <a:custGeom>
                <a:avLst/>
                <a:gdLst/>
                <a:ahLst/>
                <a:cxnLst/>
                <a:rect l="l" t="t" r="r" b="b"/>
                <a:pathLst>
                  <a:path w="57150" h="342900">
                    <a:moveTo>
                      <a:pt x="57150" y="0"/>
                    </a:moveTo>
                    <a:cubicBezTo>
                      <a:pt x="19060" y="9515"/>
                      <a:pt x="0" y="66665"/>
                      <a:pt x="0" y="171450"/>
                    </a:cubicBezTo>
                    <a:cubicBezTo>
                      <a:pt x="0" y="276235"/>
                      <a:pt x="19060" y="333385"/>
                      <a:pt x="57150" y="342900"/>
                    </a:cubicBezTo>
                  </a:path>
                </a:pathLst>
              </a:custGeom>
              <a:noFill/>
              <a:ln w="19050">
                <a:solidFill>
                  <a:srgbClr val="163A5F"/>
                </a:solidFill>
              </a:ln>
            </p:spPr>
          </p:sp>
          <p:sp>
            <p:nvSpPr>
              <p:cNvPr id="18" name="Freeform 18"/>
              <p:cNvSpPr/>
              <p:nvPr/>
            </p:nvSpPr>
            <p:spPr>
              <a:xfrm>
                <a:off x="10258425" y="4867275"/>
                <a:ext cx="342900" cy="9525"/>
              </a:xfrm>
              <a:custGeom>
                <a:avLst/>
                <a:gdLst/>
                <a:ahLst/>
                <a:cxnLst/>
                <a:rect l="l" t="t" r="r" b="b"/>
                <a:pathLst>
                  <a:path w="342900" h="9525">
                    <a:moveTo>
                      <a:pt x="0" y="0"/>
                    </a:moveTo>
                    <a:lnTo>
                      <a:pt x="342900" y="0"/>
                    </a:lnTo>
                  </a:path>
                </a:pathLst>
              </a:custGeom>
              <a:noFill/>
              <a:ln w="19050">
                <a:solidFill>
                  <a:srgbClr val="163A5F"/>
                </a:solidFill>
              </a:ln>
            </p:spPr>
          </p:sp>
          <p:sp>
            <p:nvSpPr>
              <p:cNvPr id="19" name="Freeform 19"/>
              <p:cNvSpPr/>
              <p:nvPr/>
            </p:nvSpPr>
            <p:spPr>
              <a:xfrm>
                <a:off x="10172700" y="5181600"/>
                <a:ext cx="200025" cy="9525"/>
              </a:xfrm>
              <a:custGeom>
                <a:avLst/>
                <a:gdLst/>
                <a:ahLst/>
                <a:cxnLst/>
                <a:rect l="l" t="t" r="r" b="b"/>
                <a:pathLst>
                  <a:path w="200025" h="9525">
                    <a:moveTo>
                      <a:pt x="0" y="0"/>
                    </a:moveTo>
                    <a:lnTo>
                      <a:pt x="200025" y="0"/>
                    </a:lnTo>
                  </a:path>
                </a:pathLst>
              </a:custGeom>
              <a:noFill/>
              <a:ln w="19050">
                <a:solidFill>
                  <a:srgbClr val="163A5F"/>
                </a:solidFill>
              </a:ln>
            </p:spPr>
          </p:sp>
          <p:sp>
            <p:nvSpPr>
              <p:cNvPr id="20" name="Freeform 20"/>
              <p:cNvSpPr/>
              <p:nvPr/>
            </p:nvSpPr>
            <p:spPr>
              <a:xfrm>
                <a:off x="10487025" y="5181600"/>
                <a:ext cx="200025" cy="9525"/>
              </a:xfrm>
              <a:custGeom>
                <a:avLst/>
                <a:gdLst/>
                <a:ahLst/>
                <a:cxnLst/>
                <a:rect l="l" t="t" r="r" b="b"/>
                <a:pathLst>
                  <a:path w="200025" h="9525">
                    <a:moveTo>
                      <a:pt x="0" y="0"/>
                    </a:moveTo>
                    <a:lnTo>
                      <a:pt x="200025" y="0"/>
                    </a:lnTo>
                  </a:path>
                </a:pathLst>
              </a:custGeom>
              <a:noFill/>
              <a:ln w="19050">
                <a:solidFill>
                  <a:srgbClr val="163A5F"/>
                </a:solidFill>
              </a:ln>
            </p:spPr>
          </p:sp>
          <p:sp>
            <p:nvSpPr>
              <p:cNvPr id="21" name="Freeform 21"/>
              <p:cNvSpPr/>
              <p:nvPr/>
            </p:nvSpPr>
            <p:spPr>
              <a:xfrm>
                <a:off x="10372725" y="5124450"/>
                <a:ext cx="114300" cy="114300"/>
              </a:xfrm>
              <a:custGeom>
                <a:avLst/>
                <a:gdLst/>
                <a:ahLst/>
                <a:cxnLst/>
                <a:rect l="l" t="t" r="r" b="b"/>
                <a:pathLst>
                  <a:path w="114300" h="114300">
                    <a:moveTo>
                      <a:pt x="0" y="57150"/>
                    </a:moveTo>
                    <a:cubicBezTo>
                      <a:pt x="0" y="88713"/>
                      <a:pt x="25587" y="114300"/>
                      <a:pt x="57150" y="114300"/>
                    </a:cubicBezTo>
                    <a:cubicBezTo>
                      <a:pt x="88713" y="114300"/>
                      <a:pt x="114300" y="88713"/>
                      <a:pt x="114300" y="57150"/>
                    </a:cubicBezTo>
                    <a:cubicBezTo>
                      <a:pt x="114300" y="25587"/>
                      <a:pt x="88713" y="0"/>
                      <a:pt x="57150" y="0"/>
                    </a:cubicBezTo>
                    <a:cubicBezTo>
                      <a:pt x="25587" y="0"/>
                      <a:pt x="0" y="25587"/>
                      <a:pt x="0" y="57150"/>
                    </a:cubicBezTo>
                  </a:path>
                </a:pathLst>
              </a:custGeom>
              <a:noFill/>
              <a:ln w="19050">
                <a:solidFill>
                  <a:srgbClr val="163A5F"/>
                </a:solidFill>
              </a:ln>
            </p:spPr>
          </p:sp>
          <p:sp>
            <p:nvSpPr>
              <p:cNvPr id="22" name="Freeform 22"/>
              <p:cNvSpPr/>
              <p:nvPr/>
            </p:nvSpPr>
            <p:spPr>
              <a:xfrm>
                <a:off x="10429875" y="5038725"/>
                <a:ext cx="9525" cy="85725"/>
              </a:xfrm>
              <a:custGeom>
                <a:avLst/>
                <a:gdLst/>
                <a:ahLst/>
                <a:cxnLst/>
                <a:rect l="l" t="t" r="r" b="b"/>
                <a:pathLst>
                  <a:path w="9525" h="85725">
                    <a:moveTo>
                      <a:pt x="0" y="0"/>
                    </a:moveTo>
                    <a:lnTo>
                      <a:pt x="0" y="85725"/>
                    </a:lnTo>
                  </a:path>
                </a:pathLst>
              </a:custGeom>
              <a:noFill/>
              <a:ln w="19050">
                <a:solidFill>
                  <a:srgbClr val="163A5F"/>
                </a:solidFill>
              </a:ln>
            </p:spPr>
          </p:sp>
        </p:grpSp>
        <p:sp>
          <p:nvSpPr>
            <p:cNvPr id="24" name="Ellipse 24"/>
            <p:cNvSpPr/>
            <p:nvPr/>
          </p:nvSpPr>
          <p:spPr>
            <a:xfrm>
              <a:off x="11068050" y="4257675"/>
              <a:ext cx="152400" cy="152400"/>
            </a:xfrm>
            <a:prstGeom prst="ellipse">
              <a:avLst/>
            </a:prstGeom>
            <a:solidFill>
              <a:srgbClr val="B42318"/>
            </a:solidFill>
            <a:ln>
              <a:noFill/>
            </a:ln>
          </p:spPr>
        </p:sp>
      </p:grpSp>
      <p:sp>
        <p:nvSpPr>
          <p:cNvPr id="26" name="TextBox 26"/>
          <p:cNvSpPr txBox="1"/>
          <p:nvPr/>
        </p:nvSpPr>
        <p:spPr>
          <a:xfrm>
            <a:off x="11362754" y="6398895"/>
            <a:ext cx="154877" cy="182880"/>
          </a:xfrm>
          <a:prstGeom prst="rect">
            <a:avLst/>
          </a:prstGeom>
          <a:noFill/>
          <a:ln>
            <a:noFill/>
          </a:ln>
        </p:spPr>
        <p:txBody>
          <a:bodyPr wrap="none" lIns="0" tIns="0" rIns="0" bIns="0" anchor="t" anchorCtr="0">
            <a:spAutoFit/>
          </a:bodyPr>
          <a:lstStyle/>
          <a:p>
            <a:pPr algn="r"/>
            <a:r>
              <a:rPr lang="zh-CN" sz="900" dirty="0">
                <a:solidFill>
                  <a:srgbClr val="7B8794"/>
                </a:solidFill>
                <a:latin typeface="Segoe UI" panose="020B0502040204020203"/>
                <a:ea typeface="微软雅黑" panose="020B0503020204020204" charset="-122"/>
                <a:cs typeface="Segoe UI" panose="020B0502040204020203"/>
              </a:rPr>
              <a:t>01</a:t>
            </a:r>
            <a:endParaRPr lang="zh-CN" sz="900"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400"/>
                                        <p:tgtEl>
                                          <p:spTgt spid="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slide(fromBottom)">
                                      <p:cBhvr>
                                        <p:cTn id="15" dur="400"/>
                                        <p:tgtEl>
                                          <p:spTgt spid="13"/>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3" grpId="0"/>
      <p:bldP spid="2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grpSp>
        <p:nvGrpSpPr>
          <p:cNvPr id="5" name="Group 5"/>
          <p:cNvGrpSpPr/>
          <p:nvPr/>
        </p:nvGrpSpPr>
        <p:grpSpPr>
          <a:xfrm>
            <a:off x="577215" y="315278"/>
            <a:ext cx="11005185" cy="518160"/>
            <a:chOff x="577215" y="315278"/>
            <a:chExt cx="11005185" cy="518160"/>
          </a:xfrm>
        </p:grpSpPr>
        <p:sp>
          <p:nvSpPr>
            <p:cNvPr id="3" name="TextBox 3"/>
            <p:cNvSpPr txBox="1"/>
            <p:nvPr/>
          </p:nvSpPr>
          <p:spPr>
            <a:xfrm>
              <a:off x="577215" y="315278"/>
              <a:ext cx="3706625" cy="518160"/>
            </a:xfrm>
            <a:prstGeom prst="rect">
              <a:avLst/>
            </a:prstGeom>
            <a:noFill/>
            <a:ln>
              <a:noFill/>
            </a:ln>
          </p:spPr>
          <p:txBody>
            <a:bodyPr wrap="none" lIns="0" tIns="0" rIns="0" bIns="0" anchor="t" anchorCtr="0">
              <a:spAutoFit/>
            </a:bodyPr>
            <a:lstStyle/>
            <a:p>
              <a:pPr algn="l"/>
              <a:r>
                <a:rPr lang="zh-CN" sz="2550" b="1" dirty="0">
                  <a:solidFill>
                    <a:srgbClr val="163A5F"/>
                  </a:solidFill>
                  <a:latin typeface="Segoe UI" panose="020B0502040204020203"/>
                  <a:ea typeface="微软雅黑" panose="020B0503020204020204" charset="-122"/>
                  <a:cs typeface="Segoe UI" panose="020B0502040204020203"/>
                </a:rPr>
                <a:t>Research Background</a:t>
              </a:r>
              <a:endParaRPr lang="zh-CN" sz="2550" b="1" dirty="0">
                <a:solidFill>
                  <a:srgbClr val="163A5F"/>
                </a:solidFill>
                <a:latin typeface="Segoe UI" panose="020B0502040204020203"/>
                <a:ea typeface="微软雅黑" panose="020B0503020204020204" charset="-122"/>
                <a:cs typeface="Segoe UI" panose="020B0502040204020203"/>
              </a:endParaRPr>
            </a:p>
          </p:txBody>
        </p:sp>
        <p:sp>
          <p:nvSpPr>
            <p:cNvPr id="4" name="Line 4"/>
            <p:cNvSpPr/>
            <p:nvPr/>
          </p:nvSpPr>
          <p:spPr>
            <a:xfrm>
              <a:off x="609600" y="781050"/>
              <a:ext cx="10972800" cy="9525"/>
            </a:xfrm>
            <a:custGeom>
              <a:avLst/>
              <a:gdLst/>
              <a:ahLst/>
              <a:cxnLst/>
              <a:rect l="l" t="t" r="r" b="b"/>
              <a:pathLst>
                <a:path w="10972800" h="9525">
                  <a:moveTo>
                    <a:pt x="0" y="0"/>
                  </a:moveTo>
                  <a:lnTo>
                    <a:pt x="10972800" y="0"/>
                  </a:lnTo>
                </a:path>
              </a:pathLst>
            </a:custGeom>
            <a:noFill/>
            <a:ln w="9525">
              <a:solidFill>
                <a:srgbClr val="DDE5ED"/>
              </a:solidFill>
            </a:ln>
          </p:spPr>
        </p:sp>
      </p:grpSp>
      <p:grpSp>
        <p:nvGrpSpPr>
          <p:cNvPr id="13" name="Group 13"/>
          <p:cNvGrpSpPr/>
          <p:nvPr/>
        </p:nvGrpSpPr>
        <p:grpSpPr>
          <a:xfrm>
            <a:off x="609600" y="1143000"/>
            <a:ext cx="3905250" cy="1562100"/>
            <a:chOff x="609600" y="1143000"/>
            <a:chExt cx="3905250" cy="1562100"/>
          </a:xfrm>
        </p:grpSpPr>
        <p:sp>
          <p:nvSpPr>
            <p:cNvPr id="6" name="Rectangle 6"/>
            <p:cNvSpPr/>
            <p:nvPr/>
          </p:nvSpPr>
          <p:spPr>
            <a:xfrm>
              <a:off x="609600" y="1143000"/>
              <a:ext cx="3238500" cy="1562100"/>
            </a:xfrm>
            <a:prstGeom prst="rect">
              <a:avLst/>
            </a:prstGeom>
            <a:solidFill>
              <a:srgbClr val="FFFFFF"/>
            </a:solidFill>
            <a:ln w="9525">
              <a:solidFill>
                <a:srgbClr val="CCD6E1"/>
              </a:solidFill>
            </a:ln>
          </p:spPr>
        </p:sp>
        <p:grpSp>
          <p:nvGrpSpPr>
            <p:cNvPr id="9" name="Group 9"/>
            <p:cNvGrpSpPr/>
            <p:nvPr/>
          </p:nvGrpSpPr>
          <p:grpSpPr>
            <a:xfrm>
              <a:off x="883444" y="1416844"/>
              <a:ext cx="271463" cy="271463"/>
              <a:chOff x="883444" y="1416844"/>
              <a:chExt cx="271463" cy="271463"/>
            </a:xfrm>
          </p:grpSpPr>
          <p:sp>
            <p:nvSpPr>
              <p:cNvPr id="7" name="Freeform 7"/>
              <p:cNvSpPr/>
              <p:nvPr/>
            </p:nvSpPr>
            <p:spPr>
              <a:xfrm>
                <a:off x="883444" y="1416844"/>
                <a:ext cx="211137" cy="211137"/>
              </a:xfrm>
              <a:custGeom>
                <a:avLst/>
                <a:gdLst/>
                <a:ahLst/>
                <a:cxnLst/>
                <a:rect l="l" t="t" r="r" b="b"/>
                <a:pathLst>
                  <a:path w="211137" h="211137">
                    <a:moveTo>
                      <a:pt x="0" y="105569"/>
                    </a:moveTo>
                    <a:cubicBezTo>
                      <a:pt x="0" y="163873"/>
                      <a:pt x="47265" y="211137"/>
                      <a:pt x="105569" y="211137"/>
                    </a:cubicBezTo>
                    <a:cubicBezTo>
                      <a:pt x="163873" y="211137"/>
                      <a:pt x="211137" y="163873"/>
                      <a:pt x="211137" y="105569"/>
                    </a:cubicBezTo>
                    <a:cubicBezTo>
                      <a:pt x="211137" y="47265"/>
                      <a:pt x="163873" y="0"/>
                      <a:pt x="105569" y="0"/>
                    </a:cubicBezTo>
                    <a:cubicBezTo>
                      <a:pt x="47265" y="0"/>
                      <a:pt x="0" y="47265"/>
                      <a:pt x="0" y="105569"/>
                    </a:cubicBezTo>
                  </a:path>
                </a:pathLst>
              </a:custGeom>
              <a:noFill/>
              <a:ln w="19050">
                <a:solidFill>
                  <a:srgbClr val="163A5F"/>
                </a:solidFill>
              </a:ln>
            </p:spPr>
          </p:sp>
          <p:sp>
            <p:nvSpPr>
              <p:cNvPr id="8" name="Freeform 8"/>
              <p:cNvSpPr/>
              <p:nvPr/>
            </p:nvSpPr>
            <p:spPr>
              <a:xfrm>
                <a:off x="1064419" y="1597819"/>
                <a:ext cx="90488" cy="90488"/>
              </a:xfrm>
              <a:custGeom>
                <a:avLst/>
                <a:gdLst/>
                <a:ahLst/>
                <a:cxnLst/>
                <a:rect l="l" t="t" r="r" b="b"/>
                <a:pathLst>
                  <a:path w="90488" h="90488">
                    <a:moveTo>
                      <a:pt x="90488" y="90488"/>
                    </a:moveTo>
                    <a:lnTo>
                      <a:pt x="0" y="0"/>
                    </a:lnTo>
                  </a:path>
                </a:pathLst>
              </a:custGeom>
              <a:noFill/>
              <a:ln w="19050">
                <a:solidFill>
                  <a:srgbClr val="163A5F"/>
                </a:solidFill>
              </a:ln>
            </p:spPr>
          </p:sp>
        </p:grpSp>
        <p:sp>
          <p:nvSpPr>
            <p:cNvPr id="10" name="TextBox 10"/>
            <p:cNvSpPr txBox="1"/>
            <p:nvPr/>
          </p:nvSpPr>
          <p:spPr>
            <a:xfrm>
              <a:off x="1348740" y="1386840"/>
              <a:ext cx="1860347" cy="365760"/>
            </a:xfrm>
            <a:prstGeom prst="rect">
              <a:avLst/>
            </a:prstGeom>
            <a:noFill/>
            <a:ln>
              <a:noFill/>
            </a:ln>
          </p:spPr>
          <p:txBody>
            <a:bodyPr wrap="none" lIns="0" tIns="0" rIns="0" bIns="0" anchor="t" anchorCtr="0">
              <a:spAutoFit/>
            </a:bodyPr>
            <a:lstStyle/>
            <a:p>
              <a:pPr algn="l"/>
              <a:r>
                <a:rPr lang="zh-CN" sz="1800" b="1" dirty="0">
                  <a:solidFill>
                    <a:srgbClr val="1F2A37"/>
                  </a:solidFill>
                  <a:latin typeface="Segoe UI" panose="020B0502040204020203"/>
                  <a:ea typeface="微软雅黑" panose="020B0503020204020204" charset="-122"/>
                  <a:cs typeface="Segoe UI" panose="020B0502040204020203"/>
                </a:rPr>
                <a:t>Search engines</a:t>
              </a:r>
              <a:endParaRPr lang="zh-CN" sz="1800" b="1" dirty="0">
                <a:solidFill>
                  <a:srgbClr val="1F2A37"/>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821055" y="1892618"/>
              <a:ext cx="2031683" cy="521970"/>
            </a:xfrm>
            <a:prstGeom prst="rect">
              <a:avLst/>
            </a:prstGeom>
            <a:noFill/>
            <a:ln>
              <a:noFill/>
            </a:ln>
          </p:spPr>
          <p:txBody>
            <a:bodyPr wrap="square" lIns="0" tIns="0" rIns="0" bIns="0" anchor="t" anchorCtr="0"/>
            <a:lstStyle/>
            <a:p>
              <a:pPr algn="l">
                <a:lnSpc>
                  <a:spcPts val="1950"/>
                </a:lnSpc>
              </a:pPr>
              <a:r>
                <a:rPr lang="zh-CN" sz="1350" dirty="0">
                  <a:solidFill>
                    <a:srgbClr val="526273"/>
                  </a:solidFill>
                  <a:latin typeface="Segoe UI" panose="020B0502040204020203"/>
                  <a:ea typeface="微软雅黑" panose="020B0503020204020204" charset="-122"/>
                  <a:cs typeface="Segoe UI" panose="020B0502040204020203"/>
                </a:rPr>
                <a:t>Multiple sources, links, </a:t>
              </a:r>
              <a:r>
                <a:rPr lang="zh-CN" sz="1350" dirty="0">
                  <a:solidFill>
                    <a:srgbClr val="526273"/>
                  </a:solidFill>
                  <a:latin typeface="Segoe UI" panose="020B0502040204020203"/>
                  <a:ea typeface="微软雅黑" panose="020B0503020204020204" charset="-122"/>
                  <a:cs typeface="Segoe UI" panose="020B0502040204020203"/>
                </a:rPr>
                <a:t>and evidentiary cues</a:t>
              </a:r>
              <a:endParaRPr lang="zh-CN" sz="1350" dirty="0">
                <a:solidFill>
                  <a:srgbClr val="526273"/>
                </a:solidFill>
                <a:latin typeface="Segoe UI" panose="020B0502040204020203"/>
                <a:ea typeface="微软雅黑" panose="020B0503020204020204" charset="-122"/>
                <a:cs typeface="Segoe UI" panose="020B0502040204020203"/>
              </a:endParaRPr>
            </a:p>
          </p:txBody>
        </p:sp>
        <p:sp>
          <p:nvSpPr>
            <p:cNvPr id="12" name="Line 12"/>
            <p:cNvSpPr/>
            <p:nvPr/>
          </p:nvSpPr>
          <p:spPr>
            <a:xfrm>
              <a:off x="3848100" y="1924050"/>
              <a:ext cx="666750" cy="1"/>
            </a:xfrm>
            <a:prstGeom prst="line">
              <a:avLst/>
            </a:prstGeom>
            <a:noFill/>
            <a:ln w="19050">
              <a:solidFill>
                <a:srgbClr val="5B7FA3"/>
              </a:solidFill>
              <a:tailEnd type="triangle" w="lg" len="lg"/>
            </a:ln>
          </p:spPr>
        </p:sp>
      </p:grpSp>
      <p:grpSp>
        <p:nvGrpSpPr>
          <p:cNvPr id="23" name="Group 23"/>
          <p:cNvGrpSpPr/>
          <p:nvPr/>
        </p:nvGrpSpPr>
        <p:grpSpPr>
          <a:xfrm>
            <a:off x="4533900" y="1143000"/>
            <a:ext cx="4572000" cy="1562100"/>
            <a:chOff x="4533900" y="1143000"/>
            <a:chExt cx="4572000" cy="1562100"/>
          </a:xfrm>
        </p:grpSpPr>
        <p:sp>
          <p:nvSpPr>
            <p:cNvPr id="14" name="Rectangle 14"/>
            <p:cNvSpPr/>
            <p:nvPr/>
          </p:nvSpPr>
          <p:spPr>
            <a:xfrm>
              <a:off x="4533900" y="1143000"/>
              <a:ext cx="3905250" cy="1562100"/>
            </a:xfrm>
            <a:prstGeom prst="rect">
              <a:avLst/>
            </a:prstGeom>
            <a:solidFill>
              <a:srgbClr val="EAF0F7"/>
            </a:solidFill>
            <a:ln w="9525">
              <a:solidFill>
                <a:srgbClr val="5B7FA3"/>
              </a:solidFill>
            </a:ln>
          </p:spPr>
        </p:sp>
        <p:grpSp>
          <p:nvGrpSpPr>
            <p:cNvPr id="19" name="Group 19"/>
            <p:cNvGrpSpPr/>
            <p:nvPr/>
          </p:nvGrpSpPr>
          <p:grpSpPr>
            <a:xfrm>
              <a:off x="4807744" y="1431925"/>
              <a:ext cx="271462" cy="256381"/>
              <a:chOff x="4807744" y="1431925"/>
              <a:chExt cx="271462" cy="256381"/>
            </a:xfrm>
          </p:grpSpPr>
          <p:sp>
            <p:nvSpPr>
              <p:cNvPr id="15" name="Freeform 15"/>
              <p:cNvSpPr/>
              <p:nvPr/>
            </p:nvSpPr>
            <p:spPr>
              <a:xfrm>
                <a:off x="4807744" y="1431925"/>
                <a:ext cx="271462" cy="256381"/>
              </a:xfrm>
              <a:custGeom>
                <a:avLst/>
                <a:gdLst/>
                <a:ahLst/>
                <a:cxnLst/>
                <a:rect l="l" t="t" r="r" b="b"/>
                <a:pathLst>
                  <a:path w="271462" h="256381">
                    <a:moveTo>
                      <a:pt x="226219" y="0"/>
                    </a:moveTo>
                    <a:cubicBezTo>
                      <a:pt x="251206" y="0"/>
                      <a:pt x="271462" y="20256"/>
                      <a:pt x="271462" y="45244"/>
                    </a:cubicBezTo>
                    <a:lnTo>
                      <a:pt x="271462" y="165894"/>
                    </a:lnTo>
                    <a:cubicBezTo>
                      <a:pt x="271462" y="190881"/>
                      <a:pt x="251206" y="211137"/>
                      <a:pt x="226219" y="211137"/>
                    </a:cubicBezTo>
                    <a:lnTo>
                      <a:pt x="150813" y="211137"/>
                    </a:lnTo>
                    <a:lnTo>
                      <a:pt x="75406" y="256381"/>
                    </a:lnTo>
                    <a:lnTo>
                      <a:pt x="75406" y="211137"/>
                    </a:lnTo>
                    <a:lnTo>
                      <a:pt x="45244" y="211137"/>
                    </a:lnTo>
                    <a:cubicBezTo>
                      <a:pt x="20256" y="211137"/>
                      <a:pt x="0" y="190881"/>
                      <a:pt x="0" y="165894"/>
                    </a:cubicBezTo>
                    <a:lnTo>
                      <a:pt x="0" y="45244"/>
                    </a:lnTo>
                    <a:cubicBezTo>
                      <a:pt x="0" y="20256"/>
                      <a:pt x="20256" y="0"/>
                      <a:pt x="45244" y="0"/>
                    </a:cubicBezTo>
                    <a:lnTo>
                      <a:pt x="226219" y="0"/>
                    </a:lnTo>
                  </a:path>
                </a:pathLst>
              </a:custGeom>
              <a:noFill/>
              <a:ln w="19050">
                <a:solidFill>
                  <a:srgbClr val="163A5F"/>
                </a:solidFill>
              </a:ln>
            </p:spPr>
          </p:sp>
          <p:sp>
            <p:nvSpPr>
              <p:cNvPr id="16" name="Freeform 16"/>
              <p:cNvSpPr/>
              <p:nvPr/>
            </p:nvSpPr>
            <p:spPr>
              <a:xfrm>
                <a:off x="4905772" y="1507331"/>
                <a:ext cx="9525" cy="9525"/>
              </a:xfrm>
              <a:custGeom>
                <a:avLst/>
                <a:gdLst/>
                <a:ahLst/>
                <a:cxnLst/>
                <a:rect l="l" t="t" r="r" b="b"/>
                <a:pathLst>
                  <a:path w="9525" h="9525">
                    <a:moveTo>
                      <a:pt x="0" y="0"/>
                    </a:moveTo>
                    <a:lnTo>
                      <a:pt x="151" y="0"/>
                    </a:lnTo>
                  </a:path>
                </a:pathLst>
              </a:custGeom>
              <a:noFill/>
              <a:ln w="19050">
                <a:solidFill>
                  <a:srgbClr val="163A5F"/>
                </a:solidFill>
              </a:ln>
            </p:spPr>
          </p:sp>
          <p:sp>
            <p:nvSpPr>
              <p:cNvPr id="17" name="Freeform 17"/>
              <p:cNvSpPr/>
              <p:nvPr/>
            </p:nvSpPr>
            <p:spPr>
              <a:xfrm>
                <a:off x="4981178" y="1507331"/>
                <a:ext cx="9525" cy="9525"/>
              </a:xfrm>
              <a:custGeom>
                <a:avLst/>
                <a:gdLst/>
                <a:ahLst/>
                <a:cxnLst/>
                <a:rect l="l" t="t" r="r" b="b"/>
                <a:pathLst>
                  <a:path w="9525" h="9525">
                    <a:moveTo>
                      <a:pt x="0" y="0"/>
                    </a:moveTo>
                    <a:lnTo>
                      <a:pt x="151" y="0"/>
                    </a:lnTo>
                  </a:path>
                </a:pathLst>
              </a:custGeom>
              <a:noFill/>
              <a:ln w="19050">
                <a:solidFill>
                  <a:srgbClr val="163A5F"/>
                </a:solidFill>
              </a:ln>
            </p:spPr>
          </p:sp>
          <p:sp>
            <p:nvSpPr>
              <p:cNvPr id="18" name="Freeform 18"/>
              <p:cNvSpPr/>
              <p:nvPr/>
            </p:nvSpPr>
            <p:spPr>
              <a:xfrm>
                <a:off x="4905772" y="1567656"/>
                <a:ext cx="75406" cy="15843"/>
              </a:xfrm>
              <a:custGeom>
                <a:avLst/>
                <a:gdLst/>
                <a:ahLst/>
                <a:cxnLst/>
                <a:rect l="l" t="t" r="r" b="b"/>
                <a:pathLst>
                  <a:path w="75406" h="15843">
                    <a:moveTo>
                      <a:pt x="0" y="0"/>
                    </a:moveTo>
                    <a:cubicBezTo>
                      <a:pt x="9928" y="10133"/>
                      <a:pt x="23517" y="15843"/>
                      <a:pt x="37703" y="15843"/>
                    </a:cubicBezTo>
                    <a:cubicBezTo>
                      <a:pt x="51889" y="15843"/>
                      <a:pt x="65478" y="10133"/>
                      <a:pt x="75406" y="0"/>
                    </a:cubicBezTo>
                  </a:path>
                </a:pathLst>
              </a:custGeom>
              <a:noFill/>
              <a:ln w="19050">
                <a:solidFill>
                  <a:srgbClr val="163A5F"/>
                </a:solidFill>
              </a:ln>
            </p:spPr>
          </p:sp>
        </p:grpSp>
        <p:sp>
          <p:nvSpPr>
            <p:cNvPr id="20" name="TextBox 20"/>
            <p:cNvSpPr txBox="1"/>
            <p:nvPr/>
          </p:nvSpPr>
          <p:spPr>
            <a:xfrm>
              <a:off x="5273040" y="1386840"/>
              <a:ext cx="1658722" cy="365760"/>
            </a:xfrm>
            <a:prstGeom prst="rect">
              <a:avLst/>
            </a:prstGeom>
            <a:noFill/>
            <a:ln>
              <a:noFill/>
            </a:ln>
          </p:spPr>
          <p:txBody>
            <a:bodyPr wrap="none" lIns="0" tIns="0" rIns="0" bIns="0" anchor="t" anchorCtr="0">
              <a:spAutoFit/>
            </a:bodyPr>
            <a:lstStyle/>
            <a:p>
              <a:pPr algn="l"/>
              <a:r>
                <a:rPr lang="zh-CN" sz="1800" b="1" dirty="0">
                  <a:solidFill>
                    <a:srgbClr val="1F2A37"/>
                  </a:solidFill>
                  <a:latin typeface="Segoe UI" panose="020B0502040204020203"/>
                  <a:ea typeface="微软雅黑" panose="020B0503020204020204" charset="-122"/>
                  <a:cs typeface="Segoe UI" panose="020B0502040204020203"/>
                </a:rPr>
                <a:t>Generative AI</a:t>
              </a:r>
              <a:endParaRPr lang="zh-CN" sz="1800" b="1" dirty="0">
                <a:solidFill>
                  <a:srgbClr val="1F2A37"/>
                </a:solidFill>
                <a:latin typeface="Segoe UI" panose="020B0502040204020203"/>
                <a:ea typeface="微软雅黑" panose="020B0503020204020204" charset="-122"/>
                <a:cs typeface="Segoe UI" panose="020B0502040204020203"/>
              </a:endParaRPr>
            </a:p>
          </p:txBody>
        </p:sp>
        <p:sp>
          <p:nvSpPr>
            <p:cNvPr id="21" name="TextBox 21"/>
            <p:cNvSpPr txBox="1"/>
            <p:nvPr/>
          </p:nvSpPr>
          <p:spPr>
            <a:xfrm>
              <a:off x="4745355" y="1892618"/>
              <a:ext cx="3308985" cy="521970"/>
            </a:xfrm>
            <a:prstGeom prst="rect">
              <a:avLst/>
            </a:prstGeom>
            <a:noFill/>
            <a:ln>
              <a:noFill/>
            </a:ln>
          </p:spPr>
          <p:txBody>
            <a:bodyPr wrap="square" lIns="0" tIns="0" rIns="0" bIns="0" anchor="t" anchorCtr="0"/>
            <a:lstStyle/>
            <a:p>
              <a:pPr algn="l">
                <a:lnSpc>
                  <a:spcPts val="1950"/>
                </a:lnSpc>
              </a:pPr>
              <a:r>
                <a:rPr lang="zh-CN" sz="1350" dirty="0">
                  <a:solidFill>
                    <a:srgbClr val="526273"/>
                  </a:solidFill>
                  <a:latin typeface="Segoe UI" panose="020B0502040204020203"/>
                  <a:ea typeface="微软雅黑" panose="020B0503020204020204" charset="-122"/>
                  <a:cs typeface="Segoe UI" panose="020B0502040204020203"/>
                </a:rPr>
                <a:t>Direct answer → integrated explanation </a:t>
              </a:r>
              <a:r>
                <a:rPr lang="zh-CN" sz="1350" dirty="0">
                  <a:solidFill>
                    <a:srgbClr val="526273"/>
                  </a:solidFill>
                  <a:latin typeface="Segoe UI" panose="020B0502040204020203"/>
                  <a:ea typeface="微软雅黑" panose="020B0503020204020204" charset="-122"/>
                  <a:cs typeface="Segoe UI" panose="020B0502040204020203"/>
                </a:rPr>
                <a:t>→ follow-up questions</a:t>
              </a:r>
              <a:endParaRPr lang="zh-CN" sz="1350" dirty="0">
                <a:solidFill>
                  <a:srgbClr val="526273"/>
                </a:solidFill>
                <a:latin typeface="Segoe UI" panose="020B0502040204020203"/>
                <a:ea typeface="微软雅黑" panose="020B0503020204020204" charset="-122"/>
                <a:cs typeface="Segoe UI" panose="020B0502040204020203"/>
              </a:endParaRPr>
            </a:p>
          </p:txBody>
        </p:sp>
        <p:sp>
          <p:nvSpPr>
            <p:cNvPr id="22" name="Line 22"/>
            <p:cNvSpPr/>
            <p:nvPr/>
          </p:nvSpPr>
          <p:spPr>
            <a:xfrm>
              <a:off x="8439150" y="1924050"/>
              <a:ext cx="666750" cy="1"/>
            </a:xfrm>
            <a:prstGeom prst="line">
              <a:avLst/>
            </a:prstGeom>
            <a:noFill/>
            <a:ln w="19050">
              <a:solidFill>
                <a:srgbClr val="5B7FA3"/>
              </a:solidFill>
              <a:tailEnd type="triangle" w="lg" len="lg"/>
            </a:ln>
          </p:spPr>
        </p:sp>
      </p:grpSp>
      <p:grpSp>
        <p:nvGrpSpPr>
          <p:cNvPr id="29" name="Group 29"/>
          <p:cNvGrpSpPr/>
          <p:nvPr/>
        </p:nvGrpSpPr>
        <p:grpSpPr>
          <a:xfrm>
            <a:off x="9124950" y="1143000"/>
            <a:ext cx="2457450" cy="1562100"/>
            <a:chOff x="9124950" y="1143000"/>
            <a:chExt cx="2457450" cy="1562100"/>
          </a:xfrm>
        </p:grpSpPr>
        <p:sp>
          <p:nvSpPr>
            <p:cNvPr id="24" name="Rectangle 24"/>
            <p:cNvSpPr/>
            <p:nvPr/>
          </p:nvSpPr>
          <p:spPr>
            <a:xfrm>
              <a:off x="9124950" y="1143000"/>
              <a:ext cx="2457450" cy="1562100"/>
            </a:xfrm>
            <a:prstGeom prst="rect">
              <a:avLst/>
            </a:prstGeom>
            <a:solidFill>
              <a:srgbClr val="FFFFFF"/>
            </a:solidFill>
            <a:ln w="19050">
              <a:solidFill>
                <a:srgbClr val="B42318"/>
              </a:solidFill>
            </a:ln>
          </p:spPr>
        </p:sp>
        <p:sp>
          <p:nvSpPr>
            <p:cNvPr id="25" name="TextBox 25"/>
            <p:cNvSpPr txBox="1"/>
            <p:nvPr/>
          </p:nvSpPr>
          <p:spPr>
            <a:xfrm>
              <a:off x="9337358" y="1367314"/>
              <a:ext cx="1299893" cy="259080"/>
            </a:xfrm>
            <a:prstGeom prst="rect">
              <a:avLst/>
            </a:prstGeom>
            <a:noFill/>
            <a:ln>
              <a:noFill/>
            </a:ln>
          </p:spPr>
          <p:txBody>
            <a:bodyPr wrap="none" lIns="0" tIns="0" rIns="0" bIns="0" anchor="t" anchorCtr="0">
              <a:spAutoFit/>
            </a:bodyPr>
            <a:lstStyle/>
            <a:p>
              <a:pPr algn="l"/>
              <a:r>
                <a:rPr lang="zh-CN" sz="1275" b="1" dirty="0">
                  <a:solidFill>
                    <a:srgbClr val="B42318"/>
                  </a:solidFill>
                  <a:latin typeface="Segoe UI" panose="020B0502040204020203"/>
                  <a:ea typeface="微软雅黑" panose="020B0503020204020204" charset="-122"/>
                  <a:cs typeface="Segoe UI" panose="020B0502040204020203"/>
                </a:rPr>
                <a:t>SHARED SYSTEM</a:t>
              </a:r>
              <a:endParaRPr lang="zh-CN" sz="1275" b="1" dirty="0">
                <a:solidFill>
                  <a:srgbClr val="B42318"/>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9337358" y="1710214"/>
              <a:ext cx="950500" cy="259080"/>
            </a:xfrm>
            <a:prstGeom prst="rect">
              <a:avLst/>
            </a:prstGeom>
            <a:noFill/>
            <a:ln>
              <a:noFill/>
            </a:ln>
          </p:spPr>
          <p:txBody>
            <a:bodyPr wrap="none" lIns="0" tIns="0" rIns="0" bIns="0" anchor="t" anchorCtr="0">
              <a:spAutoFit/>
            </a:bodyPr>
            <a:lstStyle/>
            <a:p>
              <a:pPr algn="l"/>
              <a:r>
                <a:rPr lang="zh-CN" sz="1275" dirty="0">
                  <a:solidFill>
                    <a:srgbClr val="1F2A37"/>
                  </a:solidFill>
                  <a:latin typeface="Segoe UI" panose="020B0502040204020203"/>
                  <a:ea typeface="微软雅黑" panose="020B0503020204020204" charset="-122"/>
                  <a:cs typeface="Segoe UI" panose="020B0502040204020203"/>
                </a:rPr>
                <a:t>Same model</a:t>
              </a:r>
              <a:endParaRPr lang="zh-CN" sz="1275" dirty="0">
                <a:solidFill>
                  <a:srgbClr val="1F2A37"/>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9337358" y="1957864"/>
              <a:ext cx="1732597" cy="259080"/>
            </a:xfrm>
            <a:prstGeom prst="rect">
              <a:avLst/>
            </a:prstGeom>
            <a:noFill/>
            <a:ln>
              <a:noFill/>
            </a:ln>
          </p:spPr>
          <p:txBody>
            <a:bodyPr wrap="none" lIns="0" tIns="0" rIns="0" bIns="0" anchor="t" anchorCtr="0">
              <a:spAutoFit/>
            </a:bodyPr>
            <a:lstStyle/>
            <a:p>
              <a:pPr algn="l"/>
              <a:r>
                <a:rPr lang="zh-CN" sz="1275" dirty="0">
                  <a:solidFill>
                    <a:srgbClr val="1F2A37"/>
                  </a:solidFill>
                  <a:latin typeface="Segoe UI" panose="020B0502040204020203"/>
                  <a:ea typeface="微软雅黑" panose="020B0503020204020204" charset="-122"/>
                  <a:cs typeface="Segoe UI" panose="020B0502040204020203"/>
                </a:rPr>
                <a:t>Similar training data</a:t>
              </a:r>
              <a:endParaRPr lang="zh-CN" sz="1275" dirty="0">
                <a:solidFill>
                  <a:srgbClr val="1F2A37"/>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9337358" y="2205514"/>
              <a:ext cx="1681591" cy="259080"/>
            </a:xfrm>
            <a:prstGeom prst="rect">
              <a:avLst/>
            </a:prstGeom>
            <a:noFill/>
            <a:ln>
              <a:noFill/>
            </a:ln>
          </p:spPr>
          <p:txBody>
            <a:bodyPr wrap="none" lIns="0" tIns="0" rIns="0" bIns="0" anchor="t" anchorCtr="0">
              <a:spAutoFit/>
            </a:bodyPr>
            <a:lstStyle/>
            <a:p>
              <a:pPr algn="l"/>
              <a:r>
                <a:rPr lang="zh-CN" sz="1275" dirty="0">
                  <a:solidFill>
                    <a:srgbClr val="1F2A37"/>
                  </a:solidFill>
                  <a:latin typeface="Segoe UI" panose="020B0502040204020203"/>
                  <a:ea typeface="微软雅黑" panose="020B0503020204020204" charset="-122"/>
                  <a:cs typeface="Segoe UI" panose="020B0502040204020203"/>
                </a:rPr>
                <a:t>Same retrieval logic</a:t>
              </a:r>
              <a:endParaRPr lang="zh-CN" sz="1275" dirty="0">
                <a:solidFill>
                  <a:srgbClr val="1F2A37"/>
                </a:solidFill>
                <a:latin typeface="Segoe UI" panose="020B0502040204020203"/>
                <a:ea typeface="微软雅黑" panose="020B0503020204020204" charset="-122"/>
                <a:cs typeface="Segoe UI" panose="020B0502040204020203"/>
              </a:endParaRPr>
            </a:p>
          </p:txBody>
        </p:sp>
      </p:grpSp>
      <p:grpSp>
        <p:nvGrpSpPr>
          <p:cNvPr id="35" name="Group 35"/>
          <p:cNvGrpSpPr/>
          <p:nvPr/>
        </p:nvGrpSpPr>
        <p:grpSpPr>
          <a:xfrm>
            <a:off x="609600" y="3143250"/>
            <a:ext cx="10972800" cy="2381250"/>
            <a:chOff x="609600" y="3143250"/>
            <a:chExt cx="10972800" cy="2381250"/>
          </a:xfrm>
        </p:grpSpPr>
        <p:sp>
          <p:nvSpPr>
            <p:cNvPr id="30" name="Rectangle 30"/>
            <p:cNvSpPr/>
            <p:nvPr/>
          </p:nvSpPr>
          <p:spPr>
            <a:xfrm>
              <a:off x="609600" y="3143250"/>
              <a:ext cx="10972800" cy="2381250"/>
            </a:xfrm>
            <a:prstGeom prst="rect">
              <a:avLst/>
            </a:prstGeom>
            <a:solidFill>
              <a:srgbClr val="FFFFFF"/>
            </a:solidFill>
            <a:ln w="9525">
              <a:solidFill>
                <a:srgbClr val="CCD6E1"/>
              </a:solidFill>
            </a:ln>
          </p:spPr>
        </p:sp>
        <p:sp>
          <p:nvSpPr>
            <p:cNvPr id="31" name="Rectangle 31"/>
            <p:cNvSpPr/>
            <p:nvPr/>
          </p:nvSpPr>
          <p:spPr>
            <a:xfrm>
              <a:off x="609600" y="3143250"/>
              <a:ext cx="95250" cy="2381250"/>
            </a:xfrm>
            <a:prstGeom prst="rect">
              <a:avLst/>
            </a:prstGeom>
            <a:solidFill>
              <a:srgbClr val="B42318"/>
            </a:solidFill>
            <a:ln>
              <a:noFill/>
            </a:ln>
          </p:spPr>
        </p:sp>
        <p:sp>
          <p:nvSpPr>
            <p:cNvPr id="32" name="TextBox 32"/>
            <p:cNvSpPr txBox="1"/>
            <p:nvPr/>
          </p:nvSpPr>
          <p:spPr>
            <a:xfrm>
              <a:off x="916305" y="3416618"/>
              <a:ext cx="3077570" cy="274320"/>
            </a:xfrm>
            <a:prstGeom prst="rect">
              <a:avLst/>
            </a:prstGeom>
            <a:noFill/>
            <a:ln>
              <a:noFill/>
            </a:ln>
          </p:spPr>
          <p:txBody>
            <a:bodyPr wrap="none" lIns="0" tIns="0" rIns="0" bIns="0" anchor="t" anchorCtr="0">
              <a:spAutoFit/>
            </a:bodyPr>
            <a:lstStyle/>
            <a:p>
              <a:pPr algn="l"/>
              <a:r>
                <a:rPr lang="zh-CN" sz="1350" b="1" dirty="0">
                  <a:solidFill>
                    <a:srgbClr val="B42318"/>
                  </a:solidFill>
                  <a:latin typeface="Segoe UI" panose="020B0502040204020203"/>
                  <a:ea typeface="微软雅黑" panose="020B0503020204020204" charset="-122"/>
                  <a:cs typeface="Segoe UI" panose="020B0502040204020203"/>
                </a:rPr>
                <a:t>RESEARCH PROBLEM · GROUP LEVEL</a:t>
              </a:r>
              <a:endParaRPr lang="zh-CN" sz="1350" b="1" dirty="0">
                <a:solidFill>
                  <a:srgbClr val="B42318"/>
                </a:solidFill>
                <a:latin typeface="Segoe UI" panose="020B0502040204020203"/>
                <a:ea typeface="微软雅黑" panose="020B0503020204020204" charset="-122"/>
                <a:cs typeface="Segoe UI" panose="020B0502040204020203"/>
              </a:endParaRPr>
            </a:p>
          </p:txBody>
        </p:sp>
        <p:sp>
          <p:nvSpPr>
            <p:cNvPr id="33" name="TextBox 33"/>
            <p:cNvSpPr txBox="1"/>
            <p:nvPr/>
          </p:nvSpPr>
          <p:spPr>
            <a:xfrm>
              <a:off x="912495" y="3822382"/>
              <a:ext cx="8248936" cy="659130"/>
            </a:xfrm>
            <a:prstGeom prst="rect">
              <a:avLst/>
            </a:prstGeom>
            <a:noFill/>
            <a:ln>
              <a:noFill/>
            </a:ln>
          </p:spPr>
          <p:txBody>
            <a:bodyPr wrap="square" lIns="0" tIns="0" rIns="0" bIns="0" anchor="t" anchorCtr="0"/>
            <a:lstStyle/>
            <a:p>
              <a:pPr algn="l">
                <a:lnSpc>
                  <a:spcPts val="2550"/>
                </a:lnSpc>
              </a:pPr>
              <a:r>
                <a:rPr lang="zh-CN" sz="1650" b="1" dirty="0">
                  <a:solidFill>
                    <a:srgbClr val="1F2A37"/>
                  </a:solidFill>
                  <a:latin typeface="Segoe UI" panose="020B0502040204020203"/>
                  <a:ea typeface="微软雅黑" panose="020B0503020204020204" charset="-122"/>
                  <a:cs typeface="Segoe UI" panose="020B0502040204020203"/>
                </a:rPr>
                <a:t>Many members may rely on the same model, training data, retrieval system, </a:t>
              </a:r>
              <a:r>
                <a:rPr lang="zh-CN" sz="1650" b="1" dirty="0">
                  <a:solidFill>
                    <a:srgbClr val="1F2A37"/>
                  </a:solidFill>
                  <a:latin typeface="Segoe UI" panose="020B0502040204020203"/>
                  <a:ea typeface="微软雅黑" panose="020B0503020204020204" charset="-122"/>
                  <a:cs typeface="Segoe UI" panose="020B0502040204020203"/>
                </a:rPr>
                <a:t>and answer-generation logic.</a:t>
              </a:r>
              <a:endParaRPr lang="zh-CN" sz="1650" b="1" dirty="0">
                <a:solidFill>
                  <a:srgbClr val="1F2A37"/>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915352" y="4646771"/>
              <a:ext cx="8849678" cy="575310"/>
            </a:xfrm>
            <a:prstGeom prst="rect">
              <a:avLst/>
            </a:prstGeom>
            <a:noFill/>
            <a:ln>
              <a:noFill/>
            </a:ln>
          </p:spPr>
          <p:txBody>
            <a:bodyPr wrap="square" lIns="0" tIns="0" rIns="0" bIns="0" anchor="t" anchorCtr="0"/>
            <a:lstStyle/>
            <a:p>
              <a:pPr algn="l">
                <a:lnSpc>
                  <a:spcPts val="2250"/>
                </a:lnSpc>
              </a:pPr>
              <a:r>
                <a:rPr lang="zh-CN" sz="1425" dirty="0">
                  <a:solidFill>
                    <a:srgbClr val="526273"/>
                  </a:solidFill>
                  <a:latin typeface="Segoe UI" panose="020B0502040204020203"/>
                  <a:ea typeface="微软雅黑" panose="020B0503020204020204" charset="-122"/>
                  <a:cs typeface="Segoe UI" panose="020B0502040204020203"/>
                </a:rPr>
                <a:t>Judgments appear independent, yet may repeat the same omissions, narrative frames, and errors. </a:t>
              </a:r>
              <a:r>
                <a:rPr lang="zh-CN" sz="1425" dirty="0">
                  <a:solidFill>
                    <a:srgbClr val="526273"/>
                  </a:solidFill>
                  <a:latin typeface="Segoe UI" panose="020B0502040204020203"/>
                  <a:ea typeface="微软雅黑" panose="020B0503020204020204" charset="-122"/>
                  <a:cs typeface="Segoe UI" panose="020B0502040204020203"/>
                </a:rPr>
                <a:t>The number of judgments grows; the number of independent information samples may not.</a:t>
              </a:r>
              <a:endParaRPr lang="zh-CN" sz="1425" dirty="0">
                <a:solidFill>
                  <a:srgbClr val="526273"/>
                </a:solidFill>
                <a:latin typeface="Segoe UI" panose="020B0502040204020203"/>
                <a:ea typeface="微软雅黑" panose="020B0503020204020204" charset="-122"/>
                <a:cs typeface="Segoe UI" panose="020B0502040204020203"/>
              </a:endParaRPr>
            </a:p>
          </p:txBody>
        </p:sp>
      </p:grpSp>
      <p:grpSp>
        <p:nvGrpSpPr>
          <p:cNvPr id="38" name="Group 38"/>
          <p:cNvGrpSpPr/>
          <p:nvPr/>
        </p:nvGrpSpPr>
        <p:grpSpPr>
          <a:xfrm>
            <a:off x="595312" y="5882164"/>
            <a:ext cx="6113908" cy="259080"/>
            <a:chOff x="595312" y="5882164"/>
            <a:chExt cx="6113908" cy="259080"/>
          </a:xfrm>
        </p:grpSpPr>
        <p:sp>
          <p:nvSpPr>
            <p:cNvPr id="36" name="TextBox 36"/>
            <p:cNvSpPr txBox="1"/>
            <p:nvPr/>
          </p:nvSpPr>
          <p:spPr>
            <a:xfrm>
              <a:off x="595312" y="5898356"/>
              <a:ext cx="1729788" cy="228600"/>
            </a:xfrm>
            <a:prstGeom prst="rect">
              <a:avLst/>
            </a:prstGeom>
            <a:noFill/>
            <a:ln>
              <a:noFill/>
            </a:ln>
          </p:spPr>
          <p:txBody>
            <a:bodyPr wrap="none" lIns="0" tIns="0" rIns="0" bIns="0" anchor="t" anchorCtr="0">
              <a:spAutoFit/>
            </a:bodyPr>
            <a:lstStyle/>
            <a:p>
              <a:pPr algn="l"/>
              <a:r>
                <a:rPr lang="zh-CN" sz="1125" b="1" dirty="0">
                  <a:solidFill>
                    <a:srgbClr val="163A5F"/>
                  </a:solidFill>
                  <a:latin typeface="Segoe UI" panose="020B0502040204020203"/>
                  <a:ea typeface="微软雅黑" panose="020B0503020204020204" charset="-122"/>
                  <a:cs typeface="Segoe UI" panose="020B0502040204020203"/>
                </a:rPr>
                <a:t>REAL-WORLD EXAMPLES</a:t>
              </a:r>
              <a:endParaRPr lang="zh-CN" sz="1125" b="1" dirty="0">
                <a:solidFill>
                  <a:srgbClr val="163A5F"/>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2460308" y="5882164"/>
              <a:ext cx="4248912" cy="259080"/>
            </a:xfrm>
            <a:prstGeom prst="rect">
              <a:avLst/>
            </a:prstGeom>
            <a:noFill/>
            <a:ln>
              <a:noFill/>
            </a:ln>
          </p:spPr>
          <p:txBody>
            <a:bodyPr wrap="none" lIns="0" tIns="0" rIns="0" bIns="0" anchor="t" anchorCtr="0">
              <a:spAutoFit/>
            </a:bodyPr>
            <a:lstStyle/>
            <a:p>
              <a:pPr algn="l"/>
              <a:r>
                <a:rPr lang="zh-CN" sz="1275" dirty="0">
                  <a:solidFill>
                    <a:srgbClr val="526273"/>
                  </a:solidFill>
                  <a:latin typeface="Segoe UI" panose="020B0502040204020203"/>
                  <a:ea typeface="微软雅黑" panose="020B0503020204020204" charset="-122"/>
                  <a:cs typeface="Segoe UI" panose="020B0502040204020203"/>
                </a:rPr>
                <a:t>AI search assistants embedded in Weibo and WeChat</a:t>
              </a:r>
              <a:endParaRPr lang="zh-CN" sz="1275" dirty="0">
                <a:solidFill>
                  <a:srgbClr val="526273"/>
                </a:solidFill>
                <a:latin typeface="Segoe UI" panose="020B0502040204020203"/>
                <a:ea typeface="微软雅黑" panose="020B0503020204020204" charset="-122"/>
                <a:cs typeface="Segoe UI" panose="020B0502040204020203"/>
              </a:endParaRPr>
            </a:p>
          </p:txBody>
        </p:sp>
      </p:grpSp>
      <p:sp>
        <p:nvSpPr>
          <p:cNvPr id="39" name="TextBox 39"/>
          <p:cNvSpPr txBox="1"/>
          <p:nvPr/>
        </p:nvSpPr>
        <p:spPr>
          <a:xfrm>
            <a:off x="11438954" y="6398895"/>
            <a:ext cx="154877" cy="182880"/>
          </a:xfrm>
          <a:prstGeom prst="rect">
            <a:avLst/>
          </a:prstGeom>
          <a:noFill/>
          <a:ln>
            <a:noFill/>
          </a:ln>
        </p:spPr>
        <p:txBody>
          <a:bodyPr wrap="none" lIns="0" tIns="0" rIns="0" bIns="0" anchor="t" anchorCtr="0">
            <a:spAutoFit/>
          </a:bodyPr>
          <a:lstStyle/>
          <a:p>
            <a:pPr algn="r"/>
            <a:r>
              <a:rPr lang="zh-CN" sz="900" dirty="0">
                <a:solidFill>
                  <a:srgbClr val="7B8794"/>
                </a:solidFill>
                <a:latin typeface="Segoe UI" panose="020B0502040204020203"/>
                <a:ea typeface="微软雅黑" panose="020B0503020204020204" charset="-122"/>
                <a:cs typeface="Segoe UI" panose="020B0502040204020203"/>
              </a:rPr>
              <a:t>02</a:t>
            </a:r>
            <a:endParaRPr lang="zh-CN" sz="900"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wipe(left)">
                                      <p:cBhvr>
                                        <p:cTn id="11" dur="400"/>
                                        <p:tgtEl>
                                          <p:spTgt spid="23"/>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slide(fromBottom)">
                                      <p:cBhvr>
                                        <p:cTn id="15" dur="400"/>
                                        <p:tgtEl>
                                          <p:spTgt spid="29"/>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image">
                                      <p:cBhvr>
                                        <p:cTn id="19" dur="400"/>
                                        <p:tgtEl>
                                          <p:spTgt spid="35"/>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8"/>
                                        </p:tgtEl>
                                        <p:attrNameLst>
                                          <p:attrName>style.visibility</p:attrName>
                                        </p:attrNameLst>
                                      </p:cBhvr>
                                      <p:to>
                                        <p:strVal val="visible"/>
                                      </p:to>
                                    </p:set>
                                    <p:animEffect transition="in" filter="fade">
                                      <p:cBhvr>
                                        <p:cTn id="23" dur="4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23" grpId="0"/>
      <p:bldP spid="29" grpId="0"/>
      <p:bldP spid="35" grpId="0"/>
      <p:bldP spid="3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grpSp>
        <p:nvGrpSpPr>
          <p:cNvPr id="5" name="Group 5"/>
          <p:cNvGrpSpPr/>
          <p:nvPr/>
        </p:nvGrpSpPr>
        <p:grpSpPr>
          <a:xfrm>
            <a:off x="577215" y="277178"/>
            <a:ext cx="3905904" cy="668178"/>
            <a:chOff x="577215" y="277178"/>
            <a:chExt cx="3905904" cy="668178"/>
          </a:xfrm>
        </p:grpSpPr>
        <p:sp>
          <p:nvSpPr>
            <p:cNvPr id="3" name="TextBox 3"/>
            <p:cNvSpPr txBox="1"/>
            <p:nvPr/>
          </p:nvSpPr>
          <p:spPr>
            <a:xfrm>
              <a:off x="577215" y="277178"/>
              <a:ext cx="3706625" cy="518160"/>
            </a:xfrm>
            <a:prstGeom prst="rect">
              <a:avLst/>
            </a:prstGeom>
            <a:noFill/>
            <a:ln>
              <a:noFill/>
            </a:ln>
          </p:spPr>
          <p:txBody>
            <a:bodyPr wrap="none" lIns="0" tIns="0" rIns="0" bIns="0" anchor="t" anchorCtr="0">
              <a:spAutoFit/>
            </a:bodyPr>
            <a:lstStyle/>
            <a:p>
              <a:pPr algn="l"/>
              <a:r>
                <a:rPr lang="zh-CN" sz="2550" b="1" dirty="0">
                  <a:solidFill>
                    <a:srgbClr val="163A5F"/>
                  </a:solidFill>
                  <a:latin typeface="Segoe UI" panose="020B0502040204020203"/>
                  <a:ea typeface="微软雅黑" panose="020B0503020204020204" charset="-122"/>
                  <a:cs typeface="Segoe UI" panose="020B0502040204020203"/>
                </a:rPr>
                <a:t>Research Background</a:t>
              </a:r>
              <a:endParaRPr lang="zh-CN" sz="2550" b="1" dirty="0">
                <a:solidFill>
                  <a:srgbClr val="163A5F"/>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595312" y="716756"/>
              <a:ext cx="3887807" cy="228600"/>
            </a:xfrm>
            <a:prstGeom prst="rect">
              <a:avLst/>
            </a:prstGeom>
            <a:noFill/>
            <a:ln>
              <a:noFill/>
            </a:ln>
          </p:spPr>
          <p:txBody>
            <a:bodyPr wrap="none" lIns="0" tIns="0" rIns="0" bIns="0" anchor="t" anchorCtr="0">
              <a:spAutoFit/>
            </a:bodyPr>
            <a:lstStyle/>
            <a:p>
              <a:pPr algn="l"/>
              <a:r>
                <a:rPr lang="zh-CN" sz="1125" b="1" dirty="0">
                  <a:solidFill>
                    <a:srgbClr val="5B7FA3"/>
                  </a:solidFill>
                  <a:latin typeface="Segoe UI" panose="020B0502040204020203"/>
                  <a:ea typeface="微软雅黑" panose="020B0503020204020204" charset="-122"/>
                  <a:cs typeface="Segoe UI" panose="020B0502040204020203"/>
                </a:rPr>
                <a:t>DIRECT EVIDENCE ON AI-ASSISTED WISDOM OF CROWDS</a:t>
              </a:r>
              <a:endParaRPr lang="zh-CN" sz="1125" b="1" dirty="0">
                <a:solidFill>
                  <a:srgbClr val="5B7FA3"/>
                </a:solidFill>
                <a:latin typeface="Segoe UI" panose="020B0502040204020203"/>
                <a:ea typeface="微软雅黑" panose="020B0503020204020204" charset="-122"/>
                <a:cs typeface="Segoe UI" panose="020B0502040204020203"/>
              </a:endParaRPr>
            </a:p>
          </p:txBody>
        </p:sp>
      </p:grpSp>
      <p:grpSp>
        <p:nvGrpSpPr>
          <p:cNvPr id="15" name="Group 15"/>
          <p:cNvGrpSpPr/>
          <p:nvPr/>
        </p:nvGrpSpPr>
        <p:grpSpPr>
          <a:xfrm>
            <a:off x="609600" y="1143000"/>
            <a:ext cx="5257800" cy="2724150"/>
            <a:chOff x="609600" y="1143000"/>
            <a:chExt cx="5257800" cy="2724150"/>
          </a:xfrm>
        </p:grpSpPr>
        <p:sp>
          <p:nvSpPr>
            <p:cNvPr id="6" name="Rectangle 6"/>
            <p:cNvSpPr/>
            <p:nvPr/>
          </p:nvSpPr>
          <p:spPr>
            <a:xfrm>
              <a:off x="609600" y="1143000"/>
              <a:ext cx="5257800" cy="2724150"/>
            </a:xfrm>
            <a:prstGeom prst="rect">
              <a:avLst/>
            </a:prstGeom>
            <a:solidFill>
              <a:srgbClr val="FFFFFF"/>
            </a:solidFill>
            <a:ln w="9525">
              <a:solidFill>
                <a:srgbClr val="CCD6E1"/>
              </a:solidFill>
            </a:ln>
          </p:spPr>
        </p:sp>
        <p:sp>
          <p:nvSpPr>
            <p:cNvPr id="7" name="Rectangle 7"/>
            <p:cNvSpPr/>
            <p:nvPr/>
          </p:nvSpPr>
          <p:spPr>
            <a:xfrm>
              <a:off x="609600" y="1143000"/>
              <a:ext cx="5257800" cy="76200"/>
            </a:xfrm>
            <a:prstGeom prst="rect">
              <a:avLst/>
            </a:prstGeom>
            <a:solidFill>
              <a:srgbClr val="163A5F"/>
            </a:solidFill>
            <a:ln>
              <a:noFill/>
            </a:ln>
          </p:spPr>
        </p:sp>
        <p:sp>
          <p:nvSpPr>
            <p:cNvPr id="8" name="TextBox 8"/>
            <p:cNvSpPr txBox="1"/>
            <p:nvPr/>
          </p:nvSpPr>
          <p:spPr>
            <a:xfrm>
              <a:off x="853440" y="1386840"/>
              <a:ext cx="3485950" cy="365760"/>
            </a:xfrm>
            <a:prstGeom prst="rect">
              <a:avLst/>
            </a:prstGeom>
            <a:noFill/>
            <a:ln>
              <a:noFill/>
            </a:ln>
          </p:spPr>
          <p:txBody>
            <a:bodyPr wrap="none" lIns="0" tIns="0" rIns="0" bIns="0" anchor="t" anchorCtr="0">
              <a:spAutoFit/>
            </a:bodyPr>
            <a:lstStyle/>
            <a:p>
              <a:pPr algn="l"/>
              <a:r>
                <a:rPr lang="zh-CN" sz="1800" b="1" dirty="0">
                  <a:solidFill>
                    <a:srgbClr val="1F2A37"/>
                  </a:solidFill>
                  <a:latin typeface="Segoe UI" panose="020B0502040204020203"/>
                  <a:ea typeface="微软雅黑" panose="020B0503020204020204" charset="-122"/>
                  <a:cs typeface="Segoe UI" panose="020B0502040204020203"/>
                </a:rPr>
                <a:t>Pal, Palley &amp; Satopää (2026)</a:t>
              </a:r>
              <a:endParaRPr lang="zh-CN" sz="1800" b="1" dirty="0">
                <a:solidFill>
                  <a:srgbClr val="1F2A37"/>
                </a:solidFill>
                <a:latin typeface="Segoe UI" panose="020B0502040204020203"/>
                <a:ea typeface="微软雅黑" panose="020B0503020204020204" charset="-122"/>
                <a:cs typeface="Segoe UI" panose="020B0502040204020203"/>
              </a:endParaRPr>
            </a:p>
          </p:txBody>
        </p:sp>
        <p:sp>
          <p:nvSpPr>
            <p:cNvPr id="9" name="TextBox 9"/>
            <p:cNvSpPr txBox="1"/>
            <p:nvPr/>
          </p:nvSpPr>
          <p:spPr>
            <a:xfrm>
              <a:off x="862012" y="1764506"/>
              <a:ext cx="4754166" cy="228600"/>
            </a:xfrm>
            <a:prstGeom prst="rect">
              <a:avLst/>
            </a:prstGeom>
            <a:noFill/>
            <a:ln>
              <a:noFill/>
            </a:ln>
          </p:spPr>
          <p:txBody>
            <a:bodyPr wrap="none" lIns="0" tIns="0" rIns="0" bIns="0" anchor="t" anchorCtr="0">
              <a:spAutoFit/>
            </a:bodyPr>
            <a:lstStyle/>
            <a:p>
              <a:pPr algn="l"/>
              <a:r>
                <a:rPr lang="zh-CN" sz="1125" dirty="0">
                  <a:solidFill>
                    <a:srgbClr val="526273"/>
                  </a:solidFill>
                  <a:latin typeface="Segoe UI" panose="020B0502040204020203"/>
                  <a:ea typeface="微软雅黑" panose="020B0503020204020204" charset="-122"/>
                  <a:cs typeface="Segoe UI" panose="020B0502040204020203"/>
                </a:rPr>
                <a:t>Enhancing Crowd Accuracy in AI-Assisted Judgmental Forecasting</a:t>
              </a:r>
              <a:endParaRPr lang="zh-CN" sz="1125" dirty="0">
                <a:solidFill>
                  <a:srgbClr val="526273"/>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859155" y="2187892"/>
              <a:ext cx="4783455" cy="531495"/>
            </a:xfrm>
            <a:prstGeom prst="rect">
              <a:avLst/>
            </a:prstGeom>
            <a:noFill/>
            <a:ln>
              <a:noFill/>
            </a:ln>
          </p:spPr>
          <p:txBody>
            <a:bodyPr wrap="square" lIns="0" tIns="0" rIns="0" bIns="0" anchor="t" anchorCtr="0"/>
            <a:lstStyle/>
            <a:p>
              <a:pPr algn="l">
                <a:lnSpc>
                  <a:spcPts val="2025"/>
                </a:lnSpc>
              </a:pPr>
              <a:r>
                <a:rPr lang="zh-CN" sz="1350" dirty="0">
                  <a:solidFill>
                    <a:srgbClr val="1F2A37"/>
                  </a:solidFill>
                  <a:latin typeface="Segoe UI" panose="020B0502040204020203"/>
                  <a:ea typeface="微软雅黑" panose="020B0503020204020204" charset="-122"/>
                  <a:cs typeface="Segoe UI" panose="020B0502040204020203"/>
                </a:rPr>
                <a:t>The same AI advice is shared information that can be </a:t>
              </a:r>
              <a:r>
                <a:rPr lang="zh-CN" sz="1350" dirty="0">
                  <a:solidFill>
                    <a:srgbClr val="1F2A37"/>
                  </a:solidFill>
                  <a:latin typeface="Segoe UI" panose="020B0502040204020203"/>
                  <a:ea typeface="微软雅黑" panose="020B0503020204020204" charset="-122"/>
                  <a:cs typeface="Segoe UI" panose="020B0502040204020203"/>
                </a:rPr>
                <a:t>counted repeatedly and overrepresented in aggregation.</a:t>
              </a:r>
              <a:endParaRPr lang="zh-CN" sz="1350" dirty="0">
                <a:solidFill>
                  <a:srgbClr val="1F2A37"/>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876300" y="3048000"/>
              <a:ext cx="1257300" cy="514350"/>
            </a:xfrm>
            <a:prstGeom prst="rect">
              <a:avLst/>
            </a:prstGeom>
            <a:solidFill>
              <a:srgbClr val="EAF0F7"/>
            </a:solidFill>
            <a:ln>
              <a:noFill/>
            </a:ln>
          </p:spPr>
        </p:sp>
        <p:sp>
          <p:nvSpPr>
            <p:cNvPr id="12" name="TextBox 12"/>
            <p:cNvSpPr txBox="1"/>
            <p:nvPr/>
          </p:nvSpPr>
          <p:spPr>
            <a:xfrm>
              <a:off x="1061916" y="3160395"/>
              <a:ext cx="886068" cy="182880"/>
            </a:xfrm>
            <a:prstGeom prst="rect">
              <a:avLst/>
            </a:prstGeom>
            <a:noFill/>
            <a:ln>
              <a:noFill/>
            </a:ln>
          </p:spPr>
          <p:txBody>
            <a:bodyPr wrap="none" lIns="0" tIns="0" rIns="0" bIns="0" anchor="t" anchorCtr="0">
              <a:spAutoFit/>
            </a:bodyPr>
            <a:lstStyle/>
            <a:p>
              <a:pPr algn="ctr"/>
              <a:r>
                <a:rPr lang="zh-CN" sz="900" b="1" dirty="0">
                  <a:solidFill>
                    <a:srgbClr val="526273"/>
                  </a:solidFill>
                  <a:latin typeface="Segoe UI" panose="020B0502040204020203"/>
                  <a:ea typeface="微软雅黑" panose="020B0503020204020204" charset="-122"/>
                  <a:cs typeface="Segoe UI" panose="020B0502040204020203"/>
                </a:rPr>
                <a:t>3 EXPERIMENTS</a:t>
              </a:r>
              <a:endParaRPr lang="zh-CN" sz="900" b="1" dirty="0">
                <a:solidFill>
                  <a:srgbClr val="526273"/>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945638" y="3290411"/>
              <a:ext cx="1118624" cy="350520"/>
            </a:xfrm>
            <a:prstGeom prst="rect">
              <a:avLst/>
            </a:prstGeom>
            <a:noFill/>
            <a:ln>
              <a:noFill/>
            </a:ln>
          </p:spPr>
          <p:txBody>
            <a:bodyPr wrap="none" lIns="0" tIns="0" rIns="0" bIns="0" anchor="t" anchorCtr="0">
              <a:spAutoFit/>
            </a:bodyPr>
            <a:lstStyle/>
            <a:p>
              <a:pPr algn="ctr"/>
              <a:r>
                <a:rPr lang="zh-CN" sz="1725" b="1" dirty="0">
                  <a:solidFill>
                    <a:srgbClr val="163A5F"/>
                  </a:solidFill>
                  <a:latin typeface="Segoe UI" panose="020B0502040204020203"/>
                  <a:ea typeface="微软雅黑" panose="020B0503020204020204" charset="-122"/>
                  <a:cs typeface="Segoe UI" panose="020B0502040204020203"/>
                </a:rPr>
                <a:t>N = 3,188</a:t>
              </a:r>
              <a:endParaRPr lang="zh-CN" sz="1725" b="1" dirty="0">
                <a:solidFill>
                  <a:srgbClr val="163A5F"/>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2327910" y="3080385"/>
              <a:ext cx="2270760" cy="472440"/>
            </a:xfrm>
            <a:prstGeom prst="rect">
              <a:avLst/>
            </a:prstGeom>
            <a:noFill/>
            <a:ln>
              <a:noFill/>
            </a:ln>
          </p:spPr>
          <p:txBody>
            <a:bodyPr wrap="square" lIns="0" tIns="0" rIns="0" bIns="0" anchor="t" anchorCtr="0"/>
            <a:lstStyle/>
            <a:p>
              <a:pPr algn="l">
                <a:lnSpc>
                  <a:spcPts val="1800"/>
                </a:lnSpc>
              </a:pPr>
              <a:r>
                <a:rPr lang="zh-CN" sz="1200" dirty="0">
                  <a:solidFill>
                    <a:srgbClr val="526273"/>
                  </a:solidFill>
                  <a:latin typeface="Segoe UI" panose="020B0502040204020203"/>
                  <a:ea typeface="微软雅黑" panose="020B0503020204020204" charset="-122"/>
                  <a:cs typeface="Segoe UI" panose="020B0502040204020203"/>
                </a:rPr>
                <a:t>Correction uses participants’ </a:t>
              </a:r>
              <a:r>
                <a:rPr lang="zh-CN" sz="1200" dirty="0">
                  <a:solidFill>
                    <a:srgbClr val="526273"/>
                  </a:solidFill>
                  <a:latin typeface="Segoe UI" panose="020B0502040204020203"/>
                  <a:ea typeface="微软雅黑" panose="020B0503020204020204" charset="-122"/>
                  <a:cs typeface="Segoe UI" panose="020B0502040204020203"/>
                </a:rPr>
                <a:t>pre-AI judgments.</a:t>
              </a:r>
              <a:endParaRPr lang="zh-CN" sz="1200" dirty="0">
                <a:solidFill>
                  <a:srgbClr val="526273"/>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6096000" y="1143000"/>
            <a:ext cx="6101714" cy="2724150"/>
            <a:chOff x="6096000" y="1143000"/>
            <a:chExt cx="6101714" cy="2724150"/>
          </a:xfrm>
        </p:grpSpPr>
        <p:sp>
          <p:nvSpPr>
            <p:cNvPr id="16" name="Rectangle 16"/>
            <p:cNvSpPr/>
            <p:nvPr/>
          </p:nvSpPr>
          <p:spPr>
            <a:xfrm>
              <a:off x="6096000" y="1143000"/>
              <a:ext cx="5486400" cy="2724150"/>
            </a:xfrm>
            <a:prstGeom prst="rect">
              <a:avLst/>
            </a:prstGeom>
            <a:solidFill>
              <a:srgbClr val="FFFFFF"/>
            </a:solidFill>
            <a:ln w="9525">
              <a:solidFill>
                <a:srgbClr val="CCD6E1"/>
              </a:solidFill>
            </a:ln>
          </p:spPr>
        </p:sp>
        <p:sp>
          <p:nvSpPr>
            <p:cNvPr id="17" name="Rectangle 17"/>
            <p:cNvSpPr/>
            <p:nvPr/>
          </p:nvSpPr>
          <p:spPr>
            <a:xfrm>
              <a:off x="6096000" y="1143000"/>
              <a:ext cx="5486400" cy="76200"/>
            </a:xfrm>
            <a:prstGeom prst="rect">
              <a:avLst/>
            </a:prstGeom>
            <a:solidFill>
              <a:srgbClr val="5B7FA3"/>
            </a:solidFill>
            <a:ln>
              <a:noFill/>
            </a:ln>
          </p:spPr>
        </p:sp>
        <p:sp>
          <p:nvSpPr>
            <p:cNvPr id="18" name="TextBox 18"/>
            <p:cNvSpPr txBox="1"/>
            <p:nvPr/>
          </p:nvSpPr>
          <p:spPr>
            <a:xfrm>
              <a:off x="6339840" y="1386840"/>
              <a:ext cx="3259122" cy="365760"/>
            </a:xfrm>
            <a:prstGeom prst="rect">
              <a:avLst/>
            </a:prstGeom>
            <a:noFill/>
            <a:ln>
              <a:noFill/>
            </a:ln>
          </p:spPr>
          <p:txBody>
            <a:bodyPr wrap="none" lIns="0" tIns="0" rIns="0" bIns="0" anchor="t" anchorCtr="0">
              <a:spAutoFit/>
            </a:bodyPr>
            <a:lstStyle/>
            <a:p>
              <a:pPr algn="l"/>
              <a:r>
                <a:rPr lang="zh-CN" sz="1800" b="1" dirty="0">
                  <a:solidFill>
                    <a:srgbClr val="1F2A37"/>
                  </a:solidFill>
                  <a:latin typeface="Segoe UI" panose="020B0502040204020203"/>
                  <a:ea typeface="微软雅黑" panose="020B0503020204020204" charset="-122"/>
                  <a:cs typeface="Segoe UI" panose="020B0502040204020203"/>
                </a:rPr>
                <a:t>Schoenegger et al. (2024)</a:t>
              </a:r>
              <a:endParaRPr lang="zh-CN" sz="1800" b="1" dirty="0">
                <a:solidFill>
                  <a:srgbClr val="1F2A37"/>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6348412" y="1764506"/>
              <a:ext cx="5849302" cy="228600"/>
            </a:xfrm>
            <a:prstGeom prst="rect">
              <a:avLst/>
            </a:prstGeom>
            <a:noFill/>
            <a:ln>
              <a:noFill/>
            </a:ln>
          </p:spPr>
          <p:txBody>
            <a:bodyPr wrap="none" lIns="0" tIns="0" rIns="0" bIns="0" anchor="t" anchorCtr="0">
              <a:spAutoFit/>
            </a:bodyPr>
            <a:lstStyle/>
            <a:p>
              <a:pPr algn="l"/>
              <a:r>
                <a:rPr lang="zh-CN" sz="1125" dirty="0">
                  <a:solidFill>
                    <a:srgbClr val="526273"/>
                  </a:solidFill>
                  <a:latin typeface="Segoe UI" panose="020B0502040204020203"/>
                  <a:ea typeface="微软雅黑" panose="020B0503020204020204" charset="-122"/>
                  <a:cs typeface="Segoe UI" panose="020B0502040204020203"/>
                </a:rPr>
                <a:t>AI-Augmented Predictions: LLM Assistants Improve Human Forecasting Accuracy</a:t>
              </a:r>
              <a:endParaRPr lang="zh-CN" sz="1125" dirty="0">
                <a:solidFill>
                  <a:srgbClr val="526273"/>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6345555" y="2187892"/>
              <a:ext cx="4543425" cy="531495"/>
            </a:xfrm>
            <a:prstGeom prst="rect">
              <a:avLst/>
            </a:prstGeom>
            <a:noFill/>
            <a:ln>
              <a:noFill/>
            </a:ln>
          </p:spPr>
          <p:txBody>
            <a:bodyPr wrap="square" lIns="0" tIns="0" rIns="0" bIns="0" anchor="t" anchorCtr="0"/>
            <a:lstStyle/>
            <a:p>
              <a:pPr algn="l">
                <a:lnSpc>
                  <a:spcPts val="2025"/>
                </a:lnSpc>
              </a:pPr>
              <a:r>
                <a:rPr lang="zh-CN" sz="1350" dirty="0">
                  <a:solidFill>
                    <a:srgbClr val="1F2A37"/>
                  </a:solidFill>
                  <a:latin typeface="Segoe UI" panose="020B0502040204020203"/>
                  <a:ea typeface="微软雅黑" panose="020B0503020204020204" charset="-122"/>
                  <a:cs typeface="Segoe UI" panose="020B0502040204020203"/>
                </a:rPr>
                <a:t>991 participants answered six forecasting questions. </a:t>
              </a:r>
              <a:r>
                <a:rPr lang="zh-CN" sz="1350" dirty="0">
                  <a:solidFill>
                    <a:srgbClr val="1F2A37"/>
                  </a:solidFill>
                  <a:latin typeface="Segoe UI" panose="020B0502040204020203"/>
                  <a:ea typeface="微软雅黑" panose="020B0503020204020204" charset="-122"/>
                  <a:cs typeface="Segoe UI" panose="020B0502040204020203"/>
                </a:rPr>
                <a:t>Assigned-LLM access improved individual accuracy.</a:t>
              </a:r>
              <a:endParaRPr lang="zh-CN" sz="1350" dirty="0">
                <a:solidFill>
                  <a:srgbClr val="1F2A37"/>
                </a:solidFill>
                <a:latin typeface="Segoe UI" panose="020B0502040204020203"/>
                <a:ea typeface="微软雅黑" panose="020B0503020204020204" charset="-122"/>
                <a:cs typeface="Segoe UI" panose="020B0502040204020203"/>
              </a:endParaRPr>
            </a:p>
          </p:txBody>
        </p:sp>
        <p:sp>
          <p:nvSpPr>
            <p:cNvPr id="21" name="Rectangle 21"/>
            <p:cNvSpPr/>
            <p:nvPr/>
          </p:nvSpPr>
          <p:spPr>
            <a:xfrm>
              <a:off x="6362700" y="3048000"/>
              <a:ext cx="1257300" cy="514350"/>
            </a:xfrm>
            <a:prstGeom prst="rect">
              <a:avLst/>
            </a:prstGeom>
            <a:solidFill>
              <a:srgbClr val="EAF0F7"/>
            </a:solidFill>
            <a:ln>
              <a:noFill/>
            </a:ln>
          </p:spPr>
        </p:sp>
        <p:sp>
          <p:nvSpPr>
            <p:cNvPr id="22" name="TextBox 22"/>
            <p:cNvSpPr txBox="1"/>
            <p:nvPr/>
          </p:nvSpPr>
          <p:spPr>
            <a:xfrm>
              <a:off x="6702685" y="3160395"/>
              <a:ext cx="577329" cy="182880"/>
            </a:xfrm>
            <a:prstGeom prst="rect">
              <a:avLst/>
            </a:prstGeom>
            <a:noFill/>
            <a:ln>
              <a:noFill/>
            </a:ln>
          </p:spPr>
          <p:txBody>
            <a:bodyPr wrap="none" lIns="0" tIns="0" rIns="0" bIns="0" anchor="t" anchorCtr="0">
              <a:spAutoFit/>
            </a:bodyPr>
            <a:lstStyle/>
            <a:p>
              <a:pPr algn="ctr"/>
              <a:r>
                <a:rPr lang="zh-CN" sz="900" b="1" dirty="0">
                  <a:solidFill>
                    <a:srgbClr val="526273"/>
                  </a:solidFill>
                  <a:latin typeface="Segoe UI" panose="020B0502040204020203"/>
                  <a:ea typeface="微软雅黑" panose="020B0503020204020204" charset="-122"/>
                  <a:cs typeface="Segoe UI" panose="020B0502040204020203"/>
                </a:rPr>
                <a:t>ACCURACY</a:t>
              </a:r>
              <a:endParaRPr lang="zh-CN" sz="900" b="1" dirty="0">
                <a:solidFill>
                  <a:srgbClr val="526273"/>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6480344" y="3290411"/>
              <a:ext cx="1022012" cy="350520"/>
            </a:xfrm>
            <a:prstGeom prst="rect">
              <a:avLst/>
            </a:prstGeom>
            <a:noFill/>
            <a:ln>
              <a:noFill/>
            </a:ln>
          </p:spPr>
          <p:txBody>
            <a:bodyPr wrap="none" lIns="0" tIns="0" rIns="0" bIns="0" anchor="t" anchorCtr="0">
              <a:spAutoFit/>
            </a:bodyPr>
            <a:lstStyle/>
            <a:p>
              <a:pPr algn="ctr"/>
              <a:r>
                <a:rPr lang="zh-CN" sz="1725" b="1" dirty="0">
                  <a:solidFill>
                    <a:srgbClr val="163A5F"/>
                  </a:solidFill>
                  <a:latin typeface="Segoe UI" panose="020B0502040204020203"/>
                  <a:ea typeface="微软雅黑" panose="020B0503020204020204" charset="-122"/>
                  <a:cs typeface="Segoe UI" panose="020B0502040204020203"/>
                </a:rPr>
                <a:t>+24–28%</a:t>
              </a:r>
              <a:endParaRPr lang="zh-CN" sz="1725" b="1" dirty="0">
                <a:solidFill>
                  <a:srgbClr val="163A5F"/>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7814310" y="3080385"/>
              <a:ext cx="2636520" cy="472440"/>
            </a:xfrm>
            <a:prstGeom prst="rect">
              <a:avLst/>
            </a:prstGeom>
            <a:noFill/>
            <a:ln>
              <a:noFill/>
            </a:ln>
          </p:spPr>
          <p:txBody>
            <a:bodyPr wrap="square" lIns="0" tIns="0" rIns="0" bIns="0" anchor="t" anchorCtr="0"/>
            <a:lstStyle/>
            <a:p>
              <a:pPr algn="l">
                <a:lnSpc>
                  <a:spcPts val="1800"/>
                </a:lnSpc>
              </a:pPr>
              <a:r>
                <a:rPr lang="zh-CN" sz="1200" dirty="0">
                  <a:solidFill>
                    <a:srgbClr val="526273"/>
                  </a:solidFill>
                  <a:latin typeface="Segoe UI" panose="020B0502040204020203"/>
                  <a:ea typeface="微软雅黑" panose="020B0503020204020204" charset="-122"/>
                  <a:cs typeface="Segoe UI" panose="020B0502040204020203"/>
                </a:rPr>
                <a:t>Also tests whether lower diversity </a:t>
              </a:r>
              <a:r>
                <a:rPr lang="zh-CN" sz="1200" dirty="0">
                  <a:solidFill>
                    <a:srgbClr val="526273"/>
                  </a:solidFill>
                  <a:latin typeface="Segoe UI" panose="020B0502040204020203"/>
                  <a:ea typeface="微软雅黑" panose="020B0503020204020204" charset="-122"/>
                  <a:cs typeface="Segoe UI" panose="020B0502040204020203"/>
                </a:rPr>
                <a:t>harms crowd wisdom.</a:t>
              </a:r>
              <a:endParaRPr lang="zh-CN" sz="1200" dirty="0">
                <a:solidFill>
                  <a:srgbClr val="526273"/>
                </a:solidFill>
                <a:latin typeface="Segoe UI" panose="020B0502040204020203"/>
                <a:ea typeface="微软雅黑" panose="020B0503020204020204" charset="-122"/>
                <a:cs typeface="Segoe UI" panose="020B0502040204020203"/>
              </a:endParaRPr>
            </a:p>
          </p:txBody>
        </p:sp>
      </p:grpSp>
      <p:grpSp>
        <p:nvGrpSpPr>
          <p:cNvPr id="30" name="Group 30"/>
          <p:cNvGrpSpPr/>
          <p:nvPr/>
        </p:nvGrpSpPr>
        <p:grpSpPr>
          <a:xfrm>
            <a:off x="609600" y="4152900"/>
            <a:ext cx="10972800" cy="1847850"/>
            <a:chOff x="609600" y="4152900"/>
            <a:chExt cx="10972800" cy="1847850"/>
          </a:xfrm>
        </p:grpSpPr>
        <p:sp>
          <p:nvSpPr>
            <p:cNvPr id="26" name="Rectangle 26"/>
            <p:cNvSpPr/>
            <p:nvPr/>
          </p:nvSpPr>
          <p:spPr>
            <a:xfrm>
              <a:off x="609600" y="4152900"/>
              <a:ext cx="10972800" cy="1847850"/>
            </a:xfrm>
            <a:prstGeom prst="rect">
              <a:avLst/>
            </a:prstGeom>
            <a:solidFill>
              <a:srgbClr val="FFFFFF"/>
            </a:solidFill>
            <a:ln w="14288">
              <a:solidFill>
                <a:srgbClr val="B42318"/>
              </a:solidFill>
            </a:ln>
          </p:spPr>
        </p:sp>
        <p:sp>
          <p:nvSpPr>
            <p:cNvPr id="27" name="TextBox 27"/>
            <p:cNvSpPr txBox="1"/>
            <p:nvPr/>
          </p:nvSpPr>
          <p:spPr>
            <a:xfrm>
              <a:off x="861060" y="4394835"/>
              <a:ext cx="803377" cy="243840"/>
            </a:xfrm>
            <a:prstGeom prst="rect">
              <a:avLst/>
            </a:prstGeom>
            <a:noFill/>
            <a:ln>
              <a:noFill/>
            </a:ln>
          </p:spPr>
          <p:txBody>
            <a:bodyPr wrap="none" lIns="0" tIns="0" rIns="0" bIns="0" anchor="t" anchorCtr="0">
              <a:spAutoFit/>
            </a:bodyPr>
            <a:lstStyle/>
            <a:p>
              <a:pPr algn="l"/>
              <a:r>
                <a:rPr lang="zh-CN" sz="1200" b="1" dirty="0">
                  <a:solidFill>
                    <a:srgbClr val="B42318"/>
                  </a:solidFill>
                  <a:latin typeface="Segoe UI" panose="020B0502040204020203"/>
                  <a:ea typeface="微软雅黑" panose="020B0503020204020204" charset="-122"/>
                  <a:cs typeface="Segoe UI" panose="020B0502040204020203"/>
                </a:rPr>
                <a:t>BOUNDARY</a:t>
              </a:r>
              <a:endParaRPr lang="zh-CN" sz="1200" b="1" dirty="0">
                <a:solidFill>
                  <a:srgbClr val="B42318"/>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858202" y="4751546"/>
              <a:ext cx="9139238" cy="556260"/>
            </a:xfrm>
            <a:prstGeom prst="rect">
              <a:avLst/>
            </a:prstGeom>
            <a:noFill/>
            <a:ln>
              <a:noFill/>
            </a:ln>
          </p:spPr>
          <p:txBody>
            <a:bodyPr wrap="square" lIns="0" tIns="0" rIns="0" bIns="0" anchor="t" anchorCtr="0"/>
            <a:lstStyle/>
            <a:p>
              <a:pPr algn="l">
                <a:lnSpc>
                  <a:spcPts val="2100"/>
                </a:lnSpc>
              </a:pPr>
              <a:r>
                <a:rPr lang="zh-CN" sz="1425" dirty="0">
                  <a:solidFill>
                    <a:srgbClr val="1F2A37"/>
                  </a:solidFill>
                  <a:latin typeface="Segoe UI" panose="020B0502040204020203"/>
                  <a:ea typeface="微软雅黑" panose="020B0503020204020204" charset="-122"/>
                  <a:cs typeface="Segoe UI" panose="020B0502040204020203"/>
                </a:rPr>
                <a:t>A shared model can expose members to similar evidence, frames, and arguments—even when its average </a:t>
              </a:r>
              <a:r>
                <a:rPr lang="zh-CN" sz="1425" dirty="0">
                  <a:solidFill>
                    <a:srgbClr val="1F2A37"/>
                  </a:solidFill>
                  <a:latin typeface="Segoe UI" panose="020B0502040204020203"/>
                  <a:ea typeface="微软雅黑" panose="020B0503020204020204" charset="-122"/>
                  <a:cs typeface="Segoe UI" panose="020B0502040204020203"/>
                </a:rPr>
                <a:t>effect on each member is small. This can raise error correlation and weaken independent judgment.</a:t>
              </a:r>
              <a:endParaRPr lang="zh-CN" sz="1425" dirty="0">
                <a:solidFill>
                  <a:srgbClr val="1F2A37"/>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861060" y="5471160"/>
              <a:ext cx="7467600" cy="472440"/>
            </a:xfrm>
            <a:prstGeom prst="rect">
              <a:avLst/>
            </a:prstGeom>
            <a:noFill/>
            <a:ln>
              <a:noFill/>
            </a:ln>
          </p:spPr>
          <p:txBody>
            <a:bodyPr wrap="square" lIns="0" tIns="0" rIns="0" bIns="0" anchor="t" anchorCtr="0"/>
            <a:lstStyle/>
            <a:p>
              <a:pPr algn="l">
                <a:lnSpc>
                  <a:spcPts val="1800"/>
                </a:lnSpc>
              </a:pPr>
              <a:r>
                <a:rPr lang="zh-CN" sz="1200" dirty="0">
                  <a:solidFill>
                    <a:srgbClr val="526273"/>
                  </a:solidFill>
                  <a:latin typeface="Segoe UI" panose="020B0502040204020203"/>
                  <a:ea typeface="微软雅黑" panose="020B0503020204020204" charset="-122"/>
                  <a:cs typeface="Segoe UI" panose="020B0502040204020203"/>
                </a:rPr>
                <a:t>Artificial Hivemind supports the model-output homogeneity boundary. It measured model responses, </a:t>
              </a:r>
              <a:r>
                <a:rPr lang="zh-CN" sz="1200" dirty="0">
                  <a:solidFill>
                    <a:srgbClr val="526273"/>
                  </a:solidFill>
                  <a:latin typeface="Segoe UI" panose="020B0502040204020203"/>
                  <a:ea typeface="微软雅黑" panose="020B0503020204020204" charset="-122"/>
                  <a:cs typeface="Segoe UI" panose="020B0502040204020203"/>
                </a:rPr>
                <a:t>not human political attitudes or organizational decisions.</a:t>
              </a:r>
              <a:endParaRPr lang="zh-CN" sz="1200" dirty="0">
                <a:solidFill>
                  <a:srgbClr val="526273"/>
                </a:solidFill>
                <a:latin typeface="Segoe UI" panose="020B0502040204020203"/>
                <a:ea typeface="微软雅黑" panose="020B0503020204020204" charset="-122"/>
                <a:cs typeface="Segoe UI" panose="020B0502040204020203"/>
              </a:endParaRPr>
            </a:p>
          </p:txBody>
        </p:sp>
      </p:grpSp>
      <p:sp>
        <p:nvSpPr>
          <p:cNvPr id="31" name="TextBox 31"/>
          <p:cNvSpPr txBox="1"/>
          <p:nvPr/>
        </p:nvSpPr>
        <p:spPr>
          <a:xfrm>
            <a:off x="11438954" y="6398895"/>
            <a:ext cx="154877" cy="182880"/>
          </a:xfrm>
          <a:prstGeom prst="rect">
            <a:avLst/>
          </a:prstGeom>
          <a:noFill/>
          <a:ln>
            <a:noFill/>
          </a:ln>
        </p:spPr>
        <p:txBody>
          <a:bodyPr wrap="none" lIns="0" tIns="0" rIns="0" bIns="0" anchor="t" anchorCtr="0">
            <a:spAutoFit/>
          </a:bodyPr>
          <a:lstStyle/>
          <a:p>
            <a:pPr algn="r"/>
            <a:r>
              <a:rPr lang="zh-CN" sz="900" dirty="0">
                <a:solidFill>
                  <a:srgbClr val="7B8794"/>
                </a:solidFill>
                <a:latin typeface="Segoe UI" panose="020B0502040204020203"/>
                <a:ea typeface="微软雅黑" panose="020B0503020204020204" charset="-122"/>
                <a:cs typeface="Segoe UI" panose="020B0502040204020203"/>
              </a:rPr>
              <a:t>03</a:t>
            </a:r>
            <a:endParaRPr lang="zh-CN" sz="900"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400"/>
                                        <p:tgtEl>
                                          <p:spTgt spid="15"/>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slide(fromBottom)">
                                      <p:cBhvr>
                                        <p:cTn id="11" dur="400"/>
                                        <p:tgtEl>
                                          <p:spTgt spid="25"/>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30"/>
                                        </p:tgtEl>
                                        <p:attrNameLst>
                                          <p:attrName>style.visibility</p:attrName>
                                        </p:attrNameLst>
                                      </p:cBhvr>
                                      <p:to>
                                        <p:strVal val="visible"/>
                                      </p:to>
                                    </p:set>
                                    <p:animEffect transition="in" filter="image">
                                      <p:cBhvr>
                                        <p:cTn id="15" dur="4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25" grpId="0"/>
      <p:bldP spid="3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9FC"/>
            </a:solidFill>
            <a:ln>
              <a:noFill/>
            </a:ln>
          </p:spPr>
        </p:sp>
        <p:sp>
          <p:nvSpPr>
            <p:cNvPr id="3" name="Line 3"/>
            <p:cNvSpPr/>
            <p:nvPr/>
          </p:nvSpPr>
          <p:spPr>
            <a:xfrm>
              <a:off x="1257300" y="1314450"/>
              <a:ext cx="9525" cy="4543425"/>
            </a:xfrm>
            <a:custGeom>
              <a:avLst/>
              <a:gdLst/>
              <a:ahLst/>
              <a:cxnLst/>
              <a:rect l="l" t="t" r="r" b="b"/>
              <a:pathLst>
                <a:path w="9525" h="4543425">
                  <a:moveTo>
                    <a:pt x="0" y="0"/>
                  </a:moveTo>
                  <a:lnTo>
                    <a:pt x="0" y="4543425"/>
                  </a:lnTo>
                </a:path>
              </a:pathLst>
            </a:custGeom>
            <a:noFill/>
            <a:ln w="19050">
              <a:solidFill>
                <a:srgbClr val="5B7FA3"/>
              </a:solidFill>
            </a:ln>
          </p:spPr>
        </p:sp>
      </p:grpSp>
      <p:grpSp>
        <p:nvGrpSpPr>
          <p:cNvPr id="7" name="Group 7"/>
          <p:cNvGrpSpPr/>
          <p:nvPr/>
        </p:nvGrpSpPr>
        <p:grpSpPr>
          <a:xfrm>
            <a:off x="577215" y="315278"/>
            <a:ext cx="11019472" cy="518160"/>
            <a:chOff x="577215" y="315278"/>
            <a:chExt cx="11019472" cy="518160"/>
          </a:xfrm>
        </p:grpSpPr>
        <p:sp>
          <p:nvSpPr>
            <p:cNvPr id="5" name="TextBox 5"/>
            <p:cNvSpPr txBox="1"/>
            <p:nvPr/>
          </p:nvSpPr>
          <p:spPr>
            <a:xfrm>
              <a:off x="577215" y="315278"/>
              <a:ext cx="2528378" cy="518160"/>
            </a:xfrm>
            <a:prstGeom prst="rect">
              <a:avLst/>
            </a:prstGeom>
            <a:noFill/>
            <a:ln>
              <a:noFill/>
            </a:ln>
          </p:spPr>
          <p:txBody>
            <a:bodyPr wrap="none" lIns="0" tIns="0" rIns="0" bIns="0" anchor="t" anchorCtr="0">
              <a:spAutoFit/>
            </a:bodyPr>
            <a:lstStyle/>
            <a:p>
              <a:pPr algn="l"/>
              <a:r>
                <a:rPr lang="zh-CN" sz="2550" b="1" dirty="0">
                  <a:solidFill>
                    <a:srgbClr val="163A5F"/>
                  </a:solidFill>
                  <a:latin typeface="Segoe UI" panose="020B0502040204020203"/>
                  <a:ea typeface="微软雅黑" panose="020B0503020204020204" charset="-122"/>
                  <a:cs typeface="Segoe UI" panose="020B0502040204020203"/>
                </a:rPr>
                <a:t>Research Gaps</a:t>
              </a:r>
              <a:endParaRPr lang="zh-CN" sz="2550" b="1" dirty="0">
                <a:solidFill>
                  <a:srgbClr val="163A5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8927782" y="469106"/>
              <a:ext cx="2668905" cy="228600"/>
            </a:xfrm>
            <a:prstGeom prst="rect">
              <a:avLst/>
            </a:prstGeom>
            <a:noFill/>
            <a:ln>
              <a:noFill/>
            </a:ln>
          </p:spPr>
          <p:txBody>
            <a:bodyPr wrap="none" lIns="0" tIns="0" rIns="0" bIns="0" anchor="t" anchorCtr="0">
              <a:spAutoFit/>
            </a:bodyPr>
            <a:lstStyle/>
            <a:p>
              <a:pPr algn="r"/>
              <a:r>
                <a:rPr lang="zh-CN" sz="1125" dirty="0">
                  <a:solidFill>
                    <a:srgbClr val="7B8794"/>
                  </a:solidFill>
                  <a:latin typeface="Segoe UI" panose="020B0502040204020203"/>
                  <a:ea typeface="微软雅黑" panose="020B0503020204020204" charset="-122"/>
                  <a:cs typeface="Segoe UI" panose="020B0502040204020203"/>
                </a:rPr>
                <a:t>Micro evidence → macro consequence</a:t>
              </a:r>
              <a:endParaRPr lang="zh-CN" sz="1125" dirty="0">
                <a:solidFill>
                  <a:srgbClr val="7B8794"/>
                </a:solidFill>
                <a:latin typeface="Segoe UI" panose="020B0502040204020203"/>
                <a:ea typeface="微软雅黑" panose="020B0503020204020204" charset="-122"/>
                <a:cs typeface="Segoe UI" panose="020B0502040204020203"/>
              </a:endParaRPr>
            </a:p>
          </p:txBody>
        </p:sp>
      </p:grpSp>
      <p:grpSp>
        <p:nvGrpSpPr>
          <p:cNvPr id="13" name="Group 13"/>
          <p:cNvGrpSpPr/>
          <p:nvPr/>
        </p:nvGrpSpPr>
        <p:grpSpPr>
          <a:xfrm>
            <a:off x="1028700" y="1143000"/>
            <a:ext cx="10553700" cy="1028700"/>
            <a:chOff x="1028700" y="1143000"/>
            <a:chExt cx="10553700" cy="1028700"/>
          </a:xfrm>
        </p:grpSpPr>
        <p:sp>
          <p:nvSpPr>
            <p:cNvPr id="8" name="Ellipse 8"/>
            <p:cNvSpPr/>
            <p:nvPr/>
          </p:nvSpPr>
          <p:spPr>
            <a:xfrm>
              <a:off x="1028700" y="1409700"/>
              <a:ext cx="457200" cy="457200"/>
            </a:xfrm>
            <a:prstGeom prst="ellipse">
              <a:avLst/>
            </a:prstGeom>
            <a:solidFill>
              <a:srgbClr val="163A5F"/>
            </a:solidFill>
            <a:ln>
              <a:noFill/>
            </a:ln>
          </p:spPr>
        </p:sp>
        <p:sp>
          <p:nvSpPr>
            <p:cNvPr id="9" name="TextBox 9"/>
            <p:cNvSpPr txBox="1"/>
            <p:nvPr/>
          </p:nvSpPr>
          <p:spPr>
            <a:xfrm>
              <a:off x="1142920" y="1567339"/>
              <a:ext cx="22876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panose="020B0502040204020203"/>
                  <a:ea typeface="微软雅黑" panose="020B0503020204020204" charset="-122"/>
                  <a:cs typeface="Segoe UI" panose="020B0502040204020203"/>
                </a:rPr>
                <a:t>01</a:t>
              </a:r>
              <a:endParaRPr lang="zh-CN" sz="1275" b="1" dirty="0">
                <a:solidFill>
                  <a:srgbClr val="FFFFFF"/>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1733550" y="1143000"/>
              <a:ext cx="9848850" cy="1028700"/>
            </a:xfrm>
            <a:prstGeom prst="rect">
              <a:avLst/>
            </a:prstGeom>
            <a:solidFill>
              <a:srgbClr val="FFFFFF"/>
            </a:solidFill>
            <a:ln w="9525">
              <a:solidFill>
                <a:srgbClr val="CCD6E1"/>
              </a:solidFill>
            </a:ln>
          </p:spPr>
        </p:sp>
        <p:sp>
          <p:nvSpPr>
            <p:cNvPr id="11" name="TextBox 11"/>
            <p:cNvSpPr txBox="1"/>
            <p:nvPr/>
          </p:nvSpPr>
          <p:spPr>
            <a:xfrm>
              <a:off x="1962150" y="1304925"/>
              <a:ext cx="6328386" cy="304800"/>
            </a:xfrm>
            <a:prstGeom prst="rect">
              <a:avLst/>
            </a:prstGeom>
            <a:noFill/>
            <a:ln>
              <a:noFill/>
            </a:ln>
          </p:spPr>
          <p:txBody>
            <a:bodyPr wrap="none" lIns="0" tIns="0" rIns="0" bIns="0" anchor="t" anchorCtr="0">
              <a:spAutoFit/>
            </a:bodyPr>
            <a:lstStyle/>
            <a:p>
              <a:pPr algn="l"/>
              <a:r>
                <a:rPr lang="zh-CN" sz="1500" b="1" dirty="0">
                  <a:solidFill>
                    <a:srgbClr val="163A5F"/>
                  </a:solidFill>
                  <a:latin typeface="Segoe UI" panose="020B0502040204020203"/>
                  <a:ea typeface="微软雅黑" panose="020B0503020204020204" charset="-122"/>
                  <a:cs typeface="Segoe UI" panose="020B0502040204020203"/>
                </a:rPr>
                <a:t>GAP 1 — Existing work largely stops at the model-output layer</a:t>
              </a:r>
              <a:endParaRPr lang="zh-CN" sz="1500" b="1" dirty="0">
                <a:solidFill>
                  <a:srgbClr val="163A5F"/>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1965008" y="1653064"/>
              <a:ext cx="8233886" cy="487680"/>
            </a:xfrm>
            <a:prstGeom prst="rect">
              <a:avLst/>
            </a:prstGeom>
            <a:noFill/>
            <a:ln>
              <a:noFill/>
            </a:ln>
          </p:spPr>
          <p:txBody>
            <a:bodyPr wrap="square" lIns="0" tIns="0" rIns="0" bIns="0" anchor="t" anchorCtr="0"/>
            <a:lstStyle/>
            <a:p>
              <a:pPr algn="l">
                <a:lnSpc>
                  <a:spcPts val="1800"/>
                </a:lnSpc>
              </a:pPr>
              <a:r>
                <a:rPr lang="zh-CN" sz="1275" dirty="0">
                  <a:solidFill>
                    <a:srgbClr val="526273"/>
                  </a:solidFill>
                  <a:latin typeface="Segoe UI" panose="020B0502040204020203"/>
                  <a:ea typeface="微软雅黑" panose="020B0503020204020204" charset="-122"/>
                  <a:cs typeface="Segoe UI" panose="020B0502040204020203"/>
                </a:rPr>
                <a:t>Output similarity is documented, but its translation into human information selection, belief updating, </a:t>
              </a:r>
              <a:r>
                <a:rPr lang="zh-CN" sz="1275" dirty="0">
                  <a:solidFill>
                    <a:srgbClr val="526273"/>
                  </a:solidFill>
                  <a:latin typeface="Segoe UI" panose="020B0502040204020203"/>
                  <a:ea typeface="微软雅黑" panose="020B0503020204020204" charset="-122"/>
                  <a:cs typeface="Segoe UI" panose="020B0502040204020203"/>
                </a:rPr>
                <a:t>and group-level judgment is not.</a:t>
              </a:r>
              <a:endParaRPr lang="zh-CN" sz="1275" dirty="0">
                <a:solidFill>
                  <a:srgbClr val="526273"/>
                </a:solidFill>
                <a:latin typeface="Segoe UI" panose="020B0502040204020203"/>
                <a:ea typeface="微软雅黑" panose="020B0503020204020204" charset="-122"/>
                <a:cs typeface="Segoe UI" panose="020B0502040204020203"/>
              </a:endParaRPr>
            </a:p>
          </p:txBody>
        </p:sp>
      </p:grpSp>
      <p:grpSp>
        <p:nvGrpSpPr>
          <p:cNvPr id="19" name="Group 19"/>
          <p:cNvGrpSpPr/>
          <p:nvPr/>
        </p:nvGrpSpPr>
        <p:grpSpPr>
          <a:xfrm>
            <a:off x="1028700" y="2362200"/>
            <a:ext cx="10553700" cy="1028700"/>
            <a:chOff x="1028700" y="2362200"/>
            <a:chExt cx="10553700" cy="1028700"/>
          </a:xfrm>
        </p:grpSpPr>
        <p:sp>
          <p:nvSpPr>
            <p:cNvPr id="14" name="Ellipse 14"/>
            <p:cNvSpPr/>
            <p:nvPr/>
          </p:nvSpPr>
          <p:spPr>
            <a:xfrm>
              <a:off x="1028700" y="2628900"/>
              <a:ext cx="457200" cy="457200"/>
            </a:xfrm>
            <a:prstGeom prst="ellipse">
              <a:avLst/>
            </a:prstGeom>
            <a:solidFill>
              <a:srgbClr val="163A5F"/>
            </a:solidFill>
            <a:ln>
              <a:noFill/>
            </a:ln>
          </p:spPr>
        </p:sp>
        <p:sp>
          <p:nvSpPr>
            <p:cNvPr id="15" name="TextBox 15"/>
            <p:cNvSpPr txBox="1"/>
            <p:nvPr/>
          </p:nvSpPr>
          <p:spPr>
            <a:xfrm>
              <a:off x="1142920" y="2786539"/>
              <a:ext cx="22876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panose="020B0502040204020203"/>
                  <a:ea typeface="微软雅黑" panose="020B0503020204020204" charset="-122"/>
                  <a:cs typeface="Segoe UI" panose="020B0502040204020203"/>
                </a:rPr>
                <a:t>02</a:t>
              </a:r>
              <a:endParaRPr lang="zh-CN" sz="1275" b="1" dirty="0">
                <a:solidFill>
                  <a:srgbClr val="FFFFFF"/>
                </a:solidFill>
                <a:latin typeface="Segoe UI" panose="020B0502040204020203"/>
                <a:ea typeface="微软雅黑" panose="020B0503020204020204" charset="-122"/>
                <a:cs typeface="Segoe UI" panose="020B0502040204020203"/>
              </a:endParaRPr>
            </a:p>
          </p:txBody>
        </p:sp>
        <p:sp>
          <p:nvSpPr>
            <p:cNvPr id="16" name="Rectangle 16"/>
            <p:cNvSpPr/>
            <p:nvPr/>
          </p:nvSpPr>
          <p:spPr>
            <a:xfrm>
              <a:off x="1733550" y="2362200"/>
              <a:ext cx="9848850" cy="1028700"/>
            </a:xfrm>
            <a:prstGeom prst="rect">
              <a:avLst/>
            </a:prstGeom>
            <a:solidFill>
              <a:srgbClr val="FFFFFF"/>
            </a:solidFill>
            <a:ln w="9525">
              <a:solidFill>
                <a:srgbClr val="CCD6E1"/>
              </a:solidFill>
            </a:ln>
          </p:spPr>
        </p:sp>
        <p:sp>
          <p:nvSpPr>
            <p:cNvPr id="17" name="TextBox 17"/>
            <p:cNvSpPr txBox="1"/>
            <p:nvPr/>
          </p:nvSpPr>
          <p:spPr>
            <a:xfrm>
              <a:off x="1962150" y="2524125"/>
              <a:ext cx="5887331" cy="304800"/>
            </a:xfrm>
            <a:prstGeom prst="rect">
              <a:avLst/>
            </a:prstGeom>
            <a:noFill/>
            <a:ln>
              <a:noFill/>
            </a:ln>
          </p:spPr>
          <p:txBody>
            <a:bodyPr wrap="none" lIns="0" tIns="0" rIns="0" bIns="0" anchor="t" anchorCtr="0">
              <a:spAutoFit/>
            </a:bodyPr>
            <a:lstStyle/>
            <a:p>
              <a:pPr algn="l"/>
              <a:r>
                <a:rPr lang="zh-CN" sz="1500" b="1" dirty="0">
                  <a:solidFill>
                    <a:srgbClr val="163A5F"/>
                  </a:solidFill>
                  <a:latin typeface="Segoe UI" panose="020B0502040204020203"/>
                  <a:ea typeface="微软雅黑" panose="020B0503020204020204" charset="-122"/>
                  <a:cs typeface="Segoe UI" panose="020B0502040204020203"/>
                </a:rPr>
                <a:t>GAP 2 — Individual and group accuracy are often conflated</a:t>
              </a:r>
              <a:endParaRPr lang="zh-CN" sz="1500" b="1" dirty="0">
                <a:solidFill>
                  <a:srgbClr val="163A5F"/>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1965008" y="2872264"/>
              <a:ext cx="7910036" cy="487680"/>
            </a:xfrm>
            <a:prstGeom prst="rect">
              <a:avLst/>
            </a:prstGeom>
            <a:noFill/>
            <a:ln>
              <a:noFill/>
            </a:ln>
          </p:spPr>
          <p:txBody>
            <a:bodyPr wrap="square" lIns="0" tIns="0" rIns="0" bIns="0" anchor="t" anchorCtr="0"/>
            <a:lstStyle/>
            <a:p>
              <a:pPr algn="l">
                <a:lnSpc>
                  <a:spcPts val="1800"/>
                </a:lnSpc>
              </a:pPr>
              <a:r>
                <a:rPr lang="zh-CN" sz="1275" dirty="0">
                  <a:solidFill>
                    <a:srgbClr val="526273"/>
                  </a:solidFill>
                  <a:latin typeface="Segoe UI" panose="020B0502040204020203"/>
                  <a:ea typeface="微软雅黑" panose="020B0503020204020204" charset="-122"/>
                  <a:cs typeface="Segoe UI" panose="020B0502040204020203"/>
                </a:rPr>
                <a:t>Higher individual quality may coexist with higher error correlation, reducing aggregation gains even </a:t>
              </a:r>
              <a:r>
                <a:rPr lang="zh-CN" sz="1275" dirty="0">
                  <a:solidFill>
                    <a:srgbClr val="526273"/>
                  </a:solidFill>
                  <a:latin typeface="Segoe UI" panose="020B0502040204020203"/>
                  <a:ea typeface="微软雅黑" panose="020B0503020204020204" charset="-122"/>
                  <a:cs typeface="Segoe UI" panose="020B0502040204020203"/>
                </a:rPr>
                <a:t>when average individual accuracy is unchanged or improved.</a:t>
              </a:r>
              <a:endParaRPr lang="zh-CN" sz="1275" dirty="0">
                <a:solidFill>
                  <a:srgbClr val="526273"/>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1028700" y="3581400"/>
            <a:ext cx="10553700" cy="1028700"/>
            <a:chOff x="1028700" y="3581400"/>
            <a:chExt cx="10553700" cy="1028700"/>
          </a:xfrm>
        </p:grpSpPr>
        <p:sp>
          <p:nvSpPr>
            <p:cNvPr id="20" name="Ellipse 20"/>
            <p:cNvSpPr/>
            <p:nvPr/>
          </p:nvSpPr>
          <p:spPr>
            <a:xfrm>
              <a:off x="1028700" y="3848100"/>
              <a:ext cx="457200" cy="457200"/>
            </a:xfrm>
            <a:prstGeom prst="ellipse">
              <a:avLst/>
            </a:prstGeom>
            <a:solidFill>
              <a:srgbClr val="163A5F"/>
            </a:solidFill>
            <a:ln>
              <a:noFill/>
            </a:ln>
          </p:spPr>
        </p:sp>
        <p:sp>
          <p:nvSpPr>
            <p:cNvPr id="21" name="TextBox 21"/>
            <p:cNvSpPr txBox="1"/>
            <p:nvPr/>
          </p:nvSpPr>
          <p:spPr>
            <a:xfrm>
              <a:off x="1142920" y="4005739"/>
              <a:ext cx="22876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panose="020B0502040204020203"/>
                  <a:ea typeface="微软雅黑" panose="020B0503020204020204" charset="-122"/>
                  <a:cs typeface="Segoe UI" panose="020B0502040204020203"/>
                </a:rPr>
                <a:t>03</a:t>
              </a:r>
              <a:endParaRPr lang="zh-CN" sz="1275" b="1" dirty="0">
                <a:solidFill>
                  <a:srgbClr val="FFFFFF"/>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1733550" y="3581400"/>
              <a:ext cx="9848850" cy="1028700"/>
            </a:xfrm>
            <a:prstGeom prst="rect">
              <a:avLst/>
            </a:prstGeom>
            <a:solidFill>
              <a:srgbClr val="FFFFFF"/>
            </a:solidFill>
            <a:ln w="9525">
              <a:solidFill>
                <a:srgbClr val="CCD6E1"/>
              </a:solidFill>
            </a:ln>
          </p:spPr>
        </p:sp>
        <p:sp>
          <p:nvSpPr>
            <p:cNvPr id="23" name="TextBox 23"/>
            <p:cNvSpPr txBox="1"/>
            <p:nvPr/>
          </p:nvSpPr>
          <p:spPr>
            <a:xfrm>
              <a:off x="1962150" y="3743325"/>
              <a:ext cx="7693557" cy="304800"/>
            </a:xfrm>
            <a:prstGeom prst="rect">
              <a:avLst/>
            </a:prstGeom>
            <a:noFill/>
            <a:ln>
              <a:noFill/>
            </a:ln>
          </p:spPr>
          <p:txBody>
            <a:bodyPr wrap="none" lIns="0" tIns="0" rIns="0" bIns="0" anchor="t" anchorCtr="0">
              <a:spAutoFit/>
            </a:bodyPr>
            <a:lstStyle/>
            <a:p>
              <a:pPr algn="l"/>
              <a:r>
                <a:rPr lang="zh-CN" sz="1500" b="1" dirty="0">
                  <a:solidFill>
                    <a:srgbClr val="163A5F"/>
                  </a:solidFill>
                  <a:latin typeface="Segoe UI" panose="020B0502040204020203"/>
                  <a:ea typeface="微软雅黑" panose="020B0503020204020204" charset="-122"/>
                  <a:cs typeface="Segoe UI" panose="020B0502040204020203"/>
                </a:rPr>
                <a:t>GAP 3 — Traditional opinion dynamics lacks an interactive generative source</a:t>
              </a:r>
              <a:endParaRPr lang="zh-CN" sz="1500" b="1" dirty="0">
                <a:solidFill>
                  <a:srgbClr val="163A5F"/>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1965008" y="4091464"/>
              <a:ext cx="7901940" cy="487680"/>
            </a:xfrm>
            <a:prstGeom prst="rect">
              <a:avLst/>
            </a:prstGeom>
            <a:noFill/>
            <a:ln>
              <a:noFill/>
            </a:ln>
          </p:spPr>
          <p:txBody>
            <a:bodyPr wrap="square" lIns="0" tIns="0" rIns="0" bIns="0" anchor="t" anchorCtr="0"/>
            <a:lstStyle/>
            <a:p>
              <a:pPr algn="l">
                <a:lnSpc>
                  <a:spcPts val="1800"/>
                </a:lnSpc>
              </a:pPr>
              <a:r>
                <a:rPr lang="zh-CN" sz="1275" dirty="0">
                  <a:solidFill>
                    <a:srgbClr val="526273"/>
                  </a:solidFill>
                  <a:latin typeface="Segoe UI" panose="020B0502040204020203"/>
                  <a:ea typeface="微软雅黑" panose="020B0503020204020204" charset="-122"/>
                  <a:cs typeface="Segoe UI" panose="020B0502040204020203"/>
                </a:rPr>
                <a:t>An LLM combines a shared model prior with user-conditioned output—uniform repetition or position- </a:t>
              </a:r>
              <a:r>
                <a:rPr lang="zh-CN" sz="1275" dirty="0">
                  <a:solidFill>
                    <a:srgbClr val="526273"/>
                  </a:solidFill>
                  <a:latin typeface="Segoe UI" panose="020B0502040204020203"/>
                  <a:ea typeface="微软雅黑" panose="020B0503020204020204" charset="-122"/>
                  <a:cs typeface="Segoe UI" panose="020B0502040204020203"/>
                </a:rPr>
                <a:t>specific generation. This shared-base / personalized-output structure remains under-modeled.</a:t>
              </a:r>
              <a:endParaRPr lang="zh-CN" sz="1275" dirty="0">
                <a:solidFill>
                  <a:srgbClr val="526273"/>
                </a:solidFill>
                <a:latin typeface="Segoe UI" panose="020B0502040204020203"/>
                <a:ea typeface="微软雅黑" panose="020B0503020204020204" charset="-122"/>
                <a:cs typeface="Segoe UI" panose="020B0502040204020203"/>
              </a:endParaRPr>
            </a:p>
          </p:txBody>
        </p:sp>
      </p:grpSp>
      <p:grpSp>
        <p:nvGrpSpPr>
          <p:cNvPr id="31" name="Group 31"/>
          <p:cNvGrpSpPr/>
          <p:nvPr/>
        </p:nvGrpSpPr>
        <p:grpSpPr>
          <a:xfrm>
            <a:off x="1028700" y="4800600"/>
            <a:ext cx="10553700" cy="1028700"/>
            <a:chOff x="1028700" y="4800600"/>
            <a:chExt cx="10553700" cy="1028700"/>
          </a:xfrm>
        </p:grpSpPr>
        <p:sp>
          <p:nvSpPr>
            <p:cNvPr id="26" name="Ellipse 26"/>
            <p:cNvSpPr/>
            <p:nvPr/>
          </p:nvSpPr>
          <p:spPr>
            <a:xfrm>
              <a:off x="1028700" y="5067300"/>
              <a:ext cx="457200" cy="457200"/>
            </a:xfrm>
            <a:prstGeom prst="ellipse">
              <a:avLst/>
            </a:prstGeom>
            <a:solidFill>
              <a:srgbClr val="B42318"/>
            </a:solidFill>
            <a:ln>
              <a:noFill/>
            </a:ln>
          </p:spPr>
        </p:sp>
        <p:sp>
          <p:nvSpPr>
            <p:cNvPr id="27" name="TextBox 27"/>
            <p:cNvSpPr txBox="1"/>
            <p:nvPr/>
          </p:nvSpPr>
          <p:spPr>
            <a:xfrm>
              <a:off x="1142920" y="5224939"/>
              <a:ext cx="22876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panose="020B0502040204020203"/>
                  <a:ea typeface="微软雅黑" panose="020B0503020204020204" charset="-122"/>
                  <a:cs typeface="Segoe UI" panose="020B0502040204020203"/>
                </a:rPr>
                <a:t>04</a:t>
              </a:r>
              <a:endParaRPr lang="zh-CN" sz="1275" b="1" dirty="0">
                <a:solidFill>
                  <a:srgbClr val="FFFFFF"/>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1733550" y="4800600"/>
              <a:ext cx="9848850" cy="1028700"/>
            </a:xfrm>
            <a:prstGeom prst="rect">
              <a:avLst/>
            </a:prstGeom>
            <a:solidFill>
              <a:srgbClr val="FFFFFF"/>
            </a:solidFill>
            <a:ln w="9525">
              <a:solidFill>
                <a:srgbClr val="B42318"/>
              </a:solidFill>
            </a:ln>
          </p:spPr>
        </p:sp>
        <p:sp>
          <p:nvSpPr>
            <p:cNvPr id="29" name="TextBox 29"/>
            <p:cNvSpPr txBox="1"/>
            <p:nvPr/>
          </p:nvSpPr>
          <p:spPr>
            <a:xfrm>
              <a:off x="1962150" y="4962525"/>
              <a:ext cx="4973717" cy="304800"/>
            </a:xfrm>
            <a:prstGeom prst="rect">
              <a:avLst/>
            </a:prstGeom>
            <a:noFill/>
            <a:ln>
              <a:noFill/>
            </a:ln>
          </p:spPr>
          <p:txBody>
            <a:bodyPr wrap="none" lIns="0" tIns="0" rIns="0" bIns="0" anchor="t" anchorCtr="0">
              <a:spAutoFit/>
            </a:bodyPr>
            <a:lstStyle/>
            <a:p>
              <a:pPr algn="l"/>
              <a:r>
                <a:rPr lang="zh-CN" sz="1500" b="1" dirty="0">
                  <a:solidFill>
                    <a:srgbClr val="163A5F"/>
                  </a:solidFill>
                  <a:latin typeface="Segoe UI" panose="020B0502040204020203"/>
                  <a:ea typeface="微软雅黑" panose="020B0503020204020204" charset="-122"/>
                  <a:cs typeface="Segoe UI" panose="020B0502040204020203"/>
                </a:rPr>
                <a:t>GAP 4 — A testable micro–macro bridge is missing</a:t>
              </a:r>
              <a:endParaRPr lang="zh-CN" sz="1500" b="1" dirty="0">
                <a:solidFill>
                  <a:srgbClr val="163A5F"/>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1965008" y="5310664"/>
              <a:ext cx="7982903" cy="487680"/>
            </a:xfrm>
            <a:prstGeom prst="rect">
              <a:avLst/>
            </a:prstGeom>
            <a:noFill/>
            <a:ln>
              <a:noFill/>
            </a:ln>
          </p:spPr>
          <p:txBody>
            <a:bodyPr wrap="square" lIns="0" tIns="0" rIns="0" bIns="0" anchor="t" anchorCtr="0"/>
            <a:lstStyle/>
            <a:p>
              <a:pPr algn="l">
                <a:lnSpc>
                  <a:spcPts val="1800"/>
                </a:lnSpc>
              </a:pPr>
              <a:r>
                <a:rPr lang="zh-CN" sz="1275" dirty="0">
                  <a:solidFill>
                    <a:srgbClr val="526273"/>
                  </a:solidFill>
                  <a:latin typeface="Segoe UI" panose="020B0502040204020203"/>
                  <a:ea typeface="微软雅黑" panose="020B0503020204020204" charset="-122"/>
                  <a:cs typeface="Segoe UI" panose="020B0502040204020203"/>
                </a:rPr>
                <a:t>Real-world experiments are usually too small to observe long-run system effects when thousands or </a:t>
              </a:r>
              <a:r>
                <a:rPr lang="zh-CN" sz="1275" dirty="0">
                  <a:solidFill>
                    <a:srgbClr val="526273"/>
                  </a:solidFill>
                  <a:latin typeface="Segoe UI" panose="020B0502040204020203"/>
                  <a:ea typeface="微软雅黑" panose="020B0503020204020204" charset="-122"/>
                  <a:cs typeface="Segoe UI" panose="020B0502040204020203"/>
                </a:rPr>
                <a:t>tens of thousands of people use a shared LLM.</a:t>
              </a:r>
              <a:endParaRPr lang="zh-CN" sz="1275" dirty="0">
                <a:solidFill>
                  <a:srgbClr val="526273"/>
                </a:solidFill>
                <a:latin typeface="Segoe UI" panose="020B0502040204020203"/>
                <a:ea typeface="微软雅黑" panose="020B0503020204020204" charset="-122"/>
                <a:cs typeface="Segoe UI" panose="020B0502040204020203"/>
              </a:endParaRPr>
            </a:p>
          </p:txBody>
        </p:sp>
      </p:grpSp>
      <p:sp>
        <p:nvSpPr>
          <p:cNvPr id="32" name="TextBox 32"/>
          <p:cNvSpPr txBox="1"/>
          <p:nvPr/>
        </p:nvSpPr>
        <p:spPr>
          <a:xfrm>
            <a:off x="11438954" y="6398895"/>
            <a:ext cx="154877" cy="182880"/>
          </a:xfrm>
          <a:prstGeom prst="rect">
            <a:avLst/>
          </a:prstGeom>
          <a:noFill/>
          <a:ln>
            <a:noFill/>
          </a:ln>
        </p:spPr>
        <p:txBody>
          <a:bodyPr wrap="none" lIns="0" tIns="0" rIns="0" bIns="0" anchor="t" anchorCtr="0">
            <a:spAutoFit/>
          </a:bodyPr>
          <a:lstStyle/>
          <a:p>
            <a:pPr algn="r"/>
            <a:r>
              <a:rPr lang="zh-CN" sz="900" dirty="0">
                <a:solidFill>
                  <a:srgbClr val="7B8794"/>
                </a:solidFill>
                <a:latin typeface="Segoe UI" panose="020B0502040204020203"/>
                <a:ea typeface="微软雅黑" panose="020B0503020204020204" charset="-122"/>
                <a:cs typeface="Segoe UI" panose="020B0502040204020203"/>
              </a:rPr>
              <a:t>04</a:t>
            </a:r>
            <a:endParaRPr lang="zh-CN" sz="900"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400"/>
                                        <p:tgtEl>
                                          <p:spTgt spid="13"/>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left)">
                                      <p:cBhvr>
                                        <p:cTn id="11" dur="400"/>
                                        <p:tgtEl>
                                          <p:spTgt spid="1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25"/>
                                        </p:tgtEl>
                                        <p:attrNameLst>
                                          <p:attrName>style.visibility</p:attrName>
                                        </p:attrNameLst>
                                      </p:cBhvr>
                                      <p:to>
                                        <p:strVal val="visible"/>
                                      </p:to>
                                    </p:set>
                                    <p:animEffect transition="in" filter="slide(fromBottom)">
                                      <p:cBhvr>
                                        <p:cTn id="15" dur="400"/>
                                        <p:tgtEl>
                                          <p:spTgt spid="25"/>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31"/>
                                        </p:tgtEl>
                                        <p:attrNameLst>
                                          <p:attrName>style.visibility</p:attrName>
                                        </p:attrNameLst>
                                      </p:cBhvr>
                                      <p:to>
                                        <p:strVal val="visible"/>
                                      </p:to>
                                    </p:set>
                                    <p:animEffect transition="in" filter="image">
                                      <p:cBhvr>
                                        <p:cTn id="19"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9" grpId="0"/>
      <p:bldP spid="25" grpId="0"/>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grpSp>
        <p:nvGrpSpPr>
          <p:cNvPr id="5" name="Group 5"/>
          <p:cNvGrpSpPr/>
          <p:nvPr/>
        </p:nvGrpSpPr>
        <p:grpSpPr>
          <a:xfrm>
            <a:off x="577215" y="277178"/>
            <a:ext cx="4449347" cy="668178"/>
            <a:chOff x="577215" y="277178"/>
            <a:chExt cx="4449347" cy="668178"/>
          </a:xfrm>
        </p:grpSpPr>
        <p:sp>
          <p:nvSpPr>
            <p:cNvPr id="3" name="TextBox 3"/>
            <p:cNvSpPr txBox="1"/>
            <p:nvPr/>
          </p:nvSpPr>
          <p:spPr>
            <a:xfrm>
              <a:off x="577215" y="277178"/>
              <a:ext cx="4063670" cy="518160"/>
            </a:xfrm>
            <a:prstGeom prst="rect">
              <a:avLst/>
            </a:prstGeom>
            <a:noFill/>
            <a:ln>
              <a:noFill/>
            </a:ln>
          </p:spPr>
          <p:txBody>
            <a:bodyPr wrap="none" lIns="0" tIns="0" rIns="0" bIns="0" anchor="t" anchorCtr="0">
              <a:spAutoFit/>
            </a:bodyPr>
            <a:lstStyle/>
            <a:p>
              <a:pPr algn="l"/>
              <a:r>
                <a:rPr lang="zh-CN" sz="2550" b="1" dirty="0">
                  <a:solidFill>
                    <a:srgbClr val="163A5F"/>
                  </a:solidFill>
                  <a:latin typeface="Segoe UI" panose="020B0502040204020203"/>
                  <a:ea typeface="微软雅黑" panose="020B0503020204020204" charset="-122"/>
                  <a:cs typeface="Segoe UI" panose="020B0502040204020203"/>
                </a:rPr>
                <a:t>Theoretical Framework</a:t>
              </a:r>
              <a:endParaRPr lang="zh-CN" sz="2550" b="1" dirty="0">
                <a:solidFill>
                  <a:srgbClr val="163A5F"/>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595312" y="716756"/>
              <a:ext cx="4431250" cy="228600"/>
            </a:xfrm>
            <a:prstGeom prst="rect">
              <a:avLst/>
            </a:prstGeom>
            <a:noFill/>
            <a:ln>
              <a:noFill/>
            </a:ln>
          </p:spPr>
          <p:txBody>
            <a:bodyPr wrap="none" lIns="0" tIns="0" rIns="0" bIns="0" anchor="t" anchorCtr="0">
              <a:spAutoFit/>
            </a:bodyPr>
            <a:lstStyle/>
            <a:p>
              <a:pPr algn="l"/>
              <a:r>
                <a:rPr lang="zh-CN" sz="1125" b="1" dirty="0">
                  <a:solidFill>
                    <a:srgbClr val="5B7FA3"/>
                  </a:solidFill>
                  <a:latin typeface="Segoe UI" panose="020B0502040204020203"/>
                  <a:ea typeface="微软雅黑" panose="020B0503020204020204" charset="-122"/>
                  <a:cs typeface="Segoe UI" panose="020B0502040204020203"/>
                </a:rPr>
                <a:t>WISDOM OF CROWDS AND THE DIVERSITY PREDICTION THEOREM</a:t>
              </a:r>
              <a:endParaRPr lang="zh-CN" sz="1125" b="1" dirty="0">
                <a:solidFill>
                  <a:srgbClr val="5B7FA3"/>
                </a:solidFill>
                <a:latin typeface="Segoe UI" panose="020B0502040204020203"/>
                <a:ea typeface="微软雅黑" panose="020B0503020204020204" charset="-122"/>
                <a:cs typeface="Segoe UI" panose="020B0502040204020203"/>
              </a:endParaRPr>
            </a:p>
          </p:txBody>
        </p:sp>
      </p:grpSp>
      <p:grpSp>
        <p:nvGrpSpPr>
          <p:cNvPr id="19" name="Group 19"/>
          <p:cNvGrpSpPr/>
          <p:nvPr/>
        </p:nvGrpSpPr>
        <p:grpSpPr>
          <a:xfrm>
            <a:off x="609600" y="1143000"/>
            <a:ext cx="3452670" cy="3429000"/>
            <a:chOff x="609600" y="1143000"/>
            <a:chExt cx="3452670" cy="3429000"/>
          </a:xfrm>
        </p:grpSpPr>
        <p:sp>
          <p:nvSpPr>
            <p:cNvPr id="6" name="Rectangle 6"/>
            <p:cNvSpPr/>
            <p:nvPr/>
          </p:nvSpPr>
          <p:spPr>
            <a:xfrm>
              <a:off x="609600" y="1143000"/>
              <a:ext cx="3429000" cy="3429000"/>
            </a:xfrm>
            <a:prstGeom prst="rect">
              <a:avLst/>
            </a:prstGeom>
            <a:solidFill>
              <a:srgbClr val="FFFFFF"/>
            </a:solidFill>
            <a:ln w="9525">
              <a:solidFill>
                <a:srgbClr val="CCD6E1"/>
              </a:solidFill>
            </a:ln>
          </p:spPr>
        </p:sp>
        <p:grpSp>
          <p:nvGrpSpPr>
            <p:cNvPr id="11" name="Group 11"/>
            <p:cNvGrpSpPr/>
            <p:nvPr/>
          </p:nvGrpSpPr>
          <p:grpSpPr>
            <a:xfrm>
              <a:off x="921544" y="1435894"/>
              <a:ext cx="271463" cy="271463"/>
              <a:chOff x="921544" y="1435894"/>
              <a:chExt cx="271463" cy="271463"/>
            </a:xfrm>
          </p:grpSpPr>
          <p:sp>
            <p:nvSpPr>
              <p:cNvPr id="7" name="Freeform 7"/>
              <p:cNvSpPr/>
              <p:nvPr/>
            </p:nvSpPr>
            <p:spPr>
              <a:xfrm>
                <a:off x="951706" y="1435894"/>
                <a:ext cx="120650" cy="120650"/>
              </a:xfrm>
              <a:custGeom>
                <a:avLst/>
                <a:gdLst/>
                <a:ahLst/>
                <a:cxnLst/>
                <a:rect l="l" t="t" r="r" b="b"/>
                <a:pathLst>
                  <a:path w="120650" h="120650">
                    <a:moveTo>
                      <a:pt x="0" y="60325"/>
                    </a:moveTo>
                    <a:cubicBezTo>
                      <a:pt x="0" y="93642"/>
                      <a:pt x="27008" y="120650"/>
                      <a:pt x="60325" y="120650"/>
                    </a:cubicBezTo>
                    <a:cubicBezTo>
                      <a:pt x="93642" y="120650"/>
                      <a:pt x="120650" y="93642"/>
                      <a:pt x="120650" y="60325"/>
                    </a:cubicBezTo>
                    <a:cubicBezTo>
                      <a:pt x="120650" y="27008"/>
                      <a:pt x="93642" y="0"/>
                      <a:pt x="60325" y="0"/>
                    </a:cubicBezTo>
                    <a:cubicBezTo>
                      <a:pt x="27008" y="0"/>
                      <a:pt x="0" y="27008"/>
                      <a:pt x="0" y="60325"/>
                    </a:cubicBezTo>
                  </a:path>
                </a:pathLst>
              </a:custGeom>
              <a:noFill/>
              <a:ln w="19050">
                <a:solidFill>
                  <a:srgbClr val="163A5F"/>
                </a:solidFill>
              </a:ln>
            </p:spPr>
          </p:sp>
          <p:sp>
            <p:nvSpPr>
              <p:cNvPr id="8" name="Freeform 8"/>
              <p:cNvSpPr/>
              <p:nvPr/>
            </p:nvSpPr>
            <p:spPr>
              <a:xfrm>
                <a:off x="921544" y="1616869"/>
                <a:ext cx="180975" cy="90488"/>
              </a:xfrm>
              <a:custGeom>
                <a:avLst/>
                <a:gdLst/>
                <a:ahLst/>
                <a:cxnLst/>
                <a:rect l="l" t="t" r="r" b="b"/>
                <a:pathLst>
                  <a:path w="180975" h="90488">
                    <a:moveTo>
                      <a:pt x="0" y="90488"/>
                    </a:moveTo>
                    <a:lnTo>
                      <a:pt x="0" y="60325"/>
                    </a:lnTo>
                    <a:cubicBezTo>
                      <a:pt x="0" y="27008"/>
                      <a:pt x="27008" y="0"/>
                      <a:pt x="60325" y="0"/>
                    </a:cubicBezTo>
                    <a:lnTo>
                      <a:pt x="120650" y="0"/>
                    </a:lnTo>
                    <a:cubicBezTo>
                      <a:pt x="153967" y="0"/>
                      <a:pt x="180975" y="27008"/>
                      <a:pt x="180975" y="60325"/>
                    </a:cubicBezTo>
                    <a:lnTo>
                      <a:pt x="180975" y="90488"/>
                    </a:lnTo>
                  </a:path>
                </a:pathLst>
              </a:custGeom>
              <a:noFill/>
              <a:ln w="19050">
                <a:solidFill>
                  <a:srgbClr val="163A5F"/>
                </a:solidFill>
              </a:ln>
            </p:spPr>
          </p:sp>
          <p:sp>
            <p:nvSpPr>
              <p:cNvPr id="9" name="Freeform 9"/>
              <p:cNvSpPr/>
              <p:nvPr/>
            </p:nvSpPr>
            <p:spPr>
              <a:xfrm>
                <a:off x="1117600" y="1437854"/>
                <a:ext cx="45362" cy="116880"/>
              </a:xfrm>
              <a:custGeom>
                <a:avLst/>
                <a:gdLst/>
                <a:ahLst/>
                <a:cxnLst/>
                <a:rect l="l" t="t" r="r" b="b"/>
                <a:pathLst>
                  <a:path w="45362" h="116880">
                    <a:moveTo>
                      <a:pt x="0" y="0"/>
                    </a:moveTo>
                    <a:cubicBezTo>
                      <a:pt x="26693" y="6834"/>
                      <a:pt x="45362" y="30886"/>
                      <a:pt x="45362" y="58440"/>
                    </a:cubicBezTo>
                    <a:cubicBezTo>
                      <a:pt x="45362" y="85993"/>
                      <a:pt x="26693" y="110045"/>
                      <a:pt x="0" y="116880"/>
                    </a:cubicBezTo>
                  </a:path>
                </a:pathLst>
              </a:custGeom>
              <a:noFill/>
              <a:ln w="19050">
                <a:solidFill>
                  <a:srgbClr val="163A5F"/>
                </a:solidFill>
              </a:ln>
            </p:spPr>
          </p:sp>
          <p:sp>
            <p:nvSpPr>
              <p:cNvPr id="10" name="Freeform 10"/>
              <p:cNvSpPr/>
              <p:nvPr/>
            </p:nvSpPr>
            <p:spPr>
              <a:xfrm>
                <a:off x="1147763" y="1619131"/>
                <a:ext cx="45244" cy="88225"/>
              </a:xfrm>
              <a:custGeom>
                <a:avLst/>
                <a:gdLst/>
                <a:ahLst/>
                <a:cxnLst/>
                <a:rect l="l" t="t" r="r" b="b"/>
                <a:pathLst>
                  <a:path w="45244" h="88225">
                    <a:moveTo>
                      <a:pt x="45244" y="88225"/>
                    </a:moveTo>
                    <a:lnTo>
                      <a:pt x="45244" y="58063"/>
                    </a:lnTo>
                    <a:cubicBezTo>
                      <a:pt x="45086" y="30684"/>
                      <a:pt x="26510" y="6844"/>
                      <a:pt x="0" y="0"/>
                    </a:cubicBezTo>
                  </a:path>
                </a:pathLst>
              </a:custGeom>
              <a:noFill/>
              <a:ln w="19050">
                <a:solidFill>
                  <a:srgbClr val="163A5F"/>
                </a:solidFill>
              </a:ln>
            </p:spPr>
          </p:sp>
        </p:grpSp>
        <p:sp>
          <p:nvSpPr>
            <p:cNvPr id="12" name="TextBox 12"/>
            <p:cNvSpPr txBox="1"/>
            <p:nvPr/>
          </p:nvSpPr>
          <p:spPr>
            <a:xfrm>
              <a:off x="854392" y="1890236"/>
              <a:ext cx="2133051" cy="350520"/>
            </a:xfrm>
            <a:prstGeom prst="rect">
              <a:avLst/>
            </a:prstGeom>
            <a:noFill/>
            <a:ln>
              <a:noFill/>
            </a:ln>
          </p:spPr>
          <p:txBody>
            <a:bodyPr wrap="none" lIns="0" tIns="0" rIns="0" bIns="0" anchor="t" anchorCtr="0">
              <a:spAutoFit/>
            </a:bodyPr>
            <a:lstStyle/>
            <a:p>
              <a:pPr algn="l"/>
              <a:r>
                <a:rPr lang="zh-CN" sz="1725" b="1" dirty="0">
                  <a:solidFill>
                    <a:srgbClr val="163A5F"/>
                  </a:solidFill>
                  <a:latin typeface="Segoe UI" panose="020B0502040204020203"/>
                  <a:ea typeface="微软雅黑" panose="020B0503020204020204" charset="-122"/>
                  <a:cs typeface="Segoe UI" panose="020B0502040204020203"/>
                </a:rPr>
                <a:t>Wisdom of crowds</a:t>
              </a:r>
              <a:endParaRPr lang="zh-CN" sz="1725" b="1" dirty="0">
                <a:solidFill>
                  <a:srgbClr val="163A5F"/>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862965" y="2220278"/>
              <a:ext cx="1181814" cy="213360"/>
            </a:xfrm>
            <a:prstGeom prst="rect">
              <a:avLst/>
            </a:prstGeom>
            <a:noFill/>
            <a:ln>
              <a:noFill/>
            </a:ln>
          </p:spPr>
          <p:txBody>
            <a:bodyPr wrap="none" lIns="0" tIns="0" rIns="0" bIns="0" anchor="t" anchorCtr="0">
              <a:spAutoFit/>
            </a:bodyPr>
            <a:lstStyle/>
            <a:p>
              <a:pPr algn="l"/>
              <a:r>
                <a:rPr lang="zh-CN" sz="1050" dirty="0">
                  <a:solidFill>
                    <a:srgbClr val="7B8794"/>
                  </a:solidFill>
                  <a:latin typeface="Segoe UI" panose="020B0502040204020203"/>
                  <a:ea typeface="微软雅黑" panose="020B0503020204020204" charset="-122"/>
                  <a:cs typeface="Segoe UI" panose="020B0502040204020203"/>
                </a:rPr>
                <a:t>Surowiecki, 2004</a:t>
              </a:r>
              <a:endParaRPr lang="zh-CN" sz="1050" dirty="0">
                <a:solidFill>
                  <a:srgbClr val="7B8794"/>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859155" y="2635568"/>
              <a:ext cx="3008948" cy="531495"/>
            </a:xfrm>
            <a:prstGeom prst="rect">
              <a:avLst/>
            </a:prstGeom>
            <a:noFill/>
            <a:ln>
              <a:noFill/>
            </a:ln>
          </p:spPr>
          <p:txBody>
            <a:bodyPr wrap="square" lIns="0" tIns="0" rIns="0" bIns="0" anchor="t" anchorCtr="0"/>
            <a:lstStyle/>
            <a:p>
              <a:pPr algn="l">
                <a:lnSpc>
                  <a:spcPts val="2025"/>
                </a:lnSpc>
              </a:pPr>
              <a:r>
                <a:rPr lang="zh-CN" sz="1350" dirty="0">
                  <a:solidFill>
                    <a:srgbClr val="1F2A37"/>
                  </a:solidFill>
                  <a:latin typeface="Segoe UI" panose="020B0502040204020203"/>
                  <a:ea typeface="微软雅黑" panose="020B0503020204020204" charset="-122"/>
                  <a:cs typeface="Segoe UI" panose="020B0502040204020203"/>
                </a:rPr>
                <a:t>Collective judgment can outperform </a:t>
              </a:r>
              <a:r>
                <a:rPr lang="zh-CN" sz="1350" dirty="0">
                  <a:solidFill>
                    <a:srgbClr val="1F2A37"/>
                  </a:solidFill>
                  <a:latin typeface="Segoe UI" panose="020B0502040204020203"/>
                  <a:ea typeface="微软雅黑" panose="020B0503020204020204" charset="-122"/>
                  <a:cs typeface="Segoe UI" panose="020B0502040204020203"/>
                </a:rPr>
                <a:t>individual judgment when:</a:t>
              </a:r>
              <a:endParaRPr lang="zh-CN" sz="1350" dirty="0">
                <a:solidFill>
                  <a:srgbClr val="1F2A37"/>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030605" y="3283268"/>
              <a:ext cx="1726502" cy="274320"/>
            </a:xfrm>
            <a:prstGeom prst="rect">
              <a:avLst/>
            </a:prstGeom>
            <a:noFill/>
            <a:ln>
              <a:noFill/>
            </a:ln>
          </p:spPr>
          <p:txBody>
            <a:bodyPr wrap="none" lIns="0" tIns="0" rIns="0" bIns="0" anchor="t" anchorCtr="0">
              <a:spAutoFit/>
            </a:bodyPr>
            <a:lstStyle/>
            <a:p>
              <a:pPr algn="l"/>
              <a:r>
                <a:rPr lang="zh-CN" sz="1350" dirty="0">
                  <a:solidFill>
                    <a:srgbClr val="526273"/>
                  </a:solidFill>
                  <a:latin typeface="Segoe UI" panose="020B0502040204020203"/>
                  <a:ea typeface="微软雅黑" panose="020B0503020204020204" charset="-122"/>
                  <a:cs typeface="Segoe UI" panose="020B0502040204020203"/>
                </a:rPr>
                <a:t>• views are diverse</a:t>
              </a:r>
              <a:endParaRPr lang="zh-CN" sz="1350" dirty="0">
                <a:solidFill>
                  <a:srgbClr val="526273"/>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1030605" y="3588068"/>
              <a:ext cx="2437590" cy="274320"/>
            </a:xfrm>
            <a:prstGeom prst="rect">
              <a:avLst/>
            </a:prstGeom>
            <a:noFill/>
            <a:ln>
              <a:noFill/>
            </a:ln>
          </p:spPr>
          <p:txBody>
            <a:bodyPr wrap="none" lIns="0" tIns="0" rIns="0" bIns="0" anchor="t" anchorCtr="0">
              <a:spAutoFit/>
            </a:bodyPr>
            <a:lstStyle/>
            <a:p>
              <a:pPr algn="l"/>
              <a:r>
                <a:rPr lang="zh-CN" sz="1350" dirty="0">
                  <a:solidFill>
                    <a:srgbClr val="526273"/>
                  </a:solidFill>
                  <a:latin typeface="Segoe UI" panose="020B0502040204020203"/>
                  <a:ea typeface="微软雅黑" panose="020B0503020204020204" charset="-122"/>
                  <a:cs typeface="Segoe UI" panose="020B0502040204020203"/>
                </a:rPr>
                <a:t>• decisions are independent</a:t>
              </a:r>
              <a:endParaRPr lang="zh-CN" sz="1350" dirty="0">
                <a:solidFill>
                  <a:srgbClr val="526273"/>
                </a:solidFill>
                <a:latin typeface="Segoe UI" panose="020B0502040204020203"/>
                <a:ea typeface="微软雅黑" panose="020B0503020204020204" charset="-122"/>
                <a:cs typeface="Segoe UI" panose="020B0502040204020203"/>
              </a:endParaRPr>
            </a:p>
          </p:txBody>
        </p:sp>
        <p:sp>
          <p:nvSpPr>
            <p:cNvPr id="17" name="TextBox 17"/>
            <p:cNvSpPr txBox="1"/>
            <p:nvPr/>
          </p:nvSpPr>
          <p:spPr>
            <a:xfrm>
              <a:off x="1030605" y="3892868"/>
              <a:ext cx="3031665" cy="274320"/>
            </a:xfrm>
            <a:prstGeom prst="rect">
              <a:avLst/>
            </a:prstGeom>
            <a:noFill/>
            <a:ln>
              <a:noFill/>
            </a:ln>
          </p:spPr>
          <p:txBody>
            <a:bodyPr wrap="none" lIns="0" tIns="0" rIns="0" bIns="0" anchor="t" anchorCtr="0">
              <a:spAutoFit/>
            </a:bodyPr>
            <a:lstStyle/>
            <a:p>
              <a:pPr algn="l"/>
              <a:r>
                <a:rPr lang="zh-CN" sz="1350" dirty="0">
                  <a:solidFill>
                    <a:srgbClr val="526273"/>
                  </a:solidFill>
                  <a:latin typeface="Segoe UI" panose="020B0502040204020203"/>
                  <a:ea typeface="微软雅黑" panose="020B0503020204020204" charset="-122"/>
                  <a:cs typeface="Segoe UI" panose="020B0502040204020203"/>
                </a:rPr>
                <a:t>• private information is dispersed</a:t>
              </a:r>
              <a:endParaRPr lang="zh-CN" sz="1350" dirty="0">
                <a:solidFill>
                  <a:srgbClr val="526273"/>
                </a:solidFill>
                <a:latin typeface="Segoe UI" panose="020B0502040204020203"/>
                <a:ea typeface="微软雅黑" panose="020B0503020204020204" charset="-122"/>
                <a:cs typeface="Segoe UI" panose="020B0502040204020203"/>
              </a:endParaRPr>
            </a:p>
          </p:txBody>
        </p:sp>
        <p:sp>
          <p:nvSpPr>
            <p:cNvPr id="18" name="Rectangle 18"/>
            <p:cNvSpPr/>
            <p:nvPr/>
          </p:nvSpPr>
          <p:spPr>
            <a:xfrm>
              <a:off x="876300" y="4267200"/>
              <a:ext cx="2895600" cy="38100"/>
            </a:xfrm>
            <a:prstGeom prst="rect">
              <a:avLst/>
            </a:prstGeom>
            <a:solidFill>
              <a:srgbClr val="B42318"/>
            </a:solidFill>
            <a:ln>
              <a:noFill/>
            </a:ln>
          </p:spPr>
        </p:sp>
      </p:grpSp>
      <p:grpSp>
        <p:nvGrpSpPr>
          <p:cNvPr id="33" name="Group 33"/>
          <p:cNvGrpSpPr/>
          <p:nvPr/>
        </p:nvGrpSpPr>
        <p:grpSpPr>
          <a:xfrm>
            <a:off x="4267200" y="1143000"/>
            <a:ext cx="3513891" cy="3429000"/>
            <a:chOff x="4267200" y="1143000"/>
            <a:chExt cx="3513891" cy="3429000"/>
          </a:xfrm>
        </p:grpSpPr>
        <p:sp>
          <p:nvSpPr>
            <p:cNvPr id="20" name="Rectangle 20"/>
            <p:cNvSpPr/>
            <p:nvPr/>
          </p:nvSpPr>
          <p:spPr>
            <a:xfrm>
              <a:off x="4267200" y="1143000"/>
              <a:ext cx="3429000" cy="3429000"/>
            </a:xfrm>
            <a:prstGeom prst="rect">
              <a:avLst/>
            </a:prstGeom>
            <a:solidFill>
              <a:srgbClr val="FFFFFF"/>
            </a:solidFill>
            <a:ln w="9525">
              <a:solidFill>
                <a:srgbClr val="CCD6E1"/>
              </a:solidFill>
            </a:ln>
          </p:spPr>
        </p:sp>
        <p:grpSp>
          <p:nvGrpSpPr>
            <p:cNvPr id="26" name="Group 26"/>
            <p:cNvGrpSpPr/>
            <p:nvPr/>
          </p:nvGrpSpPr>
          <p:grpSpPr>
            <a:xfrm>
              <a:off x="4579144" y="1435894"/>
              <a:ext cx="271463" cy="265906"/>
              <a:chOff x="4579144" y="1435894"/>
              <a:chExt cx="271463" cy="265906"/>
            </a:xfrm>
          </p:grpSpPr>
          <p:sp>
            <p:nvSpPr>
              <p:cNvPr id="21" name="Freeform 21"/>
              <p:cNvSpPr/>
              <p:nvPr/>
            </p:nvSpPr>
            <p:spPr>
              <a:xfrm>
                <a:off x="4639469" y="1692275"/>
                <a:ext cx="150813" cy="9525"/>
              </a:xfrm>
              <a:custGeom>
                <a:avLst/>
                <a:gdLst/>
                <a:ahLst/>
                <a:cxnLst/>
                <a:rect l="l" t="t" r="r" b="b"/>
                <a:pathLst>
                  <a:path w="150813" h="9525">
                    <a:moveTo>
                      <a:pt x="0" y="0"/>
                    </a:moveTo>
                    <a:lnTo>
                      <a:pt x="150813" y="0"/>
                    </a:lnTo>
                  </a:path>
                </a:pathLst>
              </a:custGeom>
              <a:noFill/>
              <a:ln w="19050">
                <a:solidFill>
                  <a:srgbClr val="163A5F"/>
                </a:solidFill>
              </a:ln>
            </p:spPr>
          </p:sp>
          <p:sp>
            <p:nvSpPr>
              <p:cNvPr id="22" name="Freeform 22"/>
              <p:cNvSpPr/>
              <p:nvPr/>
            </p:nvSpPr>
            <p:spPr>
              <a:xfrm>
                <a:off x="4624388" y="1466056"/>
                <a:ext cx="180975" cy="15081"/>
              </a:xfrm>
              <a:custGeom>
                <a:avLst/>
                <a:gdLst/>
                <a:ahLst/>
                <a:cxnLst/>
                <a:rect l="l" t="t" r="r" b="b"/>
                <a:pathLst>
                  <a:path w="180975" h="15081">
                    <a:moveTo>
                      <a:pt x="0" y="15081"/>
                    </a:moveTo>
                    <a:lnTo>
                      <a:pt x="90488" y="0"/>
                    </a:lnTo>
                    <a:lnTo>
                      <a:pt x="180975" y="15081"/>
                    </a:lnTo>
                  </a:path>
                </a:pathLst>
              </a:custGeom>
              <a:noFill/>
              <a:ln w="19050">
                <a:solidFill>
                  <a:srgbClr val="163A5F"/>
                </a:solidFill>
              </a:ln>
            </p:spPr>
          </p:sp>
          <p:sp>
            <p:nvSpPr>
              <p:cNvPr id="23" name="Freeform 23"/>
              <p:cNvSpPr/>
              <p:nvPr/>
            </p:nvSpPr>
            <p:spPr>
              <a:xfrm>
                <a:off x="4714875" y="1435894"/>
                <a:ext cx="9525" cy="256381"/>
              </a:xfrm>
              <a:custGeom>
                <a:avLst/>
                <a:gdLst/>
                <a:ahLst/>
                <a:cxnLst/>
                <a:rect l="l" t="t" r="r" b="b"/>
                <a:pathLst>
                  <a:path w="9525" h="256381">
                    <a:moveTo>
                      <a:pt x="0" y="0"/>
                    </a:moveTo>
                    <a:lnTo>
                      <a:pt x="0" y="256381"/>
                    </a:lnTo>
                  </a:path>
                </a:pathLst>
              </a:custGeom>
              <a:noFill/>
              <a:ln w="19050">
                <a:solidFill>
                  <a:srgbClr val="163A5F"/>
                </a:solidFill>
              </a:ln>
            </p:spPr>
          </p:sp>
          <p:sp>
            <p:nvSpPr>
              <p:cNvPr id="24" name="Freeform 24"/>
              <p:cNvSpPr/>
              <p:nvPr/>
            </p:nvSpPr>
            <p:spPr>
              <a:xfrm>
                <a:off x="4579144" y="1481138"/>
                <a:ext cx="90488" cy="135731"/>
              </a:xfrm>
              <a:custGeom>
                <a:avLst/>
                <a:gdLst/>
                <a:ahLst/>
                <a:cxnLst/>
                <a:rect l="l" t="t" r="r" b="b"/>
                <a:pathLst>
                  <a:path w="90488" h="135731">
                    <a:moveTo>
                      <a:pt x="90488" y="90488"/>
                    </a:moveTo>
                    <a:lnTo>
                      <a:pt x="45244" y="0"/>
                    </a:lnTo>
                    <a:lnTo>
                      <a:pt x="0" y="90488"/>
                    </a:lnTo>
                    <a:cubicBezTo>
                      <a:pt x="0" y="115475"/>
                      <a:pt x="20256" y="135731"/>
                      <a:pt x="45244" y="135731"/>
                    </a:cubicBezTo>
                    <a:cubicBezTo>
                      <a:pt x="70231" y="135731"/>
                      <a:pt x="90488" y="115475"/>
                      <a:pt x="90488" y="90488"/>
                    </a:cubicBezTo>
                  </a:path>
                </a:pathLst>
              </a:custGeom>
              <a:noFill/>
              <a:ln w="19050">
                <a:solidFill>
                  <a:srgbClr val="163A5F"/>
                </a:solidFill>
              </a:ln>
            </p:spPr>
          </p:sp>
          <p:sp>
            <p:nvSpPr>
              <p:cNvPr id="25" name="Freeform 25"/>
              <p:cNvSpPr/>
              <p:nvPr/>
            </p:nvSpPr>
            <p:spPr>
              <a:xfrm>
                <a:off x="4760119" y="1481138"/>
                <a:ext cx="90488" cy="135731"/>
              </a:xfrm>
              <a:custGeom>
                <a:avLst/>
                <a:gdLst/>
                <a:ahLst/>
                <a:cxnLst/>
                <a:rect l="l" t="t" r="r" b="b"/>
                <a:pathLst>
                  <a:path w="90488" h="135731">
                    <a:moveTo>
                      <a:pt x="90488" y="90488"/>
                    </a:moveTo>
                    <a:lnTo>
                      <a:pt x="45244" y="0"/>
                    </a:lnTo>
                    <a:lnTo>
                      <a:pt x="0" y="90488"/>
                    </a:lnTo>
                    <a:cubicBezTo>
                      <a:pt x="0" y="115475"/>
                      <a:pt x="20256" y="135731"/>
                      <a:pt x="45244" y="135731"/>
                    </a:cubicBezTo>
                    <a:cubicBezTo>
                      <a:pt x="70231" y="135731"/>
                      <a:pt x="90488" y="115475"/>
                      <a:pt x="90488" y="90488"/>
                    </a:cubicBezTo>
                  </a:path>
                </a:pathLst>
              </a:custGeom>
              <a:noFill/>
              <a:ln w="19050">
                <a:solidFill>
                  <a:srgbClr val="163A5F"/>
                </a:solidFill>
              </a:ln>
            </p:spPr>
          </p:sp>
        </p:grpSp>
        <p:sp>
          <p:nvSpPr>
            <p:cNvPr id="27" name="TextBox 27"/>
            <p:cNvSpPr txBox="1"/>
            <p:nvPr/>
          </p:nvSpPr>
          <p:spPr>
            <a:xfrm>
              <a:off x="4511992" y="1890236"/>
              <a:ext cx="2398734" cy="350520"/>
            </a:xfrm>
            <a:prstGeom prst="rect">
              <a:avLst/>
            </a:prstGeom>
            <a:noFill/>
            <a:ln>
              <a:noFill/>
            </a:ln>
          </p:spPr>
          <p:txBody>
            <a:bodyPr wrap="none" lIns="0" tIns="0" rIns="0" bIns="0" anchor="t" anchorCtr="0">
              <a:spAutoFit/>
            </a:bodyPr>
            <a:lstStyle/>
            <a:p>
              <a:pPr algn="l"/>
              <a:r>
                <a:rPr lang="zh-CN" sz="1725" b="1" dirty="0">
                  <a:solidFill>
                    <a:srgbClr val="163A5F"/>
                  </a:solidFill>
                  <a:latin typeface="Segoe UI" panose="020B0502040204020203"/>
                  <a:ea typeface="微软雅黑" panose="020B0503020204020204" charset="-122"/>
                  <a:cs typeface="Segoe UI" panose="020B0502040204020203"/>
                </a:rPr>
                <a:t>Diversity prediction</a:t>
              </a:r>
              <a:endParaRPr lang="zh-CN" sz="1725" b="1" dirty="0">
                <a:solidFill>
                  <a:srgbClr val="163A5F"/>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4520565" y="2220278"/>
              <a:ext cx="761762" cy="213360"/>
            </a:xfrm>
            <a:prstGeom prst="rect">
              <a:avLst/>
            </a:prstGeom>
            <a:noFill/>
            <a:ln>
              <a:noFill/>
            </a:ln>
          </p:spPr>
          <p:txBody>
            <a:bodyPr wrap="none" lIns="0" tIns="0" rIns="0" bIns="0" anchor="t" anchorCtr="0">
              <a:spAutoFit/>
            </a:bodyPr>
            <a:lstStyle/>
            <a:p>
              <a:pPr algn="l"/>
              <a:r>
                <a:rPr lang="zh-CN" sz="1050" dirty="0">
                  <a:solidFill>
                    <a:srgbClr val="7B8794"/>
                  </a:solidFill>
                  <a:latin typeface="Segoe UI" panose="020B0502040204020203"/>
                  <a:ea typeface="微软雅黑" panose="020B0503020204020204" charset="-122"/>
                  <a:cs typeface="Segoe UI" panose="020B0502040204020203"/>
                </a:rPr>
                <a:t>Page, 2007</a:t>
              </a:r>
              <a:endParaRPr lang="zh-CN" sz="1050" dirty="0">
                <a:solidFill>
                  <a:srgbClr val="7B8794"/>
                </a:solidFill>
                <a:latin typeface="Segoe UI" panose="020B0502040204020203"/>
                <a:ea typeface="微软雅黑" panose="020B0503020204020204" charset="-122"/>
                <a:cs typeface="Segoe UI" panose="020B0502040204020203"/>
              </a:endParaRPr>
            </a:p>
          </p:txBody>
        </p:sp>
        <p:sp>
          <p:nvSpPr>
            <p:cNvPr id="29" name="TextBox 29"/>
            <p:cNvSpPr txBox="1"/>
            <p:nvPr/>
          </p:nvSpPr>
          <p:spPr>
            <a:xfrm>
              <a:off x="4516755" y="2635568"/>
              <a:ext cx="3034665" cy="531495"/>
            </a:xfrm>
            <a:prstGeom prst="rect">
              <a:avLst/>
            </a:prstGeom>
            <a:noFill/>
            <a:ln>
              <a:noFill/>
            </a:ln>
          </p:spPr>
          <p:txBody>
            <a:bodyPr wrap="square" lIns="0" tIns="0" rIns="0" bIns="0" anchor="t" anchorCtr="0"/>
            <a:lstStyle/>
            <a:p>
              <a:pPr algn="l">
                <a:lnSpc>
                  <a:spcPts val="2025"/>
                </a:lnSpc>
              </a:pPr>
              <a:r>
                <a:rPr lang="zh-CN" sz="1350" dirty="0">
                  <a:solidFill>
                    <a:srgbClr val="1F2A37"/>
                  </a:solidFill>
                  <a:latin typeface="Segoe UI" panose="020B0502040204020203"/>
                  <a:ea typeface="微软雅黑" panose="020B0503020204020204" charset="-122"/>
                  <a:cs typeface="Segoe UI" panose="020B0502040204020203"/>
                </a:rPr>
                <a:t>AI may improve individual accuracy </a:t>
              </a:r>
              <a:r>
                <a:rPr lang="zh-CN" sz="1350" dirty="0">
                  <a:solidFill>
                    <a:srgbClr val="1F2A37"/>
                  </a:solidFill>
                  <a:latin typeface="Segoe UI" panose="020B0502040204020203"/>
                  <a:ea typeface="微软雅黑" panose="020B0503020204020204" charset="-122"/>
                  <a:cs typeface="Segoe UI" panose="020B0502040204020203"/>
                </a:rPr>
                <a:t>while reducing predictive diversity.</a:t>
              </a:r>
              <a:endParaRPr lang="zh-CN" sz="1350" dirty="0">
                <a:solidFill>
                  <a:srgbClr val="1F2A37"/>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4533900" y="3333750"/>
              <a:ext cx="2895600" cy="876300"/>
            </a:xfrm>
            <a:prstGeom prst="rect">
              <a:avLst/>
            </a:prstGeom>
            <a:solidFill>
              <a:srgbClr val="EAF0F7"/>
            </a:solidFill>
            <a:ln>
              <a:noFill/>
            </a:ln>
          </p:spPr>
        </p:sp>
        <p:pic>
          <p:nvPicPr>
            <p:cNvPr id="31" name="Image 31"/>
            <p:cNvPicPr>
              <a:picLocks noChangeAspect="1"/>
            </p:cNvPicPr>
            <p:nvPr/>
          </p:nvPicPr>
          <p:blipFill>
            <a:blip r:embed="rId1"/>
            <a:stretch>
              <a:fillRect/>
            </a:stretch>
          </p:blipFill>
          <p:spPr>
            <a:xfrm>
              <a:off x="4762500" y="3593237"/>
              <a:ext cx="2438400" cy="338275"/>
            </a:xfrm>
            <a:prstGeom prst="rect">
              <a:avLst/>
            </a:prstGeom>
          </p:spPr>
        </p:pic>
        <p:sp>
          <p:nvSpPr>
            <p:cNvPr id="32" name="TextBox 32"/>
            <p:cNvSpPr txBox="1"/>
            <p:nvPr/>
          </p:nvSpPr>
          <p:spPr>
            <a:xfrm>
              <a:off x="4519612" y="4317206"/>
              <a:ext cx="3261479" cy="228600"/>
            </a:xfrm>
            <a:prstGeom prst="rect">
              <a:avLst/>
            </a:prstGeom>
            <a:noFill/>
            <a:ln>
              <a:noFill/>
            </a:ln>
          </p:spPr>
          <p:txBody>
            <a:bodyPr wrap="none" lIns="0" tIns="0" rIns="0" bIns="0" anchor="t" anchorCtr="0">
              <a:spAutoFit/>
            </a:bodyPr>
            <a:lstStyle/>
            <a:p>
              <a:pPr algn="l"/>
              <a:r>
                <a:rPr lang="zh-CN" sz="1125" dirty="0">
                  <a:solidFill>
                    <a:srgbClr val="526273"/>
                  </a:solidFill>
                  <a:latin typeface="Segoe UI" panose="020B0502040204020203"/>
                  <a:ea typeface="微软雅黑" panose="020B0503020204020204" charset="-122"/>
                  <a:cs typeface="Segoe UI" panose="020B0502040204020203"/>
                </a:rPr>
                <a:t>The two forces work in opposite directions.</a:t>
              </a:r>
              <a:endParaRPr lang="zh-CN" sz="1125" dirty="0">
                <a:solidFill>
                  <a:srgbClr val="526273"/>
                </a:solidFill>
                <a:latin typeface="Segoe UI" panose="020B0502040204020203"/>
                <a:ea typeface="微软雅黑" panose="020B0503020204020204" charset="-122"/>
                <a:cs typeface="Segoe UI" panose="020B0502040204020203"/>
              </a:endParaRPr>
            </a:p>
          </p:txBody>
        </p:sp>
      </p:grpSp>
      <p:grpSp>
        <p:nvGrpSpPr>
          <p:cNvPr id="48" name="Group 48"/>
          <p:cNvGrpSpPr/>
          <p:nvPr/>
        </p:nvGrpSpPr>
        <p:grpSpPr>
          <a:xfrm>
            <a:off x="7924800" y="1143000"/>
            <a:ext cx="3657600" cy="3429000"/>
            <a:chOff x="7924800" y="1143000"/>
            <a:chExt cx="3657600" cy="3429000"/>
          </a:xfrm>
        </p:grpSpPr>
        <p:sp>
          <p:nvSpPr>
            <p:cNvPr id="34" name="Rectangle 34"/>
            <p:cNvSpPr/>
            <p:nvPr/>
          </p:nvSpPr>
          <p:spPr>
            <a:xfrm>
              <a:off x="7924800" y="1143000"/>
              <a:ext cx="3657600" cy="3429000"/>
            </a:xfrm>
            <a:prstGeom prst="rect">
              <a:avLst/>
            </a:prstGeom>
            <a:solidFill>
              <a:srgbClr val="FFFFFF"/>
            </a:solidFill>
            <a:ln w="9525">
              <a:solidFill>
                <a:srgbClr val="CCD6E1"/>
              </a:solidFill>
            </a:ln>
          </p:spPr>
        </p:sp>
        <p:grpSp>
          <p:nvGrpSpPr>
            <p:cNvPr id="43" name="Group 43"/>
            <p:cNvGrpSpPr/>
            <p:nvPr/>
          </p:nvGrpSpPr>
          <p:grpSpPr>
            <a:xfrm>
              <a:off x="8236744" y="1435894"/>
              <a:ext cx="271463" cy="286543"/>
              <a:chOff x="8236744" y="1435894"/>
              <a:chExt cx="271463" cy="286543"/>
            </a:xfrm>
          </p:grpSpPr>
          <p:sp>
            <p:nvSpPr>
              <p:cNvPr id="35" name="Freeform 35"/>
              <p:cNvSpPr/>
              <p:nvPr/>
            </p:nvSpPr>
            <p:spPr>
              <a:xfrm>
                <a:off x="8281988" y="1435894"/>
                <a:ext cx="180975" cy="180975"/>
              </a:xfrm>
              <a:custGeom>
                <a:avLst/>
                <a:gdLst/>
                <a:ahLst/>
                <a:cxnLst/>
                <a:rect l="l" t="t" r="r" b="b"/>
                <a:pathLst>
                  <a:path w="180975" h="180975">
                    <a:moveTo>
                      <a:pt x="0" y="90488"/>
                    </a:moveTo>
                    <a:cubicBezTo>
                      <a:pt x="0" y="140462"/>
                      <a:pt x="40513" y="180975"/>
                      <a:pt x="90488" y="180975"/>
                    </a:cubicBezTo>
                    <a:cubicBezTo>
                      <a:pt x="140462" y="180975"/>
                      <a:pt x="180975" y="140462"/>
                      <a:pt x="180975" y="90488"/>
                    </a:cubicBezTo>
                    <a:cubicBezTo>
                      <a:pt x="180975" y="40513"/>
                      <a:pt x="140462" y="0"/>
                      <a:pt x="90488" y="0"/>
                    </a:cubicBezTo>
                    <a:cubicBezTo>
                      <a:pt x="40513" y="0"/>
                      <a:pt x="0" y="40513"/>
                      <a:pt x="0" y="90488"/>
                    </a:cubicBezTo>
                  </a:path>
                </a:pathLst>
              </a:custGeom>
              <a:noFill/>
              <a:ln w="19050">
                <a:solidFill>
                  <a:srgbClr val="163A5F"/>
                </a:solidFill>
              </a:ln>
            </p:spPr>
          </p:sp>
          <p:sp>
            <p:nvSpPr>
              <p:cNvPr id="36" name="Freeform 36"/>
              <p:cNvSpPr/>
              <p:nvPr/>
            </p:nvSpPr>
            <p:spPr>
              <a:xfrm>
                <a:off x="8372475" y="1435894"/>
                <a:ext cx="30162" cy="180975"/>
              </a:xfrm>
              <a:custGeom>
                <a:avLst/>
                <a:gdLst/>
                <a:ahLst/>
                <a:cxnLst/>
                <a:rect l="l" t="t" r="r" b="b"/>
                <a:pathLst>
                  <a:path w="30162" h="180975">
                    <a:moveTo>
                      <a:pt x="0" y="0"/>
                    </a:moveTo>
                    <a:cubicBezTo>
                      <a:pt x="20103" y="5022"/>
                      <a:pt x="30162" y="35185"/>
                      <a:pt x="30162" y="90488"/>
                    </a:cubicBezTo>
                    <a:cubicBezTo>
                      <a:pt x="30162" y="145790"/>
                      <a:pt x="20103" y="175953"/>
                      <a:pt x="0" y="180975"/>
                    </a:cubicBezTo>
                  </a:path>
                </a:pathLst>
              </a:custGeom>
              <a:noFill/>
              <a:ln w="19050">
                <a:solidFill>
                  <a:srgbClr val="163A5F"/>
                </a:solidFill>
              </a:ln>
            </p:spPr>
          </p:sp>
          <p:sp>
            <p:nvSpPr>
              <p:cNvPr id="37" name="Freeform 37"/>
              <p:cNvSpPr/>
              <p:nvPr/>
            </p:nvSpPr>
            <p:spPr>
              <a:xfrm>
                <a:off x="8342312" y="1435894"/>
                <a:ext cx="30162" cy="180975"/>
              </a:xfrm>
              <a:custGeom>
                <a:avLst/>
                <a:gdLst/>
                <a:ahLst/>
                <a:cxnLst/>
                <a:rect l="l" t="t" r="r" b="b"/>
                <a:pathLst>
                  <a:path w="30162" h="180975">
                    <a:moveTo>
                      <a:pt x="30162" y="0"/>
                    </a:moveTo>
                    <a:cubicBezTo>
                      <a:pt x="10059" y="5022"/>
                      <a:pt x="0" y="35185"/>
                      <a:pt x="0" y="90488"/>
                    </a:cubicBezTo>
                    <a:cubicBezTo>
                      <a:pt x="0" y="145790"/>
                      <a:pt x="10059" y="175953"/>
                      <a:pt x="30162" y="180975"/>
                    </a:cubicBezTo>
                  </a:path>
                </a:pathLst>
              </a:custGeom>
              <a:noFill/>
              <a:ln w="19050">
                <a:solidFill>
                  <a:srgbClr val="163A5F"/>
                </a:solidFill>
              </a:ln>
            </p:spPr>
          </p:sp>
          <p:sp>
            <p:nvSpPr>
              <p:cNvPr id="38" name="Freeform 38"/>
              <p:cNvSpPr/>
              <p:nvPr/>
            </p:nvSpPr>
            <p:spPr>
              <a:xfrm>
                <a:off x="8281988" y="1526381"/>
                <a:ext cx="180975" cy="9525"/>
              </a:xfrm>
              <a:custGeom>
                <a:avLst/>
                <a:gdLst/>
                <a:ahLst/>
                <a:cxnLst/>
                <a:rect l="l" t="t" r="r" b="b"/>
                <a:pathLst>
                  <a:path w="180975" h="9525">
                    <a:moveTo>
                      <a:pt x="0" y="0"/>
                    </a:moveTo>
                    <a:lnTo>
                      <a:pt x="180975" y="0"/>
                    </a:lnTo>
                  </a:path>
                </a:pathLst>
              </a:custGeom>
              <a:noFill/>
              <a:ln w="19050">
                <a:solidFill>
                  <a:srgbClr val="163A5F"/>
                </a:solidFill>
              </a:ln>
            </p:spPr>
          </p:sp>
          <p:sp>
            <p:nvSpPr>
              <p:cNvPr id="39" name="Freeform 39"/>
              <p:cNvSpPr/>
              <p:nvPr/>
            </p:nvSpPr>
            <p:spPr>
              <a:xfrm>
                <a:off x="8236744" y="1692275"/>
                <a:ext cx="105569" cy="9525"/>
              </a:xfrm>
              <a:custGeom>
                <a:avLst/>
                <a:gdLst/>
                <a:ahLst/>
                <a:cxnLst/>
                <a:rect l="l" t="t" r="r" b="b"/>
                <a:pathLst>
                  <a:path w="105569" h="9525">
                    <a:moveTo>
                      <a:pt x="0" y="0"/>
                    </a:moveTo>
                    <a:lnTo>
                      <a:pt x="105569" y="0"/>
                    </a:lnTo>
                  </a:path>
                </a:pathLst>
              </a:custGeom>
              <a:noFill/>
              <a:ln w="19050">
                <a:solidFill>
                  <a:srgbClr val="163A5F"/>
                </a:solidFill>
              </a:ln>
            </p:spPr>
          </p:sp>
          <p:sp>
            <p:nvSpPr>
              <p:cNvPr id="40" name="Freeform 40"/>
              <p:cNvSpPr/>
              <p:nvPr/>
            </p:nvSpPr>
            <p:spPr>
              <a:xfrm>
                <a:off x="8402638" y="1692275"/>
                <a:ext cx="105569" cy="9525"/>
              </a:xfrm>
              <a:custGeom>
                <a:avLst/>
                <a:gdLst/>
                <a:ahLst/>
                <a:cxnLst/>
                <a:rect l="l" t="t" r="r" b="b"/>
                <a:pathLst>
                  <a:path w="105569" h="9525">
                    <a:moveTo>
                      <a:pt x="0" y="0"/>
                    </a:moveTo>
                    <a:lnTo>
                      <a:pt x="105569" y="0"/>
                    </a:lnTo>
                  </a:path>
                </a:pathLst>
              </a:custGeom>
              <a:noFill/>
              <a:ln w="19050">
                <a:solidFill>
                  <a:srgbClr val="163A5F"/>
                </a:solidFill>
              </a:ln>
            </p:spPr>
          </p:sp>
          <p:sp>
            <p:nvSpPr>
              <p:cNvPr id="41" name="Freeform 41"/>
              <p:cNvSpPr/>
              <p:nvPr/>
            </p:nvSpPr>
            <p:spPr>
              <a:xfrm>
                <a:off x="8342312" y="1662112"/>
                <a:ext cx="60325" cy="60325"/>
              </a:xfrm>
              <a:custGeom>
                <a:avLst/>
                <a:gdLst/>
                <a:ahLst/>
                <a:cxnLst/>
                <a:rect l="l" t="t" r="r" b="b"/>
                <a:pathLst>
                  <a:path w="60325" h="60325">
                    <a:moveTo>
                      <a:pt x="0" y="30162"/>
                    </a:moveTo>
                    <a:cubicBezTo>
                      <a:pt x="0" y="46821"/>
                      <a:pt x="13504" y="60325"/>
                      <a:pt x="30162" y="60325"/>
                    </a:cubicBezTo>
                    <a:cubicBezTo>
                      <a:pt x="46821" y="60325"/>
                      <a:pt x="60325" y="46821"/>
                      <a:pt x="60325" y="30162"/>
                    </a:cubicBezTo>
                    <a:cubicBezTo>
                      <a:pt x="60325" y="13504"/>
                      <a:pt x="46821" y="0"/>
                      <a:pt x="30162" y="0"/>
                    </a:cubicBezTo>
                    <a:cubicBezTo>
                      <a:pt x="13504" y="0"/>
                      <a:pt x="0" y="13504"/>
                      <a:pt x="0" y="30162"/>
                    </a:cubicBezTo>
                  </a:path>
                </a:pathLst>
              </a:custGeom>
              <a:noFill/>
              <a:ln w="19050">
                <a:solidFill>
                  <a:srgbClr val="163A5F"/>
                </a:solidFill>
              </a:ln>
            </p:spPr>
          </p:sp>
          <p:sp>
            <p:nvSpPr>
              <p:cNvPr id="42" name="Freeform 42"/>
              <p:cNvSpPr/>
              <p:nvPr/>
            </p:nvSpPr>
            <p:spPr>
              <a:xfrm>
                <a:off x="8372475" y="1616869"/>
                <a:ext cx="9525" cy="45244"/>
              </a:xfrm>
              <a:custGeom>
                <a:avLst/>
                <a:gdLst/>
                <a:ahLst/>
                <a:cxnLst/>
                <a:rect l="l" t="t" r="r" b="b"/>
                <a:pathLst>
                  <a:path w="9525" h="45244">
                    <a:moveTo>
                      <a:pt x="0" y="0"/>
                    </a:moveTo>
                    <a:lnTo>
                      <a:pt x="0" y="45244"/>
                    </a:lnTo>
                  </a:path>
                </a:pathLst>
              </a:custGeom>
              <a:noFill/>
              <a:ln w="19050">
                <a:solidFill>
                  <a:srgbClr val="163A5F"/>
                </a:solidFill>
              </a:ln>
            </p:spPr>
          </p:sp>
        </p:grpSp>
        <p:sp>
          <p:nvSpPr>
            <p:cNvPr id="44" name="TextBox 44"/>
            <p:cNvSpPr txBox="1"/>
            <p:nvPr/>
          </p:nvSpPr>
          <p:spPr>
            <a:xfrm>
              <a:off x="8169592" y="1890236"/>
              <a:ext cx="1867368" cy="350520"/>
            </a:xfrm>
            <a:prstGeom prst="rect">
              <a:avLst/>
            </a:prstGeom>
            <a:noFill/>
            <a:ln>
              <a:noFill/>
            </a:ln>
          </p:spPr>
          <p:txBody>
            <a:bodyPr wrap="none" lIns="0" tIns="0" rIns="0" bIns="0" anchor="t" anchorCtr="0">
              <a:spAutoFit/>
            </a:bodyPr>
            <a:lstStyle/>
            <a:p>
              <a:pPr algn="l"/>
              <a:r>
                <a:rPr lang="zh-CN" sz="1725" b="1" dirty="0">
                  <a:solidFill>
                    <a:srgbClr val="163A5F"/>
                  </a:solidFill>
                  <a:latin typeface="Segoe UI" panose="020B0502040204020203"/>
                  <a:ea typeface="微软雅黑" panose="020B0503020204020204" charset="-122"/>
                  <a:cs typeface="Segoe UI" panose="020B0502040204020203"/>
                </a:rPr>
                <a:t>Social influence</a:t>
              </a:r>
              <a:endParaRPr lang="zh-CN" sz="1725" b="1" dirty="0">
                <a:solidFill>
                  <a:srgbClr val="163A5F"/>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8178165" y="2220278"/>
              <a:ext cx="1349835" cy="213360"/>
            </a:xfrm>
            <a:prstGeom prst="rect">
              <a:avLst/>
            </a:prstGeom>
            <a:noFill/>
            <a:ln>
              <a:noFill/>
            </a:ln>
          </p:spPr>
          <p:txBody>
            <a:bodyPr wrap="none" lIns="0" tIns="0" rIns="0" bIns="0" anchor="t" anchorCtr="0">
              <a:spAutoFit/>
            </a:bodyPr>
            <a:lstStyle/>
            <a:p>
              <a:pPr algn="l"/>
              <a:r>
                <a:rPr lang="zh-CN" sz="1050" dirty="0">
                  <a:solidFill>
                    <a:srgbClr val="7B8794"/>
                  </a:solidFill>
                  <a:latin typeface="Segoe UI" panose="020B0502040204020203"/>
                  <a:ea typeface="微软雅黑" panose="020B0503020204020204" charset="-122"/>
                  <a:cs typeface="Segoe UI" panose="020B0502040204020203"/>
                </a:rPr>
                <a:t>Lorenz et al., 2011</a:t>
              </a:r>
              <a:endParaRPr lang="zh-CN" sz="1050" dirty="0">
                <a:solidFill>
                  <a:srgbClr val="7B8794"/>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8174355" y="2635568"/>
              <a:ext cx="2906078" cy="788670"/>
            </a:xfrm>
            <a:prstGeom prst="rect">
              <a:avLst/>
            </a:prstGeom>
            <a:noFill/>
            <a:ln>
              <a:noFill/>
            </a:ln>
          </p:spPr>
          <p:txBody>
            <a:bodyPr wrap="square" lIns="0" tIns="0" rIns="0" bIns="0" anchor="t" anchorCtr="0"/>
            <a:lstStyle/>
            <a:p>
              <a:pPr algn="l">
                <a:lnSpc>
                  <a:spcPts val="2025"/>
                </a:lnSpc>
              </a:pPr>
              <a:r>
                <a:rPr lang="zh-CN" sz="1350" dirty="0">
                  <a:solidFill>
                    <a:srgbClr val="1F2A37"/>
                  </a:solidFill>
                  <a:latin typeface="Segoe UI" panose="020B0502040204020203"/>
                  <a:ea typeface="微软雅黑" panose="020B0503020204020204" charset="-122"/>
                  <a:cs typeface="Segoe UI" panose="020B0502040204020203"/>
                </a:rPr>
                <a:t>A common external signal can make </a:t>
              </a:r>
              <a:r>
                <a:rPr lang="zh-CN" sz="1350" dirty="0">
                  <a:solidFill>
                    <a:srgbClr val="1F2A37"/>
                  </a:solidFill>
                  <a:latin typeface="Segoe UI" panose="020B0502040204020203"/>
                  <a:ea typeface="微软雅黑" panose="020B0503020204020204" charset="-122"/>
                  <a:cs typeface="Segoe UI" panose="020B0502040204020203"/>
                </a:rPr>
                <a:t>judgments converge and weaken </a:t>
              </a:r>
              <a:r>
                <a:rPr lang="zh-CN" sz="1350" dirty="0">
                  <a:solidFill>
                    <a:srgbClr val="1F2A37"/>
                  </a:solidFill>
                  <a:latin typeface="Segoe UI" panose="020B0502040204020203"/>
                  <a:ea typeface="微软雅黑" panose="020B0503020204020204" charset="-122"/>
                  <a:cs typeface="Segoe UI" panose="020B0502040204020203"/>
                </a:rPr>
                <a:t>group forecasting.</a:t>
              </a:r>
              <a:endParaRPr lang="zh-CN" sz="1350" dirty="0">
                <a:solidFill>
                  <a:srgbClr val="1F2A37"/>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8175308" y="3643789"/>
              <a:ext cx="2817495" cy="497205"/>
            </a:xfrm>
            <a:prstGeom prst="rect">
              <a:avLst/>
            </a:prstGeom>
            <a:noFill/>
            <a:ln>
              <a:noFill/>
            </a:ln>
          </p:spPr>
          <p:txBody>
            <a:bodyPr wrap="square" lIns="0" tIns="0" rIns="0" bIns="0" anchor="t" anchorCtr="0"/>
            <a:lstStyle/>
            <a:p>
              <a:pPr algn="l">
                <a:lnSpc>
                  <a:spcPts val="1875"/>
                </a:lnSpc>
              </a:pPr>
              <a:r>
                <a:rPr lang="zh-CN" sz="1275" dirty="0">
                  <a:solidFill>
                    <a:srgbClr val="526273"/>
                  </a:solidFill>
                  <a:latin typeface="Segoe UI" panose="020B0502040204020203"/>
                  <a:ea typeface="微软雅黑" panose="020B0503020204020204" charset="-122"/>
                  <a:cs typeface="Segoe UI" panose="020B0502040204020203"/>
                </a:rPr>
                <a:t>This study treats uniform AI advice </a:t>
              </a:r>
              <a:r>
                <a:rPr lang="zh-CN" sz="1275" dirty="0">
                  <a:solidFill>
                    <a:srgbClr val="526273"/>
                  </a:solidFill>
                  <a:latin typeface="Segoe UI" panose="020B0502040204020203"/>
                  <a:ea typeface="微软雅黑" panose="020B0503020204020204" charset="-122"/>
                  <a:cs typeface="Segoe UI" panose="020B0502040204020203"/>
                </a:rPr>
                <a:t>as a global external signal.</a:t>
              </a:r>
              <a:endParaRPr lang="zh-CN" sz="1275" dirty="0">
                <a:solidFill>
                  <a:srgbClr val="526273"/>
                </a:solidFill>
                <a:latin typeface="Segoe UI" panose="020B0502040204020203"/>
                <a:ea typeface="微软雅黑" panose="020B0503020204020204" charset="-122"/>
                <a:cs typeface="Segoe UI" panose="020B0502040204020203"/>
              </a:endParaRPr>
            </a:p>
          </p:txBody>
        </p:sp>
      </p:grpSp>
      <p:grpSp>
        <p:nvGrpSpPr>
          <p:cNvPr id="52" name="Group 52"/>
          <p:cNvGrpSpPr/>
          <p:nvPr/>
        </p:nvGrpSpPr>
        <p:grpSpPr>
          <a:xfrm>
            <a:off x="609600" y="4933950"/>
            <a:ext cx="10972800" cy="1085850"/>
            <a:chOff x="609600" y="4933950"/>
            <a:chExt cx="10972800" cy="1085850"/>
          </a:xfrm>
        </p:grpSpPr>
        <p:sp>
          <p:nvSpPr>
            <p:cNvPr id="49" name="Rectangle 49"/>
            <p:cNvSpPr/>
            <p:nvPr/>
          </p:nvSpPr>
          <p:spPr>
            <a:xfrm>
              <a:off x="609600" y="4933950"/>
              <a:ext cx="10972800" cy="1085850"/>
            </a:xfrm>
            <a:prstGeom prst="rect">
              <a:avLst/>
            </a:prstGeom>
            <a:solidFill>
              <a:srgbClr val="163A5F"/>
            </a:solidFill>
            <a:ln>
              <a:noFill/>
            </a:ln>
          </p:spPr>
        </p:sp>
        <p:sp>
          <p:nvSpPr>
            <p:cNvPr id="50" name="TextBox 50"/>
            <p:cNvSpPr txBox="1"/>
            <p:nvPr/>
          </p:nvSpPr>
          <p:spPr>
            <a:xfrm>
              <a:off x="862012" y="5164931"/>
              <a:ext cx="1493508"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Segoe UI" panose="020B0502040204020203"/>
                  <a:ea typeface="微软雅黑" panose="020B0503020204020204" charset="-122"/>
                  <a:cs typeface="Segoe UI" panose="020B0502040204020203"/>
                </a:rPr>
                <a:t>CENTRAL TRADE-OFF</a:t>
              </a:r>
              <a:endParaRPr lang="zh-CN" sz="1125" b="1" dirty="0">
                <a:solidFill>
                  <a:srgbClr val="FFFFFF"/>
                </a:solidFill>
                <a:latin typeface="Segoe UI" panose="020B0502040204020203"/>
                <a:ea typeface="微软雅黑" panose="020B0503020204020204" charset="-122"/>
                <a:cs typeface="Segoe UI" panose="020B0502040204020203"/>
              </a:endParaRPr>
            </a:p>
          </p:txBody>
        </p:sp>
        <p:sp>
          <p:nvSpPr>
            <p:cNvPr id="51" name="TextBox 51"/>
            <p:cNvSpPr txBox="1"/>
            <p:nvPr/>
          </p:nvSpPr>
          <p:spPr>
            <a:xfrm>
              <a:off x="855345" y="5498782"/>
              <a:ext cx="8890316" cy="335280"/>
            </a:xfrm>
            <a:prstGeom prst="rect">
              <a:avLst/>
            </a:prstGeom>
            <a:noFill/>
            <a:ln>
              <a:noFill/>
            </a:ln>
          </p:spPr>
          <p:txBody>
            <a:bodyPr wrap="none" lIns="0" tIns="0" rIns="0" bIns="0" anchor="t" anchorCtr="0">
              <a:spAutoFit/>
            </a:bodyPr>
            <a:lstStyle/>
            <a:p>
              <a:pPr algn="l"/>
              <a:r>
                <a:rPr lang="zh-CN" sz="1650" b="1" dirty="0">
                  <a:solidFill>
                    <a:srgbClr val="FFFFFF"/>
                  </a:solidFill>
                  <a:latin typeface="Segoe UI" panose="020B0502040204020203"/>
                  <a:ea typeface="微软雅黑" panose="020B0503020204020204" charset="-122"/>
                  <a:cs typeface="Segoe UI" panose="020B0502040204020203"/>
                </a:rPr>
                <a:t>As group size grows, can diversity loss outweigh the individual-accuracy gain?</a:t>
              </a:r>
              <a:endParaRPr lang="zh-CN" sz="1650" b="1" dirty="0">
                <a:solidFill>
                  <a:srgbClr val="FFFFFF"/>
                </a:solidFill>
                <a:latin typeface="Segoe UI" panose="020B0502040204020203"/>
                <a:ea typeface="微软雅黑" panose="020B0503020204020204" charset="-122"/>
                <a:cs typeface="Segoe UI" panose="020B0502040204020203"/>
              </a:endParaRPr>
            </a:p>
          </p:txBody>
        </p:sp>
      </p:grpSp>
      <p:sp>
        <p:nvSpPr>
          <p:cNvPr id="53" name="TextBox 53"/>
          <p:cNvSpPr txBox="1"/>
          <p:nvPr/>
        </p:nvSpPr>
        <p:spPr>
          <a:xfrm>
            <a:off x="11438954" y="6398895"/>
            <a:ext cx="154877" cy="182880"/>
          </a:xfrm>
          <a:prstGeom prst="rect">
            <a:avLst/>
          </a:prstGeom>
          <a:noFill/>
          <a:ln>
            <a:noFill/>
          </a:ln>
        </p:spPr>
        <p:txBody>
          <a:bodyPr wrap="none" lIns="0" tIns="0" rIns="0" bIns="0" anchor="t" anchorCtr="0">
            <a:spAutoFit/>
          </a:bodyPr>
          <a:lstStyle/>
          <a:p>
            <a:pPr algn="r"/>
            <a:r>
              <a:rPr lang="zh-CN" sz="900" dirty="0">
                <a:solidFill>
                  <a:srgbClr val="7B8794"/>
                </a:solidFill>
                <a:latin typeface="Segoe UI" panose="020B0502040204020203"/>
                <a:ea typeface="微软雅黑" panose="020B0503020204020204" charset="-122"/>
                <a:cs typeface="Segoe UI" panose="020B0502040204020203"/>
              </a:rPr>
              <a:t>05</a:t>
            </a:r>
            <a:endParaRPr lang="zh-CN" sz="900"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400"/>
                                        <p:tgtEl>
                                          <p:spTgt spid="19"/>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33"/>
                                        </p:tgtEl>
                                        <p:attrNameLst>
                                          <p:attrName>style.visibility</p:attrName>
                                        </p:attrNameLst>
                                      </p:cBhvr>
                                      <p:to>
                                        <p:strVal val="visible"/>
                                      </p:to>
                                    </p:set>
                                    <p:animEffect transition="in" filter="wipe(left)">
                                      <p:cBhvr>
                                        <p:cTn id="11" dur="400"/>
                                        <p:tgtEl>
                                          <p:spTgt spid="33"/>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slide(fromBottom)">
                                      <p:cBhvr>
                                        <p:cTn id="15" dur="400"/>
                                        <p:tgtEl>
                                          <p:spTgt spid="48"/>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52"/>
                                        </p:tgtEl>
                                        <p:attrNameLst>
                                          <p:attrName>style.visibility</p:attrName>
                                        </p:attrNameLst>
                                      </p:cBhvr>
                                      <p:to>
                                        <p:strVal val="visible"/>
                                      </p:to>
                                    </p:set>
                                    <p:animEffect transition="in" filter="image">
                                      <p:cBhvr>
                                        <p:cTn id="19" dur="4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33" grpId="0"/>
      <p:bldP spid="48" grpId="0"/>
      <p:bldP spid="5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grpSp>
        <p:nvGrpSpPr>
          <p:cNvPr id="5" name="Group 5"/>
          <p:cNvGrpSpPr/>
          <p:nvPr/>
        </p:nvGrpSpPr>
        <p:grpSpPr>
          <a:xfrm>
            <a:off x="567690" y="391478"/>
            <a:ext cx="9532901" cy="1180147"/>
            <a:chOff x="567690" y="391478"/>
            <a:chExt cx="9532901" cy="1180147"/>
          </a:xfrm>
        </p:grpSpPr>
        <p:sp>
          <p:nvSpPr>
            <p:cNvPr id="3" name="TextBox 3"/>
            <p:cNvSpPr txBox="1"/>
            <p:nvPr/>
          </p:nvSpPr>
          <p:spPr>
            <a:xfrm>
              <a:off x="577215" y="391478"/>
              <a:ext cx="2726690" cy="391795"/>
            </a:xfrm>
            <a:prstGeom prst="rect">
              <a:avLst/>
            </a:prstGeom>
            <a:noFill/>
            <a:ln>
              <a:noFill/>
            </a:ln>
          </p:spPr>
          <p:txBody>
            <a:bodyPr wrap="none" lIns="0" tIns="0" rIns="0" bIns="0" anchor="t" anchorCtr="0">
              <a:spAutoFit/>
            </a:bodyPr>
            <a:lstStyle/>
            <a:p>
              <a:pPr algn="l"/>
              <a:r>
                <a:rPr lang="zh-CN" sz="2550" b="1" dirty="0">
                  <a:solidFill>
                    <a:srgbClr val="163A5F"/>
                  </a:solidFill>
                  <a:latin typeface="Segoe UI" panose="020B0502040204020203"/>
                  <a:ea typeface="微软雅黑" panose="020B0503020204020204" charset="-122"/>
                  <a:cs typeface="Segoe UI" panose="020B0502040204020203"/>
                </a:rPr>
                <a:t>Research </a:t>
              </a:r>
              <a:r>
                <a:rPr lang="en-US" altLang="zh-CN" sz="2550" b="1" dirty="0">
                  <a:solidFill>
                    <a:srgbClr val="163A5F"/>
                  </a:solidFill>
                  <a:latin typeface="Segoe UI" panose="020B0502040204020203"/>
                  <a:ea typeface="微软雅黑" panose="020B0503020204020204" charset="-122"/>
                  <a:cs typeface="Segoe UI" panose="020B0502040204020203"/>
                </a:rPr>
                <a:t>P</a:t>
              </a:r>
              <a:r>
                <a:rPr lang="en-US" altLang="zh-CN" sz="2550" b="1" dirty="0">
                  <a:solidFill>
                    <a:srgbClr val="163A5F"/>
                  </a:solidFill>
                  <a:latin typeface="Segoe UI" panose="020B0502040204020203"/>
                  <a:ea typeface="微软雅黑" panose="020B0503020204020204" charset="-122"/>
                  <a:cs typeface="Segoe UI" panose="020B0502040204020203"/>
                </a:rPr>
                <a:t>roblem</a:t>
              </a:r>
              <a:endParaRPr lang="en-US" altLang="zh-CN" sz="2550" b="1" dirty="0">
                <a:solidFill>
                  <a:srgbClr val="163A5F"/>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567690" y="901065"/>
              <a:ext cx="9532901" cy="670560"/>
            </a:xfrm>
            <a:prstGeom prst="rect">
              <a:avLst/>
            </a:prstGeom>
            <a:noFill/>
            <a:ln>
              <a:noFill/>
            </a:ln>
          </p:spPr>
          <p:txBody>
            <a:bodyPr wrap="none" lIns="0" tIns="0" rIns="0" bIns="0" anchor="t" anchorCtr="0">
              <a:spAutoFit/>
            </a:bodyPr>
            <a:lstStyle/>
            <a:p>
              <a:pPr algn="l"/>
              <a:r>
                <a:rPr lang="zh-CN" sz="3300" b="1" dirty="0">
                  <a:solidFill>
                    <a:srgbClr val="1F2A37"/>
                  </a:solidFill>
                  <a:latin typeface="Segoe UI" panose="020B0502040204020203"/>
                  <a:ea typeface="微软雅黑" panose="020B0503020204020204" charset="-122"/>
                  <a:cs typeface="Segoe UI" panose="020B0502040204020203"/>
                </a:rPr>
                <a:t>Do LLMs Undermine the Wisdom of Crowds?</a:t>
              </a:r>
              <a:endParaRPr lang="zh-CN" sz="3300" b="1" dirty="0">
                <a:solidFill>
                  <a:srgbClr val="1F2A37"/>
                </a:solidFill>
                <a:latin typeface="Segoe UI" panose="020B0502040204020203"/>
                <a:ea typeface="微软雅黑" panose="020B0503020204020204" charset="-122"/>
                <a:cs typeface="Segoe UI" panose="020B0502040204020203"/>
              </a:endParaRPr>
            </a:p>
          </p:txBody>
        </p:sp>
      </p:grpSp>
      <p:grpSp>
        <p:nvGrpSpPr>
          <p:cNvPr id="9" name="Group 9"/>
          <p:cNvGrpSpPr/>
          <p:nvPr/>
        </p:nvGrpSpPr>
        <p:grpSpPr>
          <a:xfrm>
            <a:off x="609600" y="1638300"/>
            <a:ext cx="10972800" cy="1447800"/>
            <a:chOff x="609600" y="1638300"/>
            <a:chExt cx="10972800" cy="1447800"/>
          </a:xfrm>
        </p:grpSpPr>
        <p:sp>
          <p:nvSpPr>
            <p:cNvPr id="6" name="Rectangle 6"/>
            <p:cNvSpPr/>
            <p:nvPr/>
          </p:nvSpPr>
          <p:spPr>
            <a:xfrm>
              <a:off x="609600" y="1638300"/>
              <a:ext cx="10972800" cy="1447800"/>
            </a:xfrm>
            <a:prstGeom prst="rect">
              <a:avLst/>
            </a:prstGeom>
            <a:solidFill>
              <a:srgbClr val="FFFFFF"/>
            </a:solidFill>
            <a:ln w="9525">
              <a:solidFill>
                <a:srgbClr val="CCD6E1"/>
              </a:solidFill>
            </a:ln>
          </p:spPr>
        </p:sp>
        <p:sp>
          <p:nvSpPr>
            <p:cNvPr id="7" name="TextBox 7"/>
            <p:cNvSpPr txBox="1"/>
            <p:nvPr/>
          </p:nvSpPr>
          <p:spPr>
            <a:xfrm>
              <a:off x="857250" y="1885950"/>
              <a:ext cx="9315450" cy="600075"/>
            </a:xfrm>
            <a:prstGeom prst="rect">
              <a:avLst/>
            </a:prstGeom>
            <a:noFill/>
            <a:ln>
              <a:noFill/>
            </a:ln>
          </p:spPr>
          <p:txBody>
            <a:bodyPr wrap="square" lIns="0" tIns="0" rIns="0" bIns="0" anchor="t" anchorCtr="0"/>
            <a:lstStyle/>
            <a:p>
              <a:pPr algn="l">
                <a:lnSpc>
                  <a:spcPts val="2325"/>
                </a:lnSpc>
              </a:pPr>
              <a:r>
                <a:rPr lang="zh-CN" sz="1500" dirty="0">
                  <a:solidFill>
                    <a:srgbClr val="1F2A37"/>
                  </a:solidFill>
                  <a:latin typeface="Segoe UI" panose="020B0502040204020203"/>
                  <a:ea typeface="微软雅黑" panose="020B0503020204020204" charset="-122"/>
                  <a:cs typeface="Segoe UI" panose="020B0502040204020203"/>
                </a:rPr>
                <a:t>When heterogeneous individuals repeatedly interact with an LLM about the same public-policy issue, </a:t>
              </a:r>
              <a:r>
                <a:rPr lang="zh-CN" sz="1500" dirty="0">
                  <a:solidFill>
                    <a:srgbClr val="1F2A37"/>
                  </a:solidFill>
                  <a:latin typeface="Segoe UI" panose="020B0502040204020203"/>
                  <a:ea typeface="微软雅黑" panose="020B0503020204020204" charset="-122"/>
                  <a:cs typeface="Segoe UI" panose="020B0502040204020203"/>
                </a:rPr>
                <a:t>how does output homogeneity change the correlation structure of group judgment?</a:t>
              </a:r>
              <a:endParaRPr lang="zh-CN" sz="1500" dirty="0">
                <a:solidFill>
                  <a:srgbClr val="1F2A37"/>
                </a:solidFill>
                <a:latin typeface="Segoe UI" panose="020B0502040204020203"/>
                <a:ea typeface="微软雅黑" panose="020B0503020204020204" charset="-122"/>
                <a:cs typeface="Segoe UI" panose="020B0502040204020203"/>
              </a:endParaRPr>
            </a:p>
          </p:txBody>
        </p:sp>
        <p:sp>
          <p:nvSpPr>
            <p:cNvPr id="8" name="TextBox 8"/>
            <p:cNvSpPr txBox="1"/>
            <p:nvPr/>
          </p:nvSpPr>
          <p:spPr>
            <a:xfrm>
              <a:off x="860108" y="2519839"/>
              <a:ext cx="5011579" cy="487680"/>
            </a:xfrm>
            <a:prstGeom prst="rect">
              <a:avLst/>
            </a:prstGeom>
            <a:noFill/>
            <a:ln>
              <a:noFill/>
            </a:ln>
          </p:spPr>
          <p:txBody>
            <a:bodyPr wrap="square" lIns="0" tIns="0" rIns="0" bIns="0" anchor="t" anchorCtr="0"/>
            <a:lstStyle/>
            <a:p>
              <a:pPr algn="l">
                <a:lnSpc>
                  <a:spcPts val="1800"/>
                </a:lnSpc>
              </a:pPr>
              <a:r>
                <a:rPr lang="zh-CN" sz="1275" dirty="0">
                  <a:solidFill>
                    <a:srgbClr val="526273"/>
                  </a:solidFill>
                  <a:latin typeface="Segoe UI" panose="020B0502040204020203"/>
                  <a:ea typeface="微软雅黑" panose="020B0503020204020204" charset="-122"/>
                  <a:cs typeface="Segoe UI" panose="020B0502040204020203"/>
                </a:rPr>
                <a:t>Comparable information quality and average individual accuracy </a:t>
              </a:r>
              <a:r>
                <a:rPr lang="zh-CN" sz="1275" dirty="0">
                  <a:solidFill>
                    <a:srgbClr val="526273"/>
                  </a:solidFill>
                  <a:latin typeface="Segoe UI" panose="020B0502040204020203"/>
                  <a:ea typeface="微软雅黑" panose="020B0503020204020204" charset="-122"/>
                  <a:cs typeface="Segoe UI" panose="020B0502040204020203"/>
                </a:rPr>
                <a:t>→ test the independent-information channel.</a:t>
              </a:r>
              <a:endParaRPr lang="zh-CN" sz="1275" dirty="0">
                <a:solidFill>
                  <a:srgbClr val="526273"/>
                </a:solidFill>
                <a:latin typeface="Segoe UI" panose="020B0502040204020203"/>
                <a:ea typeface="微软雅黑" panose="020B0503020204020204" charset="-122"/>
                <a:cs typeface="Segoe UI" panose="020B0502040204020203"/>
              </a:endParaRPr>
            </a:p>
          </p:txBody>
        </p:sp>
      </p:grpSp>
      <p:grpSp>
        <p:nvGrpSpPr>
          <p:cNvPr id="20" name="Group 20"/>
          <p:cNvGrpSpPr/>
          <p:nvPr/>
        </p:nvGrpSpPr>
        <p:grpSpPr>
          <a:xfrm>
            <a:off x="595312" y="3364706"/>
            <a:ext cx="10987088" cy="1283494"/>
            <a:chOff x="595312" y="3364706"/>
            <a:chExt cx="10987088" cy="1283494"/>
          </a:xfrm>
        </p:grpSpPr>
        <p:sp>
          <p:nvSpPr>
            <p:cNvPr id="10" name="TextBox 10"/>
            <p:cNvSpPr txBox="1"/>
            <p:nvPr/>
          </p:nvSpPr>
          <p:spPr>
            <a:xfrm>
              <a:off x="595312" y="3364706"/>
              <a:ext cx="3533388" cy="228600"/>
            </a:xfrm>
            <a:prstGeom prst="rect">
              <a:avLst/>
            </a:prstGeom>
            <a:noFill/>
            <a:ln>
              <a:noFill/>
            </a:ln>
          </p:spPr>
          <p:txBody>
            <a:bodyPr wrap="none" lIns="0" tIns="0" rIns="0" bIns="0" anchor="t" anchorCtr="0">
              <a:spAutoFit/>
            </a:bodyPr>
            <a:lstStyle/>
            <a:p>
              <a:pPr algn="l"/>
              <a:r>
                <a:rPr lang="zh-CN" sz="1125" b="1" dirty="0">
                  <a:solidFill>
                    <a:srgbClr val="5B7FA3"/>
                  </a:solidFill>
                  <a:latin typeface="Segoe UI" panose="020B0502040204020203"/>
                  <a:ea typeface="微软雅黑" panose="020B0503020204020204" charset="-122"/>
                  <a:cs typeface="Segoe UI" panose="020B0502040204020203"/>
                </a:rPr>
                <a:t>CORRELATION STRUCTURE · POSSIBLE OUTCOMES</a:t>
              </a:r>
              <a:endParaRPr lang="zh-CN" sz="1125" b="1" dirty="0">
                <a:solidFill>
                  <a:srgbClr val="5B7FA3"/>
                </a:solidFill>
                <a:latin typeface="Segoe UI" panose="020B0502040204020203"/>
                <a:ea typeface="微软雅黑" panose="020B0503020204020204" charset="-122"/>
                <a:cs typeface="Segoe UI" panose="020B0502040204020203"/>
              </a:endParaRPr>
            </a:p>
          </p:txBody>
        </p:sp>
        <p:sp>
          <p:nvSpPr>
            <p:cNvPr id="11" name="Rectangle 11"/>
            <p:cNvSpPr/>
            <p:nvPr/>
          </p:nvSpPr>
          <p:spPr>
            <a:xfrm>
              <a:off x="609600" y="3733800"/>
              <a:ext cx="3352800" cy="914400"/>
            </a:xfrm>
            <a:prstGeom prst="rect">
              <a:avLst/>
            </a:prstGeom>
            <a:solidFill>
              <a:srgbClr val="EAF0F7"/>
            </a:solidFill>
            <a:ln>
              <a:noFill/>
            </a:ln>
          </p:spPr>
        </p:sp>
        <p:sp>
          <p:nvSpPr>
            <p:cNvPr id="12" name="TextBox 12"/>
            <p:cNvSpPr txBox="1"/>
            <p:nvPr/>
          </p:nvSpPr>
          <p:spPr>
            <a:xfrm>
              <a:off x="820102" y="3932396"/>
              <a:ext cx="2001516" cy="289560"/>
            </a:xfrm>
            <a:prstGeom prst="rect">
              <a:avLst/>
            </a:prstGeom>
            <a:noFill/>
            <a:ln>
              <a:noFill/>
            </a:ln>
          </p:spPr>
          <p:txBody>
            <a:bodyPr wrap="none" lIns="0" tIns="0" rIns="0" bIns="0" anchor="t" anchorCtr="0">
              <a:spAutoFit/>
            </a:bodyPr>
            <a:lstStyle/>
            <a:p>
              <a:pPr algn="l"/>
              <a:r>
                <a:rPr lang="zh-CN" sz="1425" b="1" dirty="0">
                  <a:solidFill>
                    <a:srgbClr val="163A5F"/>
                  </a:solidFill>
                  <a:latin typeface="Segoe UI" panose="020B0502040204020203"/>
                  <a:ea typeface="微软雅黑" panose="020B0503020204020204" charset="-122"/>
                  <a:cs typeface="Segoe UI" panose="020B0502040204020203"/>
                </a:rPr>
                <a:t>Information samples</a:t>
              </a:r>
              <a:endParaRPr lang="zh-CN" sz="1425" b="1" dirty="0">
                <a:solidFill>
                  <a:srgbClr val="163A5F"/>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822008" y="4243864"/>
              <a:ext cx="2055638" cy="259080"/>
            </a:xfrm>
            <a:prstGeom prst="rect">
              <a:avLst/>
            </a:prstGeom>
            <a:noFill/>
            <a:ln>
              <a:noFill/>
            </a:ln>
          </p:spPr>
          <p:txBody>
            <a:bodyPr wrap="none" lIns="0" tIns="0" rIns="0" bIns="0" anchor="t" anchorCtr="0">
              <a:spAutoFit/>
            </a:bodyPr>
            <a:lstStyle/>
            <a:p>
              <a:pPr algn="l"/>
              <a:r>
                <a:rPr lang="zh-CN" sz="1275" dirty="0">
                  <a:solidFill>
                    <a:srgbClr val="526273"/>
                  </a:solidFill>
                  <a:latin typeface="Segoe UI" panose="020B0502040204020203"/>
                  <a:ea typeface="微软雅黑" panose="020B0503020204020204" charset="-122"/>
                  <a:cs typeface="Segoe UI" panose="020B0502040204020203"/>
                </a:rPr>
                <a:t>Convergence in exposure</a:t>
              </a:r>
              <a:endParaRPr lang="zh-CN" sz="1275" dirty="0">
                <a:solidFill>
                  <a:srgbClr val="526273"/>
                </a:solidFill>
                <a:latin typeface="Segoe UI" panose="020B0502040204020203"/>
                <a:ea typeface="微软雅黑" panose="020B0503020204020204" charset="-122"/>
                <a:cs typeface="Segoe UI" panose="020B0502040204020203"/>
              </a:endParaRPr>
            </a:p>
          </p:txBody>
        </p:sp>
        <p:sp>
          <p:nvSpPr>
            <p:cNvPr id="14" name="Rectangle 14"/>
            <p:cNvSpPr/>
            <p:nvPr/>
          </p:nvSpPr>
          <p:spPr>
            <a:xfrm>
              <a:off x="4419600" y="3733800"/>
              <a:ext cx="3352800" cy="914400"/>
            </a:xfrm>
            <a:prstGeom prst="rect">
              <a:avLst/>
            </a:prstGeom>
            <a:solidFill>
              <a:srgbClr val="EAF0F7"/>
            </a:solidFill>
            <a:ln>
              <a:noFill/>
            </a:ln>
          </p:spPr>
        </p:sp>
        <p:sp>
          <p:nvSpPr>
            <p:cNvPr id="15" name="TextBox 15"/>
            <p:cNvSpPr txBox="1"/>
            <p:nvPr/>
          </p:nvSpPr>
          <p:spPr>
            <a:xfrm>
              <a:off x="4630102" y="3932396"/>
              <a:ext cx="1672299" cy="289560"/>
            </a:xfrm>
            <a:prstGeom prst="rect">
              <a:avLst/>
            </a:prstGeom>
            <a:noFill/>
            <a:ln>
              <a:noFill/>
            </a:ln>
          </p:spPr>
          <p:txBody>
            <a:bodyPr wrap="none" lIns="0" tIns="0" rIns="0" bIns="0" anchor="t" anchorCtr="0">
              <a:spAutoFit/>
            </a:bodyPr>
            <a:lstStyle/>
            <a:p>
              <a:pPr algn="l"/>
              <a:r>
                <a:rPr lang="zh-CN" sz="1425" b="1" dirty="0">
                  <a:solidFill>
                    <a:srgbClr val="163A5F"/>
                  </a:solidFill>
                  <a:latin typeface="Segoe UI" panose="020B0502040204020203"/>
                  <a:ea typeface="微软雅黑" panose="020B0503020204020204" charset="-122"/>
                  <a:cs typeface="Segoe UI" panose="020B0502040204020203"/>
                </a:rPr>
                <a:t>Judgment errors</a:t>
              </a:r>
              <a:endParaRPr lang="zh-CN" sz="1425" b="1" dirty="0">
                <a:solidFill>
                  <a:srgbClr val="163A5F"/>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4632008" y="4243864"/>
              <a:ext cx="2786729" cy="259080"/>
            </a:xfrm>
            <a:prstGeom prst="rect">
              <a:avLst/>
            </a:prstGeom>
            <a:noFill/>
            <a:ln>
              <a:noFill/>
            </a:ln>
          </p:spPr>
          <p:txBody>
            <a:bodyPr wrap="none" lIns="0" tIns="0" rIns="0" bIns="0" anchor="t" anchorCtr="0">
              <a:spAutoFit/>
            </a:bodyPr>
            <a:lstStyle/>
            <a:p>
              <a:pPr algn="l"/>
              <a:r>
                <a:rPr lang="zh-CN" sz="1275" dirty="0">
                  <a:solidFill>
                    <a:srgbClr val="526273"/>
                  </a:solidFill>
                  <a:latin typeface="Segoe UI" panose="020B0502040204020203"/>
                  <a:ea typeface="微软雅黑" panose="020B0503020204020204" charset="-122"/>
                  <a:cs typeface="Segoe UI" panose="020B0502040204020203"/>
                </a:rPr>
                <a:t>Higher cross-member correlation</a:t>
              </a:r>
              <a:endParaRPr lang="zh-CN" sz="1275" dirty="0">
                <a:solidFill>
                  <a:srgbClr val="526273"/>
                </a:solidFill>
                <a:latin typeface="Segoe UI" panose="020B0502040204020203"/>
                <a:ea typeface="微软雅黑" panose="020B0503020204020204" charset="-122"/>
                <a:cs typeface="Segoe UI" panose="020B0502040204020203"/>
              </a:endParaRPr>
            </a:p>
          </p:txBody>
        </p:sp>
        <p:sp>
          <p:nvSpPr>
            <p:cNvPr id="17" name="Rectangle 17"/>
            <p:cNvSpPr/>
            <p:nvPr/>
          </p:nvSpPr>
          <p:spPr>
            <a:xfrm>
              <a:off x="8229600" y="3733800"/>
              <a:ext cx="3352800" cy="914400"/>
            </a:xfrm>
            <a:prstGeom prst="rect">
              <a:avLst/>
            </a:prstGeom>
            <a:solidFill>
              <a:srgbClr val="EAF0F7"/>
            </a:solidFill>
            <a:ln>
              <a:noFill/>
            </a:ln>
          </p:spPr>
        </p:sp>
        <p:sp>
          <p:nvSpPr>
            <p:cNvPr id="18" name="TextBox 18"/>
            <p:cNvSpPr txBox="1"/>
            <p:nvPr/>
          </p:nvSpPr>
          <p:spPr>
            <a:xfrm>
              <a:off x="8440102" y="3932396"/>
              <a:ext cx="1971587" cy="289560"/>
            </a:xfrm>
            <a:prstGeom prst="rect">
              <a:avLst/>
            </a:prstGeom>
            <a:noFill/>
            <a:ln>
              <a:noFill/>
            </a:ln>
          </p:spPr>
          <p:txBody>
            <a:bodyPr wrap="none" lIns="0" tIns="0" rIns="0" bIns="0" anchor="t" anchorCtr="0">
              <a:spAutoFit/>
            </a:bodyPr>
            <a:lstStyle/>
            <a:p>
              <a:pPr algn="l"/>
              <a:r>
                <a:rPr lang="zh-CN" sz="1425" b="1" dirty="0">
                  <a:solidFill>
                    <a:srgbClr val="163A5F"/>
                  </a:solidFill>
                  <a:latin typeface="Segoe UI" panose="020B0502040204020203"/>
                  <a:ea typeface="微软雅黑" panose="020B0503020204020204" charset="-122"/>
                  <a:cs typeface="Segoe UI" panose="020B0502040204020203"/>
                </a:rPr>
                <a:t>Opinion distribution</a:t>
              </a:r>
              <a:endParaRPr lang="zh-CN" sz="1425" b="1" dirty="0">
                <a:solidFill>
                  <a:srgbClr val="163A5F"/>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8442008" y="4243864"/>
              <a:ext cx="2965252" cy="259080"/>
            </a:xfrm>
            <a:prstGeom prst="rect">
              <a:avLst/>
            </a:prstGeom>
            <a:noFill/>
            <a:ln>
              <a:noFill/>
            </a:ln>
          </p:spPr>
          <p:txBody>
            <a:bodyPr wrap="none" lIns="0" tIns="0" rIns="0" bIns="0" anchor="t" anchorCtr="0">
              <a:spAutoFit/>
            </a:bodyPr>
            <a:lstStyle/>
            <a:p>
              <a:pPr algn="l"/>
              <a:r>
                <a:rPr lang="zh-CN" sz="1275" dirty="0">
                  <a:solidFill>
                    <a:srgbClr val="526273"/>
                  </a:solidFill>
                  <a:latin typeface="Segoe UI" panose="020B0502040204020203"/>
                  <a:ea typeface="微软雅黑" panose="020B0503020204020204" charset="-122"/>
                  <a:cs typeface="Segoe UI" panose="020B0502040204020203"/>
                </a:rPr>
                <a:t>Convergence, division, polarization</a:t>
              </a:r>
              <a:endParaRPr lang="zh-CN" sz="1275" dirty="0">
                <a:solidFill>
                  <a:srgbClr val="526273"/>
                </a:solidFill>
                <a:latin typeface="Segoe UI" panose="020B0502040204020203"/>
                <a:ea typeface="微软雅黑" panose="020B0503020204020204" charset="-122"/>
                <a:cs typeface="Segoe UI" panose="020B0502040204020203"/>
              </a:endParaRPr>
            </a:p>
          </p:txBody>
        </p:sp>
      </p:grpSp>
      <p:grpSp>
        <p:nvGrpSpPr>
          <p:cNvPr id="35" name="Group 35"/>
          <p:cNvGrpSpPr/>
          <p:nvPr/>
        </p:nvGrpSpPr>
        <p:grpSpPr>
          <a:xfrm>
            <a:off x="595312" y="5022056"/>
            <a:ext cx="10987088" cy="883444"/>
            <a:chOff x="595312" y="5022056"/>
            <a:chExt cx="10987088" cy="883444"/>
          </a:xfrm>
        </p:grpSpPr>
        <p:sp>
          <p:nvSpPr>
            <p:cNvPr id="21" name="TextBox 21"/>
            <p:cNvSpPr txBox="1"/>
            <p:nvPr/>
          </p:nvSpPr>
          <p:spPr>
            <a:xfrm>
              <a:off x="595312" y="5022056"/>
              <a:ext cx="831925" cy="228600"/>
            </a:xfrm>
            <a:prstGeom prst="rect">
              <a:avLst/>
            </a:prstGeom>
            <a:noFill/>
            <a:ln>
              <a:noFill/>
            </a:ln>
          </p:spPr>
          <p:txBody>
            <a:bodyPr wrap="none" lIns="0" tIns="0" rIns="0" bIns="0" anchor="t" anchorCtr="0">
              <a:spAutoFit/>
            </a:bodyPr>
            <a:lstStyle/>
            <a:p>
              <a:pPr algn="l"/>
              <a:r>
                <a:rPr lang="zh-CN" sz="1125" b="1" dirty="0">
                  <a:solidFill>
                    <a:srgbClr val="B42318"/>
                  </a:solidFill>
                  <a:latin typeface="Segoe UI" panose="020B0502040204020203"/>
                  <a:ea typeface="微软雅黑" panose="020B0503020204020204" charset="-122"/>
                  <a:cs typeface="Segoe UI" panose="020B0502040204020203"/>
                </a:rPr>
                <a:t>MECHANISM</a:t>
              </a:r>
              <a:endParaRPr lang="zh-CN" sz="1125" b="1" dirty="0">
                <a:solidFill>
                  <a:srgbClr val="B42318"/>
                </a:solidFill>
                <a:latin typeface="Segoe UI" panose="020B0502040204020203"/>
                <a:ea typeface="微软雅黑" panose="020B0503020204020204" charset="-122"/>
                <a:cs typeface="Segoe UI" panose="020B0502040204020203"/>
              </a:endParaRPr>
            </a:p>
          </p:txBody>
        </p:sp>
        <p:sp>
          <p:nvSpPr>
            <p:cNvPr id="22" name="Rectangle 22"/>
            <p:cNvSpPr/>
            <p:nvPr/>
          </p:nvSpPr>
          <p:spPr>
            <a:xfrm>
              <a:off x="609600" y="5353050"/>
              <a:ext cx="2476500" cy="552450"/>
            </a:xfrm>
            <a:prstGeom prst="rect">
              <a:avLst/>
            </a:prstGeom>
            <a:solidFill>
              <a:srgbClr val="163A5F"/>
            </a:solidFill>
            <a:ln>
              <a:noFill/>
            </a:ln>
          </p:spPr>
        </p:sp>
        <p:sp>
          <p:nvSpPr>
            <p:cNvPr id="23" name="TextBox 23"/>
            <p:cNvSpPr txBox="1"/>
            <p:nvPr/>
          </p:nvSpPr>
          <p:spPr>
            <a:xfrm>
              <a:off x="1266492" y="5450681"/>
              <a:ext cx="1162717"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MODEL-OUTPUT</a:t>
              </a:r>
              <a:endParaRPr lang="zh-CN" sz="1125" b="1" dirty="0">
                <a:solidFill>
                  <a:srgbClr val="FFFFFF"/>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1329499" y="5660231"/>
              <a:ext cx="1036701"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HOMOGENEITY</a:t>
              </a:r>
              <a:endParaRPr lang="zh-CN" sz="1125" b="1" dirty="0">
                <a:solidFill>
                  <a:srgbClr val="FFFFFF"/>
                </a:solidFill>
                <a:latin typeface="Segoe UI" panose="020B0502040204020203"/>
                <a:ea typeface="微软雅黑" panose="020B0503020204020204" charset="-122"/>
                <a:cs typeface="Segoe UI" panose="020B0502040204020203"/>
              </a:endParaRPr>
            </a:p>
          </p:txBody>
        </p:sp>
        <p:sp>
          <p:nvSpPr>
            <p:cNvPr id="25" name="Line 25"/>
            <p:cNvSpPr/>
            <p:nvPr/>
          </p:nvSpPr>
          <p:spPr>
            <a:xfrm>
              <a:off x="3086100" y="5629275"/>
              <a:ext cx="219075" cy="1"/>
            </a:xfrm>
            <a:prstGeom prst="line">
              <a:avLst/>
            </a:prstGeom>
            <a:noFill/>
            <a:ln w="19050">
              <a:solidFill>
                <a:srgbClr val="5B7FA3"/>
              </a:solidFill>
              <a:tailEnd type="triangle" w="lg" len="lg"/>
            </a:ln>
          </p:spPr>
        </p:sp>
        <p:sp>
          <p:nvSpPr>
            <p:cNvPr id="26" name="Rectangle 26"/>
            <p:cNvSpPr/>
            <p:nvPr/>
          </p:nvSpPr>
          <p:spPr>
            <a:xfrm>
              <a:off x="3333750" y="5353050"/>
              <a:ext cx="2476500" cy="552450"/>
            </a:xfrm>
            <a:prstGeom prst="rect">
              <a:avLst/>
            </a:prstGeom>
            <a:solidFill>
              <a:srgbClr val="FFFFFF"/>
            </a:solidFill>
            <a:ln w="9525">
              <a:solidFill>
                <a:srgbClr val="5B7FA3"/>
              </a:solidFill>
            </a:ln>
          </p:spPr>
        </p:sp>
        <p:sp>
          <p:nvSpPr>
            <p:cNvPr id="27" name="TextBox 27"/>
            <p:cNvSpPr txBox="1"/>
            <p:nvPr/>
          </p:nvSpPr>
          <p:spPr>
            <a:xfrm>
              <a:off x="3600780" y="5450681"/>
              <a:ext cx="1942439" cy="228600"/>
            </a:xfrm>
            <a:prstGeom prst="rect">
              <a:avLst/>
            </a:prstGeom>
            <a:noFill/>
            <a:ln>
              <a:noFill/>
            </a:ln>
          </p:spPr>
          <p:txBody>
            <a:bodyPr wrap="none" lIns="0" tIns="0" rIns="0" bIns="0" anchor="t" anchorCtr="0">
              <a:spAutoFit/>
            </a:bodyPr>
            <a:lstStyle/>
            <a:p>
              <a:pPr algn="ctr"/>
              <a:r>
                <a:rPr lang="zh-CN" sz="1125" b="1" dirty="0">
                  <a:solidFill>
                    <a:srgbClr val="163A5F"/>
                  </a:solidFill>
                  <a:latin typeface="Segoe UI" panose="020B0502040204020203"/>
                  <a:ea typeface="微软雅黑" panose="020B0503020204020204" charset="-122"/>
                  <a:cs typeface="Segoe UI" panose="020B0502040204020203"/>
                </a:rPr>
                <a:t>CORRELATED INFORMATION</a:t>
              </a:r>
              <a:endParaRPr lang="zh-CN" sz="1125" b="1" dirty="0">
                <a:solidFill>
                  <a:srgbClr val="163A5F"/>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4195417" y="5660231"/>
              <a:ext cx="753166" cy="228600"/>
            </a:xfrm>
            <a:prstGeom prst="rect">
              <a:avLst/>
            </a:prstGeom>
            <a:noFill/>
            <a:ln>
              <a:noFill/>
            </a:ln>
          </p:spPr>
          <p:txBody>
            <a:bodyPr wrap="none" lIns="0" tIns="0" rIns="0" bIns="0" anchor="t" anchorCtr="0">
              <a:spAutoFit/>
            </a:bodyPr>
            <a:lstStyle/>
            <a:p>
              <a:pPr algn="ctr"/>
              <a:r>
                <a:rPr lang="zh-CN" sz="1125" b="1" dirty="0">
                  <a:solidFill>
                    <a:srgbClr val="163A5F"/>
                  </a:solidFill>
                  <a:latin typeface="Segoe UI" panose="020B0502040204020203"/>
                  <a:ea typeface="微软雅黑" panose="020B0503020204020204" charset="-122"/>
                  <a:cs typeface="Segoe UI" panose="020B0502040204020203"/>
                </a:rPr>
                <a:t>EXPOSURE</a:t>
              </a:r>
              <a:endParaRPr lang="zh-CN" sz="1125" b="1" dirty="0">
                <a:solidFill>
                  <a:srgbClr val="163A5F"/>
                </a:solidFill>
                <a:latin typeface="Segoe UI" panose="020B0502040204020203"/>
                <a:ea typeface="微软雅黑" panose="020B0503020204020204" charset="-122"/>
                <a:cs typeface="Segoe UI" panose="020B0502040204020203"/>
              </a:endParaRPr>
            </a:p>
          </p:txBody>
        </p:sp>
        <p:sp>
          <p:nvSpPr>
            <p:cNvPr id="29" name="Line 29"/>
            <p:cNvSpPr/>
            <p:nvPr/>
          </p:nvSpPr>
          <p:spPr>
            <a:xfrm>
              <a:off x="5810250" y="5629275"/>
              <a:ext cx="219075" cy="1"/>
            </a:xfrm>
            <a:prstGeom prst="line">
              <a:avLst/>
            </a:prstGeom>
            <a:noFill/>
            <a:ln w="19050">
              <a:solidFill>
                <a:srgbClr val="5B7FA3"/>
              </a:solidFill>
              <a:tailEnd type="triangle" w="lg" len="lg"/>
            </a:ln>
          </p:spPr>
        </p:sp>
        <p:sp>
          <p:nvSpPr>
            <p:cNvPr id="30" name="Rectangle 30"/>
            <p:cNvSpPr/>
            <p:nvPr/>
          </p:nvSpPr>
          <p:spPr>
            <a:xfrm>
              <a:off x="6057900" y="5353050"/>
              <a:ext cx="2095500" cy="552450"/>
            </a:xfrm>
            <a:prstGeom prst="rect">
              <a:avLst/>
            </a:prstGeom>
            <a:solidFill>
              <a:srgbClr val="FFFFFF"/>
            </a:solidFill>
            <a:ln w="9525">
              <a:solidFill>
                <a:srgbClr val="5B7FA3"/>
              </a:solidFill>
            </a:ln>
          </p:spPr>
        </p:sp>
        <p:sp>
          <p:nvSpPr>
            <p:cNvPr id="31" name="TextBox 31"/>
            <p:cNvSpPr txBox="1"/>
            <p:nvPr/>
          </p:nvSpPr>
          <p:spPr>
            <a:xfrm>
              <a:off x="6500664" y="5574506"/>
              <a:ext cx="1209973" cy="228600"/>
            </a:xfrm>
            <a:prstGeom prst="rect">
              <a:avLst/>
            </a:prstGeom>
            <a:noFill/>
            <a:ln>
              <a:noFill/>
            </a:ln>
          </p:spPr>
          <p:txBody>
            <a:bodyPr wrap="none" lIns="0" tIns="0" rIns="0" bIns="0" anchor="t" anchorCtr="0">
              <a:spAutoFit/>
            </a:bodyPr>
            <a:lstStyle/>
            <a:p>
              <a:pPr algn="ctr"/>
              <a:r>
                <a:rPr lang="zh-CN" sz="1125" b="1" dirty="0">
                  <a:solidFill>
                    <a:srgbClr val="163A5F"/>
                  </a:solidFill>
                  <a:latin typeface="Segoe UI" panose="020B0502040204020203"/>
                  <a:ea typeface="微软雅黑" panose="020B0503020204020204" charset="-122"/>
                  <a:cs typeface="Segoe UI" panose="020B0502040204020203"/>
                </a:rPr>
                <a:t>BELIEF UPDATING</a:t>
              </a:r>
              <a:endParaRPr lang="zh-CN" sz="1125" b="1" dirty="0">
                <a:solidFill>
                  <a:srgbClr val="163A5F"/>
                </a:solidFill>
                <a:latin typeface="Segoe UI" panose="020B0502040204020203"/>
                <a:ea typeface="微软雅黑" panose="020B0503020204020204" charset="-122"/>
                <a:cs typeface="Segoe UI" panose="020B0502040204020203"/>
              </a:endParaRPr>
            </a:p>
          </p:txBody>
        </p:sp>
        <p:sp>
          <p:nvSpPr>
            <p:cNvPr id="32" name="Line 32"/>
            <p:cNvSpPr/>
            <p:nvPr/>
          </p:nvSpPr>
          <p:spPr>
            <a:xfrm>
              <a:off x="8153400" y="5629275"/>
              <a:ext cx="257175" cy="1"/>
            </a:xfrm>
            <a:prstGeom prst="line">
              <a:avLst/>
            </a:prstGeom>
            <a:noFill/>
            <a:ln w="19050">
              <a:solidFill>
                <a:srgbClr val="5B7FA3"/>
              </a:solidFill>
              <a:tailEnd type="triangle" w="lg" len="lg"/>
            </a:ln>
          </p:spPr>
        </p:sp>
        <p:sp>
          <p:nvSpPr>
            <p:cNvPr id="33" name="Rectangle 33"/>
            <p:cNvSpPr/>
            <p:nvPr/>
          </p:nvSpPr>
          <p:spPr>
            <a:xfrm>
              <a:off x="8439150" y="5353050"/>
              <a:ext cx="3143250" cy="552450"/>
            </a:xfrm>
            <a:prstGeom prst="rect">
              <a:avLst/>
            </a:prstGeom>
            <a:solidFill>
              <a:srgbClr val="B42318"/>
            </a:solidFill>
            <a:ln>
              <a:noFill/>
            </a:ln>
          </p:spPr>
        </p:sp>
        <p:sp>
          <p:nvSpPr>
            <p:cNvPr id="34" name="TextBox 34"/>
            <p:cNvSpPr txBox="1"/>
            <p:nvPr/>
          </p:nvSpPr>
          <p:spPr>
            <a:xfrm>
              <a:off x="8964734" y="5574506"/>
              <a:ext cx="2092083" cy="228600"/>
            </a:xfrm>
            <a:prstGeom prst="rect">
              <a:avLst/>
            </a:prstGeom>
            <a:noFill/>
            <a:ln>
              <a:noFill/>
            </a:ln>
          </p:spPr>
          <p:txBody>
            <a:bodyPr wrap="none" lIns="0" tIns="0" rIns="0" bIns="0" anchor="t" anchorCtr="0">
              <a:spAutoFit/>
            </a:bodyPr>
            <a:lstStyle/>
            <a:p>
              <a:pPr algn="ctr"/>
              <a:r>
                <a:rPr lang="zh-CN" sz="1125" b="1" dirty="0">
                  <a:solidFill>
                    <a:srgbClr val="FFFFFF"/>
                  </a:solidFill>
                  <a:latin typeface="Segoe UI" panose="020B0502040204020203"/>
                  <a:ea typeface="微软雅黑" panose="020B0503020204020204" charset="-122"/>
                  <a:cs typeface="Segoe UI" panose="020B0502040204020203"/>
                </a:rPr>
                <a:t>GROUP JUDGMENT STRUCTURE</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sp>
        <p:nvSpPr>
          <p:cNvPr id="36" name="TextBox 36"/>
          <p:cNvSpPr txBox="1"/>
          <p:nvPr/>
        </p:nvSpPr>
        <p:spPr>
          <a:xfrm>
            <a:off x="11438954" y="6398895"/>
            <a:ext cx="154877" cy="182880"/>
          </a:xfrm>
          <a:prstGeom prst="rect">
            <a:avLst/>
          </a:prstGeom>
          <a:noFill/>
          <a:ln>
            <a:noFill/>
          </a:ln>
        </p:spPr>
        <p:txBody>
          <a:bodyPr wrap="none" lIns="0" tIns="0" rIns="0" bIns="0" anchor="t" anchorCtr="0">
            <a:spAutoFit/>
          </a:bodyPr>
          <a:lstStyle/>
          <a:p>
            <a:pPr algn="r"/>
            <a:r>
              <a:rPr lang="zh-CN" sz="900" dirty="0">
                <a:solidFill>
                  <a:srgbClr val="7B8794"/>
                </a:solidFill>
                <a:latin typeface="Segoe UI" panose="020B0502040204020203"/>
                <a:ea typeface="微软雅黑" panose="020B0503020204020204" charset="-122"/>
                <a:cs typeface="Segoe UI" panose="020B0502040204020203"/>
              </a:rPr>
              <a:t>06</a:t>
            </a:r>
            <a:endParaRPr lang="zh-CN" sz="900"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400"/>
                                        <p:tgtEl>
                                          <p:spTgt spid="5"/>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slide(fromBottom)">
                                      <p:cBhvr>
                                        <p:cTn id="11" dur="400"/>
                                        <p:tgtEl>
                                          <p:spTgt spid="9"/>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slide(fromBottom)">
                                      <p:cBhvr>
                                        <p:cTn id="15" dur="400"/>
                                        <p:tgtEl>
                                          <p:spTgt spid="20"/>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image">
                                      <p:cBhvr>
                                        <p:cTn id="19"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9" grpId="0"/>
      <p:bldP spid="20" grpId="0"/>
      <p:bldP spid="35"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9FC"/>
            </a:solidFill>
            <a:ln>
              <a:noFill/>
            </a:ln>
          </p:spPr>
        </p:sp>
        <p:sp>
          <p:nvSpPr>
            <p:cNvPr id="3" name="Line 3"/>
            <p:cNvSpPr/>
            <p:nvPr/>
          </p:nvSpPr>
          <p:spPr>
            <a:xfrm>
              <a:off x="1066800" y="1371600"/>
              <a:ext cx="9525" cy="3505200"/>
            </a:xfrm>
            <a:custGeom>
              <a:avLst/>
              <a:gdLst/>
              <a:ahLst/>
              <a:cxnLst/>
              <a:rect l="l" t="t" r="r" b="b"/>
              <a:pathLst>
                <a:path w="9525" h="3505200">
                  <a:moveTo>
                    <a:pt x="0" y="0"/>
                  </a:moveTo>
                  <a:lnTo>
                    <a:pt x="0" y="3505200"/>
                  </a:lnTo>
                </a:path>
              </a:pathLst>
            </a:custGeom>
            <a:noFill/>
            <a:ln w="19050">
              <a:solidFill>
                <a:srgbClr val="CCD6E1"/>
              </a:solidFill>
            </a:ln>
          </p:spPr>
        </p:sp>
      </p:grpSp>
      <p:grpSp>
        <p:nvGrpSpPr>
          <p:cNvPr id="7" name="Group 7"/>
          <p:cNvGrpSpPr/>
          <p:nvPr/>
        </p:nvGrpSpPr>
        <p:grpSpPr>
          <a:xfrm>
            <a:off x="577215" y="315278"/>
            <a:ext cx="11019472" cy="518160"/>
            <a:chOff x="577215" y="315278"/>
            <a:chExt cx="11019472" cy="518160"/>
          </a:xfrm>
        </p:grpSpPr>
        <p:sp>
          <p:nvSpPr>
            <p:cNvPr id="5" name="TextBox 5"/>
            <p:cNvSpPr txBox="1"/>
            <p:nvPr/>
          </p:nvSpPr>
          <p:spPr>
            <a:xfrm>
              <a:off x="577215" y="315278"/>
              <a:ext cx="3706625" cy="518160"/>
            </a:xfrm>
            <a:prstGeom prst="rect">
              <a:avLst/>
            </a:prstGeom>
            <a:noFill/>
            <a:ln>
              <a:noFill/>
            </a:ln>
          </p:spPr>
          <p:txBody>
            <a:bodyPr wrap="none" lIns="0" tIns="0" rIns="0" bIns="0" anchor="t" anchorCtr="0">
              <a:spAutoFit/>
            </a:bodyPr>
            <a:lstStyle/>
            <a:p>
              <a:pPr algn="l"/>
              <a:r>
                <a:rPr lang="zh-CN" sz="2550" b="1" dirty="0">
                  <a:solidFill>
                    <a:srgbClr val="163A5F"/>
                  </a:solidFill>
                  <a:latin typeface="Segoe UI" panose="020B0502040204020203"/>
                  <a:ea typeface="微软雅黑" panose="020B0503020204020204" charset="-122"/>
                  <a:cs typeface="Segoe UI" panose="020B0502040204020203"/>
                </a:rPr>
                <a:t>Research Hypotheses</a:t>
              </a:r>
              <a:endParaRPr lang="zh-CN" sz="2550" b="1" dirty="0">
                <a:solidFill>
                  <a:srgbClr val="163A5F"/>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8860274" y="469106"/>
              <a:ext cx="2736413" cy="228600"/>
            </a:xfrm>
            <a:prstGeom prst="rect">
              <a:avLst/>
            </a:prstGeom>
            <a:noFill/>
            <a:ln>
              <a:noFill/>
            </a:ln>
          </p:spPr>
          <p:txBody>
            <a:bodyPr wrap="none" lIns="0" tIns="0" rIns="0" bIns="0" anchor="t" anchorCtr="0">
              <a:spAutoFit/>
            </a:bodyPr>
            <a:lstStyle/>
            <a:p>
              <a:pPr algn="r"/>
              <a:r>
                <a:rPr lang="zh-CN" sz="1125" dirty="0">
                  <a:solidFill>
                    <a:srgbClr val="7B8794"/>
                  </a:solidFill>
                  <a:latin typeface="Segoe UI" panose="020B0502040204020203"/>
                  <a:ea typeface="微软雅黑" panose="020B0503020204020204" charset="-122"/>
                  <a:cs typeface="Segoe UI" panose="020B0502040204020203"/>
                </a:rPr>
                <a:t>Exposure → correlation → aggregation</a:t>
              </a:r>
              <a:endParaRPr lang="zh-CN" sz="1125" dirty="0">
                <a:solidFill>
                  <a:srgbClr val="7B8794"/>
                </a:solidFill>
                <a:latin typeface="Segoe UI" panose="020B0502040204020203"/>
                <a:ea typeface="微软雅黑" panose="020B0503020204020204" charset="-122"/>
                <a:cs typeface="Segoe UI" panose="020B0502040204020203"/>
              </a:endParaRPr>
            </a:p>
          </p:txBody>
        </p:sp>
      </p:grpSp>
      <p:grpSp>
        <p:nvGrpSpPr>
          <p:cNvPr id="12" name="Group 12"/>
          <p:cNvGrpSpPr/>
          <p:nvPr/>
        </p:nvGrpSpPr>
        <p:grpSpPr>
          <a:xfrm>
            <a:off x="819150" y="1066800"/>
            <a:ext cx="10763250" cy="800100"/>
            <a:chOff x="819150" y="1066800"/>
            <a:chExt cx="10763250" cy="800100"/>
          </a:xfrm>
        </p:grpSpPr>
        <p:sp>
          <p:nvSpPr>
            <p:cNvPr id="8" name="Ellipse 8"/>
            <p:cNvSpPr/>
            <p:nvPr/>
          </p:nvSpPr>
          <p:spPr>
            <a:xfrm>
              <a:off x="819150" y="1219200"/>
              <a:ext cx="495300" cy="495300"/>
            </a:xfrm>
            <a:prstGeom prst="ellipse">
              <a:avLst/>
            </a:prstGeom>
            <a:solidFill>
              <a:srgbClr val="163A5F"/>
            </a:solidFill>
            <a:ln>
              <a:noFill/>
            </a:ln>
          </p:spPr>
        </p:sp>
        <p:sp>
          <p:nvSpPr>
            <p:cNvPr id="9" name="TextBox 9"/>
            <p:cNvSpPr txBox="1"/>
            <p:nvPr/>
          </p:nvSpPr>
          <p:spPr>
            <a:xfrm>
              <a:off x="952420" y="1395889"/>
              <a:ext cx="22876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panose="020B0502040204020203"/>
                  <a:ea typeface="微软雅黑" panose="020B0503020204020204" charset="-122"/>
                  <a:cs typeface="Segoe UI" panose="020B0502040204020203"/>
                </a:rPr>
                <a:t>H1</a:t>
              </a:r>
              <a:endParaRPr lang="zh-CN" sz="1275" b="1" dirty="0">
                <a:solidFill>
                  <a:srgbClr val="FFFFFF"/>
                </a:solidFill>
                <a:latin typeface="Segoe UI" panose="020B0502040204020203"/>
                <a:ea typeface="微软雅黑" panose="020B0503020204020204" charset="-122"/>
                <a:cs typeface="Segoe UI" panose="020B0502040204020203"/>
              </a:endParaRPr>
            </a:p>
          </p:txBody>
        </p:sp>
        <p:sp>
          <p:nvSpPr>
            <p:cNvPr id="10" name="Rectangle 10"/>
            <p:cNvSpPr/>
            <p:nvPr/>
          </p:nvSpPr>
          <p:spPr>
            <a:xfrm>
              <a:off x="1562100" y="1066800"/>
              <a:ext cx="10020300" cy="800100"/>
            </a:xfrm>
            <a:prstGeom prst="rect">
              <a:avLst/>
            </a:prstGeom>
            <a:solidFill>
              <a:srgbClr val="FFFFFF"/>
            </a:solidFill>
            <a:ln w="9525">
              <a:solidFill>
                <a:srgbClr val="CCD6E1"/>
              </a:solidFill>
            </a:ln>
          </p:spPr>
        </p:sp>
        <p:sp>
          <p:nvSpPr>
            <p:cNvPr id="11" name="TextBox 11"/>
            <p:cNvSpPr txBox="1"/>
            <p:nvPr/>
          </p:nvSpPr>
          <p:spPr>
            <a:xfrm>
              <a:off x="1809750" y="1400175"/>
              <a:ext cx="7735562" cy="304800"/>
            </a:xfrm>
            <a:prstGeom prst="rect">
              <a:avLst/>
            </a:prstGeom>
            <a:noFill/>
            <a:ln>
              <a:noFill/>
            </a:ln>
          </p:spPr>
          <p:txBody>
            <a:bodyPr wrap="none" lIns="0" tIns="0" rIns="0" bIns="0" anchor="t" anchorCtr="0">
              <a:spAutoFit/>
            </a:bodyPr>
            <a:lstStyle/>
            <a:p>
              <a:pPr algn="l"/>
              <a:r>
                <a:rPr lang="zh-CN" sz="1500" b="1" dirty="0">
                  <a:solidFill>
                    <a:srgbClr val="1F2A37"/>
                  </a:solidFill>
                  <a:latin typeface="Segoe UI" panose="020B0502040204020203"/>
                  <a:ea typeface="微软雅黑" panose="020B0503020204020204" charset="-122"/>
                  <a:cs typeface="Segoe UI" panose="020B0502040204020203"/>
                </a:rPr>
                <a:t>A shared LLM increases the similarity of information obtained by members.</a:t>
              </a:r>
              <a:endParaRPr lang="zh-CN" sz="1500" b="1" dirty="0">
                <a:solidFill>
                  <a:srgbClr val="1F2A37"/>
                </a:solidFill>
                <a:latin typeface="Segoe UI" panose="020B0502040204020203"/>
                <a:ea typeface="微软雅黑" panose="020B0503020204020204" charset="-122"/>
                <a:cs typeface="Segoe UI" panose="020B0502040204020203"/>
              </a:endParaRPr>
            </a:p>
          </p:txBody>
        </p:sp>
      </p:grpSp>
      <p:grpSp>
        <p:nvGrpSpPr>
          <p:cNvPr id="17" name="Group 17"/>
          <p:cNvGrpSpPr/>
          <p:nvPr/>
        </p:nvGrpSpPr>
        <p:grpSpPr>
          <a:xfrm>
            <a:off x="819150" y="2019300"/>
            <a:ext cx="10763250" cy="800100"/>
            <a:chOff x="819150" y="2019300"/>
            <a:chExt cx="10763250" cy="800100"/>
          </a:xfrm>
        </p:grpSpPr>
        <p:sp>
          <p:nvSpPr>
            <p:cNvPr id="13" name="Ellipse 13"/>
            <p:cNvSpPr/>
            <p:nvPr/>
          </p:nvSpPr>
          <p:spPr>
            <a:xfrm>
              <a:off x="819150" y="2171700"/>
              <a:ext cx="495300" cy="495300"/>
            </a:xfrm>
            <a:prstGeom prst="ellipse">
              <a:avLst/>
            </a:prstGeom>
            <a:solidFill>
              <a:srgbClr val="163A5F"/>
            </a:solidFill>
            <a:ln>
              <a:noFill/>
            </a:ln>
          </p:spPr>
        </p:sp>
        <p:sp>
          <p:nvSpPr>
            <p:cNvPr id="14" name="TextBox 14"/>
            <p:cNvSpPr txBox="1"/>
            <p:nvPr/>
          </p:nvSpPr>
          <p:spPr>
            <a:xfrm>
              <a:off x="952420" y="2348389"/>
              <a:ext cx="22876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panose="020B0502040204020203"/>
                  <a:ea typeface="微软雅黑" panose="020B0503020204020204" charset="-122"/>
                  <a:cs typeface="Segoe UI" panose="020B0502040204020203"/>
                </a:rPr>
                <a:t>H2</a:t>
              </a:r>
              <a:endParaRPr lang="zh-CN" sz="1275" b="1" dirty="0">
                <a:solidFill>
                  <a:srgbClr val="FFFFFF"/>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1562100" y="2019300"/>
              <a:ext cx="10020300" cy="800100"/>
            </a:xfrm>
            <a:prstGeom prst="rect">
              <a:avLst/>
            </a:prstGeom>
            <a:solidFill>
              <a:srgbClr val="FFFFFF"/>
            </a:solidFill>
            <a:ln w="9525">
              <a:solidFill>
                <a:srgbClr val="CCD6E1"/>
              </a:solidFill>
            </a:ln>
          </p:spPr>
        </p:sp>
        <p:sp>
          <p:nvSpPr>
            <p:cNvPr id="16" name="TextBox 16"/>
            <p:cNvSpPr txBox="1"/>
            <p:nvPr/>
          </p:nvSpPr>
          <p:spPr>
            <a:xfrm>
              <a:off x="1809750" y="2352675"/>
              <a:ext cx="6800945" cy="304800"/>
            </a:xfrm>
            <a:prstGeom prst="rect">
              <a:avLst/>
            </a:prstGeom>
            <a:noFill/>
            <a:ln>
              <a:noFill/>
            </a:ln>
          </p:spPr>
          <p:txBody>
            <a:bodyPr wrap="none" lIns="0" tIns="0" rIns="0" bIns="0" anchor="t" anchorCtr="0">
              <a:spAutoFit/>
            </a:bodyPr>
            <a:lstStyle/>
            <a:p>
              <a:pPr algn="l"/>
              <a:r>
                <a:rPr lang="zh-CN" sz="1500" b="1" dirty="0">
                  <a:solidFill>
                    <a:srgbClr val="1F2A37"/>
                  </a:solidFill>
                  <a:latin typeface="Segoe UI" panose="020B0502040204020203"/>
                  <a:ea typeface="微软雅黑" panose="020B0503020204020204" charset="-122"/>
                  <a:cs typeface="Segoe UI" panose="020B0502040204020203"/>
                </a:rPr>
                <a:t>A shared LLM increases correlation in members’ judgment errors.</a:t>
              </a:r>
              <a:endParaRPr lang="zh-CN" sz="1500" b="1" dirty="0">
                <a:solidFill>
                  <a:srgbClr val="1F2A37"/>
                </a:solidFill>
                <a:latin typeface="Segoe UI" panose="020B0502040204020203"/>
                <a:ea typeface="微软雅黑" panose="020B0503020204020204" charset="-122"/>
                <a:cs typeface="Segoe UI" panose="020B0502040204020203"/>
              </a:endParaRPr>
            </a:p>
          </p:txBody>
        </p:sp>
      </p:grpSp>
      <p:grpSp>
        <p:nvGrpSpPr>
          <p:cNvPr id="22" name="Group 22"/>
          <p:cNvGrpSpPr/>
          <p:nvPr/>
        </p:nvGrpSpPr>
        <p:grpSpPr>
          <a:xfrm>
            <a:off x="819150" y="2971800"/>
            <a:ext cx="10763250" cy="800100"/>
            <a:chOff x="819150" y="2971800"/>
            <a:chExt cx="10763250" cy="800100"/>
          </a:xfrm>
        </p:grpSpPr>
        <p:sp>
          <p:nvSpPr>
            <p:cNvPr id="18" name="Ellipse 18"/>
            <p:cNvSpPr/>
            <p:nvPr/>
          </p:nvSpPr>
          <p:spPr>
            <a:xfrm>
              <a:off x="819150" y="3124200"/>
              <a:ext cx="495300" cy="495300"/>
            </a:xfrm>
            <a:prstGeom prst="ellipse">
              <a:avLst/>
            </a:prstGeom>
            <a:solidFill>
              <a:srgbClr val="163A5F"/>
            </a:solidFill>
            <a:ln>
              <a:noFill/>
            </a:ln>
          </p:spPr>
        </p:sp>
        <p:sp>
          <p:nvSpPr>
            <p:cNvPr id="19" name="TextBox 19"/>
            <p:cNvSpPr txBox="1"/>
            <p:nvPr/>
          </p:nvSpPr>
          <p:spPr>
            <a:xfrm>
              <a:off x="952420" y="3300889"/>
              <a:ext cx="22876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panose="020B0502040204020203"/>
                  <a:ea typeface="微软雅黑" panose="020B0503020204020204" charset="-122"/>
                  <a:cs typeface="Segoe UI" panose="020B0502040204020203"/>
                </a:rPr>
                <a:t>H3</a:t>
              </a:r>
              <a:endParaRPr lang="zh-CN" sz="1275" b="1" dirty="0">
                <a:solidFill>
                  <a:srgbClr val="FFFFFF"/>
                </a:solidFill>
                <a:latin typeface="Segoe UI" panose="020B0502040204020203"/>
                <a:ea typeface="微软雅黑" panose="020B0503020204020204" charset="-122"/>
                <a:cs typeface="Segoe UI" panose="020B0502040204020203"/>
              </a:endParaRPr>
            </a:p>
          </p:txBody>
        </p:sp>
        <p:sp>
          <p:nvSpPr>
            <p:cNvPr id="20" name="Rectangle 20"/>
            <p:cNvSpPr/>
            <p:nvPr/>
          </p:nvSpPr>
          <p:spPr>
            <a:xfrm>
              <a:off x="1562100" y="2971800"/>
              <a:ext cx="10020300" cy="800100"/>
            </a:xfrm>
            <a:prstGeom prst="rect">
              <a:avLst/>
            </a:prstGeom>
            <a:solidFill>
              <a:srgbClr val="FFFFFF"/>
            </a:solidFill>
            <a:ln w="9525">
              <a:solidFill>
                <a:srgbClr val="CCD6E1"/>
              </a:solidFill>
            </a:ln>
          </p:spPr>
        </p:sp>
        <p:sp>
          <p:nvSpPr>
            <p:cNvPr id="21" name="TextBox 21"/>
            <p:cNvSpPr txBox="1"/>
            <p:nvPr/>
          </p:nvSpPr>
          <p:spPr>
            <a:xfrm>
              <a:off x="1809750" y="3305175"/>
              <a:ext cx="7756565" cy="304800"/>
            </a:xfrm>
            <a:prstGeom prst="rect">
              <a:avLst/>
            </a:prstGeom>
            <a:noFill/>
            <a:ln>
              <a:noFill/>
            </a:ln>
          </p:spPr>
          <p:txBody>
            <a:bodyPr wrap="none" lIns="0" tIns="0" rIns="0" bIns="0" anchor="t" anchorCtr="0">
              <a:spAutoFit/>
            </a:bodyPr>
            <a:lstStyle/>
            <a:p>
              <a:pPr algn="l"/>
              <a:r>
                <a:rPr lang="zh-CN" sz="1500" b="1" dirty="0">
                  <a:solidFill>
                    <a:srgbClr val="1F2A37"/>
                  </a:solidFill>
                  <a:latin typeface="Segoe UI" panose="020B0502040204020203"/>
                  <a:ea typeface="微软雅黑" panose="020B0503020204020204" charset="-122"/>
                  <a:cs typeface="Segoe UI" panose="020B0502040204020203"/>
                </a:rPr>
                <a:t>A shared LLM reduces the accuracy gain produced by judgment aggregation.</a:t>
              </a:r>
              <a:endParaRPr lang="zh-CN" sz="1500" b="1" dirty="0">
                <a:solidFill>
                  <a:srgbClr val="1F2A37"/>
                </a:solidFill>
                <a:latin typeface="Segoe UI" panose="020B0502040204020203"/>
                <a:ea typeface="微软雅黑" panose="020B0503020204020204" charset="-122"/>
                <a:cs typeface="Segoe UI" panose="020B0502040204020203"/>
              </a:endParaRPr>
            </a:p>
          </p:txBody>
        </p:sp>
      </p:grpSp>
      <p:grpSp>
        <p:nvGrpSpPr>
          <p:cNvPr id="27" name="Group 27"/>
          <p:cNvGrpSpPr/>
          <p:nvPr/>
        </p:nvGrpSpPr>
        <p:grpSpPr>
          <a:xfrm>
            <a:off x="819150" y="3924300"/>
            <a:ext cx="10763250" cy="800100"/>
            <a:chOff x="819150" y="3924300"/>
            <a:chExt cx="10763250" cy="800100"/>
          </a:xfrm>
        </p:grpSpPr>
        <p:sp>
          <p:nvSpPr>
            <p:cNvPr id="23" name="Ellipse 23"/>
            <p:cNvSpPr/>
            <p:nvPr/>
          </p:nvSpPr>
          <p:spPr>
            <a:xfrm>
              <a:off x="819150" y="4076700"/>
              <a:ext cx="495300" cy="495300"/>
            </a:xfrm>
            <a:prstGeom prst="ellipse">
              <a:avLst/>
            </a:prstGeom>
            <a:solidFill>
              <a:srgbClr val="B42318"/>
            </a:solidFill>
            <a:ln>
              <a:noFill/>
            </a:ln>
          </p:spPr>
        </p:sp>
        <p:sp>
          <p:nvSpPr>
            <p:cNvPr id="24" name="TextBox 24"/>
            <p:cNvSpPr txBox="1"/>
            <p:nvPr/>
          </p:nvSpPr>
          <p:spPr>
            <a:xfrm>
              <a:off x="952420" y="4253389"/>
              <a:ext cx="228760" cy="259080"/>
            </a:xfrm>
            <a:prstGeom prst="rect">
              <a:avLst/>
            </a:prstGeom>
            <a:noFill/>
            <a:ln>
              <a:noFill/>
            </a:ln>
          </p:spPr>
          <p:txBody>
            <a:bodyPr wrap="none" lIns="0" tIns="0" rIns="0" bIns="0" anchor="t" anchorCtr="0">
              <a:spAutoFit/>
            </a:bodyPr>
            <a:lstStyle/>
            <a:p>
              <a:pPr algn="ctr"/>
              <a:r>
                <a:rPr lang="zh-CN" sz="1275" b="1" dirty="0">
                  <a:solidFill>
                    <a:srgbClr val="FFFFFF"/>
                  </a:solidFill>
                  <a:latin typeface="Segoe UI" panose="020B0502040204020203"/>
                  <a:ea typeface="微软雅黑" panose="020B0503020204020204" charset="-122"/>
                  <a:cs typeface="Segoe UI" panose="020B0502040204020203"/>
                </a:rPr>
                <a:t>H4</a:t>
              </a:r>
              <a:endParaRPr lang="zh-CN" sz="1275" b="1" dirty="0">
                <a:solidFill>
                  <a:srgbClr val="FFFFFF"/>
                </a:solidFill>
                <a:latin typeface="Segoe UI" panose="020B0502040204020203"/>
                <a:ea typeface="微软雅黑" panose="020B0503020204020204" charset="-122"/>
                <a:cs typeface="Segoe UI" panose="020B0502040204020203"/>
              </a:endParaRPr>
            </a:p>
          </p:txBody>
        </p:sp>
        <p:sp>
          <p:nvSpPr>
            <p:cNvPr id="25" name="Rectangle 25"/>
            <p:cNvSpPr/>
            <p:nvPr/>
          </p:nvSpPr>
          <p:spPr>
            <a:xfrm>
              <a:off x="1562100" y="3924300"/>
              <a:ext cx="10020300" cy="800100"/>
            </a:xfrm>
            <a:prstGeom prst="rect">
              <a:avLst/>
            </a:prstGeom>
            <a:solidFill>
              <a:srgbClr val="FFFFFF"/>
            </a:solidFill>
            <a:ln w="9525">
              <a:solidFill>
                <a:srgbClr val="B42318"/>
              </a:solidFill>
            </a:ln>
          </p:spPr>
        </p:sp>
        <p:sp>
          <p:nvSpPr>
            <p:cNvPr id="26" name="TextBox 26"/>
            <p:cNvSpPr txBox="1"/>
            <p:nvPr/>
          </p:nvSpPr>
          <p:spPr>
            <a:xfrm>
              <a:off x="1809750" y="4257675"/>
              <a:ext cx="7840575" cy="304800"/>
            </a:xfrm>
            <a:prstGeom prst="rect">
              <a:avLst/>
            </a:prstGeom>
            <a:noFill/>
            <a:ln>
              <a:noFill/>
            </a:ln>
          </p:spPr>
          <p:txBody>
            <a:bodyPr wrap="none" lIns="0" tIns="0" rIns="0" bIns="0" anchor="t" anchorCtr="0">
              <a:spAutoFit/>
            </a:bodyPr>
            <a:lstStyle/>
            <a:p>
              <a:pPr algn="l"/>
              <a:r>
                <a:rPr lang="zh-CN" sz="1500" b="1" dirty="0">
                  <a:solidFill>
                    <a:srgbClr val="1F2A37"/>
                  </a:solidFill>
                  <a:latin typeface="Segoe UI" panose="020B0502040204020203"/>
                  <a:ea typeface="微软雅黑" panose="020B0503020204020204" charset="-122"/>
                  <a:cs typeface="Segoe UI" panose="020B0502040204020203"/>
                </a:rPr>
                <a:t>Model diversity mitigates the loss of crowd wisdom caused by a shared LLM.</a:t>
              </a:r>
              <a:endParaRPr lang="zh-CN" sz="1500" b="1" dirty="0">
                <a:solidFill>
                  <a:srgbClr val="1F2A37"/>
                </a:solidFill>
                <a:latin typeface="Segoe UI" panose="020B0502040204020203"/>
                <a:ea typeface="微软雅黑" panose="020B0503020204020204" charset="-122"/>
                <a:cs typeface="Segoe UI" panose="020B0502040204020203"/>
              </a:endParaRPr>
            </a:p>
          </p:txBody>
        </p:sp>
      </p:grpSp>
      <p:grpSp>
        <p:nvGrpSpPr>
          <p:cNvPr id="36" name="Group 36"/>
          <p:cNvGrpSpPr/>
          <p:nvPr/>
        </p:nvGrpSpPr>
        <p:grpSpPr>
          <a:xfrm>
            <a:off x="609600" y="5105400"/>
            <a:ext cx="10972800" cy="1028700"/>
            <a:chOff x="609600" y="5105400"/>
            <a:chExt cx="10972800" cy="1028700"/>
          </a:xfrm>
        </p:grpSpPr>
        <p:sp>
          <p:nvSpPr>
            <p:cNvPr id="28" name="Rectangle 28"/>
            <p:cNvSpPr/>
            <p:nvPr/>
          </p:nvSpPr>
          <p:spPr>
            <a:xfrm>
              <a:off x="609600" y="5105400"/>
              <a:ext cx="10972800" cy="1028700"/>
            </a:xfrm>
            <a:prstGeom prst="rect">
              <a:avLst/>
            </a:prstGeom>
            <a:solidFill>
              <a:srgbClr val="EAF0F7"/>
            </a:solidFill>
            <a:ln>
              <a:noFill/>
            </a:ln>
          </p:spPr>
        </p:sp>
        <p:sp>
          <p:nvSpPr>
            <p:cNvPr id="29" name="TextBox 29"/>
            <p:cNvSpPr txBox="1"/>
            <p:nvPr/>
          </p:nvSpPr>
          <p:spPr>
            <a:xfrm>
              <a:off x="862012" y="5307806"/>
              <a:ext cx="1800671" cy="228600"/>
            </a:xfrm>
            <a:prstGeom prst="rect">
              <a:avLst/>
            </a:prstGeom>
            <a:noFill/>
            <a:ln>
              <a:noFill/>
            </a:ln>
          </p:spPr>
          <p:txBody>
            <a:bodyPr wrap="none" lIns="0" tIns="0" rIns="0" bIns="0" anchor="t" anchorCtr="0">
              <a:spAutoFit/>
            </a:bodyPr>
            <a:lstStyle/>
            <a:p>
              <a:pPr algn="l"/>
              <a:r>
                <a:rPr lang="zh-CN" sz="1125" b="1" dirty="0">
                  <a:solidFill>
                    <a:srgbClr val="B42318"/>
                  </a:solidFill>
                  <a:latin typeface="Segoe UI" panose="020B0502040204020203"/>
                  <a:ea typeface="微软雅黑" panose="020B0503020204020204" charset="-122"/>
                  <a:cs typeface="Segoe UI" panose="020B0502040204020203"/>
                </a:rPr>
                <a:t>H4 AS A MECHANISM TEST</a:t>
              </a:r>
              <a:endParaRPr lang="zh-CN" sz="1125" b="1" dirty="0">
                <a:solidFill>
                  <a:srgbClr val="B42318"/>
                </a:solidFill>
                <a:latin typeface="Segoe UI" panose="020B0502040204020203"/>
                <a:ea typeface="微软雅黑" panose="020B0503020204020204" charset="-122"/>
                <a:cs typeface="Segoe UI" panose="020B0502040204020203"/>
              </a:endParaRPr>
            </a:p>
          </p:txBody>
        </p:sp>
        <p:sp>
          <p:nvSpPr>
            <p:cNvPr id="30" name="TextBox 30"/>
            <p:cNvSpPr txBox="1"/>
            <p:nvPr/>
          </p:nvSpPr>
          <p:spPr>
            <a:xfrm>
              <a:off x="860108" y="5672614"/>
              <a:ext cx="1299043" cy="259080"/>
            </a:xfrm>
            <a:prstGeom prst="rect">
              <a:avLst/>
            </a:prstGeom>
            <a:noFill/>
            <a:ln>
              <a:noFill/>
            </a:ln>
          </p:spPr>
          <p:txBody>
            <a:bodyPr wrap="none" lIns="0" tIns="0" rIns="0" bIns="0" anchor="t" anchorCtr="0">
              <a:spAutoFit/>
            </a:bodyPr>
            <a:lstStyle/>
            <a:p>
              <a:pPr algn="l"/>
              <a:r>
                <a:rPr lang="zh-CN" sz="1275" dirty="0">
                  <a:solidFill>
                    <a:srgbClr val="1F2A37"/>
                  </a:solidFill>
                  <a:latin typeface="Segoe UI" panose="020B0502040204020203"/>
                  <a:ea typeface="微软雅黑" panose="020B0503020204020204" charset="-122"/>
                  <a:cs typeface="Segoe UI" panose="020B0502040204020203"/>
                </a:rPr>
                <a:t>Model diversity</a:t>
              </a:r>
              <a:endParaRPr lang="zh-CN" sz="1275" dirty="0">
                <a:solidFill>
                  <a:srgbClr val="1F2A37"/>
                </a:solidFill>
                <a:latin typeface="Segoe UI" panose="020B0502040204020203"/>
                <a:ea typeface="微软雅黑" panose="020B0503020204020204" charset="-122"/>
                <a:cs typeface="Segoe UI" panose="020B0502040204020203"/>
              </a:endParaRPr>
            </a:p>
          </p:txBody>
        </p:sp>
        <p:sp>
          <p:nvSpPr>
            <p:cNvPr id="31" name="Line 31"/>
            <p:cNvSpPr/>
            <p:nvPr/>
          </p:nvSpPr>
          <p:spPr>
            <a:xfrm>
              <a:off x="2133600" y="5753100"/>
              <a:ext cx="647700" cy="1"/>
            </a:xfrm>
            <a:prstGeom prst="line">
              <a:avLst/>
            </a:prstGeom>
            <a:noFill/>
            <a:ln w="19050">
              <a:solidFill>
                <a:srgbClr val="5B7FA3"/>
              </a:solidFill>
              <a:tailEnd type="triangle" w="lg" len="lg"/>
            </a:ln>
          </p:spPr>
        </p:sp>
        <p:sp>
          <p:nvSpPr>
            <p:cNvPr id="32" name="TextBox 32"/>
            <p:cNvSpPr txBox="1"/>
            <p:nvPr/>
          </p:nvSpPr>
          <p:spPr>
            <a:xfrm>
              <a:off x="2936558" y="5672614"/>
              <a:ext cx="2004631" cy="259080"/>
            </a:xfrm>
            <a:prstGeom prst="rect">
              <a:avLst/>
            </a:prstGeom>
            <a:noFill/>
            <a:ln>
              <a:noFill/>
            </a:ln>
          </p:spPr>
          <p:txBody>
            <a:bodyPr wrap="none" lIns="0" tIns="0" rIns="0" bIns="0" anchor="t" anchorCtr="0">
              <a:spAutoFit/>
            </a:bodyPr>
            <a:lstStyle/>
            <a:p>
              <a:pPr algn="l"/>
              <a:r>
                <a:rPr lang="zh-CN" sz="1275" dirty="0">
                  <a:solidFill>
                    <a:srgbClr val="1F2A37"/>
                  </a:solidFill>
                  <a:latin typeface="Segoe UI" panose="020B0502040204020203"/>
                  <a:ea typeface="微软雅黑" panose="020B0503020204020204" charset="-122"/>
                  <a:cs typeface="Segoe UI" panose="020B0502040204020203"/>
                </a:rPr>
                <a:t>lower error correlation</a:t>
              </a:r>
              <a:endParaRPr lang="zh-CN" sz="1275" dirty="0">
                <a:solidFill>
                  <a:srgbClr val="1F2A37"/>
                </a:solidFill>
                <a:latin typeface="Segoe UI" panose="020B0502040204020203"/>
                <a:ea typeface="微软雅黑" panose="020B0503020204020204" charset="-122"/>
                <a:cs typeface="Segoe UI" panose="020B0502040204020203"/>
              </a:endParaRPr>
            </a:p>
          </p:txBody>
        </p:sp>
        <p:sp>
          <p:nvSpPr>
            <p:cNvPr id="33" name="Line 33"/>
            <p:cNvSpPr/>
            <p:nvPr/>
          </p:nvSpPr>
          <p:spPr>
            <a:xfrm>
              <a:off x="4724400" y="5753100"/>
              <a:ext cx="647700" cy="1"/>
            </a:xfrm>
            <a:prstGeom prst="line">
              <a:avLst/>
            </a:prstGeom>
            <a:noFill/>
            <a:ln w="19050">
              <a:solidFill>
                <a:srgbClr val="5B7FA3"/>
              </a:solidFill>
              <a:tailEnd type="triangle" w="lg" len="lg"/>
            </a:ln>
          </p:spPr>
        </p:sp>
        <p:sp>
          <p:nvSpPr>
            <p:cNvPr id="34" name="TextBox 34"/>
            <p:cNvSpPr txBox="1"/>
            <p:nvPr/>
          </p:nvSpPr>
          <p:spPr>
            <a:xfrm>
              <a:off x="5527358" y="5672614"/>
              <a:ext cx="2293668" cy="259080"/>
            </a:xfrm>
            <a:prstGeom prst="rect">
              <a:avLst/>
            </a:prstGeom>
            <a:noFill/>
            <a:ln>
              <a:noFill/>
            </a:ln>
          </p:spPr>
          <p:txBody>
            <a:bodyPr wrap="none" lIns="0" tIns="0" rIns="0" bIns="0" anchor="t" anchorCtr="0">
              <a:spAutoFit/>
            </a:bodyPr>
            <a:lstStyle/>
            <a:p>
              <a:pPr algn="l"/>
              <a:r>
                <a:rPr lang="zh-CN" sz="1275" dirty="0">
                  <a:solidFill>
                    <a:srgbClr val="1F2A37"/>
                  </a:solidFill>
                  <a:latin typeface="Segoe UI" panose="020B0502040204020203"/>
                  <a:ea typeface="微软雅黑" panose="020B0503020204020204" charset="-122"/>
                  <a:cs typeface="Segoe UI" panose="020B0502040204020203"/>
                </a:rPr>
                <a:t>restored aggregation gains</a:t>
              </a:r>
              <a:endParaRPr lang="zh-CN" sz="1275" dirty="0">
                <a:solidFill>
                  <a:srgbClr val="1F2A37"/>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8081962" y="5688806"/>
              <a:ext cx="3051453" cy="228600"/>
            </a:xfrm>
            <a:prstGeom prst="rect">
              <a:avLst/>
            </a:prstGeom>
            <a:noFill/>
            <a:ln>
              <a:noFill/>
            </a:ln>
          </p:spPr>
          <p:txBody>
            <a:bodyPr wrap="none" lIns="0" tIns="0" rIns="0" bIns="0" anchor="t" anchorCtr="0">
              <a:spAutoFit/>
            </a:bodyPr>
            <a:lstStyle/>
            <a:p>
              <a:pPr algn="l"/>
              <a:r>
                <a:rPr lang="zh-CN" sz="1125" dirty="0">
                  <a:solidFill>
                    <a:srgbClr val="526273"/>
                  </a:solidFill>
                  <a:latin typeface="Segoe UI" panose="020B0502040204020203"/>
                  <a:ea typeface="微软雅黑" panose="020B0503020204020204" charset="-122"/>
                  <a:cs typeface="Segoe UI" panose="020B0502040204020203"/>
                </a:rPr>
                <a:t>Linguistic variation alone is insufficient.</a:t>
              </a:r>
              <a:endParaRPr lang="zh-CN" sz="1125" dirty="0">
                <a:solidFill>
                  <a:srgbClr val="526273"/>
                </a:solidFill>
                <a:latin typeface="Segoe UI" panose="020B0502040204020203"/>
                <a:ea typeface="微软雅黑" panose="020B0503020204020204" charset="-122"/>
                <a:cs typeface="Segoe UI" panose="020B0502040204020203"/>
              </a:endParaRPr>
            </a:p>
          </p:txBody>
        </p:sp>
      </p:grpSp>
      <p:sp>
        <p:nvSpPr>
          <p:cNvPr id="37" name="TextBox 37"/>
          <p:cNvSpPr txBox="1"/>
          <p:nvPr/>
        </p:nvSpPr>
        <p:spPr>
          <a:xfrm>
            <a:off x="11438954" y="6398895"/>
            <a:ext cx="154877" cy="182880"/>
          </a:xfrm>
          <a:prstGeom prst="rect">
            <a:avLst/>
          </a:prstGeom>
          <a:noFill/>
          <a:ln>
            <a:noFill/>
          </a:ln>
        </p:spPr>
        <p:txBody>
          <a:bodyPr wrap="none" lIns="0" tIns="0" rIns="0" bIns="0" anchor="t" anchorCtr="0">
            <a:spAutoFit/>
          </a:bodyPr>
          <a:lstStyle/>
          <a:p>
            <a:pPr algn="r"/>
            <a:r>
              <a:rPr lang="zh-CN" sz="900" dirty="0">
                <a:solidFill>
                  <a:srgbClr val="7B8794"/>
                </a:solidFill>
                <a:latin typeface="Segoe UI" panose="020B0502040204020203"/>
                <a:ea typeface="微软雅黑" panose="020B0503020204020204" charset="-122"/>
                <a:cs typeface="Segoe UI" panose="020B0502040204020203"/>
              </a:rPr>
              <a:t>07</a:t>
            </a:r>
            <a:endParaRPr lang="zh-CN" sz="900"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400"/>
                                        <p:tgtEl>
                                          <p:spTgt spid="12"/>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left)">
                                      <p:cBhvr>
                                        <p:cTn id="11" dur="400"/>
                                        <p:tgtEl>
                                          <p:spTgt spid="17"/>
                                        </p:tgtEl>
                                      </p:cBhvr>
                                    </p:animEffect>
                                  </p:childTnLst>
                                </p:cTn>
                              </p:par>
                            </p:childTnLst>
                          </p:cTn>
                        </p:par>
                        <p:par>
                          <p:cTn id="12" fill="hold">
                            <p:stCondLst>
                              <p:cond delay="1000"/>
                            </p:stCondLst>
                            <p:childTnLst>
                              <p:par>
                                <p:cTn id="13" presetID="2" presetClass="entr" presetSubtype="4"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slide(fromBottom)">
                                      <p:cBhvr>
                                        <p:cTn id="15" dur="400"/>
                                        <p:tgtEl>
                                          <p:spTgt spid="22"/>
                                        </p:tgtEl>
                                      </p:cBhvr>
                                    </p:animEffect>
                                  </p:childTnLst>
                                </p:cTn>
                              </p:par>
                            </p:childTnLst>
                          </p:cTn>
                        </p:par>
                        <p:par>
                          <p:cTn id="16" fill="hold">
                            <p:stCondLst>
                              <p:cond delay="1500"/>
                            </p:stCondLst>
                            <p:childTnLst>
                              <p:par>
                                <p:cTn id="17" presetID="23" presetClass="entr" presetSubtype="16" fill="hold" nodeType="after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image">
                                      <p:cBhvr>
                                        <p:cTn id="19" dur="400"/>
                                        <p:tgtEl>
                                          <p:spTgt spid="27"/>
                                        </p:tgtEl>
                                      </p:cBhvr>
                                    </p:animEffect>
                                  </p:childTnLst>
                                </p:cTn>
                              </p:par>
                            </p:childTnLst>
                          </p:cTn>
                        </p:par>
                        <p:par>
                          <p:cTn id="20" fill="hold">
                            <p:stCondLst>
                              <p:cond delay="2000"/>
                            </p:stCondLst>
                            <p:childTnLst>
                              <p:par>
                                <p:cTn id="21" presetID="10" presetClass="entr" presetSubtype="0" fill="hold" nodeType="afterEffect">
                                  <p:stCondLst>
                                    <p:cond delay="0"/>
                                  </p:stCondLst>
                                  <p:childTnLst>
                                    <p:set>
                                      <p:cBhvr>
                                        <p:cTn id="22" dur="1" fill="hold">
                                          <p:stCondLst>
                                            <p:cond delay="0"/>
                                          </p:stCondLst>
                                        </p:cTn>
                                        <p:tgtEl>
                                          <p:spTgt spid="36"/>
                                        </p:tgtEl>
                                        <p:attrNameLst>
                                          <p:attrName>style.visibility</p:attrName>
                                        </p:attrNameLst>
                                      </p:cBhvr>
                                      <p:to>
                                        <p:strVal val="visible"/>
                                      </p:to>
                                    </p:set>
                                    <p:animEffect transition="in" filter="fade">
                                      <p:cBhvr>
                                        <p:cTn id="23" dur="4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22" grpId="0"/>
      <p:bldP spid="27" grpId="0"/>
      <p:bldP spid="3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grpSp>
        <p:nvGrpSpPr>
          <p:cNvPr id="5" name="Group 5"/>
          <p:cNvGrpSpPr/>
          <p:nvPr/>
        </p:nvGrpSpPr>
        <p:grpSpPr>
          <a:xfrm>
            <a:off x="577215" y="277178"/>
            <a:ext cx="6481351" cy="668178"/>
            <a:chOff x="577215" y="277178"/>
            <a:chExt cx="6481351" cy="668178"/>
          </a:xfrm>
        </p:grpSpPr>
        <p:sp>
          <p:nvSpPr>
            <p:cNvPr id="3" name="TextBox 3"/>
            <p:cNvSpPr txBox="1"/>
            <p:nvPr/>
          </p:nvSpPr>
          <p:spPr>
            <a:xfrm>
              <a:off x="577215" y="277178"/>
              <a:ext cx="3510251" cy="518160"/>
            </a:xfrm>
            <a:prstGeom prst="rect">
              <a:avLst/>
            </a:prstGeom>
            <a:noFill/>
            <a:ln>
              <a:noFill/>
            </a:ln>
          </p:spPr>
          <p:txBody>
            <a:bodyPr wrap="none" lIns="0" tIns="0" rIns="0" bIns="0" anchor="t" anchorCtr="0">
              <a:spAutoFit/>
            </a:bodyPr>
            <a:lstStyle/>
            <a:p>
              <a:pPr algn="l"/>
              <a:r>
                <a:rPr lang="zh-CN" sz="2550" b="1" dirty="0">
                  <a:solidFill>
                    <a:srgbClr val="163A5F"/>
                  </a:solidFill>
                  <a:latin typeface="Segoe UI" panose="020B0502040204020203"/>
                  <a:ea typeface="微软雅黑" panose="020B0503020204020204" charset="-122"/>
                  <a:cs typeface="Segoe UI" panose="020B0502040204020203"/>
                </a:rPr>
                <a:t>Modeling Foundation</a:t>
              </a:r>
              <a:endParaRPr lang="zh-CN" sz="2550" b="1" dirty="0">
                <a:solidFill>
                  <a:srgbClr val="163A5F"/>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595312" y="716756"/>
              <a:ext cx="6463254" cy="228600"/>
            </a:xfrm>
            <a:prstGeom prst="rect">
              <a:avLst/>
            </a:prstGeom>
            <a:noFill/>
            <a:ln>
              <a:noFill/>
            </a:ln>
          </p:spPr>
          <p:txBody>
            <a:bodyPr wrap="none" lIns="0" tIns="0" rIns="0" bIns="0" anchor="t" anchorCtr="0">
              <a:spAutoFit/>
            </a:bodyPr>
            <a:lstStyle/>
            <a:p>
              <a:pPr algn="l"/>
              <a:r>
                <a:rPr lang="zh-CN" sz="1125" b="1" dirty="0">
                  <a:solidFill>
                    <a:srgbClr val="5B7FA3"/>
                  </a:solidFill>
                  <a:latin typeface="Segoe UI" panose="020B0502040204020203"/>
                  <a:ea typeface="微软雅黑" panose="020B0503020204020204" charset="-122"/>
                  <a:cs typeface="Segoe UI" panose="020B0502040204020203"/>
                </a:rPr>
                <a:t>OPINION DYNAMICS: WHEN DOES A SHARED MODEL PRODUCE CONVERGENCE OR DIVERGENCE?</a:t>
              </a:r>
              <a:endParaRPr lang="zh-CN" sz="1125" b="1" dirty="0">
                <a:solidFill>
                  <a:srgbClr val="5B7FA3"/>
                </a:solidFill>
                <a:latin typeface="Segoe UI" panose="020B0502040204020203"/>
                <a:ea typeface="微软雅黑" panose="020B0503020204020204" charset="-122"/>
                <a:cs typeface="Segoe UI" panose="020B0502040204020203"/>
              </a:endParaRPr>
            </a:p>
          </p:txBody>
        </p:sp>
      </p:grpSp>
      <p:grpSp>
        <p:nvGrpSpPr>
          <p:cNvPr id="12" name="Group 12"/>
          <p:cNvGrpSpPr/>
          <p:nvPr/>
        </p:nvGrpSpPr>
        <p:grpSpPr>
          <a:xfrm>
            <a:off x="609600" y="1181100"/>
            <a:ext cx="3352800" cy="2667000"/>
            <a:chOff x="609600" y="1181100"/>
            <a:chExt cx="3352800" cy="2667000"/>
          </a:xfrm>
        </p:grpSpPr>
        <p:sp>
          <p:nvSpPr>
            <p:cNvPr id="6" name="Rectangle 6"/>
            <p:cNvSpPr/>
            <p:nvPr/>
          </p:nvSpPr>
          <p:spPr>
            <a:xfrm>
              <a:off x="609600" y="1181100"/>
              <a:ext cx="3352800" cy="2667000"/>
            </a:xfrm>
            <a:prstGeom prst="rect">
              <a:avLst/>
            </a:prstGeom>
            <a:solidFill>
              <a:srgbClr val="FFFFFF"/>
            </a:solidFill>
            <a:ln w="9525">
              <a:solidFill>
                <a:srgbClr val="CCD6E1"/>
              </a:solidFill>
            </a:ln>
          </p:spPr>
        </p:sp>
        <p:sp>
          <p:nvSpPr>
            <p:cNvPr id="7" name="TextBox 7"/>
            <p:cNvSpPr txBox="1"/>
            <p:nvPr/>
          </p:nvSpPr>
          <p:spPr>
            <a:xfrm>
              <a:off x="862012" y="1459706"/>
              <a:ext cx="201847" cy="228600"/>
            </a:xfrm>
            <a:prstGeom prst="rect">
              <a:avLst/>
            </a:prstGeom>
            <a:noFill/>
            <a:ln>
              <a:noFill/>
            </a:ln>
          </p:spPr>
          <p:txBody>
            <a:bodyPr wrap="none" lIns="0" tIns="0" rIns="0" bIns="0" anchor="t" anchorCtr="0">
              <a:spAutoFit/>
            </a:bodyPr>
            <a:lstStyle/>
            <a:p>
              <a:pPr algn="l"/>
              <a:r>
                <a:rPr lang="zh-CN" sz="1125" b="1" dirty="0">
                  <a:solidFill>
                    <a:srgbClr val="5B7FA3"/>
                  </a:solidFill>
                  <a:latin typeface="Segoe UI" panose="020B0502040204020203"/>
                  <a:ea typeface="微软雅黑" panose="020B0503020204020204" charset="-122"/>
                  <a:cs typeface="Segoe UI" panose="020B0502040204020203"/>
                </a:rPr>
                <a:t>01</a:t>
              </a:r>
              <a:endParaRPr lang="zh-CN" sz="1125" b="1" dirty="0">
                <a:solidFill>
                  <a:srgbClr val="5B7FA3"/>
                </a:solidFill>
                <a:latin typeface="Segoe UI" panose="020B0502040204020203"/>
                <a:ea typeface="微软雅黑" panose="020B0503020204020204" charset="-122"/>
                <a:cs typeface="Segoe UI" panose="020B0502040204020203"/>
              </a:endParaRPr>
            </a:p>
          </p:txBody>
        </p:sp>
        <p:sp>
          <p:nvSpPr>
            <p:cNvPr id="8" name="TextBox 8"/>
            <p:cNvSpPr txBox="1"/>
            <p:nvPr/>
          </p:nvSpPr>
          <p:spPr>
            <a:xfrm>
              <a:off x="852488" y="1769269"/>
              <a:ext cx="1058376" cy="381000"/>
            </a:xfrm>
            <a:prstGeom prst="rect">
              <a:avLst/>
            </a:prstGeom>
            <a:noFill/>
            <a:ln>
              <a:noFill/>
            </a:ln>
          </p:spPr>
          <p:txBody>
            <a:bodyPr wrap="none" lIns="0" tIns="0" rIns="0" bIns="0" anchor="t" anchorCtr="0">
              <a:spAutoFit/>
            </a:bodyPr>
            <a:lstStyle/>
            <a:p>
              <a:pPr algn="l"/>
              <a:r>
                <a:rPr lang="zh-CN" sz="1875" b="1" dirty="0">
                  <a:solidFill>
                    <a:srgbClr val="163A5F"/>
                  </a:solidFill>
                  <a:latin typeface="Segoe UI" panose="020B0502040204020203"/>
                  <a:ea typeface="微软雅黑" panose="020B0503020204020204" charset="-122"/>
                  <a:cs typeface="Segoe UI" panose="020B0502040204020203"/>
                </a:rPr>
                <a:t>DeGroot</a:t>
              </a:r>
              <a:endParaRPr lang="zh-CN" sz="1875" b="1" dirty="0">
                <a:solidFill>
                  <a:srgbClr val="163A5F"/>
                </a:solidFill>
                <a:latin typeface="Segoe UI" panose="020B0502040204020203"/>
                <a:ea typeface="微软雅黑" panose="020B0503020204020204" charset="-122"/>
                <a:cs typeface="Segoe UI" panose="020B0502040204020203"/>
              </a:endParaRPr>
            </a:p>
          </p:txBody>
        </p:sp>
        <p:sp>
          <p:nvSpPr>
            <p:cNvPr id="9" name="TextBox 9"/>
            <p:cNvSpPr txBox="1"/>
            <p:nvPr/>
          </p:nvSpPr>
          <p:spPr>
            <a:xfrm>
              <a:off x="858202" y="2255996"/>
              <a:ext cx="2732722" cy="556260"/>
            </a:xfrm>
            <a:prstGeom prst="rect">
              <a:avLst/>
            </a:prstGeom>
            <a:noFill/>
            <a:ln>
              <a:noFill/>
            </a:ln>
          </p:spPr>
          <p:txBody>
            <a:bodyPr wrap="square" lIns="0" tIns="0" rIns="0" bIns="0" anchor="t" anchorCtr="0"/>
            <a:lstStyle/>
            <a:p>
              <a:pPr algn="l">
                <a:lnSpc>
                  <a:spcPts val="2100"/>
                </a:lnSpc>
              </a:pPr>
              <a:r>
                <a:rPr lang="zh-CN" sz="1425" dirty="0">
                  <a:solidFill>
                    <a:srgbClr val="1F2A37"/>
                  </a:solidFill>
                  <a:latin typeface="Segoe UI" panose="020B0502040204020203"/>
                  <a:ea typeface="微软雅黑" panose="020B0503020204020204" charset="-122"/>
                  <a:cs typeface="Segoe UI" panose="020B0502040204020203"/>
                </a:rPr>
                <a:t>Weighted averaging of others’ </a:t>
              </a:r>
              <a:r>
                <a:rPr lang="zh-CN" sz="1425" dirty="0">
                  <a:solidFill>
                    <a:srgbClr val="1F2A37"/>
                  </a:solidFill>
                  <a:latin typeface="Segoe UI" panose="020B0502040204020203"/>
                  <a:ea typeface="微软雅黑" panose="020B0503020204020204" charset="-122"/>
                  <a:cs typeface="Segoe UI" panose="020B0502040204020203"/>
                </a:rPr>
                <a:t>opinions.</a:t>
              </a:r>
              <a:endParaRPr lang="zh-CN" sz="1425" dirty="0">
                <a:solidFill>
                  <a:srgbClr val="1F2A37"/>
                </a:solidFill>
                <a:latin typeface="Segoe UI" panose="020B0502040204020203"/>
                <a:ea typeface="微软雅黑" panose="020B0503020204020204" charset="-122"/>
                <a:cs typeface="Segoe UI" panose="020B0502040204020203"/>
              </a:endParaRPr>
            </a:p>
          </p:txBody>
        </p:sp>
        <p:sp>
          <p:nvSpPr>
            <p:cNvPr id="10" name="Line 10"/>
            <p:cNvSpPr/>
            <p:nvPr/>
          </p:nvSpPr>
          <p:spPr>
            <a:xfrm>
              <a:off x="876300" y="3009900"/>
              <a:ext cx="2819400" cy="9525"/>
            </a:xfrm>
            <a:custGeom>
              <a:avLst/>
              <a:gdLst/>
              <a:ahLst/>
              <a:cxnLst/>
              <a:rect l="l" t="t" r="r" b="b"/>
              <a:pathLst>
                <a:path w="2819400" h="9525">
                  <a:moveTo>
                    <a:pt x="0" y="0"/>
                  </a:moveTo>
                  <a:lnTo>
                    <a:pt x="2819400" y="0"/>
                  </a:lnTo>
                </a:path>
              </a:pathLst>
            </a:custGeom>
            <a:noFill/>
            <a:ln w="9525">
              <a:solidFill>
                <a:srgbClr val="DDE5ED"/>
              </a:solidFill>
            </a:ln>
          </p:spPr>
        </p:sp>
        <p:sp>
          <p:nvSpPr>
            <p:cNvPr id="11" name="TextBox 11"/>
            <p:cNvSpPr txBox="1"/>
            <p:nvPr/>
          </p:nvSpPr>
          <p:spPr>
            <a:xfrm>
              <a:off x="860108" y="3234214"/>
              <a:ext cx="2638811" cy="259080"/>
            </a:xfrm>
            <a:prstGeom prst="rect">
              <a:avLst/>
            </a:prstGeom>
            <a:noFill/>
            <a:ln>
              <a:noFill/>
            </a:ln>
          </p:spPr>
          <p:txBody>
            <a:bodyPr wrap="none" lIns="0" tIns="0" rIns="0" bIns="0" anchor="t" anchorCtr="0">
              <a:spAutoFit/>
            </a:bodyPr>
            <a:lstStyle/>
            <a:p>
              <a:pPr algn="l"/>
              <a:r>
                <a:rPr lang="zh-CN" sz="1275" b="1" dirty="0">
                  <a:solidFill>
                    <a:srgbClr val="526273"/>
                  </a:solidFill>
                  <a:latin typeface="Segoe UI" panose="020B0502040204020203"/>
                  <a:ea typeface="微软雅黑" panose="020B0503020204020204" charset="-122"/>
                  <a:cs typeface="Segoe UI" panose="020B0502040204020203"/>
                </a:rPr>
                <a:t>Typical outcome: convergence</a:t>
              </a:r>
              <a:endParaRPr lang="zh-CN" sz="1275" b="1" dirty="0">
                <a:solidFill>
                  <a:srgbClr val="526273"/>
                </a:solidFill>
                <a:latin typeface="Segoe UI" panose="020B0502040204020203"/>
                <a:ea typeface="微软雅黑" panose="020B0503020204020204" charset="-122"/>
                <a:cs typeface="Segoe UI" panose="020B0502040204020203"/>
              </a:endParaRPr>
            </a:p>
          </p:txBody>
        </p:sp>
      </p:grpSp>
      <p:grpSp>
        <p:nvGrpSpPr>
          <p:cNvPr id="19" name="Group 19"/>
          <p:cNvGrpSpPr/>
          <p:nvPr/>
        </p:nvGrpSpPr>
        <p:grpSpPr>
          <a:xfrm>
            <a:off x="4419600" y="1181100"/>
            <a:ext cx="3415960" cy="2667000"/>
            <a:chOff x="4419600" y="1181100"/>
            <a:chExt cx="3415960" cy="2667000"/>
          </a:xfrm>
        </p:grpSpPr>
        <p:sp>
          <p:nvSpPr>
            <p:cNvPr id="13" name="Rectangle 13"/>
            <p:cNvSpPr/>
            <p:nvPr/>
          </p:nvSpPr>
          <p:spPr>
            <a:xfrm>
              <a:off x="4419600" y="1181100"/>
              <a:ext cx="3352800" cy="2667000"/>
            </a:xfrm>
            <a:prstGeom prst="rect">
              <a:avLst/>
            </a:prstGeom>
            <a:solidFill>
              <a:srgbClr val="FFFFFF"/>
            </a:solidFill>
            <a:ln w="9525">
              <a:solidFill>
                <a:srgbClr val="CCD6E1"/>
              </a:solidFill>
            </a:ln>
          </p:spPr>
        </p:sp>
        <p:sp>
          <p:nvSpPr>
            <p:cNvPr id="14" name="TextBox 14"/>
            <p:cNvSpPr txBox="1"/>
            <p:nvPr/>
          </p:nvSpPr>
          <p:spPr>
            <a:xfrm>
              <a:off x="4672012" y="1459706"/>
              <a:ext cx="201847" cy="228600"/>
            </a:xfrm>
            <a:prstGeom prst="rect">
              <a:avLst/>
            </a:prstGeom>
            <a:noFill/>
            <a:ln>
              <a:noFill/>
            </a:ln>
          </p:spPr>
          <p:txBody>
            <a:bodyPr wrap="none" lIns="0" tIns="0" rIns="0" bIns="0" anchor="t" anchorCtr="0">
              <a:spAutoFit/>
            </a:bodyPr>
            <a:lstStyle/>
            <a:p>
              <a:pPr algn="l"/>
              <a:r>
                <a:rPr lang="zh-CN" sz="1125" b="1" dirty="0">
                  <a:solidFill>
                    <a:srgbClr val="5B7FA3"/>
                  </a:solidFill>
                  <a:latin typeface="Segoe UI" panose="020B0502040204020203"/>
                  <a:ea typeface="微软雅黑" panose="020B0503020204020204" charset="-122"/>
                  <a:cs typeface="Segoe UI" panose="020B0502040204020203"/>
                </a:rPr>
                <a:t>02</a:t>
              </a:r>
              <a:endParaRPr lang="zh-CN" sz="1125" b="1" dirty="0">
                <a:solidFill>
                  <a:srgbClr val="5B7FA3"/>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4662488" y="1769269"/>
              <a:ext cx="2226647" cy="381000"/>
            </a:xfrm>
            <a:prstGeom prst="rect">
              <a:avLst/>
            </a:prstGeom>
            <a:noFill/>
            <a:ln>
              <a:noFill/>
            </a:ln>
          </p:spPr>
          <p:txBody>
            <a:bodyPr wrap="none" lIns="0" tIns="0" rIns="0" bIns="0" anchor="t" anchorCtr="0">
              <a:spAutoFit/>
            </a:bodyPr>
            <a:lstStyle/>
            <a:p>
              <a:pPr algn="l"/>
              <a:r>
                <a:rPr lang="zh-CN" sz="1875" b="1" dirty="0">
                  <a:solidFill>
                    <a:srgbClr val="163A5F"/>
                  </a:solidFill>
                  <a:latin typeface="Segoe UI" panose="020B0502040204020203"/>
                  <a:ea typeface="微软雅黑" panose="020B0503020204020204" charset="-122"/>
                  <a:cs typeface="Segoe UI" panose="020B0502040204020203"/>
                </a:rPr>
                <a:t>Friedkin–Johnsen</a:t>
              </a:r>
              <a:endParaRPr lang="zh-CN" sz="1875" b="1" dirty="0">
                <a:solidFill>
                  <a:srgbClr val="163A5F"/>
                </a:solidFill>
                <a:latin typeface="Segoe UI" panose="020B0502040204020203"/>
                <a:ea typeface="微软雅黑" panose="020B0503020204020204" charset="-122"/>
                <a:cs typeface="Segoe UI" panose="020B0502040204020203"/>
              </a:endParaRPr>
            </a:p>
          </p:txBody>
        </p:sp>
        <p:sp>
          <p:nvSpPr>
            <p:cNvPr id="16" name="TextBox 16"/>
            <p:cNvSpPr txBox="1"/>
            <p:nvPr/>
          </p:nvSpPr>
          <p:spPr>
            <a:xfrm>
              <a:off x="4668202" y="2255996"/>
              <a:ext cx="2633186" cy="556260"/>
            </a:xfrm>
            <a:prstGeom prst="rect">
              <a:avLst/>
            </a:prstGeom>
            <a:noFill/>
            <a:ln>
              <a:noFill/>
            </a:ln>
          </p:spPr>
          <p:txBody>
            <a:bodyPr wrap="square" lIns="0" tIns="0" rIns="0" bIns="0" anchor="t" anchorCtr="0"/>
            <a:lstStyle/>
            <a:p>
              <a:pPr algn="l">
                <a:lnSpc>
                  <a:spcPts val="2100"/>
                </a:lnSpc>
              </a:pPr>
              <a:r>
                <a:rPr lang="zh-CN" sz="1425" dirty="0">
                  <a:solidFill>
                    <a:srgbClr val="1F2A37"/>
                  </a:solidFill>
                  <a:latin typeface="Segoe UI" panose="020B0502040204020203"/>
                  <a:ea typeface="微软雅黑" panose="020B0503020204020204" charset="-122"/>
                  <a:cs typeface="Segoe UI" panose="020B0502040204020203"/>
                </a:rPr>
                <a:t>Updating remains anchored to </a:t>
              </a:r>
              <a:r>
                <a:rPr lang="zh-CN" sz="1425" dirty="0">
                  <a:solidFill>
                    <a:srgbClr val="1F2A37"/>
                  </a:solidFill>
                  <a:latin typeface="Segoe UI" panose="020B0502040204020203"/>
                  <a:ea typeface="微软雅黑" panose="020B0503020204020204" charset="-122"/>
                  <a:cs typeface="Segoe UI" panose="020B0502040204020203"/>
                </a:rPr>
                <a:t>initial positions.</a:t>
              </a:r>
              <a:endParaRPr lang="zh-CN" sz="1425" dirty="0">
                <a:solidFill>
                  <a:srgbClr val="1F2A37"/>
                </a:solidFill>
                <a:latin typeface="Segoe UI" panose="020B0502040204020203"/>
                <a:ea typeface="微软雅黑" panose="020B0503020204020204" charset="-122"/>
                <a:cs typeface="Segoe UI" panose="020B0502040204020203"/>
              </a:endParaRPr>
            </a:p>
          </p:txBody>
        </p:sp>
        <p:sp>
          <p:nvSpPr>
            <p:cNvPr id="17" name="Line 17"/>
            <p:cNvSpPr/>
            <p:nvPr/>
          </p:nvSpPr>
          <p:spPr>
            <a:xfrm>
              <a:off x="4686300" y="3009900"/>
              <a:ext cx="2819400" cy="9525"/>
            </a:xfrm>
            <a:custGeom>
              <a:avLst/>
              <a:gdLst/>
              <a:ahLst/>
              <a:cxnLst/>
              <a:rect l="l" t="t" r="r" b="b"/>
              <a:pathLst>
                <a:path w="2819400" h="9525">
                  <a:moveTo>
                    <a:pt x="0" y="0"/>
                  </a:moveTo>
                  <a:lnTo>
                    <a:pt x="2819400" y="0"/>
                  </a:lnTo>
                </a:path>
              </a:pathLst>
            </a:custGeom>
            <a:noFill/>
            <a:ln w="9525">
              <a:solidFill>
                <a:srgbClr val="DDE5ED"/>
              </a:solidFill>
            </a:ln>
          </p:spPr>
        </p:sp>
        <p:sp>
          <p:nvSpPr>
            <p:cNvPr id="18" name="TextBox 18"/>
            <p:cNvSpPr txBox="1"/>
            <p:nvPr/>
          </p:nvSpPr>
          <p:spPr>
            <a:xfrm>
              <a:off x="4670108" y="3234214"/>
              <a:ext cx="3165452" cy="259080"/>
            </a:xfrm>
            <a:prstGeom prst="rect">
              <a:avLst/>
            </a:prstGeom>
            <a:noFill/>
            <a:ln>
              <a:noFill/>
            </a:ln>
          </p:spPr>
          <p:txBody>
            <a:bodyPr wrap="none" lIns="0" tIns="0" rIns="0" bIns="0" anchor="t" anchorCtr="0">
              <a:spAutoFit/>
            </a:bodyPr>
            <a:lstStyle/>
            <a:p>
              <a:pPr algn="l"/>
              <a:r>
                <a:rPr lang="zh-CN" sz="1275" b="1" dirty="0">
                  <a:solidFill>
                    <a:srgbClr val="526273"/>
                  </a:solidFill>
                  <a:latin typeface="Segoe UI" panose="020B0502040204020203"/>
                  <a:ea typeface="微软雅黑" panose="020B0503020204020204" charset="-122"/>
                  <a:cs typeface="Segoe UI" panose="020B0502040204020203"/>
                </a:rPr>
                <a:t>Outcome: persistent heterogeneity</a:t>
              </a:r>
              <a:endParaRPr lang="zh-CN" sz="1275" b="1" dirty="0">
                <a:solidFill>
                  <a:srgbClr val="526273"/>
                </a:solidFill>
                <a:latin typeface="Segoe UI" panose="020B0502040204020203"/>
                <a:ea typeface="微软雅黑" panose="020B0503020204020204" charset="-122"/>
                <a:cs typeface="Segoe UI" panose="020B0502040204020203"/>
              </a:endParaRPr>
            </a:p>
          </p:txBody>
        </p:sp>
      </p:grpSp>
      <p:grpSp>
        <p:nvGrpSpPr>
          <p:cNvPr id="26" name="Group 26"/>
          <p:cNvGrpSpPr/>
          <p:nvPr/>
        </p:nvGrpSpPr>
        <p:grpSpPr>
          <a:xfrm>
            <a:off x="8229600" y="1181100"/>
            <a:ext cx="3352800" cy="2667000"/>
            <a:chOff x="8229600" y="1181100"/>
            <a:chExt cx="3352800" cy="2667000"/>
          </a:xfrm>
        </p:grpSpPr>
        <p:sp>
          <p:nvSpPr>
            <p:cNvPr id="20" name="Rectangle 20"/>
            <p:cNvSpPr/>
            <p:nvPr/>
          </p:nvSpPr>
          <p:spPr>
            <a:xfrm>
              <a:off x="8229600" y="1181100"/>
              <a:ext cx="3352800" cy="2667000"/>
            </a:xfrm>
            <a:prstGeom prst="rect">
              <a:avLst/>
            </a:prstGeom>
            <a:solidFill>
              <a:srgbClr val="FFFFFF"/>
            </a:solidFill>
            <a:ln w="9525">
              <a:solidFill>
                <a:srgbClr val="CCD6E1"/>
              </a:solidFill>
            </a:ln>
          </p:spPr>
        </p:sp>
        <p:sp>
          <p:nvSpPr>
            <p:cNvPr id="21" name="TextBox 21"/>
            <p:cNvSpPr txBox="1"/>
            <p:nvPr/>
          </p:nvSpPr>
          <p:spPr>
            <a:xfrm>
              <a:off x="8482012" y="1459706"/>
              <a:ext cx="201847" cy="228600"/>
            </a:xfrm>
            <a:prstGeom prst="rect">
              <a:avLst/>
            </a:prstGeom>
            <a:noFill/>
            <a:ln>
              <a:noFill/>
            </a:ln>
          </p:spPr>
          <p:txBody>
            <a:bodyPr wrap="none" lIns="0" tIns="0" rIns="0" bIns="0" anchor="t" anchorCtr="0">
              <a:spAutoFit/>
            </a:bodyPr>
            <a:lstStyle/>
            <a:p>
              <a:pPr algn="l"/>
              <a:r>
                <a:rPr lang="zh-CN" sz="1125" b="1" dirty="0">
                  <a:solidFill>
                    <a:srgbClr val="5B7FA3"/>
                  </a:solidFill>
                  <a:latin typeface="Segoe UI" panose="020B0502040204020203"/>
                  <a:ea typeface="微软雅黑" panose="020B0503020204020204" charset="-122"/>
                  <a:cs typeface="Segoe UI" panose="020B0502040204020203"/>
                </a:rPr>
                <a:t>03</a:t>
              </a:r>
              <a:endParaRPr lang="zh-CN" sz="1125" b="1" dirty="0">
                <a:solidFill>
                  <a:srgbClr val="5B7FA3"/>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8472488" y="1769269"/>
              <a:ext cx="2489180" cy="381000"/>
            </a:xfrm>
            <a:prstGeom prst="rect">
              <a:avLst/>
            </a:prstGeom>
            <a:noFill/>
            <a:ln>
              <a:noFill/>
            </a:ln>
          </p:spPr>
          <p:txBody>
            <a:bodyPr wrap="none" lIns="0" tIns="0" rIns="0" bIns="0" anchor="t" anchorCtr="0">
              <a:spAutoFit/>
            </a:bodyPr>
            <a:lstStyle/>
            <a:p>
              <a:pPr algn="l"/>
              <a:r>
                <a:rPr lang="zh-CN" sz="1875" b="1" dirty="0">
                  <a:solidFill>
                    <a:srgbClr val="163A5F"/>
                  </a:solidFill>
                  <a:latin typeface="Segoe UI" panose="020B0502040204020203"/>
                  <a:ea typeface="微软雅黑" panose="020B0503020204020204" charset="-122"/>
                  <a:cs typeface="Segoe UI" panose="020B0502040204020203"/>
                </a:rPr>
                <a:t>Hegselmann–Krause</a:t>
              </a:r>
              <a:endParaRPr lang="zh-CN" sz="1875" b="1" dirty="0">
                <a:solidFill>
                  <a:srgbClr val="163A5F"/>
                </a:solidFill>
                <a:latin typeface="Segoe UI" panose="020B0502040204020203"/>
                <a:ea typeface="微软雅黑" panose="020B0503020204020204" charset="-122"/>
                <a:cs typeface="Segoe UI" panose="020B0502040204020203"/>
              </a:endParaRPr>
            </a:p>
          </p:txBody>
        </p:sp>
        <p:sp>
          <p:nvSpPr>
            <p:cNvPr id="23" name="TextBox 23"/>
            <p:cNvSpPr txBox="1"/>
            <p:nvPr/>
          </p:nvSpPr>
          <p:spPr>
            <a:xfrm>
              <a:off x="8478202" y="2255996"/>
              <a:ext cx="2895600" cy="556260"/>
            </a:xfrm>
            <a:prstGeom prst="rect">
              <a:avLst/>
            </a:prstGeom>
            <a:noFill/>
            <a:ln>
              <a:noFill/>
            </a:ln>
          </p:spPr>
          <p:txBody>
            <a:bodyPr wrap="square" lIns="0" tIns="0" rIns="0" bIns="0" anchor="t" anchorCtr="0"/>
            <a:lstStyle/>
            <a:p>
              <a:pPr algn="l">
                <a:lnSpc>
                  <a:spcPts val="2100"/>
                </a:lnSpc>
              </a:pPr>
              <a:r>
                <a:rPr lang="zh-CN" sz="1425" dirty="0">
                  <a:solidFill>
                    <a:srgbClr val="1F2A37"/>
                  </a:solidFill>
                  <a:latin typeface="Segoe UI" panose="020B0502040204020203"/>
                  <a:ea typeface="微软雅黑" panose="020B0503020204020204" charset="-122"/>
                  <a:cs typeface="Segoe UI" panose="020B0502040204020203"/>
                </a:rPr>
                <a:t>Bounded confidence: accept only </a:t>
              </a:r>
              <a:r>
                <a:rPr lang="zh-CN" sz="1425" dirty="0">
                  <a:solidFill>
                    <a:srgbClr val="1F2A37"/>
                  </a:solidFill>
                  <a:latin typeface="Segoe UI" panose="020B0502040204020203"/>
                  <a:ea typeface="微软雅黑" panose="020B0503020204020204" charset="-122"/>
                  <a:cs typeface="Segoe UI" panose="020B0502040204020203"/>
                </a:rPr>
                <a:t>sufficiently close information.</a:t>
              </a:r>
              <a:endParaRPr lang="zh-CN" sz="1425" dirty="0">
                <a:solidFill>
                  <a:srgbClr val="1F2A37"/>
                </a:solidFill>
                <a:latin typeface="Segoe UI" panose="020B0502040204020203"/>
                <a:ea typeface="微软雅黑" panose="020B0503020204020204" charset="-122"/>
                <a:cs typeface="Segoe UI" panose="020B0502040204020203"/>
              </a:endParaRPr>
            </a:p>
          </p:txBody>
        </p:sp>
        <p:sp>
          <p:nvSpPr>
            <p:cNvPr id="24" name="Line 24"/>
            <p:cNvSpPr/>
            <p:nvPr/>
          </p:nvSpPr>
          <p:spPr>
            <a:xfrm>
              <a:off x="8496300" y="3009900"/>
              <a:ext cx="2819400" cy="9525"/>
            </a:xfrm>
            <a:custGeom>
              <a:avLst/>
              <a:gdLst/>
              <a:ahLst/>
              <a:cxnLst/>
              <a:rect l="l" t="t" r="r" b="b"/>
              <a:pathLst>
                <a:path w="2819400" h="9525">
                  <a:moveTo>
                    <a:pt x="0" y="0"/>
                  </a:moveTo>
                  <a:lnTo>
                    <a:pt x="2819400" y="0"/>
                  </a:lnTo>
                </a:path>
              </a:pathLst>
            </a:custGeom>
            <a:noFill/>
            <a:ln w="9525">
              <a:solidFill>
                <a:srgbClr val="DDE5ED"/>
              </a:solidFill>
            </a:ln>
          </p:spPr>
        </p:sp>
        <p:sp>
          <p:nvSpPr>
            <p:cNvPr id="25" name="TextBox 25"/>
            <p:cNvSpPr txBox="1"/>
            <p:nvPr/>
          </p:nvSpPr>
          <p:spPr>
            <a:xfrm>
              <a:off x="8480108" y="3234214"/>
              <a:ext cx="2424584" cy="259080"/>
            </a:xfrm>
            <a:prstGeom prst="rect">
              <a:avLst/>
            </a:prstGeom>
            <a:noFill/>
            <a:ln>
              <a:noFill/>
            </a:ln>
          </p:spPr>
          <p:txBody>
            <a:bodyPr wrap="none" lIns="0" tIns="0" rIns="0" bIns="0" anchor="t" anchorCtr="0">
              <a:spAutoFit/>
            </a:bodyPr>
            <a:lstStyle/>
            <a:p>
              <a:pPr algn="l"/>
              <a:r>
                <a:rPr lang="zh-CN" sz="1275" b="1" dirty="0">
                  <a:solidFill>
                    <a:srgbClr val="526273"/>
                  </a:solidFill>
                  <a:latin typeface="Segoe UI" panose="020B0502040204020203"/>
                  <a:ea typeface="微软雅黑" panose="020B0503020204020204" charset="-122"/>
                  <a:cs typeface="Segoe UI" panose="020B0502040204020203"/>
                </a:rPr>
                <a:t>Outcome: multiple clusters</a:t>
              </a:r>
              <a:endParaRPr lang="zh-CN" sz="1275" b="1" dirty="0">
                <a:solidFill>
                  <a:srgbClr val="526273"/>
                </a:solidFill>
                <a:latin typeface="Segoe UI" panose="020B0502040204020203"/>
                <a:ea typeface="微软雅黑" panose="020B0503020204020204" charset="-122"/>
                <a:cs typeface="Segoe UI" panose="020B0502040204020203"/>
              </a:endParaRPr>
            </a:p>
          </p:txBody>
        </p:sp>
      </p:grpSp>
      <p:grpSp>
        <p:nvGrpSpPr>
          <p:cNvPr id="35" name="Group 35"/>
          <p:cNvGrpSpPr/>
          <p:nvPr/>
        </p:nvGrpSpPr>
        <p:grpSpPr>
          <a:xfrm>
            <a:off x="609600" y="4229100"/>
            <a:ext cx="10972800" cy="1562100"/>
            <a:chOff x="609600" y="4229100"/>
            <a:chExt cx="10972800" cy="1562100"/>
          </a:xfrm>
        </p:grpSpPr>
        <p:sp>
          <p:nvSpPr>
            <p:cNvPr id="27" name="Rectangle 27"/>
            <p:cNvSpPr/>
            <p:nvPr/>
          </p:nvSpPr>
          <p:spPr>
            <a:xfrm>
              <a:off x="609600" y="4229100"/>
              <a:ext cx="10972800" cy="1562100"/>
            </a:xfrm>
            <a:prstGeom prst="rect">
              <a:avLst/>
            </a:prstGeom>
            <a:solidFill>
              <a:srgbClr val="EAF0F7"/>
            </a:solidFill>
            <a:ln>
              <a:noFill/>
            </a:ln>
          </p:spPr>
        </p:sp>
        <p:grpSp>
          <p:nvGrpSpPr>
            <p:cNvPr id="32" name="Group 32"/>
            <p:cNvGrpSpPr/>
            <p:nvPr/>
          </p:nvGrpSpPr>
          <p:grpSpPr>
            <a:xfrm>
              <a:off x="928688" y="4622800"/>
              <a:ext cx="314325" cy="296863"/>
              <a:chOff x="928688" y="4622800"/>
              <a:chExt cx="314325" cy="296863"/>
            </a:xfrm>
          </p:grpSpPr>
          <p:sp>
            <p:nvSpPr>
              <p:cNvPr id="28" name="Freeform 28"/>
              <p:cNvSpPr/>
              <p:nvPr/>
            </p:nvSpPr>
            <p:spPr>
              <a:xfrm>
                <a:off x="928688" y="4622800"/>
                <a:ext cx="314325" cy="296863"/>
              </a:xfrm>
              <a:custGeom>
                <a:avLst/>
                <a:gdLst/>
                <a:ahLst/>
                <a:cxnLst/>
                <a:rect l="l" t="t" r="r" b="b"/>
                <a:pathLst>
                  <a:path w="314325" h="296863">
                    <a:moveTo>
                      <a:pt x="261938" y="0"/>
                    </a:moveTo>
                    <a:cubicBezTo>
                      <a:pt x="290870" y="0"/>
                      <a:pt x="314325" y="23455"/>
                      <a:pt x="314325" y="52388"/>
                    </a:cubicBezTo>
                    <a:lnTo>
                      <a:pt x="314325" y="192088"/>
                    </a:lnTo>
                    <a:cubicBezTo>
                      <a:pt x="314325" y="221020"/>
                      <a:pt x="290870" y="244475"/>
                      <a:pt x="261938" y="244475"/>
                    </a:cubicBezTo>
                    <a:lnTo>
                      <a:pt x="174625" y="244475"/>
                    </a:lnTo>
                    <a:lnTo>
                      <a:pt x="87313" y="296863"/>
                    </a:lnTo>
                    <a:lnTo>
                      <a:pt x="87313" y="244475"/>
                    </a:lnTo>
                    <a:lnTo>
                      <a:pt x="52388" y="244475"/>
                    </a:lnTo>
                    <a:cubicBezTo>
                      <a:pt x="23455" y="244475"/>
                      <a:pt x="0" y="221020"/>
                      <a:pt x="0" y="192088"/>
                    </a:cubicBezTo>
                    <a:lnTo>
                      <a:pt x="0" y="52388"/>
                    </a:lnTo>
                    <a:cubicBezTo>
                      <a:pt x="0" y="23455"/>
                      <a:pt x="23455" y="0"/>
                      <a:pt x="52388" y="0"/>
                    </a:cubicBezTo>
                    <a:lnTo>
                      <a:pt x="261938" y="0"/>
                    </a:lnTo>
                  </a:path>
                </a:pathLst>
              </a:custGeom>
              <a:noFill/>
              <a:ln w="19050">
                <a:solidFill>
                  <a:srgbClr val="163A5F"/>
                </a:solidFill>
              </a:ln>
            </p:spPr>
          </p:sp>
          <p:sp>
            <p:nvSpPr>
              <p:cNvPr id="29" name="Freeform 29"/>
              <p:cNvSpPr/>
              <p:nvPr/>
            </p:nvSpPr>
            <p:spPr>
              <a:xfrm>
                <a:off x="1042194" y="4710112"/>
                <a:ext cx="9525" cy="9525"/>
              </a:xfrm>
              <a:custGeom>
                <a:avLst/>
                <a:gdLst/>
                <a:ahLst/>
                <a:cxnLst/>
                <a:rect l="l" t="t" r="r" b="b"/>
                <a:pathLst>
                  <a:path w="9525" h="9525">
                    <a:moveTo>
                      <a:pt x="0" y="0"/>
                    </a:moveTo>
                    <a:lnTo>
                      <a:pt x="175" y="0"/>
                    </a:lnTo>
                  </a:path>
                </a:pathLst>
              </a:custGeom>
              <a:noFill/>
              <a:ln w="19050">
                <a:solidFill>
                  <a:srgbClr val="163A5F"/>
                </a:solidFill>
              </a:ln>
            </p:spPr>
          </p:sp>
          <p:sp>
            <p:nvSpPr>
              <p:cNvPr id="30" name="Freeform 30"/>
              <p:cNvSpPr/>
              <p:nvPr/>
            </p:nvSpPr>
            <p:spPr>
              <a:xfrm>
                <a:off x="1129506" y="4710112"/>
                <a:ext cx="9525" cy="9525"/>
              </a:xfrm>
              <a:custGeom>
                <a:avLst/>
                <a:gdLst/>
                <a:ahLst/>
                <a:cxnLst/>
                <a:rect l="l" t="t" r="r" b="b"/>
                <a:pathLst>
                  <a:path w="9525" h="9525">
                    <a:moveTo>
                      <a:pt x="0" y="0"/>
                    </a:moveTo>
                    <a:lnTo>
                      <a:pt x="175" y="0"/>
                    </a:lnTo>
                  </a:path>
                </a:pathLst>
              </a:custGeom>
              <a:noFill/>
              <a:ln w="19050">
                <a:solidFill>
                  <a:srgbClr val="163A5F"/>
                </a:solidFill>
              </a:ln>
            </p:spPr>
          </p:sp>
          <p:sp>
            <p:nvSpPr>
              <p:cNvPr id="31" name="Freeform 31"/>
              <p:cNvSpPr/>
              <p:nvPr/>
            </p:nvSpPr>
            <p:spPr>
              <a:xfrm>
                <a:off x="1042194" y="4779962"/>
                <a:ext cx="87313" cy="18345"/>
              </a:xfrm>
              <a:custGeom>
                <a:avLst/>
                <a:gdLst/>
                <a:ahLst/>
                <a:cxnLst/>
                <a:rect l="l" t="t" r="r" b="b"/>
                <a:pathLst>
                  <a:path w="87313" h="18345">
                    <a:moveTo>
                      <a:pt x="0" y="0"/>
                    </a:moveTo>
                    <a:cubicBezTo>
                      <a:pt x="11496" y="11733"/>
                      <a:pt x="27230" y="18345"/>
                      <a:pt x="43656" y="18345"/>
                    </a:cubicBezTo>
                    <a:cubicBezTo>
                      <a:pt x="60082" y="18345"/>
                      <a:pt x="75817" y="11733"/>
                      <a:pt x="87313" y="0"/>
                    </a:cubicBezTo>
                  </a:path>
                </a:pathLst>
              </a:custGeom>
              <a:noFill/>
              <a:ln w="19050">
                <a:solidFill>
                  <a:srgbClr val="163A5F"/>
                </a:solidFill>
              </a:ln>
            </p:spPr>
          </p:sp>
        </p:grpSp>
        <p:sp>
          <p:nvSpPr>
            <p:cNvPr id="33" name="TextBox 33"/>
            <p:cNvSpPr txBox="1"/>
            <p:nvPr/>
          </p:nvSpPr>
          <p:spPr>
            <a:xfrm>
              <a:off x="1545908" y="4548664"/>
              <a:ext cx="2156801" cy="259080"/>
            </a:xfrm>
            <a:prstGeom prst="rect">
              <a:avLst/>
            </a:prstGeom>
            <a:noFill/>
            <a:ln>
              <a:noFill/>
            </a:ln>
          </p:spPr>
          <p:txBody>
            <a:bodyPr wrap="none" lIns="0" tIns="0" rIns="0" bIns="0" anchor="t" anchorCtr="0">
              <a:spAutoFit/>
            </a:bodyPr>
            <a:lstStyle/>
            <a:p>
              <a:pPr algn="l"/>
              <a:r>
                <a:rPr lang="zh-CN" sz="1275" b="1" dirty="0">
                  <a:solidFill>
                    <a:srgbClr val="B42318"/>
                  </a:solidFill>
                  <a:latin typeface="Segoe UI" panose="020B0502040204020203"/>
                  <a:ea typeface="微软雅黑" panose="020B0503020204020204" charset="-122"/>
                  <a:cs typeface="Segoe UI" panose="020B0502040204020203"/>
                </a:rPr>
                <a:t>ADAPTATION IN THIS STUDY</a:t>
              </a:r>
              <a:endParaRPr lang="zh-CN" sz="1275" b="1" dirty="0">
                <a:solidFill>
                  <a:srgbClr val="B42318"/>
                </a:solidFill>
                <a:latin typeface="Segoe UI" panose="020B0502040204020203"/>
                <a:ea typeface="微软雅黑" panose="020B0503020204020204" charset="-122"/>
                <a:cs typeface="Segoe UI" panose="020B0502040204020203"/>
              </a:endParaRPr>
            </a:p>
          </p:txBody>
        </p:sp>
        <p:sp>
          <p:nvSpPr>
            <p:cNvPr id="34" name="TextBox 34"/>
            <p:cNvSpPr txBox="1"/>
            <p:nvPr/>
          </p:nvSpPr>
          <p:spPr>
            <a:xfrm>
              <a:off x="1543050" y="4924425"/>
              <a:ext cx="9220200" cy="600075"/>
            </a:xfrm>
            <a:prstGeom prst="rect">
              <a:avLst/>
            </a:prstGeom>
            <a:noFill/>
            <a:ln>
              <a:noFill/>
            </a:ln>
          </p:spPr>
          <p:txBody>
            <a:bodyPr wrap="square" lIns="0" tIns="0" rIns="0" bIns="0" anchor="t" anchorCtr="0"/>
            <a:lstStyle/>
            <a:p>
              <a:pPr algn="l">
                <a:lnSpc>
                  <a:spcPts val="2325"/>
                </a:lnSpc>
              </a:pPr>
              <a:r>
                <a:rPr lang="zh-CN" sz="1500" dirty="0">
                  <a:solidFill>
                    <a:srgbClr val="1F2A37"/>
                  </a:solidFill>
                  <a:latin typeface="Segoe UI" panose="020B0502040204020203"/>
                  <a:ea typeface="微软雅黑" panose="020B0503020204020204" charset="-122"/>
                  <a:cs typeface="Segoe UI" panose="020B0502040204020203"/>
                </a:rPr>
                <a:t>Opinion dynamics is not mainly used to simulate interpersonal diffusion. </a:t>
              </a:r>
              <a:r>
                <a:rPr lang="zh-CN" sz="1500" dirty="0">
                  <a:solidFill>
                    <a:srgbClr val="1F2A37"/>
                  </a:solidFill>
                  <a:latin typeface="Segoe UI" panose="020B0502040204020203"/>
                  <a:ea typeface="微软雅黑" panose="020B0503020204020204" charset="-122"/>
                  <a:cs typeface="Segoe UI" panose="020B0502040204020203"/>
                </a:rPr>
                <a:t>It models sequential updating in response to shared—but potentially personalized—LLM information.</a:t>
              </a:r>
              <a:endParaRPr lang="zh-CN" sz="1500" dirty="0">
                <a:solidFill>
                  <a:srgbClr val="1F2A37"/>
                </a:solidFill>
                <a:latin typeface="Segoe UI" panose="020B0502040204020203"/>
                <a:ea typeface="微软雅黑" panose="020B0503020204020204" charset="-122"/>
                <a:cs typeface="Segoe UI" panose="020B0502040204020203"/>
              </a:endParaRPr>
            </a:p>
          </p:txBody>
        </p:sp>
      </p:grpSp>
      <p:sp>
        <p:nvSpPr>
          <p:cNvPr id="36" name="TextBox 36"/>
          <p:cNvSpPr txBox="1"/>
          <p:nvPr/>
        </p:nvSpPr>
        <p:spPr>
          <a:xfrm>
            <a:off x="11438954" y="6398895"/>
            <a:ext cx="154877" cy="182880"/>
          </a:xfrm>
          <a:prstGeom prst="rect">
            <a:avLst/>
          </a:prstGeom>
          <a:noFill/>
          <a:ln>
            <a:noFill/>
          </a:ln>
        </p:spPr>
        <p:txBody>
          <a:bodyPr wrap="none" lIns="0" tIns="0" rIns="0" bIns="0" anchor="t" anchorCtr="0">
            <a:spAutoFit/>
          </a:bodyPr>
          <a:lstStyle/>
          <a:p>
            <a:pPr algn="r"/>
            <a:r>
              <a:rPr lang="zh-CN" sz="900" dirty="0">
                <a:solidFill>
                  <a:srgbClr val="7B8794"/>
                </a:solidFill>
                <a:latin typeface="Segoe UI" panose="020B0502040204020203"/>
                <a:ea typeface="微软雅黑" panose="020B0503020204020204" charset="-122"/>
                <a:cs typeface="Segoe UI" panose="020B0502040204020203"/>
              </a:rPr>
              <a:t>08</a:t>
            </a:r>
            <a:endParaRPr lang="zh-CN" sz="900"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400"/>
                                        <p:tgtEl>
                                          <p:spTgt spid="12"/>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slide(fromBottom)">
                                      <p:cBhvr>
                                        <p:cTn id="11" dur="400"/>
                                        <p:tgtEl>
                                          <p:spTgt spid="19"/>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image">
                                      <p:cBhvr>
                                        <p:cTn id="15" dur="400"/>
                                        <p:tgtEl>
                                          <p:spTgt spid="26"/>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35"/>
                                        </p:tgtEl>
                                        <p:attrNameLst>
                                          <p:attrName>style.visibility</p:attrName>
                                        </p:attrNameLst>
                                      </p:cBhvr>
                                      <p:to>
                                        <p:strVal val="visible"/>
                                      </p:to>
                                    </p:set>
                                    <p:animEffect transition="in" filter="fade">
                                      <p:cBhvr>
                                        <p:cTn id="19" dur="4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9" grpId="0"/>
      <p:bldP spid="26" grpId="0"/>
      <p:bldP spid="3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grpSp>
        <p:nvGrpSpPr>
          <p:cNvPr id="5" name="Group 5"/>
          <p:cNvGrpSpPr/>
          <p:nvPr/>
        </p:nvGrpSpPr>
        <p:grpSpPr>
          <a:xfrm>
            <a:off x="577215" y="315278"/>
            <a:ext cx="6795061" cy="668178"/>
            <a:chOff x="577215" y="315278"/>
            <a:chExt cx="6795061" cy="668178"/>
          </a:xfrm>
        </p:grpSpPr>
        <p:sp>
          <p:nvSpPr>
            <p:cNvPr id="3" name="TextBox 3"/>
            <p:cNvSpPr txBox="1"/>
            <p:nvPr/>
          </p:nvSpPr>
          <p:spPr>
            <a:xfrm>
              <a:off x="577215" y="315278"/>
              <a:ext cx="6795061" cy="518160"/>
            </a:xfrm>
            <a:prstGeom prst="rect">
              <a:avLst/>
            </a:prstGeom>
            <a:noFill/>
            <a:ln>
              <a:noFill/>
            </a:ln>
          </p:spPr>
          <p:txBody>
            <a:bodyPr wrap="none" lIns="0" tIns="0" rIns="0" bIns="0" anchor="t" anchorCtr="0">
              <a:spAutoFit/>
            </a:bodyPr>
            <a:lstStyle/>
            <a:p>
              <a:pPr algn="l"/>
              <a:r>
                <a:rPr lang="zh-CN" sz="2550" b="1" dirty="0">
                  <a:solidFill>
                    <a:srgbClr val="163A5F"/>
                  </a:solidFill>
                  <a:latin typeface="Segoe UI" panose="020B0502040204020203"/>
                  <a:ea typeface="微软雅黑" panose="020B0503020204020204" charset="-122"/>
                  <a:cs typeface="Segoe UI" panose="020B0502040204020203"/>
                </a:rPr>
                <a:t>Method: Hybrid ABM–Dynamics Modeling</a:t>
              </a:r>
              <a:endParaRPr lang="zh-CN" sz="2550" b="1" dirty="0">
                <a:solidFill>
                  <a:srgbClr val="163A5F"/>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595312" y="754856"/>
              <a:ext cx="2139339" cy="228600"/>
            </a:xfrm>
            <a:prstGeom prst="rect">
              <a:avLst/>
            </a:prstGeom>
            <a:noFill/>
            <a:ln>
              <a:noFill/>
            </a:ln>
          </p:spPr>
          <p:txBody>
            <a:bodyPr wrap="none" lIns="0" tIns="0" rIns="0" bIns="0" anchor="t" anchorCtr="0">
              <a:spAutoFit/>
            </a:bodyPr>
            <a:lstStyle/>
            <a:p>
              <a:pPr algn="l"/>
              <a:r>
                <a:rPr lang="zh-CN" sz="1125" b="1" dirty="0">
                  <a:solidFill>
                    <a:srgbClr val="5B7FA3"/>
                  </a:solidFill>
                  <a:latin typeface="Segoe UI" panose="020B0502040204020203"/>
                  <a:ea typeface="微软雅黑" panose="020B0503020204020204" charset="-122"/>
                  <a:cs typeface="Segoe UI" panose="020B0502040204020203"/>
                </a:rPr>
                <a:t>ABM CONNECTS THREE LEVELS</a:t>
              </a:r>
              <a:endParaRPr lang="zh-CN" sz="1125" b="1" dirty="0">
                <a:solidFill>
                  <a:srgbClr val="5B7FA3"/>
                </a:solidFill>
                <a:latin typeface="Segoe UI" panose="020B0502040204020203"/>
                <a:ea typeface="微软雅黑" panose="020B0503020204020204" charset="-122"/>
                <a:cs typeface="Segoe UI" panose="020B0502040204020203"/>
              </a:endParaRPr>
            </a:p>
          </p:txBody>
        </p:sp>
      </p:grpSp>
      <p:grpSp>
        <p:nvGrpSpPr>
          <p:cNvPr id="14" name="Group 14"/>
          <p:cNvGrpSpPr/>
          <p:nvPr/>
        </p:nvGrpSpPr>
        <p:grpSpPr>
          <a:xfrm>
            <a:off x="609600" y="1619250"/>
            <a:ext cx="3695700" cy="2286000"/>
            <a:chOff x="609600" y="1619250"/>
            <a:chExt cx="3695700" cy="2286000"/>
          </a:xfrm>
        </p:grpSpPr>
        <p:sp>
          <p:nvSpPr>
            <p:cNvPr id="6" name="Rectangle 6"/>
            <p:cNvSpPr/>
            <p:nvPr/>
          </p:nvSpPr>
          <p:spPr>
            <a:xfrm>
              <a:off x="609600" y="1619250"/>
              <a:ext cx="2857500" cy="2286000"/>
            </a:xfrm>
            <a:prstGeom prst="rect">
              <a:avLst/>
            </a:prstGeom>
            <a:solidFill>
              <a:srgbClr val="163A5F"/>
            </a:solidFill>
            <a:ln>
              <a:noFill/>
            </a:ln>
          </p:spPr>
        </p:sp>
        <p:sp>
          <p:nvSpPr>
            <p:cNvPr id="7" name="TextBox 7"/>
            <p:cNvSpPr txBox="1"/>
            <p:nvPr/>
          </p:nvSpPr>
          <p:spPr>
            <a:xfrm>
              <a:off x="862012" y="1859756"/>
              <a:ext cx="595646"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Segoe UI" panose="020B0502040204020203"/>
                  <a:ea typeface="微软雅黑" panose="020B0503020204020204" charset="-122"/>
                  <a:cs typeface="Segoe UI" panose="020B0502040204020203"/>
                </a:rPr>
                <a:t>LEVEL 1</a:t>
              </a:r>
              <a:endParaRPr lang="zh-CN" sz="1125" b="1" dirty="0">
                <a:solidFill>
                  <a:srgbClr val="FFFFFF"/>
                </a:solidFill>
                <a:latin typeface="Segoe UI" panose="020B0502040204020203"/>
                <a:ea typeface="微软雅黑" panose="020B0503020204020204" charset="-122"/>
                <a:cs typeface="Segoe UI" panose="020B0502040204020203"/>
              </a:endParaRPr>
            </a:p>
          </p:txBody>
        </p:sp>
        <p:grpSp>
          <p:nvGrpSpPr>
            <p:cNvPr id="11" name="Group 11"/>
            <p:cNvGrpSpPr/>
            <p:nvPr/>
          </p:nvGrpSpPr>
          <p:grpSpPr>
            <a:xfrm>
              <a:off x="1047750" y="2438400"/>
              <a:ext cx="180975" cy="171450"/>
              <a:chOff x="1047750" y="2438400"/>
              <a:chExt cx="180975" cy="171450"/>
            </a:xfrm>
          </p:grpSpPr>
          <p:sp>
            <p:nvSpPr>
              <p:cNvPr id="8" name="Freeform 8"/>
              <p:cNvSpPr/>
              <p:nvPr/>
            </p:nvSpPr>
            <p:spPr>
              <a:xfrm>
                <a:off x="1047750" y="2438400"/>
                <a:ext cx="85725" cy="171450"/>
              </a:xfrm>
              <a:custGeom>
                <a:avLst/>
                <a:gdLst/>
                <a:ahLst/>
                <a:cxnLst/>
                <a:rect l="l" t="t" r="r" b="b"/>
                <a:pathLst>
                  <a:path w="85725" h="171450">
                    <a:moveTo>
                      <a:pt x="0" y="171450"/>
                    </a:moveTo>
                    <a:lnTo>
                      <a:pt x="0" y="42862"/>
                    </a:lnTo>
                    <a:cubicBezTo>
                      <a:pt x="0" y="19190"/>
                      <a:pt x="19190" y="0"/>
                      <a:pt x="42862" y="0"/>
                    </a:cubicBezTo>
                    <a:cubicBezTo>
                      <a:pt x="66535" y="0"/>
                      <a:pt x="85725" y="19190"/>
                      <a:pt x="85725" y="42862"/>
                    </a:cubicBezTo>
                    <a:lnTo>
                      <a:pt x="85725" y="171450"/>
                    </a:lnTo>
                  </a:path>
                </a:pathLst>
              </a:custGeom>
              <a:noFill/>
              <a:ln w="19050">
                <a:solidFill>
                  <a:srgbClr val="FFFFFF"/>
                </a:solidFill>
              </a:ln>
            </p:spPr>
          </p:sp>
          <p:sp>
            <p:nvSpPr>
              <p:cNvPr id="9" name="Freeform 9"/>
              <p:cNvSpPr/>
              <p:nvPr/>
            </p:nvSpPr>
            <p:spPr>
              <a:xfrm>
                <a:off x="1047750" y="2545556"/>
                <a:ext cx="85725" cy="9525"/>
              </a:xfrm>
              <a:custGeom>
                <a:avLst/>
                <a:gdLst/>
                <a:ahLst/>
                <a:cxnLst/>
                <a:rect l="l" t="t" r="r" b="b"/>
                <a:pathLst>
                  <a:path w="85725" h="9525">
                    <a:moveTo>
                      <a:pt x="0" y="0"/>
                    </a:moveTo>
                    <a:lnTo>
                      <a:pt x="85725" y="0"/>
                    </a:lnTo>
                  </a:path>
                </a:pathLst>
              </a:custGeom>
              <a:noFill/>
              <a:ln w="19050">
                <a:solidFill>
                  <a:srgbClr val="FFFFFF"/>
                </a:solidFill>
              </a:ln>
            </p:spPr>
          </p:sp>
          <p:sp>
            <p:nvSpPr>
              <p:cNvPr id="10" name="Freeform 10"/>
              <p:cNvSpPr/>
              <p:nvPr/>
            </p:nvSpPr>
            <p:spPr>
              <a:xfrm>
                <a:off x="1219200" y="2438400"/>
                <a:ext cx="9525" cy="171450"/>
              </a:xfrm>
              <a:custGeom>
                <a:avLst/>
                <a:gdLst/>
                <a:ahLst/>
                <a:cxnLst/>
                <a:rect l="l" t="t" r="r" b="b"/>
                <a:pathLst>
                  <a:path w="9525" h="171450">
                    <a:moveTo>
                      <a:pt x="0" y="0"/>
                    </a:moveTo>
                    <a:lnTo>
                      <a:pt x="0" y="171450"/>
                    </a:lnTo>
                  </a:path>
                </a:pathLst>
              </a:custGeom>
              <a:noFill/>
              <a:ln w="19050">
                <a:solidFill>
                  <a:srgbClr val="FFFFFF"/>
                </a:solidFill>
              </a:ln>
            </p:spPr>
          </p:sp>
        </p:grpSp>
        <p:sp>
          <p:nvSpPr>
            <p:cNvPr id="12" name="TextBox 12"/>
            <p:cNvSpPr txBox="1"/>
            <p:nvPr/>
          </p:nvSpPr>
          <p:spPr>
            <a:xfrm>
              <a:off x="849630" y="2916555"/>
              <a:ext cx="1285494" cy="769620"/>
            </a:xfrm>
            <a:prstGeom prst="rect">
              <a:avLst/>
            </a:prstGeom>
            <a:noFill/>
            <a:ln>
              <a:noFill/>
            </a:ln>
          </p:spPr>
          <p:txBody>
            <a:bodyPr wrap="square" lIns="0" tIns="0" rIns="0" bIns="0" anchor="t" anchorCtr="0"/>
            <a:lstStyle/>
            <a:p>
              <a:pPr algn="l">
                <a:lnSpc>
                  <a:spcPts val="2700"/>
                </a:lnSpc>
              </a:pPr>
              <a:r>
                <a:rPr lang="zh-CN" sz="2100" b="1" dirty="0">
                  <a:solidFill>
                    <a:srgbClr val="FFFFFF"/>
                  </a:solidFill>
                  <a:latin typeface="Segoe UI" panose="020B0502040204020203"/>
                  <a:ea typeface="微软雅黑" panose="020B0503020204020204" charset="-122"/>
                  <a:cs typeface="Segoe UI" panose="020B0502040204020203"/>
                </a:rPr>
                <a:t>Model </a:t>
              </a:r>
              <a:r>
                <a:rPr lang="zh-CN" sz="2100" b="1" dirty="0">
                  <a:solidFill>
                    <a:srgbClr val="FFFFFF"/>
                  </a:solidFill>
                  <a:latin typeface="Segoe UI" panose="020B0502040204020203"/>
                  <a:ea typeface="微软雅黑" panose="020B0503020204020204" charset="-122"/>
                  <a:cs typeface="Segoe UI" panose="020B0502040204020203"/>
                </a:rPr>
                <a:t>response</a:t>
              </a:r>
              <a:endParaRPr lang="zh-CN" sz="2100" b="1" dirty="0">
                <a:solidFill>
                  <a:srgbClr val="FFFFFF"/>
                </a:solidFill>
                <a:latin typeface="Segoe UI" panose="020B0502040204020203"/>
                <a:ea typeface="微软雅黑" panose="020B0503020204020204" charset="-122"/>
                <a:cs typeface="Segoe UI" panose="020B0502040204020203"/>
              </a:endParaRPr>
            </a:p>
          </p:txBody>
        </p:sp>
        <p:sp>
          <p:nvSpPr>
            <p:cNvPr id="13" name="Line 13"/>
            <p:cNvSpPr/>
            <p:nvPr/>
          </p:nvSpPr>
          <p:spPr>
            <a:xfrm>
              <a:off x="3467100" y="2762250"/>
              <a:ext cx="838200" cy="1"/>
            </a:xfrm>
            <a:prstGeom prst="line">
              <a:avLst/>
            </a:prstGeom>
            <a:noFill/>
            <a:ln w="28575">
              <a:solidFill>
                <a:srgbClr val="5B7FA3"/>
              </a:solidFill>
              <a:tailEnd type="triangle" w="lg" len="lg"/>
            </a:ln>
          </p:spPr>
        </p:sp>
      </p:grpSp>
      <p:grpSp>
        <p:nvGrpSpPr>
          <p:cNvPr id="26" name="Group 26"/>
          <p:cNvGrpSpPr/>
          <p:nvPr/>
        </p:nvGrpSpPr>
        <p:grpSpPr>
          <a:xfrm>
            <a:off x="4343400" y="1619250"/>
            <a:ext cx="4076700" cy="2286000"/>
            <a:chOff x="4343400" y="1619250"/>
            <a:chExt cx="4076700" cy="2286000"/>
          </a:xfrm>
        </p:grpSpPr>
        <p:sp>
          <p:nvSpPr>
            <p:cNvPr id="15" name="Rectangle 15"/>
            <p:cNvSpPr/>
            <p:nvPr/>
          </p:nvSpPr>
          <p:spPr>
            <a:xfrm>
              <a:off x="4343400" y="1619250"/>
              <a:ext cx="3238500" cy="2286000"/>
            </a:xfrm>
            <a:prstGeom prst="rect">
              <a:avLst/>
            </a:prstGeom>
            <a:solidFill>
              <a:srgbClr val="FFFFFF"/>
            </a:solidFill>
            <a:ln w="19050">
              <a:solidFill>
                <a:srgbClr val="5B7FA3"/>
              </a:solidFill>
            </a:ln>
          </p:spPr>
        </p:sp>
        <p:sp>
          <p:nvSpPr>
            <p:cNvPr id="16" name="TextBox 16"/>
            <p:cNvSpPr txBox="1"/>
            <p:nvPr/>
          </p:nvSpPr>
          <p:spPr>
            <a:xfrm>
              <a:off x="4595812" y="1859756"/>
              <a:ext cx="595646" cy="228600"/>
            </a:xfrm>
            <a:prstGeom prst="rect">
              <a:avLst/>
            </a:prstGeom>
            <a:noFill/>
            <a:ln>
              <a:noFill/>
            </a:ln>
          </p:spPr>
          <p:txBody>
            <a:bodyPr wrap="none" lIns="0" tIns="0" rIns="0" bIns="0" anchor="t" anchorCtr="0">
              <a:spAutoFit/>
            </a:bodyPr>
            <a:lstStyle/>
            <a:p>
              <a:pPr algn="l"/>
              <a:r>
                <a:rPr lang="zh-CN" sz="1125" b="1" dirty="0">
                  <a:solidFill>
                    <a:srgbClr val="5B7FA3"/>
                  </a:solidFill>
                  <a:latin typeface="Segoe UI" panose="020B0502040204020203"/>
                  <a:ea typeface="微软雅黑" panose="020B0503020204020204" charset="-122"/>
                  <a:cs typeface="Segoe UI" panose="020B0502040204020203"/>
                </a:rPr>
                <a:t>LEVEL 2</a:t>
              </a:r>
              <a:endParaRPr lang="zh-CN" sz="1125" b="1" dirty="0">
                <a:solidFill>
                  <a:srgbClr val="5B7FA3"/>
                </a:solidFill>
                <a:latin typeface="Segoe UI" panose="020B0502040204020203"/>
                <a:ea typeface="微软雅黑" panose="020B0503020204020204" charset="-122"/>
                <a:cs typeface="Segoe UI" panose="020B0502040204020203"/>
              </a:endParaRPr>
            </a:p>
          </p:txBody>
        </p:sp>
        <p:grpSp>
          <p:nvGrpSpPr>
            <p:cNvPr id="23" name="Group 23"/>
            <p:cNvGrpSpPr/>
            <p:nvPr/>
          </p:nvGrpSpPr>
          <p:grpSpPr>
            <a:xfrm>
              <a:off x="4674394" y="2331244"/>
              <a:ext cx="385762" cy="385762"/>
              <a:chOff x="4674394" y="2331244"/>
              <a:chExt cx="385762" cy="385762"/>
            </a:xfrm>
          </p:grpSpPr>
          <p:sp>
            <p:nvSpPr>
              <p:cNvPr id="17" name="Freeform 17"/>
              <p:cNvSpPr/>
              <p:nvPr/>
            </p:nvSpPr>
            <p:spPr>
              <a:xfrm>
                <a:off x="4867275" y="2545556"/>
                <a:ext cx="150019" cy="171450"/>
              </a:xfrm>
              <a:custGeom>
                <a:avLst/>
                <a:gdLst/>
                <a:ahLst/>
                <a:cxnLst/>
                <a:rect l="l" t="t" r="r" b="b"/>
                <a:pathLst>
                  <a:path w="150019" h="171450">
                    <a:moveTo>
                      <a:pt x="75009" y="0"/>
                    </a:moveTo>
                    <a:cubicBezTo>
                      <a:pt x="33583" y="0"/>
                      <a:pt x="0" y="33583"/>
                      <a:pt x="0" y="75009"/>
                    </a:cubicBezTo>
                    <a:lnTo>
                      <a:pt x="0" y="96441"/>
                    </a:lnTo>
                    <a:cubicBezTo>
                      <a:pt x="0" y="137867"/>
                      <a:pt x="33583" y="171450"/>
                      <a:pt x="75009" y="171450"/>
                    </a:cubicBezTo>
                    <a:cubicBezTo>
                      <a:pt x="116436" y="171450"/>
                      <a:pt x="150019" y="137867"/>
                      <a:pt x="150019" y="96441"/>
                    </a:cubicBezTo>
                    <a:lnTo>
                      <a:pt x="150019" y="57864"/>
                    </a:lnTo>
                  </a:path>
                </a:pathLst>
              </a:custGeom>
              <a:noFill/>
              <a:ln w="19050">
                <a:solidFill>
                  <a:srgbClr val="163A5F"/>
                </a:solidFill>
              </a:ln>
            </p:spPr>
          </p:sp>
          <p:sp>
            <p:nvSpPr>
              <p:cNvPr id="18" name="Freeform 18"/>
              <p:cNvSpPr/>
              <p:nvPr/>
            </p:nvSpPr>
            <p:spPr>
              <a:xfrm>
                <a:off x="4717256" y="2545556"/>
                <a:ext cx="150019" cy="171450"/>
              </a:xfrm>
              <a:custGeom>
                <a:avLst/>
                <a:gdLst/>
                <a:ahLst/>
                <a:cxnLst/>
                <a:rect l="l" t="t" r="r" b="b"/>
                <a:pathLst>
                  <a:path w="150019" h="171450">
                    <a:moveTo>
                      <a:pt x="75009" y="0"/>
                    </a:moveTo>
                    <a:cubicBezTo>
                      <a:pt x="116436" y="0"/>
                      <a:pt x="150019" y="33583"/>
                      <a:pt x="150019" y="75009"/>
                    </a:cubicBezTo>
                    <a:lnTo>
                      <a:pt x="150019" y="96441"/>
                    </a:lnTo>
                    <a:cubicBezTo>
                      <a:pt x="150019" y="137867"/>
                      <a:pt x="116436" y="171450"/>
                      <a:pt x="75009" y="171450"/>
                    </a:cubicBezTo>
                    <a:cubicBezTo>
                      <a:pt x="33583" y="171450"/>
                      <a:pt x="0" y="137867"/>
                      <a:pt x="0" y="96441"/>
                    </a:cubicBezTo>
                    <a:lnTo>
                      <a:pt x="0" y="57864"/>
                    </a:lnTo>
                  </a:path>
                </a:pathLst>
              </a:custGeom>
              <a:noFill/>
              <a:ln w="19050">
                <a:solidFill>
                  <a:srgbClr val="163A5F"/>
                </a:solidFill>
              </a:ln>
            </p:spPr>
          </p:sp>
          <p:sp>
            <p:nvSpPr>
              <p:cNvPr id="19" name="Freeform 19"/>
              <p:cNvSpPr/>
              <p:nvPr/>
            </p:nvSpPr>
            <p:spPr>
              <a:xfrm>
                <a:off x="4974431" y="2459831"/>
                <a:ext cx="85725" cy="150019"/>
              </a:xfrm>
              <a:custGeom>
                <a:avLst/>
                <a:gdLst/>
                <a:ahLst/>
                <a:cxnLst/>
                <a:rect l="l" t="t" r="r" b="b"/>
                <a:pathLst>
                  <a:path w="85725" h="150019">
                    <a:moveTo>
                      <a:pt x="10716" y="150019"/>
                    </a:moveTo>
                    <a:cubicBezTo>
                      <a:pt x="52142" y="150019"/>
                      <a:pt x="85725" y="116436"/>
                      <a:pt x="85725" y="75009"/>
                    </a:cubicBezTo>
                    <a:cubicBezTo>
                      <a:pt x="85725" y="33583"/>
                      <a:pt x="52142" y="0"/>
                      <a:pt x="10716" y="0"/>
                    </a:cubicBezTo>
                    <a:lnTo>
                      <a:pt x="0" y="0"/>
                    </a:lnTo>
                  </a:path>
                </a:pathLst>
              </a:custGeom>
              <a:noFill/>
              <a:ln w="19050">
                <a:solidFill>
                  <a:srgbClr val="163A5F"/>
                </a:solidFill>
              </a:ln>
            </p:spPr>
          </p:sp>
          <p:sp>
            <p:nvSpPr>
              <p:cNvPr id="20" name="Freeform 20"/>
              <p:cNvSpPr/>
              <p:nvPr/>
            </p:nvSpPr>
            <p:spPr>
              <a:xfrm>
                <a:off x="4867275" y="2331244"/>
                <a:ext cx="150019" cy="135017"/>
              </a:xfrm>
              <a:custGeom>
                <a:avLst/>
                <a:gdLst/>
                <a:ahLst/>
                <a:cxnLst/>
                <a:rect l="l" t="t" r="r" b="b"/>
                <a:pathLst>
                  <a:path w="150019" h="135017">
                    <a:moveTo>
                      <a:pt x="150019" y="135017"/>
                    </a:moveTo>
                    <a:lnTo>
                      <a:pt x="150019" y="75009"/>
                    </a:lnTo>
                    <a:cubicBezTo>
                      <a:pt x="150019" y="33583"/>
                      <a:pt x="116436" y="0"/>
                      <a:pt x="75009" y="0"/>
                    </a:cubicBezTo>
                    <a:cubicBezTo>
                      <a:pt x="33583" y="0"/>
                      <a:pt x="0" y="33583"/>
                      <a:pt x="0" y="75009"/>
                    </a:cubicBezTo>
                  </a:path>
                </a:pathLst>
              </a:custGeom>
              <a:noFill/>
              <a:ln w="19050">
                <a:solidFill>
                  <a:srgbClr val="163A5F"/>
                </a:solidFill>
              </a:ln>
            </p:spPr>
          </p:sp>
          <p:sp>
            <p:nvSpPr>
              <p:cNvPr id="21" name="Freeform 21"/>
              <p:cNvSpPr/>
              <p:nvPr/>
            </p:nvSpPr>
            <p:spPr>
              <a:xfrm>
                <a:off x="4674394" y="2459831"/>
                <a:ext cx="85725" cy="150019"/>
              </a:xfrm>
              <a:custGeom>
                <a:avLst/>
                <a:gdLst/>
                <a:ahLst/>
                <a:cxnLst/>
                <a:rect l="l" t="t" r="r" b="b"/>
                <a:pathLst>
                  <a:path w="85725" h="150019">
                    <a:moveTo>
                      <a:pt x="75009" y="150019"/>
                    </a:moveTo>
                    <a:cubicBezTo>
                      <a:pt x="33583" y="150019"/>
                      <a:pt x="0" y="116436"/>
                      <a:pt x="0" y="75009"/>
                    </a:cubicBezTo>
                    <a:cubicBezTo>
                      <a:pt x="0" y="33583"/>
                      <a:pt x="33583" y="0"/>
                      <a:pt x="75009" y="0"/>
                    </a:cubicBezTo>
                    <a:lnTo>
                      <a:pt x="85725" y="0"/>
                    </a:lnTo>
                  </a:path>
                </a:pathLst>
              </a:custGeom>
              <a:noFill/>
              <a:ln w="19050">
                <a:solidFill>
                  <a:srgbClr val="163A5F"/>
                </a:solidFill>
              </a:ln>
            </p:spPr>
          </p:sp>
          <p:sp>
            <p:nvSpPr>
              <p:cNvPr id="22" name="Freeform 22"/>
              <p:cNvSpPr/>
              <p:nvPr/>
            </p:nvSpPr>
            <p:spPr>
              <a:xfrm>
                <a:off x="4717256" y="2331244"/>
                <a:ext cx="150019" cy="289322"/>
              </a:xfrm>
              <a:custGeom>
                <a:avLst/>
                <a:gdLst/>
                <a:ahLst/>
                <a:cxnLst/>
                <a:rect l="l" t="t" r="r" b="b"/>
                <a:pathLst>
                  <a:path w="150019" h="289322">
                    <a:moveTo>
                      <a:pt x="0" y="135017"/>
                    </a:moveTo>
                    <a:lnTo>
                      <a:pt x="0" y="75009"/>
                    </a:lnTo>
                    <a:cubicBezTo>
                      <a:pt x="0" y="33583"/>
                      <a:pt x="33583" y="0"/>
                      <a:pt x="75009" y="0"/>
                    </a:cubicBezTo>
                    <a:cubicBezTo>
                      <a:pt x="116436" y="0"/>
                      <a:pt x="150019" y="33583"/>
                      <a:pt x="150019" y="75009"/>
                    </a:cubicBezTo>
                    <a:lnTo>
                      <a:pt x="150019" y="289322"/>
                    </a:lnTo>
                  </a:path>
                </a:pathLst>
              </a:custGeom>
              <a:noFill/>
              <a:ln w="19050">
                <a:solidFill>
                  <a:srgbClr val="163A5F"/>
                </a:solidFill>
              </a:ln>
            </p:spPr>
          </p:sp>
        </p:grpSp>
        <p:sp>
          <p:nvSpPr>
            <p:cNvPr id="24" name="TextBox 24"/>
            <p:cNvSpPr txBox="1"/>
            <p:nvPr/>
          </p:nvSpPr>
          <p:spPr>
            <a:xfrm>
              <a:off x="4583430" y="2916555"/>
              <a:ext cx="1313498" cy="769620"/>
            </a:xfrm>
            <a:prstGeom prst="rect">
              <a:avLst/>
            </a:prstGeom>
            <a:noFill/>
            <a:ln>
              <a:noFill/>
            </a:ln>
          </p:spPr>
          <p:txBody>
            <a:bodyPr wrap="square" lIns="0" tIns="0" rIns="0" bIns="0" anchor="t" anchorCtr="0"/>
            <a:lstStyle/>
            <a:p>
              <a:pPr algn="l">
                <a:lnSpc>
                  <a:spcPts val="2700"/>
                </a:lnSpc>
              </a:pPr>
              <a:r>
                <a:rPr lang="zh-CN" sz="2100" b="1" dirty="0">
                  <a:solidFill>
                    <a:srgbClr val="163A5F"/>
                  </a:solidFill>
                  <a:latin typeface="Segoe UI" panose="020B0502040204020203"/>
                  <a:ea typeface="微软雅黑" panose="020B0503020204020204" charset="-122"/>
                  <a:cs typeface="Segoe UI" panose="020B0502040204020203"/>
                </a:rPr>
                <a:t>Individual </a:t>
              </a:r>
              <a:r>
                <a:rPr lang="zh-CN" sz="2100" b="1" dirty="0">
                  <a:solidFill>
                    <a:srgbClr val="163A5F"/>
                  </a:solidFill>
                  <a:latin typeface="Segoe UI" panose="020B0502040204020203"/>
                  <a:ea typeface="微软雅黑" panose="020B0503020204020204" charset="-122"/>
                  <a:cs typeface="Segoe UI" panose="020B0502040204020203"/>
                </a:rPr>
                <a:t>updating</a:t>
              </a:r>
              <a:endParaRPr lang="zh-CN" sz="2100" b="1" dirty="0">
                <a:solidFill>
                  <a:srgbClr val="163A5F"/>
                </a:solidFill>
                <a:latin typeface="Segoe UI" panose="020B0502040204020203"/>
                <a:ea typeface="微软雅黑" panose="020B0503020204020204" charset="-122"/>
                <a:cs typeface="Segoe UI" panose="020B0502040204020203"/>
              </a:endParaRPr>
            </a:p>
          </p:txBody>
        </p:sp>
        <p:sp>
          <p:nvSpPr>
            <p:cNvPr id="25" name="Line 25"/>
            <p:cNvSpPr/>
            <p:nvPr/>
          </p:nvSpPr>
          <p:spPr>
            <a:xfrm>
              <a:off x="7581900" y="2762250"/>
              <a:ext cx="838200" cy="1"/>
            </a:xfrm>
            <a:prstGeom prst="line">
              <a:avLst/>
            </a:prstGeom>
            <a:noFill/>
            <a:ln w="28575">
              <a:solidFill>
                <a:srgbClr val="5B7FA3"/>
              </a:solidFill>
              <a:tailEnd type="triangle" w="lg" len="lg"/>
            </a:ln>
          </p:spPr>
        </p:sp>
      </p:grpSp>
      <p:grpSp>
        <p:nvGrpSpPr>
          <p:cNvPr id="37" name="Group 37"/>
          <p:cNvGrpSpPr/>
          <p:nvPr/>
        </p:nvGrpSpPr>
        <p:grpSpPr>
          <a:xfrm>
            <a:off x="8458200" y="1619250"/>
            <a:ext cx="3124200" cy="2286000"/>
            <a:chOff x="8458200" y="1619250"/>
            <a:chExt cx="3124200" cy="2286000"/>
          </a:xfrm>
        </p:grpSpPr>
        <p:sp>
          <p:nvSpPr>
            <p:cNvPr id="27" name="Rectangle 27"/>
            <p:cNvSpPr/>
            <p:nvPr/>
          </p:nvSpPr>
          <p:spPr>
            <a:xfrm>
              <a:off x="8458200" y="1619250"/>
              <a:ext cx="3124200" cy="2286000"/>
            </a:xfrm>
            <a:prstGeom prst="rect">
              <a:avLst/>
            </a:prstGeom>
            <a:solidFill>
              <a:srgbClr val="EAF0F7"/>
            </a:solidFill>
            <a:ln w="9525">
              <a:solidFill>
                <a:srgbClr val="5B7FA3"/>
              </a:solidFill>
            </a:ln>
          </p:spPr>
        </p:sp>
        <p:sp>
          <p:nvSpPr>
            <p:cNvPr id="28" name="TextBox 28"/>
            <p:cNvSpPr txBox="1"/>
            <p:nvPr/>
          </p:nvSpPr>
          <p:spPr>
            <a:xfrm>
              <a:off x="8710612" y="1859756"/>
              <a:ext cx="595646" cy="228600"/>
            </a:xfrm>
            <a:prstGeom prst="rect">
              <a:avLst/>
            </a:prstGeom>
            <a:noFill/>
            <a:ln>
              <a:noFill/>
            </a:ln>
          </p:spPr>
          <p:txBody>
            <a:bodyPr wrap="none" lIns="0" tIns="0" rIns="0" bIns="0" anchor="t" anchorCtr="0">
              <a:spAutoFit/>
            </a:bodyPr>
            <a:lstStyle/>
            <a:p>
              <a:pPr algn="l"/>
              <a:r>
                <a:rPr lang="zh-CN" sz="1125" b="1" dirty="0">
                  <a:solidFill>
                    <a:srgbClr val="5B7FA3"/>
                  </a:solidFill>
                  <a:latin typeface="Segoe UI" panose="020B0502040204020203"/>
                  <a:ea typeface="微软雅黑" panose="020B0503020204020204" charset="-122"/>
                  <a:cs typeface="Segoe UI" panose="020B0502040204020203"/>
                </a:rPr>
                <a:t>LEVEL 3</a:t>
              </a:r>
              <a:endParaRPr lang="zh-CN" sz="1125" b="1" dirty="0">
                <a:solidFill>
                  <a:srgbClr val="5B7FA3"/>
                </a:solidFill>
                <a:latin typeface="Segoe UI" panose="020B0502040204020203"/>
                <a:ea typeface="微软雅黑" panose="020B0503020204020204" charset="-122"/>
                <a:cs typeface="Segoe UI" panose="020B0502040204020203"/>
              </a:endParaRPr>
            </a:p>
          </p:txBody>
        </p:sp>
        <p:grpSp>
          <p:nvGrpSpPr>
            <p:cNvPr id="35" name="Group 35"/>
            <p:cNvGrpSpPr/>
            <p:nvPr/>
          </p:nvGrpSpPr>
          <p:grpSpPr>
            <a:xfrm>
              <a:off x="8789194" y="2331244"/>
              <a:ext cx="385762" cy="385762"/>
              <a:chOff x="8789194" y="2331244"/>
              <a:chExt cx="385762" cy="385762"/>
            </a:xfrm>
          </p:grpSpPr>
          <p:sp>
            <p:nvSpPr>
              <p:cNvPr id="29" name="Freeform 29"/>
              <p:cNvSpPr/>
              <p:nvPr/>
            </p:nvSpPr>
            <p:spPr>
              <a:xfrm>
                <a:off x="8789194" y="2331244"/>
                <a:ext cx="385762" cy="385762"/>
              </a:xfrm>
              <a:custGeom>
                <a:avLst/>
                <a:gdLst/>
                <a:ahLst/>
                <a:cxnLst/>
                <a:rect l="l" t="t" r="r" b="b"/>
                <a:pathLst>
                  <a:path w="385762" h="385762">
                    <a:moveTo>
                      <a:pt x="0" y="0"/>
                    </a:moveTo>
                    <a:lnTo>
                      <a:pt x="0" y="385762"/>
                    </a:lnTo>
                    <a:lnTo>
                      <a:pt x="385762" y="385762"/>
                    </a:lnTo>
                  </a:path>
                </a:pathLst>
              </a:custGeom>
              <a:noFill/>
              <a:ln w="19050">
                <a:solidFill>
                  <a:srgbClr val="163A5F"/>
                </a:solidFill>
              </a:ln>
            </p:spPr>
          </p:sp>
          <p:sp>
            <p:nvSpPr>
              <p:cNvPr id="30" name="Freeform 30"/>
              <p:cNvSpPr/>
              <p:nvPr/>
            </p:nvSpPr>
            <p:spPr>
              <a:xfrm>
                <a:off x="8874919" y="2416969"/>
                <a:ext cx="85725" cy="85725"/>
              </a:xfrm>
              <a:custGeom>
                <a:avLst/>
                <a:gdLst/>
                <a:ahLst/>
                <a:cxnLst/>
                <a:rect l="l" t="t" r="r" b="b"/>
                <a:pathLst>
                  <a:path w="85725" h="85725">
                    <a:moveTo>
                      <a:pt x="0" y="42862"/>
                    </a:moveTo>
                    <a:cubicBezTo>
                      <a:pt x="0" y="66535"/>
                      <a:pt x="19190" y="85725"/>
                      <a:pt x="42862" y="85725"/>
                    </a:cubicBezTo>
                    <a:cubicBezTo>
                      <a:pt x="66535" y="85725"/>
                      <a:pt x="85725" y="66535"/>
                      <a:pt x="85725" y="42862"/>
                    </a:cubicBezTo>
                    <a:cubicBezTo>
                      <a:pt x="85725" y="19190"/>
                      <a:pt x="66535" y="0"/>
                      <a:pt x="42862" y="0"/>
                    </a:cubicBezTo>
                    <a:cubicBezTo>
                      <a:pt x="19190" y="0"/>
                      <a:pt x="0" y="19190"/>
                      <a:pt x="0" y="42862"/>
                    </a:cubicBezTo>
                  </a:path>
                </a:pathLst>
              </a:custGeom>
              <a:noFill/>
              <a:ln w="19050">
                <a:solidFill>
                  <a:srgbClr val="163A5F"/>
                </a:solidFill>
              </a:ln>
            </p:spPr>
          </p:sp>
          <p:sp>
            <p:nvSpPr>
              <p:cNvPr id="31" name="Freeform 31"/>
              <p:cNvSpPr/>
              <p:nvPr/>
            </p:nvSpPr>
            <p:spPr>
              <a:xfrm>
                <a:off x="9089231" y="2374106"/>
                <a:ext cx="85725" cy="85725"/>
              </a:xfrm>
              <a:custGeom>
                <a:avLst/>
                <a:gdLst/>
                <a:ahLst/>
                <a:cxnLst/>
                <a:rect l="l" t="t" r="r" b="b"/>
                <a:pathLst>
                  <a:path w="85725" h="85725">
                    <a:moveTo>
                      <a:pt x="0" y="42862"/>
                    </a:moveTo>
                    <a:cubicBezTo>
                      <a:pt x="0" y="66535"/>
                      <a:pt x="19190" y="85725"/>
                      <a:pt x="42862" y="85725"/>
                    </a:cubicBezTo>
                    <a:cubicBezTo>
                      <a:pt x="66535" y="85725"/>
                      <a:pt x="85725" y="66535"/>
                      <a:pt x="85725" y="42862"/>
                    </a:cubicBezTo>
                    <a:cubicBezTo>
                      <a:pt x="85725" y="19190"/>
                      <a:pt x="66535" y="0"/>
                      <a:pt x="42862" y="0"/>
                    </a:cubicBezTo>
                    <a:cubicBezTo>
                      <a:pt x="19190" y="0"/>
                      <a:pt x="0" y="19190"/>
                      <a:pt x="0" y="42862"/>
                    </a:cubicBezTo>
                  </a:path>
                </a:pathLst>
              </a:custGeom>
              <a:noFill/>
              <a:ln w="19050">
                <a:solidFill>
                  <a:srgbClr val="163A5F"/>
                </a:solidFill>
              </a:ln>
            </p:spPr>
          </p:sp>
          <p:sp>
            <p:nvSpPr>
              <p:cNvPr id="32" name="Freeform 32"/>
              <p:cNvSpPr/>
              <p:nvPr/>
            </p:nvSpPr>
            <p:spPr>
              <a:xfrm>
                <a:off x="8982075" y="2545556"/>
                <a:ext cx="85725" cy="85725"/>
              </a:xfrm>
              <a:custGeom>
                <a:avLst/>
                <a:gdLst/>
                <a:ahLst/>
                <a:cxnLst/>
                <a:rect l="l" t="t" r="r" b="b"/>
                <a:pathLst>
                  <a:path w="85725" h="85725">
                    <a:moveTo>
                      <a:pt x="0" y="42862"/>
                    </a:moveTo>
                    <a:cubicBezTo>
                      <a:pt x="0" y="66535"/>
                      <a:pt x="19190" y="85725"/>
                      <a:pt x="42862" y="85725"/>
                    </a:cubicBezTo>
                    <a:cubicBezTo>
                      <a:pt x="66535" y="85725"/>
                      <a:pt x="85725" y="66535"/>
                      <a:pt x="85725" y="42862"/>
                    </a:cubicBezTo>
                    <a:cubicBezTo>
                      <a:pt x="85725" y="19190"/>
                      <a:pt x="66535" y="0"/>
                      <a:pt x="42862" y="0"/>
                    </a:cubicBezTo>
                    <a:cubicBezTo>
                      <a:pt x="19190" y="0"/>
                      <a:pt x="0" y="19190"/>
                      <a:pt x="0" y="42862"/>
                    </a:cubicBezTo>
                  </a:path>
                </a:pathLst>
              </a:custGeom>
              <a:noFill/>
              <a:ln w="19050">
                <a:solidFill>
                  <a:srgbClr val="163A5F"/>
                </a:solidFill>
              </a:ln>
            </p:spPr>
          </p:sp>
          <p:sp>
            <p:nvSpPr>
              <p:cNvPr id="33" name="Freeform 33"/>
              <p:cNvSpPr/>
              <p:nvPr/>
            </p:nvSpPr>
            <p:spPr>
              <a:xfrm>
                <a:off x="8942642" y="2494550"/>
                <a:ext cx="50149" cy="61722"/>
              </a:xfrm>
              <a:custGeom>
                <a:avLst/>
                <a:gdLst/>
                <a:ahLst/>
                <a:cxnLst/>
                <a:rect l="l" t="t" r="r" b="b"/>
                <a:pathLst>
                  <a:path w="50149" h="61722">
                    <a:moveTo>
                      <a:pt x="0" y="0"/>
                    </a:moveTo>
                    <a:lnTo>
                      <a:pt x="50149" y="61722"/>
                    </a:lnTo>
                  </a:path>
                </a:pathLst>
              </a:custGeom>
              <a:noFill/>
              <a:ln w="19050">
                <a:solidFill>
                  <a:srgbClr val="163A5F"/>
                </a:solidFill>
              </a:ln>
            </p:spPr>
          </p:sp>
          <p:sp>
            <p:nvSpPr>
              <p:cNvPr id="34" name="Freeform 34"/>
              <p:cNvSpPr/>
              <p:nvPr/>
            </p:nvSpPr>
            <p:spPr>
              <a:xfrm>
                <a:off x="9048255" y="2454302"/>
                <a:ext cx="60800" cy="98284"/>
              </a:xfrm>
              <a:custGeom>
                <a:avLst/>
                <a:gdLst/>
                <a:ahLst/>
                <a:cxnLst/>
                <a:rect l="l" t="t" r="r" b="b"/>
                <a:pathLst>
                  <a:path w="60800" h="98284">
                    <a:moveTo>
                      <a:pt x="0" y="98284"/>
                    </a:moveTo>
                    <a:lnTo>
                      <a:pt x="60800" y="0"/>
                    </a:lnTo>
                  </a:path>
                </a:pathLst>
              </a:custGeom>
              <a:noFill/>
              <a:ln w="19050">
                <a:solidFill>
                  <a:srgbClr val="163A5F"/>
                </a:solidFill>
              </a:ln>
            </p:spPr>
          </p:sp>
        </p:grpSp>
        <p:sp>
          <p:nvSpPr>
            <p:cNvPr id="36" name="TextBox 36"/>
            <p:cNvSpPr txBox="1"/>
            <p:nvPr/>
          </p:nvSpPr>
          <p:spPr>
            <a:xfrm>
              <a:off x="8698230" y="2916555"/>
              <a:ext cx="1691545" cy="769620"/>
            </a:xfrm>
            <a:prstGeom prst="rect">
              <a:avLst/>
            </a:prstGeom>
            <a:noFill/>
            <a:ln>
              <a:noFill/>
            </a:ln>
          </p:spPr>
          <p:txBody>
            <a:bodyPr wrap="square" lIns="0" tIns="0" rIns="0" bIns="0" anchor="t" anchorCtr="0"/>
            <a:lstStyle/>
            <a:p>
              <a:pPr algn="l">
                <a:lnSpc>
                  <a:spcPts val="2700"/>
                </a:lnSpc>
              </a:pPr>
              <a:r>
                <a:rPr lang="zh-CN" sz="2100" b="1" dirty="0">
                  <a:solidFill>
                    <a:srgbClr val="163A5F"/>
                  </a:solidFill>
                  <a:latin typeface="Segoe UI" panose="020B0502040204020203"/>
                  <a:ea typeface="微软雅黑" panose="020B0503020204020204" charset="-122"/>
                  <a:cs typeface="Segoe UI" panose="020B0502040204020203"/>
                </a:rPr>
                <a:t>Group </a:t>
              </a:r>
              <a:r>
                <a:rPr lang="zh-CN" sz="2100" b="1" dirty="0">
                  <a:solidFill>
                    <a:srgbClr val="163A5F"/>
                  </a:solidFill>
                  <a:latin typeface="Segoe UI" panose="020B0502040204020203"/>
                  <a:ea typeface="微软雅黑" panose="020B0503020204020204" charset="-122"/>
                  <a:cs typeface="Segoe UI" panose="020B0502040204020203"/>
                </a:rPr>
                <a:t>distribution</a:t>
              </a:r>
              <a:endParaRPr lang="zh-CN" sz="2100" b="1" dirty="0">
                <a:solidFill>
                  <a:srgbClr val="163A5F"/>
                </a:solidFill>
                <a:latin typeface="Segoe UI" panose="020B0502040204020203"/>
                <a:ea typeface="微软雅黑" panose="020B0503020204020204" charset="-122"/>
                <a:cs typeface="Segoe UI" panose="020B0502040204020203"/>
              </a:endParaRPr>
            </a:p>
          </p:txBody>
        </p:sp>
      </p:grpSp>
      <p:grpSp>
        <p:nvGrpSpPr>
          <p:cNvPr id="49" name="Group 49"/>
          <p:cNvGrpSpPr/>
          <p:nvPr/>
        </p:nvGrpSpPr>
        <p:grpSpPr>
          <a:xfrm>
            <a:off x="590550" y="4336256"/>
            <a:ext cx="10991850" cy="1731169"/>
            <a:chOff x="590550" y="4336256"/>
            <a:chExt cx="10991850" cy="1731169"/>
          </a:xfrm>
        </p:grpSpPr>
        <p:sp>
          <p:nvSpPr>
            <p:cNvPr id="38" name="TextBox 38"/>
            <p:cNvSpPr txBox="1"/>
            <p:nvPr/>
          </p:nvSpPr>
          <p:spPr>
            <a:xfrm>
              <a:off x="595312" y="4336256"/>
              <a:ext cx="745290" cy="228600"/>
            </a:xfrm>
            <a:prstGeom prst="rect">
              <a:avLst/>
            </a:prstGeom>
            <a:noFill/>
            <a:ln>
              <a:noFill/>
            </a:ln>
          </p:spPr>
          <p:txBody>
            <a:bodyPr wrap="none" lIns="0" tIns="0" rIns="0" bIns="0" anchor="t" anchorCtr="0">
              <a:spAutoFit/>
            </a:bodyPr>
            <a:lstStyle/>
            <a:p>
              <a:pPr algn="l"/>
              <a:r>
                <a:rPr lang="zh-CN" sz="1125" b="1" dirty="0">
                  <a:solidFill>
                    <a:srgbClr val="B42318"/>
                  </a:solidFill>
                  <a:latin typeface="Segoe UI" panose="020B0502040204020203"/>
                  <a:ea typeface="微软雅黑" panose="020B0503020204020204" charset="-122"/>
                  <a:cs typeface="Segoe UI" panose="020B0502040204020203"/>
                </a:rPr>
                <a:t>WHY ABM?</a:t>
              </a:r>
              <a:endParaRPr lang="zh-CN" sz="1125" b="1" dirty="0">
                <a:solidFill>
                  <a:srgbClr val="B42318"/>
                </a:solidFill>
                <a:latin typeface="Segoe UI" panose="020B0502040204020203"/>
                <a:ea typeface="微软雅黑" panose="020B0503020204020204" charset="-122"/>
                <a:cs typeface="Segoe UI" panose="020B0502040204020203"/>
              </a:endParaRPr>
            </a:p>
          </p:txBody>
        </p:sp>
        <p:sp>
          <p:nvSpPr>
            <p:cNvPr id="39" name="TextBox 39"/>
            <p:cNvSpPr txBox="1"/>
            <p:nvPr/>
          </p:nvSpPr>
          <p:spPr>
            <a:xfrm>
              <a:off x="592455" y="4712018"/>
              <a:ext cx="1969532" cy="274320"/>
            </a:xfrm>
            <a:prstGeom prst="rect">
              <a:avLst/>
            </a:prstGeom>
            <a:noFill/>
            <a:ln>
              <a:noFill/>
            </a:ln>
          </p:spPr>
          <p:txBody>
            <a:bodyPr wrap="none" lIns="0" tIns="0" rIns="0" bIns="0" anchor="t" anchorCtr="0">
              <a:spAutoFit/>
            </a:bodyPr>
            <a:lstStyle/>
            <a:p>
              <a:pPr algn="l"/>
              <a:r>
                <a:rPr lang="zh-CN" sz="1350" dirty="0">
                  <a:solidFill>
                    <a:srgbClr val="1F2A37"/>
                  </a:solidFill>
                  <a:latin typeface="Segoe UI" panose="020B0502040204020203"/>
                  <a:ea typeface="微软雅黑" panose="020B0503020204020204" charset="-122"/>
                  <a:cs typeface="Segoe UI" panose="020B0502040204020203"/>
                </a:rPr>
                <a:t>Heterogeneous agents</a:t>
              </a:r>
              <a:endParaRPr lang="zh-CN" sz="1350" dirty="0">
                <a:solidFill>
                  <a:srgbClr val="1F2A37"/>
                </a:solidFill>
                <a:latin typeface="Segoe UI" panose="020B0502040204020203"/>
                <a:ea typeface="微软雅黑" panose="020B0503020204020204" charset="-122"/>
                <a:cs typeface="Segoe UI" panose="020B0502040204020203"/>
              </a:endParaRPr>
            </a:p>
          </p:txBody>
        </p:sp>
        <p:sp>
          <p:nvSpPr>
            <p:cNvPr id="40" name="TextBox 40"/>
            <p:cNvSpPr txBox="1"/>
            <p:nvPr/>
          </p:nvSpPr>
          <p:spPr>
            <a:xfrm>
              <a:off x="2878455" y="4712018"/>
              <a:ext cx="1816513" cy="274320"/>
            </a:xfrm>
            <a:prstGeom prst="rect">
              <a:avLst/>
            </a:prstGeom>
            <a:noFill/>
            <a:ln>
              <a:noFill/>
            </a:ln>
          </p:spPr>
          <p:txBody>
            <a:bodyPr wrap="none" lIns="0" tIns="0" rIns="0" bIns="0" anchor="t" anchorCtr="0">
              <a:spAutoFit/>
            </a:bodyPr>
            <a:lstStyle/>
            <a:p>
              <a:pPr algn="l"/>
              <a:r>
                <a:rPr lang="zh-CN" sz="1350" dirty="0">
                  <a:solidFill>
                    <a:srgbClr val="1F2A37"/>
                  </a:solidFill>
                  <a:latin typeface="Segoe UI" panose="020B0502040204020203"/>
                  <a:ea typeface="微软雅黑" panose="020B0503020204020204" charset="-122"/>
                  <a:cs typeface="Segoe UI" panose="020B0502040204020203"/>
                </a:rPr>
                <a:t>Repeated follow-ups</a:t>
              </a:r>
              <a:endParaRPr lang="zh-CN" sz="1350" dirty="0">
                <a:solidFill>
                  <a:srgbClr val="1F2A37"/>
                </a:solidFill>
                <a:latin typeface="Segoe UI" panose="020B0502040204020203"/>
                <a:ea typeface="微软雅黑" panose="020B0503020204020204" charset="-122"/>
                <a:cs typeface="Segoe UI" panose="020B0502040204020203"/>
              </a:endParaRPr>
            </a:p>
          </p:txBody>
        </p:sp>
        <p:sp>
          <p:nvSpPr>
            <p:cNvPr id="41" name="TextBox 41"/>
            <p:cNvSpPr txBox="1"/>
            <p:nvPr/>
          </p:nvSpPr>
          <p:spPr>
            <a:xfrm>
              <a:off x="5183505" y="4712018"/>
              <a:ext cx="1636490" cy="274320"/>
            </a:xfrm>
            <a:prstGeom prst="rect">
              <a:avLst/>
            </a:prstGeom>
            <a:noFill/>
            <a:ln>
              <a:noFill/>
            </a:ln>
          </p:spPr>
          <p:txBody>
            <a:bodyPr wrap="none" lIns="0" tIns="0" rIns="0" bIns="0" anchor="t" anchorCtr="0">
              <a:spAutoFit/>
            </a:bodyPr>
            <a:lstStyle/>
            <a:p>
              <a:pPr algn="l"/>
              <a:r>
                <a:rPr lang="zh-CN" sz="1350" dirty="0">
                  <a:solidFill>
                    <a:srgbClr val="1F2A37"/>
                  </a:solidFill>
                  <a:latin typeface="Segoe UI" panose="020B0502040204020203"/>
                  <a:ea typeface="微软雅黑" panose="020B0503020204020204" charset="-122"/>
                  <a:cs typeface="Segoe UI" panose="020B0502040204020203"/>
                </a:rPr>
                <a:t>Nonlinear updating</a:t>
              </a:r>
              <a:endParaRPr lang="zh-CN" sz="1350" dirty="0">
                <a:solidFill>
                  <a:srgbClr val="1F2A37"/>
                </a:solidFill>
                <a:latin typeface="Segoe UI" panose="020B0502040204020203"/>
                <a:ea typeface="微软雅黑" panose="020B0503020204020204" charset="-122"/>
                <a:cs typeface="Segoe UI" panose="020B0502040204020203"/>
              </a:endParaRPr>
            </a:p>
          </p:txBody>
        </p:sp>
        <p:sp>
          <p:nvSpPr>
            <p:cNvPr id="42" name="TextBox 42"/>
            <p:cNvSpPr txBox="1"/>
            <p:nvPr/>
          </p:nvSpPr>
          <p:spPr>
            <a:xfrm>
              <a:off x="7317105" y="4712018"/>
              <a:ext cx="1879521" cy="274320"/>
            </a:xfrm>
            <a:prstGeom prst="rect">
              <a:avLst/>
            </a:prstGeom>
            <a:noFill/>
            <a:ln>
              <a:noFill/>
            </a:ln>
          </p:spPr>
          <p:txBody>
            <a:bodyPr wrap="none" lIns="0" tIns="0" rIns="0" bIns="0" anchor="t" anchorCtr="0">
              <a:spAutoFit/>
            </a:bodyPr>
            <a:lstStyle/>
            <a:p>
              <a:pPr algn="l"/>
              <a:r>
                <a:rPr lang="zh-CN" sz="1350" dirty="0">
                  <a:solidFill>
                    <a:srgbClr val="1F2A37"/>
                  </a:solidFill>
                  <a:latin typeface="Segoe UI" panose="020B0502040204020203"/>
                  <a:ea typeface="微软雅黑" panose="020B0503020204020204" charset="-122"/>
                  <a:cs typeface="Segoe UI" panose="020B0502040204020203"/>
                </a:rPr>
                <a:t>Personalized outputs</a:t>
              </a:r>
              <a:endParaRPr lang="zh-CN" sz="1350" dirty="0">
                <a:solidFill>
                  <a:srgbClr val="1F2A37"/>
                </a:solidFill>
                <a:latin typeface="Segoe UI" panose="020B0502040204020203"/>
                <a:ea typeface="微软雅黑" panose="020B0503020204020204" charset="-122"/>
                <a:cs typeface="Segoe UI" panose="020B0502040204020203"/>
              </a:endParaRPr>
            </a:p>
          </p:txBody>
        </p:sp>
        <p:sp>
          <p:nvSpPr>
            <p:cNvPr id="43" name="TextBox 43"/>
            <p:cNvSpPr txBox="1"/>
            <p:nvPr/>
          </p:nvSpPr>
          <p:spPr>
            <a:xfrm>
              <a:off x="9679305" y="4712018"/>
              <a:ext cx="484346" cy="274320"/>
            </a:xfrm>
            <a:prstGeom prst="rect">
              <a:avLst/>
            </a:prstGeom>
            <a:noFill/>
            <a:ln>
              <a:noFill/>
            </a:ln>
          </p:spPr>
          <p:txBody>
            <a:bodyPr wrap="none" lIns="0" tIns="0" rIns="0" bIns="0" anchor="t" anchorCtr="0">
              <a:spAutoFit/>
            </a:bodyPr>
            <a:lstStyle/>
            <a:p>
              <a:pPr algn="l"/>
              <a:r>
                <a:rPr lang="zh-CN" sz="1350" dirty="0">
                  <a:solidFill>
                    <a:srgbClr val="1F2A37"/>
                  </a:solidFill>
                  <a:latin typeface="Segoe UI" panose="020B0502040204020203"/>
                  <a:ea typeface="微软雅黑" panose="020B0503020204020204" charset="-122"/>
                  <a:cs typeface="Segoe UI" panose="020B0502040204020203"/>
                </a:rPr>
                <a:t>Scale</a:t>
              </a:r>
              <a:endParaRPr lang="zh-CN" sz="1350" dirty="0">
                <a:solidFill>
                  <a:srgbClr val="1F2A37"/>
                </a:solidFill>
                <a:latin typeface="Segoe UI" panose="020B0502040204020203"/>
                <a:ea typeface="微软雅黑" panose="020B0503020204020204" charset="-122"/>
                <a:cs typeface="Segoe UI" panose="020B0502040204020203"/>
              </a:endParaRPr>
            </a:p>
          </p:txBody>
        </p:sp>
        <p:sp>
          <p:nvSpPr>
            <p:cNvPr id="44" name="Line 44"/>
            <p:cNvSpPr/>
            <p:nvPr/>
          </p:nvSpPr>
          <p:spPr>
            <a:xfrm>
              <a:off x="609600" y="5143500"/>
              <a:ext cx="10972800" cy="9525"/>
            </a:xfrm>
            <a:custGeom>
              <a:avLst/>
              <a:gdLst/>
              <a:ahLst/>
              <a:cxnLst/>
              <a:rect l="l" t="t" r="r" b="b"/>
              <a:pathLst>
                <a:path w="10972800" h="9525">
                  <a:moveTo>
                    <a:pt x="0" y="0"/>
                  </a:moveTo>
                  <a:lnTo>
                    <a:pt x="10972800" y="0"/>
                  </a:lnTo>
                </a:path>
              </a:pathLst>
            </a:custGeom>
            <a:noFill/>
            <a:ln w="9525">
              <a:solidFill>
                <a:srgbClr val="DDE5ED"/>
              </a:solidFill>
            </a:ln>
          </p:spPr>
        </p:sp>
        <p:sp>
          <p:nvSpPr>
            <p:cNvPr id="45" name="TextBox 45"/>
            <p:cNvSpPr txBox="1"/>
            <p:nvPr/>
          </p:nvSpPr>
          <p:spPr>
            <a:xfrm>
              <a:off x="590550" y="5438775"/>
              <a:ext cx="2547914" cy="304800"/>
            </a:xfrm>
            <a:prstGeom prst="rect">
              <a:avLst/>
            </a:prstGeom>
            <a:noFill/>
            <a:ln>
              <a:noFill/>
            </a:ln>
          </p:spPr>
          <p:txBody>
            <a:bodyPr wrap="none" lIns="0" tIns="0" rIns="0" bIns="0" anchor="t" anchorCtr="0">
              <a:spAutoFit/>
            </a:bodyPr>
            <a:lstStyle/>
            <a:p>
              <a:pPr algn="l"/>
              <a:r>
                <a:rPr lang="zh-CN" sz="1500" b="1" dirty="0">
                  <a:solidFill>
                    <a:srgbClr val="163A5F"/>
                  </a:solidFill>
                  <a:latin typeface="Segoe UI" panose="020B0502040204020203"/>
                  <a:ea typeface="微软雅黑" panose="020B0503020204020204" charset="-122"/>
                  <a:cs typeface="Segoe UI" panose="020B0502040204020203"/>
                </a:rPr>
                <a:t>Theoretical contribution</a:t>
              </a:r>
              <a:endParaRPr lang="zh-CN" sz="1500" b="1" dirty="0">
                <a:solidFill>
                  <a:srgbClr val="163A5F"/>
                </a:solidFill>
                <a:latin typeface="Segoe UI" panose="020B0502040204020203"/>
                <a:ea typeface="微软雅黑" panose="020B0503020204020204" charset="-122"/>
                <a:cs typeface="Segoe UI" panose="020B0502040204020203"/>
              </a:endParaRPr>
            </a:p>
          </p:txBody>
        </p:sp>
        <p:sp>
          <p:nvSpPr>
            <p:cNvPr id="46" name="TextBox 46"/>
            <p:cNvSpPr txBox="1"/>
            <p:nvPr/>
          </p:nvSpPr>
          <p:spPr>
            <a:xfrm>
              <a:off x="2820352" y="5446871"/>
              <a:ext cx="3884176" cy="289560"/>
            </a:xfrm>
            <a:prstGeom prst="rect">
              <a:avLst/>
            </a:prstGeom>
            <a:noFill/>
            <a:ln>
              <a:noFill/>
            </a:ln>
          </p:spPr>
          <p:txBody>
            <a:bodyPr wrap="none" lIns="0" tIns="0" rIns="0" bIns="0" anchor="t" anchorCtr="0">
              <a:spAutoFit/>
            </a:bodyPr>
            <a:lstStyle/>
            <a:p>
              <a:pPr algn="l"/>
              <a:r>
                <a:rPr lang="zh-CN" sz="1425" dirty="0">
                  <a:solidFill>
                    <a:srgbClr val="526273"/>
                  </a:solidFill>
                  <a:latin typeface="Segoe UI" panose="020B0502040204020203"/>
                  <a:ea typeface="微软雅黑" panose="020B0503020204020204" charset="-122"/>
                  <a:cs typeface="Segoe UI" panose="020B0502040204020203"/>
                </a:rPr>
                <a:t>comes from the mechanism relationships.</a:t>
              </a:r>
              <a:endParaRPr lang="zh-CN" sz="1425" dirty="0">
                <a:solidFill>
                  <a:srgbClr val="526273"/>
                </a:solidFill>
                <a:latin typeface="Segoe UI" panose="020B0502040204020203"/>
                <a:ea typeface="微软雅黑" panose="020B0503020204020204" charset="-122"/>
                <a:cs typeface="Segoe UI" panose="020B0502040204020203"/>
              </a:endParaRPr>
            </a:p>
          </p:txBody>
        </p:sp>
        <p:sp>
          <p:nvSpPr>
            <p:cNvPr id="47" name="TextBox 47"/>
            <p:cNvSpPr txBox="1"/>
            <p:nvPr/>
          </p:nvSpPr>
          <p:spPr>
            <a:xfrm>
              <a:off x="590550" y="5762625"/>
              <a:ext cx="1130236" cy="304800"/>
            </a:xfrm>
            <a:prstGeom prst="rect">
              <a:avLst/>
            </a:prstGeom>
            <a:noFill/>
            <a:ln>
              <a:noFill/>
            </a:ln>
          </p:spPr>
          <p:txBody>
            <a:bodyPr wrap="none" lIns="0" tIns="0" rIns="0" bIns="0" anchor="t" anchorCtr="0">
              <a:spAutoFit/>
            </a:bodyPr>
            <a:lstStyle/>
            <a:p>
              <a:pPr algn="l"/>
              <a:r>
                <a:rPr lang="zh-CN" sz="1500" b="1" dirty="0">
                  <a:solidFill>
                    <a:srgbClr val="163A5F"/>
                  </a:solidFill>
                  <a:latin typeface="Segoe UI" panose="020B0502040204020203"/>
                  <a:ea typeface="微软雅黑" panose="020B0503020204020204" charset="-122"/>
                  <a:cs typeface="Segoe UI" panose="020B0502040204020203"/>
                </a:rPr>
                <a:t>ABM’s role</a:t>
              </a:r>
              <a:endParaRPr lang="zh-CN" sz="1500" b="1" dirty="0">
                <a:solidFill>
                  <a:srgbClr val="163A5F"/>
                </a:solidFill>
                <a:latin typeface="Segoe UI" panose="020B0502040204020203"/>
                <a:ea typeface="微软雅黑" panose="020B0503020204020204" charset="-122"/>
                <a:cs typeface="Segoe UI" panose="020B0502040204020203"/>
              </a:endParaRPr>
            </a:p>
          </p:txBody>
        </p:sp>
        <p:sp>
          <p:nvSpPr>
            <p:cNvPr id="48" name="TextBox 48"/>
            <p:cNvSpPr txBox="1"/>
            <p:nvPr/>
          </p:nvSpPr>
          <p:spPr>
            <a:xfrm>
              <a:off x="1791652" y="5770721"/>
              <a:ext cx="5005316" cy="289560"/>
            </a:xfrm>
            <a:prstGeom prst="rect">
              <a:avLst/>
            </a:prstGeom>
            <a:noFill/>
            <a:ln>
              <a:noFill/>
            </a:ln>
          </p:spPr>
          <p:txBody>
            <a:bodyPr wrap="none" lIns="0" tIns="0" rIns="0" bIns="0" anchor="t" anchorCtr="0">
              <a:spAutoFit/>
            </a:bodyPr>
            <a:lstStyle/>
            <a:p>
              <a:pPr algn="l"/>
              <a:r>
                <a:rPr lang="zh-CN" sz="1425" dirty="0">
                  <a:solidFill>
                    <a:srgbClr val="526273"/>
                  </a:solidFill>
                  <a:latin typeface="Segoe UI" panose="020B0502040204020203"/>
                  <a:ea typeface="微软雅黑" panose="020B0503020204020204" charset="-122"/>
                  <a:cs typeface="Segoe UI" panose="020B0502040204020203"/>
                </a:rPr>
                <a:t>is mechanism tracing and counterfactual comparison.</a:t>
              </a:r>
              <a:endParaRPr lang="zh-CN" sz="1425" dirty="0">
                <a:solidFill>
                  <a:srgbClr val="526273"/>
                </a:solidFill>
                <a:latin typeface="Segoe UI" panose="020B0502040204020203"/>
                <a:ea typeface="微软雅黑" panose="020B0503020204020204" charset="-122"/>
                <a:cs typeface="Segoe UI" panose="020B0502040204020203"/>
              </a:endParaRPr>
            </a:p>
          </p:txBody>
        </p:sp>
      </p:grpSp>
      <p:sp>
        <p:nvSpPr>
          <p:cNvPr id="50" name="TextBox 50"/>
          <p:cNvSpPr txBox="1"/>
          <p:nvPr/>
        </p:nvSpPr>
        <p:spPr>
          <a:xfrm>
            <a:off x="11438954" y="6398895"/>
            <a:ext cx="154877" cy="182880"/>
          </a:xfrm>
          <a:prstGeom prst="rect">
            <a:avLst/>
          </a:prstGeom>
          <a:noFill/>
          <a:ln>
            <a:noFill/>
          </a:ln>
        </p:spPr>
        <p:txBody>
          <a:bodyPr wrap="none" lIns="0" tIns="0" rIns="0" bIns="0" anchor="t" anchorCtr="0">
            <a:spAutoFit/>
          </a:bodyPr>
          <a:lstStyle/>
          <a:p>
            <a:pPr algn="r"/>
            <a:r>
              <a:rPr lang="zh-CN" sz="900" dirty="0">
                <a:solidFill>
                  <a:srgbClr val="7B8794"/>
                </a:solidFill>
                <a:latin typeface="Segoe UI" panose="020B0502040204020203"/>
                <a:ea typeface="微软雅黑" panose="020B0503020204020204" charset="-122"/>
                <a:cs typeface="Segoe UI" panose="020B0502040204020203"/>
              </a:rPr>
              <a:t>09</a:t>
            </a:r>
            <a:endParaRPr lang="zh-CN" sz="900"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400"/>
                                        <p:tgtEl>
                                          <p:spTgt spid="14"/>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26"/>
                                        </p:tgtEl>
                                        <p:attrNameLst>
                                          <p:attrName>style.visibility</p:attrName>
                                        </p:attrNameLst>
                                      </p:cBhvr>
                                      <p:to>
                                        <p:strVal val="visible"/>
                                      </p:to>
                                    </p:set>
                                    <p:animEffect transition="in" filter="slide(fromBottom)">
                                      <p:cBhvr>
                                        <p:cTn id="11" dur="400"/>
                                        <p:tgtEl>
                                          <p:spTgt spid="26"/>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image">
                                      <p:cBhvr>
                                        <p:cTn id="15" dur="400"/>
                                        <p:tgtEl>
                                          <p:spTgt spid="37"/>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49"/>
                                        </p:tgtEl>
                                        <p:attrNameLst>
                                          <p:attrName>style.visibility</p:attrName>
                                        </p:attrNameLst>
                                      </p:cBhvr>
                                      <p:to>
                                        <p:strVal val="visible"/>
                                      </p:to>
                                    </p:set>
                                    <p:animEffect transition="in" filter="fade">
                                      <p:cBhvr>
                                        <p:cTn id="19" dur="4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6" grpId="0"/>
      <p:bldP spid="37" grpId="0"/>
      <p:bldP spid="49"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grpSp>
        <p:nvGrpSpPr>
          <p:cNvPr id="5" name="Group 5"/>
          <p:cNvGrpSpPr/>
          <p:nvPr/>
        </p:nvGrpSpPr>
        <p:grpSpPr>
          <a:xfrm>
            <a:off x="577215" y="277178"/>
            <a:ext cx="8098274" cy="668178"/>
            <a:chOff x="577215" y="277178"/>
            <a:chExt cx="8098274" cy="668178"/>
          </a:xfrm>
        </p:grpSpPr>
        <p:sp>
          <p:nvSpPr>
            <p:cNvPr id="3" name="TextBox 3"/>
            <p:cNvSpPr txBox="1"/>
            <p:nvPr/>
          </p:nvSpPr>
          <p:spPr>
            <a:xfrm>
              <a:off x="577215" y="277178"/>
              <a:ext cx="8098274" cy="518160"/>
            </a:xfrm>
            <a:prstGeom prst="rect">
              <a:avLst/>
            </a:prstGeom>
            <a:noFill/>
            <a:ln>
              <a:noFill/>
            </a:ln>
          </p:spPr>
          <p:txBody>
            <a:bodyPr wrap="none" lIns="0" tIns="0" rIns="0" bIns="0" anchor="t" anchorCtr="0">
              <a:spAutoFit/>
            </a:bodyPr>
            <a:lstStyle/>
            <a:p>
              <a:pPr algn="l"/>
              <a:r>
                <a:rPr lang="zh-CN" sz="2550" b="1" dirty="0">
                  <a:solidFill>
                    <a:srgbClr val="163A5F"/>
                  </a:solidFill>
                  <a:latin typeface="Segoe UI" panose="020B0502040204020203"/>
                  <a:ea typeface="微软雅黑" panose="020B0503020204020204" charset="-122"/>
                  <a:cs typeface="Segoe UI" panose="020B0502040204020203"/>
                </a:rPr>
                <a:t>Opinion Dynamics Models Human Group Behavior</a:t>
              </a:r>
              <a:endParaRPr lang="zh-CN" sz="2550" b="1" dirty="0">
                <a:solidFill>
                  <a:srgbClr val="163A5F"/>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595312" y="716756"/>
              <a:ext cx="4424124" cy="228600"/>
            </a:xfrm>
            <a:prstGeom prst="rect">
              <a:avLst/>
            </a:prstGeom>
            <a:noFill/>
            <a:ln>
              <a:noFill/>
            </a:ln>
          </p:spPr>
          <p:txBody>
            <a:bodyPr wrap="none" lIns="0" tIns="0" rIns="0" bIns="0" anchor="t" anchorCtr="0">
              <a:spAutoFit/>
            </a:bodyPr>
            <a:lstStyle/>
            <a:p>
              <a:pPr algn="l"/>
              <a:r>
                <a:rPr lang="zh-CN" sz="1125" dirty="0">
                  <a:solidFill>
                    <a:srgbClr val="5B7FA3"/>
                  </a:solidFill>
                  <a:latin typeface="Segoe UI" panose="020B0502040204020203"/>
                  <a:ea typeface="微软雅黑" panose="020B0503020204020204" charset="-122"/>
                  <a:cs typeface="Segoe UI" panose="020B0502040204020203"/>
                </a:rPr>
                <a:t>How users update positions after receiving an LLM response</a:t>
              </a:r>
              <a:endParaRPr lang="zh-CN" sz="1125" dirty="0">
                <a:solidFill>
                  <a:srgbClr val="5B7FA3"/>
                </a:solidFill>
                <a:latin typeface="Segoe UI" panose="020B0502040204020203"/>
                <a:ea typeface="微软雅黑" panose="020B0503020204020204" charset="-122"/>
                <a:cs typeface="Segoe UI" panose="020B0502040204020203"/>
              </a:endParaRPr>
            </a:p>
          </p:txBody>
        </p:sp>
      </p:grpSp>
      <p:grpSp>
        <p:nvGrpSpPr>
          <p:cNvPr id="11" name="Group 11"/>
          <p:cNvGrpSpPr/>
          <p:nvPr/>
        </p:nvGrpSpPr>
        <p:grpSpPr>
          <a:xfrm>
            <a:off x="609600" y="1162050"/>
            <a:ext cx="5257800" cy="2000250"/>
            <a:chOff x="609600" y="1162050"/>
            <a:chExt cx="5257800" cy="2000250"/>
          </a:xfrm>
        </p:grpSpPr>
        <p:sp>
          <p:nvSpPr>
            <p:cNvPr id="6" name="Rectangle 6"/>
            <p:cNvSpPr/>
            <p:nvPr/>
          </p:nvSpPr>
          <p:spPr>
            <a:xfrm>
              <a:off x="609600" y="1162050"/>
              <a:ext cx="5257800" cy="2000250"/>
            </a:xfrm>
            <a:prstGeom prst="rect">
              <a:avLst/>
            </a:prstGeom>
            <a:solidFill>
              <a:srgbClr val="FFFFFF"/>
            </a:solidFill>
            <a:ln w="9525">
              <a:solidFill>
                <a:srgbClr val="CCD6E1"/>
              </a:solidFill>
            </a:ln>
          </p:spPr>
        </p:sp>
        <p:sp>
          <p:nvSpPr>
            <p:cNvPr id="7" name="TextBox 7"/>
            <p:cNvSpPr txBox="1"/>
            <p:nvPr/>
          </p:nvSpPr>
          <p:spPr>
            <a:xfrm>
              <a:off x="861060" y="1394460"/>
              <a:ext cx="1433455" cy="243840"/>
            </a:xfrm>
            <a:prstGeom prst="rect">
              <a:avLst/>
            </a:prstGeom>
            <a:noFill/>
            <a:ln>
              <a:noFill/>
            </a:ln>
          </p:spPr>
          <p:txBody>
            <a:bodyPr wrap="none" lIns="0" tIns="0" rIns="0" bIns="0" anchor="t" anchorCtr="0">
              <a:spAutoFit/>
            </a:bodyPr>
            <a:lstStyle/>
            <a:p>
              <a:pPr algn="l"/>
              <a:r>
                <a:rPr lang="zh-CN" sz="1200" b="1" dirty="0">
                  <a:solidFill>
                    <a:srgbClr val="163A5F"/>
                  </a:solidFill>
                  <a:latin typeface="Segoe UI" panose="020B0502040204020203"/>
                  <a:ea typeface="微软雅黑" panose="020B0503020204020204" charset="-122"/>
                  <a:cs typeface="Segoe UI" panose="020B0502040204020203"/>
                </a:rPr>
                <a:t>01 · BASIC UPDATE</a:t>
              </a:r>
              <a:endParaRPr lang="zh-CN" sz="1200" b="1" dirty="0">
                <a:solidFill>
                  <a:srgbClr val="163A5F"/>
                </a:solidFill>
                <a:latin typeface="Segoe UI" panose="020B0502040204020203"/>
                <a:ea typeface="微软雅黑" panose="020B0503020204020204" charset="-122"/>
                <a:cs typeface="Segoe UI" panose="020B0502040204020203"/>
              </a:endParaRPr>
            </a:p>
          </p:txBody>
        </p:sp>
        <p:sp>
          <p:nvSpPr>
            <p:cNvPr id="8" name="TextBox 8"/>
            <p:cNvSpPr txBox="1"/>
            <p:nvPr/>
          </p:nvSpPr>
          <p:spPr>
            <a:xfrm>
              <a:off x="860108" y="1786414"/>
              <a:ext cx="4112895" cy="497205"/>
            </a:xfrm>
            <a:prstGeom prst="rect">
              <a:avLst/>
            </a:prstGeom>
            <a:noFill/>
            <a:ln>
              <a:noFill/>
            </a:ln>
          </p:spPr>
          <p:txBody>
            <a:bodyPr wrap="square" lIns="0" tIns="0" rIns="0" bIns="0" anchor="t" anchorCtr="0"/>
            <a:lstStyle/>
            <a:p>
              <a:pPr algn="l">
                <a:lnSpc>
                  <a:spcPts val="1875"/>
                </a:lnSpc>
              </a:pPr>
              <a:r>
                <a:rPr lang="zh-CN" sz="1275" dirty="0">
                  <a:solidFill>
                    <a:srgbClr val="526273"/>
                  </a:solidFill>
                  <a:latin typeface="Segoe UI" panose="020B0502040204020203"/>
                  <a:ea typeface="微软雅黑" panose="020B0503020204020204" charset="-122"/>
                  <a:cs typeface="Segoe UI" panose="020B0502040204020203"/>
                </a:rPr>
                <a:t>xᵢ,ₜ is agent i’s opinion; sᵢ,ₜ is the policy position </a:t>
              </a:r>
              <a:r>
                <a:rPr lang="zh-CN" sz="1275" dirty="0">
                  <a:solidFill>
                    <a:srgbClr val="526273"/>
                  </a:solidFill>
                  <a:latin typeface="Segoe UI" panose="020B0502040204020203"/>
                  <a:ea typeface="微软雅黑" panose="020B0503020204020204" charset="-122"/>
                  <a:cs typeface="Segoe UI" panose="020B0502040204020203"/>
                </a:rPr>
                <a:t>implied by the LLM response.</a:t>
              </a:r>
              <a:endParaRPr lang="zh-CN" sz="1275" dirty="0">
                <a:solidFill>
                  <a:srgbClr val="526273"/>
                </a:solidFill>
                <a:latin typeface="Segoe UI" panose="020B0502040204020203"/>
                <a:ea typeface="微软雅黑" panose="020B0503020204020204" charset="-122"/>
                <a:cs typeface="Segoe UI" panose="020B0502040204020203"/>
              </a:endParaRPr>
            </a:p>
          </p:txBody>
        </p:sp>
        <p:sp>
          <p:nvSpPr>
            <p:cNvPr id="9" name="Rectangle 9"/>
            <p:cNvSpPr/>
            <p:nvPr/>
          </p:nvSpPr>
          <p:spPr>
            <a:xfrm>
              <a:off x="876300" y="2495550"/>
              <a:ext cx="4724400" cy="457200"/>
            </a:xfrm>
            <a:prstGeom prst="rect">
              <a:avLst/>
            </a:prstGeom>
            <a:solidFill>
              <a:srgbClr val="EAF0F7"/>
            </a:solidFill>
            <a:ln>
              <a:noFill/>
            </a:ln>
          </p:spPr>
        </p:sp>
        <p:pic>
          <p:nvPicPr>
            <p:cNvPr id="10" name="Image 10"/>
            <p:cNvPicPr>
              <a:picLocks noChangeAspect="1"/>
            </p:cNvPicPr>
            <p:nvPr/>
          </p:nvPicPr>
          <p:blipFill>
            <a:blip r:embed="rId1"/>
            <a:stretch>
              <a:fillRect/>
            </a:stretch>
          </p:blipFill>
          <p:spPr>
            <a:xfrm>
              <a:off x="1640040" y="2590800"/>
              <a:ext cx="3196920" cy="295275"/>
            </a:xfrm>
            <a:prstGeom prst="rect">
              <a:avLst/>
            </a:prstGeom>
          </p:spPr>
        </p:pic>
      </p:grpSp>
      <p:grpSp>
        <p:nvGrpSpPr>
          <p:cNvPr id="17" name="Group 17"/>
          <p:cNvGrpSpPr/>
          <p:nvPr/>
        </p:nvGrpSpPr>
        <p:grpSpPr>
          <a:xfrm>
            <a:off x="6096000" y="1162050"/>
            <a:ext cx="5486400" cy="2000250"/>
            <a:chOff x="6096000" y="1162050"/>
            <a:chExt cx="5486400" cy="2000250"/>
          </a:xfrm>
        </p:grpSpPr>
        <p:sp>
          <p:nvSpPr>
            <p:cNvPr id="12" name="Rectangle 12"/>
            <p:cNvSpPr/>
            <p:nvPr/>
          </p:nvSpPr>
          <p:spPr>
            <a:xfrm>
              <a:off x="6096000" y="1162050"/>
              <a:ext cx="5486400" cy="2000250"/>
            </a:xfrm>
            <a:prstGeom prst="rect">
              <a:avLst/>
            </a:prstGeom>
            <a:solidFill>
              <a:srgbClr val="FFFFFF"/>
            </a:solidFill>
            <a:ln w="9525">
              <a:solidFill>
                <a:srgbClr val="CCD6E1"/>
              </a:solidFill>
            </a:ln>
          </p:spPr>
        </p:sp>
        <p:sp>
          <p:nvSpPr>
            <p:cNvPr id="13" name="TextBox 13"/>
            <p:cNvSpPr txBox="1"/>
            <p:nvPr/>
          </p:nvSpPr>
          <p:spPr>
            <a:xfrm>
              <a:off x="6347460" y="1394460"/>
              <a:ext cx="2055133" cy="243840"/>
            </a:xfrm>
            <a:prstGeom prst="rect">
              <a:avLst/>
            </a:prstGeom>
            <a:noFill/>
            <a:ln>
              <a:noFill/>
            </a:ln>
          </p:spPr>
          <p:txBody>
            <a:bodyPr wrap="none" lIns="0" tIns="0" rIns="0" bIns="0" anchor="t" anchorCtr="0">
              <a:spAutoFit/>
            </a:bodyPr>
            <a:lstStyle/>
            <a:p>
              <a:pPr algn="l"/>
              <a:r>
                <a:rPr lang="zh-CN" sz="1200" b="1" dirty="0">
                  <a:solidFill>
                    <a:srgbClr val="163A5F"/>
                  </a:solidFill>
                  <a:latin typeface="Segoe UI" panose="020B0502040204020203"/>
                  <a:ea typeface="微软雅黑" panose="020B0503020204020204" charset="-122"/>
                  <a:cs typeface="Segoe UI" panose="020B0502040204020203"/>
                </a:rPr>
                <a:t>02 · BOUNDED CONFIDENCE</a:t>
              </a:r>
              <a:endParaRPr lang="zh-CN" sz="1200" b="1" dirty="0">
                <a:solidFill>
                  <a:srgbClr val="163A5F"/>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6346508" y="1786414"/>
              <a:ext cx="4193858" cy="497205"/>
            </a:xfrm>
            <a:prstGeom prst="rect">
              <a:avLst/>
            </a:prstGeom>
            <a:noFill/>
            <a:ln>
              <a:noFill/>
            </a:ln>
          </p:spPr>
          <p:txBody>
            <a:bodyPr wrap="square" lIns="0" tIns="0" rIns="0" bIns="0" anchor="t" anchorCtr="0"/>
            <a:lstStyle/>
            <a:p>
              <a:pPr algn="l">
                <a:lnSpc>
                  <a:spcPts val="1875"/>
                </a:lnSpc>
              </a:pPr>
              <a:r>
                <a:rPr lang="zh-CN" sz="1275" dirty="0">
                  <a:solidFill>
                    <a:srgbClr val="526273"/>
                  </a:solidFill>
                  <a:latin typeface="Segoe UI" panose="020B0502040204020203"/>
                  <a:ea typeface="微软雅黑" panose="020B0503020204020204" charset="-122"/>
                  <a:cs typeface="Segoe UI" panose="020B0502040204020203"/>
                </a:rPr>
                <a:t>λᵢ is reliance on the LLM. The agent accepts only </a:t>
              </a:r>
              <a:r>
                <a:rPr lang="zh-CN" sz="1275" dirty="0">
                  <a:solidFill>
                    <a:srgbClr val="526273"/>
                  </a:solidFill>
                  <a:latin typeface="Segoe UI" panose="020B0502040204020203"/>
                  <a:ea typeface="微软雅黑" panose="020B0503020204020204" charset="-122"/>
                  <a:cs typeface="Segoe UI" panose="020B0502040204020203"/>
                </a:rPr>
                <a:t>information within threshold τᵢ of its current view.</a:t>
              </a:r>
              <a:endParaRPr lang="zh-CN" sz="1275" dirty="0">
                <a:solidFill>
                  <a:srgbClr val="526273"/>
                </a:solidFill>
                <a:latin typeface="Segoe UI" panose="020B0502040204020203"/>
                <a:ea typeface="微软雅黑" panose="020B0503020204020204" charset="-122"/>
                <a:cs typeface="Segoe UI" panose="020B0502040204020203"/>
              </a:endParaRPr>
            </a:p>
          </p:txBody>
        </p:sp>
        <p:sp>
          <p:nvSpPr>
            <p:cNvPr id="15" name="Rectangle 15"/>
            <p:cNvSpPr/>
            <p:nvPr/>
          </p:nvSpPr>
          <p:spPr>
            <a:xfrm>
              <a:off x="6362700" y="2495550"/>
              <a:ext cx="4953000" cy="457200"/>
            </a:xfrm>
            <a:prstGeom prst="rect">
              <a:avLst/>
            </a:prstGeom>
            <a:solidFill>
              <a:srgbClr val="EAF0F7"/>
            </a:solidFill>
            <a:ln>
              <a:noFill/>
            </a:ln>
          </p:spPr>
        </p:sp>
        <p:pic>
          <p:nvPicPr>
            <p:cNvPr id="16" name="Image 16"/>
            <p:cNvPicPr>
              <a:picLocks noChangeAspect="1"/>
            </p:cNvPicPr>
            <p:nvPr/>
          </p:nvPicPr>
          <p:blipFill>
            <a:blip r:embed="rId2"/>
            <a:stretch>
              <a:fillRect/>
            </a:stretch>
          </p:blipFill>
          <p:spPr>
            <a:xfrm>
              <a:off x="7662130" y="2533650"/>
              <a:ext cx="2354140" cy="400050"/>
            </a:xfrm>
            <a:prstGeom prst="rect">
              <a:avLst/>
            </a:prstGeom>
          </p:spPr>
        </p:pic>
      </p:grpSp>
      <p:grpSp>
        <p:nvGrpSpPr>
          <p:cNvPr id="21" name="Group 21"/>
          <p:cNvGrpSpPr/>
          <p:nvPr/>
        </p:nvGrpSpPr>
        <p:grpSpPr>
          <a:xfrm>
            <a:off x="609600" y="3562350"/>
            <a:ext cx="5257800" cy="1752600"/>
            <a:chOff x="609600" y="3562350"/>
            <a:chExt cx="5257800" cy="1752600"/>
          </a:xfrm>
        </p:grpSpPr>
        <p:sp>
          <p:nvSpPr>
            <p:cNvPr id="18" name="Rectangle 18"/>
            <p:cNvSpPr/>
            <p:nvPr/>
          </p:nvSpPr>
          <p:spPr>
            <a:xfrm>
              <a:off x="609600" y="3562350"/>
              <a:ext cx="5257800" cy="1752600"/>
            </a:xfrm>
            <a:prstGeom prst="rect">
              <a:avLst/>
            </a:prstGeom>
            <a:solidFill>
              <a:srgbClr val="163A5F"/>
            </a:solidFill>
            <a:ln>
              <a:noFill/>
            </a:ln>
          </p:spPr>
        </p:sp>
        <p:sp>
          <p:nvSpPr>
            <p:cNvPr id="19" name="TextBox 19"/>
            <p:cNvSpPr txBox="1"/>
            <p:nvPr/>
          </p:nvSpPr>
          <p:spPr>
            <a:xfrm>
              <a:off x="861060" y="3813810"/>
              <a:ext cx="2164347"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Segoe UI" panose="020B0502040204020203"/>
                  <a:ea typeface="微软雅黑" panose="020B0503020204020204" charset="-122"/>
                  <a:cs typeface="Segoe UI" panose="020B0502040204020203"/>
                </a:rPr>
                <a:t>OUTCOME A · CONVERGENCE</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20" name="TextBox 20"/>
            <p:cNvSpPr txBox="1"/>
            <p:nvPr/>
          </p:nvSpPr>
          <p:spPr>
            <a:xfrm>
              <a:off x="854392" y="4233386"/>
              <a:ext cx="4138327" cy="674370"/>
            </a:xfrm>
            <a:prstGeom prst="rect">
              <a:avLst/>
            </a:prstGeom>
            <a:noFill/>
            <a:ln>
              <a:noFill/>
            </a:ln>
          </p:spPr>
          <p:txBody>
            <a:bodyPr wrap="square" lIns="0" tIns="0" rIns="0" bIns="0" anchor="t" anchorCtr="0"/>
            <a:lstStyle/>
            <a:p>
              <a:pPr algn="l">
                <a:lnSpc>
                  <a:spcPts val="2550"/>
                </a:lnSpc>
              </a:pPr>
              <a:r>
                <a:rPr lang="zh-CN" sz="1725" b="1" dirty="0">
                  <a:solidFill>
                    <a:srgbClr val="FFFFFF"/>
                  </a:solidFill>
                  <a:latin typeface="Segoe UI" panose="020B0502040204020203"/>
                  <a:ea typeface="微软雅黑" panose="020B0503020204020204" charset="-122"/>
                  <a:cs typeface="Segoe UI" panose="020B0502040204020203"/>
                </a:rPr>
                <a:t>Similar answers from a shared model </a:t>
              </a:r>
              <a:r>
                <a:rPr lang="zh-CN" sz="1725" b="1" dirty="0">
                  <a:solidFill>
                    <a:srgbClr val="FFFFFF"/>
                  </a:solidFill>
                  <a:latin typeface="Segoe UI" panose="020B0502040204020203"/>
                  <a:ea typeface="微软雅黑" panose="020B0503020204020204" charset="-122"/>
                  <a:cs typeface="Segoe UI" panose="020B0502040204020203"/>
                </a:rPr>
                <a:t>pull positions toward one another.</a:t>
              </a:r>
              <a:endParaRPr lang="zh-CN" sz="1725" b="1" dirty="0">
                <a:solidFill>
                  <a:srgbClr val="FFFFFF"/>
                </a:solidFill>
                <a:latin typeface="Segoe UI" panose="020B0502040204020203"/>
                <a:ea typeface="微软雅黑" panose="020B0503020204020204" charset="-122"/>
                <a:cs typeface="Segoe UI" panose="020B0502040204020203"/>
              </a:endParaRPr>
            </a:p>
          </p:txBody>
        </p:sp>
      </p:grpSp>
      <p:grpSp>
        <p:nvGrpSpPr>
          <p:cNvPr id="25" name="Group 25"/>
          <p:cNvGrpSpPr/>
          <p:nvPr/>
        </p:nvGrpSpPr>
        <p:grpSpPr>
          <a:xfrm>
            <a:off x="6096000" y="3562350"/>
            <a:ext cx="5486400" cy="1752600"/>
            <a:chOff x="6096000" y="3562350"/>
            <a:chExt cx="5486400" cy="1752600"/>
          </a:xfrm>
        </p:grpSpPr>
        <p:sp>
          <p:nvSpPr>
            <p:cNvPr id="22" name="Rectangle 22"/>
            <p:cNvSpPr/>
            <p:nvPr/>
          </p:nvSpPr>
          <p:spPr>
            <a:xfrm>
              <a:off x="6096000" y="3562350"/>
              <a:ext cx="5486400" cy="1752600"/>
            </a:xfrm>
            <a:prstGeom prst="rect">
              <a:avLst/>
            </a:prstGeom>
            <a:solidFill>
              <a:srgbClr val="FFFFFF"/>
            </a:solidFill>
            <a:ln w="19050">
              <a:solidFill>
                <a:srgbClr val="B42318"/>
              </a:solidFill>
            </a:ln>
          </p:spPr>
        </p:sp>
        <p:sp>
          <p:nvSpPr>
            <p:cNvPr id="23" name="TextBox 23"/>
            <p:cNvSpPr txBox="1"/>
            <p:nvPr/>
          </p:nvSpPr>
          <p:spPr>
            <a:xfrm>
              <a:off x="6347460" y="3813810"/>
              <a:ext cx="3046457" cy="243840"/>
            </a:xfrm>
            <a:prstGeom prst="rect">
              <a:avLst/>
            </a:prstGeom>
            <a:noFill/>
            <a:ln>
              <a:noFill/>
            </a:ln>
          </p:spPr>
          <p:txBody>
            <a:bodyPr wrap="none" lIns="0" tIns="0" rIns="0" bIns="0" anchor="t" anchorCtr="0">
              <a:spAutoFit/>
            </a:bodyPr>
            <a:lstStyle/>
            <a:p>
              <a:pPr algn="l"/>
              <a:r>
                <a:rPr lang="zh-CN" sz="1200" b="1" dirty="0">
                  <a:solidFill>
                    <a:srgbClr val="B42318"/>
                  </a:solidFill>
                  <a:latin typeface="Segoe UI" panose="020B0502040204020203"/>
                  <a:ea typeface="微软雅黑" panose="020B0503020204020204" charset="-122"/>
                  <a:cs typeface="Segoe UI" panose="020B0502040204020203"/>
                </a:rPr>
                <a:t>OUTCOME B · DIVISION / POLARIZATION</a:t>
              </a:r>
              <a:endParaRPr lang="zh-CN" sz="1200" b="1" dirty="0">
                <a:solidFill>
                  <a:srgbClr val="B42318"/>
                </a:solidFill>
                <a:latin typeface="Segoe UI" panose="020B0502040204020203"/>
                <a:ea typeface="微软雅黑" panose="020B0503020204020204" charset="-122"/>
                <a:cs typeface="Segoe UI" panose="020B0502040204020203"/>
              </a:endParaRPr>
            </a:p>
          </p:txBody>
        </p:sp>
        <p:sp>
          <p:nvSpPr>
            <p:cNvPr id="24" name="TextBox 24"/>
            <p:cNvSpPr txBox="1"/>
            <p:nvPr/>
          </p:nvSpPr>
          <p:spPr>
            <a:xfrm>
              <a:off x="6340792" y="4233386"/>
              <a:ext cx="5035439" cy="674370"/>
            </a:xfrm>
            <a:prstGeom prst="rect">
              <a:avLst/>
            </a:prstGeom>
            <a:noFill/>
            <a:ln>
              <a:noFill/>
            </a:ln>
          </p:spPr>
          <p:txBody>
            <a:bodyPr wrap="square" lIns="0" tIns="0" rIns="0" bIns="0" anchor="t" anchorCtr="0"/>
            <a:lstStyle/>
            <a:p>
              <a:pPr algn="l">
                <a:lnSpc>
                  <a:spcPts val="2550"/>
                </a:lnSpc>
              </a:pPr>
              <a:r>
                <a:rPr lang="zh-CN" sz="1725" b="1" dirty="0">
                  <a:solidFill>
                    <a:srgbClr val="1F2A37"/>
                  </a:solidFill>
                  <a:latin typeface="Segoe UI" panose="020B0502040204020203"/>
                  <a:ea typeface="微软雅黑" panose="020B0503020204020204" charset="-122"/>
                  <a:cs typeface="Segoe UI" panose="020B0502040204020203"/>
                </a:rPr>
                <a:t>Position-conditioned evidence gives opposing </a:t>
              </a:r>
              <a:r>
                <a:rPr lang="zh-CN" sz="1725" b="1" dirty="0">
                  <a:solidFill>
                    <a:srgbClr val="1F2A37"/>
                  </a:solidFill>
                  <a:latin typeface="Segoe UI" panose="020B0502040204020203"/>
                  <a:ea typeface="微软雅黑" panose="020B0503020204020204" charset="-122"/>
                  <a:cs typeface="Segoe UI" panose="020B0502040204020203"/>
                </a:rPr>
                <a:t>camps directionally different answers.</a:t>
              </a:r>
              <a:endParaRPr lang="zh-CN" sz="1725" b="1" dirty="0">
                <a:solidFill>
                  <a:srgbClr val="1F2A37"/>
                </a:solidFill>
                <a:latin typeface="Segoe UI" panose="020B0502040204020203"/>
                <a:ea typeface="微软雅黑" panose="020B0503020204020204" charset="-122"/>
                <a:cs typeface="Segoe UI" panose="020B0502040204020203"/>
              </a:endParaRPr>
            </a:p>
          </p:txBody>
        </p:sp>
      </p:grpSp>
      <p:grpSp>
        <p:nvGrpSpPr>
          <p:cNvPr id="29" name="Group 29"/>
          <p:cNvGrpSpPr/>
          <p:nvPr/>
        </p:nvGrpSpPr>
        <p:grpSpPr>
          <a:xfrm>
            <a:off x="609600" y="5619750"/>
            <a:ext cx="10972800" cy="514350"/>
            <a:chOff x="609600" y="5619750"/>
            <a:chExt cx="10972800" cy="514350"/>
          </a:xfrm>
        </p:grpSpPr>
        <p:sp>
          <p:nvSpPr>
            <p:cNvPr id="26" name="Rectangle 26"/>
            <p:cNvSpPr/>
            <p:nvPr/>
          </p:nvSpPr>
          <p:spPr>
            <a:xfrm>
              <a:off x="609600" y="5619750"/>
              <a:ext cx="10972800" cy="514350"/>
            </a:xfrm>
            <a:prstGeom prst="rect">
              <a:avLst/>
            </a:prstGeom>
            <a:solidFill>
              <a:srgbClr val="EAF0F7"/>
            </a:solidFill>
            <a:ln>
              <a:noFill/>
            </a:ln>
          </p:spPr>
        </p:sp>
        <p:sp>
          <p:nvSpPr>
            <p:cNvPr id="27" name="TextBox 27"/>
            <p:cNvSpPr txBox="1"/>
            <p:nvPr/>
          </p:nvSpPr>
          <p:spPr>
            <a:xfrm>
              <a:off x="859155" y="5797868"/>
              <a:ext cx="1971782" cy="274320"/>
            </a:xfrm>
            <a:prstGeom prst="rect">
              <a:avLst/>
            </a:prstGeom>
            <a:noFill/>
            <a:ln>
              <a:noFill/>
            </a:ln>
          </p:spPr>
          <p:txBody>
            <a:bodyPr wrap="none" lIns="0" tIns="0" rIns="0" bIns="0" anchor="t" anchorCtr="0">
              <a:spAutoFit/>
            </a:bodyPr>
            <a:lstStyle/>
            <a:p>
              <a:pPr algn="l"/>
              <a:r>
                <a:rPr lang="zh-CN" sz="1350" b="1" dirty="0">
                  <a:solidFill>
                    <a:srgbClr val="163A5F"/>
                  </a:solidFill>
                  <a:latin typeface="Segoe UI" panose="020B0502040204020203"/>
                  <a:ea typeface="微软雅黑" panose="020B0503020204020204" charset="-122"/>
                  <a:cs typeface="Segoe UI" panose="020B0502040204020203"/>
                </a:rPr>
                <a:t>Boundary conditions:</a:t>
              </a:r>
              <a:endParaRPr lang="zh-CN" sz="1350" b="1" dirty="0">
                <a:solidFill>
                  <a:srgbClr val="163A5F"/>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2668905" y="5797868"/>
              <a:ext cx="7208187" cy="274320"/>
            </a:xfrm>
            <a:prstGeom prst="rect">
              <a:avLst/>
            </a:prstGeom>
            <a:noFill/>
            <a:ln>
              <a:noFill/>
            </a:ln>
          </p:spPr>
          <p:txBody>
            <a:bodyPr wrap="none" lIns="0" tIns="0" rIns="0" bIns="0" anchor="t" anchorCtr="0">
              <a:spAutoFit/>
            </a:bodyPr>
            <a:lstStyle/>
            <a:p>
              <a:pPr algn="l"/>
              <a:r>
                <a:rPr lang="zh-CN" sz="1350" dirty="0">
                  <a:solidFill>
                    <a:srgbClr val="526273"/>
                  </a:solidFill>
                  <a:latin typeface="Segoe UI" panose="020B0502040204020203"/>
                  <a:ea typeface="微软雅黑" panose="020B0503020204020204" charset="-122"/>
                  <a:cs typeface="Segoe UI" panose="020B0502040204020203"/>
                </a:rPr>
                <a:t>sycophancy and personalization shape the homogenizing effect of a shared model.</a:t>
              </a:r>
              <a:endParaRPr lang="zh-CN" sz="1350" dirty="0">
                <a:solidFill>
                  <a:srgbClr val="526273"/>
                </a:solidFill>
                <a:latin typeface="Segoe UI" panose="020B0502040204020203"/>
                <a:ea typeface="微软雅黑" panose="020B0503020204020204" charset="-122"/>
                <a:cs typeface="Segoe UI" panose="020B0502040204020203"/>
              </a:endParaRPr>
            </a:p>
          </p:txBody>
        </p:sp>
      </p:grpSp>
      <p:sp>
        <p:nvSpPr>
          <p:cNvPr id="30" name="TextBox 30"/>
          <p:cNvSpPr txBox="1"/>
          <p:nvPr/>
        </p:nvSpPr>
        <p:spPr>
          <a:xfrm>
            <a:off x="11438954" y="6398895"/>
            <a:ext cx="154877" cy="182880"/>
          </a:xfrm>
          <a:prstGeom prst="rect">
            <a:avLst/>
          </a:prstGeom>
          <a:noFill/>
          <a:ln>
            <a:noFill/>
          </a:ln>
        </p:spPr>
        <p:txBody>
          <a:bodyPr wrap="none" lIns="0" tIns="0" rIns="0" bIns="0" anchor="t" anchorCtr="0">
            <a:spAutoFit/>
          </a:bodyPr>
          <a:lstStyle/>
          <a:p>
            <a:pPr algn="r"/>
            <a:r>
              <a:rPr lang="zh-CN" sz="900" dirty="0">
                <a:solidFill>
                  <a:srgbClr val="7B8794"/>
                </a:solidFill>
                <a:latin typeface="Segoe UI" panose="020B0502040204020203"/>
                <a:ea typeface="微软雅黑" panose="020B0503020204020204" charset="-122"/>
                <a:cs typeface="Segoe UI" panose="020B0502040204020203"/>
              </a:rPr>
              <a:t>10</a:t>
            </a:r>
            <a:endParaRPr lang="zh-CN" sz="900"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nodeType="after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400"/>
                                        <p:tgtEl>
                                          <p:spTgt spid="11"/>
                                        </p:tgtEl>
                                      </p:cBhvr>
                                    </p:animEffect>
                                  </p:childTnLst>
                                </p:cTn>
                              </p:par>
                            </p:childTnLst>
                          </p:cTn>
                        </p:par>
                        <p:par>
                          <p:cTn id="8" fill="hold">
                            <p:stCondLst>
                              <p:cond delay="500"/>
                            </p:stCondLst>
                            <p:childTnLst>
                              <p:par>
                                <p:cTn id="9" presetID="2" presetClass="entr" presetSubtype="4"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slide(fromBottom)">
                                      <p:cBhvr>
                                        <p:cTn id="11" dur="400"/>
                                        <p:tgtEl>
                                          <p:spTgt spid="17"/>
                                        </p:tgtEl>
                                      </p:cBhvr>
                                    </p:animEffect>
                                  </p:childTnLst>
                                </p:cTn>
                              </p:par>
                            </p:childTnLst>
                          </p:cTn>
                        </p:par>
                        <p:par>
                          <p:cTn id="12" fill="hold">
                            <p:stCondLst>
                              <p:cond delay="1000"/>
                            </p:stCondLst>
                            <p:childTnLst>
                              <p:par>
                                <p:cTn id="13" presetID="23" presetClass="entr" presetSubtype="16" fill="hold"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image">
                                      <p:cBhvr>
                                        <p:cTn id="15" dur="400"/>
                                        <p:tgtEl>
                                          <p:spTgt spid="21"/>
                                        </p:tgtEl>
                                      </p:cBhvr>
                                    </p:animEffect>
                                  </p:childTnLst>
                                </p:cTn>
                              </p:par>
                            </p:childTnLst>
                          </p:cTn>
                        </p:par>
                        <p:par>
                          <p:cTn id="16" fill="hold">
                            <p:stCondLst>
                              <p:cond delay="1500"/>
                            </p:stCondLst>
                            <p:childTnLst>
                              <p:par>
                                <p:cTn id="17" presetID="10" presetClass="entr" presetSubtype="0" fill="hold" nodeType="afterEffect">
                                  <p:stCondLst>
                                    <p:cond delay="0"/>
                                  </p:stCondLst>
                                  <p:childTnLst>
                                    <p:set>
                                      <p:cBhvr>
                                        <p:cTn id="18" dur="1" fill="hold">
                                          <p:stCondLst>
                                            <p:cond delay="0"/>
                                          </p:stCondLst>
                                        </p:cTn>
                                        <p:tgtEl>
                                          <p:spTgt spid="25"/>
                                        </p:tgtEl>
                                        <p:attrNameLst>
                                          <p:attrName>style.visibility</p:attrName>
                                        </p:attrNameLst>
                                      </p:cBhvr>
                                      <p:to>
                                        <p:strVal val="visible"/>
                                      </p:to>
                                    </p:set>
                                    <p:animEffect transition="in" filter="fade">
                                      <p:cBhvr>
                                        <p:cTn id="19" dur="400"/>
                                        <p:tgtEl>
                                          <p:spTgt spid="25"/>
                                        </p:tgtEl>
                                      </p:cBhvr>
                                    </p:animEffect>
                                  </p:childTnLst>
                                </p:cTn>
                              </p:par>
                            </p:childTnLst>
                          </p:cTn>
                        </p:par>
                        <p:par>
                          <p:cTn id="20" fill="hold">
                            <p:stCondLst>
                              <p:cond delay="2000"/>
                            </p:stCondLst>
                            <p:childTnLst>
                              <p:par>
                                <p:cTn id="21" presetID="22" presetClass="entr" presetSubtype="1" fill="hold" nodeType="afterEffect">
                                  <p:stCondLst>
                                    <p:cond delay="0"/>
                                  </p:stCondLst>
                                  <p:childTnLst>
                                    <p:set>
                                      <p:cBhvr>
                                        <p:cTn id="22" dur="1" fill="hold">
                                          <p:stCondLst>
                                            <p:cond delay="0"/>
                                          </p:stCondLst>
                                        </p:cTn>
                                        <p:tgtEl>
                                          <p:spTgt spid="29"/>
                                        </p:tgtEl>
                                        <p:attrNameLst>
                                          <p:attrName>style.visibility</p:attrName>
                                        </p:attrNameLst>
                                      </p:cBhvr>
                                      <p:to>
                                        <p:strVal val="visible"/>
                                      </p:to>
                                    </p:set>
                                    <p:animEffect transition="in" filter="wipe(left)">
                                      <p:cBhvr>
                                        <p:cTn id="23" dur="4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7" grpId="0"/>
      <p:bldP spid="21" grpId="0"/>
      <p:bldP spid="25" grpId="0"/>
      <p:bldP spid="2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grpSp>
        <p:nvGrpSpPr>
          <p:cNvPr id="5" name="Group 5"/>
          <p:cNvGrpSpPr/>
          <p:nvPr/>
        </p:nvGrpSpPr>
        <p:grpSpPr>
          <a:xfrm>
            <a:off x="577215" y="277178"/>
            <a:ext cx="11019472" cy="518160"/>
            <a:chOff x="577215" y="277178"/>
            <a:chExt cx="11019472" cy="518160"/>
          </a:xfrm>
        </p:grpSpPr>
        <p:sp>
          <p:nvSpPr>
            <p:cNvPr id="3" name="TextBox 3"/>
            <p:cNvSpPr txBox="1"/>
            <p:nvPr/>
          </p:nvSpPr>
          <p:spPr>
            <a:xfrm>
              <a:off x="577215" y="277178"/>
              <a:ext cx="2403412" cy="518160"/>
            </a:xfrm>
            <a:prstGeom prst="rect">
              <a:avLst/>
            </a:prstGeom>
            <a:noFill/>
            <a:ln>
              <a:noFill/>
            </a:ln>
          </p:spPr>
          <p:txBody>
            <a:bodyPr wrap="none" lIns="0" tIns="0" rIns="0" bIns="0" anchor="t" anchorCtr="0">
              <a:spAutoFit/>
            </a:bodyPr>
            <a:lstStyle/>
            <a:p>
              <a:pPr algn="l"/>
              <a:r>
                <a:rPr lang="zh-CN" sz="2550" b="1" dirty="0">
                  <a:solidFill>
                    <a:srgbClr val="163A5F"/>
                  </a:solidFill>
                  <a:latin typeface="Segoe UI" panose="020B0502040204020203"/>
                  <a:ea typeface="微软雅黑" panose="020B0503020204020204" charset="-122"/>
                  <a:cs typeface="Segoe UI" panose="020B0502040204020203"/>
                </a:rPr>
                <a:t>Overall Model</a:t>
              </a:r>
              <a:endParaRPr lang="zh-CN" sz="2550" b="1" dirty="0">
                <a:solidFill>
                  <a:srgbClr val="163A5F"/>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7727632" y="431006"/>
              <a:ext cx="3869055" cy="228600"/>
            </a:xfrm>
            <a:prstGeom prst="rect">
              <a:avLst/>
            </a:prstGeom>
            <a:noFill/>
            <a:ln>
              <a:noFill/>
            </a:ln>
          </p:spPr>
          <p:txBody>
            <a:bodyPr wrap="none" lIns="0" tIns="0" rIns="0" bIns="0" anchor="t" anchorCtr="0">
              <a:spAutoFit/>
            </a:bodyPr>
            <a:lstStyle/>
            <a:p>
              <a:pPr algn="r"/>
              <a:r>
                <a:rPr lang="zh-CN" sz="1125" dirty="0">
                  <a:solidFill>
                    <a:srgbClr val="7B8794"/>
                  </a:solidFill>
                  <a:latin typeface="Segoe UI" panose="020B0502040204020203"/>
                  <a:ea typeface="微软雅黑" panose="020B0503020204020204" charset="-122"/>
                  <a:cs typeface="Segoe UI" panose="020B0502040204020203"/>
                </a:rPr>
                <a:t>Three-layer measurement and updating architecture</a:t>
              </a:r>
              <a:endParaRPr lang="zh-CN" sz="1125" dirty="0">
                <a:solidFill>
                  <a:srgbClr val="7B8794"/>
                </a:solidFill>
                <a:latin typeface="Segoe UI" panose="020B0502040204020203"/>
                <a:ea typeface="微软雅黑" panose="020B0503020204020204" charset="-122"/>
                <a:cs typeface="Segoe UI" panose="020B0502040204020203"/>
              </a:endParaRPr>
            </a:p>
          </p:txBody>
        </p:sp>
      </p:grpSp>
      <p:grpSp>
        <p:nvGrpSpPr>
          <p:cNvPr id="14" name="Group 14"/>
          <p:cNvGrpSpPr/>
          <p:nvPr/>
        </p:nvGrpSpPr>
        <p:grpSpPr>
          <a:xfrm>
            <a:off x="609600" y="990600"/>
            <a:ext cx="7810500" cy="1066800"/>
            <a:chOff x="609600" y="990600"/>
            <a:chExt cx="7810500" cy="1066800"/>
          </a:xfrm>
        </p:grpSpPr>
        <p:sp>
          <p:nvSpPr>
            <p:cNvPr id="6" name="Rectangle 6"/>
            <p:cNvSpPr/>
            <p:nvPr/>
          </p:nvSpPr>
          <p:spPr>
            <a:xfrm>
              <a:off x="609600" y="990600"/>
              <a:ext cx="7810500" cy="1066800"/>
            </a:xfrm>
            <a:prstGeom prst="rect">
              <a:avLst/>
            </a:prstGeom>
            <a:solidFill>
              <a:srgbClr val="FFFFFF"/>
            </a:solidFill>
            <a:ln w="9525">
              <a:solidFill>
                <a:srgbClr val="CCD6E1"/>
              </a:solidFill>
            </a:ln>
          </p:spPr>
        </p:sp>
        <p:sp>
          <p:nvSpPr>
            <p:cNvPr id="7" name="Rectangle 7"/>
            <p:cNvSpPr/>
            <p:nvPr/>
          </p:nvSpPr>
          <p:spPr>
            <a:xfrm>
              <a:off x="609600" y="990600"/>
              <a:ext cx="400050" cy="1066800"/>
            </a:xfrm>
            <a:prstGeom prst="rect">
              <a:avLst/>
            </a:prstGeom>
            <a:solidFill>
              <a:srgbClr val="163A5F"/>
            </a:solidFill>
            <a:ln>
              <a:noFill/>
            </a:ln>
          </p:spPr>
        </p:sp>
        <p:sp>
          <p:nvSpPr>
            <p:cNvPr id="8" name="TextBox 8"/>
            <p:cNvSpPr txBox="1"/>
            <p:nvPr/>
          </p:nvSpPr>
          <p:spPr>
            <a:xfrm>
              <a:off x="688517" y="1435418"/>
              <a:ext cx="242216"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01</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9" name="TextBox 9"/>
            <p:cNvSpPr txBox="1"/>
            <p:nvPr/>
          </p:nvSpPr>
          <p:spPr>
            <a:xfrm>
              <a:off x="1218248" y="1144429"/>
              <a:ext cx="2399650" cy="320040"/>
            </a:xfrm>
            <a:prstGeom prst="rect">
              <a:avLst/>
            </a:prstGeom>
            <a:noFill/>
            <a:ln>
              <a:noFill/>
            </a:ln>
          </p:spPr>
          <p:txBody>
            <a:bodyPr wrap="none" lIns="0" tIns="0" rIns="0" bIns="0" anchor="t" anchorCtr="0">
              <a:spAutoFit/>
            </a:bodyPr>
            <a:lstStyle/>
            <a:p>
              <a:pPr algn="l"/>
              <a:r>
                <a:rPr lang="zh-CN" sz="1575" b="1" dirty="0">
                  <a:solidFill>
                    <a:srgbClr val="163A5F"/>
                  </a:solidFill>
                  <a:latin typeface="Segoe UI" panose="020B0502040204020203"/>
                  <a:ea typeface="微软雅黑" panose="020B0503020204020204" charset="-122"/>
                  <a:cs typeface="Segoe UI" panose="020B0502040204020203"/>
                </a:rPr>
                <a:t>LLM information layer</a:t>
              </a:r>
              <a:endParaRPr lang="zh-CN" sz="1575" b="1" dirty="0">
                <a:solidFill>
                  <a:srgbClr val="163A5F"/>
                </a:solidFill>
                <a:latin typeface="Segoe UI" panose="020B0502040204020203"/>
                <a:ea typeface="微软雅黑" panose="020B0503020204020204" charset="-122"/>
                <a:cs typeface="Segoe UI" panose="020B0502040204020203"/>
              </a:endParaRPr>
            </a:p>
          </p:txBody>
        </p:sp>
        <p:sp>
          <p:nvSpPr>
            <p:cNvPr id="10" name="TextBox 10"/>
            <p:cNvSpPr txBox="1"/>
            <p:nvPr/>
          </p:nvSpPr>
          <p:spPr>
            <a:xfrm>
              <a:off x="1223010" y="1527810"/>
              <a:ext cx="2822829" cy="243840"/>
            </a:xfrm>
            <a:prstGeom prst="rect">
              <a:avLst/>
            </a:prstGeom>
            <a:noFill/>
            <a:ln>
              <a:noFill/>
            </a:ln>
          </p:spPr>
          <p:txBody>
            <a:bodyPr wrap="none" lIns="0" tIns="0" rIns="0" bIns="0" anchor="t" anchorCtr="0">
              <a:spAutoFit/>
            </a:bodyPr>
            <a:lstStyle/>
            <a:p>
              <a:pPr algn="l"/>
              <a:r>
                <a:rPr lang="zh-CN" sz="1200" dirty="0">
                  <a:solidFill>
                    <a:srgbClr val="526273"/>
                  </a:solidFill>
                  <a:latin typeface="Segoe UI" panose="020B0502040204020203"/>
                  <a:ea typeface="微软雅黑" panose="020B0503020204020204" charset="-122"/>
                  <a:cs typeface="Segoe UI" panose="020B0502040204020203"/>
                </a:rPr>
                <a:t>User question + model configuration</a:t>
              </a:r>
              <a:endParaRPr lang="zh-CN" sz="1200" dirty="0">
                <a:solidFill>
                  <a:srgbClr val="526273"/>
                </a:solidFill>
                <a:latin typeface="Segoe UI" panose="020B0502040204020203"/>
                <a:ea typeface="微软雅黑" panose="020B0503020204020204" charset="-122"/>
                <a:cs typeface="Segoe UI" panose="020B0502040204020203"/>
              </a:endParaRPr>
            </a:p>
          </p:txBody>
        </p:sp>
        <p:sp>
          <p:nvSpPr>
            <p:cNvPr id="11" name="Line 11"/>
            <p:cNvSpPr/>
            <p:nvPr/>
          </p:nvSpPr>
          <p:spPr>
            <a:xfrm>
              <a:off x="3790950" y="1609725"/>
              <a:ext cx="533400" cy="1"/>
            </a:xfrm>
            <a:prstGeom prst="line">
              <a:avLst/>
            </a:prstGeom>
            <a:noFill/>
            <a:ln w="19050">
              <a:solidFill>
                <a:srgbClr val="5B7FA3"/>
              </a:solidFill>
              <a:tailEnd type="triangle" w="lg" len="lg"/>
            </a:ln>
          </p:spPr>
        </p:sp>
        <p:sp>
          <p:nvSpPr>
            <p:cNvPr id="12" name="TextBox 12"/>
            <p:cNvSpPr txBox="1"/>
            <p:nvPr/>
          </p:nvSpPr>
          <p:spPr>
            <a:xfrm>
              <a:off x="4518660" y="1527810"/>
              <a:ext cx="2634806" cy="243840"/>
            </a:xfrm>
            <a:prstGeom prst="rect">
              <a:avLst/>
            </a:prstGeom>
            <a:noFill/>
            <a:ln>
              <a:noFill/>
            </a:ln>
          </p:spPr>
          <p:txBody>
            <a:bodyPr wrap="none" lIns="0" tIns="0" rIns="0" bIns="0" anchor="t" anchorCtr="0">
              <a:spAutoFit/>
            </a:bodyPr>
            <a:lstStyle/>
            <a:p>
              <a:pPr algn="l"/>
              <a:r>
                <a:rPr lang="zh-CN" sz="1200" b="1" dirty="0">
                  <a:solidFill>
                    <a:srgbClr val="1F2A37"/>
                  </a:solidFill>
                  <a:latin typeface="Segoe UI" panose="020B0502040204020203"/>
                  <a:ea typeface="微软雅黑" panose="020B0503020204020204" charset="-122"/>
                  <a:cs typeface="Segoe UI" panose="020B0502040204020203"/>
                </a:rPr>
                <a:t>Natural-language response Rᵢₖₜ</a:t>
              </a:r>
              <a:endParaRPr lang="zh-CN" sz="1200" b="1" dirty="0">
                <a:solidFill>
                  <a:srgbClr val="1F2A37"/>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224915" y="1810702"/>
              <a:ext cx="4192191" cy="213360"/>
            </a:xfrm>
            <a:prstGeom prst="rect">
              <a:avLst/>
            </a:prstGeom>
            <a:noFill/>
            <a:ln>
              <a:noFill/>
            </a:ln>
          </p:spPr>
          <p:txBody>
            <a:bodyPr wrap="none" lIns="0" tIns="0" rIns="0" bIns="0" anchor="t" anchorCtr="0">
              <a:spAutoFit/>
            </a:bodyPr>
            <a:lstStyle/>
            <a:p>
              <a:pPr algn="l"/>
              <a:r>
                <a:rPr lang="zh-CN" sz="1050" dirty="0">
                  <a:solidFill>
                    <a:srgbClr val="7B8794"/>
                  </a:solidFill>
                  <a:latin typeface="Segoe UI" panose="020B0502040204020203"/>
                  <a:ea typeface="微软雅黑" panose="020B0503020204020204" charset="-122"/>
                  <a:cs typeface="Segoe UI" panose="020B0502040204020203"/>
                </a:rPr>
                <a:t>Function: generate the information received by each member</a:t>
              </a:r>
              <a:endParaRPr lang="zh-CN" sz="1050" dirty="0">
                <a:solidFill>
                  <a:srgbClr val="7B8794"/>
                </a:solidFill>
                <a:latin typeface="Segoe UI" panose="020B0502040204020203"/>
                <a:ea typeface="微软雅黑" panose="020B0503020204020204" charset="-122"/>
                <a:cs typeface="Segoe UI" panose="020B0502040204020203"/>
              </a:endParaRPr>
            </a:p>
          </p:txBody>
        </p:sp>
      </p:grpSp>
      <p:grpSp>
        <p:nvGrpSpPr>
          <p:cNvPr id="23" name="Group 23"/>
          <p:cNvGrpSpPr/>
          <p:nvPr/>
        </p:nvGrpSpPr>
        <p:grpSpPr>
          <a:xfrm>
            <a:off x="609600" y="2209800"/>
            <a:ext cx="7810500" cy="1066800"/>
            <a:chOff x="609600" y="2209800"/>
            <a:chExt cx="7810500" cy="1066800"/>
          </a:xfrm>
        </p:grpSpPr>
        <p:sp>
          <p:nvSpPr>
            <p:cNvPr id="15" name="Rectangle 15"/>
            <p:cNvSpPr/>
            <p:nvPr/>
          </p:nvSpPr>
          <p:spPr>
            <a:xfrm>
              <a:off x="609600" y="2209800"/>
              <a:ext cx="7810500" cy="1066800"/>
            </a:xfrm>
            <a:prstGeom prst="rect">
              <a:avLst/>
            </a:prstGeom>
            <a:solidFill>
              <a:srgbClr val="EAF0F7"/>
            </a:solidFill>
            <a:ln w="9525">
              <a:solidFill>
                <a:srgbClr val="CCD6E1"/>
              </a:solidFill>
            </a:ln>
          </p:spPr>
        </p:sp>
        <p:sp>
          <p:nvSpPr>
            <p:cNvPr id="16" name="Rectangle 16"/>
            <p:cNvSpPr/>
            <p:nvPr/>
          </p:nvSpPr>
          <p:spPr>
            <a:xfrm>
              <a:off x="609600" y="2209800"/>
              <a:ext cx="400050" cy="1066800"/>
            </a:xfrm>
            <a:prstGeom prst="rect">
              <a:avLst/>
            </a:prstGeom>
            <a:solidFill>
              <a:srgbClr val="5B7FA3"/>
            </a:solidFill>
            <a:ln>
              <a:noFill/>
            </a:ln>
          </p:spPr>
        </p:sp>
        <p:sp>
          <p:nvSpPr>
            <p:cNvPr id="17" name="TextBox 17"/>
            <p:cNvSpPr txBox="1"/>
            <p:nvPr/>
          </p:nvSpPr>
          <p:spPr>
            <a:xfrm>
              <a:off x="688517" y="2654618"/>
              <a:ext cx="242216"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02</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1218248" y="2363629"/>
              <a:ext cx="2686336" cy="320040"/>
            </a:xfrm>
            <a:prstGeom prst="rect">
              <a:avLst/>
            </a:prstGeom>
            <a:noFill/>
            <a:ln>
              <a:noFill/>
            </a:ln>
          </p:spPr>
          <p:txBody>
            <a:bodyPr wrap="none" lIns="0" tIns="0" rIns="0" bIns="0" anchor="t" anchorCtr="0">
              <a:spAutoFit/>
            </a:bodyPr>
            <a:lstStyle/>
            <a:p>
              <a:pPr algn="l"/>
              <a:r>
                <a:rPr lang="zh-CN" sz="1575" b="1" dirty="0">
                  <a:solidFill>
                    <a:srgbClr val="163A5F"/>
                  </a:solidFill>
                  <a:latin typeface="Segoe UI" panose="020B0502040204020203"/>
                  <a:ea typeface="微软雅黑" panose="020B0503020204020204" charset="-122"/>
                  <a:cs typeface="Segoe UI" panose="020B0502040204020203"/>
                </a:rPr>
                <a:t>Text-measurement layer</a:t>
              </a:r>
              <a:endParaRPr lang="zh-CN" sz="1575" b="1" dirty="0">
                <a:solidFill>
                  <a:srgbClr val="163A5F"/>
                </a:solidFill>
                <a:latin typeface="Segoe UI" panose="020B0502040204020203"/>
                <a:ea typeface="微软雅黑" panose="020B0503020204020204" charset="-122"/>
                <a:cs typeface="Segoe UI" panose="020B0502040204020203"/>
              </a:endParaRPr>
            </a:p>
          </p:txBody>
        </p:sp>
        <p:sp>
          <p:nvSpPr>
            <p:cNvPr id="19" name="TextBox 19"/>
            <p:cNvSpPr txBox="1"/>
            <p:nvPr/>
          </p:nvSpPr>
          <p:spPr>
            <a:xfrm>
              <a:off x="1223010" y="2747010"/>
              <a:ext cx="1134618" cy="243840"/>
            </a:xfrm>
            <a:prstGeom prst="rect">
              <a:avLst/>
            </a:prstGeom>
            <a:noFill/>
            <a:ln>
              <a:noFill/>
            </a:ln>
          </p:spPr>
          <p:txBody>
            <a:bodyPr wrap="none" lIns="0" tIns="0" rIns="0" bIns="0" anchor="t" anchorCtr="0">
              <a:spAutoFit/>
            </a:bodyPr>
            <a:lstStyle/>
            <a:p>
              <a:pPr algn="l"/>
              <a:r>
                <a:rPr lang="zh-CN" sz="1200" dirty="0">
                  <a:solidFill>
                    <a:srgbClr val="526273"/>
                  </a:solidFill>
                  <a:latin typeface="Segoe UI" panose="020B0502040204020203"/>
                  <a:ea typeface="微软雅黑" panose="020B0503020204020204" charset="-122"/>
                  <a:cs typeface="Segoe UI" panose="020B0502040204020203"/>
                </a:rPr>
                <a:t>Response Rᵢₖₜ</a:t>
              </a:r>
              <a:endParaRPr lang="zh-CN" sz="1200" dirty="0">
                <a:solidFill>
                  <a:srgbClr val="526273"/>
                </a:solidFill>
                <a:latin typeface="Segoe UI" panose="020B0502040204020203"/>
                <a:ea typeface="微软雅黑" panose="020B0503020204020204" charset="-122"/>
                <a:cs typeface="Segoe UI" panose="020B0502040204020203"/>
              </a:endParaRPr>
            </a:p>
          </p:txBody>
        </p:sp>
        <p:sp>
          <p:nvSpPr>
            <p:cNvPr id="20" name="Line 20"/>
            <p:cNvSpPr/>
            <p:nvPr/>
          </p:nvSpPr>
          <p:spPr>
            <a:xfrm>
              <a:off x="2724150" y="2828925"/>
              <a:ext cx="533400" cy="1"/>
            </a:xfrm>
            <a:prstGeom prst="line">
              <a:avLst/>
            </a:prstGeom>
            <a:noFill/>
            <a:ln w="19050">
              <a:solidFill>
                <a:srgbClr val="5B7FA3"/>
              </a:solidFill>
              <a:tailEnd type="triangle" w="lg" len="lg"/>
            </a:ln>
          </p:spPr>
        </p:sp>
        <p:sp>
          <p:nvSpPr>
            <p:cNvPr id="21" name="TextBox 21"/>
            <p:cNvSpPr txBox="1"/>
            <p:nvPr/>
          </p:nvSpPr>
          <p:spPr>
            <a:xfrm>
              <a:off x="3451860" y="2747010"/>
              <a:ext cx="3810953" cy="243840"/>
            </a:xfrm>
            <a:prstGeom prst="rect">
              <a:avLst/>
            </a:prstGeom>
            <a:noFill/>
            <a:ln>
              <a:noFill/>
            </a:ln>
          </p:spPr>
          <p:txBody>
            <a:bodyPr wrap="none" lIns="0" tIns="0" rIns="0" bIns="0" anchor="t" anchorCtr="0">
              <a:spAutoFit/>
            </a:bodyPr>
            <a:lstStyle/>
            <a:p>
              <a:pPr algn="l"/>
              <a:r>
                <a:rPr lang="zh-CN" sz="1200" b="1" dirty="0">
                  <a:solidFill>
                    <a:srgbClr val="1F2A37"/>
                  </a:solidFill>
                  <a:latin typeface="Segoe UI" panose="020B0502040204020203"/>
                  <a:ea typeface="微软雅黑" panose="020B0503020204020204" charset="-122"/>
                  <a:cs typeface="Segoe UI" panose="020B0502040204020203"/>
                </a:rPr>
                <a:t>Position signal sᵢₖₜ + information vector zᵢₖₜ</a:t>
              </a:r>
              <a:endParaRPr lang="zh-CN" sz="1200" b="1" dirty="0">
                <a:solidFill>
                  <a:srgbClr val="1F2A37"/>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1224915" y="3029902"/>
              <a:ext cx="3401092" cy="213360"/>
            </a:xfrm>
            <a:prstGeom prst="rect">
              <a:avLst/>
            </a:prstGeom>
            <a:noFill/>
            <a:ln>
              <a:noFill/>
            </a:ln>
          </p:spPr>
          <p:txBody>
            <a:bodyPr wrap="none" lIns="0" tIns="0" rIns="0" bIns="0" anchor="t" anchorCtr="0">
              <a:spAutoFit/>
            </a:bodyPr>
            <a:lstStyle/>
            <a:p>
              <a:pPr algn="l"/>
              <a:r>
                <a:rPr lang="zh-CN" sz="1050" dirty="0">
                  <a:solidFill>
                    <a:srgbClr val="7B8794"/>
                  </a:solidFill>
                  <a:latin typeface="Segoe UI" panose="020B0502040204020203"/>
                  <a:ea typeface="微软雅黑" panose="020B0503020204020204" charset="-122"/>
                  <a:cs typeface="Segoe UI" panose="020B0502040204020203"/>
                </a:rPr>
                <a:t>Function: convert text into computable variables</a:t>
              </a:r>
              <a:endParaRPr lang="zh-CN" sz="1050" dirty="0">
                <a:solidFill>
                  <a:srgbClr val="7B8794"/>
                </a:solidFill>
                <a:latin typeface="Segoe UI" panose="020B0502040204020203"/>
                <a:ea typeface="微软雅黑" panose="020B0503020204020204" charset="-122"/>
                <a:cs typeface="Segoe UI" panose="020B0502040204020203"/>
              </a:endParaRPr>
            </a:p>
          </p:txBody>
        </p:sp>
      </p:grpSp>
      <p:grpSp>
        <p:nvGrpSpPr>
          <p:cNvPr id="32" name="Group 32"/>
          <p:cNvGrpSpPr/>
          <p:nvPr/>
        </p:nvGrpSpPr>
        <p:grpSpPr>
          <a:xfrm>
            <a:off x="609600" y="3429000"/>
            <a:ext cx="7810500" cy="1066800"/>
            <a:chOff x="609600" y="3429000"/>
            <a:chExt cx="7810500" cy="1066800"/>
          </a:xfrm>
        </p:grpSpPr>
        <p:sp>
          <p:nvSpPr>
            <p:cNvPr id="24" name="Rectangle 24"/>
            <p:cNvSpPr/>
            <p:nvPr/>
          </p:nvSpPr>
          <p:spPr>
            <a:xfrm>
              <a:off x="609600" y="3429000"/>
              <a:ext cx="7810500" cy="1066800"/>
            </a:xfrm>
            <a:prstGeom prst="rect">
              <a:avLst/>
            </a:prstGeom>
            <a:solidFill>
              <a:srgbClr val="FFFFFF"/>
            </a:solidFill>
            <a:ln w="9525">
              <a:solidFill>
                <a:srgbClr val="CCD6E1"/>
              </a:solidFill>
            </a:ln>
          </p:spPr>
        </p:sp>
        <p:sp>
          <p:nvSpPr>
            <p:cNvPr id="25" name="Rectangle 25"/>
            <p:cNvSpPr/>
            <p:nvPr/>
          </p:nvSpPr>
          <p:spPr>
            <a:xfrm>
              <a:off x="609600" y="3429000"/>
              <a:ext cx="400050" cy="1066800"/>
            </a:xfrm>
            <a:prstGeom prst="rect">
              <a:avLst/>
            </a:prstGeom>
            <a:solidFill>
              <a:srgbClr val="B42318"/>
            </a:solidFill>
            <a:ln>
              <a:noFill/>
            </a:ln>
          </p:spPr>
        </p:sp>
        <p:sp>
          <p:nvSpPr>
            <p:cNvPr id="26" name="TextBox 26"/>
            <p:cNvSpPr txBox="1"/>
            <p:nvPr/>
          </p:nvSpPr>
          <p:spPr>
            <a:xfrm>
              <a:off x="688517" y="3873818"/>
              <a:ext cx="242216" cy="274320"/>
            </a:xfrm>
            <a:prstGeom prst="rect">
              <a:avLst/>
            </a:prstGeom>
            <a:noFill/>
            <a:ln>
              <a:noFill/>
            </a:ln>
          </p:spPr>
          <p:txBody>
            <a:bodyPr wrap="none" lIns="0" tIns="0" rIns="0" bIns="0" anchor="t" anchorCtr="0">
              <a:spAutoFit/>
            </a:bodyPr>
            <a:lstStyle/>
            <a:p>
              <a:pPr algn="ctr"/>
              <a:r>
                <a:rPr lang="zh-CN" sz="1350" b="1" dirty="0">
                  <a:solidFill>
                    <a:srgbClr val="FFFFFF"/>
                  </a:solidFill>
                  <a:latin typeface="Segoe UI" panose="020B0502040204020203"/>
                  <a:ea typeface="微软雅黑" panose="020B0503020204020204" charset="-122"/>
                  <a:cs typeface="Segoe UI" panose="020B0502040204020203"/>
                </a:rPr>
                <a:t>03</a:t>
              </a:r>
              <a:endParaRPr lang="zh-CN" sz="1350" b="1" dirty="0">
                <a:solidFill>
                  <a:srgbClr val="FFFFFF"/>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1218248" y="3582829"/>
              <a:ext cx="2476835" cy="320040"/>
            </a:xfrm>
            <a:prstGeom prst="rect">
              <a:avLst/>
            </a:prstGeom>
            <a:noFill/>
            <a:ln>
              <a:noFill/>
            </a:ln>
          </p:spPr>
          <p:txBody>
            <a:bodyPr wrap="none" lIns="0" tIns="0" rIns="0" bIns="0" anchor="t" anchorCtr="0">
              <a:spAutoFit/>
            </a:bodyPr>
            <a:lstStyle/>
            <a:p>
              <a:pPr algn="l"/>
              <a:r>
                <a:rPr lang="zh-CN" sz="1575" b="1" dirty="0">
                  <a:solidFill>
                    <a:srgbClr val="163A5F"/>
                  </a:solidFill>
                  <a:latin typeface="Segoe UI" panose="020B0502040204020203"/>
                  <a:ea typeface="微软雅黑" panose="020B0503020204020204" charset="-122"/>
                  <a:cs typeface="Segoe UI" panose="020B0502040204020203"/>
                </a:rPr>
                <a:t>Opinion-updating layer</a:t>
              </a:r>
              <a:endParaRPr lang="zh-CN" sz="1575" b="1" dirty="0">
                <a:solidFill>
                  <a:srgbClr val="163A5F"/>
                </a:solidFill>
                <a:latin typeface="Segoe UI" panose="020B0502040204020203"/>
                <a:ea typeface="微软雅黑" panose="020B0503020204020204" charset="-122"/>
                <a:cs typeface="Segoe UI" panose="020B0502040204020203"/>
              </a:endParaRPr>
            </a:p>
          </p:txBody>
        </p:sp>
        <p:sp>
          <p:nvSpPr>
            <p:cNvPr id="28" name="TextBox 28"/>
            <p:cNvSpPr txBox="1"/>
            <p:nvPr/>
          </p:nvSpPr>
          <p:spPr>
            <a:xfrm>
              <a:off x="1223010" y="3966210"/>
              <a:ext cx="3206877" cy="243840"/>
            </a:xfrm>
            <a:prstGeom prst="rect">
              <a:avLst/>
            </a:prstGeom>
            <a:noFill/>
            <a:ln>
              <a:noFill/>
            </a:ln>
          </p:spPr>
          <p:txBody>
            <a:bodyPr wrap="none" lIns="0" tIns="0" rIns="0" bIns="0" anchor="t" anchorCtr="0">
              <a:spAutoFit/>
            </a:bodyPr>
            <a:lstStyle/>
            <a:p>
              <a:pPr algn="l"/>
              <a:r>
                <a:rPr lang="zh-CN" sz="1200" dirty="0">
                  <a:solidFill>
                    <a:srgbClr val="526273"/>
                  </a:solidFill>
                  <a:latin typeface="Segoe UI" panose="020B0502040204020203"/>
                  <a:ea typeface="微软雅黑" panose="020B0503020204020204" charset="-122"/>
                  <a:cs typeface="Segoe UI" panose="020B0502040204020203"/>
                </a:rPr>
                <a:t>Prior position xᵢₖₜ + position signal sᵢₖₜ</a:t>
              </a:r>
              <a:endParaRPr lang="zh-CN" sz="1200" dirty="0">
                <a:solidFill>
                  <a:srgbClr val="526273"/>
                </a:solidFill>
                <a:latin typeface="Segoe UI" panose="020B0502040204020203"/>
                <a:ea typeface="微软雅黑" panose="020B0503020204020204" charset="-122"/>
                <a:cs typeface="Segoe UI" panose="020B0502040204020203"/>
              </a:endParaRPr>
            </a:p>
          </p:txBody>
        </p:sp>
        <p:sp>
          <p:nvSpPr>
            <p:cNvPr id="29" name="Line 29"/>
            <p:cNvSpPr/>
            <p:nvPr/>
          </p:nvSpPr>
          <p:spPr>
            <a:xfrm>
              <a:off x="4305300" y="4048125"/>
              <a:ext cx="533400" cy="1"/>
            </a:xfrm>
            <a:prstGeom prst="line">
              <a:avLst/>
            </a:prstGeom>
            <a:noFill/>
            <a:ln w="19050">
              <a:solidFill>
                <a:srgbClr val="5B7FA3"/>
              </a:solidFill>
              <a:tailEnd type="triangle" w="lg" len="lg"/>
            </a:ln>
          </p:spPr>
        </p:sp>
        <p:sp>
          <p:nvSpPr>
            <p:cNvPr id="30" name="TextBox 30"/>
            <p:cNvSpPr txBox="1"/>
            <p:nvPr/>
          </p:nvSpPr>
          <p:spPr>
            <a:xfrm>
              <a:off x="5033010" y="3966210"/>
              <a:ext cx="1744294" cy="243840"/>
            </a:xfrm>
            <a:prstGeom prst="rect">
              <a:avLst/>
            </a:prstGeom>
            <a:noFill/>
            <a:ln>
              <a:noFill/>
            </a:ln>
          </p:spPr>
          <p:txBody>
            <a:bodyPr wrap="none" lIns="0" tIns="0" rIns="0" bIns="0" anchor="t" anchorCtr="0">
              <a:spAutoFit/>
            </a:bodyPr>
            <a:lstStyle/>
            <a:p>
              <a:pPr algn="l"/>
              <a:r>
                <a:rPr lang="zh-CN" sz="1200" b="1" dirty="0">
                  <a:solidFill>
                    <a:srgbClr val="1F2A37"/>
                  </a:solidFill>
                  <a:latin typeface="Segoe UI" panose="020B0502040204020203"/>
                  <a:ea typeface="微软雅黑" panose="020B0503020204020204" charset="-122"/>
                  <a:cs typeface="Segoe UI" panose="020B0502040204020203"/>
                </a:rPr>
                <a:t>New position xᵢₖ,ₜ₊₁</a:t>
              </a:r>
              <a:endParaRPr lang="zh-CN" sz="1200" b="1" dirty="0">
                <a:solidFill>
                  <a:srgbClr val="1F2A37"/>
                </a:solidFill>
                <a:latin typeface="Segoe UI" panose="020B0502040204020203"/>
                <a:ea typeface="微软雅黑" panose="020B0503020204020204" charset="-122"/>
                <a:cs typeface="Segoe UI" panose="020B0502040204020203"/>
              </a:endParaRPr>
            </a:p>
          </p:txBody>
        </p:sp>
        <p:sp>
          <p:nvSpPr>
            <p:cNvPr id="31" name="TextBox 31"/>
            <p:cNvSpPr txBox="1"/>
            <p:nvPr/>
          </p:nvSpPr>
          <p:spPr>
            <a:xfrm>
              <a:off x="1224915" y="4249102"/>
              <a:ext cx="3597116" cy="213360"/>
            </a:xfrm>
            <a:prstGeom prst="rect">
              <a:avLst/>
            </a:prstGeom>
            <a:noFill/>
            <a:ln>
              <a:noFill/>
            </a:ln>
          </p:spPr>
          <p:txBody>
            <a:bodyPr wrap="none" lIns="0" tIns="0" rIns="0" bIns="0" anchor="t" anchorCtr="0">
              <a:spAutoFit/>
            </a:bodyPr>
            <a:lstStyle/>
            <a:p>
              <a:pPr algn="l"/>
              <a:r>
                <a:rPr lang="zh-CN" sz="1050" dirty="0">
                  <a:solidFill>
                    <a:srgbClr val="7B8794"/>
                  </a:solidFill>
                  <a:latin typeface="Segoe UI" panose="020B0502040204020203"/>
                  <a:ea typeface="微软雅黑" panose="020B0503020204020204" charset="-122"/>
                  <a:cs typeface="Segoe UI" panose="020B0502040204020203"/>
                </a:rPr>
                <a:t>Function: simulate how members adopt the response</a:t>
              </a:r>
              <a:endParaRPr lang="zh-CN" sz="1050" dirty="0">
                <a:solidFill>
                  <a:srgbClr val="7B8794"/>
                </a:solidFill>
                <a:latin typeface="Segoe UI" panose="020B0502040204020203"/>
                <a:ea typeface="微软雅黑" panose="020B0503020204020204" charset="-122"/>
                <a:cs typeface="Segoe UI" panose="020B0502040204020203"/>
              </a:endParaRPr>
            </a:p>
          </p:txBody>
        </p:sp>
      </p:grpSp>
      <p:grpSp>
        <p:nvGrpSpPr>
          <p:cNvPr id="42" name="Group 42"/>
          <p:cNvGrpSpPr/>
          <p:nvPr/>
        </p:nvGrpSpPr>
        <p:grpSpPr>
          <a:xfrm>
            <a:off x="8724900" y="990600"/>
            <a:ext cx="2857500" cy="3505200"/>
            <a:chOff x="8724900" y="990600"/>
            <a:chExt cx="2857500" cy="3505200"/>
          </a:xfrm>
        </p:grpSpPr>
        <p:sp>
          <p:nvSpPr>
            <p:cNvPr id="33" name="Rectangle 33"/>
            <p:cNvSpPr/>
            <p:nvPr/>
          </p:nvSpPr>
          <p:spPr>
            <a:xfrm>
              <a:off x="8724900" y="990600"/>
              <a:ext cx="2857500" cy="3505200"/>
            </a:xfrm>
            <a:prstGeom prst="rect">
              <a:avLst/>
            </a:prstGeom>
            <a:solidFill>
              <a:srgbClr val="FFFFFF"/>
            </a:solidFill>
            <a:ln w="9525">
              <a:solidFill>
                <a:srgbClr val="CCD6E1"/>
              </a:solidFill>
            </a:ln>
          </p:spPr>
        </p:sp>
        <p:sp>
          <p:nvSpPr>
            <p:cNvPr id="34" name="TextBox 34"/>
            <p:cNvSpPr txBox="1"/>
            <p:nvPr/>
          </p:nvSpPr>
          <p:spPr>
            <a:xfrm>
              <a:off x="8974455" y="1206818"/>
              <a:ext cx="818738" cy="274320"/>
            </a:xfrm>
            <a:prstGeom prst="rect">
              <a:avLst/>
            </a:prstGeom>
            <a:noFill/>
            <a:ln>
              <a:noFill/>
            </a:ln>
          </p:spPr>
          <p:txBody>
            <a:bodyPr wrap="none" lIns="0" tIns="0" rIns="0" bIns="0" anchor="t" anchorCtr="0">
              <a:spAutoFit/>
            </a:bodyPr>
            <a:lstStyle/>
            <a:p>
              <a:pPr algn="l"/>
              <a:r>
                <a:rPr lang="zh-CN" sz="1350" b="1" dirty="0">
                  <a:solidFill>
                    <a:srgbClr val="163A5F"/>
                  </a:solidFill>
                  <a:latin typeface="Segoe UI" panose="020B0502040204020203"/>
                  <a:ea typeface="微软雅黑" panose="020B0503020204020204" charset="-122"/>
                  <a:cs typeface="Segoe UI" panose="020B0502040204020203"/>
                </a:rPr>
                <a:t>Notation</a:t>
              </a:r>
              <a:endParaRPr lang="zh-CN" sz="1350" b="1" dirty="0">
                <a:solidFill>
                  <a:srgbClr val="163A5F"/>
                </a:solidFill>
                <a:latin typeface="Segoe UI" panose="020B0502040204020203"/>
                <a:ea typeface="微软雅黑" panose="020B0503020204020204" charset="-122"/>
                <a:cs typeface="Segoe UI" panose="020B0502040204020203"/>
              </a:endParaRPr>
            </a:p>
          </p:txBody>
        </p:sp>
        <p:sp>
          <p:nvSpPr>
            <p:cNvPr id="35" name="TextBox 35"/>
            <p:cNvSpPr txBox="1"/>
            <p:nvPr/>
          </p:nvSpPr>
          <p:spPr>
            <a:xfrm>
              <a:off x="8976360" y="1584960"/>
              <a:ext cx="854583" cy="243840"/>
            </a:xfrm>
            <a:prstGeom prst="rect">
              <a:avLst/>
            </a:prstGeom>
            <a:noFill/>
            <a:ln>
              <a:noFill/>
            </a:ln>
          </p:spPr>
          <p:txBody>
            <a:bodyPr wrap="none" lIns="0" tIns="0" rIns="0" bIns="0" anchor="t" anchorCtr="0">
              <a:spAutoFit/>
            </a:bodyPr>
            <a:lstStyle/>
            <a:p>
              <a:pPr algn="l"/>
              <a:r>
                <a:rPr lang="zh-CN" sz="1200" dirty="0">
                  <a:solidFill>
                    <a:srgbClr val="526273"/>
                  </a:solidFill>
                  <a:latin typeface="Segoe UI" panose="020B0502040204020203"/>
                  <a:ea typeface="微软雅黑" panose="020B0503020204020204" charset="-122"/>
                  <a:cs typeface="Segoe UI" panose="020B0502040204020203"/>
                </a:rPr>
                <a:t>i · member</a:t>
              </a:r>
              <a:endParaRPr lang="zh-CN" sz="1200" dirty="0">
                <a:solidFill>
                  <a:srgbClr val="526273"/>
                </a:solidFill>
                <a:latin typeface="Segoe UI" panose="020B0502040204020203"/>
                <a:ea typeface="微软雅黑" panose="020B0503020204020204" charset="-122"/>
                <a:cs typeface="Segoe UI" panose="020B0502040204020203"/>
              </a:endParaRPr>
            </a:p>
          </p:txBody>
        </p:sp>
        <p:sp>
          <p:nvSpPr>
            <p:cNvPr id="36" name="TextBox 36"/>
            <p:cNvSpPr txBox="1"/>
            <p:nvPr/>
          </p:nvSpPr>
          <p:spPr>
            <a:xfrm>
              <a:off x="8976360" y="1851660"/>
              <a:ext cx="1198626" cy="243840"/>
            </a:xfrm>
            <a:prstGeom prst="rect">
              <a:avLst/>
            </a:prstGeom>
            <a:noFill/>
            <a:ln>
              <a:noFill/>
            </a:ln>
          </p:spPr>
          <p:txBody>
            <a:bodyPr wrap="none" lIns="0" tIns="0" rIns="0" bIns="0" anchor="t" anchorCtr="0">
              <a:spAutoFit/>
            </a:bodyPr>
            <a:lstStyle/>
            <a:p>
              <a:pPr algn="l"/>
              <a:r>
                <a:rPr lang="zh-CN" sz="1200" dirty="0">
                  <a:solidFill>
                    <a:srgbClr val="526273"/>
                  </a:solidFill>
                  <a:latin typeface="Segoe UI" panose="020B0502040204020203"/>
                  <a:ea typeface="微软雅黑" panose="020B0503020204020204" charset="-122"/>
                  <a:cs typeface="Segoe UI" panose="020B0502040204020203"/>
                </a:rPr>
                <a:t>k · policy issue</a:t>
              </a:r>
              <a:endParaRPr lang="zh-CN" sz="1200" dirty="0">
                <a:solidFill>
                  <a:srgbClr val="526273"/>
                </a:solidFill>
                <a:latin typeface="Segoe UI" panose="020B0502040204020203"/>
                <a:ea typeface="微软雅黑" panose="020B0503020204020204" charset="-122"/>
                <a:cs typeface="Segoe UI" panose="020B0502040204020203"/>
              </a:endParaRPr>
            </a:p>
          </p:txBody>
        </p:sp>
        <p:sp>
          <p:nvSpPr>
            <p:cNvPr id="37" name="TextBox 37"/>
            <p:cNvSpPr txBox="1"/>
            <p:nvPr/>
          </p:nvSpPr>
          <p:spPr>
            <a:xfrm>
              <a:off x="8976360" y="2118360"/>
              <a:ext cx="1678686" cy="243840"/>
            </a:xfrm>
            <a:prstGeom prst="rect">
              <a:avLst/>
            </a:prstGeom>
            <a:noFill/>
            <a:ln>
              <a:noFill/>
            </a:ln>
          </p:spPr>
          <p:txBody>
            <a:bodyPr wrap="none" lIns="0" tIns="0" rIns="0" bIns="0" anchor="t" anchorCtr="0">
              <a:spAutoFit/>
            </a:bodyPr>
            <a:lstStyle/>
            <a:p>
              <a:pPr algn="l"/>
              <a:r>
                <a:rPr lang="zh-CN" sz="1200" dirty="0">
                  <a:solidFill>
                    <a:srgbClr val="526273"/>
                  </a:solidFill>
                  <a:latin typeface="Segoe UI" panose="020B0502040204020203"/>
                  <a:ea typeface="微软雅黑" panose="020B0503020204020204" charset="-122"/>
                  <a:cs typeface="Segoe UI" panose="020B0502040204020203"/>
                </a:rPr>
                <a:t>t · interaction round</a:t>
              </a:r>
              <a:endParaRPr lang="zh-CN" sz="1200" dirty="0">
                <a:solidFill>
                  <a:srgbClr val="526273"/>
                </a:solidFill>
                <a:latin typeface="Segoe UI" panose="020B0502040204020203"/>
                <a:ea typeface="微软雅黑" panose="020B0503020204020204" charset="-122"/>
                <a:cs typeface="Segoe UI" panose="020B0502040204020203"/>
              </a:endParaRPr>
            </a:p>
          </p:txBody>
        </p:sp>
        <p:sp>
          <p:nvSpPr>
            <p:cNvPr id="38" name="Rectangle 38"/>
            <p:cNvSpPr/>
            <p:nvPr/>
          </p:nvSpPr>
          <p:spPr>
            <a:xfrm>
              <a:off x="8991600" y="2628900"/>
              <a:ext cx="2324100" cy="685800"/>
            </a:xfrm>
            <a:prstGeom prst="rect">
              <a:avLst/>
            </a:prstGeom>
            <a:solidFill>
              <a:srgbClr val="EAF0F7"/>
            </a:solidFill>
            <a:ln>
              <a:noFill/>
            </a:ln>
          </p:spPr>
        </p:sp>
        <p:pic>
          <p:nvPicPr>
            <p:cNvPr id="39" name="Image 39"/>
            <p:cNvPicPr>
              <a:picLocks noChangeAspect="1"/>
            </p:cNvPicPr>
            <p:nvPr/>
          </p:nvPicPr>
          <p:blipFill>
            <a:blip r:embed="rId1"/>
            <a:stretch>
              <a:fillRect/>
            </a:stretch>
          </p:blipFill>
          <p:spPr>
            <a:xfrm>
              <a:off x="9182100" y="2853342"/>
              <a:ext cx="1943100" cy="246442"/>
            </a:xfrm>
            <a:prstGeom prst="rect">
              <a:avLst/>
            </a:prstGeom>
          </p:spPr>
        </p:pic>
        <p:sp>
          <p:nvSpPr>
            <p:cNvPr id="40" name="TextBox 40"/>
            <p:cNvSpPr txBox="1"/>
            <p:nvPr/>
          </p:nvSpPr>
          <p:spPr>
            <a:xfrm>
              <a:off x="8977312" y="3517106"/>
              <a:ext cx="1835944" cy="447675"/>
            </a:xfrm>
            <a:prstGeom prst="rect">
              <a:avLst/>
            </a:prstGeom>
            <a:noFill/>
            <a:ln>
              <a:noFill/>
            </a:ln>
          </p:spPr>
          <p:txBody>
            <a:bodyPr wrap="square" lIns="0" tIns="0" rIns="0" bIns="0" anchor="t" anchorCtr="0"/>
            <a:lstStyle/>
            <a:p>
              <a:pPr algn="l">
                <a:lnSpc>
                  <a:spcPts val="1725"/>
                </a:lnSpc>
              </a:pPr>
              <a:r>
                <a:rPr lang="zh-CN" sz="1125" dirty="0">
                  <a:solidFill>
                    <a:srgbClr val="526273"/>
                  </a:solidFill>
                  <a:latin typeface="Segoe UI" panose="020B0502040204020203"/>
                  <a:ea typeface="微软雅黑" panose="020B0503020204020204" charset="-122"/>
                  <a:cs typeface="Segoe UI" panose="020B0502040204020203"/>
                </a:rPr>
                <a:t>zᵢₖₜ · arguments, facts, </a:t>
              </a:r>
              <a:r>
                <a:rPr lang="zh-CN" sz="1125" dirty="0">
                  <a:solidFill>
                    <a:srgbClr val="526273"/>
                  </a:solidFill>
                  <a:latin typeface="Segoe UI" panose="020B0502040204020203"/>
                  <a:ea typeface="微软雅黑" panose="020B0503020204020204" charset="-122"/>
                  <a:cs typeface="Segoe UI" panose="020B0502040204020203"/>
                </a:rPr>
                <a:t>and policy frames</a:t>
              </a:r>
              <a:endParaRPr lang="zh-CN" sz="1125" dirty="0">
                <a:solidFill>
                  <a:srgbClr val="526273"/>
                </a:solidFill>
                <a:latin typeface="Segoe UI" panose="020B0502040204020203"/>
                <a:ea typeface="微软雅黑" panose="020B0503020204020204" charset="-122"/>
                <a:cs typeface="Segoe UI" panose="020B0502040204020203"/>
              </a:endParaRPr>
            </a:p>
          </p:txBody>
        </p:sp>
        <p:pic>
          <p:nvPicPr>
            <p:cNvPr id="41" name="Image 41"/>
            <p:cNvPicPr>
              <a:picLocks noChangeAspect="1"/>
            </p:cNvPicPr>
            <p:nvPr/>
          </p:nvPicPr>
          <p:blipFill>
            <a:blip r:embed="rId2"/>
            <a:stretch>
              <a:fillRect/>
            </a:stretch>
          </p:blipFill>
          <p:spPr>
            <a:xfrm>
              <a:off x="8991600" y="4133850"/>
              <a:ext cx="2324100" cy="200025"/>
            </a:xfrm>
            <a:prstGeom prst="rect">
              <a:avLst/>
            </a:prstGeom>
          </p:spPr>
        </p:pic>
      </p:grpSp>
      <p:grpSp>
        <p:nvGrpSpPr>
          <p:cNvPr id="46" name="Group 46"/>
          <p:cNvGrpSpPr/>
          <p:nvPr/>
        </p:nvGrpSpPr>
        <p:grpSpPr>
          <a:xfrm>
            <a:off x="609600" y="4857750"/>
            <a:ext cx="10972800" cy="1257300"/>
            <a:chOff x="609600" y="4857750"/>
            <a:chExt cx="10972800" cy="1257300"/>
          </a:xfrm>
        </p:grpSpPr>
        <p:sp>
          <p:nvSpPr>
            <p:cNvPr id="43" name="Rectangle 43"/>
            <p:cNvSpPr/>
            <p:nvPr/>
          </p:nvSpPr>
          <p:spPr>
            <a:xfrm>
              <a:off x="609600" y="4857750"/>
              <a:ext cx="10972800" cy="1257300"/>
            </a:xfrm>
            <a:prstGeom prst="rect">
              <a:avLst/>
            </a:prstGeom>
            <a:solidFill>
              <a:srgbClr val="163A5F"/>
            </a:solidFill>
            <a:ln>
              <a:noFill/>
            </a:ln>
          </p:spPr>
        </p:sp>
        <p:sp>
          <p:nvSpPr>
            <p:cNvPr id="44" name="TextBox 44"/>
            <p:cNvSpPr txBox="1"/>
            <p:nvPr/>
          </p:nvSpPr>
          <p:spPr>
            <a:xfrm>
              <a:off x="862012" y="5069681"/>
              <a:ext cx="3100209" cy="228600"/>
            </a:xfrm>
            <a:prstGeom prst="rect">
              <a:avLst/>
            </a:prstGeom>
            <a:noFill/>
            <a:ln>
              <a:noFill/>
            </a:ln>
          </p:spPr>
          <p:txBody>
            <a:bodyPr wrap="none" lIns="0" tIns="0" rIns="0" bIns="0" anchor="t" anchorCtr="0">
              <a:spAutoFit/>
            </a:bodyPr>
            <a:lstStyle/>
            <a:p>
              <a:pPr algn="l"/>
              <a:r>
                <a:rPr lang="zh-CN" sz="1125" b="1" dirty="0">
                  <a:solidFill>
                    <a:srgbClr val="FFFFFF"/>
                  </a:solidFill>
                  <a:latin typeface="Segoe UI" panose="020B0502040204020203"/>
                  <a:ea typeface="微软雅黑" panose="020B0503020204020204" charset="-122"/>
                  <a:cs typeface="Segoe UI" panose="020B0502040204020203"/>
                </a:rPr>
                <a:t>MEASUREMENT PRECEDENT · CHUANG ET AL.</a:t>
              </a:r>
              <a:endParaRPr lang="zh-CN" sz="1125" b="1" dirty="0">
                <a:solidFill>
                  <a:srgbClr val="FFFFFF"/>
                </a:solidFill>
                <a:latin typeface="Segoe UI" panose="020B0502040204020203"/>
                <a:ea typeface="微软雅黑" panose="020B0503020204020204" charset="-122"/>
                <a:cs typeface="Segoe UI" panose="020B0502040204020203"/>
              </a:endParaRPr>
            </a:p>
          </p:txBody>
        </p:sp>
        <p:sp>
          <p:nvSpPr>
            <p:cNvPr id="45" name="TextBox 45"/>
            <p:cNvSpPr txBox="1"/>
            <p:nvPr/>
          </p:nvSpPr>
          <p:spPr>
            <a:xfrm>
              <a:off x="860108" y="5386864"/>
              <a:ext cx="8679180" cy="497205"/>
            </a:xfrm>
            <a:prstGeom prst="rect">
              <a:avLst/>
            </a:prstGeom>
            <a:noFill/>
            <a:ln>
              <a:noFill/>
            </a:ln>
          </p:spPr>
          <p:txBody>
            <a:bodyPr wrap="square" lIns="0" tIns="0" rIns="0" bIns="0" anchor="t" anchorCtr="0"/>
            <a:lstStyle/>
            <a:p>
              <a:pPr algn="l">
                <a:lnSpc>
                  <a:spcPts val="1875"/>
                </a:lnSpc>
              </a:pPr>
              <a:r>
                <a:rPr lang="zh-CN" sz="1275" dirty="0">
                  <a:solidFill>
                    <a:srgbClr val="FFFFFF"/>
                  </a:solidFill>
                  <a:latin typeface="Segoe UI" panose="020B0502040204020203"/>
                  <a:ea typeface="微软雅黑" panose="020B0503020204020204" charset="-122"/>
                  <a:cs typeface="Segoe UI" panose="020B0502040204020203"/>
                </a:rPr>
                <a:t>An LLM agent generates natural-language opinion; an independent FLAN-T5-XXL classifier encodes it </a:t>
              </a:r>
              <a:r>
                <a:rPr lang="zh-CN" sz="1275" dirty="0">
                  <a:solidFill>
                    <a:srgbClr val="FFFFFF"/>
                  </a:solidFill>
                  <a:latin typeface="Segoe UI" panose="020B0502040204020203"/>
                  <a:ea typeface="微软雅黑" panose="020B0503020204020204" charset="-122"/>
                  <a:cs typeface="Segoe UI" panose="020B0502040204020203"/>
                </a:rPr>
                <a:t>as −2, −1, 0, 1, or 2. Manual validation: 100 responses; Krippendorff’s α = 0.81; majority agreement = 84%.</a:t>
              </a:r>
              <a:endParaRPr lang="zh-CN" sz="1275" dirty="0">
                <a:solidFill>
                  <a:srgbClr val="FFFFFF"/>
                </a:solidFill>
                <a:latin typeface="Segoe UI" panose="020B0502040204020203"/>
                <a:ea typeface="微软雅黑" panose="020B0503020204020204" charset="-122"/>
                <a:cs typeface="Segoe UI" panose="020B0502040204020203"/>
              </a:endParaRPr>
            </a:p>
          </p:txBody>
        </p:sp>
      </p:grpSp>
      <p:sp>
        <p:nvSpPr>
          <p:cNvPr id="47" name="TextBox 47"/>
          <p:cNvSpPr txBox="1"/>
          <p:nvPr/>
        </p:nvSpPr>
        <p:spPr>
          <a:xfrm>
            <a:off x="11438954" y="6398895"/>
            <a:ext cx="154877" cy="182880"/>
          </a:xfrm>
          <a:prstGeom prst="rect">
            <a:avLst/>
          </a:prstGeom>
          <a:noFill/>
          <a:ln>
            <a:noFill/>
          </a:ln>
        </p:spPr>
        <p:txBody>
          <a:bodyPr wrap="none" lIns="0" tIns="0" rIns="0" bIns="0" anchor="t" anchorCtr="0">
            <a:spAutoFit/>
          </a:bodyPr>
          <a:lstStyle/>
          <a:p>
            <a:pPr algn="r"/>
            <a:r>
              <a:rPr lang="zh-CN" sz="900" dirty="0">
                <a:solidFill>
                  <a:srgbClr val="7B8794"/>
                </a:solidFill>
                <a:latin typeface="Segoe UI" panose="020B0502040204020203"/>
                <a:ea typeface="微软雅黑" panose="020B0503020204020204" charset="-122"/>
                <a:cs typeface="Segoe UI" panose="020B0502040204020203"/>
              </a:rPr>
              <a:t>11</a:t>
            </a:r>
            <a:endParaRPr lang="zh-CN" sz="900"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slide(fromBottom)">
                                      <p:cBhvr>
                                        <p:cTn id="7" dur="400"/>
                                        <p:tgtEl>
                                          <p:spTgt spid="14"/>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23"/>
                                        </p:tgtEl>
                                        <p:attrNameLst>
                                          <p:attrName>style.visibility</p:attrName>
                                        </p:attrNameLst>
                                      </p:cBhvr>
                                      <p:to>
                                        <p:strVal val="visible"/>
                                      </p:to>
                                    </p:set>
                                    <p:animEffect transition="in" filter="image">
                                      <p:cBhvr>
                                        <p:cTn id="11" dur="400"/>
                                        <p:tgtEl>
                                          <p:spTgt spid="23"/>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32"/>
                                        </p:tgtEl>
                                        <p:attrNameLst>
                                          <p:attrName>style.visibility</p:attrName>
                                        </p:attrNameLst>
                                      </p:cBhvr>
                                      <p:to>
                                        <p:strVal val="visible"/>
                                      </p:to>
                                    </p:set>
                                    <p:animEffect transition="in" filter="fade">
                                      <p:cBhvr>
                                        <p:cTn id="15" dur="400"/>
                                        <p:tgtEl>
                                          <p:spTgt spid="32"/>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42"/>
                                        </p:tgtEl>
                                        <p:attrNameLst>
                                          <p:attrName>style.visibility</p:attrName>
                                        </p:attrNameLst>
                                      </p:cBhvr>
                                      <p:to>
                                        <p:strVal val="visible"/>
                                      </p:to>
                                    </p:set>
                                    <p:animEffect transition="in" filter="wipe(left)">
                                      <p:cBhvr>
                                        <p:cTn id="19" dur="400"/>
                                        <p:tgtEl>
                                          <p:spTgt spid="42"/>
                                        </p:tgtEl>
                                      </p:cBhvr>
                                    </p:animEffect>
                                  </p:childTnLst>
                                </p:cTn>
                              </p:par>
                            </p:childTnLst>
                          </p:cTn>
                        </p:par>
                        <p:par>
                          <p:cTn id="20" fill="hold">
                            <p:stCondLst>
                              <p:cond delay="2000"/>
                            </p:stCondLst>
                            <p:childTnLst>
                              <p:par>
                                <p:cTn id="21" presetID="2" presetClass="entr" presetSubtype="4" fill="hold" nodeType="afterEffect">
                                  <p:stCondLst>
                                    <p:cond delay="0"/>
                                  </p:stCondLst>
                                  <p:childTnLst>
                                    <p:set>
                                      <p:cBhvr>
                                        <p:cTn id="22" dur="1" fill="hold">
                                          <p:stCondLst>
                                            <p:cond delay="0"/>
                                          </p:stCondLst>
                                        </p:cTn>
                                        <p:tgtEl>
                                          <p:spTgt spid="46"/>
                                        </p:tgtEl>
                                        <p:attrNameLst>
                                          <p:attrName>style.visibility</p:attrName>
                                        </p:attrNameLst>
                                      </p:cBhvr>
                                      <p:to>
                                        <p:strVal val="visible"/>
                                      </p:to>
                                    </p:set>
                                    <p:animEffect transition="in" filter="slide(fromBottom)">
                                      <p:cBhvr>
                                        <p:cTn id="23" dur="4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23" grpId="0"/>
      <p:bldP spid="32" grpId="0"/>
      <p:bldP spid="42" grpId="0"/>
      <p:bldP spid="4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p:cNvSpPr/>
          <p:nvPr/>
        </p:nvSpPr>
        <p:spPr>
          <a:xfrm>
            <a:off x="0" y="0"/>
            <a:ext cx="12192000" cy="6858000"/>
          </a:xfrm>
          <a:prstGeom prst="rect">
            <a:avLst/>
          </a:prstGeom>
          <a:solidFill>
            <a:srgbClr val="F7F9FC"/>
          </a:solidFill>
          <a:ln>
            <a:noFill/>
          </a:ln>
        </p:spPr>
      </p:sp>
      <p:grpSp>
        <p:nvGrpSpPr>
          <p:cNvPr id="5" name="Group 5"/>
          <p:cNvGrpSpPr/>
          <p:nvPr/>
        </p:nvGrpSpPr>
        <p:grpSpPr>
          <a:xfrm>
            <a:off x="577215" y="352425"/>
            <a:ext cx="4277897" cy="823913"/>
            <a:chOff x="577215" y="352425"/>
            <a:chExt cx="4277897" cy="823913"/>
          </a:xfrm>
        </p:grpSpPr>
        <p:sp>
          <p:nvSpPr>
            <p:cNvPr id="3" name="TextBox 3"/>
            <p:cNvSpPr txBox="1"/>
            <p:nvPr/>
          </p:nvSpPr>
          <p:spPr>
            <a:xfrm>
              <a:off x="590550" y="352425"/>
              <a:ext cx="3388019" cy="304800"/>
            </a:xfrm>
            <a:prstGeom prst="rect">
              <a:avLst/>
            </a:prstGeom>
            <a:noFill/>
            <a:ln>
              <a:noFill/>
            </a:ln>
          </p:spPr>
          <p:txBody>
            <a:bodyPr wrap="none" lIns="0" tIns="0" rIns="0" bIns="0" anchor="t" anchorCtr="0">
              <a:spAutoFit/>
            </a:bodyPr>
            <a:lstStyle/>
            <a:p>
              <a:pPr algn="l"/>
              <a:r>
                <a:rPr lang="zh-CN" sz="1500" b="1" dirty="0">
                  <a:solidFill>
                    <a:srgbClr val="5B7FA3"/>
                  </a:solidFill>
                  <a:latin typeface="Segoe UI" panose="020B0502040204020203"/>
                  <a:ea typeface="微软雅黑" panose="020B0503020204020204" charset="-122"/>
                  <a:cs typeface="Segoe UI" panose="020B0502040204020203"/>
                </a:rPr>
                <a:t>Paper 1 · Theoretical Framework</a:t>
              </a:r>
              <a:endParaRPr lang="zh-CN" sz="1500" b="1" dirty="0">
                <a:solidFill>
                  <a:srgbClr val="5B7FA3"/>
                </a:solidFill>
                <a:latin typeface="Segoe UI" panose="020B0502040204020203"/>
                <a:ea typeface="微软雅黑" panose="020B0503020204020204" charset="-122"/>
                <a:cs typeface="Segoe UI" panose="020B0502040204020203"/>
              </a:endParaRPr>
            </a:p>
          </p:txBody>
        </p:sp>
        <p:sp>
          <p:nvSpPr>
            <p:cNvPr id="4" name="TextBox 4"/>
            <p:cNvSpPr txBox="1"/>
            <p:nvPr/>
          </p:nvSpPr>
          <p:spPr>
            <a:xfrm>
              <a:off x="577215" y="658178"/>
              <a:ext cx="4277897" cy="518160"/>
            </a:xfrm>
            <a:prstGeom prst="rect">
              <a:avLst/>
            </a:prstGeom>
            <a:noFill/>
            <a:ln>
              <a:noFill/>
            </a:ln>
          </p:spPr>
          <p:txBody>
            <a:bodyPr wrap="none" lIns="0" tIns="0" rIns="0" bIns="0" anchor="t" anchorCtr="0">
              <a:spAutoFit/>
            </a:bodyPr>
            <a:lstStyle/>
            <a:p>
              <a:pPr algn="l"/>
              <a:r>
                <a:rPr lang="zh-CN" sz="2550" b="1" dirty="0">
                  <a:solidFill>
                    <a:srgbClr val="163A5F"/>
                  </a:solidFill>
                  <a:latin typeface="Segoe UI" panose="020B0502040204020203"/>
                  <a:ea typeface="微软雅黑" panose="020B0503020204020204" charset="-122"/>
                  <a:cs typeface="Segoe UI" panose="020B0502040204020203"/>
                </a:rPr>
                <a:t>Optimal Stopping Theory</a:t>
              </a:r>
              <a:endParaRPr lang="zh-CN" sz="2550" b="1" dirty="0">
                <a:solidFill>
                  <a:srgbClr val="163A5F"/>
                </a:solidFill>
                <a:latin typeface="Segoe UI" panose="020B0502040204020203"/>
                <a:ea typeface="微软雅黑" panose="020B0503020204020204" charset="-122"/>
                <a:cs typeface="Segoe UI" panose="020B0502040204020203"/>
              </a:endParaRPr>
            </a:p>
          </p:txBody>
        </p:sp>
      </p:grpSp>
      <p:grpSp>
        <p:nvGrpSpPr>
          <p:cNvPr id="19" name="Group 19"/>
          <p:cNvGrpSpPr/>
          <p:nvPr/>
        </p:nvGrpSpPr>
        <p:grpSpPr>
          <a:xfrm>
            <a:off x="609600" y="1257300"/>
            <a:ext cx="4517613" cy="4095750"/>
            <a:chOff x="609600" y="1257300"/>
            <a:chExt cx="4517613" cy="4095750"/>
          </a:xfrm>
        </p:grpSpPr>
        <p:sp>
          <p:nvSpPr>
            <p:cNvPr id="6" name="Rectangle 6"/>
            <p:cNvSpPr/>
            <p:nvPr/>
          </p:nvSpPr>
          <p:spPr>
            <a:xfrm>
              <a:off x="609600" y="1257300"/>
              <a:ext cx="3924300" cy="4095750"/>
            </a:xfrm>
            <a:prstGeom prst="rect">
              <a:avLst/>
            </a:prstGeom>
            <a:solidFill>
              <a:srgbClr val="FFFFFF"/>
            </a:solidFill>
            <a:ln w="9525">
              <a:solidFill>
                <a:srgbClr val="CCD6E1"/>
              </a:solidFill>
            </a:ln>
          </p:spPr>
        </p:sp>
        <p:sp>
          <p:nvSpPr>
            <p:cNvPr id="7" name="TextBox 7"/>
            <p:cNvSpPr txBox="1"/>
            <p:nvPr/>
          </p:nvSpPr>
          <p:spPr>
            <a:xfrm>
              <a:off x="862012" y="1516856"/>
              <a:ext cx="973693" cy="228600"/>
            </a:xfrm>
            <a:prstGeom prst="rect">
              <a:avLst/>
            </a:prstGeom>
            <a:noFill/>
            <a:ln>
              <a:noFill/>
            </a:ln>
          </p:spPr>
          <p:txBody>
            <a:bodyPr wrap="none" lIns="0" tIns="0" rIns="0" bIns="0" anchor="t" anchorCtr="0">
              <a:spAutoFit/>
            </a:bodyPr>
            <a:lstStyle/>
            <a:p>
              <a:pPr algn="l"/>
              <a:r>
                <a:rPr lang="zh-CN" sz="1125" b="1" dirty="0">
                  <a:solidFill>
                    <a:srgbClr val="B42318"/>
                  </a:solidFill>
                  <a:latin typeface="Segoe UI" panose="020B0502040204020203"/>
                  <a:ea typeface="微软雅黑" panose="020B0503020204020204" charset="-122"/>
                  <a:cs typeface="Segoe UI" panose="020B0502040204020203"/>
                </a:rPr>
                <a:t>THEORY TYPE</a:t>
              </a:r>
              <a:endParaRPr lang="zh-CN" sz="1125" b="1" dirty="0">
                <a:solidFill>
                  <a:srgbClr val="B42318"/>
                </a:solidFill>
                <a:latin typeface="Segoe UI" panose="020B0502040204020203"/>
                <a:ea typeface="微软雅黑" panose="020B0503020204020204" charset="-122"/>
                <a:cs typeface="Segoe UI" panose="020B0502040204020203"/>
              </a:endParaRPr>
            </a:p>
          </p:txBody>
        </p:sp>
        <p:sp>
          <p:nvSpPr>
            <p:cNvPr id="8" name="TextBox 8"/>
            <p:cNvSpPr txBox="1"/>
            <p:nvPr/>
          </p:nvSpPr>
          <p:spPr>
            <a:xfrm>
              <a:off x="859155" y="1825942"/>
              <a:ext cx="2931795" cy="521970"/>
            </a:xfrm>
            <a:prstGeom prst="rect">
              <a:avLst/>
            </a:prstGeom>
            <a:noFill/>
            <a:ln>
              <a:noFill/>
            </a:ln>
          </p:spPr>
          <p:txBody>
            <a:bodyPr wrap="square" lIns="0" tIns="0" rIns="0" bIns="0" anchor="t" anchorCtr="0"/>
            <a:lstStyle/>
            <a:p>
              <a:pPr algn="l">
                <a:lnSpc>
                  <a:spcPts val="1950"/>
                </a:lnSpc>
              </a:pPr>
              <a:r>
                <a:rPr lang="zh-CN" sz="1350" dirty="0">
                  <a:solidFill>
                    <a:srgbClr val="1F2A37"/>
                  </a:solidFill>
                  <a:latin typeface="Segoe UI" panose="020B0502040204020203"/>
                  <a:ea typeface="微软雅黑" panose="020B0503020204020204" charset="-122"/>
                  <a:cs typeface="Segoe UI" panose="020B0502040204020203"/>
                </a:rPr>
                <a:t>Normative decision theory and a </a:t>
              </a:r>
              <a:r>
                <a:rPr lang="zh-CN" sz="1350" dirty="0">
                  <a:solidFill>
                    <a:srgbClr val="1F2A37"/>
                  </a:solidFill>
                  <a:latin typeface="Segoe UI" panose="020B0502040204020203"/>
                  <a:ea typeface="微软雅黑" panose="020B0503020204020204" charset="-122"/>
                  <a:cs typeface="Segoe UI" panose="020B0502040204020203"/>
                </a:rPr>
                <a:t>mathematical decision framework.</a:t>
              </a:r>
              <a:endParaRPr lang="zh-CN" sz="1350" dirty="0">
                <a:solidFill>
                  <a:srgbClr val="1F2A37"/>
                </a:solidFill>
                <a:latin typeface="Segoe UI" panose="020B0502040204020203"/>
                <a:ea typeface="微软雅黑" panose="020B0503020204020204" charset="-122"/>
                <a:cs typeface="Segoe UI" panose="020B0502040204020203"/>
              </a:endParaRPr>
            </a:p>
          </p:txBody>
        </p:sp>
        <p:sp>
          <p:nvSpPr>
            <p:cNvPr id="9" name="Line 9"/>
            <p:cNvSpPr/>
            <p:nvPr/>
          </p:nvSpPr>
          <p:spPr>
            <a:xfrm>
              <a:off x="876300" y="2533650"/>
              <a:ext cx="3390900" cy="9525"/>
            </a:xfrm>
            <a:custGeom>
              <a:avLst/>
              <a:gdLst/>
              <a:ahLst/>
              <a:cxnLst/>
              <a:rect l="l" t="t" r="r" b="b"/>
              <a:pathLst>
                <a:path w="3390900" h="9525">
                  <a:moveTo>
                    <a:pt x="0" y="0"/>
                  </a:moveTo>
                  <a:lnTo>
                    <a:pt x="3390900" y="0"/>
                  </a:lnTo>
                </a:path>
              </a:pathLst>
            </a:custGeom>
            <a:noFill/>
            <a:ln w="9525">
              <a:solidFill>
                <a:srgbClr val="DDE5ED"/>
              </a:solidFill>
            </a:ln>
          </p:spPr>
        </p:sp>
        <p:sp>
          <p:nvSpPr>
            <p:cNvPr id="10" name="TextBox 10"/>
            <p:cNvSpPr txBox="1"/>
            <p:nvPr/>
          </p:nvSpPr>
          <p:spPr>
            <a:xfrm>
              <a:off x="862012" y="2736056"/>
              <a:ext cx="1493508" cy="228600"/>
            </a:xfrm>
            <a:prstGeom prst="rect">
              <a:avLst/>
            </a:prstGeom>
            <a:noFill/>
            <a:ln>
              <a:noFill/>
            </a:ln>
          </p:spPr>
          <p:txBody>
            <a:bodyPr wrap="none" lIns="0" tIns="0" rIns="0" bIns="0" anchor="t" anchorCtr="0">
              <a:spAutoFit/>
            </a:bodyPr>
            <a:lstStyle/>
            <a:p>
              <a:pPr algn="l"/>
              <a:r>
                <a:rPr lang="zh-CN" sz="1125" b="1" dirty="0">
                  <a:solidFill>
                    <a:srgbClr val="5B7FA3"/>
                  </a:solidFill>
                  <a:latin typeface="Segoe UI" panose="020B0502040204020203"/>
                  <a:ea typeface="微软雅黑" panose="020B0503020204020204" charset="-122"/>
                  <a:cs typeface="Segoe UI" panose="020B0502040204020203"/>
                </a:rPr>
                <a:t>DISCIPLINARY HOMES</a:t>
              </a:r>
              <a:endParaRPr lang="zh-CN" sz="1125" b="1" dirty="0">
                <a:solidFill>
                  <a:srgbClr val="5B7FA3"/>
                </a:solidFill>
                <a:latin typeface="Segoe UI" panose="020B0502040204020203"/>
                <a:ea typeface="微软雅黑" panose="020B0503020204020204" charset="-122"/>
                <a:cs typeface="Segoe UI" panose="020B0502040204020203"/>
              </a:endParaRPr>
            </a:p>
          </p:txBody>
        </p:sp>
        <p:sp>
          <p:nvSpPr>
            <p:cNvPr id="11" name="TextBox 11"/>
            <p:cNvSpPr txBox="1"/>
            <p:nvPr/>
          </p:nvSpPr>
          <p:spPr>
            <a:xfrm>
              <a:off x="1014412" y="3098006"/>
              <a:ext cx="3171468" cy="228600"/>
            </a:xfrm>
            <a:prstGeom prst="rect">
              <a:avLst/>
            </a:prstGeom>
            <a:noFill/>
            <a:ln>
              <a:noFill/>
            </a:ln>
          </p:spPr>
          <p:txBody>
            <a:bodyPr wrap="none" lIns="0" tIns="0" rIns="0" bIns="0" anchor="t" anchorCtr="0">
              <a:spAutoFit/>
            </a:bodyPr>
            <a:lstStyle/>
            <a:p>
              <a:pPr algn="l"/>
              <a:r>
                <a:rPr lang="zh-CN" sz="1125" dirty="0">
                  <a:solidFill>
                    <a:srgbClr val="526273"/>
                  </a:solidFill>
                  <a:latin typeface="Segoe UI" panose="020B0502040204020203"/>
                  <a:ea typeface="微软雅黑" panose="020B0503020204020204" charset="-122"/>
                  <a:cs typeface="Segoe UI" panose="020B0502040204020203"/>
                </a:rPr>
                <a:t>• Information economics and search theory</a:t>
              </a:r>
              <a:endParaRPr lang="zh-CN" sz="1125" dirty="0">
                <a:solidFill>
                  <a:srgbClr val="526273"/>
                </a:solidFill>
                <a:latin typeface="Segoe UI" panose="020B0502040204020203"/>
                <a:ea typeface="微软雅黑" panose="020B0503020204020204" charset="-122"/>
                <a:cs typeface="Segoe UI" panose="020B0502040204020203"/>
              </a:endParaRPr>
            </a:p>
          </p:txBody>
        </p:sp>
        <p:sp>
          <p:nvSpPr>
            <p:cNvPr id="12" name="TextBox 12"/>
            <p:cNvSpPr txBox="1"/>
            <p:nvPr/>
          </p:nvSpPr>
          <p:spPr>
            <a:xfrm>
              <a:off x="1014412" y="3364706"/>
              <a:ext cx="1753791" cy="228600"/>
            </a:xfrm>
            <a:prstGeom prst="rect">
              <a:avLst/>
            </a:prstGeom>
            <a:noFill/>
            <a:ln>
              <a:noFill/>
            </a:ln>
          </p:spPr>
          <p:txBody>
            <a:bodyPr wrap="none" lIns="0" tIns="0" rIns="0" bIns="0" anchor="t" anchorCtr="0">
              <a:spAutoFit/>
            </a:bodyPr>
            <a:lstStyle/>
            <a:p>
              <a:pPr algn="l"/>
              <a:r>
                <a:rPr lang="zh-CN" sz="1125" dirty="0">
                  <a:solidFill>
                    <a:srgbClr val="526273"/>
                  </a:solidFill>
                  <a:latin typeface="Segoe UI" panose="020B0502040204020203"/>
                  <a:ea typeface="微软雅黑" panose="020B0503020204020204" charset="-122"/>
                  <a:cs typeface="Segoe UI" panose="020B0502040204020203"/>
                </a:rPr>
                <a:t>• Microeconomic theory</a:t>
              </a:r>
              <a:endParaRPr lang="zh-CN" sz="1125" dirty="0">
                <a:solidFill>
                  <a:srgbClr val="526273"/>
                </a:solidFill>
                <a:latin typeface="Segoe UI" panose="020B0502040204020203"/>
                <a:ea typeface="微软雅黑" panose="020B0503020204020204" charset="-122"/>
                <a:cs typeface="Segoe UI" panose="020B0502040204020203"/>
              </a:endParaRPr>
            </a:p>
          </p:txBody>
        </p:sp>
        <p:sp>
          <p:nvSpPr>
            <p:cNvPr id="13" name="TextBox 13"/>
            <p:cNvSpPr txBox="1"/>
            <p:nvPr/>
          </p:nvSpPr>
          <p:spPr>
            <a:xfrm>
              <a:off x="1014412" y="3631406"/>
              <a:ext cx="3486507" cy="228600"/>
            </a:xfrm>
            <a:prstGeom prst="rect">
              <a:avLst/>
            </a:prstGeom>
            <a:noFill/>
            <a:ln>
              <a:noFill/>
            </a:ln>
          </p:spPr>
          <p:txBody>
            <a:bodyPr wrap="none" lIns="0" tIns="0" rIns="0" bIns="0" anchor="t" anchorCtr="0">
              <a:spAutoFit/>
            </a:bodyPr>
            <a:lstStyle/>
            <a:p>
              <a:pPr algn="l"/>
              <a:r>
                <a:rPr lang="zh-CN" sz="1125" dirty="0">
                  <a:solidFill>
                    <a:srgbClr val="526273"/>
                  </a:solidFill>
                  <a:latin typeface="Segoe UI" panose="020B0502040204020203"/>
                  <a:ea typeface="微软雅黑" panose="020B0503020204020204" charset="-122"/>
                  <a:cs typeface="Segoe UI" panose="020B0502040204020203"/>
                </a:rPr>
                <a:t>• Operations research and management science</a:t>
              </a:r>
              <a:endParaRPr lang="zh-CN" sz="1125" dirty="0">
                <a:solidFill>
                  <a:srgbClr val="526273"/>
                </a:solidFill>
                <a:latin typeface="Segoe UI" panose="020B0502040204020203"/>
                <a:ea typeface="微软雅黑" panose="020B0503020204020204" charset="-122"/>
                <a:cs typeface="Segoe UI" panose="020B0502040204020203"/>
              </a:endParaRPr>
            </a:p>
          </p:txBody>
        </p:sp>
        <p:sp>
          <p:nvSpPr>
            <p:cNvPr id="14" name="TextBox 14"/>
            <p:cNvSpPr txBox="1"/>
            <p:nvPr/>
          </p:nvSpPr>
          <p:spPr>
            <a:xfrm>
              <a:off x="1014412" y="3898106"/>
              <a:ext cx="2121337" cy="228600"/>
            </a:xfrm>
            <a:prstGeom prst="rect">
              <a:avLst/>
            </a:prstGeom>
            <a:noFill/>
            <a:ln>
              <a:noFill/>
            </a:ln>
          </p:spPr>
          <p:txBody>
            <a:bodyPr wrap="none" lIns="0" tIns="0" rIns="0" bIns="0" anchor="t" anchorCtr="0">
              <a:spAutoFit/>
            </a:bodyPr>
            <a:lstStyle/>
            <a:p>
              <a:pPr algn="l"/>
              <a:r>
                <a:rPr lang="zh-CN" sz="1125" dirty="0">
                  <a:solidFill>
                    <a:srgbClr val="526273"/>
                  </a:solidFill>
                  <a:latin typeface="Segoe UI" panose="020B0502040204020203"/>
                  <a:ea typeface="微软雅黑" panose="020B0503020204020204" charset="-122"/>
                  <a:cs typeface="Segoe UI" panose="020B0502040204020203"/>
                </a:rPr>
                <a:t>• Statistical decision theory</a:t>
              </a:r>
              <a:endParaRPr lang="zh-CN" sz="1125" dirty="0">
                <a:solidFill>
                  <a:srgbClr val="526273"/>
                </a:solidFill>
                <a:latin typeface="Segoe UI" panose="020B0502040204020203"/>
                <a:ea typeface="微软雅黑" panose="020B0503020204020204" charset="-122"/>
                <a:cs typeface="Segoe UI" panose="020B0502040204020203"/>
              </a:endParaRPr>
            </a:p>
          </p:txBody>
        </p:sp>
        <p:sp>
          <p:nvSpPr>
            <p:cNvPr id="15" name="TextBox 15"/>
            <p:cNvSpPr txBox="1"/>
            <p:nvPr/>
          </p:nvSpPr>
          <p:spPr>
            <a:xfrm>
              <a:off x="1014412" y="4164806"/>
              <a:ext cx="2241352" cy="228600"/>
            </a:xfrm>
            <a:prstGeom prst="rect">
              <a:avLst/>
            </a:prstGeom>
            <a:noFill/>
            <a:ln>
              <a:noFill/>
            </a:ln>
          </p:spPr>
          <p:txBody>
            <a:bodyPr wrap="none" lIns="0" tIns="0" rIns="0" bIns="0" anchor="t" anchorCtr="0">
              <a:spAutoFit/>
            </a:bodyPr>
            <a:lstStyle/>
            <a:p>
              <a:pPr algn="l"/>
              <a:r>
                <a:rPr lang="zh-CN" sz="1125" dirty="0">
                  <a:solidFill>
                    <a:srgbClr val="526273"/>
                  </a:solidFill>
                  <a:latin typeface="Segoe UI" panose="020B0502040204020203"/>
                  <a:ea typeface="微软雅黑" panose="020B0503020204020204" charset="-122"/>
                  <a:cs typeface="Segoe UI" panose="020B0502040204020203"/>
                </a:rPr>
                <a:t>• Behavioral decision research</a:t>
              </a:r>
              <a:endParaRPr lang="zh-CN" sz="1125" dirty="0">
                <a:solidFill>
                  <a:srgbClr val="526273"/>
                </a:solidFill>
                <a:latin typeface="Segoe UI" panose="020B0502040204020203"/>
                <a:ea typeface="微软雅黑" panose="020B0503020204020204" charset="-122"/>
                <a:cs typeface="Segoe UI" panose="020B0502040204020203"/>
              </a:endParaRPr>
            </a:p>
          </p:txBody>
        </p:sp>
        <p:sp>
          <p:nvSpPr>
            <p:cNvPr id="16" name="Line 16"/>
            <p:cNvSpPr/>
            <p:nvPr/>
          </p:nvSpPr>
          <p:spPr>
            <a:xfrm>
              <a:off x="876300" y="4629150"/>
              <a:ext cx="3390900" cy="9525"/>
            </a:xfrm>
            <a:custGeom>
              <a:avLst/>
              <a:gdLst/>
              <a:ahLst/>
              <a:cxnLst/>
              <a:rect l="l" t="t" r="r" b="b"/>
              <a:pathLst>
                <a:path w="3390900" h="9525">
                  <a:moveTo>
                    <a:pt x="0" y="0"/>
                  </a:moveTo>
                  <a:lnTo>
                    <a:pt x="3390900" y="0"/>
                  </a:lnTo>
                </a:path>
              </a:pathLst>
            </a:custGeom>
            <a:noFill/>
            <a:ln w="9525">
              <a:solidFill>
                <a:srgbClr val="DDE5ED"/>
              </a:solidFill>
            </a:ln>
          </p:spPr>
        </p:sp>
        <p:sp>
          <p:nvSpPr>
            <p:cNvPr id="17" name="TextBox 17"/>
            <p:cNvSpPr txBox="1"/>
            <p:nvPr/>
          </p:nvSpPr>
          <p:spPr>
            <a:xfrm>
              <a:off x="862965" y="4801552"/>
              <a:ext cx="1739434" cy="213360"/>
            </a:xfrm>
            <a:prstGeom prst="rect">
              <a:avLst/>
            </a:prstGeom>
            <a:noFill/>
            <a:ln>
              <a:noFill/>
            </a:ln>
          </p:spPr>
          <p:txBody>
            <a:bodyPr wrap="none" lIns="0" tIns="0" rIns="0" bIns="0" anchor="t" anchorCtr="0">
              <a:spAutoFit/>
            </a:bodyPr>
            <a:lstStyle/>
            <a:p>
              <a:pPr algn="l"/>
              <a:r>
                <a:rPr lang="zh-CN" sz="1050" b="1" dirty="0">
                  <a:solidFill>
                    <a:srgbClr val="163A5F"/>
                  </a:solidFill>
                  <a:latin typeface="Segoe UI" panose="020B0502040204020203"/>
                  <a:ea typeface="微软雅黑" panose="020B0503020204020204" charset="-122"/>
                  <a:cs typeface="Segoe UI" panose="020B0502040204020203"/>
                </a:rPr>
                <a:t>Representative journals</a:t>
              </a:r>
              <a:endParaRPr lang="zh-CN" sz="1050" b="1" dirty="0">
                <a:solidFill>
                  <a:srgbClr val="163A5F"/>
                </a:solidFill>
                <a:latin typeface="Segoe UI" panose="020B0502040204020203"/>
                <a:ea typeface="微软雅黑" panose="020B0503020204020204" charset="-122"/>
                <a:cs typeface="Segoe UI" panose="020B0502040204020203"/>
              </a:endParaRPr>
            </a:p>
          </p:txBody>
        </p:sp>
        <p:sp>
          <p:nvSpPr>
            <p:cNvPr id="18" name="TextBox 18"/>
            <p:cNvSpPr txBox="1"/>
            <p:nvPr/>
          </p:nvSpPr>
          <p:spPr>
            <a:xfrm>
              <a:off x="863918" y="5057299"/>
              <a:ext cx="4263295" cy="198120"/>
            </a:xfrm>
            <a:prstGeom prst="rect">
              <a:avLst/>
            </a:prstGeom>
            <a:noFill/>
            <a:ln>
              <a:noFill/>
            </a:ln>
          </p:spPr>
          <p:txBody>
            <a:bodyPr wrap="none" lIns="0" tIns="0" rIns="0" bIns="0" anchor="t" anchorCtr="0">
              <a:spAutoFit/>
            </a:bodyPr>
            <a:lstStyle/>
            <a:p>
              <a:pPr algn="l"/>
              <a:r>
                <a:rPr lang="zh-CN" sz="975" dirty="0">
                  <a:solidFill>
                    <a:srgbClr val="526273"/>
                  </a:solidFill>
                  <a:latin typeface="Segoe UI" panose="020B0502040204020203"/>
                  <a:ea typeface="微软雅黑" panose="020B0503020204020204" charset="-122"/>
                  <a:cs typeface="Segoe UI" panose="020B0502040204020203"/>
                </a:rPr>
                <a:t>Econometrica · JET · Economic Theory · OR · MS · Decision Analysis</a:t>
              </a:r>
              <a:endParaRPr lang="zh-CN" sz="975" dirty="0">
                <a:solidFill>
                  <a:srgbClr val="526273"/>
                </a:solidFill>
                <a:latin typeface="Segoe UI" panose="020B0502040204020203"/>
                <a:ea typeface="微软雅黑" panose="020B0503020204020204" charset="-122"/>
                <a:cs typeface="Segoe UI" panose="020B0502040204020203"/>
              </a:endParaRPr>
            </a:p>
          </p:txBody>
        </p:sp>
      </p:grpSp>
      <p:grpSp>
        <p:nvGrpSpPr>
          <p:cNvPr id="28" name="Group 28"/>
          <p:cNvGrpSpPr/>
          <p:nvPr/>
        </p:nvGrpSpPr>
        <p:grpSpPr>
          <a:xfrm>
            <a:off x="4838700" y="1257300"/>
            <a:ext cx="7086219" cy="4095750"/>
            <a:chOff x="4838700" y="1257300"/>
            <a:chExt cx="7086219" cy="4095750"/>
          </a:xfrm>
        </p:grpSpPr>
        <p:sp>
          <p:nvSpPr>
            <p:cNvPr id="20" name="Rectangle 20"/>
            <p:cNvSpPr/>
            <p:nvPr/>
          </p:nvSpPr>
          <p:spPr>
            <a:xfrm>
              <a:off x="4838700" y="1257300"/>
              <a:ext cx="6743700" cy="4095750"/>
            </a:xfrm>
            <a:prstGeom prst="rect">
              <a:avLst/>
            </a:prstGeom>
            <a:solidFill>
              <a:srgbClr val="FFFFFF"/>
            </a:solidFill>
            <a:ln w="9525">
              <a:solidFill>
                <a:srgbClr val="CCD6E1"/>
              </a:solidFill>
            </a:ln>
          </p:spPr>
        </p:sp>
        <p:sp>
          <p:nvSpPr>
            <p:cNvPr id="21" name="TextBox 21"/>
            <p:cNvSpPr txBox="1"/>
            <p:nvPr/>
          </p:nvSpPr>
          <p:spPr>
            <a:xfrm>
              <a:off x="5091112" y="1516856"/>
              <a:ext cx="1674656" cy="228600"/>
            </a:xfrm>
            <a:prstGeom prst="rect">
              <a:avLst/>
            </a:prstGeom>
            <a:noFill/>
            <a:ln>
              <a:noFill/>
            </a:ln>
          </p:spPr>
          <p:txBody>
            <a:bodyPr wrap="none" lIns="0" tIns="0" rIns="0" bIns="0" anchor="t" anchorCtr="0">
              <a:spAutoFit/>
            </a:bodyPr>
            <a:lstStyle/>
            <a:p>
              <a:pPr algn="l"/>
              <a:r>
                <a:rPr lang="zh-CN" sz="1125" b="1" dirty="0">
                  <a:solidFill>
                    <a:srgbClr val="B42318"/>
                  </a:solidFill>
                  <a:latin typeface="Segoe UI" panose="020B0502040204020203"/>
                  <a:ea typeface="微软雅黑" panose="020B0503020204020204" charset="-122"/>
                  <a:cs typeface="Segoe UI" panose="020B0502040204020203"/>
                </a:rPr>
                <a:t>DETAILED EXPLANATION</a:t>
              </a:r>
              <a:endParaRPr lang="zh-CN" sz="1125" b="1" dirty="0">
                <a:solidFill>
                  <a:srgbClr val="B42318"/>
                </a:solidFill>
                <a:latin typeface="Segoe UI" panose="020B0502040204020203"/>
                <a:ea typeface="微软雅黑" panose="020B0503020204020204" charset="-122"/>
                <a:cs typeface="Segoe UI" panose="020B0502040204020203"/>
              </a:endParaRPr>
            </a:p>
          </p:txBody>
        </p:sp>
        <p:sp>
          <p:nvSpPr>
            <p:cNvPr id="22" name="TextBox 22"/>
            <p:cNvSpPr txBox="1"/>
            <p:nvPr/>
          </p:nvSpPr>
          <p:spPr>
            <a:xfrm>
              <a:off x="5087302" y="1884521"/>
              <a:ext cx="6361271" cy="565785"/>
            </a:xfrm>
            <a:prstGeom prst="rect">
              <a:avLst/>
            </a:prstGeom>
            <a:noFill/>
            <a:ln>
              <a:noFill/>
            </a:ln>
          </p:spPr>
          <p:txBody>
            <a:bodyPr wrap="square" lIns="0" tIns="0" rIns="0" bIns="0" anchor="t" anchorCtr="0"/>
            <a:lstStyle/>
            <a:p>
              <a:pPr algn="l">
                <a:lnSpc>
                  <a:spcPts val="2175"/>
                </a:lnSpc>
              </a:pPr>
              <a:r>
                <a:rPr lang="zh-CN" sz="1425" dirty="0">
                  <a:solidFill>
                    <a:srgbClr val="1F2A37"/>
                  </a:solidFill>
                  <a:latin typeface="Segoe UI" panose="020B0502040204020203"/>
                  <a:ea typeface="微软雅黑" panose="020B0503020204020204" charset="-122"/>
                  <a:cs typeface="Segoe UI" panose="020B0502040204020203"/>
                </a:rPr>
                <a:t>When information or options arrive sequentially, observation is costly, </a:t>
              </a:r>
              <a:r>
                <a:rPr lang="zh-CN" sz="1425" dirty="0">
                  <a:solidFill>
                    <a:srgbClr val="1F2A37"/>
                  </a:solidFill>
                  <a:latin typeface="Segoe UI" panose="020B0502040204020203"/>
                  <a:ea typeface="微软雅黑" panose="020B0503020204020204" charset="-122"/>
                  <a:cs typeface="Segoe UI" panose="020B0502040204020203"/>
                </a:rPr>
                <a:t>and future gains are uncertain, optimal stopping asks when to stop.</a:t>
              </a:r>
              <a:endParaRPr lang="zh-CN" sz="1425" dirty="0">
                <a:solidFill>
                  <a:srgbClr val="1F2A37"/>
                </a:solidFill>
                <a:latin typeface="Segoe UI" panose="020B0502040204020203"/>
                <a:ea typeface="微软雅黑" panose="020B0503020204020204" charset="-122"/>
                <a:cs typeface="Segoe UI" panose="020B0502040204020203"/>
              </a:endParaRPr>
            </a:p>
          </p:txBody>
        </p:sp>
        <p:sp>
          <p:nvSpPr>
            <p:cNvPr id="23" name="Rectangle 23"/>
            <p:cNvSpPr/>
            <p:nvPr/>
          </p:nvSpPr>
          <p:spPr>
            <a:xfrm>
              <a:off x="5105400" y="2781300"/>
              <a:ext cx="6210300" cy="781050"/>
            </a:xfrm>
            <a:prstGeom prst="rect">
              <a:avLst/>
            </a:prstGeom>
            <a:solidFill>
              <a:srgbClr val="EAF0F7"/>
            </a:solidFill>
            <a:ln>
              <a:noFill/>
            </a:ln>
          </p:spPr>
        </p:sp>
        <p:sp>
          <p:nvSpPr>
            <p:cNvPr id="24" name="TextBox 24"/>
            <p:cNvSpPr txBox="1"/>
            <p:nvPr/>
          </p:nvSpPr>
          <p:spPr>
            <a:xfrm>
              <a:off x="5337810" y="2956560"/>
              <a:ext cx="1467060" cy="243840"/>
            </a:xfrm>
            <a:prstGeom prst="rect">
              <a:avLst/>
            </a:prstGeom>
            <a:noFill/>
            <a:ln>
              <a:noFill/>
            </a:ln>
          </p:spPr>
          <p:txBody>
            <a:bodyPr wrap="none" lIns="0" tIns="0" rIns="0" bIns="0" anchor="t" anchorCtr="0">
              <a:spAutoFit/>
            </a:bodyPr>
            <a:lstStyle/>
            <a:p>
              <a:pPr algn="l"/>
              <a:r>
                <a:rPr lang="zh-CN" sz="1200" b="1" dirty="0">
                  <a:solidFill>
                    <a:srgbClr val="163A5F"/>
                  </a:solidFill>
                  <a:latin typeface="Segoe UI" panose="020B0502040204020203"/>
                  <a:ea typeface="微软雅黑" panose="020B0503020204020204" charset="-122"/>
                  <a:cs typeface="Segoe UI" panose="020B0502040204020203"/>
                </a:rPr>
                <a:t>CORE COMPARISON</a:t>
              </a:r>
              <a:endParaRPr lang="zh-CN" sz="1200" b="1" dirty="0">
                <a:solidFill>
                  <a:srgbClr val="163A5F"/>
                </a:solidFill>
                <a:latin typeface="Segoe UI" panose="020B0502040204020203"/>
                <a:ea typeface="微软雅黑" panose="020B0503020204020204" charset="-122"/>
                <a:cs typeface="Segoe UI" panose="020B0502040204020203"/>
              </a:endParaRPr>
            </a:p>
          </p:txBody>
        </p:sp>
        <p:sp>
          <p:nvSpPr>
            <p:cNvPr id="25" name="TextBox 25"/>
            <p:cNvSpPr txBox="1"/>
            <p:nvPr/>
          </p:nvSpPr>
          <p:spPr>
            <a:xfrm>
              <a:off x="5334000" y="3200400"/>
              <a:ext cx="6590919" cy="304800"/>
            </a:xfrm>
            <a:prstGeom prst="rect">
              <a:avLst/>
            </a:prstGeom>
            <a:noFill/>
            <a:ln>
              <a:noFill/>
            </a:ln>
          </p:spPr>
          <p:txBody>
            <a:bodyPr wrap="none" lIns="0" tIns="0" rIns="0" bIns="0" anchor="t" anchorCtr="0">
              <a:spAutoFit/>
            </a:bodyPr>
            <a:lstStyle/>
            <a:p>
              <a:pPr algn="l"/>
              <a:r>
                <a:rPr lang="zh-CN" sz="1500" b="1" dirty="0">
                  <a:solidFill>
                    <a:srgbClr val="1F2A37"/>
                  </a:solidFill>
                  <a:latin typeface="Segoe UI" panose="020B0502040204020203"/>
                  <a:ea typeface="微软雅黑" panose="020B0503020204020204" charset="-122"/>
                  <a:cs typeface="Segoe UI" panose="020B0502040204020203"/>
                </a:rPr>
                <a:t>Expected marginal benefit vs. marginal cost of one more search</a:t>
              </a:r>
              <a:endParaRPr lang="zh-CN" sz="1500" b="1" dirty="0">
                <a:solidFill>
                  <a:srgbClr val="1F2A37"/>
                </a:solidFill>
                <a:latin typeface="Segoe UI" panose="020B0502040204020203"/>
                <a:ea typeface="微软雅黑" panose="020B0503020204020204" charset="-122"/>
                <a:cs typeface="Segoe UI" panose="020B0502040204020203"/>
              </a:endParaRPr>
            </a:p>
          </p:txBody>
        </p:sp>
        <p:sp>
          <p:nvSpPr>
            <p:cNvPr id="26" name="TextBox 26"/>
            <p:cNvSpPr txBox="1"/>
            <p:nvPr/>
          </p:nvSpPr>
          <p:spPr>
            <a:xfrm>
              <a:off x="5088255" y="3854768"/>
              <a:ext cx="6497955" cy="788670"/>
            </a:xfrm>
            <a:prstGeom prst="rect">
              <a:avLst/>
            </a:prstGeom>
            <a:noFill/>
            <a:ln>
              <a:noFill/>
            </a:ln>
          </p:spPr>
          <p:txBody>
            <a:bodyPr wrap="square" lIns="0" tIns="0" rIns="0" bIns="0" anchor="t" anchorCtr="0"/>
            <a:lstStyle/>
            <a:p>
              <a:pPr algn="l">
                <a:lnSpc>
                  <a:spcPts val="2025"/>
                </a:lnSpc>
              </a:pPr>
              <a:r>
                <a:rPr lang="zh-CN" sz="1350" dirty="0">
                  <a:solidFill>
                    <a:srgbClr val="526273"/>
                  </a:solidFill>
                  <a:latin typeface="Segoe UI" panose="020B0502040204020203"/>
                  <a:ea typeface="微软雅黑" panose="020B0503020204020204" charset="-122"/>
                  <a:cs typeface="Segoe UI" panose="020B0502040204020203"/>
                </a:rPr>
                <a:t>Weitzman converts search objects into reservation values. Search continues </a:t>
              </a:r>
              <a:r>
                <a:rPr lang="zh-CN" sz="1350" dirty="0">
                  <a:solidFill>
                    <a:srgbClr val="526273"/>
                  </a:solidFill>
                  <a:latin typeface="Segoe UI" panose="020B0502040204020203"/>
                  <a:ea typeface="微软雅黑" panose="020B0503020204020204" charset="-122"/>
                  <a:cs typeface="Segoe UI" panose="020B0502040204020203"/>
                </a:rPr>
                <a:t>while an unchecked option offers sufficient expected gain; it stops when the </a:t>
              </a:r>
              <a:r>
                <a:rPr lang="zh-CN" sz="1350" dirty="0">
                  <a:solidFill>
                    <a:srgbClr val="526273"/>
                  </a:solidFill>
                  <a:latin typeface="Segoe UI" panose="020B0502040204020203"/>
                  <a:ea typeface="微软雅黑" panose="020B0503020204020204" charset="-122"/>
                  <a:cs typeface="Segoe UI" panose="020B0502040204020203"/>
                </a:rPr>
                <a:t>best observed outcome exceeds every unchecked option’s reservation value.</a:t>
              </a:r>
              <a:endParaRPr lang="zh-CN" sz="1350" dirty="0">
                <a:solidFill>
                  <a:srgbClr val="526273"/>
                </a:solidFill>
                <a:latin typeface="Segoe UI" panose="020B0502040204020203"/>
                <a:ea typeface="微软雅黑" panose="020B0503020204020204" charset="-122"/>
                <a:cs typeface="Segoe UI" panose="020B0502040204020203"/>
              </a:endParaRPr>
            </a:p>
          </p:txBody>
        </p:sp>
        <p:sp>
          <p:nvSpPr>
            <p:cNvPr id="27" name="TextBox 27"/>
            <p:cNvSpPr txBox="1"/>
            <p:nvPr/>
          </p:nvSpPr>
          <p:spPr>
            <a:xfrm>
              <a:off x="5091112" y="4888706"/>
              <a:ext cx="5954316" cy="228600"/>
            </a:xfrm>
            <a:prstGeom prst="rect">
              <a:avLst/>
            </a:prstGeom>
            <a:noFill/>
            <a:ln>
              <a:noFill/>
            </a:ln>
          </p:spPr>
          <p:txBody>
            <a:bodyPr wrap="none" lIns="0" tIns="0" rIns="0" bIns="0" anchor="t" anchorCtr="0">
              <a:spAutoFit/>
            </a:bodyPr>
            <a:lstStyle/>
            <a:p>
              <a:pPr algn="l"/>
              <a:r>
                <a:rPr lang="zh-CN" sz="1125" dirty="0">
                  <a:solidFill>
                    <a:srgbClr val="7B8794"/>
                  </a:solidFill>
                  <a:latin typeface="Segoe UI" panose="020B0502040204020203"/>
                  <a:ea typeface="微软雅黑" panose="020B0503020204020204" charset="-122"/>
                  <a:cs typeface="Segoe UI" panose="020B0502040204020203"/>
                </a:rPr>
                <a:t>Paper 1 adapts the central criterion, not the exact “find the best option” task.</a:t>
              </a:r>
              <a:endParaRPr lang="zh-CN" sz="1125" dirty="0">
                <a:solidFill>
                  <a:srgbClr val="7B8794"/>
                </a:solidFill>
                <a:latin typeface="Segoe UI" panose="020B0502040204020203"/>
                <a:ea typeface="微软雅黑" panose="020B0503020204020204" charset="-122"/>
                <a:cs typeface="Segoe UI" panose="020B0502040204020203"/>
              </a:endParaRPr>
            </a:p>
          </p:txBody>
        </p:sp>
      </p:grpSp>
      <p:grpSp>
        <p:nvGrpSpPr>
          <p:cNvPr id="31" name="Group 31"/>
          <p:cNvGrpSpPr/>
          <p:nvPr/>
        </p:nvGrpSpPr>
        <p:grpSpPr>
          <a:xfrm>
            <a:off x="547679" y="5657850"/>
            <a:ext cx="11096642" cy="552450"/>
            <a:chOff x="547679" y="5657850"/>
            <a:chExt cx="11096642" cy="552450"/>
          </a:xfrm>
        </p:grpSpPr>
        <p:sp>
          <p:nvSpPr>
            <p:cNvPr id="29" name="Rectangle 29"/>
            <p:cNvSpPr/>
            <p:nvPr/>
          </p:nvSpPr>
          <p:spPr>
            <a:xfrm>
              <a:off x="609600" y="5657850"/>
              <a:ext cx="10972800" cy="552450"/>
            </a:xfrm>
            <a:prstGeom prst="rect">
              <a:avLst/>
            </a:prstGeom>
            <a:solidFill>
              <a:srgbClr val="163A5F"/>
            </a:solidFill>
            <a:ln>
              <a:noFill/>
            </a:ln>
          </p:spPr>
        </p:sp>
        <p:sp>
          <p:nvSpPr>
            <p:cNvPr id="30" name="TextBox 30"/>
            <p:cNvSpPr txBox="1"/>
            <p:nvPr/>
          </p:nvSpPr>
          <p:spPr>
            <a:xfrm>
              <a:off x="547679" y="5832158"/>
              <a:ext cx="11096642" cy="335280"/>
            </a:xfrm>
            <a:prstGeom prst="rect">
              <a:avLst/>
            </a:prstGeom>
            <a:noFill/>
            <a:ln>
              <a:noFill/>
            </a:ln>
          </p:spPr>
          <p:txBody>
            <a:bodyPr wrap="none" lIns="0" tIns="0" rIns="0" bIns="0" anchor="t" anchorCtr="0">
              <a:spAutoFit/>
            </a:bodyPr>
            <a:lstStyle/>
            <a:p>
              <a:pPr algn="ctr"/>
              <a:r>
                <a:rPr lang="zh-CN" sz="1650" b="1" dirty="0">
                  <a:solidFill>
                    <a:srgbClr val="FFFFFF"/>
                  </a:solidFill>
                  <a:latin typeface="Segoe UI" panose="020B0502040204020203"/>
                  <a:ea typeface="微软雅黑" panose="020B0503020204020204" charset="-122"/>
                  <a:cs typeface="Segoe UI" panose="020B0502040204020203"/>
                </a:rPr>
                <a:t>Is the expected information value of the next piece of evidence greater than its acquisition cost?</a:t>
              </a:r>
              <a:endParaRPr lang="zh-CN" sz="1650" b="1" dirty="0">
                <a:solidFill>
                  <a:srgbClr val="FFFFFF"/>
                </a:solidFill>
                <a:latin typeface="Segoe UI" panose="020B0502040204020203"/>
                <a:ea typeface="微软雅黑" panose="020B0503020204020204" charset="-122"/>
                <a:cs typeface="Segoe UI" panose="020B0502040204020203"/>
              </a:endParaRPr>
            </a:p>
          </p:txBody>
        </p:sp>
      </p:grpSp>
      <p:sp>
        <p:nvSpPr>
          <p:cNvPr id="32" name="TextBox 32"/>
          <p:cNvSpPr txBox="1"/>
          <p:nvPr/>
        </p:nvSpPr>
        <p:spPr>
          <a:xfrm>
            <a:off x="11438954" y="6398895"/>
            <a:ext cx="154877" cy="182880"/>
          </a:xfrm>
          <a:prstGeom prst="rect">
            <a:avLst/>
          </a:prstGeom>
          <a:noFill/>
          <a:ln>
            <a:noFill/>
          </a:ln>
        </p:spPr>
        <p:txBody>
          <a:bodyPr wrap="none" lIns="0" tIns="0" rIns="0" bIns="0" anchor="t" anchorCtr="0">
            <a:spAutoFit/>
          </a:bodyPr>
          <a:lstStyle/>
          <a:p>
            <a:pPr algn="r"/>
            <a:r>
              <a:rPr lang="zh-CN" sz="900" dirty="0">
                <a:solidFill>
                  <a:srgbClr val="7B8794"/>
                </a:solidFill>
                <a:latin typeface="Segoe UI" panose="020B0502040204020203"/>
                <a:ea typeface="微软雅黑" panose="020B0503020204020204" charset="-122"/>
                <a:cs typeface="Segoe UI" panose="020B0502040204020203"/>
              </a:rPr>
              <a:t>12</a:t>
            </a:r>
            <a:endParaRPr lang="zh-CN" sz="900"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nodeType="after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image">
                                      <p:cBhvr>
                                        <p:cTn id="7" dur="400"/>
                                        <p:tgtEl>
                                          <p:spTgt spid="19"/>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fade">
                                      <p:cBhvr>
                                        <p:cTn id="11" dur="400"/>
                                        <p:tgtEl>
                                          <p:spTgt spid="28"/>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wipe(left)">
                                      <p:cBhvr>
                                        <p:cTn id="15" dur="4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8" grpId="0"/>
      <p:bldP spid="3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4"/>
          <p:cNvGrpSpPr/>
          <p:nvPr/>
        </p:nvGrpSpPr>
        <p:grpSpPr>
          <a:xfrm>
            <a:off x="0" y="0"/>
            <a:ext cx="12192000" cy="6858000"/>
            <a:chOff x="0" y="0"/>
            <a:chExt cx="12192000" cy="6858000"/>
          </a:xfrm>
        </p:grpSpPr>
        <p:sp>
          <p:nvSpPr>
            <p:cNvPr id="2" name="Rectangle 2"/>
            <p:cNvSpPr/>
            <p:nvPr/>
          </p:nvSpPr>
          <p:spPr>
            <a:xfrm>
              <a:off x="0" y="0"/>
              <a:ext cx="12192000" cy="6858000"/>
            </a:xfrm>
            <a:prstGeom prst="rect">
              <a:avLst/>
            </a:prstGeom>
            <a:solidFill>
              <a:srgbClr val="F7F9FC"/>
            </a:solidFill>
            <a:ln>
              <a:noFill/>
            </a:ln>
          </p:spPr>
        </p:sp>
        <p:sp>
          <p:nvSpPr>
            <p:cNvPr id="3" name="Line 3"/>
            <p:cNvSpPr/>
            <p:nvPr/>
          </p:nvSpPr>
          <p:spPr>
            <a:xfrm>
              <a:off x="609600" y="2266950"/>
              <a:ext cx="10972800" cy="9525"/>
            </a:xfrm>
            <a:custGeom>
              <a:avLst/>
              <a:gdLst/>
              <a:ahLst/>
              <a:cxnLst/>
              <a:rect l="l" t="t" r="r" b="b"/>
              <a:pathLst>
                <a:path w="10972800" h="9525">
                  <a:moveTo>
                    <a:pt x="0" y="0"/>
                  </a:moveTo>
                  <a:lnTo>
                    <a:pt x="10972800" y="0"/>
                  </a:lnTo>
                </a:path>
              </a:pathLst>
            </a:custGeom>
            <a:noFill/>
            <a:ln w="9525">
              <a:solidFill>
                <a:srgbClr val="DDE5ED"/>
              </a:solidFill>
            </a:ln>
          </p:spPr>
        </p:sp>
      </p:grpSp>
      <p:grpSp>
        <p:nvGrpSpPr>
          <p:cNvPr id="7" name="Group 7"/>
          <p:cNvGrpSpPr/>
          <p:nvPr/>
        </p:nvGrpSpPr>
        <p:grpSpPr>
          <a:xfrm>
            <a:off x="569595" y="561975"/>
            <a:ext cx="8586073" cy="1471613"/>
            <a:chOff x="569595" y="561975"/>
            <a:chExt cx="8586073" cy="1471613"/>
          </a:xfrm>
        </p:grpSpPr>
        <p:sp>
          <p:nvSpPr>
            <p:cNvPr id="5" name="TextBox 5"/>
            <p:cNvSpPr txBox="1"/>
            <p:nvPr/>
          </p:nvSpPr>
          <p:spPr>
            <a:xfrm>
              <a:off x="590550" y="561975"/>
              <a:ext cx="1613297" cy="304800"/>
            </a:xfrm>
            <a:prstGeom prst="rect">
              <a:avLst/>
            </a:prstGeom>
            <a:noFill/>
            <a:ln>
              <a:noFill/>
            </a:ln>
          </p:spPr>
          <p:txBody>
            <a:bodyPr wrap="none" lIns="0" tIns="0" rIns="0" bIns="0" anchor="t" anchorCtr="0">
              <a:spAutoFit/>
            </a:bodyPr>
            <a:lstStyle/>
            <a:p>
              <a:pPr algn="l"/>
              <a:r>
                <a:rPr lang="zh-CN" sz="1500" b="1" dirty="0">
                  <a:solidFill>
                    <a:srgbClr val="5B7FA3"/>
                  </a:solidFill>
                  <a:latin typeface="Segoe UI" panose="020B0502040204020203"/>
                  <a:ea typeface="微软雅黑" panose="020B0503020204020204" charset="-122"/>
                  <a:cs typeface="Segoe UI" panose="020B0502040204020203"/>
                </a:rPr>
                <a:t>Paper 1 · Scope</a:t>
              </a:r>
              <a:endParaRPr lang="zh-CN" sz="1500" b="1" dirty="0">
                <a:solidFill>
                  <a:srgbClr val="5B7FA3"/>
                </a:solidFill>
                <a:latin typeface="Segoe UI" panose="020B0502040204020203"/>
                <a:ea typeface="微软雅黑" panose="020B0503020204020204" charset="-122"/>
                <a:cs typeface="Segoe UI" panose="020B0502040204020203"/>
              </a:endParaRPr>
            </a:p>
          </p:txBody>
        </p:sp>
        <p:sp>
          <p:nvSpPr>
            <p:cNvPr id="6" name="TextBox 6"/>
            <p:cNvSpPr txBox="1"/>
            <p:nvPr/>
          </p:nvSpPr>
          <p:spPr>
            <a:xfrm>
              <a:off x="569595" y="898208"/>
              <a:ext cx="8586073" cy="1135380"/>
            </a:xfrm>
            <a:prstGeom prst="rect">
              <a:avLst/>
            </a:prstGeom>
            <a:noFill/>
            <a:ln>
              <a:noFill/>
            </a:ln>
          </p:spPr>
          <p:txBody>
            <a:bodyPr wrap="square" lIns="0" tIns="0" rIns="0" bIns="0" anchor="t" anchorCtr="0"/>
            <a:lstStyle/>
            <a:p>
              <a:pPr algn="l">
                <a:lnSpc>
                  <a:spcPts val="3900"/>
                </a:lnSpc>
              </a:pPr>
              <a:r>
                <a:rPr lang="zh-CN" sz="3150" b="1" dirty="0">
                  <a:solidFill>
                    <a:srgbClr val="163A5F"/>
                  </a:solidFill>
                  <a:latin typeface="Segoe UI" panose="020B0502040204020203"/>
                  <a:ea typeface="微软雅黑" panose="020B0503020204020204" charset="-122"/>
                  <a:cs typeface="Segoe UI" panose="020B0502040204020203"/>
                </a:rPr>
                <a:t>More Specifically, Paper 1 Focuses on the </a:t>
              </a:r>
              <a:r>
                <a:rPr lang="zh-CN" sz="3150" b="1" dirty="0">
                  <a:solidFill>
                    <a:srgbClr val="163A5F"/>
                  </a:solidFill>
                  <a:latin typeface="Segoe UI" panose="020B0502040204020203"/>
                  <a:ea typeface="微软雅黑" panose="020B0503020204020204" charset="-122"/>
                  <a:cs typeface="Segoe UI" panose="020B0502040204020203"/>
                </a:rPr>
                <a:t>Information-Collection Stage</a:t>
              </a:r>
              <a:endParaRPr lang="zh-CN" sz="3150" b="1" dirty="0">
                <a:solidFill>
                  <a:srgbClr val="163A5F"/>
                </a:solidFill>
                <a:latin typeface="Segoe UI" panose="020B0502040204020203"/>
                <a:ea typeface="微软雅黑" panose="020B0503020204020204" charset="-122"/>
                <a:cs typeface="Segoe UI" panose="020B0502040204020203"/>
              </a:endParaRPr>
            </a:p>
          </p:txBody>
        </p:sp>
      </p:grpSp>
      <p:grpSp>
        <p:nvGrpSpPr>
          <p:cNvPr id="14" name="Group 14"/>
          <p:cNvGrpSpPr/>
          <p:nvPr/>
        </p:nvGrpSpPr>
        <p:grpSpPr>
          <a:xfrm>
            <a:off x="609600" y="2781300"/>
            <a:ext cx="5257800" cy="2266950"/>
            <a:chOff x="609600" y="2781300"/>
            <a:chExt cx="5257800" cy="2266950"/>
          </a:xfrm>
        </p:grpSpPr>
        <p:sp>
          <p:nvSpPr>
            <p:cNvPr id="8" name="Rectangle 8"/>
            <p:cNvSpPr/>
            <p:nvPr/>
          </p:nvSpPr>
          <p:spPr>
            <a:xfrm>
              <a:off x="609600" y="2781300"/>
              <a:ext cx="5257800" cy="2266950"/>
            </a:xfrm>
            <a:prstGeom prst="rect">
              <a:avLst/>
            </a:prstGeom>
            <a:solidFill>
              <a:srgbClr val="163A5F"/>
            </a:solidFill>
            <a:ln>
              <a:noFill/>
            </a:ln>
          </p:spPr>
        </p:sp>
        <p:sp>
          <p:nvSpPr>
            <p:cNvPr id="9" name="TextBox 9"/>
            <p:cNvSpPr txBox="1"/>
            <p:nvPr/>
          </p:nvSpPr>
          <p:spPr>
            <a:xfrm>
              <a:off x="899160" y="3089910"/>
              <a:ext cx="1903914" cy="243840"/>
            </a:xfrm>
            <a:prstGeom prst="rect">
              <a:avLst/>
            </a:prstGeom>
            <a:noFill/>
            <a:ln>
              <a:noFill/>
            </a:ln>
          </p:spPr>
          <p:txBody>
            <a:bodyPr wrap="none" lIns="0" tIns="0" rIns="0" bIns="0" anchor="t" anchorCtr="0">
              <a:spAutoFit/>
            </a:bodyPr>
            <a:lstStyle/>
            <a:p>
              <a:pPr algn="l"/>
              <a:r>
                <a:rPr lang="zh-CN" sz="1200" b="1" dirty="0">
                  <a:solidFill>
                    <a:srgbClr val="FFFFFF"/>
                  </a:solidFill>
                  <a:latin typeface="Segoe UI" panose="020B0502040204020203"/>
                  <a:ea typeface="微软雅黑" panose="020B0503020204020204" charset="-122"/>
                  <a:cs typeface="Segoe UI" panose="020B0502040204020203"/>
                </a:rPr>
                <a:t>WHY DOES THIS MATTER?</a:t>
              </a:r>
              <a:endParaRPr lang="zh-CN" sz="1200" b="1" dirty="0">
                <a:solidFill>
                  <a:srgbClr val="FFFFFF"/>
                </a:solidFill>
                <a:latin typeface="Segoe UI" panose="020B0502040204020203"/>
                <a:ea typeface="微软雅黑" panose="020B0503020204020204" charset="-122"/>
                <a:cs typeface="Segoe UI" panose="020B0502040204020203"/>
              </a:endParaRPr>
            </a:p>
          </p:txBody>
        </p:sp>
        <p:grpSp>
          <p:nvGrpSpPr>
            <p:cNvPr id="12" name="Group 12"/>
            <p:cNvGrpSpPr/>
            <p:nvPr/>
          </p:nvGrpSpPr>
          <p:grpSpPr>
            <a:xfrm>
              <a:off x="973931" y="3698081"/>
              <a:ext cx="357187" cy="357187"/>
              <a:chOff x="973931" y="3698081"/>
              <a:chExt cx="357187" cy="357187"/>
            </a:xfrm>
          </p:grpSpPr>
          <p:sp>
            <p:nvSpPr>
              <p:cNvPr id="10" name="Freeform 10"/>
              <p:cNvSpPr/>
              <p:nvPr/>
            </p:nvSpPr>
            <p:spPr>
              <a:xfrm>
                <a:off x="973931" y="3698081"/>
                <a:ext cx="277813" cy="277813"/>
              </a:xfrm>
              <a:custGeom>
                <a:avLst/>
                <a:gdLst/>
                <a:ahLst/>
                <a:cxnLst/>
                <a:rect l="l" t="t" r="r" b="b"/>
                <a:pathLst>
                  <a:path w="277813" h="277813">
                    <a:moveTo>
                      <a:pt x="0" y="138906"/>
                    </a:moveTo>
                    <a:cubicBezTo>
                      <a:pt x="0" y="215622"/>
                      <a:pt x="62190" y="277813"/>
                      <a:pt x="138906" y="277813"/>
                    </a:cubicBezTo>
                    <a:cubicBezTo>
                      <a:pt x="215622" y="277813"/>
                      <a:pt x="277813" y="215622"/>
                      <a:pt x="277813" y="138906"/>
                    </a:cubicBezTo>
                    <a:cubicBezTo>
                      <a:pt x="277813" y="62190"/>
                      <a:pt x="215622" y="0"/>
                      <a:pt x="138906" y="0"/>
                    </a:cubicBezTo>
                    <a:cubicBezTo>
                      <a:pt x="62190" y="0"/>
                      <a:pt x="0" y="62190"/>
                      <a:pt x="0" y="138906"/>
                    </a:cubicBezTo>
                  </a:path>
                </a:pathLst>
              </a:custGeom>
              <a:noFill/>
              <a:ln w="19050">
                <a:solidFill>
                  <a:srgbClr val="FFFFFF"/>
                </a:solidFill>
              </a:ln>
            </p:spPr>
          </p:sp>
          <p:sp>
            <p:nvSpPr>
              <p:cNvPr id="11" name="Freeform 11"/>
              <p:cNvSpPr/>
              <p:nvPr/>
            </p:nvSpPr>
            <p:spPr>
              <a:xfrm>
                <a:off x="1212056" y="3936206"/>
                <a:ext cx="119062" cy="119062"/>
              </a:xfrm>
              <a:custGeom>
                <a:avLst/>
                <a:gdLst/>
                <a:ahLst/>
                <a:cxnLst/>
                <a:rect l="l" t="t" r="r" b="b"/>
                <a:pathLst>
                  <a:path w="119062" h="119062">
                    <a:moveTo>
                      <a:pt x="119062" y="119062"/>
                    </a:moveTo>
                    <a:lnTo>
                      <a:pt x="0" y="0"/>
                    </a:lnTo>
                  </a:path>
                </a:pathLst>
              </a:custGeom>
              <a:noFill/>
              <a:ln w="19050">
                <a:solidFill>
                  <a:srgbClr val="FFFFFF"/>
                </a:solidFill>
              </a:ln>
            </p:spPr>
          </p:sp>
        </p:grpSp>
        <p:sp>
          <p:nvSpPr>
            <p:cNvPr id="13" name="TextBox 13"/>
            <p:cNvSpPr txBox="1"/>
            <p:nvPr/>
          </p:nvSpPr>
          <p:spPr>
            <a:xfrm>
              <a:off x="892492" y="4271486"/>
              <a:ext cx="4713399" cy="674370"/>
            </a:xfrm>
            <a:prstGeom prst="rect">
              <a:avLst/>
            </a:prstGeom>
            <a:noFill/>
            <a:ln>
              <a:noFill/>
            </a:ln>
          </p:spPr>
          <p:txBody>
            <a:bodyPr wrap="square" lIns="0" tIns="0" rIns="0" bIns="0" anchor="t" anchorCtr="0"/>
            <a:lstStyle/>
            <a:p>
              <a:pPr algn="l">
                <a:lnSpc>
                  <a:spcPts val="2550"/>
                </a:lnSpc>
              </a:pPr>
              <a:r>
                <a:rPr lang="zh-CN" sz="1725" b="1" dirty="0">
                  <a:solidFill>
                    <a:srgbClr val="FFFFFF"/>
                  </a:solidFill>
                  <a:latin typeface="Segoe UI" panose="020B0502040204020203"/>
                  <a:ea typeface="微软雅黑" panose="020B0503020204020204" charset="-122"/>
                  <a:cs typeface="Segoe UI" panose="020B0502040204020203"/>
                </a:rPr>
                <a:t>Information collection is one of the tasks </a:t>
              </a:r>
              <a:r>
                <a:rPr lang="zh-CN" sz="1725" b="1" dirty="0">
                  <a:solidFill>
                    <a:srgbClr val="FFFFFF"/>
                  </a:solidFill>
                  <a:latin typeface="Segoe UI" panose="020B0502040204020203"/>
                  <a:ea typeface="微软雅黑" panose="020B0503020204020204" charset="-122"/>
                  <a:cs typeface="Segoe UI" panose="020B0502040204020203"/>
                </a:rPr>
                <a:t>most widely delegated to AI.</a:t>
              </a:r>
              <a:endParaRPr lang="zh-CN" sz="1725" b="1" dirty="0">
                <a:solidFill>
                  <a:srgbClr val="FFFFFF"/>
                </a:solidFill>
                <a:latin typeface="Segoe UI" panose="020B0502040204020203"/>
                <a:ea typeface="微软雅黑" panose="020B0503020204020204" charset="-122"/>
                <a:cs typeface="Segoe UI" panose="020B0502040204020203"/>
              </a:endParaRPr>
            </a:p>
          </p:txBody>
        </p:sp>
      </p:grpSp>
      <p:grpSp>
        <p:nvGrpSpPr>
          <p:cNvPr id="22" name="Group 22"/>
          <p:cNvGrpSpPr/>
          <p:nvPr/>
        </p:nvGrpSpPr>
        <p:grpSpPr>
          <a:xfrm>
            <a:off x="6324600" y="2781300"/>
            <a:ext cx="5257800" cy="2266950"/>
            <a:chOff x="6324600" y="2781300"/>
            <a:chExt cx="5257800" cy="2266950"/>
          </a:xfrm>
        </p:grpSpPr>
        <p:sp>
          <p:nvSpPr>
            <p:cNvPr id="15" name="Rectangle 15"/>
            <p:cNvSpPr/>
            <p:nvPr/>
          </p:nvSpPr>
          <p:spPr>
            <a:xfrm>
              <a:off x="6324600" y="2781300"/>
              <a:ext cx="5257800" cy="2266950"/>
            </a:xfrm>
            <a:prstGeom prst="rect">
              <a:avLst/>
            </a:prstGeom>
            <a:solidFill>
              <a:srgbClr val="FFFFFF"/>
            </a:solidFill>
            <a:ln w="19050">
              <a:solidFill>
                <a:srgbClr val="B42318"/>
              </a:solidFill>
            </a:ln>
          </p:spPr>
        </p:sp>
        <p:sp>
          <p:nvSpPr>
            <p:cNvPr id="16" name="TextBox 16"/>
            <p:cNvSpPr txBox="1"/>
            <p:nvPr/>
          </p:nvSpPr>
          <p:spPr>
            <a:xfrm>
              <a:off x="6614160" y="3089910"/>
              <a:ext cx="2525592" cy="243840"/>
            </a:xfrm>
            <a:prstGeom prst="rect">
              <a:avLst/>
            </a:prstGeom>
            <a:noFill/>
            <a:ln>
              <a:noFill/>
            </a:ln>
          </p:spPr>
          <p:txBody>
            <a:bodyPr wrap="none" lIns="0" tIns="0" rIns="0" bIns="0" anchor="t" anchorCtr="0">
              <a:spAutoFit/>
            </a:bodyPr>
            <a:lstStyle/>
            <a:p>
              <a:pPr algn="l"/>
              <a:r>
                <a:rPr lang="zh-CN" sz="1200" b="1" dirty="0">
                  <a:solidFill>
                    <a:srgbClr val="B42318"/>
                  </a:solidFill>
                  <a:latin typeface="Segoe UI" panose="020B0502040204020203"/>
                  <a:ea typeface="微软雅黑" panose="020B0503020204020204" charset="-122"/>
                  <a:cs typeface="Segoe UI" panose="020B0502040204020203"/>
                </a:rPr>
                <a:t>WHERE IS THE THEORETICAL GAP?</a:t>
              </a:r>
              <a:endParaRPr lang="zh-CN" sz="1200" b="1" dirty="0">
                <a:solidFill>
                  <a:srgbClr val="B42318"/>
                </a:solidFill>
                <a:latin typeface="Segoe UI" panose="020B0502040204020203"/>
                <a:ea typeface="微软雅黑" panose="020B0503020204020204" charset="-122"/>
                <a:cs typeface="Segoe UI" panose="020B0502040204020203"/>
              </a:endParaRPr>
            </a:p>
          </p:txBody>
        </p:sp>
        <p:grpSp>
          <p:nvGrpSpPr>
            <p:cNvPr id="20" name="Group 20"/>
            <p:cNvGrpSpPr/>
            <p:nvPr/>
          </p:nvGrpSpPr>
          <p:grpSpPr>
            <a:xfrm>
              <a:off x="6688931" y="3698081"/>
              <a:ext cx="357188" cy="357188"/>
              <a:chOff x="6688931" y="3698081"/>
              <a:chExt cx="357188" cy="357188"/>
            </a:xfrm>
          </p:grpSpPr>
          <p:sp>
            <p:nvSpPr>
              <p:cNvPr id="17" name="Freeform 17"/>
              <p:cNvSpPr/>
              <p:nvPr/>
            </p:nvSpPr>
            <p:spPr>
              <a:xfrm>
                <a:off x="6847681" y="3856831"/>
                <a:ext cx="39688" cy="39687"/>
              </a:xfrm>
              <a:custGeom>
                <a:avLst/>
                <a:gdLst/>
                <a:ahLst/>
                <a:cxnLst/>
                <a:rect l="l" t="t" r="r" b="b"/>
                <a:pathLst>
                  <a:path w="39688" h="39687">
                    <a:moveTo>
                      <a:pt x="0" y="19844"/>
                    </a:moveTo>
                    <a:cubicBezTo>
                      <a:pt x="0" y="30803"/>
                      <a:pt x="8884" y="39687"/>
                      <a:pt x="19844" y="39687"/>
                    </a:cubicBezTo>
                    <a:cubicBezTo>
                      <a:pt x="30803" y="39687"/>
                      <a:pt x="39688" y="30803"/>
                      <a:pt x="39688" y="19844"/>
                    </a:cubicBezTo>
                    <a:cubicBezTo>
                      <a:pt x="39688" y="8884"/>
                      <a:pt x="30803" y="0"/>
                      <a:pt x="19844" y="0"/>
                    </a:cubicBezTo>
                    <a:cubicBezTo>
                      <a:pt x="8884" y="0"/>
                      <a:pt x="0" y="8884"/>
                      <a:pt x="0" y="19844"/>
                    </a:cubicBezTo>
                  </a:path>
                </a:pathLst>
              </a:custGeom>
              <a:noFill/>
              <a:ln w="19050">
                <a:solidFill>
                  <a:srgbClr val="163A5F"/>
                </a:solidFill>
              </a:ln>
            </p:spPr>
          </p:sp>
          <p:sp>
            <p:nvSpPr>
              <p:cNvPr id="18" name="Freeform 18"/>
              <p:cNvSpPr/>
              <p:nvPr/>
            </p:nvSpPr>
            <p:spPr>
              <a:xfrm>
                <a:off x="6768306" y="3777456"/>
                <a:ext cx="198437" cy="198438"/>
              </a:xfrm>
              <a:custGeom>
                <a:avLst/>
                <a:gdLst/>
                <a:ahLst/>
                <a:cxnLst/>
                <a:rect l="l" t="t" r="r" b="b"/>
                <a:pathLst>
                  <a:path w="198437" h="198438">
                    <a:moveTo>
                      <a:pt x="0" y="99219"/>
                    </a:moveTo>
                    <a:cubicBezTo>
                      <a:pt x="0" y="154016"/>
                      <a:pt x="44422" y="198438"/>
                      <a:pt x="99219" y="198438"/>
                    </a:cubicBezTo>
                    <a:cubicBezTo>
                      <a:pt x="154016" y="198438"/>
                      <a:pt x="198437" y="154016"/>
                      <a:pt x="198437" y="99219"/>
                    </a:cubicBezTo>
                    <a:cubicBezTo>
                      <a:pt x="198437" y="44422"/>
                      <a:pt x="154016" y="0"/>
                      <a:pt x="99219" y="0"/>
                    </a:cubicBezTo>
                    <a:cubicBezTo>
                      <a:pt x="44422" y="0"/>
                      <a:pt x="0" y="44422"/>
                      <a:pt x="0" y="99219"/>
                    </a:cubicBezTo>
                  </a:path>
                </a:pathLst>
              </a:custGeom>
              <a:noFill/>
              <a:ln w="19050">
                <a:solidFill>
                  <a:srgbClr val="163A5F"/>
                </a:solidFill>
              </a:ln>
            </p:spPr>
          </p:sp>
          <p:sp>
            <p:nvSpPr>
              <p:cNvPr id="19" name="Freeform 19"/>
              <p:cNvSpPr/>
              <p:nvPr/>
            </p:nvSpPr>
            <p:spPr>
              <a:xfrm>
                <a:off x="6688931" y="3698081"/>
                <a:ext cx="357188" cy="357188"/>
              </a:xfrm>
              <a:custGeom>
                <a:avLst/>
                <a:gdLst/>
                <a:ahLst/>
                <a:cxnLst/>
                <a:rect l="l" t="t" r="r" b="b"/>
                <a:pathLst>
                  <a:path w="357188" h="357188">
                    <a:moveTo>
                      <a:pt x="0" y="178594"/>
                    </a:moveTo>
                    <a:cubicBezTo>
                      <a:pt x="0" y="277228"/>
                      <a:pt x="79959" y="357188"/>
                      <a:pt x="178594" y="357188"/>
                    </a:cubicBezTo>
                    <a:cubicBezTo>
                      <a:pt x="277228" y="357188"/>
                      <a:pt x="357188" y="277228"/>
                      <a:pt x="357188" y="178594"/>
                    </a:cubicBezTo>
                    <a:cubicBezTo>
                      <a:pt x="357188" y="79959"/>
                      <a:pt x="277228" y="0"/>
                      <a:pt x="178594" y="0"/>
                    </a:cubicBezTo>
                    <a:cubicBezTo>
                      <a:pt x="79959" y="0"/>
                      <a:pt x="0" y="79959"/>
                      <a:pt x="0" y="178594"/>
                    </a:cubicBezTo>
                  </a:path>
                </a:pathLst>
              </a:custGeom>
              <a:noFill/>
              <a:ln w="19050">
                <a:solidFill>
                  <a:srgbClr val="163A5F"/>
                </a:solidFill>
              </a:ln>
            </p:spPr>
          </p:sp>
        </p:grpSp>
        <p:sp>
          <p:nvSpPr>
            <p:cNvPr id="21" name="TextBox 21"/>
            <p:cNvSpPr txBox="1"/>
            <p:nvPr/>
          </p:nvSpPr>
          <p:spPr>
            <a:xfrm>
              <a:off x="6607492" y="4271486"/>
              <a:ext cx="4575381" cy="674370"/>
            </a:xfrm>
            <a:prstGeom prst="rect">
              <a:avLst/>
            </a:prstGeom>
            <a:noFill/>
            <a:ln>
              <a:noFill/>
            </a:ln>
          </p:spPr>
          <p:txBody>
            <a:bodyPr wrap="square" lIns="0" tIns="0" rIns="0" bIns="0" anchor="t" anchorCtr="0"/>
            <a:lstStyle/>
            <a:p>
              <a:pPr algn="l">
                <a:lnSpc>
                  <a:spcPts val="2550"/>
                </a:lnSpc>
              </a:pPr>
              <a:r>
                <a:rPr lang="zh-CN" sz="1725" b="1" dirty="0">
                  <a:solidFill>
                    <a:srgbClr val="1F2A37"/>
                  </a:solidFill>
                  <a:latin typeface="Segoe UI" panose="020B0502040204020203"/>
                  <a:ea typeface="微软雅黑" panose="020B0503020204020204" charset="-122"/>
                  <a:cs typeface="Segoe UI" panose="020B0502040204020203"/>
                </a:rPr>
                <a:t>Existing theories cannot clearly explain </a:t>
              </a:r>
              <a:r>
                <a:rPr lang="zh-CN" sz="1725" b="1" dirty="0">
                  <a:solidFill>
                    <a:srgbClr val="1F2A37"/>
                  </a:solidFill>
                  <a:latin typeface="Segoe UI" panose="020B0502040204020203"/>
                  <a:ea typeface="微软雅黑" panose="020B0503020204020204" charset="-122"/>
                  <a:cs typeface="Segoe UI" panose="020B0502040204020203"/>
                </a:rPr>
                <a:t>the consequences AI creates for people.</a:t>
              </a:r>
              <a:endParaRPr lang="zh-CN" sz="1725" b="1" dirty="0">
                <a:solidFill>
                  <a:srgbClr val="1F2A37"/>
                </a:solidFill>
                <a:latin typeface="Segoe UI" panose="020B0502040204020203"/>
                <a:ea typeface="微软雅黑" panose="020B0503020204020204" charset="-122"/>
                <a:cs typeface="Segoe UI" panose="020B0502040204020203"/>
              </a:endParaRPr>
            </a:p>
          </p:txBody>
        </p:sp>
      </p:grpSp>
      <p:grpSp>
        <p:nvGrpSpPr>
          <p:cNvPr id="32" name="Group 32"/>
          <p:cNvGrpSpPr/>
          <p:nvPr/>
        </p:nvGrpSpPr>
        <p:grpSpPr>
          <a:xfrm>
            <a:off x="595312" y="5536406"/>
            <a:ext cx="10987088" cy="692944"/>
            <a:chOff x="595312" y="5536406"/>
            <a:chExt cx="10987088" cy="692944"/>
          </a:xfrm>
        </p:grpSpPr>
        <p:sp>
          <p:nvSpPr>
            <p:cNvPr id="23" name="TextBox 23"/>
            <p:cNvSpPr txBox="1"/>
            <p:nvPr/>
          </p:nvSpPr>
          <p:spPr>
            <a:xfrm>
              <a:off x="595312" y="5536406"/>
              <a:ext cx="1359616" cy="228600"/>
            </a:xfrm>
            <a:prstGeom prst="rect">
              <a:avLst/>
            </a:prstGeom>
            <a:noFill/>
            <a:ln>
              <a:noFill/>
            </a:ln>
          </p:spPr>
          <p:txBody>
            <a:bodyPr wrap="none" lIns="0" tIns="0" rIns="0" bIns="0" anchor="t" anchorCtr="0">
              <a:spAutoFit/>
            </a:bodyPr>
            <a:lstStyle/>
            <a:p>
              <a:pPr algn="l"/>
              <a:r>
                <a:rPr lang="zh-CN" sz="1125" b="1" dirty="0">
                  <a:solidFill>
                    <a:srgbClr val="5B7FA3"/>
                  </a:solidFill>
                  <a:latin typeface="Segoe UI" panose="020B0502040204020203"/>
                  <a:ea typeface="微软雅黑" panose="020B0503020204020204" charset="-122"/>
                  <a:cs typeface="Segoe UI" panose="020B0502040204020203"/>
                </a:rPr>
                <a:t>DECISION PROCESS</a:t>
              </a:r>
              <a:endParaRPr lang="zh-CN" sz="1125" b="1" dirty="0">
                <a:solidFill>
                  <a:srgbClr val="5B7FA3"/>
                </a:solidFill>
                <a:latin typeface="Segoe UI" panose="020B0502040204020203"/>
                <a:ea typeface="微软雅黑" panose="020B0503020204020204" charset="-122"/>
                <a:cs typeface="Segoe UI" panose="020B0502040204020203"/>
              </a:endParaRPr>
            </a:p>
          </p:txBody>
        </p:sp>
        <p:sp>
          <p:nvSpPr>
            <p:cNvPr id="24" name="Rectangle 24"/>
            <p:cNvSpPr/>
            <p:nvPr/>
          </p:nvSpPr>
          <p:spPr>
            <a:xfrm>
              <a:off x="609600" y="5867400"/>
              <a:ext cx="3162300" cy="361950"/>
            </a:xfrm>
            <a:prstGeom prst="rect">
              <a:avLst/>
            </a:prstGeom>
            <a:solidFill>
              <a:srgbClr val="B42318"/>
            </a:solidFill>
            <a:ln>
              <a:noFill/>
            </a:ln>
          </p:spPr>
        </p:sp>
        <p:sp>
          <p:nvSpPr>
            <p:cNvPr id="25" name="TextBox 25"/>
            <p:cNvSpPr txBox="1"/>
            <p:nvPr/>
          </p:nvSpPr>
          <p:spPr>
            <a:xfrm>
              <a:off x="1158983" y="5975985"/>
              <a:ext cx="2063534" cy="243840"/>
            </a:xfrm>
            <a:prstGeom prst="rect">
              <a:avLst/>
            </a:prstGeom>
            <a:noFill/>
            <a:ln>
              <a:noFill/>
            </a:ln>
          </p:spPr>
          <p:txBody>
            <a:bodyPr wrap="none" lIns="0" tIns="0" rIns="0" bIns="0" anchor="t" anchorCtr="0">
              <a:spAutoFit/>
            </a:bodyPr>
            <a:lstStyle/>
            <a:p>
              <a:pPr algn="ctr"/>
              <a:r>
                <a:rPr lang="zh-CN" sz="1200" b="1" dirty="0">
                  <a:solidFill>
                    <a:srgbClr val="FFFFFF"/>
                  </a:solidFill>
                  <a:latin typeface="Segoe UI" panose="020B0502040204020203"/>
                  <a:ea typeface="微软雅黑" panose="020B0503020204020204" charset="-122"/>
                  <a:cs typeface="Segoe UI" panose="020B0502040204020203"/>
                </a:rPr>
                <a:t>INFORMATION COLLECTION</a:t>
              </a:r>
              <a:endParaRPr lang="zh-CN" sz="1200" b="1" dirty="0">
                <a:solidFill>
                  <a:srgbClr val="FFFFFF"/>
                </a:solidFill>
                <a:latin typeface="Segoe UI" panose="020B0502040204020203"/>
                <a:ea typeface="微软雅黑" panose="020B0503020204020204" charset="-122"/>
                <a:cs typeface="Segoe UI" panose="020B0502040204020203"/>
              </a:endParaRPr>
            </a:p>
          </p:txBody>
        </p:sp>
        <p:sp>
          <p:nvSpPr>
            <p:cNvPr id="26" name="Rectangle 26"/>
            <p:cNvSpPr/>
            <p:nvPr/>
          </p:nvSpPr>
          <p:spPr>
            <a:xfrm>
              <a:off x="3924300" y="5867400"/>
              <a:ext cx="2324100" cy="361950"/>
            </a:xfrm>
            <a:prstGeom prst="rect">
              <a:avLst/>
            </a:prstGeom>
            <a:solidFill>
              <a:srgbClr val="EAF0F7"/>
            </a:solidFill>
            <a:ln>
              <a:noFill/>
            </a:ln>
          </p:spPr>
        </p:sp>
        <p:sp>
          <p:nvSpPr>
            <p:cNvPr id="27" name="TextBox 27"/>
            <p:cNvSpPr txBox="1"/>
            <p:nvPr/>
          </p:nvSpPr>
          <p:spPr>
            <a:xfrm>
              <a:off x="4635056" y="5975985"/>
              <a:ext cx="902589" cy="243840"/>
            </a:xfrm>
            <a:prstGeom prst="rect">
              <a:avLst/>
            </a:prstGeom>
            <a:noFill/>
            <a:ln>
              <a:noFill/>
            </a:ln>
          </p:spPr>
          <p:txBody>
            <a:bodyPr wrap="none" lIns="0" tIns="0" rIns="0" bIns="0" anchor="t" anchorCtr="0">
              <a:spAutoFit/>
            </a:bodyPr>
            <a:lstStyle/>
            <a:p>
              <a:pPr algn="ctr"/>
              <a:r>
                <a:rPr lang="zh-CN" sz="1200" dirty="0">
                  <a:solidFill>
                    <a:srgbClr val="526273"/>
                  </a:solidFill>
                  <a:latin typeface="Segoe UI" panose="020B0502040204020203"/>
                  <a:ea typeface="微软雅黑" panose="020B0503020204020204" charset="-122"/>
                  <a:cs typeface="Segoe UI" panose="020B0502040204020203"/>
                </a:rPr>
                <a:t>EVALUATION</a:t>
              </a:r>
              <a:endParaRPr lang="zh-CN" sz="1200" dirty="0">
                <a:solidFill>
                  <a:srgbClr val="526273"/>
                </a:solidFill>
                <a:latin typeface="Segoe UI" panose="020B0502040204020203"/>
                <a:ea typeface="微软雅黑" panose="020B0503020204020204" charset="-122"/>
                <a:cs typeface="Segoe UI" panose="020B0502040204020203"/>
              </a:endParaRPr>
            </a:p>
          </p:txBody>
        </p:sp>
        <p:sp>
          <p:nvSpPr>
            <p:cNvPr id="28" name="Rectangle 28"/>
            <p:cNvSpPr/>
            <p:nvPr/>
          </p:nvSpPr>
          <p:spPr>
            <a:xfrm>
              <a:off x="6400800" y="5867400"/>
              <a:ext cx="2324100" cy="361950"/>
            </a:xfrm>
            <a:prstGeom prst="rect">
              <a:avLst/>
            </a:prstGeom>
            <a:solidFill>
              <a:srgbClr val="EAF0F7"/>
            </a:solidFill>
            <a:ln>
              <a:noFill/>
            </a:ln>
          </p:spPr>
        </p:sp>
        <p:sp>
          <p:nvSpPr>
            <p:cNvPr id="29" name="TextBox 29"/>
            <p:cNvSpPr txBox="1"/>
            <p:nvPr/>
          </p:nvSpPr>
          <p:spPr>
            <a:xfrm>
              <a:off x="7287578" y="5975985"/>
              <a:ext cx="550545" cy="243840"/>
            </a:xfrm>
            <a:prstGeom prst="rect">
              <a:avLst/>
            </a:prstGeom>
            <a:noFill/>
            <a:ln>
              <a:noFill/>
            </a:ln>
          </p:spPr>
          <p:txBody>
            <a:bodyPr wrap="none" lIns="0" tIns="0" rIns="0" bIns="0" anchor="t" anchorCtr="0">
              <a:spAutoFit/>
            </a:bodyPr>
            <a:lstStyle/>
            <a:p>
              <a:pPr algn="ctr"/>
              <a:r>
                <a:rPr lang="zh-CN" sz="1200" dirty="0">
                  <a:solidFill>
                    <a:srgbClr val="526273"/>
                  </a:solidFill>
                  <a:latin typeface="Segoe UI" panose="020B0502040204020203"/>
                  <a:ea typeface="微软雅黑" panose="020B0503020204020204" charset="-122"/>
                  <a:cs typeface="Segoe UI" panose="020B0502040204020203"/>
                </a:rPr>
                <a:t>CHOICE</a:t>
              </a:r>
              <a:endParaRPr lang="zh-CN" sz="1200" dirty="0">
                <a:solidFill>
                  <a:srgbClr val="526273"/>
                </a:solidFill>
                <a:latin typeface="Segoe UI" panose="020B0502040204020203"/>
                <a:ea typeface="微软雅黑" panose="020B0503020204020204" charset="-122"/>
                <a:cs typeface="Segoe UI" panose="020B0502040204020203"/>
              </a:endParaRPr>
            </a:p>
          </p:txBody>
        </p:sp>
        <p:sp>
          <p:nvSpPr>
            <p:cNvPr id="30" name="Rectangle 30"/>
            <p:cNvSpPr/>
            <p:nvPr/>
          </p:nvSpPr>
          <p:spPr>
            <a:xfrm>
              <a:off x="8877300" y="5867400"/>
              <a:ext cx="2705100" cy="361950"/>
            </a:xfrm>
            <a:prstGeom prst="rect">
              <a:avLst/>
            </a:prstGeom>
            <a:solidFill>
              <a:srgbClr val="EAF0F7"/>
            </a:solidFill>
            <a:ln>
              <a:noFill/>
            </a:ln>
          </p:spPr>
        </p:sp>
        <p:sp>
          <p:nvSpPr>
            <p:cNvPr id="31" name="TextBox 31"/>
            <p:cNvSpPr txBox="1"/>
            <p:nvPr/>
          </p:nvSpPr>
          <p:spPr>
            <a:xfrm>
              <a:off x="9506522" y="5975985"/>
              <a:ext cx="1446657" cy="243840"/>
            </a:xfrm>
            <a:prstGeom prst="rect">
              <a:avLst/>
            </a:prstGeom>
            <a:noFill/>
            <a:ln>
              <a:noFill/>
            </a:ln>
          </p:spPr>
          <p:txBody>
            <a:bodyPr wrap="none" lIns="0" tIns="0" rIns="0" bIns="0" anchor="t" anchorCtr="0">
              <a:spAutoFit/>
            </a:bodyPr>
            <a:lstStyle/>
            <a:p>
              <a:pPr algn="ctr"/>
              <a:r>
                <a:rPr lang="zh-CN" sz="1200" dirty="0">
                  <a:solidFill>
                    <a:srgbClr val="526273"/>
                  </a:solidFill>
                  <a:latin typeface="Segoe UI" panose="020B0502040204020203"/>
                  <a:ea typeface="微软雅黑" panose="020B0503020204020204" charset="-122"/>
                  <a:cs typeface="Segoe UI" panose="020B0502040204020203"/>
                </a:rPr>
                <a:t>ACTION / OUTCOME</a:t>
              </a:r>
              <a:endParaRPr lang="zh-CN" sz="1200" dirty="0">
                <a:solidFill>
                  <a:srgbClr val="526273"/>
                </a:solidFill>
                <a:latin typeface="Segoe UI" panose="020B0502040204020203"/>
                <a:ea typeface="微软雅黑" panose="020B0503020204020204" charset="-122"/>
                <a:cs typeface="Segoe UI" panose="020B0502040204020203"/>
              </a:endParaRPr>
            </a:p>
          </p:txBody>
        </p:sp>
      </p:grpSp>
      <p:sp>
        <p:nvSpPr>
          <p:cNvPr id="33" name="TextBox 33"/>
          <p:cNvSpPr txBox="1"/>
          <p:nvPr/>
        </p:nvSpPr>
        <p:spPr>
          <a:xfrm>
            <a:off x="11438954" y="6398895"/>
            <a:ext cx="154877" cy="182880"/>
          </a:xfrm>
          <a:prstGeom prst="rect">
            <a:avLst/>
          </a:prstGeom>
          <a:noFill/>
          <a:ln>
            <a:noFill/>
          </a:ln>
        </p:spPr>
        <p:txBody>
          <a:bodyPr wrap="none" lIns="0" tIns="0" rIns="0" bIns="0" anchor="t" anchorCtr="0">
            <a:spAutoFit/>
          </a:bodyPr>
          <a:lstStyle/>
          <a:p>
            <a:pPr algn="r"/>
            <a:r>
              <a:rPr lang="zh-CN" sz="900" dirty="0">
                <a:solidFill>
                  <a:srgbClr val="7B8794"/>
                </a:solidFill>
                <a:latin typeface="Segoe UI" panose="020B0502040204020203"/>
                <a:ea typeface="微软雅黑" panose="020B0503020204020204" charset="-122"/>
                <a:cs typeface="Segoe UI" panose="020B0502040204020203"/>
              </a:rPr>
              <a:t>13</a:t>
            </a:r>
            <a:endParaRPr lang="zh-CN" sz="900" dirty="0">
              <a:solidFill>
                <a:srgbClr val="7B8794"/>
              </a:solidFill>
              <a:latin typeface="Segoe UI" panose="020B0502040204020203"/>
              <a:ea typeface="微软雅黑" panose="020B0503020204020204" charset="-122"/>
              <a:cs typeface="Segoe UI" panose="020B0502040204020203"/>
            </a:endParaRPr>
          </a:p>
        </p:txBody>
      </p:sp>
    </p:spTree>
  </p:cSld>
  <p:clrMapOvr>
    <a:masterClrMapping/>
  </p:clrMapOvr>
  <mc:AlternateContent xmlns:mc="http://schemas.openxmlformats.org/markup-compatibility/2006">
    <mc:Choice xmlns:p14="http://schemas.microsoft.com/office/powerpoint/2010/main" Requires="p14">
      <p:transition p14:dur="40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400"/>
                                        <p:tgtEl>
                                          <p:spTgt spid="7"/>
                                        </p:tgtEl>
                                      </p:cBhvr>
                                    </p:animEffect>
                                  </p:childTnLst>
                                </p:cTn>
                              </p:par>
                            </p:childTnLst>
                          </p:cTn>
                        </p:par>
                        <p:par>
                          <p:cTn id="8" fill="hold">
                            <p:stCondLst>
                              <p:cond delay="500"/>
                            </p:stCondLst>
                            <p:childTnLst>
                              <p:par>
                                <p:cTn id="9" presetID="23" presetClass="entr" presetSubtype="16"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image">
                                      <p:cBhvr>
                                        <p:cTn id="11" dur="400"/>
                                        <p:tgtEl>
                                          <p:spTgt spid="14"/>
                                        </p:tgtEl>
                                      </p:cBhvr>
                                    </p:animEffect>
                                  </p:childTnLst>
                                </p:cTn>
                              </p:par>
                            </p:childTnLst>
                          </p:cTn>
                        </p:par>
                        <p:par>
                          <p:cTn id="12" fill="hold">
                            <p:stCondLst>
                              <p:cond delay="1000"/>
                            </p:stCondLst>
                            <p:childTnLst>
                              <p:par>
                                <p:cTn id="13" presetID="10" presetClass="entr" presetSubtype="0" fill="hold" nodeType="after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400"/>
                                        <p:tgtEl>
                                          <p:spTgt spid="22"/>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p:bldP spid="22" grpId="0"/>
      <p:bldP spid="32"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8197</Words>
  <Application>WPS 演示</Application>
  <PresentationFormat>On-screen Show (16:9)</PresentationFormat>
  <Paragraphs>426</Paragraphs>
  <Slides>13</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13</vt:i4>
      </vt:variant>
    </vt:vector>
  </HeadingPairs>
  <TitlesOfParts>
    <vt:vector size="22" baseType="lpstr">
      <vt:lpstr>Arial</vt:lpstr>
      <vt:lpstr>宋体</vt:lpstr>
      <vt:lpstr>Wingdings</vt:lpstr>
      <vt:lpstr>Arial</vt:lpstr>
      <vt:lpstr>Segoe UI</vt:lpstr>
      <vt:lpstr>微软雅黑</vt:lpstr>
      <vt:lpstr>Arial Unicode MS</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汉克克克克克克克</cp:lastModifiedBy>
  <cp:revision>2</cp:revision>
  <dcterms:created xsi:type="dcterms:W3CDTF">2026-08-04T18:47:00Z</dcterms:created>
  <dcterms:modified xsi:type="dcterms:W3CDTF">2026-08-16T18:04:54Z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241C6B367254483CA4A6A4CC05A60ABB_12</vt:lpwstr>
  </property>
  <property fmtid="{D5CDD505-2E9C-101B-9397-08002B2CF9AE}" pid="3" name="KSOProductBuildVer">
    <vt:lpwstr>2052-12.1.0.28043</vt:lpwstr>
  </property>
</Properties>
</file>