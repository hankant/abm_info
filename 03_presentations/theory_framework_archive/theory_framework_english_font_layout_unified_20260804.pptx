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cf472e0d2943dc" /><Relationship Type="http://schemas.openxmlformats.org/officeDocument/2006/relationships/extended-properties" Target="/docProps/app.xml" Id="R5686a64a3555407d" /><Relationship Type="http://schemas.openxmlformats.org/officeDocument/2006/relationships/officeDocument" Target="/ppt/presentation.xml" Id="R61877f7cdfd140eb" /></Relationships>
</file>

<file path=ppt/presentation.xml><?xml version="1.0" encoding="utf-8"?>
<p:presentation xmlns:p="http://schemas.openxmlformats.org/presentationml/2006/main">
  <p:sldMasterIdLst>
    <p:sldMasterId xmlns:r="http://schemas.openxmlformats.org/officeDocument/2006/relationships" id="2147483648" r:id="R2a470572041147be"/>
  </p:sldMasterIdLst>
  <p:notesMasterIdLst>
    <p:notesMasterId xmlns:r="http://schemas.openxmlformats.org/officeDocument/2006/relationships" r:id="Rafa0a0d1831b4791"/>
  </p:notesMasterIdLst>
  <p:sldIdLst>
    <p:sldId xmlns:r="http://schemas.openxmlformats.org/officeDocument/2006/relationships" id="256" r:id="Rc889a98a52a645cb"/>
    <p:sldId xmlns:r="http://schemas.openxmlformats.org/officeDocument/2006/relationships" id="257" r:id="R1b4c0cee780c4d33"/>
    <p:sldId xmlns:r="http://schemas.openxmlformats.org/officeDocument/2006/relationships" id="258" r:id="R16f9456178164d4c"/>
    <p:sldId xmlns:r="http://schemas.openxmlformats.org/officeDocument/2006/relationships" id="259" r:id="R11b82711743f42e4"/>
    <p:sldId xmlns:r="http://schemas.openxmlformats.org/officeDocument/2006/relationships" id="260" r:id="R45eae5a12ba74265"/>
    <p:sldId xmlns:r="http://schemas.openxmlformats.org/officeDocument/2006/relationships" id="261" r:id="R69712bd9c1af4177"/>
    <p:sldId xmlns:r="http://schemas.openxmlformats.org/officeDocument/2006/relationships" id="262" r:id="Rf7224a4b85cf4eb7"/>
    <p:sldId xmlns:r="http://schemas.openxmlformats.org/officeDocument/2006/relationships" id="263" r:id="R6dce00b36990459f"/>
    <p:sldId xmlns:r="http://schemas.openxmlformats.org/officeDocument/2006/relationships" id="264" r:id="R0b282ef1a6864d6a"/>
    <p:sldId xmlns:r="http://schemas.openxmlformats.org/officeDocument/2006/relationships" id="265" r:id="R07ff3702c0144473"/>
    <p:sldId xmlns:r="http://schemas.openxmlformats.org/officeDocument/2006/relationships" id="266" r:id="Rbcd995bc3ccf4a8f"/>
    <p:sldId xmlns:r="http://schemas.openxmlformats.org/officeDocument/2006/relationships" id="267" r:id="R0fa63a9d079a47c0"/>
    <p:sldId xmlns:r="http://schemas.openxmlformats.org/officeDocument/2006/relationships" id="268" r:id="R5d4c20943cfc4440"/>
    <p:sldId xmlns:r="http://schemas.openxmlformats.org/officeDocument/2006/relationships" id="269" r:id="Rfbf431efe49e48a9"/>
    <p:sldId xmlns:r="http://schemas.openxmlformats.org/officeDocument/2006/relationships" id="270" r:id="R663820925b2641d4"/>
    <p:sldId xmlns:r="http://schemas.openxmlformats.org/officeDocument/2006/relationships" id="271" r:id="R613200a24bc54cc1"/>
    <p:sldId xmlns:r="http://schemas.openxmlformats.org/officeDocument/2006/relationships" id="272" r:id="Rf49b1d5e4ed74850"/>
    <p:sldId xmlns:r="http://schemas.openxmlformats.org/officeDocument/2006/relationships" id="273" r:id="Re64757ca878e4206"/>
    <p:sldId xmlns:r="http://schemas.openxmlformats.org/officeDocument/2006/relationships" id="274" r:id="Rf6badc331fa6406b"/>
    <p:sldId xmlns:r="http://schemas.openxmlformats.org/officeDocument/2006/relationships" id="275" r:id="R53080a9bd2a54754"/>
    <p:sldId xmlns:r="http://schemas.openxmlformats.org/officeDocument/2006/relationships" id="276" r:id="R2afd69337bcb46a0"/>
    <p:sldId xmlns:r="http://schemas.openxmlformats.org/officeDocument/2006/relationships" id="277" r:id="R28a978f7c74e4ce6"/>
    <p:sldId xmlns:r="http://schemas.openxmlformats.org/officeDocument/2006/relationships" id="278" r:id="Rca357463e8eb4bb9"/>
    <p:sldId xmlns:r="http://schemas.openxmlformats.org/officeDocument/2006/relationships" id="279" r:id="R29e055b3534b4d5c"/>
    <p:sldId xmlns:r="http://schemas.openxmlformats.org/officeDocument/2006/relationships" id="280" r:id="Ra4f3bcf74a0d4852"/>
    <p:sldId xmlns:r="http://schemas.openxmlformats.org/officeDocument/2006/relationships" id="281" r:id="Rac254fc061874221"/>
    <p:sldId xmlns:r="http://schemas.openxmlformats.org/officeDocument/2006/relationships" id="282" r:id="R2f00bcca63ba4bbf"/>
    <p:sldId xmlns:r="http://schemas.openxmlformats.org/officeDocument/2006/relationships" id="283" r:id="R78e76b9d77cb4411"/>
    <p:sldId xmlns:r="http://schemas.openxmlformats.org/officeDocument/2006/relationships" id="284" r:id="R7dd71d34590b4b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9f5b14ed1e24aa5" /><Relationship Type="http://schemas.openxmlformats.org/officeDocument/2006/relationships/slideMaster" Target="/ppt/slideMasters/slideMaster1.xml" Id="R2a470572041147be" /><Relationship Type="http://schemas.openxmlformats.org/officeDocument/2006/relationships/notesMaster" Target="/ppt/notesMasters/notesMaster1.xml" Id="Rafa0a0d1831b4791" /><Relationship Type="http://schemas.openxmlformats.org/officeDocument/2006/relationships/presProps" Target="/ppt/presProps.xml" Id="R3276912c13dd4568" /><Relationship Type="http://schemas.openxmlformats.org/officeDocument/2006/relationships/viewProps" Target="/ppt/viewProps.xml" Id="R16201eff8f9142e1" /><Relationship Type="http://schemas.openxmlformats.org/officeDocument/2006/relationships/tableStyles" Target="/ppt/tableStyles.xml" Id="Re9667a85d0ac4b33" /><Relationship Type="http://schemas.openxmlformats.org/officeDocument/2006/relationships/slide" Target="/ppt/slides/slide1.xml" Id="Rc889a98a52a645cb" /><Relationship Type="http://schemas.openxmlformats.org/officeDocument/2006/relationships/slide" Target="/ppt/slides/slide2.xml" Id="R1b4c0cee780c4d33" /><Relationship Type="http://schemas.openxmlformats.org/officeDocument/2006/relationships/slide" Target="/ppt/slides/slide3.xml" Id="R16f9456178164d4c" /><Relationship Type="http://schemas.openxmlformats.org/officeDocument/2006/relationships/slide" Target="/ppt/slides/slide4.xml" Id="R11b82711743f42e4" /><Relationship Type="http://schemas.openxmlformats.org/officeDocument/2006/relationships/slide" Target="/ppt/slides/slide5.xml" Id="R45eae5a12ba74265" /><Relationship Type="http://schemas.openxmlformats.org/officeDocument/2006/relationships/slide" Target="/ppt/slides/slide6.xml" Id="R69712bd9c1af4177" /><Relationship Type="http://schemas.openxmlformats.org/officeDocument/2006/relationships/slide" Target="/ppt/slides/slide7.xml" Id="Rf7224a4b85cf4eb7" /><Relationship Type="http://schemas.openxmlformats.org/officeDocument/2006/relationships/slide" Target="/ppt/slides/slide8.xml" Id="R6dce00b36990459f" /><Relationship Type="http://schemas.openxmlformats.org/officeDocument/2006/relationships/slide" Target="/ppt/slides/slide9.xml" Id="R0b282ef1a6864d6a" /><Relationship Type="http://schemas.openxmlformats.org/officeDocument/2006/relationships/slide" Target="/ppt/slides/slide10.xml" Id="R07ff3702c0144473" /><Relationship Type="http://schemas.openxmlformats.org/officeDocument/2006/relationships/slide" Target="/ppt/slides/slide11.xml" Id="Rbcd995bc3ccf4a8f" /><Relationship Type="http://schemas.openxmlformats.org/officeDocument/2006/relationships/slide" Target="/ppt/slides/slide12.xml" Id="R0fa63a9d079a47c0" /><Relationship Type="http://schemas.openxmlformats.org/officeDocument/2006/relationships/slide" Target="/ppt/slides/slide13.xml" Id="R5d4c20943cfc4440" /><Relationship Type="http://schemas.openxmlformats.org/officeDocument/2006/relationships/slide" Target="/ppt/slides/slide14.xml" Id="Rfbf431efe49e48a9" /><Relationship Type="http://schemas.openxmlformats.org/officeDocument/2006/relationships/slide" Target="/ppt/slides/slide15.xml" Id="R663820925b2641d4" /><Relationship Type="http://schemas.openxmlformats.org/officeDocument/2006/relationships/slide" Target="/ppt/slides/slide16.xml" Id="R613200a24bc54cc1" /><Relationship Type="http://schemas.openxmlformats.org/officeDocument/2006/relationships/slide" Target="/ppt/slides/slide17.xml" Id="Rf49b1d5e4ed74850" /><Relationship Type="http://schemas.openxmlformats.org/officeDocument/2006/relationships/slide" Target="/ppt/slides/slide18.xml" Id="Re64757ca878e4206" /><Relationship Type="http://schemas.openxmlformats.org/officeDocument/2006/relationships/slide" Target="/ppt/slides/slide19.xml" Id="Rf6badc331fa6406b" /><Relationship Type="http://schemas.openxmlformats.org/officeDocument/2006/relationships/slide" Target="/ppt/slides/slide20.xml" Id="R53080a9bd2a54754" /><Relationship Type="http://schemas.openxmlformats.org/officeDocument/2006/relationships/slide" Target="/ppt/slides/slide21.xml" Id="R2afd69337bcb46a0" /><Relationship Type="http://schemas.openxmlformats.org/officeDocument/2006/relationships/slide" Target="/ppt/slides/slide22.xml" Id="R28a978f7c74e4ce6" /><Relationship Type="http://schemas.openxmlformats.org/officeDocument/2006/relationships/slide" Target="/ppt/slides/slide23.xml" Id="Rca357463e8eb4bb9" /><Relationship Type="http://schemas.openxmlformats.org/officeDocument/2006/relationships/slide" Target="/ppt/slides/slide24.xml" Id="R29e055b3534b4d5c" /><Relationship Type="http://schemas.openxmlformats.org/officeDocument/2006/relationships/slide" Target="/ppt/slides/slide25.xml" Id="Ra4f3bcf74a0d4852" /><Relationship Type="http://schemas.openxmlformats.org/officeDocument/2006/relationships/slide" Target="/ppt/slides/slide26.xml" Id="Rac254fc061874221" /><Relationship Type="http://schemas.openxmlformats.org/officeDocument/2006/relationships/slide" Target="/ppt/slides/slide27.xml" Id="R2f00bcca63ba4bbf" /><Relationship Type="http://schemas.openxmlformats.org/officeDocument/2006/relationships/slide" Target="/ppt/slides/slide28.xml" Id="R78e76b9d77cb4411" /><Relationship Type="http://schemas.openxmlformats.org/officeDocument/2006/relationships/slide" Target="/ppt/slides/slide29.xml" Id="R7dd71d34590b4b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88f50c9f4c46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38d9e18e6b46a9" /><Relationship Type="http://schemas.openxmlformats.org/officeDocument/2006/relationships/notesMaster" Target="/ppt/notesMasters/notesMaster1.xml" Id="Rb1d3f34ec16f4b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cad6b733c34ce0" /><Relationship Type="http://schemas.openxmlformats.org/officeDocument/2006/relationships/notesMaster" Target="/ppt/notesMasters/notesMaster1.xml" Id="Re1e030caea424d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7de246ac5749cc" /><Relationship Type="http://schemas.openxmlformats.org/officeDocument/2006/relationships/notesMaster" Target="/ppt/notesMasters/notesMaster1.xml" Id="R738ddaf1843648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ca1ff9c0e74240" /><Relationship Type="http://schemas.openxmlformats.org/officeDocument/2006/relationships/notesMaster" Target="/ppt/notesMasters/notesMaster1.xml" Id="R484a8ee2a00745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98bdfc827d456a" /><Relationship Type="http://schemas.openxmlformats.org/officeDocument/2006/relationships/notesMaster" Target="/ppt/notesMasters/notesMaster1.xml" Id="Rdcaf0381ab384e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5a4ee2e8cb4d83" /><Relationship Type="http://schemas.openxmlformats.org/officeDocument/2006/relationships/notesMaster" Target="/ppt/notesMasters/notesMaster1.xml" Id="R9db1f572fdac40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c4361964ef444c" /><Relationship Type="http://schemas.openxmlformats.org/officeDocument/2006/relationships/notesMaster" Target="/ppt/notesMasters/notesMaster1.xml" Id="Rd6ddce675e6247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c7c8f3808f4a01" /><Relationship Type="http://schemas.openxmlformats.org/officeDocument/2006/relationships/notesMaster" Target="/ppt/notesMasters/notesMaster1.xml" Id="R0f1371c9b91245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8044dc6907496e" /><Relationship Type="http://schemas.openxmlformats.org/officeDocument/2006/relationships/notesMaster" Target="/ppt/notesMasters/notesMaster1.xml" Id="R27ca3a0b00494e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f23a1885804fa4" /><Relationship Type="http://schemas.openxmlformats.org/officeDocument/2006/relationships/notesMaster" Target="/ppt/notesMasters/notesMaster1.xml" Id="R9214e27c1ff14f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776ff97b5745a2" /><Relationship Type="http://schemas.openxmlformats.org/officeDocument/2006/relationships/notesMaster" Target="/ppt/notesMasters/notesMaster1.xml" Id="R35fbd722f59a45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fe119ce895438f" /><Relationship Type="http://schemas.openxmlformats.org/officeDocument/2006/relationships/notesMaster" Target="/ppt/notesMasters/notesMaster1.xml" Id="Rd4d03a3e63704fb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bd234ddfcc4029" /><Relationship Type="http://schemas.openxmlformats.org/officeDocument/2006/relationships/notesMaster" Target="/ppt/notesMasters/notesMaster1.xml" Id="Rd8b92168c2ed41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b9a68ba53064bc1" /><Relationship Type="http://schemas.openxmlformats.org/officeDocument/2006/relationships/notesMaster" Target="/ppt/notesMasters/notesMaster1.xml" Id="R1fed16e9730243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5f79d0c0544f39" /><Relationship Type="http://schemas.openxmlformats.org/officeDocument/2006/relationships/notesMaster" Target="/ppt/notesMasters/notesMaster1.xml" Id="Raf3c502cf058472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0e3c391d3245e7" /><Relationship Type="http://schemas.openxmlformats.org/officeDocument/2006/relationships/notesMaster" Target="/ppt/notesMasters/notesMaster1.xml" Id="Rbe4d8307ed354ca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7ebf961a6e147bc" /><Relationship Type="http://schemas.openxmlformats.org/officeDocument/2006/relationships/notesMaster" Target="/ppt/notesMasters/notesMaster1.xml" Id="R01b1ef224939448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8513a5032fe4ad7" /><Relationship Type="http://schemas.openxmlformats.org/officeDocument/2006/relationships/notesMaster" Target="/ppt/notesMasters/notesMaster1.xml" Id="R10e36959770a4c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a5bf6874c1647d0" /><Relationship Type="http://schemas.openxmlformats.org/officeDocument/2006/relationships/notesMaster" Target="/ppt/notesMasters/notesMaster1.xml" Id="Ra94bcaf22a5d4a0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5106dedd7ea4a83" /><Relationship Type="http://schemas.openxmlformats.org/officeDocument/2006/relationships/notesMaster" Target="/ppt/notesMasters/notesMaster1.xml" Id="R22274cc16abb43c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1d551320f1a47c8" /><Relationship Type="http://schemas.openxmlformats.org/officeDocument/2006/relationships/notesMaster" Target="/ppt/notesMasters/notesMaster1.xml" Id="R994f1eacadf1456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003e2032d254707" /><Relationship Type="http://schemas.openxmlformats.org/officeDocument/2006/relationships/notesMaster" Target="/ppt/notesMasters/notesMaster1.xml" Id="R8829e811a53b49a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9c4ba17ee94472a" /><Relationship Type="http://schemas.openxmlformats.org/officeDocument/2006/relationships/notesMaster" Target="/ppt/notesMasters/notesMaster1.xml" Id="R3ad43c62e08e489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c0c323084f2434f" /><Relationship Type="http://schemas.openxmlformats.org/officeDocument/2006/relationships/notesMaster" Target="/ppt/notesMasters/notesMaster1.xml" Id="Rf47ccb54dbde43b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aca8635b5a1470a" /><Relationship Type="http://schemas.openxmlformats.org/officeDocument/2006/relationships/notesMaster" Target="/ppt/notesMasters/notesMaster1.xml" Id="Rb84c6ffc1f1e49b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7d25f177afa4d74" /><Relationship Type="http://schemas.openxmlformats.org/officeDocument/2006/relationships/notesMaster" Target="/ppt/notesMasters/notesMaster1.xml" Id="R0352a2416641497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73b5ebe0ff244ee" /><Relationship Type="http://schemas.openxmlformats.org/officeDocument/2006/relationships/notesMaster" Target="/ppt/notesMasters/notesMaster1.xml" Id="R5628606117a940c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7e492f7ca9042cf" /><Relationship Type="http://schemas.openxmlformats.org/officeDocument/2006/relationships/notesMaster" Target="/ppt/notesMasters/notesMaster1.xml" Id="R0e8f6d9ed0a240b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64e35f0a5014461" /><Relationship Type="http://schemas.openxmlformats.org/officeDocument/2006/relationships/notesMaster" Target="/ppt/notesMasters/notesMaster1.xml" Id="Rd1395705366b46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此处要介绍一下</a:t>
            </a:r>
            <a:r>
              <a:t>wisdom of </a:t>
            </a:r>
            <a:r>
              <a:t>crowds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 size</a:t>
            </a:r>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更像一个章节题目，不像是一个研究问题。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1f7b8f83d646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9bfad11e1b42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8c545771b8b468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df4f44380b43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b5a0c788414a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969528d5c84d1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136855835e94b3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1d68b52df444b2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22b48041cb74b0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470b8cdf40348f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c290e69bb0648c6"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349618B-9513-4BC5-9978-8265EF718008}"/>
              </a:ext>
            </a:extLst>
          </p:cNvPr>
          <p:cNvSpPr>
            <a:spLocks xmlns:a="http://schemas.openxmlformats.org/drawingml/2006/main" noGrp="1"/>
          </p:cNvSpPr>
          <p:nvPr>
            <p:ph type="ctrTitle" idx="0"/>
          </p:nvPr>
        </p:nvSpPr>
        <p:spPr>
          <a:xfrm xmlns:a="http://schemas.openxmlformats.org/drawingml/2006/main">
            <a:off x="1198800" y="914400"/>
            <a:ext cx="9799200" cy="2570400"/>
          </a:xfrm>
        </p:spPr>
        <p:txBody>
          <a:bodyPr xmlns:a="http://schemas.openxmlformats.org/drawingml/2006/main" lIns="90000" tIns="46800" rIns="90000" bIns="46800" anchor="b">
            <a:normAutofit/>
          </a:bodyPr>
          <a:lstStyle xmlns:a="http://schemas.openxmlformats.org/drawingml/2006/main">
            <a:lvl1pPr algn="ctr">
              <a:buNone/>
              <a:defRPr sz="6000"/>
            </a:lvl1pPr>
          </a:lstStyle>
          <a:p xmlns:a="http://schemas.openxmlformats.org/drawingml/2006/main">
            <a:r>
              <a:t>单击此处编辑母版标题样式</a:t>
            </a:r>
          </a:p>
        </p:txBody>
      </p:sp>
      <p:sp>
        <p:nvSpPr>
          <p:cNvPr id="3" name="副标题 2">
            <a:extLst xmlns:a="http://schemas.openxmlformats.org/drawingml/2006/main">
              <a:ext uri="{FF2B5EF4-FFF2-40B4-BE49-F238E27FC236}">
                <a16:creationId xmlns:a16="http://schemas.microsoft.com/office/drawing/2014/main" id="{9D01E257-1D01-46CC-8B99-A47F55A60170}"/>
              </a:ext>
            </a:extLst>
          </p:cNvPr>
          <p:cNvSpPr>
            <a:spLocks xmlns:a="http://schemas.openxmlformats.org/drawingml/2006/main" noGrp="1"/>
          </p:cNvSpPr>
          <p:nvPr>
            <p:ph type="subTitle" idx="1"/>
          </p:nvPr>
        </p:nvSpPr>
        <p:spPr>
          <a:xfrm xmlns:a="http://schemas.openxmlformats.org/drawingml/2006/main">
            <a:off x="1198800" y="3560400"/>
            <a:ext cx="9799200" cy="1472400"/>
          </a:xfrm>
        </p:spPr>
        <p:txBody>
          <a:bodyPr xmlns:a="http://schemas.openxmlformats.org/drawingml/2006/main" lIns="90000" tIns="46800" rIns="90000" bIns="46800">
            <a:normAutofit/>
          </a:bodyPr>
          <a:lstStyle xmlns:a="http://schemas.openxmlformats.org/drawingml/2006/main">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16" name="日期占位符 15">
            <a:extLst xmlns:a="http://schemas.openxmlformats.org/drawingml/2006/main">
              <a:ext uri="{FF2B5EF4-FFF2-40B4-BE49-F238E27FC236}">
                <a16:creationId xmlns:a16="http://schemas.microsoft.com/office/drawing/2014/main" id="{6D934D5E-411C-4692-B812-40F44B6F4C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17" name="页脚占位符 16">
            <a:extLst xmlns:a="http://schemas.openxmlformats.org/drawingml/2006/main">
              <a:ext uri="{FF2B5EF4-FFF2-40B4-BE49-F238E27FC236}">
                <a16:creationId xmlns:a16="http://schemas.microsoft.com/office/drawing/2014/main" id="{389EC753-D5D4-4090-86BD-702E4012B3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18" name="灯片编号占位符 17">
            <a:extLst xmlns:a="http://schemas.openxmlformats.org/drawingml/2006/main">
              <a:ext uri="{FF2B5EF4-FFF2-40B4-BE49-F238E27FC236}">
                <a16:creationId xmlns:a16="http://schemas.microsoft.com/office/drawing/2014/main" id="{5E0F0FED-1311-418C-874E-5C35F66E23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696812D-DAD9-4F44-BE06-5711CA9FBA9D}"/>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p>
        </p:txBody>
      </p:sp>
      <p:sp>
        <p:nvSpPr>
          <p:cNvPr id="3" name="内容占位符 2">
            <a:extLst xmlns:a="http://schemas.openxmlformats.org/drawingml/2006/main">
              <a:ext uri="{FF2B5EF4-FFF2-40B4-BE49-F238E27FC236}">
                <a16:creationId xmlns:a16="http://schemas.microsoft.com/office/drawing/2014/main" id="{97C7A734-93D6-4F83-BBA5-B76866256C23}"/>
              </a:ext>
            </a:extLst>
          </p:cNvPr>
          <p:cNvSpPr>
            <a:spLocks xmlns:a="http://schemas.openxmlformats.org/drawingml/2006/main" noGrp="1"/>
          </p:cNvSpPr>
          <p:nvPr>
            <p:ph idx="1"/>
          </p:nvPr>
        </p:nvSpPr>
        <p:spPr>
          <a:xfrm xmlns:a="http://schemas.openxmlformats.org/drawingml/2006/main">
            <a:off x="608400" y="1490400"/>
            <a:ext cx="10969200" cy="4759200"/>
          </a:xfrm>
        </p:spPr>
        <p:txBody>
          <a:bodyPr xmlns:a="http://schemas.openxmlformats.org/drawingml/2006/main" vert="horz" lIns="90000" tIns="46800" rIns="90000" bIns="4680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CD6FDAA6-0B31-4795-B425-2E96CE41EF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81E60448-9E9F-4D45-ABD2-EC3990C46BF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41DF0A6A-6ED7-4946-BBAB-D4ED7DB4CA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9C99939-7888-40EF-A8AB-708B13AF76F4}"/>
              </a:ext>
            </a:extLst>
          </p:cNvPr>
          <p:cNvSpPr>
            <a:spLocks xmlns:a="http://schemas.openxmlformats.org/drawingml/2006/main" noGrp="1"/>
          </p:cNvSpPr>
          <p:nvPr>
            <p:ph type="title" idx="0" hasCustomPrompt="1"/>
          </p:nvPr>
        </p:nvSpPr>
        <p:spPr>
          <a:xfrm xmlns:a="http://schemas.openxmlformats.org/drawingml/2006/main">
            <a:off x="1990800" y="3848400"/>
            <a:ext cx="7768800" cy="766800"/>
          </a:xfrm>
        </p:spPr>
        <p:txBody>
          <a:bodyPr xmlns:a="http://schemas.openxmlformats.org/drawingml/2006/main" lIns="90000" tIns="46800" rIns="90000" bIns="46800" anchor="b">
            <a:normAutofit/>
          </a:bodyPr>
          <a:lstStyle xmlns:a="http://schemas.openxmlformats.org/drawingml/2006/main">
            <a:lvl1pPr>
              <a:buNone/>
              <a:defRPr sz="4400"/>
            </a:lvl1pPr>
          </a:lstStyle>
          <a:p xmlns:a="http://schemas.openxmlformats.org/drawingml/2006/main">
            <a:r>
              <a:t>单击此处编辑标题</a:t>
            </a:r>
          </a:p>
        </p:txBody>
      </p:sp>
      <p:sp>
        <p:nvSpPr>
          <p:cNvPr id="3" name="文本占位符 2">
            <a:extLst xmlns:a="http://schemas.openxmlformats.org/drawingml/2006/main">
              <a:ext uri="{FF2B5EF4-FFF2-40B4-BE49-F238E27FC236}">
                <a16:creationId xmlns:a16="http://schemas.microsoft.com/office/drawing/2014/main" id="{39819E07-D119-40A1-9180-C8A731E9E97C}"/>
              </a:ext>
            </a:extLst>
          </p:cNvPr>
          <p:cNvSpPr>
            <a:spLocks xmlns:a="http://schemas.openxmlformats.org/drawingml/2006/main" noGrp="1"/>
          </p:cNvSpPr>
          <p:nvPr>
            <p:ph type="body" idx="1" hasCustomPrompt="1"/>
          </p:nvPr>
        </p:nvSpPr>
        <p:spPr>
          <a:xfrm xmlns:a="http://schemas.openxmlformats.org/drawingml/2006/main">
            <a:off x="1990800" y="4615200"/>
            <a:ext cx="7768800" cy="867600"/>
          </a:xfrm>
        </p:spPr>
        <p:txBody>
          <a:bodyPr xmlns:a="http://schemas.openxmlformats.org/drawingml/2006/main" lIns="90000" tIns="46800" rIns="90000" bIns="46800">
            <a:normAutofit/>
          </a:bodyPr>
          <a:lstStyle xmlns:a="http://schemas.openxmlformats.org/drawingml/2006/main">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单击此处编辑文本</a:t>
            </a:r>
          </a:p>
        </p:txBody>
      </p:sp>
      <p:sp>
        <p:nvSpPr>
          <p:cNvPr id="4" name="日期占位符 3">
            <a:extLst xmlns:a="http://schemas.openxmlformats.org/drawingml/2006/main">
              <a:ext uri="{FF2B5EF4-FFF2-40B4-BE49-F238E27FC236}">
                <a16:creationId xmlns:a16="http://schemas.microsoft.com/office/drawing/2014/main" id="{789DEEB1-FA2F-4A72-B34A-9F6D629AB0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AA3ECE5F-2250-45F0-9960-752BFE50DB9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FD59C7BC-564A-4698-9D2F-F171C55C38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DD1CDD9-4F3C-445C-A80A-B38E6BFDB7AD}"/>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p>
        </p:txBody>
      </p:sp>
      <p:sp>
        <p:nvSpPr>
          <p:cNvPr id="3" name="内容占位符 2">
            <a:extLst xmlns:a="http://schemas.openxmlformats.org/drawingml/2006/main">
              <a:ext uri="{FF2B5EF4-FFF2-40B4-BE49-F238E27FC236}">
                <a16:creationId xmlns:a16="http://schemas.microsoft.com/office/drawing/2014/main" id="{6E06C343-4265-4CDE-B83A-B8D866D9ECF1}"/>
              </a:ext>
            </a:extLst>
          </p:cNvPr>
          <p:cNvSpPr>
            <a:spLocks xmlns:a="http://schemas.openxmlformats.org/drawingml/2006/main" noGrp="1"/>
          </p:cNvSpPr>
          <p:nvPr>
            <p:ph idx="1"/>
          </p:nvPr>
        </p:nvSpPr>
        <p:spPr>
          <a:xfrm xmlns:a="http://schemas.openxmlformats.org/drawingml/2006/main">
            <a:off x="608400" y="1501200"/>
            <a:ext cx="5176800" cy="4748400"/>
          </a:xfrm>
        </p:spPr>
        <p:txBody>
          <a:bodyPr xmlns:a="http://schemas.openxmlformats.org/drawingml/2006/main" vert="horz" lIns="90000" tIns="46800" rIns="90000" bIns="4680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内容占位符 3">
            <a:extLst xmlns:a="http://schemas.openxmlformats.org/drawingml/2006/main">
              <a:ext uri="{FF2B5EF4-FFF2-40B4-BE49-F238E27FC236}">
                <a16:creationId xmlns:a16="http://schemas.microsoft.com/office/drawing/2014/main" id="{6054DBF3-3027-4F5F-A97C-826970FF73C6}"/>
              </a:ext>
            </a:extLst>
          </p:cNvPr>
          <p:cNvSpPr>
            <a:spLocks xmlns:a="http://schemas.openxmlformats.org/drawingml/2006/main" noGrp="1"/>
          </p:cNvSpPr>
          <p:nvPr>
            <p:ph idx="2"/>
          </p:nvPr>
        </p:nvSpPr>
        <p:spPr>
          <a:xfrm xmlns:a="http://schemas.openxmlformats.org/drawingml/2006/main">
            <a:off x="6411600" y="1501200"/>
            <a:ext cx="5176800" cy="4748400"/>
          </a:xfrm>
        </p:spPr>
        <p:txBody>
          <a:bodyPr xmlns:a="http://schemas.openxmlformats.org/drawingml/2006/main" lIns="90000" tIns="46800" rIns="90000" bIns="4680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日期占位符 4">
            <a:extLst xmlns:a="http://schemas.openxmlformats.org/drawingml/2006/main">
              <a:ext uri="{FF2B5EF4-FFF2-40B4-BE49-F238E27FC236}">
                <a16:creationId xmlns:a16="http://schemas.microsoft.com/office/drawing/2014/main" id="{ECCEAE10-9719-4EBA-B548-5EBCB298D94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页脚占位符 5">
            <a:extLst xmlns:a="http://schemas.openxmlformats.org/drawingml/2006/main">
              <a:ext uri="{FF2B5EF4-FFF2-40B4-BE49-F238E27FC236}">
                <a16:creationId xmlns:a16="http://schemas.microsoft.com/office/drawing/2014/main" id="{C6D0694A-DA98-4EC4-A997-38B2A11126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灯片编号占位符 6">
            <a:extLst xmlns:a="http://schemas.openxmlformats.org/drawingml/2006/main">
              <a:ext uri="{FF2B5EF4-FFF2-40B4-BE49-F238E27FC236}">
                <a16:creationId xmlns:a16="http://schemas.microsoft.com/office/drawing/2014/main" id="{4D0DE61D-0BEF-48F7-945D-8C20EB9FAC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607AAA8-BC9E-44FF-B0D1-6B08AB18DE6F}"/>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p>
        </p:txBody>
      </p:sp>
      <p:sp>
        <p:nvSpPr>
          <p:cNvPr id="3" name="文本占位符 2">
            <a:extLst xmlns:a="http://schemas.openxmlformats.org/drawingml/2006/main">
              <a:ext uri="{FF2B5EF4-FFF2-40B4-BE49-F238E27FC236}">
                <a16:creationId xmlns:a16="http://schemas.microsoft.com/office/drawing/2014/main" id="{F161E9C1-A6F3-4631-A6BF-F023FAF84E6A}"/>
              </a:ext>
            </a:extLst>
          </p:cNvPr>
          <p:cNvSpPr>
            <a:spLocks xmlns:a="http://schemas.openxmlformats.org/drawingml/2006/main" noGrp="1"/>
          </p:cNvSpPr>
          <p:nvPr>
            <p:ph type="body" idx="1" hasCustomPrompt="1"/>
          </p:nvPr>
        </p:nvSpPr>
        <p:spPr>
          <a:xfrm xmlns:a="http://schemas.openxmlformats.org/drawingml/2006/main">
            <a:off x="608400" y="1429200"/>
            <a:ext cx="5342400" cy="381600"/>
          </a:xfrm>
        </p:spPr>
        <p:txBody>
          <a:bodyPr xmlns:a="http://schemas.openxmlformats.org/drawingml/2006/main" lIns="101600" tIns="38100" rIns="76200" bIns="38100" anchor="t">
            <a:normAutofit/>
          </a:bodyPr>
          <a:lstStyle xmlns:a="http://schemas.openxmlformats.org/drawingml/2006/main">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单击此处编辑文本</a:t>
            </a:r>
          </a:p>
        </p:txBody>
      </p:sp>
      <p:sp>
        <p:nvSpPr>
          <p:cNvPr id="4" name="内容占位符 3">
            <a:extLst xmlns:a="http://schemas.openxmlformats.org/drawingml/2006/main">
              <a:ext uri="{FF2B5EF4-FFF2-40B4-BE49-F238E27FC236}">
                <a16:creationId xmlns:a16="http://schemas.microsoft.com/office/drawing/2014/main" id="{945387D8-A0B5-4AA0-B92C-8F982FD636AF}"/>
              </a:ext>
            </a:extLst>
          </p:cNvPr>
          <p:cNvSpPr>
            <a:spLocks xmlns:a="http://schemas.openxmlformats.org/drawingml/2006/main" noGrp="1"/>
          </p:cNvSpPr>
          <p:nvPr>
            <p:ph idx="2"/>
          </p:nvPr>
        </p:nvSpPr>
        <p:spPr>
          <a:xfrm xmlns:a="http://schemas.openxmlformats.org/drawingml/2006/main">
            <a:off x="608400" y="1854000"/>
            <a:ext cx="5342400" cy="4395600"/>
          </a:xfrm>
        </p:spPr>
        <p:txBody>
          <a:bodyPr xmlns:a="http://schemas.openxmlformats.org/drawingml/2006/main" vert="horz" lIns="101600" tIns="0" rIns="82550" bIns="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文本占位符 4">
            <a:extLst xmlns:a="http://schemas.openxmlformats.org/drawingml/2006/main">
              <a:ext uri="{FF2B5EF4-FFF2-40B4-BE49-F238E27FC236}">
                <a16:creationId xmlns:a16="http://schemas.microsoft.com/office/drawing/2014/main" id="{1C363A4A-5E54-40D5-A1F4-11C6BBCE16F1}"/>
              </a:ext>
            </a:extLst>
          </p:cNvPr>
          <p:cNvSpPr>
            <a:spLocks xmlns:a="http://schemas.openxmlformats.org/drawingml/2006/main" noGrp="1"/>
          </p:cNvSpPr>
          <p:nvPr>
            <p:ph type="body" idx="3" hasCustomPrompt="1"/>
          </p:nvPr>
        </p:nvSpPr>
        <p:spPr>
          <a:xfrm xmlns:a="http://schemas.openxmlformats.org/drawingml/2006/main">
            <a:off x="6235750" y="1421729"/>
            <a:ext cx="5342400" cy="381600"/>
          </a:xfrm>
        </p:spPr>
        <p:txBody>
          <a:bodyPr xmlns:a="http://schemas.openxmlformats.org/drawingml/2006/main" vert="horz" lIns="101600" tIns="38100" rIns="76200" bIns="38100" anchor="t">
            <a:normAutofit/>
          </a:bodyPr>
          <a:lstStyle xmlns:a="http://schemas.openxmlformats.org/drawingml/2006/main">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单击此处编辑文本</a:t>
            </a:r>
          </a:p>
        </p:txBody>
      </p:sp>
      <p:sp>
        <p:nvSpPr>
          <p:cNvPr id="6" name="内容占位符 5">
            <a:extLst xmlns:a="http://schemas.openxmlformats.org/drawingml/2006/main">
              <a:ext uri="{FF2B5EF4-FFF2-40B4-BE49-F238E27FC236}">
                <a16:creationId xmlns:a16="http://schemas.microsoft.com/office/drawing/2014/main" id="{795AD08C-54D7-4875-9261-0FA1BDC55BDF}"/>
              </a:ext>
            </a:extLst>
          </p:cNvPr>
          <p:cNvSpPr>
            <a:spLocks xmlns:a="http://schemas.openxmlformats.org/drawingml/2006/main" noGrp="1"/>
          </p:cNvSpPr>
          <p:nvPr>
            <p:ph idx="4"/>
          </p:nvPr>
        </p:nvSpPr>
        <p:spPr>
          <a:xfrm xmlns:a="http://schemas.openxmlformats.org/drawingml/2006/main">
            <a:off x="6235750" y="1854000"/>
            <a:ext cx="5342400" cy="4395600"/>
          </a:xfrm>
        </p:spPr>
        <p:txBody>
          <a:bodyPr xmlns:a="http://schemas.openxmlformats.org/drawingml/2006/main" vert="horz" lIns="101600" tIns="0" rIns="82550" bIns="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7" name="日期占位符 6">
            <a:extLst xmlns:a="http://schemas.openxmlformats.org/drawingml/2006/main">
              <a:ext uri="{FF2B5EF4-FFF2-40B4-BE49-F238E27FC236}">
                <a16:creationId xmlns:a16="http://schemas.microsoft.com/office/drawing/2014/main" id="{8C284A37-9371-4570-A15B-79A79FEEBF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8" name="页脚占位符 7">
            <a:extLst xmlns:a="http://schemas.openxmlformats.org/drawingml/2006/main">
              <a:ext uri="{FF2B5EF4-FFF2-40B4-BE49-F238E27FC236}">
                <a16:creationId xmlns:a16="http://schemas.microsoft.com/office/drawing/2014/main" id="{F6254898-C8B1-4ED4-A254-B59307AF025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灯片编号占位符 8">
            <a:extLst xmlns:a="http://schemas.openxmlformats.org/drawingml/2006/main">
              <a:ext uri="{FF2B5EF4-FFF2-40B4-BE49-F238E27FC236}">
                <a16:creationId xmlns:a16="http://schemas.microsoft.com/office/drawing/2014/main" id="{96DD38A4-9369-4451-AB7E-BFBF2909824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039BA0D-B409-49AC-8894-39BE0AC1A223}"/>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p>
        </p:txBody>
      </p:sp>
      <p:sp>
        <p:nvSpPr>
          <p:cNvPr id="3" name="日期占位符 2">
            <a:extLst xmlns:a="http://schemas.openxmlformats.org/drawingml/2006/main">
              <a:ext uri="{FF2B5EF4-FFF2-40B4-BE49-F238E27FC236}">
                <a16:creationId xmlns:a16="http://schemas.microsoft.com/office/drawing/2014/main" id="{71A23492-A1DC-4E08-A60A-67EC5AD2BD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FCF47AD4-0DC6-46F0-B080-B3F9F720AB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A619B3F3-30F6-4125-A6E4-D57D1FEC7BD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F5C9D930-C006-400E-ABF0-5C45CCCC1D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3" name="页脚占位符 2">
            <a:extLst xmlns:a="http://schemas.openxmlformats.org/drawingml/2006/main">
              <a:ext uri="{FF2B5EF4-FFF2-40B4-BE49-F238E27FC236}">
                <a16:creationId xmlns:a16="http://schemas.microsoft.com/office/drawing/2014/main" id="{8F84EE0D-C574-47E8-A988-85053BF3595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灯片编号占位符 3">
            <a:extLst xmlns:a="http://schemas.openxmlformats.org/drawingml/2006/main">
              <a:ext uri="{FF2B5EF4-FFF2-40B4-BE49-F238E27FC236}">
                <a16:creationId xmlns:a16="http://schemas.microsoft.com/office/drawing/2014/main" id="{88955158-22D5-4EB4-B7E5-C6A08CF76F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preserve="1" userDrawn="1">
  <p:cSld name="图片与标题">
    <p:spTree>
      <p:nvGrpSpPr>
        <p:cNvPr id="1" name=""/>
        <p:cNvGrpSpPr/>
        <p:nvPr/>
      </p:nvGrpSpPr>
      <p:grpSpPr>
        <a:xfrm xmlns:a="http://schemas.openxmlformats.org/drawingml/2006/main"/>
      </p:grpSpPr>
      <p:sp>
        <p:nvSpPr>
          <p:cNvPr id="3" name="图片占位符 2">
            <a:extLst xmlns:a="http://schemas.openxmlformats.org/drawingml/2006/main">
              <a:ext uri="{FF2B5EF4-FFF2-40B4-BE49-F238E27FC236}">
                <a16:creationId xmlns:a16="http://schemas.microsoft.com/office/drawing/2014/main" id="{78A1D437-8A30-4DE1-9FB8-A29CD246FDA2}"/>
              </a:ext>
            </a:extLst>
          </p:cNvPr>
          <p:cNvSpPr>
            <a:spLocks xmlns:a="http://schemas.openxmlformats.org/drawingml/2006/main" noGrp="1"/>
          </p:cNvSpPr>
          <p:nvPr>
            <p:ph type="pic" idx="1"/>
          </p:nvPr>
        </p:nvSpPr>
        <p:spPr>
          <a:xfrm xmlns:a="http://schemas.openxmlformats.org/drawingml/2006/main">
            <a:off x="608400" y="1555200"/>
            <a:ext cx="5233077" cy="4608000"/>
          </a:xfrm>
        </p:spPr>
        <p:txBody>
          <a:bodyPr xmlns:a="http://schemas.openxmlformats.org/drawingml/2006/main" vert="horz" lIns="90000" tIns="46800" rIns="90000" bIns="46800">
            <a:normAutofit/>
          </a:bodyPr>
          <a:lstStyle xmlns:a="http://schemas.openxmlformats.org/drawingml/2006/main">
            <a:lvl1pPr>
              <a:buNone/>
              <a:defRPr sz="1600"/>
            </a:lvl1pPr>
          </a:lstStyle>
          <a:p xmlns:a="http://schemas.openxmlformats.org/drawingml/2006/main">
            <a:pPr lvl="0">
              <a:buNone/>
            </a:pPr>
          </a:p>
        </p:txBody>
      </p:sp>
      <p:sp>
        <p:nvSpPr>
          <p:cNvPr id="4" name="文本占位符 3">
            <a:extLst xmlns:a="http://schemas.openxmlformats.org/drawingml/2006/main">
              <a:ext uri="{FF2B5EF4-FFF2-40B4-BE49-F238E27FC236}">
                <a16:creationId xmlns:a16="http://schemas.microsoft.com/office/drawing/2014/main" id="{92590434-5EC8-4987-8C52-00229414AE8B}"/>
              </a:ext>
            </a:extLst>
          </p:cNvPr>
          <p:cNvSpPr>
            <a:spLocks xmlns:a="http://schemas.openxmlformats.org/drawingml/2006/main" noGrp="1"/>
          </p:cNvSpPr>
          <p:nvPr>
            <p:ph type="body" idx="2"/>
          </p:nvPr>
        </p:nvSpPr>
        <p:spPr>
          <a:xfrm xmlns:a="http://schemas.openxmlformats.org/drawingml/2006/main">
            <a:off x="6350400" y="1555200"/>
            <a:ext cx="5227200" cy="4608000"/>
          </a:xfrm>
        </p:spPr>
        <p:txBody>
          <a:bodyPr xmlns:a="http://schemas.openxmlformats.org/drawingml/2006/main" vert="horz" lIns="90000" tIns="46800" rIns="90000" bIns="46800">
            <a:normAutofit/>
          </a:bodyPr>
          <a:lstStyle xmlns:a="http://schemas.openxmlformats.org/drawingml/2006/main">
            <a:lvl1pPr>
              <a:buNone/>
              <a:defRPr sz="1600"/>
            </a:lvl1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B9276473-0161-4994-B97E-20A38B6C7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页脚占位符 5">
            <a:extLst xmlns:a="http://schemas.openxmlformats.org/drawingml/2006/main">
              <a:ext uri="{FF2B5EF4-FFF2-40B4-BE49-F238E27FC236}">
                <a16:creationId xmlns:a16="http://schemas.microsoft.com/office/drawing/2014/main" id="{238317A5-D1E4-4C1D-BFAA-C8AE305284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灯片编号占位符 6">
            <a:extLst xmlns:a="http://schemas.openxmlformats.org/drawingml/2006/main">
              <a:ext uri="{FF2B5EF4-FFF2-40B4-BE49-F238E27FC236}">
                <a16:creationId xmlns:a16="http://schemas.microsoft.com/office/drawing/2014/main" id="{726BEFFE-B3A1-45CF-92BC-E3CE8B576E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
        <p:nvSpPr>
          <p:cNvPr id="9" name="标题 8">
            <a:extLst xmlns:a="http://schemas.openxmlformats.org/drawingml/2006/main">
              <a:ext uri="{FF2B5EF4-FFF2-40B4-BE49-F238E27FC236}">
                <a16:creationId xmlns:a16="http://schemas.microsoft.com/office/drawing/2014/main" id="{9964BA09-5706-409B-B727-0DB2B7DD009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Tree>
  </p:cSld>
</p:sldLayout>
</file>

<file path=ppt/slideLayouts/slideLayout9.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1105F514-BC7E-4A82-A955-5B5F481973F7}"/>
              </a:ext>
            </a:extLst>
          </p:cNvPr>
          <p:cNvSpPr>
            <a:spLocks xmlns:a="http://schemas.openxmlformats.org/drawingml/2006/main" noGrp="1"/>
          </p:cNvSpPr>
          <p:nvPr>
            <p:ph type="title" idx="0" hasCustomPrompt="1"/>
          </p:nvPr>
        </p:nvSpPr>
        <p:spPr>
          <a:xfrm xmlns:a="http://schemas.openxmlformats.org/drawingml/2006/main">
            <a:off x="10234800" y="914400"/>
            <a:ext cx="1044000" cy="5029200"/>
          </a:xfrm>
        </p:spPr>
        <p:txBody>
          <a:bodyPr xmlns:a="http://schemas.openxmlformats.org/drawingml/2006/main" vert="eaVert" lIns="90000" tIns="46800" rIns="90000" bIns="46800" anchor="ctr">
            <a:normAutofit/>
          </a:bodyPr>
          <a:lstStyle xmlns:a="http://schemas.openxmlformats.org/drawingml/2006/main">
            <a:lvl1pPr>
              <a:buNone/>
              <a:defRPr sz="2800"/>
            </a:lvl1pPr>
          </a:lstStyle>
          <a:p xmlns:a="http://schemas.openxmlformats.org/drawingml/2006/main">
            <a:pPr lvl="0">
              <a:buNone/>
            </a:pPr>
            <a:r>
              <a:t>单击此处编辑标题</a:t>
            </a:r>
          </a:p>
        </p:txBody>
      </p:sp>
      <p:sp>
        <p:nvSpPr>
          <p:cNvPr id="3" name="竖排文字占位符 2">
            <a:extLst xmlns:a="http://schemas.openxmlformats.org/drawingml/2006/main">
              <a:ext uri="{FF2B5EF4-FFF2-40B4-BE49-F238E27FC236}">
                <a16:creationId xmlns:a16="http://schemas.microsoft.com/office/drawing/2014/main" id="{D079560F-C35F-43A1-BB4D-41B5C36E62CB}"/>
              </a:ext>
            </a:extLst>
          </p:cNvPr>
          <p:cNvSpPr>
            <a:spLocks xmlns:a="http://schemas.openxmlformats.org/drawingml/2006/main" noGrp="1"/>
          </p:cNvSpPr>
          <p:nvPr>
            <p:ph type="body" idx="1"/>
          </p:nvPr>
        </p:nvSpPr>
        <p:spPr>
          <a:xfrm xmlns:a="http://schemas.openxmlformats.org/drawingml/2006/main">
            <a:off x="914400" y="914400"/>
            <a:ext cx="9169200" cy="5029200"/>
          </a:xfrm>
        </p:spPr>
        <p:txBody>
          <a:bodyPr xmlns:a="http://schemas.openxmlformats.org/drawingml/2006/main" vert="eaVert" lIns="46800" tIns="46800" rIns="46800" bIns="46800"/>
          <a:lstStyle xmlns:a="http://schemas.openxmlformats.org/drawingml/2006/main">
            <a:lvl1pPr marL="228600" indent="-228600">
              <a:spcAft>
                <a:spcPts val="1000"/>
              </a:spcAft>
              <a:buNone/>
              <a:defRPr spc="300"/>
            </a:lvl1pPr>
            <a:lvl2pPr marL="685800" indent="-228600">
              <a:buNone/>
              <a:defRPr spc="300"/>
            </a:lvl2pPr>
            <a:lvl3pPr marL="1143000" indent="-228600">
              <a:buNone/>
              <a:defRPr spc="300"/>
            </a:lvl3pPr>
            <a:lvl4pPr marL="1600200" indent="-228600">
              <a:buNone/>
              <a:defRPr spc="300"/>
            </a:lvl4pPr>
            <a:lvl5pPr marL="2057400" indent="-228600">
              <a:buNone/>
              <a:defRPr spc="300"/>
            </a:lvl5pPr>
          </a:lstStyle>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AD71D7D7-442E-4C49-B50E-A3E4C08BB0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F6431EAE-48D5-4C9A-8AC2-BF144E0BFD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3012AF2A-EED4-4251-989B-FBE021A4DC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preserve="1" userDrawn="1">
  <p:cSld name="内容">
    <p:spTree>
      <p:nvGrpSpPr>
        <p:cNvPr id="1" name=""/>
        <p:cNvGrpSpPr/>
        <p:nvPr/>
      </p:nvGrpSpPr>
      <p:grpSpPr>
        <a:xfrm xmlns:a="http://schemas.openxmlformats.org/drawingml/2006/main"/>
      </p:grpSpPr>
      <p:sp>
        <p:nvSpPr>
          <p:cNvPr id="3" name="日期占位符 2">
            <a:extLst xmlns:a="http://schemas.openxmlformats.org/drawingml/2006/main">
              <a:ext uri="{FF2B5EF4-FFF2-40B4-BE49-F238E27FC236}">
                <a16:creationId xmlns:a16="http://schemas.microsoft.com/office/drawing/2014/main" id="{0F91A2CC-468C-4E57-B0EB-DE571C2FC5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AD7E7B35-EDD5-4975-98B1-15CAA95FF3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3DCB34D1-D6B5-4CAC-AF13-508190F17A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
        <p:nvSpPr>
          <p:cNvPr id="7" name="内容占位符 6">
            <a:extLst xmlns:a="http://schemas.openxmlformats.org/drawingml/2006/main">
              <a:ext uri="{FF2B5EF4-FFF2-40B4-BE49-F238E27FC236}">
                <a16:creationId xmlns:a16="http://schemas.microsoft.com/office/drawing/2014/main" id="{4E6F706E-8AE5-47C7-8447-82D7632FA7E6}"/>
              </a:ext>
            </a:extLst>
          </p:cNvPr>
          <p:cNvSpPr>
            <a:spLocks xmlns:a="http://schemas.openxmlformats.org/drawingml/2006/main" noGrp="1"/>
          </p:cNvSpPr>
          <p:nvPr>
            <p:ph idx="13"/>
          </p:nvPr>
        </p:nvSpPr>
        <p:spPr>
          <a:xfrm xmlns:a="http://schemas.openxmlformats.org/drawingml/2006/main">
            <a:off x="608400" y="774000"/>
            <a:ext cx="10972800" cy="5482800"/>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Tree>
  </p:cSld>
</p:sldLayout>
</file>

<file path=ppt/slideLayouts/slideLayout11.xml><?xml version="1.0" encoding="utf-8"?>
<p:sldLayout xmlns:p="http://schemas.openxmlformats.org/presentationml/2006/main" preserve="1" userDrawn="1">
  <p:cSld name="末尾幻灯片">
    <p:spTree>
      <p:nvGrpSpPr>
        <p:cNvPr id="1" name=""/>
        <p:cNvGrpSpPr/>
        <p:nvPr/>
      </p:nvGrpSpPr>
      <p:grpSpPr>
        <a:xfrm xmlns:a="http://schemas.openxmlformats.org/drawingml/2006/main"/>
      </p:grpSpPr>
      <p:sp>
        <p:nvSpPr>
          <p:cNvPr id="3" name="日期占位符 2">
            <a:extLst xmlns:a="http://schemas.openxmlformats.org/drawingml/2006/main">
              <a:ext uri="{FF2B5EF4-FFF2-40B4-BE49-F238E27FC236}">
                <a16:creationId xmlns:a16="http://schemas.microsoft.com/office/drawing/2014/main" id="{AD363B9E-4C8A-4FEC-A3E9-C5D891171A7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4851194D-AD83-4A90-A228-837E5755E1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38BE1521-8800-4CD7-9BE5-CCFB02B28D0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
        <p:nvSpPr>
          <p:cNvPr id="2" name="标题 1">
            <a:extLst xmlns:a="http://schemas.openxmlformats.org/drawingml/2006/main">
              <a:ext uri="{FF2B5EF4-FFF2-40B4-BE49-F238E27FC236}">
                <a16:creationId xmlns:a16="http://schemas.microsoft.com/office/drawing/2014/main" id="{9B0CF5D0-437B-481A-93CB-66460DF4B3FC}"/>
              </a:ext>
            </a:extLst>
          </p:cNvPr>
          <p:cNvSpPr>
            <a:spLocks xmlns:a="http://schemas.openxmlformats.org/drawingml/2006/main" noGrp="1"/>
          </p:cNvSpPr>
          <p:nvPr>
            <p:ph type="title" idx="0" hasCustomPrompt="1"/>
          </p:nvPr>
        </p:nvSpPr>
        <p:spPr>
          <a:xfrm xmlns:a="http://schemas.openxmlformats.org/drawingml/2006/main">
            <a:off x="1198800" y="2484000"/>
            <a:ext cx="9799200" cy="1018800"/>
          </a:xfrm>
        </p:spPr>
        <p:txBody>
          <a:bodyPr xmlns:a="http://schemas.openxmlformats.org/drawingml/2006/main" vert="horz" lIns="90000" tIns="46800" rIns="90000" bIns="46800" anchor="t">
            <a:normAutofit/>
          </a:bodyPr>
          <a:lstStyle xmlns:a="http://schemas.openxmlformats.org/drawingml/2006/main">
            <a:lvl1pPr algn="ctr">
              <a:buNone/>
              <a:defRPr sz="6000"/>
            </a:lvl1pPr>
          </a:lstStyle>
          <a:p xmlns:a="http://schemas.openxmlformats.org/drawingml/2006/main">
            <a:pPr lvl="0">
              <a:buNone/>
            </a:pPr>
            <a:r>
              <a:t>单击此处编辑标题</a:t>
            </a:r>
          </a:p>
        </p:txBody>
      </p:sp>
      <p:sp>
        <p:nvSpPr>
          <p:cNvPr id="7" name="文本占位符 6">
            <a:extLst xmlns:a="http://schemas.openxmlformats.org/drawingml/2006/main">
              <a:ext uri="{FF2B5EF4-FFF2-40B4-BE49-F238E27FC236}">
                <a16:creationId xmlns:a16="http://schemas.microsoft.com/office/drawing/2014/main" id="{20BF565C-1D00-4224-A03C-C55A54ACB0A0}"/>
              </a:ext>
            </a:extLst>
          </p:cNvPr>
          <p:cNvSpPr>
            <a:spLocks xmlns:a="http://schemas.openxmlformats.org/drawingml/2006/main" noGrp="1"/>
          </p:cNvSpPr>
          <p:nvPr>
            <p:ph type="body" idx="13"/>
          </p:nvPr>
        </p:nvSpPr>
        <p:spPr>
          <a:xfrm xmlns:a="http://schemas.openxmlformats.org/drawingml/2006/main">
            <a:off x="1198800" y="3560400"/>
            <a:ext cx="9799200" cy="471600"/>
          </a:xfrm>
        </p:spPr>
        <p:txBody>
          <a:bodyPr xmlns:a="http://schemas.openxmlformats.org/drawingml/2006/main" lIns="90000" tIns="46800" rIns="90000" bIns="46800">
            <a:normAutofit/>
          </a:bodyPr>
          <a:lstStyle xmlns:a="http://schemas.openxmlformats.org/drawingml/2006/main">
            <a:lvl1pPr algn="ctr">
              <a:lnSpc>
                <a:spcPct val="110000"/>
              </a:lnSpc>
              <a:buNone/>
              <a:defRPr sz="2400" spc="200"/>
            </a:lvl1pPr>
          </a:lstStyle>
          <a:p xmlns:a="http://schemas.openxmlformats.org/drawingml/2006/main">
            <a:pPr lvl="0">
              <a:buNone/>
            </a:pPr>
            <a:r>
              <a:t>单击此处编辑母版文本样式</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d622f4ad714617" /><Relationship Type="http://schemas.openxmlformats.org/officeDocument/2006/relationships/slideLayout" Target="/ppt/slideLayouts/slideLayout1.xml" Id="Rb51973e641cb4ff5" /><Relationship Type="http://schemas.openxmlformats.org/officeDocument/2006/relationships/slideLayout" Target="/ppt/slideLayouts/slideLayout2.xml" Id="R06dd0e19919a48eb" /><Relationship Type="http://schemas.openxmlformats.org/officeDocument/2006/relationships/slideLayout" Target="/ppt/slideLayouts/slideLayout3.xml" Id="R137418e7dbf84b66" /><Relationship Type="http://schemas.openxmlformats.org/officeDocument/2006/relationships/slideLayout" Target="/ppt/slideLayouts/slideLayout4.xml" Id="Rb66e6252add24584" /><Relationship Type="http://schemas.openxmlformats.org/officeDocument/2006/relationships/slideLayout" Target="/ppt/slideLayouts/slideLayout5.xml" Id="R691fd230c36f4ead" /><Relationship Type="http://schemas.openxmlformats.org/officeDocument/2006/relationships/slideLayout" Target="/ppt/slideLayouts/slideLayout6.xml" Id="R19eb643303b84f3f" /><Relationship Type="http://schemas.openxmlformats.org/officeDocument/2006/relationships/slideLayout" Target="/ppt/slideLayouts/slideLayout7.xml" Id="R20f740a4e4af41ef" /><Relationship Type="http://schemas.openxmlformats.org/officeDocument/2006/relationships/slideLayout" Target="/ppt/slideLayouts/slideLayout8.xml" Id="R96c9b693fb8c461a" /><Relationship Type="http://schemas.openxmlformats.org/officeDocument/2006/relationships/slideLayout" Target="/ppt/slideLayouts/slideLayout9.xml" Id="R39ade11982384840" /><Relationship Type="http://schemas.openxmlformats.org/officeDocument/2006/relationships/slideLayout" Target="/ppt/slideLayouts/slideLayout10.xml" Id="R75f019fc356d4e6a" /><Relationship Type="http://schemas.openxmlformats.org/officeDocument/2006/relationships/slideLayout" Target="/ppt/slideLayouts/slideLayout11.xml" Id="R6a6af42705f5454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FB347E68-11D7-4899-B040-9F350907B205}"/>
              </a:ext>
            </a:extLst>
          </p:cNvPr>
          <p:cNvSpPr>
            <a:spLocks xmlns:a="http://schemas.openxmlformats.org/drawingml/2006/main" noGrp="1"/>
          </p:cNvSpPr>
          <p:nvPr>
            <p:ph type="title" idx="0"/>
          </p:nvPr>
        </p:nvSpPr>
        <p:spPr>
          <a:xfrm xmlns:a="http://schemas.openxmlformats.org/drawingml/2006/main">
            <a:off x="608400" y="608400"/>
            <a:ext cx="10969200" cy="705600"/>
          </a:xfrm>
          <a:prstGeom xmlns:a="http://schemas.openxmlformats.org/drawingml/2006/main" prst="rect">
            <a:avLst/>
          </a:prstGeom>
        </p:spPr>
        <p:txBody>
          <a:bodyPr xmlns:a="http://schemas.openxmlformats.org/drawingml/2006/main" vert="horz" lIns="90170" tIns="46990" rIns="90170" bIns="4699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80D9D831-819B-489F-990E-0C07254B4636}"/>
              </a:ext>
            </a:extLst>
          </p:cNvPr>
          <p:cNvSpPr>
            <a:spLocks xmlns:a="http://schemas.openxmlformats.org/drawingml/2006/main" noGrp="1"/>
          </p:cNvSpPr>
          <p:nvPr>
            <p:ph type="body" idx="1"/>
          </p:nvPr>
        </p:nvSpPr>
        <p:spPr>
          <a:xfrm xmlns:a="http://schemas.openxmlformats.org/drawingml/2006/main">
            <a:off x="608400" y="1490400"/>
            <a:ext cx="10969200" cy="4759200"/>
          </a:xfrm>
          <a:prstGeom xmlns:a="http://schemas.openxmlformats.org/drawingml/2006/main" prst="rect">
            <a:avLst/>
          </a:prstGeom>
        </p:spPr>
        <p:txBody>
          <a:bodyPr xmlns:a="http://schemas.openxmlformats.org/drawingml/2006/main" vert="horz" lIns="90000" tIns="46800" rIns="90000" bIns="4680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7381CE35-6B57-47CB-B01F-39C0CF5DEE86}"/>
              </a:ext>
            </a:extLst>
          </p:cNvPr>
          <p:cNvSpPr>
            <a:spLocks xmlns:a="http://schemas.openxmlformats.org/drawingml/2006/main" noGrp="1"/>
          </p:cNvSpPr>
          <p:nvPr>
            <p:ph type="dt" idx="2"/>
          </p:nvPr>
        </p:nvSpPr>
        <p:spPr>
          <a:xfrm xmlns:a="http://schemas.openxmlformats.org/drawingml/2006/main">
            <a:off x="612000" y="6314400"/>
            <a:ext cx="2700000" cy="3168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a:buNone/>
              <a:defRPr sz="1000" baseline="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B806B49A-DDE4-432B-9AD4-DF91ED966123}"/>
              </a:ext>
            </a:extLst>
          </p:cNvPr>
          <p:cNvSpPr>
            <a:spLocks xmlns:a="http://schemas.openxmlformats.org/drawingml/2006/main" noGrp="1"/>
          </p:cNvSpPr>
          <p:nvPr>
            <p:ph type="ftr" idx="3"/>
          </p:nvPr>
        </p:nvSpPr>
        <p:spPr>
          <a:xfrm xmlns:a="http://schemas.openxmlformats.org/drawingml/2006/main">
            <a:off x="4116000" y="6314400"/>
            <a:ext cx="3960000" cy="3168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ctr">
              <a:buNone/>
              <a:defRPr sz="1000" baseline="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C109C4B8-F1D0-41F4-82F1-763ADAF69A1E}"/>
              </a:ext>
            </a:extLst>
          </p:cNvPr>
          <p:cNvSpPr>
            <a:spLocks xmlns:a="http://schemas.openxmlformats.org/drawingml/2006/main" noGrp="1"/>
          </p:cNvSpPr>
          <p:nvPr>
            <p:ph type="sldNum" idx="4"/>
          </p:nvPr>
        </p:nvSpPr>
        <p:spPr>
          <a:xfrm xmlns:a="http://schemas.openxmlformats.org/drawingml/2006/main">
            <a:off x="8877600" y="6314400"/>
            <a:ext cx="2700000" cy="3168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r">
              <a:buNone/>
              <a:defRPr sz="1000" baseline="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1973e641cb4ff5"/>
    <p:sldLayoutId xmlns:r="http://schemas.openxmlformats.org/officeDocument/2006/relationships" id="2147483650" r:id="R06dd0e19919a48eb"/>
    <p:sldLayoutId xmlns:r="http://schemas.openxmlformats.org/officeDocument/2006/relationships" id="2147483651" r:id="R137418e7dbf84b66"/>
    <p:sldLayoutId xmlns:r="http://schemas.openxmlformats.org/officeDocument/2006/relationships" id="2147483652" r:id="Rb66e6252add24584"/>
    <p:sldLayoutId xmlns:r="http://schemas.openxmlformats.org/officeDocument/2006/relationships" id="2147483653" r:id="R691fd230c36f4ead"/>
    <p:sldLayoutId xmlns:r="http://schemas.openxmlformats.org/officeDocument/2006/relationships" id="2147483654" r:id="R19eb643303b84f3f"/>
    <p:sldLayoutId xmlns:r="http://schemas.openxmlformats.org/officeDocument/2006/relationships" id="2147483655" r:id="R20f740a4e4af41ef"/>
    <p:sldLayoutId xmlns:r="http://schemas.openxmlformats.org/officeDocument/2006/relationships" id="2147483656" r:id="R96c9b693fb8c461a"/>
    <p:sldLayoutId xmlns:r="http://schemas.openxmlformats.org/officeDocument/2006/relationships" id="2147483657" r:id="R39ade11982384840"/>
    <p:sldLayoutId xmlns:r="http://schemas.openxmlformats.org/officeDocument/2006/relationships" id="2147483658" r:id="R75f019fc356d4e6a"/>
    <p:sldLayoutId xmlns:r="http://schemas.openxmlformats.org/officeDocument/2006/relationships" id="2147483659" r:id="R6a6af42705f54549"/>
  </p:sldLayoutIdLst>
  <p:txStyles>
    <p:titleStyle>
      <a:lvl1pPr xmlns:a="http://schemas.openxmlformats.org/drawingml/2006/main" algn="l" defTabSz="914400">
        <a:lnSpc>
          <a:spcPct val="100000"/>
        </a:lnSpc>
        <a:spcBef>
          <a:spcPct val="0"/>
        </a:spcBef>
        <a:buNone/>
        <a:defRPr sz="3600" b="0" u="none" kern="1200" cap="none" spc="300" baseline="0">
          <a:solidFill>
            <a:schemeClr val="tx1">
              <a:lumMod val="85000"/>
              <a:lumOff val="15000"/>
            </a:schemeClr>
          </a:solidFill>
          <a:latin typeface="+mj-lt"/>
          <a:ea typeface="+mj-lt"/>
          <a:cs typeface="+mj-lt"/>
        </a:defRPr>
      </a:lvl1pPr>
    </p:titleStyle>
    <p:bodyStyle>
      <a:lvl1pPr xmlns:a="http://schemas.openxmlformats.org/drawingml/2006/main" marL="228600" indent="-228600" algn="l" defTabSz="914400">
        <a:lnSpc>
          <a:spcPct val="130000"/>
        </a:lnSpc>
        <a:spcBef>
          <a:spcPts val="0"/>
        </a:spcBef>
        <a:spcAft>
          <a:spcPts val="1000"/>
        </a:spcAft>
        <a:buFont typeface="Arial"/>
        <a:buChar char="●"/>
        <a:defRPr sz="1800" u="none" kern="1200" cap="none" spc="150" baseline="0">
          <a:solidFill>
            <a:schemeClr val="tx1">
              <a:lumMod val="65000"/>
              <a:lumOff val="35000"/>
            </a:schemeClr>
          </a:solidFill>
          <a:latin typeface="+mn-lt"/>
          <a:ea typeface="+mn-lt"/>
          <a:cs typeface="+mn-lt"/>
        </a:defRPr>
      </a:lvl1pPr>
      <a:lvl2pPr xmlns:a="http://schemas.openxmlformats.org/drawingml/2006/main" marL="685800" indent="-228600" algn="l" defTabSz="914400">
        <a:lnSpc>
          <a:spcPct val="120000"/>
        </a:lnSpc>
        <a:spcBef>
          <a:spcPts val="0"/>
        </a:spcBef>
        <a:spcAft>
          <a:spcPts val="600"/>
        </a:spcAft>
        <a:buFont typeface="Arial"/>
        <a:buChar char="●"/>
        <a:tabLst>
          <a:tab pos="1609725" algn="l"/>
          <a:tab pos="1609725" algn="l"/>
          <a:tab pos="1609725" algn="l"/>
          <a:tab pos="1609725" algn="l"/>
        </a:tabLst>
        <a:defRPr sz="1600" u="none" kern="1200" cap="none" spc="150" baseline="0">
          <a:solidFill>
            <a:schemeClr val="tx1">
              <a:lumMod val="65000"/>
              <a:lumOff val="35000"/>
            </a:schemeClr>
          </a:solidFill>
          <a:latin typeface="+mn-lt"/>
          <a:ea typeface="+mn-lt"/>
          <a:cs typeface="+mn-lt"/>
        </a:defRPr>
      </a:lvl2pPr>
      <a:lvl3pPr xmlns:a="http://schemas.openxmlformats.org/drawingml/2006/main" marL="1143000" indent="-228600" algn="l" defTabSz="914400">
        <a:lnSpc>
          <a:spcPct val="120000"/>
        </a:lnSpc>
        <a:spcBef>
          <a:spcPts val="0"/>
        </a:spcBef>
        <a:spcAft>
          <a:spcPts val="600"/>
        </a:spcAft>
        <a:buFont typeface="Arial"/>
        <a:buChar char="●"/>
        <a:defRPr sz="1600" u="none" kern="1200" cap="none" spc="150" baseline="0">
          <a:solidFill>
            <a:schemeClr val="tx1">
              <a:lumMod val="65000"/>
              <a:lumOff val="35000"/>
            </a:schemeClr>
          </a:solidFill>
          <a:latin typeface="+mn-lt"/>
          <a:ea typeface="+mn-lt"/>
          <a:cs typeface="+mn-lt"/>
        </a:defRPr>
      </a:lvl3pPr>
      <a:lvl4pPr xmlns:a="http://schemas.openxmlformats.org/drawingml/2006/main" marL="1600200" indent="-228600" algn="l" defTabSz="914400">
        <a:lnSpc>
          <a:spcPct val="120000"/>
        </a:lnSpc>
        <a:spcBef>
          <a:spcPts val="0"/>
        </a:spcBef>
        <a:spcAft>
          <a:spcPts val="300"/>
        </a:spcAft>
        <a:buFont typeface="Wingdings"/>
        <a:buChar char=""/>
        <a:defRPr sz="1400" u="none" kern="1200" cap="none" spc="150" baseline="0">
          <a:solidFill>
            <a:schemeClr val="tx1">
              <a:lumMod val="65000"/>
              <a:lumOff val="35000"/>
            </a:schemeClr>
          </a:solidFill>
          <a:latin typeface="+mn-lt"/>
          <a:ea typeface="+mn-lt"/>
          <a:cs typeface="+mn-lt"/>
        </a:defRPr>
      </a:lvl4pPr>
      <a:lvl5pPr xmlns:a="http://schemas.openxmlformats.org/drawingml/2006/main" marL="2057400" indent="-228600" algn="l" defTabSz="914400">
        <a:lnSpc>
          <a:spcPct val="120000"/>
        </a:lnSpc>
        <a:spcBef>
          <a:spcPts val="0"/>
        </a:spcBef>
        <a:spcAft>
          <a:spcPts val="300"/>
        </a:spcAft>
        <a:buFont typeface="Arial"/>
        <a:buChar char="•"/>
        <a:defRPr sz="1400" u="none" kern="1200" cap="none" spc="150" baseline="0">
          <a:solidFill>
            <a:schemeClr val="tx1">
              <a:lumMod val="65000"/>
              <a:lumOff val="35000"/>
            </a:schemeClr>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1d58a6c3a44d54" /><Relationship Type="http://schemas.openxmlformats.org/officeDocument/2006/relationships/notesSlide" Target="/ppt/notesSlides/notesSlide1.xml" Id="R234a1f8849104f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c12de65ff6f4f43" /><Relationship Type="http://schemas.openxmlformats.org/officeDocument/2006/relationships/notesSlide" Target="/ppt/notesSlides/notesSlide2.xml" Id="Reeb019183f4240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31e889d176b4eec" /><Relationship Type="http://schemas.openxmlformats.org/officeDocument/2006/relationships/notesSlide" Target="/ppt/notesSlides/notesSlide3.xml" Id="Rb8aadbb98a8940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94f11f44d7e4f82" /><Relationship Type="http://schemas.openxmlformats.org/officeDocument/2006/relationships/notesSlide" Target="/ppt/notesSlides/notesSlide4.xml" Id="R5edd972def7446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b1de7d8cab0444d" /><Relationship Type="http://schemas.openxmlformats.org/officeDocument/2006/relationships/notesSlide" Target="/ppt/notesSlides/notesSlide5.xml" Id="R5b7b9cb0367d4d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d032902bb03427d" /><Relationship Type="http://schemas.openxmlformats.org/officeDocument/2006/relationships/notesSlide" Target="/ppt/notesSlides/notesSlide6.xml" Id="Rc96ce23d36d942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d0562ee22e24310" /><Relationship Type="http://schemas.openxmlformats.org/officeDocument/2006/relationships/notesSlide" Target="/ppt/notesSlides/notesSlide7.xml" Id="R8f66790b268044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4bb30233c094990" /><Relationship Type="http://schemas.openxmlformats.org/officeDocument/2006/relationships/notesSlide" Target="/ppt/notesSlides/notesSlide8.xml" Id="Rc464caba594246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3a000ff9ac7442b" /><Relationship Type="http://schemas.openxmlformats.org/officeDocument/2006/relationships/notesSlide" Target="/ppt/notesSlides/notesSlide9.xml" Id="Re9e4c7fa76b949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0dc1ce84aab4315" /><Relationship Type="http://schemas.openxmlformats.org/officeDocument/2006/relationships/notesSlide" Target="/ppt/notesSlides/notesSlide10.xml" Id="Rf3dcab27a1f241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62392ca29ab431a" /><Relationship Type="http://schemas.openxmlformats.org/officeDocument/2006/relationships/notesSlide" Target="/ppt/notesSlides/notesSlide11.xml" Id="R0fa99f7c935242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c91a0e7ee514443" /><Relationship Type="http://schemas.openxmlformats.org/officeDocument/2006/relationships/notesSlide" Target="/ppt/notesSlides/notesSlide12.xml" Id="R71ade3c6f53d4e7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82f99d5d8c142dd" /><Relationship Type="http://schemas.openxmlformats.org/officeDocument/2006/relationships/notesSlide" Target="/ppt/notesSlides/notesSlide13.xml" Id="R58b8a9ed2b3545a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d115b6ce7bce4485" /><Relationship Type="http://schemas.openxmlformats.org/officeDocument/2006/relationships/notesSlide" Target="/ppt/notesSlides/notesSlide14.xml" Id="R41f3e12905f645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c3d499d991134a5b" /><Relationship Type="http://schemas.openxmlformats.org/officeDocument/2006/relationships/notesSlide" Target="/ppt/notesSlides/notesSlide15.xml" Id="R5ba2a724d1ab489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ccb1b7ccb7c4b9f" /><Relationship Type="http://schemas.openxmlformats.org/officeDocument/2006/relationships/notesSlide" Target="/ppt/notesSlides/notesSlide16.xml" Id="Rfd1ea2290f2342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c5a17a13a3484aa2" /><Relationship Type="http://schemas.openxmlformats.org/officeDocument/2006/relationships/notesSlide" Target="/ppt/notesSlides/notesSlide17.xml" Id="Rc2c10b24a5544e1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aaea69e15aae4a31" /><Relationship Type="http://schemas.openxmlformats.org/officeDocument/2006/relationships/image" Target="/ppt/media/image.png" Id="R3abd17b54cec4e39" /><Relationship Type="http://schemas.openxmlformats.org/officeDocument/2006/relationships/notesSlide" Target="/ppt/notesSlides/notesSlide18.xml" Id="Redcac0a803a946c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3fe5cf0bf63f4c62" /><Relationship Type="http://schemas.openxmlformats.org/officeDocument/2006/relationships/notesSlide" Target="/ppt/notesSlides/notesSlide19.xml" Id="R030ce40ef8c148f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2f4259d455d9479b" /><Relationship Type="http://schemas.openxmlformats.org/officeDocument/2006/relationships/notesSlide" Target="/ppt/notesSlides/notesSlide20.xml" Id="R975fa47859954af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86572077da7e4d39" /><Relationship Type="http://schemas.openxmlformats.org/officeDocument/2006/relationships/image" Target="/ppt/media/image2.png" Id="Re6a3967928374907" /><Relationship Type="http://schemas.openxmlformats.org/officeDocument/2006/relationships/notesSlide" Target="/ppt/notesSlides/notesSlide21.xml" Id="R661a68a2bb88490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ece0cac419314588" /><Relationship Type="http://schemas.openxmlformats.org/officeDocument/2006/relationships/notesSlide" Target="/ppt/notesSlides/notesSlide22.xml" Id="R7f973276dfe74e2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63ae1bf3d478443e" /><Relationship Type="http://schemas.openxmlformats.org/officeDocument/2006/relationships/notesSlide" Target="/ppt/notesSlides/notesSlide23.xml" Id="R68ab5e66f0b9496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a1be90345e66404d" /><Relationship Type="http://schemas.openxmlformats.org/officeDocument/2006/relationships/notesSlide" Target="/ppt/notesSlides/notesSlide24.xml" Id="Rd3604b97a0824ed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4d260e9ed06448b9" /><Relationship Type="http://schemas.openxmlformats.org/officeDocument/2006/relationships/notesSlide" Target="/ppt/notesSlides/notesSlide25.xml" Id="Rdc1b064382dd457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0b40a83a2066497c" /><Relationship Type="http://schemas.openxmlformats.org/officeDocument/2006/relationships/notesSlide" Target="/ppt/notesSlides/notesSlide26.xml" Id="R65f5e896c5b1450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391c623c801f42e0" /><Relationship Type="http://schemas.openxmlformats.org/officeDocument/2006/relationships/notesSlide" Target="/ppt/notesSlides/notesSlide27.xml" Id="R22e3ef75d53640f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cf8932f73e0b4bd4" /><Relationship Type="http://schemas.openxmlformats.org/officeDocument/2006/relationships/notesSlide" Target="/ppt/notesSlides/notesSlide28.xml" Id="Rff060f62778f4b0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7596633c7e6f4059" /><Relationship Type="http://schemas.openxmlformats.org/officeDocument/2006/relationships/notesSlide" Target="/ppt/notesSlides/notesSlide29.xml" Id="R7b6fe749171b4b9e"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CC93A59-C95E-4315-AE26-B591781B93E5}"/>
              </a:ext>
            </a:extLst>
          </p:cNvPr>
          <p:cNvSpPr>
            <a:spLocks xmlns:a="http://schemas.openxmlformats.org/drawingml/2006/main" noGrp="1"/>
          </p:cNvSpPr>
          <p:nvPr>
            <p:ph type="ctrTitle" idx="0"/>
          </p:nvPr>
        </p:nvSpPr>
        <p:spPr>
          <a:xfrm xmlns:a="http://schemas.openxmlformats.org/drawingml/2006/main">
            <a:off x="781050" y="2076450"/>
            <a:ext cx="10572750" cy="2714625"/>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CHAPTER 1</a:t>
            </a:r>
          </a:p>
          <a:p xmlns:a="http://schemas.openxmlformats.org/drawingml/2006/main">
            <a:pPr>
              <a:buNone/>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How Does AI Reshape Information Acquisition and Belief Formation in Human Groups?</a:t>
            </a:r>
          </a:p>
        </p:txBody>
      </p:sp>
    </p:spTree>
    <p:extLst>
      <p:ext uri="{BB962C8B-B14F-4D97-AF65-F5344CB8AC3E}">
        <p14:creationId xmlns:p14="http://schemas.microsoft.com/office/powerpoint/2010/main" val="223649363"/>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D4912DD-42C3-4F88-A9D8-E65FFF6FB488}"/>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Research Background</a:t>
            </a:r>
          </a:p>
        </p:txBody>
      </p:sp>
      <p:sp>
        <p:nvSpPr>
          <p:cNvPr id="3" name="内容占位符 2">
            <a:extLst xmlns:a="http://schemas.openxmlformats.org/drawingml/2006/main">
              <a:ext uri="{FF2B5EF4-FFF2-40B4-BE49-F238E27FC236}">
                <a16:creationId xmlns:a16="http://schemas.microsoft.com/office/drawing/2014/main" id="{AED94E40-1741-45DF-8368-F5A9FB8EB229}"/>
              </a:ext>
            </a:extLst>
          </p:cNvPr>
          <p:cNvSpPr>
            <a:spLocks xmlns:a="http://schemas.openxmlformats.org/drawingml/2006/main" noGrp="1"/>
          </p:cNvSpPr>
          <p:nvPr>
            <p:ph idx="1"/>
          </p:nvPr>
        </p:nvSpPr>
        <p:spPr>
          <a:xfrm xmlns:a="http://schemas.openxmlformats.org/drawingml/2006/main">
            <a:off x="685800" y="1314450"/>
            <a:ext cx="10820400" cy="49530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Search engines typically present users with multiple sources, links, and evidentiary cues.</a:t>
            </a: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Generative AI increasingly organizes information as “direct answer → integrated explanation → follow-up questions.”</a:t>
            </a: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Research problem: At the group level, if many members rely on the same model, similar training data, the same retrieval system, and similar answer-generation logic, their seemingly independent judgments may contain the same omissions, narrative frames, and errors. The number of judgments continues to grow, but the number of independent information samples does not grow proportionally.</a:t>
            </a: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Real-world examples include AI search assistants embedded in Weibo and WeChat.</a:t>
            </a:r>
          </a:p>
        </p:txBody>
      </p:sp>
    </p:spTree>
    <p:extLst>
      <p:ext uri="{BB962C8B-B14F-4D97-AF65-F5344CB8AC3E}">
        <p14:creationId xmlns:p14="http://schemas.microsoft.com/office/powerpoint/2010/main" val="220598989"/>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D08F085-8303-4593-89C1-E0B496F06179}"/>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Research Background</a:t>
            </a:r>
          </a:p>
        </p:txBody>
      </p:sp>
      <p:sp>
        <p:nvSpPr>
          <p:cNvPr id="3" name="内容占位符 2">
            <a:extLst xmlns:a="http://schemas.openxmlformats.org/drawingml/2006/main">
              <a:ext uri="{FF2B5EF4-FFF2-40B4-BE49-F238E27FC236}">
                <a16:creationId xmlns:a16="http://schemas.microsoft.com/office/drawing/2014/main" id="{C8D8E6A8-FE10-4A84-8E23-C7D3DE2E38AE}"/>
              </a:ext>
            </a:extLst>
          </p:cNvPr>
          <p:cNvSpPr>
            <a:spLocks xmlns:a="http://schemas.openxmlformats.org/drawingml/2006/main" noGrp="1"/>
          </p:cNvSpPr>
          <p:nvPr>
            <p:ph idx="1"/>
          </p:nvPr>
        </p:nvSpPr>
        <p:spPr>
          <a:xfrm xmlns:a="http://schemas.openxmlformats.org/drawingml/2006/main">
            <a:off x="685800" y="1314450"/>
            <a:ext cx="10820400" cy="49530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390">
                <a:solidFill>
                  <a:srgbClr val="22313F"/>
                </a:solidFill>
                <a:latin typeface="Aptos"/>
                <a:ea typeface="Aptos"/>
                <a:cs typeface="Aptos"/>
              </a:defRPr>
            </a:pPr>
            <a:r>
              <a:rPr sz="1390" b="1">
                <a:solidFill>
                  <a:srgbClr val="22313F"/>
                </a:solidFill>
                <a:latin typeface="Aptos"/>
                <a:ea typeface="Aptos"/>
                <a:cs typeface="Aptos"/>
              </a:rPr>
              <a:t>DIRECT EVIDENCE ON AI-ASSISTED WISDOM OF CROWDS</a:t>
            </a:r>
          </a:p>
          <a:p xmlns:a="http://schemas.openxmlformats.org/drawingml/2006/main">
            <a:pPr marL="0" indent="0">
              <a:buNone/>
              <a:defRPr sz="1390">
                <a:solidFill>
                  <a:srgbClr val="22313F"/>
                </a:solidFill>
                <a:latin typeface="Aptos"/>
                <a:ea typeface="Aptos"/>
                <a:cs typeface="Aptos"/>
              </a:defRPr>
            </a:pPr>
            <a:r>
              <a:rPr sz="1390">
                <a:solidFill>
                  <a:srgbClr val="22313F"/>
                </a:solidFill>
                <a:latin typeface="Aptos"/>
                <a:ea typeface="Aptos"/>
                <a:cs typeface="Aptos"/>
              </a:rPr>
              <a:t>• Pal, Palley &amp; Satopää (2026), “Enhancing Crowd Accuracy in AI-Assisted Judgmental Forecasting.” The same AI advice is shared information that can be counted repeatedly and overrepresented when judgments are averaged. Across three experiments (N = 3,188), the authors propose correcting shared AI signals with participants’ pre-AI judgments.</a:t>
            </a:r>
          </a:p>
          <a:p xmlns:a="http://schemas.openxmlformats.org/drawingml/2006/main">
            <a:pPr marL="0" indent="0">
              <a:buNone/>
              <a:defRPr sz="1390">
                <a:solidFill>
                  <a:srgbClr val="22313F"/>
                </a:solidFill>
                <a:latin typeface="Aptos"/>
                <a:ea typeface="Aptos"/>
                <a:cs typeface="Aptos"/>
              </a:defRPr>
            </a:pPr>
            <a:r>
              <a:rPr sz="1390">
                <a:solidFill>
                  <a:srgbClr val="22313F"/>
                </a:solidFill>
                <a:latin typeface="Aptos"/>
                <a:ea typeface="Aptos"/>
                <a:cs typeface="Aptos"/>
              </a:rPr>
              <a:t>• Schoenegger et al. (2024), “AI-Augmented Predictions: LLM Assistants Improve Human Forecasting Accuracy.” Among 991 participants answering six forecasting questions, access to an assigned LLM improved individual accuracy by 24%–28%. The study also tests whether lower judgment diversity harms the wisdom of crowds.</a:t>
            </a:r>
          </a:p>
          <a:p xmlns:a="http://schemas.openxmlformats.org/drawingml/2006/main">
            <a:pPr marL="0" indent="0">
              <a:buNone/>
              <a:defRPr sz="1390">
                <a:solidFill>
                  <a:srgbClr val="22313F"/>
                </a:solidFill>
                <a:latin typeface="Aptos"/>
                <a:ea typeface="Aptos"/>
                <a:cs typeface="Aptos"/>
              </a:defRPr>
            </a:pPr>
            <a:r>
              <a:rPr sz="1390" b="1">
                <a:solidFill>
                  <a:srgbClr val="22313F"/>
                </a:solidFill>
                <a:latin typeface="Aptos"/>
                <a:ea typeface="Aptos"/>
                <a:cs typeface="Aptos"/>
              </a:rPr>
              <a:t>BOUNDARY</a:t>
            </a:r>
          </a:p>
          <a:p xmlns:a="http://schemas.openxmlformats.org/drawingml/2006/main">
            <a:pPr marL="0" indent="0">
              <a:buNone/>
              <a:defRPr sz="1390">
                <a:solidFill>
                  <a:srgbClr val="22313F"/>
                </a:solidFill>
                <a:latin typeface="Aptos"/>
                <a:ea typeface="Aptos"/>
                <a:cs typeface="Aptos"/>
              </a:defRPr>
            </a:pPr>
            <a:r>
              <a:rPr sz="1390">
                <a:solidFill>
                  <a:srgbClr val="22313F"/>
                </a:solidFill>
                <a:latin typeface="Aptos"/>
                <a:ea typeface="Aptos"/>
                <a:cs typeface="Aptos"/>
              </a:rPr>
              <a:t>AI may have only a small average effect on each member, yet a shared model can expose members to similar evidence, frames, and arguments. This raises error correlation and weakens collective intelligence based on independent judgment. This boundary is consistent with Artificial Hivemind: repeated outputs from the same model and outputs across models were homogeneous, but the study measured model responses—not human political attitudes or organizational decisions.</a:t>
            </a:r>
          </a:p>
        </p:txBody>
      </p:sp>
    </p:spTree>
    <p:extLst>
      <p:ext uri="{BB962C8B-B14F-4D97-AF65-F5344CB8AC3E}">
        <p14:creationId xmlns:p14="http://schemas.microsoft.com/office/powerpoint/2010/main" val="7531007"/>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07F87E0-2B8E-4C69-886C-0911590FF71B}"/>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Research Gaps</a:t>
            </a:r>
          </a:p>
        </p:txBody>
      </p:sp>
      <p:sp>
        <p:nvSpPr>
          <p:cNvPr id="3" name="内容占位符 2">
            <a:extLst xmlns:a="http://schemas.openxmlformats.org/drawingml/2006/main">
              <a:ext uri="{FF2B5EF4-FFF2-40B4-BE49-F238E27FC236}">
                <a16:creationId xmlns:a16="http://schemas.microsoft.com/office/drawing/2014/main" id="{D1697754-C511-4BDF-9561-ED525E331018}"/>
              </a:ext>
            </a:extLst>
          </p:cNvPr>
          <p:cNvSpPr>
            <a:spLocks xmlns:a="http://schemas.openxmlformats.org/drawingml/2006/main" noGrp="1"/>
          </p:cNvSpPr>
          <p:nvPr>
            <p:ph idx="1"/>
          </p:nvPr>
        </p:nvSpPr>
        <p:spPr>
          <a:xfrm xmlns:a="http://schemas.openxmlformats.org/drawingml/2006/main">
            <a:off x="685800" y="1314450"/>
            <a:ext cx="5200650" cy="4953000"/>
          </a:xfrm>
        </p:spPr>
        <p:txBody>
          <a:bodyPr xmlns:a="http://schemas.openxmlformats.org/drawingml/2006/main" wrap="square" lIns="0" tIns="0" rIns="0" bIns="0" anchor="t">
            <a:normAutofit fontScale="96629" lnSpcReduction="20000"/>
          </a:bodyPr>
          <a:lstStyle xmlns:a="http://schemas.openxmlformats.org/drawingml/2006/main"/>
          <a:p xmlns:a="http://schemas.openxmlformats.org/drawingml/2006/main">
            <a:pPr marL="0" indent="0">
              <a:buNone/>
              <a:defRPr sz="1425">
                <a:solidFill>
                  <a:srgbClr val="22313F"/>
                </a:solidFill>
                <a:latin typeface="Aptos"/>
                <a:ea typeface="Aptos"/>
                <a:cs typeface="Aptos"/>
              </a:defRPr>
            </a:pPr>
            <a:r>
              <a:rPr sz="1425" b="1">
                <a:solidFill>
                  <a:srgbClr val="22313F"/>
                </a:solidFill>
                <a:latin typeface="Aptos"/>
                <a:ea typeface="Aptos"/>
                <a:cs typeface="Aptos"/>
              </a:rPr>
              <a:t>GAP 1 — Existing work largely stops at the model-output layer</a:t>
            </a: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Artificial Hivemind and related error studies show that LLM responses may be similar, but not how this similarity becomes human information selection, belief updating, and group-level judgment.</a:t>
            </a:r>
          </a:p>
          <a:p xmlns:a="http://schemas.openxmlformats.org/drawingml/2006/main">
            <a:pPr marL="0" indent="0">
              <a:buNone/>
              <a:defRPr>
                <a:latin typeface="Aptos"/>
                <a:ea typeface="Aptos"/>
                <a:cs typeface="Aptos"/>
              </a:defRPr>
            </a:pPr>
            <a:r>
              <a:rPr sz="1425" b="1">
                <a:solidFill>
                  <a:srgbClr val="22313F"/>
                </a:solidFill>
                <a:latin typeface="Aptos"/>
                <a:ea typeface="Aptos"/>
                <a:cs typeface="Aptos"/>
              </a:rPr>
              <a:t>GAP 2 — Individual and group accuracy are often conflated</a:t>
            </a: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Studies commonly ask whether AI improves individual judgment, but rarely whether higher judgment correlation reduces aggregation gains even when average individual quality is unchanged or improved.</a:t>
            </a:r>
          </a:p>
          <a:p xmlns:a="http://schemas.openxmlformats.org/drawingml/2006/main">
            <a:pPr marL="0" indent="0">
              <a:buNone/>
              <a:defRPr sz="1425">
                <a:solidFill>
                  <a:srgbClr val="22313F"/>
                </a:solidFill>
                <a:latin typeface="Aptos"/>
                <a:ea typeface="Aptos"/>
                <a:cs typeface="Aptos"/>
              </a:defRPr>
            </a:pPr>
            <a:r>
              <a:rPr sz="1425" b="1">
                <a:solidFill>
                  <a:srgbClr val="22313F"/>
                </a:solidFill>
                <a:latin typeface="Aptos"/>
                <a:ea typeface="Aptos"/>
                <a:cs typeface="Aptos"/>
              </a:rPr>
              <a:t>GAP 3 — Traditional opinion dynamics lacks an interactive generative source</a:t>
            </a: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Traditional models focus on interpersonal averaging, imitation, and selective exposure. An LLM combines a shared model prior with user-conditioned output: it may repeat similar content to everyone or generate different content by user position. This shared-base/personalized-output structure remains under-modeled.</a:t>
            </a:r>
          </a:p>
        </p:txBody>
      </p:sp>
      <p:sp>
        <p:nvSpPr>
          <p:cNvPr id="4" name="research-gaps-right-column">
            <a:extLst xmlns:a="http://schemas.openxmlformats.org/drawingml/2006/main">
              <a:ext uri="{FF2B5EF4-FFF2-40B4-BE49-F238E27FC236}">
                <a16:creationId xmlns:a16="http://schemas.microsoft.com/office/drawing/2014/main" id="{3AF27F41-FB2F-4E88-841E-C85FEF66404B}"/>
              </a:ext>
            </a:extLst>
          </p:cNvPr>
          <p:cNvSpPr>
            <a:spLocks xmlns:a="http://schemas.openxmlformats.org/drawingml/2006/main" noGrp="1"/>
          </p:cNvSpPr>
          <p:nvPr/>
        </p:nvSpPr>
        <p:spPr>
          <a:xfrm xmlns:a="http://schemas.openxmlformats.org/drawingml/2006/main">
            <a:off x="6305550" y="1314450"/>
            <a:ext cx="520065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p>
          <a:p xmlns:a="http://schemas.openxmlformats.org/drawingml/2006/main">
            <a:pPr marL="0" indent="0">
              <a:buNone/>
              <a:defRPr sz="1425">
                <a:solidFill>
                  <a:srgbClr val="22313F"/>
                </a:solidFill>
                <a:latin typeface="Aptos"/>
                <a:ea typeface="Aptos"/>
                <a:cs typeface="Aptos"/>
              </a:defRPr>
            </a:pPr>
            <a:r>
              <a:rPr sz="1425" b="1">
                <a:solidFill>
                  <a:srgbClr val="22313F"/>
                </a:solidFill>
                <a:latin typeface="Aptos"/>
                <a:ea typeface="Aptos"/>
                <a:cs typeface="Aptos"/>
              </a:rPr>
              <a:t>GAP </a:t>
            </a:r>
            <a:r>
              <a:rPr sz="1425" b="1">
                <a:solidFill>
                  <a:srgbClr val="22313F"/>
                </a:solidFill>
                <a:latin typeface="Aptos"/>
                <a:ea typeface="Aptos"/>
                <a:cs typeface="Aptos"/>
              </a:rPr>
              <a:t>4</a:t>
            </a:r>
            <a:r>
              <a:rPr sz="1425" b="1">
                <a:solidFill>
                  <a:srgbClr val="22313F"/>
                </a:solidFill>
                <a:latin typeface="Aptos"/>
                <a:ea typeface="Aptos"/>
                <a:cs typeface="Aptos"/>
              </a:rPr>
              <a:t> — A testable micro–macro bridge is missing</a:t>
            </a: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Real-world experiments are usually too small to observe the long-run system effects of thousands or tens of thousands of people using a shared LLM.</a:t>
            </a:r>
          </a:p>
        </p:txBody>
      </p:sp>
    </p:spTree>
    <p:extLst>
      <p:ext uri="{BB962C8B-B14F-4D97-AF65-F5344CB8AC3E}">
        <p14:creationId xmlns:p14="http://schemas.microsoft.com/office/powerpoint/2010/main" val="2025180650"/>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367FC16-6D0C-4667-B637-E318B709BA8C}"/>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Theoretical Framework</a:t>
            </a:r>
          </a:p>
        </p:txBody>
      </p:sp>
      <p:sp>
        <p:nvSpPr>
          <p:cNvPr id="3" name="内容占位符 2">
            <a:extLst xmlns:a="http://schemas.openxmlformats.org/drawingml/2006/main">
              <a:ext uri="{FF2B5EF4-FFF2-40B4-BE49-F238E27FC236}">
                <a16:creationId xmlns:a16="http://schemas.microsoft.com/office/drawing/2014/main" id="{0FDE3238-8F2B-45E1-942D-CF77541ACA62}"/>
              </a:ext>
            </a:extLst>
          </p:cNvPr>
          <p:cNvSpPr>
            <a:spLocks xmlns:a="http://schemas.openxmlformats.org/drawingml/2006/main" noGrp="1"/>
          </p:cNvSpPr>
          <p:nvPr>
            <p:ph idx="1"/>
          </p:nvPr>
        </p:nvSpPr>
        <p:spPr>
          <a:xfrm xmlns:a="http://schemas.openxmlformats.org/drawingml/2006/main">
            <a:off x="685800" y="1314450"/>
            <a:ext cx="10820400" cy="4953000"/>
          </a:xfrm>
        </p:spPr>
        <p:txBody>
          <a:bodyPr xmlns:a="http://schemas.openxmlformats.org/drawingml/2006/main" wrap="square" lIns="0" tIns="0" rIns="0" bIns="0" anchor="t">
            <a:normAutofit fontScale="88208" lnSpcReduction="20000"/>
          </a:bodyPr>
          <a:lstStyle xmlns:a="http://schemas.openxmlformats.org/drawingml/2006/main"/>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WISDOM OF CROWDS AND THE DIVERSITY PREDICTION THEOREM</a:t>
            </a:r>
          </a:p>
          <a:p xmlns:a="http://schemas.openxmlformats.org/drawingml/2006/main">
            <a:pPr marL="0" indent="0">
              <a:buNone/>
            </a:pP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Wisdom of crowds (Surowiecki, 2004)</a:t>
            </a: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Collective judgment outperforms individual judgment under three necessary conditions: diverse views, independent decisions, and dispersed private information. A common AI reference signal directly weakens independence and diversity.</a:t>
            </a:r>
          </a:p>
          <a:p xmlns:a="http://schemas.openxmlformats.org/drawingml/2006/main">
            <a:pPr marL="0" indent="0">
              <a:buNone/>
            </a:pP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Diversity prediction theorem (Page, 2007)</a:t>
            </a: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Group error = average individual error − predictive diversity.</a:t>
            </a: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AI can improve individual accuracy while reducing predictive diversity. These forces work in opposite directions. As group size grows, the weight of diversity rises; eventually, the loss of diversity may outweigh the gain in individual accuracy.</a:t>
            </a:r>
          </a:p>
          <a:p xmlns:a="http://schemas.openxmlformats.org/drawingml/2006/main">
            <a:pPr marL="0" indent="0">
              <a:buNone/>
            </a:pP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Social influence and diversity (Lorenz et al., 2011)</a:t>
            </a: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A common external signal makes individual judgments converge and can weaken group forecasting. This study treats uniform AI advice as a global external signal and tests whether it actually reduces collective predictive performance.</a:t>
            </a:r>
          </a:p>
        </p:txBody>
      </p:sp>
    </p:spTree>
    <p:extLst>
      <p:ext uri="{BB962C8B-B14F-4D97-AF65-F5344CB8AC3E}">
        <p14:creationId xmlns:p14="http://schemas.microsoft.com/office/powerpoint/2010/main" val="896488090"/>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886D9EB-7FA6-4575-BAB5-EC9D504F151E}"/>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Research Question: Do LLMs Undermine the Wisdom of Crowds?</a:t>
            </a:r>
          </a:p>
        </p:txBody>
      </p:sp>
      <p:sp>
        <p:nvSpPr>
          <p:cNvPr id="3" name="内容占位符 2">
            <a:extLst xmlns:a="http://schemas.openxmlformats.org/drawingml/2006/main">
              <a:ext uri="{FF2B5EF4-FFF2-40B4-BE49-F238E27FC236}">
                <a16:creationId xmlns:a16="http://schemas.microsoft.com/office/drawing/2014/main" id="{46F67D5E-7019-4BAD-BFA2-607E110DAB33}"/>
              </a:ext>
            </a:extLst>
          </p:cNvPr>
          <p:cNvSpPr>
            <a:spLocks xmlns:a="http://schemas.openxmlformats.org/drawingml/2006/main" noGrp="1"/>
          </p:cNvSpPr>
          <p:nvPr>
            <p:ph idx="1"/>
          </p:nvPr>
        </p:nvSpPr>
        <p:spPr>
          <a:xfrm xmlns:a="http://schemas.openxmlformats.org/drawingml/2006/main">
            <a:off x="685800" y="1314450"/>
            <a:ext cx="10820400" cy="49530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465">
                <a:solidFill>
                  <a:srgbClr val="22313F"/>
                </a:solidFill>
                <a:latin typeface="Aptos"/>
                <a:ea typeface="Aptos"/>
                <a:cs typeface="Aptos"/>
              </a:defRPr>
            </a:pPr>
            <a:r>
              <a:rPr sz="1465">
                <a:solidFill>
                  <a:srgbClr val="102A43"/>
                </a:solidFill>
                <a:latin typeface="Aptos"/>
                <a:ea typeface="Aptos"/>
                <a:cs typeface="Aptos"/>
              </a:rPr>
              <a:t>When individuals with heterogeneous initial positions independently and repeatedly interact with an LLM about the same public-policy issue, how does output homogeneity change the correlation structure of group judgment?</a:t>
            </a:r>
          </a:p>
          <a:p xmlns:a="http://schemas.openxmlformats.org/drawingml/2006/main">
            <a:pPr marL="0" indent="0">
              <a:buNone/>
            </a:pPr>
          </a:p>
          <a:p xmlns:a="http://schemas.openxmlformats.org/drawingml/2006/main">
            <a:pPr marL="0" indent="0">
              <a:buNone/>
              <a:defRPr sz="1465">
                <a:solidFill>
                  <a:srgbClr val="22313F"/>
                </a:solidFill>
                <a:latin typeface="Aptos"/>
                <a:ea typeface="Aptos"/>
                <a:cs typeface="Aptos"/>
              </a:defRPr>
            </a:pPr>
            <a:r>
              <a:rPr sz="1465">
                <a:solidFill>
                  <a:srgbClr val="102A43"/>
                </a:solidFill>
                <a:latin typeface="Aptos"/>
                <a:ea typeface="Aptos"/>
                <a:cs typeface="Aptos"/>
              </a:rPr>
              <a:t>“Correlation structure” includes three possible outcomes:</a:t>
            </a:r>
          </a:p>
          <a:p xmlns:a="http://schemas.openxmlformats.org/drawingml/2006/main">
            <a:pPr marL="0" indent="0">
              <a:buNone/>
              <a:defRPr sz="1465">
                <a:solidFill>
                  <a:srgbClr val="22313F"/>
                </a:solidFill>
                <a:latin typeface="Aptos"/>
                <a:ea typeface="Aptos"/>
                <a:cs typeface="Aptos"/>
              </a:defRPr>
            </a:pPr>
            <a:r>
              <a:rPr sz="1465">
                <a:solidFill>
                  <a:srgbClr val="102A43"/>
                </a:solidFill>
                <a:latin typeface="Aptos"/>
                <a:ea typeface="Aptos"/>
                <a:cs typeface="Aptos"/>
              </a:rPr>
              <a:t>• convergence in information samples;</a:t>
            </a:r>
          </a:p>
          <a:p xmlns:a="http://schemas.openxmlformats.org/drawingml/2006/main">
            <a:pPr marL="0" indent="0">
              <a:buNone/>
              <a:defRPr sz="1465">
                <a:solidFill>
                  <a:srgbClr val="22313F"/>
                </a:solidFill>
                <a:latin typeface="Aptos"/>
                <a:ea typeface="Aptos"/>
                <a:cs typeface="Aptos"/>
              </a:defRPr>
            </a:pPr>
            <a:r>
              <a:rPr sz="1465">
                <a:solidFill>
                  <a:srgbClr val="102A43"/>
                </a:solidFill>
                <a:latin typeface="Aptos"/>
                <a:ea typeface="Aptos"/>
                <a:cs typeface="Aptos"/>
              </a:rPr>
              <a:t>• higher correlation in judgment errors;</a:t>
            </a:r>
          </a:p>
          <a:p xmlns:a="http://schemas.openxmlformats.org/drawingml/2006/main">
            <a:pPr marL="0" indent="0">
              <a:buNone/>
              <a:defRPr sz="1465">
                <a:solidFill>
                  <a:srgbClr val="22313F"/>
                </a:solidFill>
                <a:latin typeface="Aptos"/>
                <a:ea typeface="Aptos"/>
                <a:cs typeface="Aptos"/>
              </a:defRPr>
            </a:pPr>
            <a:r>
              <a:rPr sz="1465">
                <a:solidFill>
                  <a:srgbClr val="102A43"/>
                </a:solidFill>
                <a:latin typeface="Aptos"/>
                <a:ea typeface="Aptos"/>
                <a:cs typeface="Aptos"/>
              </a:rPr>
              <a:t>• convergence, persistent division, or further polarization of opinions.</a:t>
            </a:r>
          </a:p>
          <a:p xmlns:a="http://schemas.openxmlformats.org/drawingml/2006/main">
            <a:pPr marL="0" indent="0">
              <a:buNone/>
            </a:pPr>
          </a:p>
          <a:p xmlns:a="http://schemas.openxmlformats.org/drawingml/2006/main">
            <a:pPr marL="0" indent="0">
              <a:buNone/>
              <a:defRPr sz="1465">
                <a:solidFill>
                  <a:srgbClr val="22313F"/>
                </a:solidFill>
                <a:latin typeface="Aptos"/>
                <a:ea typeface="Aptos"/>
                <a:cs typeface="Aptos"/>
              </a:defRPr>
            </a:pPr>
            <a:r>
              <a:rPr sz="1465">
                <a:solidFill>
                  <a:srgbClr val="102A43"/>
                </a:solidFill>
                <a:latin typeface="Aptos"/>
                <a:ea typeface="Aptos"/>
                <a:cs typeface="Aptos"/>
              </a:rPr>
              <a:t>When information quality and average individual accuracy are broadly comparable, does a shared LLM increase error correlation across members, thereby reducing the group’s effective amount of independent information and the quality of collective judgment?</a:t>
            </a:r>
          </a:p>
          <a:p xmlns:a="http://schemas.openxmlformats.org/drawingml/2006/main">
            <a:pPr marL="0" indent="0">
              <a:buNone/>
            </a:pPr>
          </a:p>
          <a:p xmlns:a="http://schemas.openxmlformats.org/drawingml/2006/main">
            <a:pPr marL="0" indent="0">
              <a:buNone/>
              <a:defRPr sz="1465">
                <a:solidFill>
                  <a:srgbClr val="22313F"/>
                </a:solidFill>
                <a:latin typeface="Aptos"/>
                <a:ea typeface="Aptos"/>
                <a:cs typeface="Aptos"/>
              </a:defRPr>
            </a:pPr>
            <a:r>
              <a:rPr sz="1465">
                <a:solidFill>
                  <a:srgbClr val="102A43"/>
                </a:solidFill>
                <a:latin typeface="Aptos"/>
                <a:ea typeface="Aptos"/>
                <a:cs typeface="Aptos"/>
              </a:rPr>
              <a:t>MODEL-OUTPUT HOMOGENEITY → CORRELATED INFORMATION EXPOSURE → BELIEF UPDATING → GROUP JUDGMENT STRUCTURE</a:t>
            </a:r>
          </a:p>
        </p:txBody>
      </p:sp>
    </p:spTree>
    <p:extLst>
      <p:ext uri="{BB962C8B-B14F-4D97-AF65-F5344CB8AC3E}">
        <p14:creationId xmlns:p14="http://schemas.microsoft.com/office/powerpoint/2010/main" val="2116488550"/>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A0FABBF-EA48-4786-86AD-AD80D928F010}"/>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700" b="1">
                <a:solidFill>
                  <a:srgbClr val="1F4E79"/>
                </a:solidFill>
                <a:latin typeface="Aptos Display"/>
                <a:ea typeface="Aptos Display"/>
                <a:cs typeface="Aptos Display"/>
              </a:defRPr>
            </a:pPr>
            <a:r>
              <a:rPr sz="2700" b="1">
                <a:solidFill>
                  <a:srgbClr val="1F4E79"/>
                </a:solidFill>
                <a:latin typeface="Aptos Display"/>
                <a:ea typeface="Aptos Display"/>
                <a:cs typeface="Aptos Display"/>
              </a:rPr>
              <a:t>Research Hypotheses</a:t>
            </a:r>
          </a:p>
        </p:txBody>
      </p:sp>
      <p:sp>
        <p:nvSpPr>
          <p:cNvPr id="3" name="内容占位符 2">
            <a:extLst xmlns:a="http://schemas.openxmlformats.org/drawingml/2006/main">
              <a:ext uri="{FF2B5EF4-FFF2-40B4-BE49-F238E27FC236}">
                <a16:creationId xmlns:a16="http://schemas.microsoft.com/office/drawing/2014/main" id="{687CB7A0-C1B2-4598-A891-787514EFDB8B}"/>
              </a:ext>
            </a:extLst>
          </p:cNvPr>
          <p:cNvSpPr>
            <a:spLocks xmlns:a="http://schemas.openxmlformats.org/drawingml/2006/main" noGrp="1"/>
          </p:cNvSpPr>
          <p:nvPr>
            <p:ph idx="1"/>
          </p:nvPr>
        </p:nvSpPr>
        <p:spPr>
          <a:xfrm xmlns:a="http://schemas.openxmlformats.org/drawingml/2006/main">
            <a:off x="685800" y="1314450"/>
            <a:ext cx="10820400" cy="49530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H1. A shared LLM increases the similarity of information obtained by members.</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H2. A shared LLM increases correlation in members’ judgment errors.</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H3. A shared LLM reduces the accuracy gain produced by judgment aggregation.</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H4. Model diversity mitigates the loss of crowd wisdom caused by a shared LLM.</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H4 also serves as a mechanism test. If model diversity first reduces error correlation and then restores aggregation gains, the core mechanism is supported. If it only increases linguistic variation without changing error correlation or aggregation outcomes, the mechanism is not validated.</a:t>
            </a:r>
          </a:p>
        </p:txBody>
      </p:sp>
    </p:spTree>
    <p:extLst>
      <p:ext uri="{BB962C8B-B14F-4D97-AF65-F5344CB8AC3E}">
        <p14:creationId xmlns:p14="http://schemas.microsoft.com/office/powerpoint/2010/main" val="544552918"/>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36416E8-1836-43B3-A836-4C3AD65F25A0}"/>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Modeling Foundation</a:t>
            </a:r>
          </a:p>
        </p:txBody>
      </p:sp>
      <p:sp>
        <p:nvSpPr>
          <p:cNvPr id="3" name="内容占位符 2">
            <a:extLst xmlns:a="http://schemas.openxmlformats.org/drawingml/2006/main">
              <a:ext uri="{FF2B5EF4-FFF2-40B4-BE49-F238E27FC236}">
                <a16:creationId xmlns:a16="http://schemas.microsoft.com/office/drawing/2014/main" id="{7546D276-E7EA-4BE8-99D7-B406A4A68B0D}"/>
              </a:ext>
            </a:extLst>
          </p:cNvPr>
          <p:cNvSpPr>
            <a:spLocks xmlns:a="http://schemas.openxmlformats.org/drawingml/2006/main" noGrp="1"/>
          </p:cNvSpPr>
          <p:nvPr>
            <p:ph idx="1"/>
          </p:nvPr>
        </p:nvSpPr>
        <p:spPr>
          <a:xfrm xmlns:a="http://schemas.openxmlformats.org/drawingml/2006/main">
            <a:off x="685800" y="1314450"/>
            <a:ext cx="10820400" cy="49530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OPINION DYNAMICS: WHEN DOES A SHARED MODEL PRODUCE CONVERGENCE OR DIVERGENCE?</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Traditional opinion dynamics studies how people update judgments from others’ opinions. DeGroot models convergence through weighted averaging; Friedkin–Johnsen allows attachment to initial positions; Hegselmann–Krause bounded confidence assumes that people accept only information sufficiently close to their current view, allowing multiple opinion clusters.</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Here, opinion dynamics is not mainly used to simulate interpersonal diffusion. It describes how members with different initial positions update sequentially in response to shared—but potentially personalized—LLM information.</a:t>
            </a:r>
          </a:p>
        </p:txBody>
      </p:sp>
    </p:spTree>
    <p:extLst>
      <p:ext uri="{BB962C8B-B14F-4D97-AF65-F5344CB8AC3E}">
        <p14:creationId xmlns:p14="http://schemas.microsoft.com/office/powerpoint/2010/main" val="1253436969"/>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4B5EEFD-0A2F-4A48-AD7A-AE35F8563C6A}"/>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Method: Hybrid ABM–Dynamics Modeling</a:t>
            </a:r>
          </a:p>
        </p:txBody>
      </p:sp>
      <p:sp>
        <p:nvSpPr>
          <p:cNvPr id="3" name="内容占位符 2">
            <a:extLst xmlns:a="http://schemas.openxmlformats.org/drawingml/2006/main">
              <a:ext uri="{FF2B5EF4-FFF2-40B4-BE49-F238E27FC236}">
                <a16:creationId xmlns:a16="http://schemas.microsoft.com/office/drawing/2014/main" id="{53455EBC-86BE-4F5A-8B34-58EB51CBCAC4}"/>
              </a:ext>
            </a:extLst>
          </p:cNvPr>
          <p:cNvSpPr>
            <a:spLocks xmlns:a="http://schemas.openxmlformats.org/drawingml/2006/main" noGrp="1"/>
          </p:cNvSpPr>
          <p:nvPr>
            <p:ph idx="1"/>
          </p:nvPr>
        </p:nvSpPr>
        <p:spPr>
          <a:xfrm xmlns:a="http://schemas.openxmlformats.org/drawingml/2006/main">
            <a:off x="685800" y="1314450"/>
            <a:ext cx="10820400" cy="49530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575">
                <a:solidFill>
                  <a:srgbClr val="22313F"/>
                </a:solidFill>
                <a:latin typeface="Aptos"/>
                <a:ea typeface="Aptos"/>
                <a:cs typeface="Aptos"/>
              </a:defRPr>
            </a:pPr>
            <a:r>
              <a:rPr sz="1575">
                <a:solidFill>
                  <a:srgbClr val="102A43"/>
                </a:solidFill>
                <a:latin typeface="Aptos"/>
                <a:ea typeface="Aptos"/>
                <a:cs typeface="Aptos"/>
              </a:rPr>
              <a:t>ABM connects three levels:</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102A43"/>
                </a:solidFill>
                <a:latin typeface="Aptos"/>
                <a:ea typeface="Aptos"/>
                <a:cs typeface="Aptos"/>
              </a:rPr>
              <a:t>MODEL RESPONSE  →  INDIVIDUAL UPDATING  →  GROUP DISTRIBUTION</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102A43"/>
                </a:solidFill>
                <a:latin typeface="Aptos"/>
                <a:ea typeface="Aptos"/>
                <a:cs typeface="Aptos"/>
              </a:rPr>
              <a:t>It can accommodate heterogeneous agents, repeated follow-up questions, nonlinear updating, personalized outputs, and large-scale group outcomes. The theoretical contribution comes from the mechanism relationships above; ABM provides mechanism tracing and counterfactual comparison.</a:t>
            </a:r>
          </a:p>
        </p:txBody>
      </p:sp>
    </p:spTree>
    <p:extLst>
      <p:ext uri="{BB962C8B-B14F-4D97-AF65-F5344CB8AC3E}">
        <p14:creationId xmlns:p14="http://schemas.microsoft.com/office/powerpoint/2010/main" val="2000618555"/>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81B8FA4-3BA6-453F-8DE6-5BEFE6CD5C6C}"/>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Opinion Dynamics Models Human Group Behavior</a:t>
            </a:r>
          </a:p>
        </p:txBody>
      </p:sp>
      <p:sp>
        <p:nvSpPr>
          <p:cNvPr id="3" name="内容占位符 2">
            <a:extLst xmlns:a="http://schemas.openxmlformats.org/drawingml/2006/main">
              <a:ext uri="{FF2B5EF4-FFF2-40B4-BE49-F238E27FC236}">
                <a16:creationId xmlns:a16="http://schemas.microsoft.com/office/drawing/2014/main" id="{22C0E434-1DA8-4549-9F8F-0F55D22AD8A4}"/>
              </a:ext>
            </a:extLst>
          </p:cNvPr>
          <p:cNvSpPr>
            <a:spLocks xmlns:a="http://schemas.openxmlformats.org/drawingml/2006/main" noGrp="1"/>
          </p:cNvSpPr>
          <p:nvPr>
            <p:ph idx="1"/>
          </p:nvPr>
        </p:nvSpPr>
        <p:spPr>
          <a:xfrm xmlns:a="http://schemas.openxmlformats.org/drawingml/2006/main">
            <a:off x="685800" y="1314450"/>
            <a:ext cx="10820400" cy="4953000"/>
          </a:xfrm>
        </p:spPr>
        <p:txBody>
          <a:bodyPr xmlns:a="http://schemas.openxmlformats.org/drawingml/2006/main" wrap="square" lIns="0" tIns="0" rIns="0" bIns="0" anchor="t">
            <a:normAutofit fontScale="83210"/>
          </a:bodyPr>
          <a:lstStyle xmlns:a="http://schemas.openxmlformats.org/drawingml/2006/main"/>
          <a:p xmlns:a="http://schemas.openxmlformats.org/drawingml/2006/main">
            <a:pPr marL="0" indent="0">
              <a:buNone/>
              <a:defRPr sz="1540">
                <a:solidFill>
                  <a:srgbClr val="22313F"/>
                </a:solidFill>
                <a:latin typeface="Aptos"/>
                <a:ea typeface="Aptos"/>
                <a:cs typeface="Aptos"/>
              </a:defRPr>
            </a:pPr>
            <a:r>
              <a:rPr sz="1540">
                <a:solidFill>
                  <a:srgbClr val="22313F"/>
                </a:solidFill>
                <a:latin typeface="Aptos"/>
                <a:ea typeface="Aptos"/>
                <a:cs typeface="Aptos"/>
              </a:rPr>
              <a:t>Opinion dynamics explains how users update their positions after receiving an LLM response.</a:t>
            </a:r>
          </a:p>
          <a:p xmlns:a="http://schemas.openxmlformats.org/drawingml/2006/main">
            <a:pPr marL="0" indent="0">
              <a:buNone/>
              <a:defRPr sz="1540">
                <a:solidFill>
                  <a:srgbClr val="22313F"/>
                </a:solidFill>
                <a:latin typeface="Aptos"/>
                <a:ea typeface="Aptos"/>
                <a:cs typeface="Aptos"/>
              </a:defRPr>
            </a:pPr>
            <a:r>
              <a:rPr sz="1540">
                <a:solidFill>
                  <a:srgbClr val="22313F"/>
                </a:solidFill>
                <a:latin typeface="Aptos"/>
                <a:ea typeface="Aptos"/>
                <a:cs typeface="Aptos"/>
              </a:rPr>
              <a:t>Agent i’s opinion in round t is xᵢ,ₜ, and the policy position implied by the LLM response is sᵢ,ₜ. The basic update rule is:</a:t>
            </a:r>
          </a:p>
          <a:p xmlns:a="http://schemas.openxmlformats.org/drawingml/2006/main">
            <a:pPr marL="0" indent="0">
              <a:buNone/>
              <a:defRPr sz="1540">
                <a:solidFill>
                  <a:srgbClr val="22313F"/>
                </a:solidFill>
                <a:latin typeface="Aptos"/>
                <a:ea typeface="Aptos"/>
                <a:cs typeface="Aptos"/>
              </a:defRPr>
            </a:pPr>
            <a:r>
              <a:rPr sz="1540">
                <a:solidFill>
                  <a:srgbClr val="22313F"/>
                </a:solidFill>
                <a:latin typeface="Aptos"/>
                <a:ea typeface="Aptos"/>
                <a:cs typeface="Aptos"/>
              </a:rPr>
              <a:t>xᵢ,ₜ₊₁ = (1 − λᵢ)xᵢ,ₜ + λᵢsᵢ,ₜ</a:t>
            </a:r>
          </a:p>
          <a:p xmlns:a="http://schemas.openxmlformats.org/drawingml/2006/main">
            <a:pPr marL="0" indent="0">
              <a:buNone/>
              <a:defRPr sz="1540">
                <a:solidFill>
                  <a:srgbClr val="22313F"/>
                </a:solidFill>
                <a:latin typeface="Aptos"/>
                <a:ea typeface="Aptos"/>
                <a:cs typeface="Aptos"/>
              </a:defRPr>
            </a:pPr>
            <a:r>
              <a:rPr sz="1540">
                <a:solidFill>
                  <a:srgbClr val="22313F"/>
                </a:solidFill>
                <a:latin typeface="Aptos"/>
                <a:ea typeface="Aptos"/>
                <a:cs typeface="Aptos"/>
              </a:rPr>
              <a:t>where λᵢ is the agent’s reliance on the LLM.</a:t>
            </a:r>
          </a:p>
          <a:p xmlns:a="http://schemas.openxmlformats.org/drawingml/2006/main">
            <a:pPr marL="0" indent="0">
              <a:buNone/>
            </a:pPr>
          </a:p>
          <a:p xmlns:a="http://schemas.openxmlformats.org/drawingml/2006/main">
            <a:pPr marL="0" indent="0">
              <a:buNone/>
              <a:defRPr sz="1540">
                <a:solidFill>
                  <a:srgbClr val="22313F"/>
                </a:solidFill>
                <a:latin typeface="Aptos"/>
                <a:ea typeface="Aptos"/>
                <a:cs typeface="Aptos"/>
              </a:defRPr>
            </a:pPr>
            <a:r>
              <a:rPr sz="1540">
                <a:solidFill>
                  <a:srgbClr val="22313F"/>
                </a:solidFill>
                <a:latin typeface="Aptos"/>
                <a:ea typeface="Aptos"/>
                <a:cs typeface="Aptos"/>
              </a:rPr>
              <a:t>With bounded confidence, the agent accepts only information within a threshold of its current view:</a:t>
            </a:r>
          </a:p>
          <a:p xmlns:a="http://schemas.openxmlformats.org/drawingml/2006/main">
            <a:pPr marL="0" indent="0">
              <a:buNone/>
              <a:defRPr sz="1540">
                <a:solidFill>
                  <a:srgbClr val="22313F"/>
                </a:solidFill>
                <a:latin typeface="Aptos"/>
                <a:ea typeface="Aptos"/>
                <a:cs typeface="Aptos"/>
              </a:defRPr>
            </a:pPr>
            <a:r>
              <a:rPr sz="1540">
                <a:solidFill>
                  <a:srgbClr val="22313F"/>
                </a:solidFill>
                <a:latin typeface="Aptos"/>
                <a:ea typeface="Aptos"/>
                <a:cs typeface="Aptos"/>
              </a:rPr>
              <a:t>|sᵢ,ₜ − xᵢ,ₜ| ≤ τᵢ</a:t>
            </a:r>
          </a:p>
          <a:p xmlns:a="http://schemas.openxmlformats.org/drawingml/2006/main">
            <a:pPr marL="0" indent="0">
              <a:buNone/>
            </a:pPr>
          </a:p>
          <a:p xmlns:a="http://schemas.openxmlformats.org/drawingml/2006/main">
            <a:pPr marL="0" indent="0">
              <a:buNone/>
              <a:defRPr sz="1540">
                <a:solidFill>
                  <a:srgbClr val="22313F"/>
                </a:solidFill>
                <a:latin typeface="Aptos"/>
                <a:ea typeface="Aptos"/>
                <a:cs typeface="Aptos"/>
              </a:defRPr>
            </a:pPr>
            <a:r>
              <a:rPr sz="1540">
                <a:solidFill>
                  <a:srgbClr val="22313F"/>
                </a:solidFill>
                <a:latin typeface="Aptos"/>
                <a:ea typeface="Aptos"/>
                <a:cs typeface="Aptos"/>
              </a:rPr>
              <a:t>This structure can produce two outcomes:</a:t>
            </a:r>
          </a:p>
          <a:p xmlns:a="http://schemas.openxmlformats.org/drawingml/2006/main">
            <a:pPr marL="0" indent="0">
              <a:buNone/>
              <a:defRPr sz="1540">
                <a:solidFill>
                  <a:srgbClr val="22313F"/>
                </a:solidFill>
                <a:latin typeface="Aptos"/>
                <a:ea typeface="Aptos"/>
                <a:cs typeface="Aptos"/>
              </a:defRPr>
            </a:pPr>
            <a:r>
              <a:rPr sz="1540">
                <a:solidFill>
                  <a:srgbClr val="22313F"/>
                </a:solidFill>
                <a:latin typeface="Aptos"/>
                <a:ea typeface="Aptos"/>
                <a:cs typeface="Aptos"/>
              </a:rPr>
              <a:t>• similar answers from a shared model generate convergence;</a:t>
            </a:r>
          </a:p>
          <a:p xmlns:a="http://schemas.openxmlformats.org/drawingml/2006/main">
            <a:pPr marL="0" indent="0">
              <a:buNone/>
              <a:defRPr sz="1540">
                <a:solidFill>
                  <a:srgbClr val="22313F"/>
                </a:solidFill>
                <a:latin typeface="Aptos"/>
                <a:ea typeface="Aptos"/>
                <a:cs typeface="Aptos"/>
              </a:defRPr>
            </a:pPr>
            <a:r>
              <a:rPr sz="1540">
                <a:solidFill>
                  <a:srgbClr val="22313F"/>
                </a:solidFill>
                <a:latin typeface="Aptos"/>
                <a:ea typeface="Aptos"/>
                <a:cs typeface="Aptos"/>
              </a:rPr>
              <a:t>• evidence selected by initial position gives opposing camps directionally different answers, generating division or polarization.</a:t>
            </a:r>
          </a:p>
          <a:p xmlns:a="http://schemas.openxmlformats.org/drawingml/2006/main">
            <a:pPr marL="0" indent="0">
              <a:buNone/>
            </a:pPr>
          </a:p>
          <a:p xmlns:a="http://schemas.openxmlformats.org/drawingml/2006/main">
            <a:pPr marL="0" indent="0">
              <a:buNone/>
              <a:defRPr sz="1540">
                <a:solidFill>
                  <a:srgbClr val="22313F"/>
                </a:solidFill>
                <a:latin typeface="Aptos"/>
                <a:ea typeface="Aptos"/>
                <a:cs typeface="Aptos"/>
              </a:defRPr>
            </a:pPr>
            <a:r>
              <a:rPr sz="1540">
                <a:solidFill>
                  <a:srgbClr val="22313F"/>
                </a:solidFill>
                <a:latin typeface="Aptos"/>
                <a:ea typeface="Aptos"/>
                <a:cs typeface="Aptos"/>
              </a:rPr>
              <a:t>Sycophancy and personalization are therefore boundary conditions on the homogenizing effect of a shared model.</a:t>
            </a:r>
          </a:p>
        </p:txBody>
      </p:sp>
    </p:spTree>
    <p:extLst>
      <p:ext uri="{BB962C8B-B14F-4D97-AF65-F5344CB8AC3E}">
        <p14:creationId xmlns:p14="http://schemas.microsoft.com/office/powerpoint/2010/main" val="1277400546"/>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4AC2674-9998-41A4-9D74-C46842D0813C}"/>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Overall Model</a:t>
            </a:r>
          </a:p>
        </p:txBody>
      </p:sp>
      <p:graphicFrame>
        <p:nvGraphicFramePr>
          <p:cNvPr id="9" name="表格 3"/>
          <p:cNvGraphicFramePr/>
          <p:nvPr/>
        </p:nvGraphicFramePr>
        <p:xfrm>
          <a:off xmlns:a="http://schemas.openxmlformats.org/drawingml/2006/main" x="680085" y="1708150"/>
          <a:ext xmlns:a="http://schemas.openxmlformats.org/drawingml/2006/main" cx="10485120" cy="1733550"/>
        </p:xfrm>
        <a:graphic xmlns:a="http://schemas.openxmlformats.org/drawingml/2006/main">
          <a:graphicData uri="http://schemas.openxmlformats.org/drawingml/2006/table">
            <a:tbl>
              <a:tblPr firstRow="1" bandRow="1"/>
              <a:tblGrid>
                <a:gridCol w="2621280"/>
                <a:gridCol w="2621280"/>
                <a:gridCol w="2621280"/>
                <a:gridCol w="2621280"/>
              </a:tblGrid>
              <a:tr h="361950">
                <a:tc>
                  <a:txBody>
                    <a:bodyPr wrap="square">
                      <a:normAutofit/>
                    </a:bodyPr>
                    <a:lstStyle/>
                    <a:p>
                      <a:r>
                        <a:rPr sz="1125" b="1">
                          <a:solidFill>
                            <a:srgbClr val="FFFFFF"/>
                          </a:solidFill>
                          <a:latin typeface="Aptos"/>
                          <a:ea typeface="Aptos"/>
                          <a:cs typeface="Aptos"/>
                        </a:rPr>
                        <a:t>Layer</a:t>
                      </a:r>
                    </a:p>
                  </a:txBody>
                  <a:tcPr marL="0" marR="0" marT="0" marB="0" anchor="ctr" anchorCtr="0">
                    <a:lnL>
                      <a:noFill/>
                    </a:lnL>
                    <a:lnR>
                      <a:noFill/>
                    </a:lnR>
                    <a:lnT>
                      <a:noFill/>
                    </a:lnT>
                    <a:lnB>
                      <a:noFill/>
                    </a:lnB>
                    <a:solidFill>
                      <a:srgbClr val="102A43"/>
                    </a:solidFill>
                  </a:tcPr>
                </a:tc>
                <a:tc>
                  <a:txBody>
                    <a:bodyPr wrap="square">
                      <a:normAutofit/>
                    </a:bodyPr>
                    <a:lstStyle/>
                    <a:p>
                      <a:r>
                        <a:rPr sz="1125" b="1">
                          <a:solidFill>
                            <a:srgbClr val="FFFFFF"/>
                          </a:solidFill>
                          <a:latin typeface="Aptos"/>
                          <a:ea typeface="Aptos"/>
                          <a:cs typeface="Aptos"/>
                        </a:rPr>
                        <a:t>Input</a:t>
                      </a:r>
                    </a:p>
                  </a:txBody>
                  <a:tcPr marL="0" marR="0" marT="0" marB="0" anchor="ctr" anchorCtr="0">
                    <a:lnL>
                      <a:noFill/>
                    </a:lnL>
                    <a:lnR>
                      <a:noFill/>
                    </a:lnR>
                    <a:lnT>
                      <a:noFill/>
                    </a:lnT>
                    <a:lnB>
                      <a:noFill/>
                    </a:lnB>
                    <a:solidFill>
                      <a:srgbClr val="102A43"/>
                    </a:solidFill>
                  </a:tcPr>
                </a:tc>
                <a:tc>
                  <a:txBody>
                    <a:bodyPr wrap="square">
                      <a:normAutofit/>
                    </a:bodyPr>
                    <a:lstStyle/>
                    <a:p>
                      <a:r>
                        <a:rPr sz="1125" b="1">
                          <a:solidFill>
                            <a:srgbClr val="FFFFFF"/>
                          </a:solidFill>
                          <a:latin typeface="Aptos"/>
                          <a:ea typeface="Aptos"/>
                          <a:cs typeface="Aptos"/>
                        </a:rPr>
                        <a:t>Output</a:t>
                      </a:r>
                    </a:p>
                  </a:txBody>
                  <a:tcPr marL="0" marR="0" marT="0" marB="0" anchor="ctr" anchorCtr="0">
                    <a:lnL>
                      <a:noFill/>
                    </a:lnL>
                    <a:lnR>
                      <a:noFill/>
                    </a:lnR>
                    <a:lnT>
                      <a:noFill/>
                    </a:lnT>
                    <a:lnB>
                      <a:noFill/>
                    </a:lnB>
                    <a:solidFill>
                      <a:srgbClr val="102A43"/>
                    </a:solidFill>
                  </a:tcPr>
                </a:tc>
                <a:tc>
                  <a:txBody>
                    <a:bodyPr wrap="square">
                      <a:normAutofit/>
                    </a:bodyPr>
                    <a:lstStyle/>
                    <a:p>
                      <a:r>
                        <a:rPr sz="1125" b="1">
                          <a:solidFill>
                            <a:srgbClr val="FFFFFF"/>
                          </a:solidFill>
                          <a:latin typeface="Aptos"/>
                          <a:ea typeface="Aptos"/>
                          <a:cs typeface="Aptos"/>
                        </a:rPr>
                        <a:t>Function</a:t>
                      </a:r>
                    </a:p>
                  </a:txBody>
                  <a:tcPr marL="0" marR="0" marT="0" marB="0" anchor="ctr" anchorCtr="0">
                    <a:lnL>
                      <a:noFill/>
                    </a:lnL>
                    <a:lnR>
                      <a:noFill/>
                    </a:lnR>
                    <a:lnT>
                      <a:noFill/>
                    </a:lnT>
                    <a:lnB>
                      <a:noFill/>
                    </a:lnB>
                    <a:solidFill>
                      <a:srgbClr val="102A43"/>
                    </a:solidFill>
                  </a:tcPr>
                </a:tc>
              </a:tr>
              <a:tr h="457200">
                <a:tc>
                  <a:txBody>
                    <a:bodyPr wrap="square">
                      <a:normAutofit/>
                    </a:bodyPr>
                    <a:lstStyle/>
                    <a:p>
                      <a:r>
                        <a:rPr sz="1050" b="0">
                          <a:solidFill>
                            <a:srgbClr val="22313F"/>
                          </a:solidFill>
                          <a:latin typeface="Aptos"/>
                          <a:ea typeface="Aptos"/>
                          <a:cs typeface="Aptos"/>
                        </a:rPr>
                        <a:t>LLM information layer</a:t>
                      </a:r>
                    </a:p>
                  </a:txBody>
                  <a:tcPr marL="0" marR="0" marT="0" marB="0" anchor="ctr" anchorCtr="0">
                    <a:lnL>
                      <a:noFill/>
                    </a:lnL>
                    <a:lnR>
                      <a:noFill/>
                    </a:lnR>
                    <a:lnT>
                      <a:noFill/>
                    </a:lnT>
                    <a:lnB>
                      <a:noFill/>
                    </a:lnB>
                    <a:solidFill>
                      <a:srgbClr val="FFFFFF"/>
                    </a:solidFill>
                  </a:tcPr>
                </a:tc>
                <a:tc>
                  <a:txBody>
                    <a:bodyPr wrap="square">
                      <a:normAutofit/>
                    </a:bodyPr>
                    <a:lstStyle/>
                    <a:p>
                      <a:r>
                        <a:rPr sz="1050" b="0">
                          <a:solidFill>
                            <a:srgbClr val="22313F"/>
                          </a:solidFill>
                          <a:latin typeface="Aptos"/>
                          <a:ea typeface="Aptos"/>
                          <a:cs typeface="Aptos"/>
                        </a:rPr>
                        <a:t>User question; model configuration</a:t>
                      </a:r>
                    </a:p>
                  </a:txBody>
                  <a:tcPr marL="0" marR="0" marT="0" marB="0" anchor="ctr" anchorCtr="0">
                    <a:lnL>
                      <a:noFill/>
                    </a:lnL>
                    <a:lnR>
                      <a:noFill/>
                    </a:lnR>
                    <a:lnT>
                      <a:noFill/>
                    </a:lnT>
                    <a:lnB>
                      <a:noFill/>
                    </a:lnB>
                    <a:solidFill>
                      <a:srgbClr val="FFFFFF"/>
                    </a:solidFill>
                  </a:tcPr>
                </a:tc>
                <a:tc>
                  <a:txBody>
                    <a:bodyPr wrap="square">
                      <a:normAutofit/>
                    </a:bodyPr>
                    <a:lstStyle/>
                    <a:p>
                      <a:r>
                        <a:rPr sz="1050" b="0">
                          <a:solidFill>
                            <a:srgbClr val="22313F"/>
                          </a:solidFill>
                          <a:latin typeface="Aptos"/>
                          <a:ea typeface="Aptos"/>
                          <a:cs typeface="Aptos"/>
                        </a:rPr>
                        <a:t>Natural-language response Rᵢₖₜ</a:t>
                      </a:r>
                    </a:p>
                  </a:txBody>
                  <a:tcPr marL="0" marR="0" marT="0" marB="0" anchor="ctr" anchorCtr="0">
                    <a:lnL>
                      <a:noFill/>
                    </a:lnL>
                    <a:lnR>
                      <a:noFill/>
                    </a:lnR>
                    <a:lnT>
                      <a:noFill/>
                    </a:lnT>
                    <a:lnB>
                      <a:noFill/>
                    </a:lnB>
                    <a:solidFill>
                      <a:srgbClr val="FFFFFF"/>
                    </a:solidFill>
                  </a:tcPr>
                </a:tc>
                <a:tc>
                  <a:txBody>
                    <a:bodyPr wrap="square">
                      <a:normAutofit/>
                    </a:bodyPr>
                    <a:lstStyle/>
                    <a:p>
                      <a:r>
                        <a:rPr sz="1050" b="0">
                          <a:solidFill>
                            <a:srgbClr val="22313F"/>
                          </a:solidFill>
                          <a:latin typeface="Aptos"/>
                          <a:ea typeface="Aptos"/>
                          <a:cs typeface="Aptos"/>
                        </a:rPr>
                        <a:t>Generate the information received by each member</a:t>
                      </a:r>
                    </a:p>
                  </a:txBody>
                  <a:tcPr marL="0" marR="0" marT="0" marB="0" anchor="ctr" anchorCtr="0">
                    <a:lnL>
                      <a:noFill/>
                    </a:lnL>
                    <a:lnR>
                      <a:noFill/>
                    </a:lnR>
                    <a:lnT>
                      <a:noFill/>
                    </a:lnT>
                    <a:lnB>
                      <a:noFill/>
                    </a:lnB>
                    <a:solidFill>
                      <a:srgbClr val="FFFFFF"/>
                    </a:solidFill>
                  </a:tcPr>
                </a:tc>
              </a:tr>
              <a:tr h="457200">
                <a:tc>
                  <a:txBody>
                    <a:bodyPr wrap="square">
                      <a:normAutofit/>
                    </a:bodyPr>
                    <a:lstStyle/>
                    <a:p>
                      <a:r>
                        <a:rPr sz="1050" b="0">
                          <a:solidFill>
                            <a:srgbClr val="22313F"/>
                          </a:solidFill>
                          <a:latin typeface="Aptos"/>
                          <a:ea typeface="Aptos"/>
                          <a:cs typeface="Aptos"/>
                        </a:rPr>
                        <a:t>Text-measurement layer</a:t>
                      </a:r>
                    </a:p>
                  </a:txBody>
                  <a:tcPr marL="0" marR="0" marT="0" marB="0" anchor="ctr" anchorCtr="0">
                    <a:lnL>
                      <a:noFill/>
                    </a:lnL>
                    <a:lnR>
                      <a:noFill/>
                    </a:lnR>
                    <a:lnT>
                      <a:noFill/>
                    </a:lnT>
                    <a:lnB>
                      <a:noFill/>
                    </a:lnB>
                    <a:solidFill>
                      <a:srgbClr val="EDF3F6"/>
                    </a:solidFill>
                  </a:tcPr>
                </a:tc>
                <a:tc>
                  <a:txBody>
                    <a:bodyPr wrap="square">
                      <a:normAutofit/>
                    </a:bodyPr>
                    <a:lstStyle/>
                    <a:p>
                      <a:r>
                        <a:rPr sz="1050" b="0">
                          <a:solidFill>
                            <a:srgbClr val="22313F"/>
                          </a:solidFill>
                          <a:latin typeface="Aptos"/>
                          <a:ea typeface="Aptos"/>
                          <a:cs typeface="Aptos"/>
                        </a:rPr>
                        <a:t>Response Rᵢₖₜ</a:t>
                      </a:r>
                    </a:p>
                  </a:txBody>
                  <a:tcPr marL="0" marR="0" marT="0" marB="0" anchor="ctr" anchorCtr="0">
                    <a:lnL>
                      <a:noFill/>
                    </a:lnL>
                    <a:lnR>
                      <a:noFill/>
                    </a:lnR>
                    <a:lnT>
                      <a:noFill/>
                    </a:lnT>
                    <a:lnB>
                      <a:noFill/>
                    </a:lnB>
                    <a:solidFill>
                      <a:srgbClr val="EDF3F6"/>
                    </a:solidFill>
                  </a:tcPr>
                </a:tc>
                <a:tc>
                  <a:txBody>
                    <a:bodyPr wrap="square">
                      <a:normAutofit/>
                    </a:bodyPr>
                    <a:lstStyle/>
                    <a:p>
                      <a:r>
                        <a:rPr sz="1050" b="0">
                          <a:solidFill>
                            <a:srgbClr val="22313F"/>
                          </a:solidFill>
                          <a:latin typeface="Aptos"/>
                          <a:ea typeface="Aptos"/>
                          <a:cs typeface="Aptos"/>
                        </a:rPr>
                        <a:t>Position signal sᵢₖₜ; information vector zᵢₖₜ</a:t>
                      </a:r>
                    </a:p>
                  </a:txBody>
                  <a:tcPr marL="0" marR="0" marT="0" marB="0" anchor="ctr" anchorCtr="0">
                    <a:lnL>
                      <a:noFill/>
                    </a:lnL>
                    <a:lnR>
                      <a:noFill/>
                    </a:lnR>
                    <a:lnT>
                      <a:noFill/>
                    </a:lnT>
                    <a:lnB>
                      <a:noFill/>
                    </a:lnB>
                    <a:solidFill>
                      <a:srgbClr val="EDF3F6"/>
                    </a:solidFill>
                  </a:tcPr>
                </a:tc>
                <a:tc>
                  <a:txBody>
                    <a:bodyPr wrap="square">
                      <a:normAutofit/>
                    </a:bodyPr>
                    <a:lstStyle/>
                    <a:p>
                      <a:r>
                        <a:rPr sz="1050" b="0">
                          <a:solidFill>
                            <a:srgbClr val="22313F"/>
                          </a:solidFill>
                          <a:latin typeface="Aptos"/>
                          <a:ea typeface="Aptos"/>
                          <a:cs typeface="Aptos"/>
                        </a:rPr>
                        <a:t>Convert text into computable variables</a:t>
                      </a:r>
                    </a:p>
                  </a:txBody>
                  <a:tcPr marL="0" marR="0" marT="0" marB="0" anchor="ctr" anchorCtr="0">
                    <a:lnL>
                      <a:noFill/>
                    </a:lnL>
                    <a:lnR>
                      <a:noFill/>
                    </a:lnR>
                    <a:lnT>
                      <a:noFill/>
                    </a:lnT>
                    <a:lnB>
                      <a:noFill/>
                    </a:lnB>
                    <a:solidFill>
                      <a:srgbClr val="EDF3F6"/>
                    </a:solidFill>
                  </a:tcPr>
                </a:tc>
              </a:tr>
              <a:tr h="457200">
                <a:tc>
                  <a:txBody>
                    <a:bodyPr wrap="square">
                      <a:normAutofit/>
                    </a:bodyPr>
                    <a:lstStyle/>
                    <a:p>
                      <a:r>
                        <a:rPr sz="1050" b="0">
                          <a:solidFill>
                            <a:srgbClr val="22313F"/>
                          </a:solidFill>
                          <a:latin typeface="Aptos"/>
                          <a:ea typeface="Aptos"/>
                          <a:cs typeface="Aptos"/>
                        </a:rPr>
                        <a:t>Opinion-updating layer</a:t>
                      </a:r>
                    </a:p>
                  </a:txBody>
                  <a:tcPr marL="0" marR="0" marT="0" marB="0" anchor="ctr" anchorCtr="0">
                    <a:lnL>
                      <a:noFill/>
                    </a:lnL>
                    <a:lnR>
                      <a:noFill/>
                    </a:lnR>
                    <a:lnT>
                      <a:noFill/>
                    </a:lnT>
                    <a:lnB>
                      <a:noFill/>
                    </a:lnB>
                    <a:solidFill>
                      <a:srgbClr val="FFFFFF"/>
                    </a:solidFill>
                  </a:tcPr>
                </a:tc>
                <a:tc>
                  <a:txBody>
                    <a:bodyPr wrap="square">
                      <a:normAutofit/>
                    </a:bodyPr>
                    <a:lstStyle/>
                    <a:p>
                      <a:r>
                        <a:rPr sz="1050" b="0">
                          <a:solidFill>
                            <a:srgbClr val="22313F"/>
                          </a:solidFill>
                          <a:latin typeface="Aptos"/>
                          <a:ea typeface="Aptos"/>
                          <a:cs typeface="Aptos"/>
                        </a:rPr>
                        <a:t>Prior position xᵢₖₜ; position signal sᵢₖₜ</a:t>
                      </a:r>
                    </a:p>
                  </a:txBody>
                  <a:tcPr marL="0" marR="0" marT="0" marB="0" anchor="ctr" anchorCtr="0">
                    <a:lnL>
                      <a:noFill/>
                    </a:lnL>
                    <a:lnR>
                      <a:noFill/>
                    </a:lnR>
                    <a:lnT>
                      <a:noFill/>
                    </a:lnT>
                    <a:lnB>
                      <a:noFill/>
                    </a:lnB>
                    <a:solidFill>
                      <a:srgbClr val="FFFFFF"/>
                    </a:solidFill>
                  </a:tcPr>
                </a:tc>
                <a:tc>
                  <a:txBody>
                    <a:bodyPr wrap="square">
                      <a:normAutofit/>
                    </a:bodyPr>
                    <a:lstStyle/>
                    <a:p>
                      <a:r>
                        <a:rPr sz="1050" b="0">
                          <a:solidFill>
                            <a:srgbClr val="22313F"/>
                          </a:solidFill>
                          <a:latin typeface="Aptos"/>
                          <a:ea typeface="Aptos"/>
                          <a:cs typeface="Aptos"/>
                        </a:rPr>
                        <a:t>New position xᵢₖ,ₜ₊₁</a:t>
                      </a:r>
                    </a:p>
                  </a:txBody>
                  <a:tcPr marL="0" marR="0" marT="0" marB="0" anchor="ctr" anchorCtr="0">
                    <a:lnL>
                      <a:noFill/>
                    </a:lnL>
                    <a:lnR>
                      <a:noFill/>
                    </a:lnR>
                    <a:lnT>
                      <a:noFill/>
                    </a:lnT>
                    <a:lnB>
                      <a:noFill/>
                    </a:lnB>
                    <a:solidFill>
                      <a:srgbClr val="FFFFFF"/>
                    </a:solidFill>
                  </a:tcPr>
                </a:tc>
                <a:tc>
                  <a:txBody>
                    <a:bodyPr wrap="square">
                      <a:normAutofit/>
                    </a:bodyPr>
                    <a:lstStyle/>
                    <a:p>
                      <a:r>
                        <a:rPr sz="1050" b="0">
                          <a:solidFill>
                            <a:srgbClr val="22313F"/>
                          </a:solidFill>
                          <a:latin typeface="Aptos"/>
                          <a:ea typeface="Aptos"/>
                          <a:cs typeface="Aptos"/>
                        </a:rPr>
                        <a:t>Simulate how members adopt the response</a:t>
                      </a:r>
                    </a:p>
                  </a:txBody>
                  <a:tcPr marL="0" marR="0" marT="0" marB="0" anchor="ctr" anchorCtr="0">
                    <a:lnL>
                      <a:noFill/>
                    </a:lnL>
                    <a:lnR>
                      <a:noFill/>
                    </a:lnR>
                    <a:lnT>
                      <a:noFill/>
                    </a:lnT>
                    <a:lnB>
                      <a:noFill/>
                    </a:lnB>
                    <a:solidFill>
                      <a:srgbClr val="FFFFFF"/>
                    </a:solidFill>
                  </a:tcPr>
                </a:tc>
              </a:tr>
            </a:tbl>
          </a:graphicData>
        </a:graphic>
      </p:graphicFrame>
      <p:sp>
        <p:nvSpPr>
          <p:cNvPr id="5" name="文本框 4">
            <a:extLst xmlns:a="http://schemas.openxmlformats.org/drawingml/2006/main">
              <a:ext uri="{FF2B5EF4-FFF2-40B4-BE49-F238E27FC236}">
                <a16:creationId xmlns:a16="http://schemas.microsoft.com/office/drawing/2014/main" id="{09A13543-30CF-433E-9FD0-0E3418EE5E62}"/>
              </a:ext>
            </a:extLst>
          </p:cNvPr>
          <p:cNvSpPr>
            <a:spLocks xmlns:a="http://schemas.openxmlformats.org/drawingml/2006/main" noGrp="1"/>
          </p:cNvSpPr>
          <p:nvPr/>
        </p:nvSpPr>
        <p:spPr>
          <a:xfrm xmlns:a="http://schemas.openxmlformats.org/drawingml/2006/main">
            <a:off x="685800" y="3857625"/>
            <a:ext cx="4762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350">
                <a:solidFill>
                  <a:srgbClr val="22313F"/>
                </a:solidFill>
                <a:latin typeface="Aptos"/>
                <a:ea typeface="Aptos"/>
                <a:cs typeface="Aptos"/>
              </a:defRPr>
            </a:pPr>
            <a:r>
              <a:rPr sz="1350">
                <a:solidFill>
                  <a:srgbClr val="22313F"/>
                </a:solidFill>
                <a:latin typeface="Aptos"/>
                <a:ea typeface="Aptos"/>
                <a:cs typeface="Aptos"/>
              </a:rPr>
              <a:t>Notation</a:t>
            </a:r>
          </a:p>
          <a:p xmlns:a="http://schemas.openxmlformats.org/drawingml/2006/main">
            <a:pPr marL="0" indent="0">
              <a:buNone/>
            </a:pPr>
          </a:p>
          <a:p xmlns:a="http://schemas.openxmlformats.org/drawingml/2006/main">
            <a:pPr marL="0" indent="0">
              <a:buNone/>
              <a:defRPr sz="1350">
                <a:solidFill>
                  <a:srgbClr val="22313F"/>
                </a:solidFill>
                <a:latin typeface="Aptos"/>
                <a:ea typeface="Aptos"/>
                <a:cs typeface="Aptos"/>
              </a:defRPr>
            </a:pPr>
            <a:r>
              <a:rPr sz="1350">
                <a:solidFill>
                  <a:srgbClr val="22313F"/>
                </a:solidFill>
                <a:latin typeface="Aptos"/>
                <a:ea typeface="Aptos"/>
                <a:cs typeface="Aptos"/>
              </a:rPr>
              <a:t>i: member</a:t>
            </a:r>
          </a:p>
          <a:p xmlns:a="http://schemas.openxmlformats.org/drawingml/2006/main">
            <a:pPr marL="0" indent="0">
              <a:buNone/>
              <a:defRPr sz="1350">
                <a:solidFill>
                  <a:srgbClr val="22313F"/>
                </a:solidFill>
                <a:latin typeface="Aptos"/>
                <a:ea typeface="Aptos"/>
                <a:cs typeface="Aptos"/>
              </a:defRPr>
            </a:pPr>
            <a:r>
              <a:rPr sz="1350">
                <a:solidFill>
                  <a:srgbClr val="22313F"/>
                </a:solidFill>
                <a:latin typeface="Aptos"/>
                <a:ea typeface="Aptos"/>
                <a:cs typeface="Aptos"/>
              </a:rPr>
              <a:t>k: policy issue</a:t>
            </a:r>
          </a:p>
          <a:p xmlns:a="http://schemas.openxmlformats.org/drawingml/2006/main">
            <a:pPr marL="0" indent="0">
              <a:buNone/>
              <a:defRPr sz="1350">
                <a:solidFill>
                  <a:srgbClr val="22313F"/>
                </a:solidFill>
                <a:latin typeface="Aptos"/>
                <a:ea typeface="Aptos"/>
                <a:cs typeface="Aptos"/>
              </a:defRPr>
            </a:pPr>
            <a:r>
              <a:rPr sz="1350">
                <a:solidFill>
                  <a:srgbClr val="22313F"/>
                </a:solidFill>
                <a:latin typeface="Aptos"/>
                <a:ea typeface="Aptos"/>
                <a:cs typeface="Aptos"/>
              </a:rPr>
              <a:t>t: interaction round</a:t>
            </a:r>
          </a:p>
          <a:p xmlns:a="http://schemas.openxmlformats.org/drawingml/2006/main">
            <a:pPr marL="0" indent="0">
              <a:buNone/>
              <a:defRPr sz="1350">
                <a:solidFill>
                  <a:srgbClr val="22313F"/>
                </a:solidFill>
                <a:latin typeface="Aptos"/>
                <a:ea typeface="Aptos"/>
                <a:cs typeface="Aptos"/>
              </a:defRPr>
            </a:pPr>
            <a:r>
              <a:rPr sz="1350">
                <a:solidFill>
                  <a:srgbClr val="22313F"/>
                </a:solidFill>
                <a:latin typeface="Aptos"/>
                <a:ea typeface="Aptos"/>
                <a:cs typeface="Aptos"/>
              </a:rPr>
              <a:t>xᵢₖₜ ∈ [−1, 1]: member’s current position</a:t>
            </a:r>
          </a:p>
          <a:p xmlns:a="http://schemas.openxmlformats.org/drawingml/2006/main">
            <a:pPr marL="0" indent="0">
              <a:buNone/>
              <a:defRPr sz="1350">
                <a:solidFill>
                  <a:srgbClr val="22313F"/>
                </a:solidFill>
                <a:latin typeface="Aptos"/>
                <a:ea typeface="Aptos"/>
                <a:cs typeface="Aptos"/>
              </a:defRPr>
            </a:pPr>
            <a:r>
              <a:rPr sz="1350">
                <a:solidFill>
                  <a:srgbClr val="22313F"/>
                </a:solidFill>
                <a:latin typeface="Aptos"/>
                <a:ea typeface="Aptos"/>
                <a:cs typeface="Aptos"/>
              </a:rPr>
              <a:t>sᵢₖₜ ∈ [−1, 1]: policy position implied by the LLM response</a:t>
            </a:r>
          </a:p>
          <a:p xmlns:a="http://schemas.openxmlformats.org/drawingml/2006/main">
            <a:pPr marL="0" indent="0">
              <a:buNone/>
              <a:defRPr sz="1350">
                <a:solidFill>
                  <a:srgbClr val="22313F"/>
                </a:solidFill>
                <a:latin typeface="Aptos"/>
                <a:ea typeface="Aptos"/>
                <a:cs typeface="Aptos"/>
              </a:defRPr>
            </a:pPr>
            <a:r>
              <a:rPr sz="1350">
                <a:solidFill>
                  <a:srgbClr val="22313F"/>
                </a:solidFill>
                <a:latin typeface="Aptos"/>
                <a:ea typeface="Aptos"/>
                <a:cs typeface="Aptos"/>
              </a:rPr>
              <a:t>zᵢₖₜ: arguments, facts, and policy frames contained in the response</a:t>
            </a:r>
          </a:p>
        </p:txBody>
      </p:sp>
      <p:sp>
        <p:nvSpPr>
          <p:cNvPr id="6" name="文本框 5">
            <a:extLst xmlns:a="http://schemas.openxmlformats.org/drawingml/2006/main">
              <a:ext uri="{FF2B5EF4-FFF2-40B4-BE49-F238E27FC236}">
                <a16:creationId xmlns:a16="http://schemas.microsoft.com/office/drawing/2014/main" id="{3117EDB6-0A6D-42AC-AA13-E6122954C1AD}"/>
              </a:ext>
            </a:extLst>
          </p:cNvPr>
          <p:cNvSpPr>
            <a:spLocks xmlns:a="http://schemas.openxmlformats.org/drawingml/2006/main" noGrp="1"/>
          </p:cNvSpPr>
          <p:nvPr/>
        </p:nvSpPr>
        <p:spPr>
          <a:xfrm xmlns:a="http://schemas.openxmlformats.org/drawingml/2006/main">
            <a:off x="6096000" y="3857625"/>
            <a:ext cx="54102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350">
                <a:solidFill>
                  <a:srgbClr val="22313F"/>
                </a:solidFill>
                <a:latin typeface="Aptos"/>
                <a:ea typeface="Aptos"/>
                <a:cs typeface="Aptos"/>
              </a:defRPr>
            </a:pPr>
            <a:r>
              <a:rPr sz="1350">
                <a:solidFill>
                  <a:srgbClr val="22313F"/>
                </a:solidFill>
                <a:latin typeface="Aptos"/>
                <a:ea typeface="Aptos"/>
                <a:cs typeface="Aptos"/>
              </a:rPr>
              <a:t>Chuang et al. use a similar procedure: an LLM agent first generates a natural-language opinion, then an independent FLAN-T5-XXL classifier encodes the text as −2, −1, 0, 1, or 2. They manually validate 100 responses. Krippendorff’s α among three annotators is 0.81, and automatic classification agrees with the human majority vote in 84% of cases.</a:t>
            </a:r>
          </a:p>
        </p:txBody>
      </p:sp>
    </p:spTree>
    <p:extLst>
      <p:ext uri="{BB962C8B-B14F-4D97-AF65-F5344CB8AC3E}">
        <p14:creationId xmlns:p14="http://schemas.microsoft.com/office/powerpoint/2010/main" val="872523293"/>
      </p:ext>
    </p:extLst>
  </p:cSld>
</p:sld>
</file>

<file path=ppt/slides/slide1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1E17282-1D5D-4D4E-847A-1E79B5E31C2E}"/>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Revision Plan</a:t>
            </a:r>
          </a:p>
        </p:txBody>
      </p:sp>
      <p:sp>
        <p:nvSpPr>
          <p:cNvPr id="3" name="内容占位符 2">
            <a:extLst xmlns:a="http://schemas.openxmlformats.org/drawingml/2006/main">
              <a:ext uri="{FF2B5EF4-FFF2-40B4-BE49-F238E27FC236}">
                <a16:creationId xmlns:a16="http://schemas.microsoft.com/office/drawing/2014/main" id="{4EF21D1F-9CED-4548-9D4E-50630685580E}"/>
              </a:ext>
            </a:extLst>
          </p:cNvPr>
          <p:cNvSpPr>
            <a:spLocks xmlns:a="http://schemas.openxmlformats.org/drawingml/2006/main" noGrp="1"/>
          </p:cNvSpPr>
          <p:nvPr>
            <p:ph idx="1"/>
          </p:nvPr>
        </p:nvSpPr>
        <p:spPr>
          <a:xfrm xmlns:a="http://schemas.openxmlformats.org/drawingml/2006/main">
            <a:off x="1428750" y="2000250"/>
            <a:ext cx="9334500" cy="24765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2100">
                <a:solidFill>
                  <a:srgbClr val="22313F"/>
                </a:solidFill>
                <a:latin typeface="Aptos"/>
                <a:ea typeface="Aptos"/>
                <a:cs typeface="Aptos"/>
              </a:defRPr>
            </a:pPr>
            <a:r>
              <a:rPr sz="2100">
                <a:solidFill>
                  <a:srgbClr val="22313F"/>
                </a:solidFill>
                <a:latin typeface="Aptos"/>
                <a:ea typeface="Aptos"/>
                <a:cs typeface="Aptos"/>
              </a:rPr>
              <a:t>In the previous version, I focused the research objective on AI’s effect on individuals’ information acquisition.</a:t>
            </a:r>
          </a:p>
          <a:p xmlns:a="http://schemas.openxmlformats.org/drawingml/2006/main">
            <a:pPr marL="0" indent="0">
              <a:buNone/>
            </a:pPr>
          </a:p>
          <a:p xmlns:a="http://schemas.openxmlformats.org/drawingml/2006/main">
            <a:pPr marL="0" indent="0">
              <a:buNone/>
              <a:defRPr sz="2100">
                <a:solidFill>
                  <a:srgbClr val="22313F"/>
                </a:solidFill>
                <a:latin typeface="Aptos"/>
                <a:ea typeface="Aptos"/>
                <a:cs typeface="Aptos"/>
              </a:defRPr>
            </a:pPr>
            <a:r>
              <a:rPr sz="2100">
                <a:solidFill>
                  <a:srgbClr val="22313F"/>
                </a:solidFill>
                <a:latin typeface="Aptos"/>
                <a:ea typeface="Aptos"/>
                <a:cs typeface="Aptos"/>
              </a:rPr>
              <a:t>The instructor identified the following problem:</a:t>
            </a:r>
          </a:p>
          <a:p xmlns:a="http://schemas.openxmlformats.org/drawingml/2006/main">
            <a:pPr marL="0" indent="0">
              <a:buNone/>
              <a:defRPr sz="2100">
                <a:solidFill>
                  <a:srgbClr val="22313F"/>
                </a:solidFill>
                <a:latin typeface="Aptos"/>
                <a:ea typeface="Aptos"/>
                <a:cs typeface="Aptos"/>
              </a:defRPr>
            </a:pPr>
            <a:r>
              <a:rPr sz="2100">
                <a:solidFill>
                  <a:srgbClr val="22313F"/>
                </a:solidFill>
                <a:latin typeface="Aptos"/>
                <a:ea typeface="Aptos"/>
                <a:cs typeface="Aptos"/>
              </a:rPr>
              <a:t>The theoretical background was insufficient.</a:t>
            </a:r>
          </a:p>
        </p:txBody>
      </p:sp>
    </p:spTree>
    <p:extLst>
      <p:ext uri="{BB962C8B-B14F-4D97-AF65-F5344CB8AC3E}">
        <p14:creationId xmlns:p14="http://schemas.microsoft.com/office/powerpoint/2010/main" val="2106632202"/>
      </p:ext>
    </p:extLst>
  </p:cSld>
</p:sld>
</file>

<file path=ppt/slides/slide1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F717CFA-036A-486C-8864-78DBE33E0F4F}"/>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Paper 1: Theoretical Framework</a:t>
            </a:r>
          </a:p>
        </p:txBody>
      </p:sp>
      <p:sp>
        <p:nvSpPr>
          <p:cNvPr id="3" name="内容占位符 2">
            <a:extLst xmlns:a="http://schemas.openxmlformats.org/drawingml/2006/main">
              <a:ext uri="{FF2B5EF4-FFF2-40B4-BE49-F238E27FC236}">
                <a16:creationId xmlns:a16="http://schemas.microsoft.com/office/drawing/2014/main" id="{653EF61B-77E8-4BF3-AE1C-CBDC0324C13D}"/>
              </a:ext>
            </a:extLst>
          </p:cNvPr>
          <p:cNvSpPr>
            <a:spLocks xmlns:a="http://schemas.openxmlformats.org/drawingml/2006/main" noGrp="1"/>
          </p:cNvSpPr>
          <p:nvPr>
            <p:ph idx="1"/>
          </p:nvPr>
        </p:nvSpPr>
        <p:spPr>
          <a:xfrm xmlns:a="http://schemas.openxmlformats.org/drawingml/2006/main">
            <a:off x="685800" y="1428750"/>
            <a:ext cx="4686300" cy="4762500"/>
          </a:xfrm>
        </p:spPr>
        <p:txBody>
          <a:bodyPr xmlns:a="http://schemas.openxmlformats.org/drawingml/2006/main" wrap="square" lIns="0" tIns="0" rIns="0" bIns="0" anchor="t">
            <a:normAutofit fontScale="90252"/>
          </a:bodyPr>
          <a:lstStyle xmlns:a="http://schemas.openxmlformats.org/drawingml/2006/main"/>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OPTIMAL STOPPING THEORY</a:t>
            </a: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Theory type</a:t>
            </a: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Normative decision theory and a mathematical decision framework.</a:t>
            </a: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Disciplinary homes</a:t>
            </a: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 Information economics and search theory</a:t>
            </a: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 Microeconomic theory</a:t>
            </a: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 Operations research and management science</a:t>
            </a: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 Statistical decision theory</a:t>
            </a: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 Behavioral decision research</a:t>
            </a: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Representative journals</a:t>
            </a: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Econometrica; Journal of Economic Theory; Economic Theory; Operations Research; Management Science; Decision Analysis.</a:t>
            </a:r>
          </a:p>
        </p:txBody>
      </p:sp>
      <p:sp>
        <p:nvSpPr>
          <p:cNvPr id="4" name="paper1-optimal-stopping-detail">
            <a:extLst xmlns:a="http://schemas.openxmlformats.org/drawingml/2006/main">
              <a:ext uri="{FF2B5EF4-FFF2-40B4-BE49-F238E27FC236}">
                <a16:creationId xmlns:a16="http://schemas.microsoft.com/office/drawing/2014/main" id="{CEDCE435-229A-421E-8FF2-895E06521597}"/>
              </a:ext>
            </a:extLst>
          </p:cNvPr>
          <p:cNvSpPr>
            <a:spLocks xmlns:a="http://schemas.openxmlformats.org/drawingml/2006/main" noGrp="1"/>
          </p:cNvSpPr>
          <p:nvPr/>
        </p:nvSpPr>
        <p:spPr>
          <a:xfrm xmlns:a="http://schemas.openxmlformats.org/drawingml/2006/main">
            <a:off x="6191250" y="1428750"/>
            <a:ext cx="53149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425">
                <a:solidFill>
                  <a:srgbClr val="22313F"/>
                </a:solidFill>
                <a:latin typeface="Aptos"/>
                <a:ea typeface="Aptos"/>
                <a:cs typeface="Aptos"/>
              </a:defRPr>
            </a:pPr>
            <a:r>
              <a:rPr sz="1425" b="1">
                <a:solidFill>
                  <a:srgbClr val="22313F"/>
                </a:solidFill>
                <a:latin typeface="Aptos"/>
                <a:ea typeface="Aptos"/>
                <a:cs typeface="Aptos"/>
              </a:rPr>
              <a:t>DETAILED EXPLANATION</a:t>
            </a:r>
          </a:p>
          <a:p xmlns:a="http://schemas.openxmlformats.org/drawingml/2006/main">
            <a:pPr marL="0" indent="0">
              <a:buNone/>
            </a:pPr>
            <a:r>
              <a:t/>
            </a: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Optimal stopping theory asks when a decision maker should stop when information or options arrive sequentially, continued observation is costly, and future gains are uncertain. Its core is not “more search is always better,” but a comparison between the expected marginal benefit and marginal cost of one more search.</a:t>
            </a:r>
          </a:p>
          <a:p xmlns:a="http://schemas.openxmlformats.org/drawingml/2006/main">
            <a:pPr marL="0" indent="0">
              <a:buNone/>
            </a:pPr>
            <a:r>
              <a:t/>
            </a: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Weitzman’s classic model converts search objects into reservation values. Search continues while an unchecked option still offers sufficient expected gain; it stops when the best observed outcome exceeds the reservation value of every unchecked option. Paper 1 is not exactly the same “find the best option” task, but it can use the central criterion: Is the expected information value of the next piece of evidence greater than the cost of obtaining it?</a:t>
            </a:r>
          </a:p>
        </p:txBody>
      </p:sp>
    </p:spTree>
    <p:extLst>
      <p:ext uri="{BB962C8B-B14F-4D97-AF65-F5344CB8AC3E}">
        <p14:creationId xmlns:p14="http://schemas.microsoft.com/office/powerpoint/2010/main" val="626238169"/>
      </p:ext>
    </p:extLst>
  </p:cSld>
</p:sld>
</file>

<file path=ppt/slides/slide1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28D020A-E716-4642-A1EA-37F14B7E701C}"/>
              </a:ext>
            </a:extLst>
          </p:cNvPr>
          <p:cNvSpPr>
            <a:spLocks xmlns:a="http://schemas.openxmlformats.org/drawingml/2006/main" noGrp="1"/>
          </p:cNvSpPr>
          <p:nvPr>
            <p:ph type="title" idx="0"/>
          </p:nvPr>
        </p:nvSpPr>
        <p:spPr>
          <a:xfrm xmlns:a="http://schemas.openxmlformats.org/drawingml/2006/main">
            <a:off x="609600" y="400050"/>
            <a:ext cx="10972800" cy="9906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250" b="1">
                <a:solidFill>
                  <a:srgbClr val="102A43"/>
                </a:solidFill>
                <a:latin typeface="Aptos Display"/>
                <a:ea typeface="Aptos Display"/>
                <a:cs typeface="Aptos Display"/>
              </a:defRPr>
            </a:pPr>
            <a:r>
              <a:rPr sz="2250" b="1">
                <a:solidFill>
                  <a:srgbClr val="102A43"/>
                </a:solidFill>
                <a:latin typeface="Aptos Display"/>
                <a:ea typeface="Aptos Display"/>
                <a:cs typeface="Aptos Display"/>
              </a:rPr>
              <a:t>AI Improves Current Task Performance, Yet May Not Build the Capability Needed to Perform the Task—Paper 1’s Tension</a:t>
            </a:r>
          </a:p>
        </p:txBody>
      </p:sp>
      <p:sp>
        <p:nvSpPr>
          <p:cNvPr id="3" name="内容占位符 2">
            <a:extLst xmlns:a="http://schemas.openxmlformats.org/drawingml/2006/main">
              <a:ext uri="{FF2B5EF4-FFF2-40B4-BE49-F238E27FC236}">
                <a16:creationId xmlns:a16="http://schemas.microsoft.com/office/drawing/2014/main" id="{C31F39D3-13D7-4407-9B37-AD73E655CF9C}"/>
              </a:ext>
            </a:extLst>
          </p:cNvPr>
          <p:cNvSpPr>
            <a:spLocks xmlns:a="http://schemas.openxmlformats.org/drawingml/2006/main" noGrp="1"/>
          </p:cNvSpPr>
          <p:nvPr>
            <p:ph idx="1"/>
          </p:nvPr>
        </p:nvSpPr>
        <p:spPr>
          <a:xfrm xmlns:a="http://schemas.openxmlformats.org/drawingml/2006/main">
            <a:off x="685800" y="1352550"/>
            <a:ext cx="10820400" cy="4191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650">
                <a:solidFill>
                  <a:srgbClr val="22313F"/>
                </a:solidFill>
                <a:latin typeface="Aptos"/>
                <a:ea typeface="Aptos"/>
                <a:cs typeface="Aptos"/>
              </a:defRPr>
            </a:pPr>
            <a:r>
              <a:rPr sz="1650">
                <a:solidFill>
                  <a:srgbClr val="22313F"/>
                </a:solidFill>
                <a:latin typeface="Aptos"/>
                <a:ea typeface="Aptos"/>
                <a:cs typeface="Aptos"/>
              </a:rPr>
              <a:t>Broadly, we aim to examine the following phenomenon:</a:t>
            </a:r>
          </a:p>
        </p:txBody>
      </p:sp>
      <p:graphicFrame>
        <p:nvGraphicFramePr>
          <p:cNvPr id="9" name="表格 3"/>
          <p:cNvGraphicFramePr/>
          <p:nvPr/>
        </p:nvGraphicFramePr>
        <p:xfrm>
          <a:off xmlns:a="http://schemas.openxmlformats.org/drawingml/2006/main" x="853440" y="2255520"/>
          <a:ext xmlns:a="http://schemas.openxmlformats.org/drawingml/2006/main" cx="10485120" cy="0"/>
        </p:xfrm>
        <a:graphic xmlns:a="http://schemas.openxmlformats.org/drawingml/2006/main">
          <a:graphicData uri="http://schemas.openxmlformats.org/drawingml/2006/table">
            <a:tbl>
              <a:tblPr/>
              <a:tblGrid>
                <a:gridCol w="2621280"/>
                <a:gridCol w="2621280"/>
                <a:gridCol w="2621280"/>
                <a:gridCol w="2621280"/>
              </a:tblGrid>
              <a:tr h="0">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r>
              <a:tr h="0">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r>
              <a:tr h="0">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r>
              <a:tr h="0">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r>
              <a:tr h="0">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r>
              <a:tr h="0">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r>
              <a:tr h="0">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r>
              <a:tr h="0">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r>
              <a:tr h="0">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r>
              <a:tr h="0">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c>
                  <a:txBody>
                    <a:bodyPr wrap="square">
                      <a:normAutofit/>
                    </a:bodyPr>
                    <a:lstStyle/>
                    <a:p/>
                  </a:txBody>
                  <a:tcPr marL="0" marR="0" marT="0" marB="0" anchor="ctr" anchorCtr="0">
                    <a:lnL>
                      <a:noFill/>
                    </a:lnL>
                    <a:lnR>
                      <a:noFill/>
                    </a:lnR>
                    <a:lnT>
                      <a:noFill/>
                    </a:lnT>
                    <a:lnB>
                      <a:noFill/>
                    </a:lnB>
                    <a:noFill/>
                  </a:tcPr>
                </a:tc>
              </a:tr>
            </a:tbl>
          </a:graphicData>
        </a:graphic>
      </p:graphicFrame>
      <p:graphicFrame>
        <p:nvGraphicFramePr>
          <p:cNvPr id="10" name="表格 9"/>
          <p:cNvGraphicFramePr/>
          <p:nvPr/>
        </p:nvGraphicFramePr>
        <p:xfrm>
          <a:off xmlns:a="http://schemas.openxmlformats.org/drawingml/2006/main" x="685800" y="2000250"/>
          <a:ext xmlns:a="http://schemas.openxmlformats.org/drawingml/2006/main" cx="10820400" cy="2286000"/>
        </p:xfrm>
        <a:graphic xmlns:a="http://schemas.openxmlformats.org/drawingml/2006/main">
          <a:graphicData uri="http://schemas.openxmlformats.org/drawingml/2006/table">
            <a:tbl>
              <a:tblPr firstRow="1" bandRow="1"/>
              <a:tblGrid>
                <a:gridCol w="1762125"/>
                <a:gridCol w="2476500"/>
                <a:gridCol w="3810000"/>
                <a:gridCol w="2771775"/>
              </a:tblGrid>
              <a:tr h="323850">
                <a:tc>
                  <a:txBody>
                    <a:bodyPr wrap="square">
                      <a:normAutofit/>
                    </a:bodyPr>
                    <a:lstStyle/>
                    <a:p>
                      <a:r>
                        <a:rPr sz="1090" b="1">
                          <a:solidFill>
                            <a:srgbClr val="FFFFFF"/>
                          </a:solidFill>
                          <a:latin typeface="Aptos"/>
                          <a:ea typeface="Aptos"/>
                          <a:cs typeface="Aptos"/>
                        </a:rPr>
                        <a:t>Domain</a:t>
                      </a:r>
                    </a:p>
                  </a:txBody>
                  <a:tcPr marL="91440" marR="91440" marT="45720" marB="45720">
                    <a:solidFill>
                      <a:srgbClr val="102A43"/>
                    </a:solidFill>
                  </a:tcPr>
                </a:tc>
                <a:tc>
                  <a:txBody>
                    <a:bodyPr wrap="square">
                      <a:normAutofit/>
                    </a:bodyPr>
                    <a:lstStyle/>
                    <a:p>
                      <a:r>
                        <a:rPr sz="1090" b="1">
                          <a:solidFill>
                            <a:srgbClr val="FFFFFF"/>
                          </a:solidFill>
                          <a:latin typeface="Aptos"/>
                          <a:ea typeface="Aptos"/>
                          <a:cs typeface="Aptos"/>
                        </a:rPr>
                        <a:t>Surface gain from AI</a:t>
                      </a:r>
                    </a:p>
                  </a:txBody>
                  <a:tcPr marL="91440" marR="91440" marT="45720" marB="45720">
                    <a:solidFill>
                      <a:srgbClr val="102A43"/>
                    </a:solidFill>
                  </a:tcPr>
                </a:tc>
                <a:tc>
                  <a:txBody>
                    <a:bodyPr wrap="square">
                      <a:normAutofit/>
                    </a:bodyPr>
                    <a:lstStyle/>
                    <a:p>
                      <a:r>
                        <a:rPr sz="1090" b="1">
                          <a:solidFill>
                            <a:srgbClr val="FFFFFF"/>
                          </a:solidFill>
                          <a:latin typeface="Aptos"/>
                          <a:ea typeface="Aptos"/>
                          <a:cs typeface="Aptos"/>
                        </a:rPr>
                        <a:t>Capability gap that may be hidden</a:t>
                      </a:r>
                    </a:p>
                  </a:txBody>
                  <a:tcPr marL="91440" marR="91440" marT="45720" marB="45720">
                    <a:solidFill>
                      <a:srgbClr val="102A43"/>
                    </a:solidFill>
                  </a:tcPr>
                </a:tc>
                <a:tc>
                  <a:txBody>
                    <a:bodyPr wrap="square">
                      <a:normAutofit/>
                    </a:bodyPr>
                    <a:lstStyle/>
                    <a:p>
                      <a:r>
                        <a:rPr sz="1090" b="1">
                          <a:solidFill>
                            <a:srgbClr val="FFFFFF"/>
                          </a:solidFill>
                          <a:latin typeface="Aptos"/>
                          <a:ea typeface="Aptos"/>
                          <a:cs typeface="Aptos"/>
                        </a:rPr>
                        <a:t>Disciplinary home</a:t>
                      </a:r>
                    </a:p>
                  </a:txBody>
                  <a:tcPr marL="91440" marR="91440" marT="45720" marB="45720">
                    <a:solidFill>
                      <a:srgbClr val="102A43"/>
                    </a:solidFill>
                  </a:tcPr>
                </a:tc>
              </a:tr>
              <a:tr h="381000">
                <a:tc>
                  <a:txBody>
                    <a:bodyPr wrap="square">
                      <a:normAutofit/>
                    </a:bodyPr>
                    <a:lstStyle/>
                    <a:p>
                      <a:r>
                        <a:rPr sz="1015" b="1">
                          <a:solidFill>
                            <a:srgbClr val="22313F"/>
                          </a:solidFill>
                          <a:latin typeface="Aptos"/>
                          <a:ea typeface="Aptos"/>
                          <a:cs typeface="Aptos"/>
                        </a:rPr>
                        <a:t>Academic research</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Rapid reviews, hypotheses, paper explanation, and drafting</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Cannot evaluate evidence, detect errors, identify theoretical boundaries, or formulate questions independently</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Science studies; research policy; higher education; JDM</a:t>
                      </a:r>
                    </a:p>
                  </a:txBody>
                  <a:tcPr marL="91440" marR="91440" marT="45720" marB="45720">
                    <a:solidFill>
                      <a:srgbClr val="FFFFFF"/>
                    </a:solidFill>
                  </a:tcPr>
                </a:tc>
              </a:tr>
              <a:tr h="381000">
                <a:tc>
                  <a:txBody>
                    <a:bodyPr wrap="square">
                      <a:normAutofit/>
                    </a:bodyPr>
                    <a:lstStyle/>
                    <a:p>
                      <a:r>
                        <a:rPr sz="1015" b="1">
                          <a:solidFill>
                            <a:srgbClr val="22313F"/>
                          </a:solidFill>
                          <a:latin typeface="Aptos"/>
                          <a:ea typeface="Aptos"/>
                          <a:cs typeface="Aptos"/>
                        </a:rPr>
                        <a:t>Organizational knowledge work</a:t>
                      </a:r>
                    </a:p>
                  </a:txBody>
                  <a:tcPr marL="91440" marR="91440" marT="45720" marB="45720">
                    <a:solidFill>
                      <a:srgbClr val="EDF3F6"/>
                    </a:solidFill>
                  </a:tcPr>
                </a:tc>
                <a:tc>
                  <a:txBody>
                    <a:bodyPr wrap="square">
                      <a:normAutofit/>
                    </a:bodyPr>
                    <a:lstStyle/>
                    <a:p>
                      <a:r>
                        <a:rPr sz="1015" b="0">
                          <a:solidFill>
                            <a:srgbClr val="22313F"/>
                          </a:solidFill>
                          <a:latin typeface="Aptos"/>
                          <a:ea typeface="Aptos"/>
                          <a:cs typeface="Aptos"/>
                        </a:rPr>
                        <a:t>Rapid reports, plans, and analysis</a:t>
                      </a:r>
                    </a:p>
                  </a:txBody>
                  <a:tcPr marL="91440" marR="91440" marT="45720" marB="45720">
                    <a:solidFill>
                      <a:srgbClr val="EDF3F6"/>
                    </a:solidFill>
                  </a:tcPr>
                </a:tc>
                <a:tc>
                  <a:txBody>
                    <a:bodyPr wrap="square">
                      <a:normAutofit/>
                    </a:bodyPr>
                    <a:lstStyle/>
                    <a:p>
                      <a:r>
                        <a:rPr sz="1015" b="0">
                          <a:solidFill>
                            <a:srgbClr val="22313F"/>
                          </a:solidFill>
                          <a:latin typeface="Aptos"/>
                          <a:ea typeface="Aptos"/>
                          <a:cs typeface="Aptos"/>
                        </a:rPr>
                        <a:t>Assumptions remain unexamined; counterexamples are hard to handle; knowledge does not accumulate</a:t>
                      </a:r>
                    </a:p>
                  </a:txBody>
                  <a:tcPr marL="91440" marR="91440" marT="45720" marB="45720">
                    <a:solidFill>
                      <a:srgbClr val="EDF3F6"/>
                    </a:solidFill>
                  </a:tcPr>
                </a:tc>
                <a:tc>
                  <a:txBody>
                    <a:bodyPr wrap="square">
                      <a:normAutofit/>
                    </a:bodyPr>
                    <a:lstStyle/>
                    <a:p>
                      <a:r>
                        <a:rPr sz="1015" b="0">
                          <a:solidFill>
                            <a:srgbClr val="22313F"/>
                          </a:solidFill>
                          <a:latin typeface="Aptos"/>
                          <a:ea typeface="Aptos"/>
                          <a:cs typeface="Aptos"/>
                        </a:rPr>
                        <a:t>Information systems; organizational behavior; knowledge management</a:t>
                      </a:r>
                    </a:p>
                  </a:txBody>
                  <a:tcPr marL="91440" marR="91440" marT="45720" marB="45720">
                    <a:solidFill>
                      <a:srgbClr val="EDF3F6"/>
                    </a:solidFill>
                  </a:tcPr>
                </a:tc>
              </a:tr>
              <a:tr h="381000">
                <a:tc>
                  <a:txBody>
                    <a:bodyPr wrap="square">
                      <a:normAutofit/>
                    </a:bodyPr>
                    <a:lstStyle/>
                    <a:p>
                      <a:r>
                        <a:rPr sz="1015" b="1">
                          <a:solidFill>
                            <a:srgbClr val="22313F"/>
                          </a:solidFill>
                          <a:latin typeface="Aptos"/>
                          <a:ea typeface="Aptos"/>
                          <a:cs typeface="Aptos"/>
                        </a:rPr>
                        <a:t>Professional learning and training</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Novices achieve high immediate performance with AI</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Cannot transfer, diagnose, or solve problems independently without AI</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Learning sciences; professional education; skill formation</a:t>
                      </a:r>
                    </a:p>
                  </a:txBody>
                  <a:tcPr marL="91440" marR="91440" marT="45720" marB="45720">
                    <a:solidFill>
                      <a:srgbClr val="FFFFFF"/>
                    </a:solidFill>
                  </a:tcPr>
                </a:tc>
              </a:tr>
              <a:tr h="381000">
                <a:tc>
                  <a:txBody>
                    <a:bodyPr wrap="square">
                      <a:normAutofit/>
                    </a:bodyPr>
                    <a:lstStyle/>
                    <a:p>
                      <a:r>
                        <a:rPr sz="1015" b="1">
                          <a:solidFill>
                            <a:srgbClr val="22313F"/>
                          </a:solidFill>
                          <a:latin typeface="Aptos"/>
                          <a:ea typeface="Aptos"/>
                          <a:cs typeface="Aptos"/>
                        </a:rPr>
                        <a:t>Management and strategy</a:t>
                      </a:r>
                    </a:p>
                  </a:txBody>
                  <a:tcPr marL="91440" marR="91440" marT="45720" marB="45720">
                    <a:solidFill>
                      <a:srgbClr val="EDF3F6"/>
                    </a:solidFill>
                  </a:tcPr>
                </a:tc>
                <a:tc>
                  <a:txBody>
                    <a:bodyPr wrap="square">
                      <a:normAutofit/>
                    </a:bodyPr>
                    <a:lstStyle/>
                    <a:p>
                      <a:r>
                        <a:rPr sz="1015" b="0">
                          <a:solidFill>
                            <a:srgbClr val="22313F"/>
                          </a:solidFill>
                          <a:latin typeface="Aptos"/>
                          <a:ea typeface="Aptos"/>
                          <a:cs typeface="Aptos"/>
                        </a:rPr>
                        <a:t>Rapid, well-structured recommendations</a:t>
                      </a:r>
                    </a:p>
                  </a:txBody>
                  <a:tcPr marL="91440" marR="91440" marT="45720" marB="45720">
                    <a:solidFill>
                      <a:srgbClr val="EDF3F6"/>
                    </a:solidFill>
                  </a:tcPr>
                </a:tc>
                <a:tc>
                  <a:txBody>
                    <a:bodyPr wrap="square">
                      <a:normAutofit/>
                    </a:bodyPr>
                    <a:lstStyle/>
                    <a:p>
                      <a:r>
                        <a:rPr sz="1015" b="0">
                          <a:solidFill>
                            <a:srgbClr val="22313F"/>
                          </a:solidFill>
                          <a:latin typeface="Aptos"/>
                          <a:ea typeface="Aptos"/>
                          <a:cs typeface="Aptos"/>
                        </a:rPr>
                        <a:t>Managers cannot judge applicability boundaries or detect false premises</a:t>
                      </a:r>
                    </a:p>
                  </a:txBody>
                  <a:tcPr marL="91440" marR="91440" marT="45720" marB="45720">
                    <a:solidFill>
                      <a:srgbClr val="EDF3F6"/>
                    </a:solidFill>
                  </a:tcPr>
                </a:tc>
                <a:tc>
                  <a:txBody>
                    <a:bodyPr wrap="square">
                      <a:normAutofit/>
                    </a:bodyPr>
                    <a:lstStyle/>
                    <a:p>
                      <a:r>
                        <a:rPr sz="1015" b="0">
                          <a:solidFill>
                            <a:srgbClr val="22313F"/>
                          </a:solidFill>
                          <a:latin typeface="Aptos"/>
                          <a:ea typeface="Aptos"/>
                          <a:cs typeface="Aptos"/>
                        </a:rPr>
                        <a:t>Management; strategy; JDM</a:t>
                      </a:r>
                    </a:p>
                  </a:txBody>
                  <a:tcPr marL="91440" marR="91440" marT="45720" marB="45720">
                    <a:solidFill>
                      <a:srgbClr val="EDF3F6"/>
                    </a:solidFill>
                  </a:tcPr>
                </a:tc>
              </a:tr>
              <a:tr h="381000">
                <a:tc>
                  <a:txBody>
                    <a:bodyPr wrap="square">
                      <a:normAutofit/>
                    </a:bodyPr>
                    <a:lstStyle/>
                    <a:p>
                      <a:r>
                        <a:rPr sz="1015" b="1">
                          <a:solidFill>
                            <a:srgbClr val="22313F"/>
                          </a:solidFill>
                          <a:latin typeface="Aptos"/>
                          <a:ea typeface="Aptos"/>
                          <a:cs typeface="Aptos"/>
                        </a:rPr>
                        <a:t>Medical decisions</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Diagnostic advice and case explanation</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Clinicians cannot independently validate or explain anomalous cases</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Medical decision making; professional judgment</a:t>
                      </a:r>
                    </a:p>
                  </a:txBody>
                  <a:tcPr marL="91440" marR="91440" marT="45720" marB="45720">
                    <a:solidFill>
                      <a:srgbClr val="FFFFFF"/>
                    </a:solidFill>
                  </a:tcPr>
                </a:tc>
              </a:tr>
            </a:tbl>
          </a:graphicData>
        </a:graphic>
      </p:graphicFrame>
      <p:graphicFrame>
        <p:nvGraphicFramePr>
          <p:cNvPr id="11" name="表格 10"/>
          <p:cNvGraphicFramePr/>
          <p:nvPr/>
        </p:nvGraphicFramePr>
        <p:xfrm>
          <a:off xmlns:a="http://schemas.openxmlformats.org/drawingml/2006/main" x="685800" y="4457700"/>
          <a:ext xmlns:a="http://schemas.openxmlformats.org/drawingml/2006/main" cx="10820400" cy="2000250"/>
        </p:xfrm>
        <a:graphic xmlns:a="http://schemas.openxmlformats.org/drawingml/2006/main">
          <a:graphicData uri="http://schemas.openxmlformats.org/drawingml/2006/table">
            <a:tbl>
              <a:tblPr firstRow="1" bandRow="1"/>
              <a:tblGrid>
                <a:gridCol w="1762125"/>
                <a:gridCol w="2476500"/>
                <a:gridCol w="3810000"/>
                <a:gridCol w="2771775"/>
              </a:tblGrid>
              <a:tr h="323850">
                <a:tc>
                  <a:txBody>
                    <a:bodyPr wrap="square">
                      <a:normAutofit/>
                    </a:bodyPr>
                    <a:lstStyle/>
                    <a:p>
                      <a:r>
                        <a:rPr sz="1090" b="1">
                          <a:solidFill>
                            <a:srgbClr val="FFFFFF"/>
                          </a:solidFill>
                          <a:latin typeface="Aptos"/>
                          <a:ea typeface="Aptos"/>
                          <a:cs typeface="Aptos"/>
                        </a:rPr>
                        <a:t>Domain</a:t>
                      </a:r>
                    </a:p>
                  </a:txBody>
                  <a:tcPr marL="91440" marR="91440" marT="45720" marB="45720">
                    <a:solidFill>
                      <a:srgbClr val="102A43"/>
                    </a:solidFill>
                  </a:tcPr>
                </a:tc>
                <a:tc>
                  <a:txBody>
                    <a:bodyPr wrap="square">
                      <a:normAutofit/>
                    </a:bodyPr>
                    <a:lstStyle/>
                    <a:p>
                      <a:r>
                        <a:rPr sz="1090" b="1">
                          <a:solidFill>
                            <a:srgbClr val="FFFFFF"/>
                          </a:solidFill>
                          <a:latin typeface="Aptos"/>
                          <a:ea typeface="Aptos"/>
                          <a:cs typeface="Aptos"/>
                        </a:rPr>
                        <a:t>Surface gain from AI</a:t>
                      </a:r>
                    </a:p>
                  </a:txBody>
                  <a:tcPr marL="91440" marR="91440" marT="45720" marB="45720">
                    <a:solidFill>
                      <a:srgbClr val="102A43"/>
                    </a:solidFill>
                  </a:tcPr>
                </a:tc>
                <a:tc>
                  <a:txBody>
                    <a:bodyPr wrap="square">
                      <a:normAutofit/>
                    </a:bodyPr>
                    <a:lstStyle/>
                    <a:p>
                      <a:r>
                        <a:rPr sz="1090" b="1">
                          <a:solidFill>
                            <a:srgbClr val="FFFFFF"/>
                          </a:solidFill>
                          <a:latin typeface="Aptos"/>
                          <a:ea typeface="Aptos"/>
                          <a:cs typeface="Aptos"/>
                        </a:rPr>
                        <a:t>Capability gap that may be hidden</a:t>
                      </a:r>
                    </a:p>
                  </a:txBody>
                  <a:tcPr marL="91440" marR="91440" marT="45720" marB="45720">
                    <a:solidFill>
                      <a:srgbClr val="102A43"/>
                    </a:solidFill>
                  </a:tcPr>
                </a:tc>
                <a:tc>
                  <a:txBody>
                    <a:bodyPr wrap="square">
                      <a:normAutofit/>
                    </a:bodyPr>
                    <a:lstStyle/>
                    <a:p>
                      <a:r>
                        <a:rPr sz="1090" b="1">
                          <a:solidFill>
                            <a:srgbClr val="FFFFFF"/>
                          </a:solidFill>
                          <a:latin typeface="Aptos"/>
                          <a:ea typeface="Aptos"/>
                          <a:cs typeface="Aptos"/>
                        </a:rPr>
                        <a:t>Disciplinary home</a:t>
                      </a:r>
                    </a:p>
                  </a:txBody>
                  <a:tcPr marL="91440" marR="91440" marT="45720" marB="45720">
                    <a:solidFill>
                      <a:srgbClr val="102A43"/>
                    </a:solidFill>
                  </a:tcPr>
                </a:tc>
              </a:tr>
              <a:tr h="400050">
                <a:tc>
                  <a:txBody>
                    <a:bodyPr wrap="square">
                      <a:normAutofit/>
                    </a:bodyPr>
                    <a:lstStyle/>
                    <a:p>
                      <a:r>
                        <a:rPr sz="1015" b="1">
                          <a:solidFill>
                            <a:srgbClr val="22313F"/>
                          </a:solidFill>
                          <a:latin typeface="Aptos"/>
                          <a:ea typeface="Aptos"/>
                          <a:cs typeface="Aptos"/>
                        </a:rPr>
                        <a:t>Law and compliance</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Rapid regulatory explanation and legal opinions</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Cannot identify exceptions, jurisdictional differences, or reasoning flaws</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Law and society; professional services</a:t>
                      </a:r>
                    </a:p>
                  </a:txBody>
                  <a:tcPr marL="91440" marR="91440" marT="45720" marB="45720">
                    <a:solidFill>
                      <a:srgbClr val="FFFFFF"/>
                    </a:solidFill>
                  </a:tcPr>
                </a:tc>
              </a:tr>
              <a:tr h="400050">
                <a:tc>
                  <a:txBody>
                    <a:bodyPr wrap="square">
                      <a:normAutofit/>
                    </a:bodyPr>
                    <a:lstStyle/>
                    <a:p>
                      <a:r>
                        <a:rPr sz="1015" b="1">
                          <a:solidFill>
                            <a:srgbClr val="22313F"/>
                          </a:solidFill>
                          <a:latin typeface="Aptos"/>
                          <a:ea typeface="Aptos"/>
                          <a:cs typeface="Aptos"/>
                        </a:rPr>
                        <a:t>News and public information</a:t>
                      </a:r>
                    </a:p>
                  </a:txBody>
                  <a:tcPr marL="91440" marR="91440" marT="45720" marB="45720">
                    <a:solidFill>
                      <a:srgbClr val="EDF3F6"/>
                    </a:solidFill>
                  </a:tcPr>
                </a:tc>
                <a:tc>
                  <a:txBody>
                    <a:bodyPr wrap="square">
                      <a:normAutofit/>
                    </a:bodyPr>
                    <a:lstStyle/>
                    <a:p>
                      <a:r>
                        <a:rPr sz="1015" b="0">
                          <a:solidFill>
                            <a:srgbClr val="22313F"/>
                          </a:solidFill>
                          <a:latin typeface="Aptos"/>
                          <a:ea typeface="Aptos"/>
                          <a:cs typeface="Aptos"/>
                        </a:rPr>
                        <a:t>Rapid summaries of complex events</a:t>
                      </a:r>
                    </a:p>
                  </a:txBody>
                  <a:tcPr marL="91440" marR="91440" marT="45720" marB="45720">
                    <a:solidFill>
                      <a:srgbClr val="EDF3F6"/>
                    </a:solidFill>
                  </a:tcPr>
                </a:tc>
                <a:tc>
                  <a:txBody>
                    <a:bodyPr wrap="square">
                      <a:normAutofit/>
                    </a:bodyPr>
                    <a:lstStyle/>
                    <a:p>
                      <a:r>
                        <a:rPr sz="1015" b="0">
                          <a:solidFill>
                            <a:srgbClr val="22313F"/>
                          </a:solidFill>
                          <a:latin typeface="Aptos"/>
                          <a:ea typeface="Aptos"/>
                          <a:cs typeface="Aptos"/>
                        </a:rPr>
                        <a:t>Cannot verify sources or separate evidence from inference</a:t>
                      </a:r>
                    </a:p>
                  </a:txBody>
                  <a:tcPr marL="91440" marR="91440" marT="45720" marB="45720">
                    <a:solidFill>
                      <a:srgbClr val="EDF3F6"/>
                    </a:solidFill>
                  </a:tcPr>
                </a:tc>
                <a:tc>
                  <a:txBody>
                    <a:bodyPr wrap="square">
                      <a:normAutofit/>
                    </a:bodyPr>
                    <a:lstStyle/>
                    <a:p>
                      <a:r>
                        <a:rPr sz="1015" b="0">
                          <a:solidFill>
                            <a:srgbClr val="22313F"/>
                          </a:solidFill>
                          <a:latin typeface="Aptos"/>
                          <a:ea typeface="Aptos"/>
                          <a:cs typeface="Aptos"/>
                        </a:rPr>
                        <a:t>Communication; information behavior; misinformation</a:t>
                      </a:r>
                    </a:p>
                  </a:txBody>
                  <a:tcPr marL="91440" marR="91440" marT="45720" marB="45720">
                    <a:solidFill>
                      <a:srgbClr val="EDF3F6"/>
                    </a:solidFill>
                  </a:tcPr>
                </a:tc>
              </a:tr>
              <a:tr h="400050">
                <a:tc>
                  <a:txBody>
                    <a:bodyPr wrap="square">
                      <a:normAutofit/>
                    </a:bodyPr>
                    <a:lstStyle/>
                    <a:p>
                      <a:r>
                        <a:rPr sz="1015" b="1">
                          <a:solidFill>
                            <a:srgbClr val="22313F"/>
                          </a:solidFill>
                          <a:latin typeface="Aptos"/>
                          <a:ea typeface="Aptos"/>
                          <a:cs typeface="Aptos"/>
                        </a:rPr>
                        <a:t>Citizen decisions</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Rapid understanding of health, finance, or policy information</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Subjective understanding improves, but actual judgment and questioning do not</a:t>
                      </a:r>
                    </a:p>
                  </a:txBody>
                  <a:tcPr marL="91440" marR="91440" marT="45720" marB="45720">
                    <a:solidFill>
                      <a:srgbClr val="FFFFFF"/>
                    </a:solidFill>
                  </a:tcPr>
                </a:tc>
                <a:tc>
                  <a:txBody>
                    <a:bodyPr wrap="square">
                      <a:normAutofit/>
                    </a:bodyPr>
                    <a:lstStyle/>
                    <a:p>
                      <a:r>
                        <a:rPr sz="1015" b="0">
                          <a:solidFill>
                            <a:srgbClr val="22313F"/>
                          </a:solidFill>
                          <a:latin typeface="Aptos"/>
                          <a:ea typeface="Aptos"/>
                          <a:cs typeface="Aptos"/>
                        </a:rPr>
                        <a:t>Behavioral public policy; risk communication; consumer decision making</a:t>
                      </a:r>
                    </a:p>
                  </a:txBody>
                  <a:tcPr marL="91440" marR="91440" marT="45720" marB="45720">
                    <a:solidFill>
                      <a:srgbClr val="FFFFFF"/>
                    </a:solidFill>
                  </a:tcPr>
                </a:tc>
              </a:tr>
              <a:tr h="400050">
                <a:tc>
                  <a:txBody>
                    <a:bodyPr wrap="square">
                      <a:normAutofit/>
                    </a:bodyPr>
                    <a:lstStyle/>
                    <a:p>
                      <a:r>
                        <a:rPr sz="1015" b="1">
                          <a:solidFill>
                            <a:srgbClr val="22313F"/>
                          </a:solidFill>
                          <a:latin typeface="Aptos"/>
                          <a:ea typeface="Aptos"/>
                          <a:cs typeface="Aptos"/>
                        </a:rPr>
                        <a:t>Public administration</a:t>
                      </a:r>
                    </a:p>
                  </a:txBody>
                  <a:tcPr marL="91440" marR="91440" marT="45720" marB="45720">
                    <a:solidFill>
                      <a:srgbClr val="EDF3F6"/>
                    </a:solidFill>
                  </a:tcPr>
                </a:tc>
                <a:tc>
                  <a:txBody>
                    <a:bodyPr wrap="square">
                      <a:normAutofit/>
                    </a:bodyPr>
                    <a:lstStyle/>
                    <a:p>
                      <a:r>
                        <a:rPr sz="1015" b="0">
                          <a:solidFill>
                            <a:srgbClr val="22313F"/>
                          </a:solidFill>
                          <a:latin typeface="Aptos"/>
                          <a:ea typeface="Aptos"/>
                          <a:cs typeface="Aptos"/>
                        </a:rPr>
                        <a:t>Rapid policy explanation and case processing</a:t>
                      </a:r>
                    </a:p>
                  </a:txBody>
                  <a:tcPr marL="91440" marR="91440" marT="45720" marB="45720">
                    <a:solidFill>
                      <a:srgbClr val="EDF3F6"/>
                    </a:solidFill>
                  </a:tcPr>
                </a:tc>
                <a:tc>
                  <a:txBody>
                    <a:bodyPr wrap="square">
                      <a:normAutofit/>
                    </a:bodyPr>
                    <a:lstStyle/>
                    <a:p>
                      <a:r>
                        <a:rPr sz="1015" b="0">
                          <a:solidFill>
                            <a:srgbClr val="22313F"/>
                          </a:solidFill>
                          <a:latin typeface="Aptos"/>
                          <a:ea typeface="Aptos"/>
                          <a:cs typeface="Aptos"/>
                        </a:rPr>
                        <a:t>Officials cannot independently explain, review, and apply rules</a:t>
                      </a:r>
                    </a:p>
                  </a:txBody>
                  <a:tcPr marL="91440" marR="91440" marT="45720" marB="45720">
                    <a:solidFill>
                      <a:srgbClr val="EDF3F6"/>
                    </a:solidFill>
                  </a:tcPr>
                </a:tc>
                <a:tc>
                  <a:txBody>
                    <a:bodyPr wrap="square">
                      <a:normAutofit/>
                    </a:bodyPr>
                    <a:lstStyle/>
                    <a:p>
                      <a:r>
                        <a:rPr sz="1015" b="0">
                          <a:solidFill>
                            <a:srgbClr val="22313F"/>
                          </a:solidFill>
                          <a:latin typeface="Aptos"/>
                          <a:ea typeface="Aptos"/>
                          <a:cs typeface="Aptos"/>
                        </a:rPr>
                        <a:t>Public administration; administrative discretion; accountability</a:t>
                      </a:r>
                    </a:p>
                  </a:txBody>
                  <a:tcPr marL="91440" marR="91440" marT="45720" marB="45720">
                    <a:solidFill>
                      <a:srgbClr val="EDF3F6"/>
                    </a:solidFill>
                  </a:tcPr>
                </a:tc>
              </a:tr>
            </a:tbl>
          </a:graphicData>
        </a:graphic>
      </p:graphicFrame>
    </p:spTree>
    <p:extLst>
      <p:ext uri="{BB962C8B-B14F-4D97-AF65-F5344CB8AC3E}">
        <p14:creationId xmlns:p14="http://schemas.microsoft.com/office/powerpoint/2010/main" val="337990553"/>
      </p:ext>
    </p:extLst>
  </p:cSld>
</p:sld>
</file>

<file path=ppt/slides/slide1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CC436AE-C6F8-4111-9E4B-0A535FCC53BE}"/>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More Specifically, Paper 1 Focuses on the Information-Collection Stage</a:t>
            </a:r>
          </a:p>
        </p:txBody>
      </p:sp>
      <p:sp>
        <p:nvSpPr>
          <p:cNvPr id="3" name="内容占位符 2">
            <a:extLst xmlns:a="http://schemas.openxmlformats.org/drawingml/2006/main">
              <a:ext uri="{FF2B5EF4-FFF2-40B4-BE49-F238E27FC236}">
                <a16:creationId xmlns:a16="http://schemas.microsoft.com/office/drawing/2014/main" id="{27F66C1E-FBB2-4626-AC0D-3A2D8301B314}"/>
              </a:ext>
            </a:extLst>
          </p:cNvPr>
          <p:cNvSpPr>
            <a:spLocks xmlns:a="http://schemas.openxmlformats.org/drawingml/2006/main" noGrp="1"/>
          </p:cNvSpPr>
          <p:nvPr>
            <p:ph idx="1"/>
          </p:nvPr>
        </p:nvSpPr>
        <p:spPr>
          <a:xfrm xmlns:a="http://schemas.openxmlformats.org/drawingml/2006/main">
            <a:off x="1238250" y="1809750"/>
            <a:ext cx="9715500" cy="34290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2025">
                <a:solidFill>
                  <a:srgbClr val="22313F"/>
                </a:solidFill>
                <a:latin typeface="Aptos"/>
                <a:ea typeface="Aptos"/>
                <a:cs typeface="Aptos"/>
              </a:defRPr>
            </a:pPr>
            <a:r>
              <a:rPr sz="2025">
                <a:solidFill>
                  <a:srgbClr val="22313F"/>
                </a:solidFill>
                <a:latin typeface="Aptos"/>
                <a:ea typeface="Aptos"/>
                <a:cs typeface="Aptos"/>
              </a:rPr>
              <a:t>WHY DOES THIS MATTER?</a:t>
            </a:r>
          </a:p>
          <a:p xmlns:a="http://schemas.openxmlformats.org/drawingml/2006/main">
            <a:pPr marL="0" indent="0">
              <a:buNone/>
              <a:defRPr sz="2025">
                <a:solidFill>
                  <a:srgbClr val="22313F"/>
                </a:solidFill>
                <a:latin typeface="Aptos"/>
                <a:ea typeface="Aptos"/>
                <a:cs typeface="Aptos"/>
              </a:defRPr>
            </a:pPr>
            <a:r>
              <a:rPr sz="2025">
                <a:solidFill>
                  <a:srgbClr val="22313F"/>
                </a:solidFill>
                <a:latin typeface="Aptos"/>
                <a:ea typeface="Aptos"/>
                <a:cs typeface="Aptos"/>
              </a:rPr>
              <a:t>Information collection is one of the tasks most widely delegated to AI, so the affected audience is broad.</a:t>
            </a:r>
          </a:p>
          <a:p xmlns:a="http://schemas.openxmlformats.org/drawingml/2006/main">
            <a:pPr marL="0" indent="0">
              <a:buNone/>
            </a:pPr>
          </a:p>
          <a:p xmlns:a="http://schemas.openxmlformats.org/drawingml/2006/main">
            <a:pPr marL="0" indent="0">
              <a:buNone/>
              <a:defRPr sz="2025">
                <a:solidFill>
                  <a:srgbClr val="22313F"/>
                </a:solidFill>
                <a:latin typeface="Aptos"/>
                <a:ea typeface="Aptos"/>
                <a:cs typeface="Aptos"/>
              </a:defRPr>
            </a:pPr>
            <a:r>
              <a:rPr sz="2025">
                <a:solidFill>
                  <a:srgbClr val="22313F"/>
                </a:solidFill>
                <a:latin typeface="Aptos"/>
                <a:ea typeface="Aptos"/>
                <a:cs typeface="Aptos"/>
              </a:rPr>
              <a:t>WHERE IS THE THEORETICAL GAP?</a:t>
            </a:r>
          </a:p>
          <a:p xmlns:a="http://schemas.openxmlformats.org/drawingml/2006/main">
            <a:pPr marL="0" indent="0">
              <a:buNone/>
              <a:defRPr sz="2025">
                <a:solidFill>
                  <a:srgbClr val="22313F"/>
                </a:solidFill>
                <a:latin typeface="Aptos"/>
                <a:ea typeface="Aptos"/>
                <a:cs typeface="Aptos"/>
              </a:defRPr>
            </a:pPr>
            <a:r>
              <a:rPr sz="2025">
                <a:solidFill>
                  <a:srgbClr val="22313F"/>
                </a:solidFill>
                <a:latin typeface="Aptos"/>
                <a:ea typeface="Aptos"/>
                <a:cs typeface="Aptos"/>
              </a:rPr>
              <a:t>Existing theories cannot clearly explain the consequences AI creates for people.</a:t>
            </a:r>
          </a:p>
        </p:txBody>
      </p:sp>
    </p:spTree>
    <p:extLst>
      <p:ext uri="{BB962C8B-B14F-4D97-AF65-F5344CB8AC3E}">
        <p14:creationId xmlns:p14="http://schemas.microsoft.com/office/powerpoint/2010/main" val="756678968"/>
      </p:ext>
    </p:extLst>
  </p:cSld>
</p:sld>
</file>

<file path=ppt/slides/slide16.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13D09F2-E1CC-419C-9A20-BC5697AAA89A}"/>
              </a:ext>
            </a:extLst>
          </p:cNvPr>
          <p:cNvSpPr>
            <a:spLocks xmlns:a="http://schemas.openxmlformats.org/drawingml/2006/main" noGrp="1"/>
          </p:cNvSpPr>
          <p:nvPr>
            <p:ph type="title" idx="0"/>
          </p:nvPr>
        </p:nvSpPr>
        <p:spPr>
          <a:xfrm xmlns:a="http://schemas.openxmlformats.org/drawingml/2006/main">
            <a:off x="781050" y="2076450"/>
            <a:ext cx="10572750" cy="2714625"/>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CHAPTER 2</a:t>
            </a:r>
          </a:p>
          <a:p xmlns:a="http://schemas.openxmlformats.org/drawingml/2006/main">
            <a:pPr>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How Can AI Governance Promote Trust Calibration, Aligning Individual Reliance with AI’s Actual Performance?</a:t>
            </a:r>
          </a:p>
        </p:txBody>
      </p:sp>
    </p:spTree>
    <p:extLst>
      <p:ext uri="{BB962C8B-B14F-4D97-AF65-F5344CB8AC3E}">
        <p14:creationId xmlns:p14="http://schemas.microsoft.com/office/powerpoint/2010/main" val="146390484"/>
      </p:ext>
    </p:extLst>
  </p:cSld>
</p:sld>
</file>

<file path=ppt/slides/slide1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2AC49E4-4F7A-4039-B5C1-57A64B0D9B09}"/>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Candidate Theoretical Frameworks</a:t>
            </a:r>
          </a:p>
        </p:txBody>
      </p:sp>
      <p:sp>
        <p:nvSpPr>
          <p:cNvPr id="3" name="内容占位符 2">
            <a:extLst xmlns:a="http://schemas.openxmlformats.org/drawingml/2006/main">
              <a:ext uri="{FF2B5EF4-FFF2-40B4-BE49-F238E27FC236}">
                <a16:creationId xmlns:a16="http://schemas.microsoft.com/office/drawing/2014/main" id="{02BA0B65-67D5-4BC2-B76A-0BA289958571}"/>
              </a:ext>
            </a:extLst>
          </p:cNvPr>
          <p:cNvSpPr>
            <a:spLocks xmlns:a="http://schemas.openxmlformats.org/drawingml/2006/main" noGrp="1"/>
          </p:cNvSpPr>
          <p:nvPr>
            <p:ph idx="1"/>
          </p:nvPr>
        </p:nvSpPr>
        <p:spPr>
          <a:xfrm xmlns:a="http://schemas.openxmlformats.org/drawingml/2006/main">
            <a:off x="685800" y="1257300"/>
            <a:ext cx="2476500" cy="2857500"/>
          </a:xfrm>
        </p:spPr>
        <p:txBody>
          <a:bodyPr xmlns:a="http://schemas.openxmlformats.org/drawingml/2006/main" wrap="square" lIns="0" tIns="0" rIns="0" bIns="0" anchor="t">
            <a:normAutofit fontScale="94102"/>
          </a:bodyPr>
          <a:lstStyle xmlns:a="http://schemas.openxmlformats.org/drawingml/2006/main"/>
          <a:p xmlns:a="http://schemas.openxmlformats.org/drawingml/2006/main">
            <a:pPr marL="0" indent="0">
              <a:buNone/>
              <a:defRPr sz="1650">
                <a:solidFill>
                  <a:srgbClr val="22313F"/>
                </a:solidFill>
                <a:latin typeface="Aptos"/>
                <a:ea typeface="Aptos"/>
                <a:cs typeface="Aptos"/>
              </a:defRPr>
            </a:pPr>
            <a:r>
              <a:rPr sz="1650">
                <a:solidFill>
                  <a:srgbClr val="22313F"/>
                </a:solidFill>
                <a:latin typeface="Aptos"/>
                <a:ea typeface="Aptos"/>
                <a:cs typeface="Aptos"/>
              </a:rPr>
              <a:t>The theoretical core remains:</a:t>
            </a:r>
          </a:p>
          <a:p xmlns:a="http://schemas.openxmlformats.org/drawingml/2006/main">
            <a:pPr marL="0" indent="0">
              <a:buNone/>
            </a:pPr>
          </a:p>
          <a:p xmlns:a="http://schemas.openxmlformats.org/drawingml/2006/main">
            <a:pPr marL="0" indent="0">
              <a:buNone/>
              <a:defRPr sz="1650">
                <a:solidFill>
                  <a:srgbClr val="22313F"/>
                </a:solidFill>
                <a:latin typeface="Aptos"/>
                <a:ea typeface="Aptos"/>
                <a:cs typeface="Aptos"/>
              </a:defRPr>
            </a:pPr>
            <a:r>
              <a:rPr sz="1650">
                <a:solidFill>
                  <a:srgbClr val="22313F"/>
                </a:solidFill>
                <a:latin typeface="Aptos"/>
                <a:ea typeface="Aptos"/>
                <a:cs typeface="Aptos"/>
              </a:rPr>
              <a:t>• trust in automation;</a:t>
            </a:r>
          </a:p>
          <a:p xmlns:a="http://schemas.openxmlformats.org/drawingml/2006/main">
            <a:pPr marL="0" indent="0">
              <a:buNone/>
              <a:defRPr sz="1650">
                <a:solidFill>
                  <a:srgbClr val="22313F"/>
                </a:solidFill>
                <a:latin typeface="Aptos"/>
                <a:ea typeface="Aptos"/>
                <a:cs typeface="Aptos"/>
              </a:defRPr>
            </a:pPr>
            <a:r>
              <a:rPr sz="1650">
                <a:solidFill>
                  <a:srgbClr val="22313F"/>
                </a:solidFill>
                <a:latin typeface="Aptos"/>
                <a:ea typeface="Aptos"/>
                <a:cs typeface="Aptos"/>
              </a:rPr>
              <a:t>• human adoption of machine advice;</a:t>
            </a:r>
          </a:p>
          <a:p xmlns:a="http://schemas.openxmlformats.org/drawingml/2006/main">
            <a:pPr marL="0" indent="0">
              <a:buNone/>
              <a:defRPr sz="1650">
                <a:solidFill>
                  <a:srgbClr val="22313F"/>
                </a:solidFill>
                <a:latin typeface="Aptos"/>
                <a:ea typeface="Aptos"/>
                <a:cs typeface="Aptos"/>
              </a:defRPr>
            </a:pPr>
            <a:r>
              <a:rPr sz="1650">
                <a:solidFill>
                  <a:srgbClr val="22313F"/>
                </a:solidFill>
                <a:latin typeface="Aptos"/>
                <a:ea typeface="Aptos"/>
                <a:cs typeface="Aptos"/>
              </a:rPr>
              <a:t>• algorithm aversion and algorithm appreciation.</a:t>
            </a:r>
          </a:p>
        </p:txBody>
      </p:sp>
      <p:sp>
        <p:nvSpPr>
          <p:cNvPr id="5" name="文本框 4">
            <a:extLst xmlns:a="http://schemas.openxmlformats.org/drawingml/2006/main">
              <a:ext uri="{FF2B5EF4-FFF2-40B4-BE49-F238E27FC236}">
                <a16:creationId xmlns:a16="http://schemas.microsoft.com/office/drawing/2014/main" id="{43DF9129-72E1-4429-87C6-D8B8E2D02BCC}"/>
              </a:ext>
            </a:extLst>
          </p:cNvPr>
          <p:cNvSpPr>
            <a:spLocks xmlns:a="http://schemas.openxmlformats.org/drawingml/2006/main" noGrp="1"/>
          </p:cNvSpPr>
          <p:nvPr/>
        </p:nvSpPr>
        <p:spPr>
          <a:xfrm xmlns:a="http://schemas.openxmlformats.org/drawingml/2006/main">
            <a:off x="3524250" y="1200150"/>
            <a:ext cx="400050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315">
                <a:solidFill>
                  <a:srgbClr val="22313F"/>
                </a:solidFill>
                <a:latin typeface="Aptos"/>
                <a:ea typeface="Aptos"/>
                <a:cs typeface="Aptos"/>
              </a:defRPr>
            </a:pPr>
            <a:r>
              <a:rPr sz="1315">
                <a:solidFill>
                  <a:srgbClr val="22313F"/>
                </a:solidFill>
                <a:latin typeface="Aptos"/>
                <a:ea typeface="Aptos"/>
                <a:cs typeface="Aptos"/>
              </a:rPr>
              <a:t>JUDGMENT AND DECISION MAKING (JDM)</a:t>
            </a:r>
          </a:p>
          <a:p xmlns:a="http://schemas.openxmlformats.org/drawingml/2006/main">
            <a:pPr marL="0" indent="0">
              <a:buNone/>
            </a:pPr>
          </a:p>
          <a:p xmlns:a="http://schemas.openxmlformats.org/drawingml/2006/main">
            <a:pPr marL="0" indent="0">
              <a:buNone/>
              <a:defRPr sz="1315">
                <a:solidFill>
                  <a:srgbClr val="22313F"/>
                </a:solidFill>
                <a:latin typeface="Aptos"/>
                <a:ea typeface="Aptos"/>
                <a:cs typeface="Aptos"/>
              </a:defRPr>
            </a:pPr>
            <a:r>
              <a:rPr sz="1315">
                <a:solidFill>
                  <a:srgbClr val="22313F"/>
                </a:solidFill>
                <a:latin typeface="Aptos"/>
                <a:ea typeface="Aptos"/>
                <a:cs typeface="Aptos"/>
              </a:rPr>
              <a:t>The Journal of Behavioral Decision Making is a leading journal in this field, and the foundational roots of all these terms lie here:</a:t>
            </a:r>
          </a:p>
          <a:p xmlns:a="http://schemas.openxmlformats.org/drawingml/2006/main">
            <a:pPr marL="0" indent="0">
              <a:buNone/>
            </a:pPr>
          </a:p>
          <a:p xmlns:a="http://schemas.openxmlformats.org/drawingml/2006/main">
            <a:pPr marL="0" indent="0">
              <a:buNone/>
              <a:defRPr sz="1315">
                <a:solidFill>
                  <a:srgbClr val="22313F"/>
                </a:solidFill>
                <a:latin typeface="Aptos"/>
                <a:ea typeface="Aptos"/>
                <a:cs typeface="Aptos"/>
              </a:defRPr>
            </a:pPr>
            <a:r>
              <a:rPr sz="1315">
                <a:solidFill>
                  <a:srgbClr val="22313F"/>
                </a:solidFill>
                <a:latin typeface="Aptos"/>
                <a:ea typeface="Aptos"/>
                <a:cs typeface="Aptos"/>
              </a:rPr>
              <a:t>Algorithm aversion</a:t>
            </a:r>
          </a:p>
          <a:p xmlns:a="http://schemas.openxmlformats.org/drawingml/2006/main">
            <a:pPr marL="0" indent="0">
              <a:buNone/>
              <a:defRPr sz="1315">
                <a:solidFill>
                  <a:srgbClr val="22313F"/>
                </a:solidFill>
                <a:latin typeface="Aptos"/>
                <a:ea typeface="Aptos"/>
                <a:cs typeface="Aptos"/>
              </a:defRPr>
            </a:pPr>
            <a:r>
              <a:rPr sz="1315">
                <a:solidFill>
                  <a:srgbClr val="22313F"/>
                </a:solidFill>
                <a:latin typeface="Aptos"/>
                <a:ea typeface="Aptos"/>
                <a:cs typeface="Aptos"/>
              </a:rPr>
              <a:t>A signature JDM concept formally named in 2015, describing the cognitive bias of deliberately rejecting algorithmic advice that performs better.</a:t>
            </a:r>
          </a:p>
          <a:p xmlns:a="http://schemas.openxmlformats.org/drawingml/2006/main">
            <a:pPr marL="0" indent="0">
              <a:buNone/>
            </a:pPr>
          </a:p>
          <a:p xmlns:a="http://schemas.openxmlformats.org/drawingml/2006/main">
            <a:pPr marL="0" indent="0">
              <a:buNone/>
              <a:defRPr sz="1315">
                <a:solidFill>
                  <a:srgbClr val="22313F"/>
                </a:solidFill>
                <a:latin typeface="Aptos"/>
                <a:ea typeface="Aptos"/>
                <a:cs typeface="Aptos"/>
              </a:defRPr>
            </a:pPr>
            <a:r>
              <a:rPr sz="1315">
                <a:solidFill>
                  <a:srgbClr val="22313F"/>
                </a:solidFill>
                <a:latin typeface="Aptos"/>
                <a:ea typeface="Aptos"/>
                <a:cs typeface="Aptos"/>
              </a:rPr>
              <a:t>Expectations and expertise</a:t>
            </a:r>
          </a:p>
          <a:p xmlns:a="http://schemas.openxmlformats.org/drawingml/2006/main">
            <a:pPr marL="0" indent="0">
              <a:buNone/>
              <a:defRPr sz="1315">
                <a:solidFill>
                  <a:srgbClr val="22313F"/>
                </a:solidFill>
                <a:latin typeface="Aptos"/>
                <a:ea typeface="Aptos"/>
                <a:cs typeface="Aptos"/>
              </a:defRPr>
            </a:pPr>
            <a:r>
              <a:rPr sz="1315">
                <a:solidFill>
                  <a:srgbClr val="22313F"/>
                </a:solidFill>
                <a:latin typeface="Aptos"/>
                <a:ea typeface="Aptos"/>
                <a:cs typeface="Aptos"/>
              </a:rPr>
              <a:t>From cognitive psychology and behavioral decision research: expectation bias, overconfidence, and domain-expert bias are classic JDM variables.</a:t>
            </a:r>
          </a:p>
          <a:p xmlns:a="http://schemas.openxmlformats.org/drawingml/2006/main">
            <a:pPr marL="0" indent="0">
              <a:buNone/>
            </a:pPr>
          </a:p>
          <a:p xmlns:a="http://schemas.openxmlformats.org/drawingml/2006/main">
            <a:pPr marL="0" indent="0">
              <a:buNone/>
              <a:defRPr sz="1315">
                <a:solidFill>
                  <a:srgbClr val="22313F"/>
                </a:solidFill>
                <a:latin typeface="Aptos"/>
                <a:ea typeface="Aptos"/>
                <a:cs typeface="Aptos"/>
              </a:defRPr>
            </a:pPr>
            <a:r>
              <a:rPr sz="1315">
                <a:solidFill>
                  <a:srgbClr val="22313F"/>
                </a:solidFill>
                <a:latin typeface="Aptos"/>
                <a:ea typeface="Aptos"/>
                <a:cs typeface="Aptos"/>
              </a:rPr>
              <a:t>Decision autonomy / decisional agency</a:t>
            </a:r>
          </a:p>
          <a:p xmlns:a="http://schemas.openxmlformats.org/drawingml/2006/main">
            <a:pPr marL="0" indent="0">
              <a:buNone/>
              <a:defRPr sz="1315">
                <a:solidFill>
                  <a:srgbClr val="22313F"/>
                </a:solidFill>
                <a:latin typeface="Aptos"/>
                <a:ea typeface="Aptos"/>
                <a:cs typeface="Aptos"/>
              </a:defRPr>
            </a:pPr>
            <a:r>
              <a:rPr sz="1315">
                <a:solidFill>
                  <a:srgbClr val="22313F"/>
                </a:solidFill>
                <a:latin typeface="Aptos"/>
                <a:ea typeface="Aptos"/>
                <a:cs typeface="Aptos"/>
              </a:rPr>
              <a:t>A core decision-psychology concept linked to locus of control and the psychological need to retain control over decisions.</a:t>
            </a:r>
          </a:p>
        </p:txBody>
      </p:sp>
      <p:sp>
        <p:nvSpPr>
          <p:cNvPr id="6" name="jdm-terminology-right-column">
            <a:extLst xmlns:a="http://schemas.openxmlformats.org/drawingml/2006/main">
              <a:ext uri="{FF2B5EF4-FFF2-40B4-BE49-F238E27FC236}">
                <a16:creationId xmlns:a16="http://schemas.microsoft.com/office/drawing/2014/main" id="{55C42C8D-6433-44D6-9E57-18009A30A07B}"/>
              </a:ext>
            </a:extLst>
          </p:cNvPr>
          <p:cNvSpPr>
            <a:spLocks xmlns:a="http://schemas.openxmlformats.org/drawingml/2006/main" noGrp="1"/>
          </p:cNvSpPr>
          <p:nvPr/>
        </p:nvSpPr>
        <p:spPr>
          <a:xfrm xmlns:a="http://schemas.openxmlformats.org/drawingml/2006/main">
            <a:off x="7905750" y="1200150"/>
            <a:ext cx="360045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350">
                <a:solidFill>
                  <a:srgbClr val="22313F"/>
                </a:solidFill>
                <a:latin typeface="Aptos"/>
                <a:ea typeface="Aptos"/>
                <a:cs typeface="Aptos"/>
              </a:defRPr>
            </a:pPr>
            <a:r>
              <a:rPr sz="1350">
                <a:solidFill>
                  <a:srgbClr val="22313F"/>
                </a:solidFill>
                <a:latin typeface="Aptos"/>
                <a:ea typeface="Aptos"/>
                <a:cs typeface="Aptos"/>
              </a:rPr>
              <a:t>Incentivization</a:t>
            </a:r>
          </a:p>
          <a:p xmlns:a="http://schemas.openxmlformats.org/drawingml/2006/main">
            <a:pPr marL="0" indent="0">
              <a:buNone/>
              <a:defRPr sz="1350">
                <a:solidFill>
                  <a:srgbClr val="22313F"/>
                </a:solidFill>
                <a:latin typeface="Aptos"/>
                <a:ea typeface="Aptos"/>
                <a:cs typeface="Aptos"/>
              </a:defRPr>
            </a:pPr>
            <a:r>
              <a:rPr sz="1350">
                <a:solidFill>
                  <a:srgbClr val="22313F"/>
                </a:solidFill>
                <a:latin typeface="Aptos"/>
                <a:ea typeface="Aptos"/>
                <a:cs typeface="Aptos"/>
              </a:rPr>
              <a:t>A classic behavioral-decision and behavioral-economics variable distinguishing material incentives from social-reputation incentives.</a:t>
            </a:r>
          </a:p>
          <a:p xmlns:a="http://schemas.openxmlformats.org/drawingml/2006/main">
            <a:pPr marL="0" indent="0">
              <a:buNone/>
            </a:pPr>
          </a:p>
          <a:p xmlns:a="http://schemas.openxmlformats.org/drawingml/2006/main">
            <a:pPr marL="0" indent="0">
              <a:buNone/>
              <a:defRPr sz="1350">
                <a:solidFill>
                  <a:srgbClr val="22313F"/>
                </a:solidFill>
                <a:latin typeface="Aptos"/>
                <a:ea typeface="Aptos"/>
                <a:cs typeface="Aptos"/>
              </a:defRPr>
            </a:pPr>
            <a:r>
              <a:rPr sz="1350">
                <a:solidFill>
                  <a:srgbClr val="22313F"/>
                </a:solidFill>
                <a:latin typeface="Aptos"/>
                <a:ea typeface="Aptos"/>
                <a:cs typeface="Aptos"/>
              </a:rPr>
              <a:t>Cognitive compatibility</a:t>
            </a:r>
          </a:p>
          <a:p xmlns:a="http://schemas.openxmlformats.org/drawingml/2006/main">
            <a:pPr marL="0" indent="0">
              <a:buNone/>
              <a:defRPr sz="1350">
                <a:solidFill>
                  <a:srgbClr val="22313F"/>
                </a:solidFill>
                <a:latin typeface="Aptos"/>
                <a:ea typeface="Aptos"/>
                <a:cs typeface="Aptos"/>
              </a:defRPr>
            </a:pPr>
            <a:r>
              <a:rPr sz="1350">
                <a:solidFill>
                  <a:srgbClr val="22313F"/>
                </a:solidFill>
                <a:latin typeface="Aptos"/>
                <a:ea typeface="Aptos"/>
                <a:cs typeface="Aptos"/>
              </a:rPr>
              <a:t>A cognitive-psychology and information-processing term comparing intuitive human processing with algorithmic logic.</a:t>
            </a:r>
          </a:p>
          <a:p xmlns:a="http://schemas.openxmlformats.org/drawingml/2006/main">
            <a:pPr marL="0" indent="0">
              <a:buNone/>
            </a:pPr>
          </a:p>
          <a:p xmlns:a="http://schemas.openxmlformats.org/drawingml/2006/main">
            <a:pPr marL="0" indent="0">
              <a:buNone/>
              <a:defRPr sz="1350">
                <a:solidFill>
                  <a:srgbClr val="22313F"/>
                </a:solidFill>
                <a:latin typeface="Aptos"/>
                <a:ea typeface="Aptos"/>
                <a:cs typeface="Aptos"/>
              </a:defRPr>
            </a:pPr>
            <a:r>
              <a:rPr sz="1350">
                <a:solidFill>
                  <a:srgbClr val="22313F"/>
                </a:solidFill>
                <a:latin typeface="Aptos"/>
                <a:ea typeface="Aptos"/>
                <a:cs typeface="Aptos"/>
              </a:rPr>
              <a:t>Divergent rationalities</a:t>
            </a:r>
          </a:p>
          <a:p xmlns:a="http://schemas.openxmlformats.org/drawingml/2006/main">
            <a:pPr marL="0" indent="0">
              <a:buNone/>
              <a:defRPr sz="1350">
                <a:solidFill>
                  <a:srgbClr val="22313F"/>
                </a:solidFill>
                <a:latin typeface="Aptos"/>
                <a:ea typeface="Aptos"/>
                <a:cs typeface="Aptos"/>
              </a:defRPr>
            </a:pPr>
            <a:r>
              <a:rPr sz="1350">
                <a:solidFill>
                  <a:srgbClr val="22313F"/>
                </a:solidFill>
                <a:latin typeface="Aptos"/>
                <a:ea typeface="Aptos"/>
                <a:cs typeface="Aptos"/>
              </a:rPr>
              <a:t>A term derived from the contrast between the heuristics-and-biases paradigm and fast-and-frugal ecological rationality, asking what counts as rational decision making.</a:t>
            </a:r>
          </a:p>
        </p:txBody>
      </p:sp>
    </p:spTree>
    <p:extLst>
      <p:ext uri="{BB962C8B-B14F-4D97-AF65-F5344CB8AC3E}">
        <p14:creationId xmlns:p14="http://schemas.microsoft.com/office/powerpoint/2010/main" val="1590067195"/>
      </p:ext>
    </p:extLst>
  </p:cSld>
</p:sld>
</file>

<file path=ppt/slides/slide1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F3D279B-22CD-4F0E-9EE3-3707E4F7685B}"/>
              </a:ext>
            </a:extLst>
          </p:cNvPr>
          <p:cNvSpPr>
            <a:spLocks xmlns:a="http://schemas.openxmlformats.org/drawingml/2006/main" noGrp="1"/>
          </p:cNvSpPr>
          <p:nvPr>
            <p:ph type="title" idx="0"/>
          </p:nvPr>
        </p:nvSpPr>
        <p:spPr>
          <a:xfrm xmlns:a="http://schemas.openxmlformats.org/drawingml/2006/main">
            <a:off x="609600" y="400050"/>
            <a:ext cx="6191250" cy="8382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550" b="1">
                <a:solidFill>
                  <a:srgbClr val="102A43"/>
                </a:solidFill>
                <a:latin typeface="Aptos Display"/>
                <a:ea typeface="Aptos Display"/>
                <a:cs typeface="Aptos Display"/>
              </a:defRPr>
            </a:pPr>
            <a:r>
              <a:rPr sz="2550" b="1">
                <a:solidFill>
                  <a:srgbClr val="102A43"/>
                </a:solidFill>
                <a:latin typeface="Aptos Display"/>
                <a:ea typeface="Aptos Display"/>
                <a:cs typeface="Aptos Display"/>
              </a:rPr>
              <a:t>AI Trust Is Highly Interdisciplinary</a:t>
            </a:r>
          </a:p>
        </p:txBody>
      </p:sp>
      <p:pic>
        <p:nvPicPr>
          <p:cNvPr id="8" name="内容占位符 3"/>
          <p:cNvPicPr>
            <a:picLocks xmlns:a="http://schemas.openxmlformats.org/drawingml/2006/main" noChangeAspect="1"/>
          </p:cNvPicPr>
          <p:nvPr>
            <p:ph idx="1"/>
          </p:nvPr>
        </p:nvPicPr>
        <p:blipFill>
          <a:blip xmlns:r="http://schemas.openxmlformats.org/officeDocument/2006/relationships" xmlns:a="http://schemas.openxmlformats.org/drawingml/2006/main" r:embed="R3abd17b54cec4e39"/>
          <a:stretch xmlns:a="http://schemas.openxmlformats.org/drawingml/2006/main">
            <a:fillRect l="0" t="0" r="0" b="0"/>
          </a:stretch>
        </p:blipFill>
        <p:spPr>
          <a:xfrm xmlns:a="http://schemas.openxmlformats.org/drawingml/2006/main">
            <a:off x="7402830" y="147320"/>
            <a:ext cx="4029075" cy="656336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E8E79356-7960-4B2B-8129-40CA2091DCCA}"/>
              </a:ext>
            </a:extLst>
          </p:cNvPr>
          <p:cNvSpPr>
            <a:spLocks xmlns:a="http://schemas.openxmlformats.org/drawingml/2006/main" noGrp="1"/>
          </p:cNvSpPr>
          <p:nvPr/>
        </p:nvSpPr>
        <p:spPr>
          <a:xfrm xmlns:a="http://schemas.openxmlformats.org/drawingml/2006/main">
            <a:off x="609600" y="1504950"/>
            <a:ext cx="600075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650">
                <a:solidFill>
                  <a:srgbClr val="22313F"/>
                </a:solidFill>
                <a:latin typeface="Aptos"/>
                <a:ea typeface="Aptos"/>
                <a:cs typeface="Aptos"/>
              </a:defRPr>
            </a:pPr>
            <a:r>
              <a:rPr sz="1650">
                <a:solidFill>
                  <a:srgbClr val="22313F"/>
                </a:solidFill>
                <a:latin typeface="Aptos"/>
                <a:ea typeface="Aptos"/>
                <a:cs typeface="Aptos"/>
              </a:rPr>
              <a:t>Research on trust in AI is highly interdisciplinary, involving psychology, philosophy, computer science, and other fields. Its theoretical foundations are correspondingly complex.</a:t>
            </a:r>
          </a:p>
          <a:p xmlns:a="http://schemas.openxmlformats.org/drawingml/2006/main">
            <a:pPr marL="0" indent="0">
              <a:buNone/>
            </a:pPr>
          </a:p>
          <a:p xmlns:a="http://schemas.openxmlformats.org/drawingml/2006/main">
            <a:pPr marL="0" indent="0">
              <a:buNone/>
              <a:defRPr sz="1650">
                <a:solidFill>
                  <a:srgbClr val="22313F"/>
                </a:solidFill>
                <a:latin typeface="Aptos"/>
                <a:ea typeface="Aptos"/>
                <a:cs typeface="Aptos"/>
              </a:defRPr>
            </a:pPr>
            <a:r>
              <a:rPr sz="1650">
                <a:solidFill>
                  <a:srgbClr val="22313F"/>
                </a:solidFill>
                <a:latin typeface="Aptos"/>
                <a:ea typeface="Aptos"/>
                <a:cs typeface="Aptos"/>
              </a:rPr>
              <a:t>The literature covers general trust in artificial intelligence, human resistance to AI, AI in moral decision making, AI in managerial decisions, and trust in autonomous driving.</a:t>
            </a:r>
          </a:p>
        </p:txBody>
      </p:sp>
    </p:spTree>
    <p:extLst>
      <p:ext uri="{BB962C8B-B14F-4D97-AF65-F5344CB8AC3E}">
        <p14:creationId xmlns:p14="http://schemas.microsoft.com/office/powerpoint/2010/main" val="1483062811"/>
      </p:ext>
    </p:extLst>
  </p:cSld>
</p:sld>
</file>

<file path=ppt/slides/slide1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CBA659B-7A2E-45D4-BFC1-972B808E17CC}"/>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Defining Trust</a:t>
            </a:r>
          </a:p>
        </p:txBody>
      </p:sp>
      <p:sp>
        <p:nvSpPr>
          <p:cNvPr id="3" name="内容占位符 2">
            <a:extLst xmlns:a="http://schemas.openxmlformats.org/drawingml/2006/main">
              <a:ext uri="{FF2B5EF4-FFF2-40B4-BE49-F238E27FC236}">
                <a16:creationId xmlns:a16="http://schemas.microsoft.com/office/drawing/2014/main" id="{A661711F-1B49-41C6-A8F7-BCA5D2D6291A}"/>
              </a:ext>
            </a:extLst>
          </p:cNvPr>
          <p:cNvSpPr>
            <a:spLocks xmlns:a="http://schemas.openxmlformats.org/drawingml/2006/main" noGrp="1"/>
          </p:cNvSpPr>
          <p:nvPr>
            <p:ph idx="1"/>
          </p:nvPr>
        </p:nvSpPr>
        <p:spPr>
          <a:xfrm xmlns:a="http://schemas.openxmlformats.org/drawingml/2006/main">
            <a:off x="685800" y="1314450"/>
            <a:ext cx="10820400" cy="49530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The classic three-factor model of interpersonal trust proposes that trust and trustworthiness derive not only from perceived ability, but also from integrity and benevolence.</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Trust in AI likewise has two dimensions: performance/capability (can it complete the task?) and morality (is the system directed toward good, and are its processes and purposes legitimate?). Research has not consistently separated performance trust from moral trust, and many studies conflate them. People care about both AI performance and its design intent, operating logic, benevolence, and fairness. An AI system can be highly capable but deceptive, stable but unethical, or morally aligned but inaccurate.</a:t>
            </a:r>
          </a:p>
        </p:txBody>
      </p:sp>
    </p:spTree>
    <p:extLst>
      <p:ext uri="{BB962C8B-B14F-4D97-AF65-F5344CB8AC3E}">
        <p14:creationId xmlns:p14="http://schemas.microsoft.com/office/powerpoint/2010/main" val="184298264"/>
      </p:ext>
    </p:extLst>
  </p:cSld>
</p:sld>
</file>

<file path=ppt/slides/slide2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09ACCE1-635A-4E96-8D35-A0435F600A81}"/>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Algorithm Appreciation and Algorithm Aversion</a:t>
            </a:r>
          </a:p>
        </p:txBody>
      </p:sp>
      <p:sp>
        <p:nvSpPr>
          <p:cNvPr id="3" name="内容占位符 2">
            <a:extLst xmlns:a="http://schemas.openxmlformats.org/drawingml/2006/main">
              <a:ext uri="{FF2B5EF4-FFF2-40B4-BE49-F238E27FC236}">
                <a16:creationId xmlns:a16="http://schemas.microsoft.com/office/drawing/2014/main" id="{6D8E765A-3F4E-44D3-9BE6-D87A5E427905}"/>
              </a:ext>
            </a:extLst>
          </p:cNvPr>
          <p:cNvSpPr>
            <a:spLocks xmlns:a="http://schemas.openxmlformats.org/drawingml/2006/main" noGrp="1"/>
          </p:cNvSpPr>
          <p:nvPr>
            <p:ph idx="1"/>
          </p:nvPr>
        </p:nvSpPr>
        <p:spPr>
          <a:xfrm xmlns:a="http://schemas.openxmlformats.org/drawingml/2006/main">
            <a:off x="685800" y="1200150"/>
            <a:ext cx="10820400" cy="1162050"/>
          </a:xfrm>
        </p:spPr>
        <p:txBody>
          <a:bodyPr xmlns:a="http://schemas.openxmlformats.org/drawingml/2006/main" wrap="square" lIns="0" tIns="0" rIns="0" bIns="0" anchor="t">
            <a:normAutofit fontScale="95486" lnSpcReduction="10000"/>
          </a:bodyPr>
          <a:lstStyle xmlns:a="http://schemas.openxmlformats.org/drawingml/2006/main"/>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At present, these theories remain largely descriptive accounts of phenomena and objectively have limitations.</a:t>
            </a:r>
          </a:p>
          <a:p xmlns:a="http://schemas.openxmlformats.org/drawingml/2006/main">
            <a:pPr marL="0" indent="0">
              <a:buNone/>
            </a:pP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Placing both preference for and aversion to AI within one theoretical framework nevertheless has practical relevance and theoretical value.</a:t>
            </a:r>
          </a:p>
        </p:txBody>
      </p:sp>
      <p:sp>
        <p:nvSpPr>
          <p:cNvPr id="4" name="文本框 3">
            <a:extLst xmlns:a="http://schemas.openxmlformats.org/drawingml/2006/main">
              <a:ext uri="{FF2B5EF4-FFF2-40B4-BE49-F238E27FC236}">
                <a16:creationId xmlns:a16="http://schemas.microsoft.com/office/drawing/2014/main" id="{D815C614-575A-4D9A-B2BD-056CEEFC24CE}"/>
              </a:ext>
            </a:extLst>
          </p:cNvPr>
          <p:cNvSpPr>
            <a:spLocks xmlns:a="http://schemas.openxmlformats.org/drawingml/2006/main" noGrp="1"/>
          </p:cNvSpPr>
          <p:nvPr/>
        </p:nvSpPr>
        <p:spPr>
          <a:xfrm xmlns:a="http://schemas.openxmlformats.org/drawingml/2006/main">
            <a:off x="685800" y="2647950"/>
            <a:ext cx="504825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2. A few early errors determine whether an entire system continues to use AI</a:t>
            </a:r>
          </a:p>
          <a:p xmlns:a="http://schemas.openxmlformats.org/drawingml/2006/main">
            <a:pPr marL="0" indent="0">
              <a:buNone/>
            </a:pP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Real-world AI applications often begin as pilots:</a:t>
            </a: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 an organization deploys on a small scale;</a:t>
            </a: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 users observe early performance;</a:t>
            </a: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 the organization decides whether to expand, restrict, or terminate use.</a:t>
            </a:r>
          </a:p>
          <a:p xmlns:a="http://schemas.openxmlformats.org/drawingml/2006/main">
            <a:pPr marL="0" indent="0">
              <a:buNone/>
            </a:pP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This directly affects monitoring, correction, and exit mechanisms for the AI system.</a:t>
            </a:r>
          </a:p>
        </p:txBody>
      </p:sp>
      <p:sp>
        <p:nvSpPr>
          <p:cNvPr id="5" name="文本框 4">
            <a:extLst xmlns:a="http://schemas.openxmlformats.org/drawingml/2006/main">
              <a:ext uri="{FF2B5EF4-FFF2-40B4-BE49-F238E27FC236}">
                <a16:creationId xmlns:a16="http://schemas.microsoft.com/office/drawing/2014/main" id="{13DDD128-D3C9-4B97-B7B4-8B628BF8B59F}"/>
              </a:ext>
            </a:extLst>
          </p:cNvPr>
          <p:cNvSpPr>
            <a:spLocks xmlns:a="http://schemas.openxmlformats.org/drawingml/2006/main" noGrp="1"/>
          </p:cNvSpPr>
          <p:nvPr/>
        </p:nvSpPr>
        <p:spPr>
          <a:xfrm xmlns:a="http://schemas.openxmlformats.org/drawingml/2006/main">
            <a:off x="6191250" y="2647950"/>
            <a:ext cx="531495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Why does this topic matter in objective terms?</a:t>
            </a:r>
          </a:p>
          <a:p xmlns:a="http://schemas.openxmlformats.org/drawingml/2006/main">
            <a:pPr marL="0" indent="0">
              <a:buNone/>
            </a:pPr>
          </a:p>
          <a:p xmlns:a="http://schemas.openxmlformats.org/drawingml/2006/main">
            <a:pPr marL="0" indent="0">
              <a:buNone/>
              <a:defRPr sz="1500">
                <a:solidFill>
                  <a:srgbClr val="22313F"/>
                </a:solidFill>
                <a:latin typeface="Aptos"/>
                <a:ea typeface="Aptos"/>
                <a:cs typeface="Aptos"/>
              </a:defRPr>
            </a:pPr>
            <a:r>
              <a:rPr sz="1500">
                <a:solidFill>
                  <a:srgbClr val="22313F"/>
                </a:solidFill>
                <a:latin typeface="Aptos"/>
                <a:ea typeface="Aptos"/>
                <a:cs typeface="Aptos"/>
              </a:rPr>
              <a:t>In the past, evaluating an algorithm was relatively simple: accuracy could represent everything. AI, however, crosses the boundary between algorithms and humans. It already displays part of human intelligence while remaining nonhuman. Its monitoring, correction, and exit mechanisms therefore need a scientific basis.</a:t>
            </a:r>
          </a:p>
        </p:txBody>
      </p:sp>
    </p:spTree>
    <p:extLst>
      <p:ext uri="{BB962C8B-B14F-4D97-AF65-F5344CB8AC3E}">
        <p14:creationId xmlns:p14="http://schemas.microsoft.com/office/powerpoint/2010/main" val="1253561647"/>
      </p:ext>
    </p:extLst>
  </p:cSld>
</p:sld>
</file>

<file path=ppt/slides/slide2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pic>
        <p:nvPicPr>
          <p:cNvPr id="10" name="内容占位符 6"/>
          <p:cNvPicPr>
            <a:picLocks xmlns:a="http://schemas.openxmlformats.org/drawingml/2006/main" noChangeAspect="1"/>
          </p:cNvPicPr>
          <p:nvPr>
            <p:ph idx="1"/>
          </p:nvPr>
        </p:nvPicPr>
        <p:blipFill>
          <a:blip xmlns:r="http://schemas.openxmlformats.org/officeDocument/2006/relationships" xmlns:a="http://schemas.openxmlformats.org/drawingml/2006/main" r:embed="Re6a3967928374907"/>
          <a:stretch xmlns:a="http://schemas.openxmlformats.org/drawingml/2006/main">
            <a:fillRect l="0" t="0" r="0" b="0"/>
          </a:stretch>
        </p:blipFill>
        <p:spPr>
          <a:xfrm xmlns:a="http://schemas.openxmlformats.org/drawingml/2006/main">
            <a:off x="1363980" y="1490345"/>
            <a:ext cx="9457055" cy="4759325"/>
          </a:xfrm>
          <a:prstGeom xmlns:a="http://schemas.openxmlformats.org/drawingml/2006/main" prst="rect">
            <a:avLst/>
          </a:prstGeom>
        </p:spPr>
      </p:pic>
      <p:sp>
        <p:nvSpPr>
          <p:cNvPr id="8" name="标题 1">
            <a:extLst xmlns:a="http://schemas.openxmlformats.org/drawingml/2006/main">
              <a:ext uri="{FF2B5EF4-FFF2-40B4-BE49-F238E27FC236}">
                <a16:creationId xmlns:a16="http://schemas.microsoft.com/office/drawing/2014/main" id="{42BD0C52-F454-4444-8B15-5A8B4B7715EC}"/>
              </a:ext>
            </a:extLst>
          </p:cNvPr>
          <p:cNvSpPr>
            <a:spLocks xmlns:a="http://schemas.openxmlformats.org/drawingml/2006/main" noGrp="1"/>
          </p:cNvSpPr>
          <p:nvPr/>
        </p:nvSpPr>
        <p:spPr>
          <a:xfrm xmlns:a="http://schemas.openxmlformats.org/drawingml/2006/main">
            <a:off x="609600" y="4000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vert="horz" wrap="square" lIns="0" tIns="0" rIns="0" bIns="0" anchor="t">
            <a:normAutofit fontScale="100000"/>
          </a:bodyPr>
          <a:lstStyle xmlns:a="http://schemas.openxmlformats.org/drawingml/2006/main">
            <a:lvl1pPr algn="l" defTabSz="914400">
              <a:lnSpc>
                <a:spcPct val="100000"/>
              </a:lnSpc>
              <a:spcBef>
                <a:spcPct val="0"/>
              </a:spcBef>
              <a:buNone/>
              <a:defRPr sz="3600" b="0" u="none" kern="1200" cap="none" spc="300" baseline="0">
                <a:solidFill>
                  <a:schemeClr val="tx1">
                    <a:lumMod val="85000"/>
                    <a:lumOff val="15000"/>
                  </a:schemeClr>
                </a:solidFill>
                <a:latin typeface="+mj-lt"/>
                <a:ea typeface="+mj-lt"/>
                <a:cs typeface="+mj-lt"/>
              </a:defRPr>
            </a:lvl1pPr>
          </a:lstStyle>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The Complex Nature of Trust in AI</a:t>
            </a:r>
          </a:p>
        </p:txBody>
      </p:sp>
    </p:spTree>
    <p:extLst>
      <p:ext uri="{BB962C8B-B14F-4D97-AF65-F5344CB8AC3E}">
        <p14:creationId xmlns:p14="http://schemas.microsoft.com/office/powerpoint/2010/main" val="172213139"/>
      </p:ext>
    </p:extLst>
  </p:cSld>
</p:sld>
</file>

<file path=ppt/slides/slide2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7A111D0-E3D0-47F3-9A78-312EC59705F1}"/>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Research Gaps</a:t>
            </a:r>
          </a:p>
        </p:txBody>
      </p:sp>
      <p:sp>
        <p:nvSpPr>
          <p:cNvPr id="3" name="内容占位符 2">
            <a:extLst xmlns:a="http://schemas.openxmlformats.org/drawingml/2006/main">
              <a:ext uri="{FF2B5EF4-FFF2-40B4-BE49-F238E27FC236}">
                <a16:creationId xmlns:a16="http://schemas.microsoft.com/office/drawing/2014/main" id="{D0909614-4A79-4527-957D-1B857440AD91}"/>
              </a:ext>
            </a:extLst>
          </p:cNvPr>
          <p:cNvSpPr>
            <a:spLocks xmlns:a="http://schemas.openxmlformats.org/drawingml/2006/main" noGrp="1"/>
          </p:cNvSpPr>
          <p:nvPr>
            <p:ph idx="1"/>
          </p:nvPr>
        </p:nvSpPr>
        <p:spPr>
          <a:xfrm xmlns:a="http://schemas.openxmlformats.org/drawingml/2006/main">
            <a:off x="685800" y="1314450"/>
            <a:ext cx="10820400" cy="49530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390">
                <a:solidFill>
                  <a:srgbClr val="22313F"/>
                </a:solidFill>
                <a:latin typeface="Aptos"/>
                <a:ea typeface="Aptos"/>
                <a:cs typeface="Aptos"/>
              </a:defRPr>
            </a:pPr>
            <a:r>
              <a:rPr sz="1390">
                <a:solidFill>
                  <a:srgbClr val="22313F"/>
                </a:solidFill>
                <a:latin typeface="Aptos"/>
                <a:ea typeface="Aptos"/>
                <a:cs typeface="Aptos"/>
              </a:rPr>
              <a:t>• AI-governance research analyzes institutions but rarely measures individuals’ actual reliance.</a:t>
            </a:r>
          </a:p>
          <a:p xmlns:a="http://schemas.openxmlformats.org/drawingml/2006/main">
            <a:pPr marL="0" indent="0">
              <a:buNone/>
            </a:pPr>
          </a:p>
          <a:p xmlns:a="http://schemas.openxmlformats.org/drawingml/2006/main">
            <a:pPr marL="0" indent="0">
              <a:buNone/>
              <a:defRPr sz="1390">
                <a:solidFill>
                  <a:srgbClr val="22313F"/>
                </a:solidFill>
                <a:latin typeface="Aptos"/>
                <a:ea typeface="Aptos"/>
                <a:cs typeface="Aptos"/>
              </a:defRPr>
            </a:pPr>
            <a:r>
              <a:rPr sz="1390">
                <a:solidFill>
                  <a:srgbClr val="22313F"/>
                </a:solidFill>
                <a:latin typeface="Aptos"/>
                <a:ea typeface="Aptos"/>
                <a:cs typeface="Aptos"/>
              </a:rPr>
              <a:t>• AI-trust research measures individual reliance, but often treats interface prompts, explanations, or labels as “governance,” without a real institutional basis.</a:t>
            </a:r>
          </a:p>
          <a:p xmlns:a="http://schemas.openxmlformats.org/drawingml/2006/main">
            <a:pPr marL="0" indent="0">
              <a:buNone/>
            </a:pPr>
          </a:p>
          <a:p xmlns:a="http://schemas.openxmlformats.org/drawingml/2006/main">
            <a:pPr marL="0" indent="0">
              <a:buNone/>
              <a:defRPr sz="1390">
                <a:solidFill>
                  <a:srgbClr val="22313F"/>
                </a:solidFill>
                <a:latin typeface="Aptos"/>
                <a:ea typeface="Aptos"/>
                <a:cs typeface="Aptos"/>
              </a:defRPr>
            </a:pPr>
            <a:r>
              <a:rPr sz="1390">
                <a:solidFill>
                  <a:srgbClr val="22313F"/>
                </a:solidFill>
                <a:latin typeface="Aptos"/>
                <a:ea typeface="Aptos"/>
                <a:cs typeface="Aptos"/>
              </a:rPr>
              <a:t>• Research is scarce on person–context fit as a moderator of AI-system features. The effect of the same AI feature—explainability, anthropomorphism, or high accuracy—depends on whether users perceive the AI as fitting themselves and the task, yet this moderation is rarely examined directly.</a:t>
            </a:r>
          </a:p>
          <a:p xmlns:a="http://schemas.openxmlformats.org/drawingml/2006/main">
            <a:pPr marL="0" indent="0">
              <a:buNone/>
            </a:pPr>
          </a:p>
          <a:p xmlns:a="http://schemas.openxmlformats.org/drawingml/2006/main">
            <a:pPr marL="0" indent="0">
              <a:buNone/>
              <a:defRPr sz="1390">
                <a:solidFill>
                  <a:srgbClr val="22313F"/>
                </a:solidFill>
                <a:latin typeface="Aptos"/>
                <a:ea typeface="Aptos"/>
                <a:cs typeface="Aptos"/>
              </a:defRPr>
            </a:pPr>
            <a:r>
              <a:rPr sz="1390">
                <a:solidFill>
                  <a:srgbClr val="22313F"/>
                </a:solidFill>
                <a:latin typeface="Aptos"/>
                <a:ea typeface="Aptos"/>
                <a:cs typeface="Aptos"/>
              </a:rPr>
              <a:t>• Much of the literature is cross-sectional and static rather than longitudinal. AI changes rapidly, so findings about conventional automation and early algorithms may lack temporal validity for current large models. Almost no work tracks how public trust changes over time with technological diffusion and social events.</a:t>
            </a:r>
          </a:p>
        </p:txBody>
      </p:sp>
    </p:spTree>
    <p:extLst>
      <p:ext uri="{BB962C8B-B14F-4D97-AF65-F5344CB8AC3E}">
        <p14:creationId xmlns:p14="http://schemas.microsoft.com/office/powerpoint/2010/main" val="2008796525"/>
      </p:ext>
    </p:extLst>
  </p:cSld>
</p:sld>
</file>

<file path=ppt/slides/slide2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9751ECB-4B2B-4AE2-88E8-86AB59289854}"/>
              </a:ext>
            </a:extLst>
          </p:cNvPr>
          <p:cNvSpPr>
            <a:spLocks xmlns:a="http://schemas.openxmlformats.org/drawingml/2006/main" noGrp="1"/>
          </p:cNvSpPr>
          <p:nvPr>
            <p:ph type="title" idx="0"/>
          </p:nvPr>
        </p:nvSpPr>
        <p:spPr>
          <a:xfrm xmlns:a="http://schemas.openxmlformats.org/drawingml/2006/main">
            <a:off x="609600" y="400050"/>
            <a:ext cx="10972800" cy="9906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250" b="1">
                <a:solidFill>
                  <a:srgbClr val="102A43"/>
                </a:solidFill>
                <a:latin typeface="Aptos Display"/>
                <a:ea typeface="Aptos Display"/>
                <a:cs typeface="Aptos Display"/>
              </a:defRPr>
            </a:pPr>
            <a:r>
              <a:rPr sz="2250" b="1">
                <a:solidFill>
                  <a:srgbClr val="102A43"/>
                </a:solidFill>
                <a:latin typeface="Aptos Display"/>
                <a:ea typeface="Aptos Display"/>
                <a:cs typeface="Aptos Display"/>
              </a:rPr>
              <a:t>The Goal of Trust Governance Is Not More Trust, but Reliance That Matches the System’s Real Capability</a:t>
            </a:r>
          </a:p>
        </p:txBody>
      </p:sp>
      <p:sp>
        <p:nvSpPr>
          <p:cNvPr id="3" name="内容占位符 2">
            <a:extLst xmlns:a="http://schemas.openxmlformats.org/drawingml/2006/main">
              <a:ext uri="{FF2B5EF4-FFF2-40B4-BE49-F238E27FC236}">
                <a16:creationId xmlns:a16="http://schemas.microsoft.com/office/drawing/2014/main" id="{E63151DA-33F9-4742-80A9-B71FE6222F7A}"/>
              </a:ext>
            </a:extLst>
          </p:cNvPr>
          <p:cNvSpPr>
            <a:spLocks xmlns:a="http://schemas.openxmlformats.org/drawingml/2006/main" noGrp="1"/>
          </p:cNvSpPr>
          <p:nvPr>
            <p:ph idx="1"/>
          </p:nvPr>
        </p:nvSpPr>
        <p:spPr>
          <a:xfrm xmlns:a="http://schemas.openxmlformats.org/drawingml/2006/main">
            <a:off x="685800" y="1352550"/>
            <a:ext cx="10820400" cy="16192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Governance objective: align actual reliance with the system’s real capability.</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Mechanism objective: examine the relationships among actual trustworthiness, perceived trustworthiness, trust attitude, and reliance behavior—and identify which link is easiest to change so that final reliance moves toward actual trustworthiness.</a:t>
            </a:r>
          </a:p>
        </p:txBody>
      </p:sp>
      <p:sp>
        <p:nvSpPr>
          <p:cNvPr id="4" name="文本框 3">
            <a:extLst xmlns:a="http://schemas.openxmlformats.org/drawingml/2006/main">
              <a:ext uri="{FF2B5EF4-FFF2-40B4-BE49-F238E27FC236}">
                <a16:creationId xmlns:a16="http://schemas.microsoft.com/office/drawing/2014/main" id="{1C7DDB0B-4427-49D6-8C71-E41F78E5CC48}"/>
              </a:ext>
            </a:extLst>
          </p:cNvPr>
          <p:cNvSpPr>
            <a:spLocks xmlns:a="http://schemas.openxmlformats.org/drawingml/2006/main" noGrp="1"/>
          </p:cNvSpPr>
          <p:nvPr/>
        </p:nvSpPr>
        <p:spPr>
          <a:xfrm xmlns:a="http://schemas.openxmlformats.org/drawingml/2006/main">
            <a:off x="800100" y="3952875"/>
            <a:ext cx="1009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800" b="1">
                <a:solidFill>
                  <a:srgbClr val="102A43"/>
                </a:solidFill>
                <a:latin typeface="Aptos"/>
                <a:ea typeface="Aptos"/>
                <a:cs typeface="Aptos"/>
              </a:defRPr>
            </a:pPr>
            <a:r>
              <a:rPr sz="1800" b="1">
                <a:solidFill>
                  <a:srgbClr val="102A43"/>
                </a:solidFill>
                <a:latin typeface="Aptos"/>
                <a:ea typeface="Aptos"/>
                <a:cs typeface="Aptos"/>
              </a:rPr>
              <a:t>ACTUAL TRUSTWORTHINESS  →  PERCEIVED TRUSTWORTHINESS  →  TRUST ATTITUDE  →  ACTUAL RELIANCE</a:t>
            </a:r>
          </a:p>
        </p:txBody>
      </p:sp>
      <p:sp>
        <p:nvSpPr>
          <p:cNvPr id="5" name="文本框 4">
            <a:extLst xmlns:a="http://schemas.openxmlformats.org/drawingml/2006/main">
              <a:ext uri="{FF2B5EF4-FFF2-40B4-BE49-F238E27FC236}">
                <a16:creationId xmlns:a16="http://schemas.microsoft.com/office/drawing/2014/main" id="{9357682F-AAA8-4F5E-8334-35FB8AE42B4C}"/>
              </a:ext>
            </a:extLst>
          </p:cNvPr>
          <p:cNvSpPr>
            <a:spLocks xmlns:a="http://schemas.openxmlformats.org/drawingml/2006/main" noGrp="1"/>
          </p:cNvSpPr>
          <p:nvPr/>
        </p:nvSpPr>
        <p:spPr>
          <a:xfrm xmlns:a="http://schemas.openxmlformats.org/drawingml/2006/main">
            <a:off x="800100" y="34099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650" b="1">
                <a:solidFill>
                  <a:srgbClr val="187E7A"/>
                </a:solidFill>
                <a:latin typeface="Aptos"/>
                <a:ea typeface="Aptos"/>
                <a:cs typeface="Aptos"/>
              </a:defRPr>
            </a:pPr>
            <a:r>
              <a:rPr sz="1650" b="1">
                <a:solidFill>
                  <a:srgbClr val="187E7A"/>
                </a:solidFill>
                <a:latin typeface="Aptos"/>
                <a:ea typeface="Aptos"/>
                <a:cs typeface="Aptos"/>
              </a:rPr>
              <a:t>Meaning of trust calibration</a:t>
            </a:r>
          </a:p>
        </p:txBody>
      </p:sp>
    </p:spTree>
    <p:extLst>
      <p:ext uri="{BB962C8B-B14F-4D97-AF65-F5344CB8AC3E}">
        <p14:creationId xmlns:p14="http://schemas.microsoft.com/office/powerpoint/2010/main" val="1434429776"/>
      </p:ext>
    </p:extLst>
  </p:cSld>
</p:sld>
</file>

<file path=ppt/slides/slide2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0F8CD9B-6D31-421B-A429-FBA69FC0769F}"/>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Trust Calibration Bias</a:t>
            </a:r>
          </a:p>
        </p:txBody>
      </p:sp>
      <p:sp>
        <p:nvSpPr>
          <p:cNvPr id="3" name="内容占位符 2">
            <a:extLst xmlns:a="http://schemas.openxmlformats.org/drawingml/2006/main">
              <a:ext uri="{FF2B5EF4-FFF2-40B4-BE49-F238E27FC236}">
                <a16:creationId xmlns:a16="http://schemas.microsoft.com/office/drawing/2014/main" id="{3C2FE4B5-500F-46F2-A0DA-484843B0465E}"/>
              </a:ext>
            </a:extLst>
          </p:cNvPr>
          <p:cNvSpPr>
            <a:spLocks xmlns:a="http://schemas.openxmlformats.org/drawingml/2006/main" noGrp="1"/>
          </p:cNvSpPr>
          <p:nvPr>
            <p:ph idx="1"/>
          </p:nvPr>
        </p:nvSpPr>
        <p:spPr>
          <a:xfrm xmlns:a="http://schemas.openxmlformats.org/drawingml/2006/main">
            <a:off x="685800" y="1314450"/>
            <a:ext cx="10820400" cy="49530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Perceptual calibration bias = subjectively judged AI reliability − actual reliability</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Behavioral calibration bias = actual degree of reliance − the degree of reliance warranted by relative capability</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Algorithm aversion and algorithm appreciation are therefore no longer isolated phenomena:</a:t>
            </a: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 underestimating AI capability is a negative perceptual bias;</a:t>
            </a: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 knowing AI is better but not adopting it is under-reliance;</a:t>
            </a: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 knowing AI is unreliable but continuing to use it is over-reliance.</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Regulators should test different intervention combinations for different conditions so that user reliance approaches a reasonable level.</a:t>
            </a:r>
          </a:p>
        </p:txBody>
      </p:sp>
    </p:spTree>
    <p:extLst>
      <p:ext uri="{BB962C8B-B14F-4D97-AF65-F5344CB8AC3E}">
        <p14:creationId xmlns:p14="http://schemas.microsoft.com/office/powerpoint/2010/main" val="1896378534"/>
      </p:ext>
    </p:extLst>
  </p:cSld>
</p:sld>
</file>

<file path=ppt/slides/slide2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2A944FF-699E-4854-82F8-A69EB27F1720}"/>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Practical Relevance</a:t>
            </a:r>
          </a:p>
        </p:txBody>
      </p:sp>
      <p:sp>
        <p:nvSpPr>
          <p:cNvPr id="3" name="内容占位符 2">
            <a:extLst xmlns:a="http://schemas.openxmlformats.org/drawingml/2006/main">
              <a:ext uri="{FF2B5EF4-FFF2-40B4-BE49-F238E27FC236}">
                <a16:creationId xmlns:a16="http://schemas.microsoft.com/office/drawing/2014/main" id="{DA0B47AC-CAF7-4E7C-A993-B227919B758F}"/>
              </a:ext>
            </a:extLst>
          </p:cNvPr>
          <p:cNvSpPr>
            <a:spLocks xmlns:a="http://schemas.openxmlformats.org/drawingml/2006/main" noGrp="1"/>
          </p:cNvSpPr>
          <p:nvPr>
            <p:ph idx="1"/>
          </p:nvPr>
        </p:nvSpPr>
        <p:spPr>
          <a:xfrm xmlns:a="http://schemas.openxmlformats.org/drawingml/2006/main">
            <a:off x="685800" y="1314450"/>
            <a:ext cx="10820400" cy="49530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For example, when will people think AI should be introduced into a particular stage?</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In the past, this was simple: once an algorithm’s accuracy was high enough, including it in the decision process seemed natural. AI is different.</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AI enters more complex human settings—not only settings where accuracy is measurable, but also consultation, emotional decisions, and others.</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The framework must therefore expand and first clarify questions that past theories could not resolve:</a:t>
            </a: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How should traditional algorithms, AI, and humans be distinguished? How are these actors perceived differently?</a:t>
            </a:r>
          </a:p>
        </p:txBody>
      </p:sp>
    </p:spTree>
    <p:extLst>
      <p:ext uri="{BB962C8B-B14F-4D97-AF65-F5344CB8AC3E}">
        <p14:creationId xmlns:p14="http://schemas.microsoft.com/office/powerpoint/2010/main" val="839011628"/>
      </p:ext>
    </p:extLst>
  </p:cSld>
</p:sld>
</file>

<file path=ppt/slides/slide26.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7586D29-91B3-408B-AFE3-3F5498A25AE3}"/>
              </a:ext>
            </a:extLst>
          </p:cNvPr>
          <p:cNvSpPr>
            <a:spLocks xmlns:a="http://schemas.openxmlformats.org/drawingml/2006/main" noGrp="1"/>
          </p:cNvSpPr>
          <p:nvPr>
            <p:ph type="title" idx="0"/>
          </p:nvPr>
        </p:nvSpPr>
        <p:spPr>
          <a:xfrm xmlns:a="http://schemas.openxmlformats.org/drawingml/2006/main">
            <a:off x="781050" y="2076450"/>
            <a:ext cx="10572750" cy="2714625"/>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CHAPTER 3</a:t>
            </a:r>
          </a:p>
          <a:p xmlns:a="http://schemas.openxmlformats.org/drawingml/2006/main">
            <a:pPr>
              <a:buNone/>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Responsibility Attribution</a:t>
            </a:r>
          </a:p>
        </p:txBody>
      </p:sp>
    </p:spTree>
    <p:extLst>
      <p:ext uri="{BB962C8B-B14F-4D97-AF65-F5344CB8AC3E}">
        <p14:creationId xmlns:p14="http://schemas.microsoft.com/office/powerpoint/2010/main" val="1179899402"/>
      </p:ext>
    </p:extLst>
  </p:cSld>
</p:sld>
</file>

<file path=ppt/slides/slide2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70709DE-36C2-4AF8-989C-D4349C03476E}"/>
              </a:ext>
            </a:extLst>
          </p:cNvPr>
          <p:cNvSpPr>
            <a:spLocks xmlns:a="http://schemas.openxmlformats.org/drawingml/2006/main" noGrp="1"/>
          </p:cNvSpPr>
          <p:nvPr>
            <p:ph type="title" idx="0"/>
          </p:nvPr>
        </p:nvSpPr>
        <p:spPr>
          <a:xfrm xmlns:a="http://schemas.openxmlformats.org/drawingml/2006/main">
            <a:off x="609600" y="400050"/>
            <a:ext cx="10972800" cy="7429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Responsibility Attribution</a:t>
            </a:r>
          </a:p>
        </p:txBody>
      </p:sp>
      <p:sp>
        <p:nvSpPr>
          <p:cNvPr id="3" name="内容占位符 2">
            <a:extLst xmlns:a="http://schemas.openxmlformats.org/drawingml/2006/main">
              <a:ext uri="{FF2B5EF4-FFF2-40B4-BE49-F238E27FC236}">
                <a16:creationId xmlns:a16="http://schemas.microsoft.com/office/drawing/2014/main" id="{F4A8B97F-98F2-4D5D-8662-8563F919E68F}"/>
              </a:ext>
            </a:extLst>
          </p:cNvPr>
          <p:cNvSpPr>
            <a:spLocks xmlns:a="http://schemas.openxmlformats.org/drawingml/2006/main" noGrp="1"/>
          </p:cNvSpPr>
          <p:nvPr>
            <p:ph idx="1"/>
          </p:nvPr>
        </p:nvSpPr>
        <p:spPr>
          <a:xfrm xmlns:a="http://schemas.openxmlformats.org/drawingml/2006/main">
            <a:off x="685800" y="1314450"/>
            <a:ext cx="10820400" cy="49530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Current theory has reached the claim that people believe AI clearly changes where responsibility is assigned.</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The next question is whether responsibility assigned to AI resembles shifting blame to another human or the traditional shifting of blame to an algorithm.</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Both types of responsibility transfer are theoretically mature. Yet many studies still treat AI as a conventional algorithm, which clearly cannot explain the emotional dependence that people sometimes develop toward AI.</a:t>
            </a:r>
          </a:p>
          <a:p xmlns:a="http://schemas.openxmlformats.org/drawingml/2006/main">
            <a:pPr marL="0" indent="0">
              <a:buNone/>
            </a:pPr>
          </a:p>
          <a:p xmlns:a="http://schemas.openxmlformats.org/drawingml/2006/main">
            <a:pPr marL="0" indent="0">
              <a:buNone/>
              <a:defRPr sz="1575">
                <a:solidFill>
                  <a:srgbClr val="22313F"/>
                </a:solidFill>
                <a:latin typeface="Aptos"/>
                <a:ea typeface="Aptos"/>
                <a:cs typeface="Aptos"/>
              </a:defRPr>
            </a:pPr>
            <a:r>
              <a:rPr sz="1575">
                <a:solidFill>
                  <a:srgbClr val="22313F"/>
                </a:solidFill>
                <a:latin typeface="Aptos"/>
                <a:ea typeface="Aptos"/>
                <a:cs typeface="Aptos"/>
              </a:rPr>
              <a:t>Practical relevance: If we can show that responsibility transfer to AI follows a genuinely new path, the result will influence future ethics, law, and regulation.</a:t>
            </a:r>
          </a:p>
        </p:txBody>
      </p:sp>
    </p:spTree>
    <p:extLst>
      <p:ext uri="{BB962C8B-B14F-4D97-AF65-F5344CB8AC3E}">
        <p14:creationId xmlns:p14="http://schemas.microsoft.com/office/powerpoint/2010/main" val="35811564"/>
      </p:ext>
    </p:extLst>
  </p:cSld>
</p:sld>
</file>

<file path=ppt/slides/slide2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A109C8E-5023-479B-92EA-51320D5FE1A7}"/>
              </a:ext>
            </a:extLst>
          </p:cNvPr>
          <p:cNvSpPr>
            <a:spLocks xmlns:a="http://schemas.openxmlformats.org/drawingml/2006/main" noGrp="1"/>
          </p:cNvSpPr>
          <p:nvPr>
            <p:ph type="title" idx="0"/>
          </p:nvPr>
        </p:nvSpPr>
        <p:spPr>
          <a:xfrm xmlns:a="http://schemas.openxmlformats.org/drawingml/2006/main">
            <a:off x="609600" y="552450"/>
            <a:ext cx="10972800" cy="106680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550" b="1">
                <a:solidFill>
                  <a:srgbClr val="102A43"/>
                </a:solidFill>
                <a:latin typeface="Aptos Display"/>
                <a:ea typeface="Aptos Display"/>
                <a:cs typeface="Aptos Display"/>
              </a:defRPr>
            </a:pPr>
            <a:r>
              <a:rPr sz="2550" b="1">
                <a:solidFill>
                  <a:srgbClr val="102A43"/>
                </a:solidFill>
                <a:latin typeface="Aptos Display"/>
                <a:ea typeface="Aptos Display"/>
                <a:cs typeface="Aptos Display"/>
              </a:rPr>
              <a:t>The Work Does Not Identify Which Assumption in Existing Theory Is Wrong or Incomplete</a:t>
            </a:r>
          </a:p>
        </p:txBody>
      </p:sp>
      <p:sp>
        <p:nvSpPr>
          <p:cNvPr id="4" name="文本框 3">
            <a:extLst xmlns:a="http://schemas.openxmlformats.org/drawingml/2006/main">
              <a:ext uri="{FF2B5EF4-FFF2-40B4-BE49-F238E27FC236}">
                <a16:creationId xmlns:a16="http://schemas.microsoft.com/office/drawing/2014/main" id="{398D09C9-4F75-4120-B3F3-7ED61CDEA216}"/>
              </a:ext>
            </a:extLst>
          </p:cNvPr>
          <p:cNvSpPr>
            <a:spLocks xmlns:a="http://schemas.openxmlformats.org/drawingml/2006/main" noGrp="1"/>
          </p:cNvSpPr>
          <p:nvPr/>
        </p:nvSpPr>
        <p:spPr>
          <a:xfrm xmlns:a="http://schemas.openxmlformats.org/drawingml/2006/main">
            <a:off x="1428750" y="2362200"/>
            <a:ext cx="9334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2175">
                <a:solidFill>
                  <a:srgbClr val="22313F"/>
                </a:solidFill>
                <a:latin typeface="Aptos"/>
                <a:ea typeface="Aptos"/>
                <a:cs typeface="Aptos"/>
              </a:defRPr>
            </a:pPr>
            <a:r>
              <a:rPr sz="2175">
                <a:solidFill>
                  <a:srgbClr val="22313F"/>
                </a:solidFill>
                <a:latin typeface="Aptos"/>
                <a:ea typeface="Aptos"/>
                <a:cs typeface="Aptos"/>
              </a:rPr>
              <a:t>The work does not derive a counterintuitive, falsifiable prediction.</a:t>
            </a:r>
          </a:p>
          <a:p xmlns:a="http://schemas.openxmlformats.org/drawingml/2006/main">
            <a:pPr marL="0" indent="0">
              <a:buNone/>
            </a:pPr>
          </a:p>
          <a:p xmlns:a="http://schemas.openxmlformats.org/drawingml/2006/main">
            <a:pPr marL="0" indent="0">
              <a:buNone/>
              <a:defRPr sz="2175">
                <a:solidFill>
                  <a:srgbClr val="22313F"/>
                </a:solidFill>
                <a:latin typeface="Aptos"/>
                <a:ea typeface="Aptos"/>
                <a:cs typeface="Aptos"/>
              </a:defRPr>
            </a:pPr>
            <a:r>
              <a:rPr sz="2175">
                <a:solidFill>
                  <a:srgbClr val="22313F"/>
                </a:solidFill>
                <a:latin typeface="Aptos"/>
                <a:ea typeface="Aptos"/>
                <a:cs typeface="Aptos"/>
              </a:rPr>
              <a:t>It does not explain why an AI environment would cause classic responsibility theories to fail.</a:t>
            </a:r>
          </a:p>
        </p:txBody>
      </p:sp>
    </p:spTree>
    <p:extLst>
      <p:ext uri="{BB962C8B-B14F-4D97-AF65-F5344CB8AC3E}">
        <p14:creationId xmlns:p14="http://schemas.microsoft.com/office/powerpoint/2010/main" val="464692927"/>
      </p:ext>
    </p:extLst>
  </p:cSld>
</p:sld>
</file>

<file path=ppt/slides/slide2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02B0E42-8110-47D6-ACA9-2A28CB35587B}"/>
              </a:ext>
            </a:extLst>
          </p:cNvPr>
          <p:cNvSpPr>
            <a:spLocks xmlns:a="http://schemas.openxmlformats.org/drawingml/2006/main" noGrp="1"/>
          </p:cNvSpPr>
          <p:nvPr>
            <p:ph type="title" idx="0"/>
          </p:nvPr>
        </p:nvSpPr>
        <p:spPr>
          <a:xfrm xmlns:a="http://schemas.openxmlformats.org/drawingml/2006/main">
            <a:off x="609600" y="285750"/>
            <a:ext cx="10972800" cy="1238250"/>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2250" b="1">
                <a:solidFill>
                  <a:srgbClr val="102A43"/>
                </a:solidFill>
                <a:latin typeface="Aptos Display"/>
                <a:ea typeface="Aptos Display"/>
                <a:cs typeface="Aptos Display"/>
              </a:defRPr>
            </a:pPr>
            <a:r>
              <a:rPr sz="2250" b="1">
                <a:solidFill>
                  <a:srgbClr val="102A43"/>
                </a:solidFill>
                <a:latin typeface="Aptos Display"/>
                <a:ea typeface="Aptos Display"/>
                <a:cs typeface="Aptos Display"/>
              </a:rPr>
              <a:t>When AI Has Substantively Participated in a Decision, Does Requiring a Human to “Confirm and Take Responsibility” Restore Human Agency—or Merely Push Responsibility Back onto Someone Without Adequate Control?</a:t>
            </a:r>
          </a:p>
        </p:txBody>
      </p:sp>
      <p:sp>
        <p:nvSpPr>
          <p:cNvPr id="3" name="内容占位符 2">
            <a:extLst xmlns:a="http://schemas.openxmlformats.org/drawingml/2006/main">
              <a:ext uri="{FF2B5EF4-FFF2-40B4-BE49-F238E27FC236}">
                <a16:creationId xmlns:a16="http://schemas.microsoft.com/office/drawing/2014/main" id="{9F3C83DE-EF67-4D35-9254-76C3D115060A}"/>
              </a:ext>
            </a:extLst>
          </p:cNvPr>
          <p:cNvSpPr>
            <a:spLocks xmlns:a="http://schemas.openxmlformats.org/drawingml/2006/main" noGrp="1"/>
          </p:cNvSpPr>
          <p:nvPr>
            <p:ph idx="1"/>
          </p:nvPr>
        </p:nvSpPr>
        <p:spPr>
          <a:xfrm xmlns:a="http://schemas.openxmlformats.org/drawingml/2006/main">
            <a:off x="685800" y="1752600"/>
            <a:ext cx="10820400" cy="4524375"/>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Accountability theory argues that being observed, evaluated, and required to explain increases a person’s sense of accountability.</a:t>
            </a:r>
          </a:p>
          <a:p xmlns:a="http://schemas.openxmlformats.org/drawingml/2006/main">
            <a:pPr marL="0" indent="0">
              <a:buNone/>
            </a:pP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Responsibility/control theory argues that responsibility should be grounded in actual control, causal contribution, and decision authority.</a:t>
            </a:r>
          </a:p>
          <a:p xmlns:a="http://schemas.openxmlformats.org/drawingml/2006/main">
            <a:pPr marL="0" indent="0">
              <a:buNone/>
            </a:pP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AI systems can separate the two: a person may be required to sign, explain, and bear the consequences without genuinely forming or controlling the decision.</a:t>
            </a:r>
          </a:p>
          <a:p xmlns:a="http://schemas.openxmlformats.org/drawingml/2006/main">
            <a:pPr marL="0" indent="0">
              <a:buNone/>
            </a:pP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Work on meaningful human control explicitly argues that responsibility should be proportionate to actual control and authority. The “moral crumple zone” identifies how automated systems can concentrate failure responsibility on human operators with limited control.</a:t>
            </a:r>
          </a:p>
          <a:p xmlns:a="http://schemas.openxmlformats.org/drawingml/2006/main">
            <a:pPr marL="0" indent="0">
              <a:buNone/>
            </a:pPr>
          </a:p>
          <a:p xmlns:a="http://schemas.openxmlformats.org/drawingml/2006/main">
            <a:pPr marL="0" indent="0">
              <a:buNone/>
              <a:defRPr sz="1425">
                <a:solidFill>
                  <a:srgbClr val="22313F"/>
                </a:solidFill>
                <a:latin typeface="Aptos"/>
                <a:ea typeface="Aptos"/>
                <a:cs typeface="Aptos"/>
              </a:defRPr>
            </a:pPr>
            <a:r>
              <a:rPr sz="1425">
                <a:solidFill>
                  <a:srgbClr val="22313F"/>
                </a:solidFill>
                <a:latin typeface="Aptos"/>
                <a:ea typeface="Aptos"/>
                <a:cs typeface="Aptos"/>
              </a:rPr>
              <a:t>Meaningful Human Control · Moral Crumple Zones</a:t>
            </a:r>
          </a:p>
        </p:txBody>
      </p:sp>
    </p:spTree>
    <p:extLst>
      <p:ext uri="{BB962C8B-B14F-4D97-AF65-F5344CB8AC3E}">
        <p14:creationId xmlns:p14="http://schemas.microsoft.com/office/powerpoint/2010/main" val="1235835551"/>
      </p:ext>
    </p:extLst>
  </p:cSld>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2026-08-04T15:52:16.4710000Z</dcterms:created>
  <dcterms:modified xsi:type="dcterms:W3CDTF">2026-08-04T15:52:16.4710000Z</dcterms:modified>
</coreProperties>
</file>